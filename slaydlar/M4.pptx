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uchun maxsus apparat vositalarini ixtisoslashuv darajasi va joylashuvi bo'yicha tasniflash qulay. Umumiy protsessor ichidagi bloklar — CPU dagi AMX/SVE, GPU dagi Tensor Core: dasturlanadigan mashina ichida matritsa buyrug'i; moslashuvchanlik saqlanadi, samaradorlik oshadi. Ma'lumotlar markazi ASIC lari — TPU, AWS Trainium2 va Inferentia2, Microsoft Maia 100, Meta MTIA: bulut provayderi o'z yuki uchun loyihalagan chip, kompilyator orqali dasturlanadi, umumiy maqsadda ishlatilmaydi. Startap arxitekturalari — Cerebras WSE-3 (butun wafer bitta chip: 4 trillion tranzistor, 900 000 yadro, 44 GB on-chip SRAM, 21 PB/s ichki o'tkazuvchanlik), Groq LPU (deterministik, butunlay SRAM asosidagi, HBM siz, LLM inferensida juda past kechikish), Graphcore IPU (1 472 mustaqil yadro, 900 MB on-chip SRAM, MIMD yondashuv), SambaNova RDU (qayta konfiguratsiyalanadigan ma'lumot oqimi), Tenstorrent (RISC-V asosidagi Tensix yadrolari) — har biri ma'lum yuk uchun GPU dan afzal bo'lishga urinadi. Chekka NPU lar — Apple Neural Engine, Qualcomm Hexagon, Google Edge TPU, Hailo-8 (26 TOPS, 2,5 W): vatt boshiga samaradorlik ustuvor. Qayta dasturlanadigan platformalar — FPGA va moslashuvchan SoC lar (AMD Versal, Intel Agilex).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uchun maxsus apparat vositalarini ixtisoslashuv darajasi va joylashuvi bo'yicha tasniflash qulay. Umumiy protsessor ichidagi bloklar — CPU dagi AMX/SVE, GPU dagi Tensor Core: dasturlanadigan mashina ichida matritsa buyrug'i; moslashuvchanlik saqlanadi, samaradorlik oshadi. Ma'lumotlar markazi ASIC lari — TPU, AWS Trainium2 va Inferentia2, Microsoft Maia 100, Meta MTIA: bulut provayderi o'z yuki uchun loyihalagan chip, kompilyator orqali dasturlanadi, umumiy maqsadda ishlatilmaydi. Startap arxitekturalari — Cerebras WSE-3 (butun wafer bitta chip: 4 trillion tranzistor, 900 000 yadro, 44 GB on-chip SRAM, 21 PB/s ichki o'tkazuvchanlik), Groq LPU (deterministik, butunlay SRAM asosidagi, HBM siz, LLM inferensida juda past kechikish), Graphcore IPU (1 472 mustaqil yadro, 900 MB on-chip SRAM, MIMD yondashuv), SambaNova RDU (qayta konfiguratsiyalanadigan ma'lumot oqimi), Tenstorrent (RISC-V asosidagi Tensix yadrolari) — har biri ma'lum yuk uchun GPU dan afzal bo'lishga urinadi. Chekka NPU lar — Apple Neural Engine, Qualcomm Hexagon, Google Edge TPU, Hailo-8 (26 TOPS, 2,5 W): vatt boshiga samaradorlik ustuvor. Qayta dasturlanadigan platformalar — FPGA va moslashuvchan SoC lar (AMD Versal, Intel Agilex).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uchun maxsus apparat vositalarini ixtisoslashuv darajasi va joylashuvi bo'yicha tasniflash qulay. Umumiy protsessor ichidagi bloklar — CPU dagi AMX/SVE, GPU dagi Tensor Core: dasturlanadigan mashina ichida matritsa buyrug'i; moslashuvchanlik saqlanadi, samaradorlik oshadi. Ma'lumotlar markazi ASIC lari — TPU, AWS Trainium2 va Inferentia2, Microsoft Maia 100, Meta MTIA: bulut provayderi o'z yuki uchun loyihalagan chip, kompilyator orqali dasturlanadi, umumiy maqsadda ishlatilmaydi. Startap arxitekturalari — Cerebras WSE-3 (butun wafer bitta chip: 4 trillion tranzistor, 900 000 yadro, 44 GB on-chip SRAM, 21 PB/s ichki o'tkazuvchanlik), Groq LPU (deterministik, butunlay SRAM asosidagi, HBM siz, LLM inferensida juda past kechikish), Graphcore IPU (1 472 mustaqil yadro, 900 MB on-chip SRAM, MIMD yondashuv), SambaNova RDU (qayta konfiguratsiyalanadigan ma'lumot oqimi), Tenstorrent (RISC-V asosidagi Tensix yadrolari) — har biri ma'lum yuk uchun GPU dan afzal bo'lishga urinadi. Chekka NPU lar — Apple Neural Engine, Qualcomm Hexagon, Google Edge TPU, Hailo-8 (26 TOPS, 2,5 W): vatt boshiga samaradorlik ustuvor. Qayta dasturlanadigan platformalar — FPGA va moslashuvchan SoC lar (AMD Versal, Intel Agilex).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xilma-xillikni birlashtiruvchi narsa — barchasi Sze va hammualliflar [4] tavsiflagan bir xil loyihalash fazosida ishlaydi: hisoblash elementlari massivi (processing elements, PE), ular orasidagi ma'lumot oqimi (dataflow), ko'p darajali on-chip xotira (registr → PE lokal SRAM → global bufer → tashqi DRAM/HBM) va tashqi interkonnekt. Farqlar — bu o'lchovlarning qaysi biriga urg'u berilganida.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Tensor Core — NVIDIA GPU ning SM i ichidagi matritsa ko'paytirish bloki. Oddiy CUDA yadrosi bir taktda bitta FMA (fused multiply-add) bajaradi; Tensor Core esa bitta buyruqda kichik matritsa amalini D = A × B + C bajaradi, bu yerda A va B past aniqlikda (FP16, BF16, TF32, INT8, FP8), C va D esa yuqori aniqlikda (FP32 yoki INT32) to'planadi — bu aralash aniqlik (mixed precision) tamoyili: ko'paytirish arzon formatda, yig'indi aniq formatda. Birinchi avlod (Volta, 2017) har Tensor Core da taktiga 4×4×4 FP16 matritsa ko'paytirishni (64 FMA) bajargan, SM da 8 ta Tensor Core bo'lgan.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Tensor Core — NVIDIA GPU ning SM i ichidagi matritsa ko'paytirish bloki. Oddiy CUDA yadrosi bir taktda bitta FMA (fused multiply-add) bajaradi; Tensor Core esa bitta buyruqda kichik matritsa amalini D = A × B + C bajaradi, bu yerda A va B past aniqlikda (FP16, BF16, TF32, INT8, FP8), C va D esa yuqori aniqlikda (FP32 yoki INT32) to'planadi — bu aralash aniqlik (mixed precision) tamoyili: ko'paytirish arzon formatda, yig'indi aniq formatda. Birinchi avlod (Volta, 2017) har Tensor Core da taktiga 4×4×4 FP16 matritsa ko'paytirishni (64 FMA) bajargan, SM da 8 ta Tensor Core bo'lgan.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Jadvaldagi TF32 (TensorFloat-32) alohida izohga loyiq: bu 19-bitli format (8 bit eksponenta FP32 kabi, 10 bit mantissa FP16 kabi) bo'lib, FP32 kirish ma'lumotini kod o'zgartirmasdan Tensor Core da hisoblash imkonini beradi — A100 da 19,5 ga qarshi 156 TFLOPS. 2:4 strukturali siyraklik har 4 ta ketma-ket og'irlikdan 2 tasi nol bo'lishini talab qiladi; apparat nollarni o'tkazib yuborib o'tkazuvchanlikni ikki baravar oshiradi — shuning uchun pasportda «siyrak» raqam zichdan ikki baravar katta. Transformer Engine (Hopper) har qatlam uchun FP8 yoki FP16 ni statistika asosida avtomatik tanlab, masshtab koeffitsiyentlarini boshqaradi — bu LLM o'qitishda FP8 ni amaliy qildi.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Tensor Core dan foydalanish shartlari co-design uchun muhim: (1) aniqlik — FP32 da Tensor Core faqat TF32 yoqilgan bo'lsa ishlaydi; (2) o'lchamlar — FP16 uchun matritsa o'lchamlari 8 ga, INT8 uchun 16 ga karrali bo'lsa, eng samarali yadro tanlanadi (aks holda qo'shimcha to'ldirish yoki sekin yo'l); (3) xotira joylashuvi — kerakli tartib (masalan, konvolyutsiyalar uchun NHWC/channels_last); (4) yetarli yuk — kichik matritsa Tensor Core ni to'ldirmaydi. Dasturchi uchun kirish nuqtalari: cuBLAS/cuDNN (avtomatik), PyTorch autocast (aralash aniqlik), CUTLASS kutubxonasi (shablonli yadrolar), WMMA/mma.sync buyruqlari (bevosita CUDA da), Triton tili (Python dan yadro yozish).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Tensor Core — NVIDIA GPU ning SM i ichidagi matritsa ko'paytirish bloki. Oddiy CUDA yadrosi bir taktda bitta FMA (fused multiply-add) bajaradi; Tensor Core esa bitta buyruqda kichik matritsa amalini D = A × B + C bajaradi, bu yerda A va B past aniqlikda (FP16, BF16, TF32, INT8, FP8), C va D esa yuqori aniqlikda (FP32 yoki INT32) to'planadi — bu aralash aniqlik (mixed precision) tamoyili: ko'paytirish arzon formatda, yig'indi aniq formatda. Birinchi avlod (Volta, 2017) har Tensor Core da taktiga 4×4×4 FP16 matritsa ko'paytirishni (64 FMA) bajargan, SM da 8 ta Tensor Core bo'lgan.</a:t>
            </a:r>
          </a:p>
          <a:p/>
          <a:p>
            <a:r>
              <a:t>Jadvaldagi TF32 (TensorFloat-32) alohida izohga loyiq: bu 19-bitli format (8 bit eksponenta FP32 kabi, 10 bit mantissa FP16 kabi) bo'lib, FP32 kirish ma'lumotini kod o'zgartirmasdan Tensor Core da hisoblash imkonini beradi — A100 da 19,5 ga qarshi 156 TFLOPS. 2:4 strukturali siyraklik har 4 ta ketma-ket og'irlikdan 2 tasi nol bo'lishini talab qiladi; apparat nollarni o'tkazib yuborib o'tkazuvchanlikni ikki baravar oshiradi — shuning uchun pasportda «siyrak» raqam zichdan ikki baravar katta. Transformer Engine (Hopper) har qatlam uchun FP8 yoki FP16 ni statistika asosida avtomatik tanlab, masshtab koeffitsiyentlarini boshqaradi — bu LLM o'qitishda FP8 ni amaliy qildi.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ASIC (Application-Specific Integrated Circuit) va FPGA — ixtisoslashuvning ikki yo'li: biri kremniyda qotirilgan, ikkinchisi qayta dasturlanadigan. Ularni to'g'ri taqqoslash uchun loyihalash oqimini bilish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ASIC (Application-Specific Integrated Circuit) va FPGA — ixtisoslashuvning ikki yo'li: biri kremniyda qotirilgan, ikkinchisi qayta dasturlanadigan. Ularni to'g'ri taqqoslash uchun loyihalash oqimini bilish kerak.</a:t>
            </a:r>
          </a:p>
          <a:p/>
          <a:p>
            <a:r>
              <a:t>ASIC loyihalash oqimi quyidagi bosqichlardan iborat: spetsifikatsiya (yuk tahlili, unumdorlik/energiya/maydon maqsadlari) → arxitektura (PE massivi o'lchami, xotira hajmi, ma'lumot oqimi; odatda tezkor simulyator va analitik modellar bilan) → RTL loyihalash (Verilog/SystemVerilog yoki Chisel kabi yuqori darajali tillarda registrlar darajasidagi tavsif) → funksional verifikatsiya (simulyatsiya, formal usullar; umumiy vaqtning 50–70 % i) → mantiqiy sintez (RTL dan standart yacheykalar tarmog'iga, Synopsys/Cadence vositalari) → fizik loyihalash (joylashtirish va trassalash, vaqt va quvvat tahlili) → tape-out va ishlab chiqarish (TSMC, Samsung; 5/4/3 nm jarayonlar) → chipni sinash va dasturiy stek. Butun sikl 18–36 oy, xarajat ilg'or jarayonda yuz millionlab dollar. Buning evaziga ASIC eng yuqori samaradorlikni beradi: TPU v1 o'z davridagi GPU dan vatt boshiga 30–80 baravar samarali edi; zamonaviy chekka NPU lar 5–20 TOPS/W ga erishadi.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FPGA oqimi qisqaroq: RTL yoki HLS (C/C++ dan sintez) → sintez → joylashtirish va trassalash (soatlar) → bitstream yuklash (soniyalar). Xato topilsa, qayta sintez qilinadi — tape-out yo'q. SI uchun FPGA ekotizimi: AMD Vitis AI (tayyor DPU yadrosi — konfiguratsiyalanadigan konvolyutsiya tezlatkichi — va kompilyator), FINN (AMD tadqiqot ramkasi, juda past bitli — hatto binar — tarmoqlarni to'g'ridan-to'g'ri mantiqqa yoyadi), hls4ml (CERN da yaratilgan, fizika detektorlari uchun nanosekundlik kechikishli kichik tarmoqlar), Intel OpenVINO FPGA plagini. Yangi avlod «moslashuvchan SoC» lar — AMD Versal AI Core/AI Edge — dasturlanadigan mantiq yoniga yuzlab VLIW vektor protsessorlari (AI Engine) qo'yadi, bu FPGA ning moslashuvchanligi bilan ASIC ga yaqin zichlikni birlashtiradi.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FPGA oqimi qisqaroq: RTL yoki HLS (C/C++ dan sintez) → sintez → joylashtirish va trassalash (soatlar) → bitstream yuklash (soniyalar). Xato topilsa, qayta sintez qilinadi — tape-out yo'q. SI uchun FPGA ekotizimi: AMD Vitis AI (tayyor DPU yadrosi — konfiguratsiyalanadigan konvolyutsiya tezlatkichi — va kompilyator), FINN (AMD tadqiqot ramkasi, juda past bitli — hatto binar — tarmoqlarni to'g'ridan-to'g'ri mantiqqa yoyadi), hls4ml (CERN da yaratilgan, fizika detektorlari uchun nanosekundlik kechikishli kichik tarmoqlar), Intel OpenVINO FPGA plagini. Yangi avlod «moslashuvchan SoC» lar — AMD Versal AI Core/AI Edge — dasturlanadigan mantiq yoniga yuzlab VLIW vektor protsessorlari (AI Engine) qo'yadi, bu FPGA ning moslashuvchanligi bilan ASIC ga yaqin zichlikni birlashtiradi.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Amaliy qoida: tiraj kichik, kechikish qattiq va kiritish-chiqarish nostandart bo'lsa — FPGA; tiraj millionlab va yuk barqaror bo'lsa — ASIC; yuk tez o'zgaradigan va ekotizim muhim bo'lsa — GPU. Ko'pincha FPGA ASIC uchun prototip bosqichi vazifasini ham bajaradi: arxitektura FPGA da tekshiriladi, so'ng kremniyga o'tkaziladi.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FPGA oqimi qisqaroq: RTL yoki HLS (C/C++ dan sintez) → sintez → joylashtirish va trassalash (soatlar) → bitstream yuklash (soniyalar). Xato topilsa, qayta sintez qilinadi — tape-out yo'q. SI uchun FPGA ekotizimi: AMD Vitis AI (tayyor DPU yadrosi — konfiguratsiyalanadigan konvolyutsiya tezlatkichi — va kompilyator), FINN (AMD tadqiqot ramkasi, juda past bitli — hatto binar — tarmoqlarni to'g'ridan-to'g'ri mantiqqa yoyadi), hls4ml (CERN da yaratilgan, fizika detektorlari uchun nanosekundlik kechikishli kichik tarmoqlar), Intel OpenVINO FPGA plagini. Yangi avlod «moslashuvchan SoC» lar — AMD Versal AI Core/AI Edge — dasturlanadigan mantiq yoniga yuzlab VLIW vektor protsessorlari (AI Engine) qo'yadi, bu FPGA ning moslashuvchanligi bilan ASIC ga yaqin zichlikni birlashtiradi.</a:t>
            </a:r>
          </a:p>
          <a:p/>
          <a:p>
            <a:r>
              <a:t>Amaliy qoida: tiraj kichik, kechikish qattiq va kiritish-chiqarish nostandart bo'lsa — FPGA; tiraj millionlab va yuk barqaror bo'lsa — ASIC; yuk tez o'zgaradigan va ekotizim muhim bo'lsa — GPU. Ko'pincha FPGA ASIC uchun prototip bosqichi vazifasini ham bajaradi: arxitektura FPGA da tekshiriladi, so'ng kremniyga o'tkaziladi.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RISC-V — 2010-yilda Kaliforniya universiteti Berklida yaratilgan va hozir RISC-V International (Shveytsariya) tomonidan boshqariladigan ochiq buyruqlar to'plami arxitekturasi (Instruction Set Architecture, ISA). x86 (Intel/AMD) va ARM dan farqli o'laroq, RISC-V dan foydalanish uchun litsenziya to'lovi yo'q va har kim o'z yadrosini loyihalashi mumkin. Arxitektura modulli: kichik majburiy asos (RV32I/RV64I — 40 ta butun sonli buyruq) va ixtiyoriy standart kengaytmalar — M (ko'paytirish/bo'lish), A (atomar), F/D (suzuvchi nuqta), C (siqilgan buyruqlar), V (vektor kengaytmasi, 1.0 versiyasi 2021-yilda tasdiqlangan), shuningdek Zve (o'rnatilgan vektor), Zfh (yarim aniqlik), Zvfh, bit manipulyatsiyasi va kriptografiya kengaytmalari. Eng muhimi — maxsus kengaytmalar uchun rezervlangan buyruq maydoni: chip loyihalovchi o'z matritsa yoki neyron buyruqlarini qo'shib, standart kompilyator (GCC, LLVM) va operatsion tizim bilan mosligini saqlaydi.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RISC-V — 2010-yilda Kaliforniya universiteti Berklida yaratilgan va hozir RISC-V International (Shveytsariya) tomonidan boshqariladigan ochiq buyruqlar to'plami arxitekturasi (Instruction Set Architecture, ISA). x86 (Intel/AMD) va ARM dan farqli o'laroq, RISC-V dan foydalanish uchun litsenziya to'lovi yo'q va har kim o'z yadrosini loyihalashi mumkin. Arxitektura modulli: kichik majburiy asos (RV32I/RV64I — 40 ta butun sonli buyruq) va ixtiyoriy standart kengaytmalar — M (ko'paytirish/bo'lish), A (atomar), F/D (suzuvchi nuqta), C (siqilgan buyruqlar), V (vektor kengaytmasi, 1.0 versiyasi 2021-yilda tasdiqlangan), shuningdek Zve (o'rnatilgan vektor), Zfh (yarim aniqlik), Zvfh, bit manipulyatsiyasi va kriptografiya kengaytmalari. Eng muhimi — maxsus kengaytmalar uchun rezervlangan buyruq maydoni: chip loyihalovchi o'z matritsa yoki neyron buyruqlarini qo'shib, standart kompilyator (GCC, LLVM) va operatsion tizim bilan mosligini saqlaydi.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chiplari uchun RISC-V ning jozibasi uch jihatda. Birinchidan, vektor kengaytmasi uzunlikka bog'liq emas (vector-length agnostic): bitta kod 128 bitli chekka yadroda ham, 2048 bitli server yadrosida ham ishlaydi — SIMD ning AVX2/AVX-512 kabi qattiq kengliklaridan farqli. Ikkinchidan, tezlatkich ichidagi boshqaruv yadrolari sifatida: ko'p AI chiplari minglab PE larni boshqarish, DMA ni rejalashtirish, firmware ishga tushirish uchun kichik dasturlanadigan yadrolarga muhtoj, va RISC-V bu uchun bepul, ixcham va moslashuvchan. NVIDIA o'z GPU laridagi mikrokontrollerlarni (ilgari Falcon) RISC-V ga o'tkazganini e'lon qilgan; SiFive ma'lumotiga ko'ra, Google TPU larida SiFive X280 (RISC-V + vektor) yadrolari ishlatiladi. Uchinchidan, butun tezlatkich RISC-V asosida qurilishi mumkin: Tenstorrent ning Wormhole/Blackhole chiplaridagi Tensix yadrolari RISC-V skalyar yadrolar bilan boshqariladigan matritsa bloklaridan iborat; Esperanto ET-SoC-1 1 088 ta vektor/tensor bloklari bilan jihozlangan RISC-V yadrosini bitta chipda birlashtirgan; Alibaba T-Head XuanTie va Andes yadrolari Xitoy va Osiyo chekka NPU larida keng tarqalgan. Akademik ekotizim (ETH Zurich ning PULP platformasi, Berkeley Chisel/Rocket/BOOM, OpenHW CORE-V) esa chip loyihalashni o'rganish va tadqiqot uchun to'liq ochiq zanjirni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RISC-V ning cheklovlari ham bor: ekotizim (kompilyator optimizatsiyalari, operatsion tizim, kutubxonalar) ARM va x86 dan yosh; yuqori unumdorli server yadrolari hali kam; standartlashtirilmagan kengaytmalar fragmentatsiyaga olib kelishi mumkin. Shunga qaramay, SI tezlatkichlari sohasida RISC-V de-fakto standart boshqaruv va vektor yadrosi bo'lib bormoqda.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Sze va hammualliflar [4] hamda Hennessy va Patterson [1] asosida SI chipi loyihalashning oltita tamoyilini ajratish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Sze va hammualliflar [4] hamda Hennessy va Patterson [1] asosida SI chipi loyihalashning oltita tamoyilini ajratish mumkin.</a:t>
            </a:r>
          </a:p>
          <a:p/>
          <a:p>
            <a:r>
              <a:t>1. Ma'lumot oqimi (dataflow) ni tanlash. PE massivida qaysi ma'lumot joyida turadi va qaysi biri harakatlanadi — loyihaning markaziy qarori. Og'irlik-statsionar (weight-stationary, TPU): og'irliklar PE larga yuklanadi va ko'p kirish ustida qayta ishlatiladi; katta paketda samarali. Chiqish-statsionar (output-stationary): har PE bitta chiqish elementini to'playdi, qisman yig'indilar harakatlanmaydi. Kirish-statsionar va satr-statsionar (row-stationary, MIT Eyeriss chipi): konvolyutsiya satrlari PE larda saqlanib, uch turdagi qayta ishlatish muvozanatlanadi. To'g'ri tanlov yukning shakliga bog'liq: LLM inferensida (kichik paket, katta og'irliklar) og'irlik-statsionar oqim og'irliklarni qayta ishlata olmaydi va xotira o'tkazuvchanligi chegara bo'ladi — shuning uchun Groq butun modelni SRAM da saqlaydi.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Birinchi tendensiya — transformer uchun ixtisoslashuv: FP8/FP4 formatlar, Transformer Engine, diqqat mexanizmi uchun maxsus yadrolar (FlashAttention apparat bilan birgalikda), katta KV-kesh uchun xotira sig'imi (B200 192 GB, MI300X 192 GB, MI325X 256 GB). Ikkinchi — xotira devori bilan kurash: HBM3e va kelayotgan HBM4, xotira yaqinida hisoblash (processing-near-memory), SRAM asosidagi inferens chiplari, analog xotirada hisoblash (in-memory computing — tadqiqot bosqichida, M15 da). Uchinchi — chiplet va ilg'or qadoqlash (TSMC CoWoS, 3D stacking) yangi masshtablash yo'li sifatida; CoWoS sig'imi 2023–2025-yillarda AI chiplari yetkazib berishning asosiy to'sig'i bo'ldi. To'rtinchi — bulut provayderlarining o'z chiplari (TPU, Trainium, Maia, MTIA) NVIDIA ga bog'liqlikni kamaytirish uchun. Beshinchi — ochiq apparat: RISC-V, OpenTitan, ochiq EDA vositalari (OpenROAD), Google ning ochiq shuttle dasturlari — chip loyihalash to'sig'ini pasaytirmoqda. Oltinchi — energiya va sovutish: GPU quvvati 400 → 700 → 1 000+ W, stoyka 120 kW, suyuqlik bilan sovutish majburiy; energiya samaradorligi chip loyihalashning asosiy mezoniga aylandi (Green AI, M15).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Birinchi tendensiya — transformer uchun ixtisoslashuv: FP8/FP4 formatlar, Transformer Engine, diqqat mexanizmi uchun maxsus yadrolar (FlashAttention apparat bilan birgalikda), katta KV-kesh uchun xotira sig'imi (B200 192 GB, MI300X 192 GB, MI325X 256 GB). Ikkinchi — xotira devori bilan kurash: HBM3e va kelayotgan HBM4, xotira yaqinida hisoblash (processing-near-memory), SRAM asosidagi inferens chiplari, analog xotirada hisoblash (in-memory computing — tadqiqot bosqichida, M15 da). Uchinchi — chiplet va ilg'or qadoqlash (TSMC CoWoS, 3D stacking) yangi masshtablash yo'li sifatida; CoWoS sig'imi 2023–2025-yillarda AI chiplari yetkazib berishning asosiy to'sig'i bo'ldi. To'rtinchi — bulut provayderlarining o'z chiplari (TPU, Trainium, Maia, MTIA) NVIDIA ga bog'liqlikni kamaytirish uchun. Beshinchi — ochiq apparat: RISC-V, OpenTitan, ochiq EDA vositalari (OpenROAD), Google ning ochiq shuttle dasturlari — chip loyihalash to'sig'ini pasaytirmoqda. Oltinchi — energiya va sovutish: GPU quvvati 400 → 700 → 1 000+ W, stoyka 120 kW, suyuqlik bilan sovutish majburiy; energiya samaradorligi chip loyihalashning asosiy mezoniga aylandi (Green AI, M15).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Birinchi tendensiya — transformer uchun ixtisoslashuv: FP8/FP4 formatlar, Transformer Engine, diqqat mexanizmi uchun maxsus yadrolar (FlashAttention apparat bilan birgalikda), katta KV-kesh uchun xotira sig'imi (B200 192 GB, MI300X 192 GB, MI325X 256 GB). Ikkinchi — xotira devori bilan kurash: HBM3e va kelayotgan HBM4, xotira yaqinida hisoblash (processing-near-memory), SRAM asosidagi inferens chiplari, analog xotirada hisoblash (in-memory computing — tadqiqot bosqichida, M15 da). Uchinchi — chiplet va ilg'or qadoqlash (TSMC CoWoS, 3D stacking) yangi masshtablash yo'li sifatida; CoWoS sig'imi 2023–2025-yillarda AI chiplari yetkazib berishning asosiy to'sig'i bo'ldi. To'rtinchi — bulut provayderlarining o'z chiplari (TPU, Trainium, Maia, MTIA) NVIDIA ga bog'liqlikni kamaytirish uchun. Beshinchi — ochiq apparat: RISC-V, OpenTitan, ochiq EDA vositalari (OpenROAD), Google ning ochiq shuttle dasturlari — chip loyihalash to'sig'ini pasaytirmoqda. Oltinchi — energiya va sovutish: GPU quvvati 400 → 700 → 1 000+ W, stoyka 120 kW, suyuqlik bilan sovutish majburiy; energiya samaradorligi chip loyihalashning asosiy mezoniga aylandi (Green AI, M15).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6900000" y="1466666"/>
            <a:ext cx="1633333" cy="48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900000" y="1950000"/>
            <a:ext cx="1633333" cy="145000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6900000" y="2433333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900000" y="3400000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900000" y="3400000"/>
            <a:ext cx="1633333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900000" y="1466666"/>
            <a:ext cx="1633333" cy="338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900000" y="2433333"/>
            <a:ext cx="1633333" cy="241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900000" y="4366666"/>
            <a:ext cx="1633333" cy="48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33333" y="1466666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33333" y="1466666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33333" y="1466666"/>
            <a:ext cx="1633333" cy="290000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33333" y="1466666"/>
            <a:ext cx="1633333" cy="38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533333" y="1466666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3333" y="2433333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3333" y="2433333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533333" y="2433333"/>
            <a:ext cx="1633333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533333" y="1466666"/>
            <a:ext cx="1633333" cy="193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533333" y="2433333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533333" y="3400000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533333" y="3400000"/>
            <a:ext cx="1633333" cy="966666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33333" y="3400000"/>
            <a:ext cx="1633333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8533333" y="1466666"/>
            <a:ext cx="1633333" cy="290000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533333" y="2433333"/>
            <a:ext cx="1633333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533333" y="3400000"/>
            <a:ext cx="1633333" cy="966666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33333" y="4366666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33333" y="4366666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533333" y="1466666"/>
            <a:ext cx="1633333" cy="38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533333" y="3400000"/>
            <a:ext cx="1633333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533333" y="4366666"/>
            <a:ext cx="1633333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533333" y="5333333"/>
            <a:ext cx="1633333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166666" y="1466666"/>
            <a:ext cx="1633334" cy="193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166666" y="1466666"/>
            <a:ext cx="1633334" cy="338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166666" y="1950000"/>
            <a:ext cx="1633334" cy="48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66666" y="2433333"/>
            <a:ext cx="1633334" cy="96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166666" y="2433333"/>
            <a:ext cx="1633334" cy="2416667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166666" y="3400000"/>
            <a:ext cx="1633334" cy="0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66666" y="1950000"/>
            <a:ext cx="1633334" cy="2416666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0166666" y="3400000"/>
            <a:ext cx="1633334" cy="966666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166666" y="4366666"/>
            <a:ext cx="1633334" cy="483334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0166666" y="1950000"/>
            <a:ext cx="1633334" cy="338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0166666" y="3400000"/>
            <a:ext cx="1633334" cy="193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0166666" y="4850000"/>
            <a:ext cx="1633334" cy="483333"/>
          </a:xfrm>
          <a:prstGeom prst="line">
            <a:avLst/>
          </a:prstGeom>
          <a:ln w="9525">
            <a:solidFill>
              <a:srgbClr val="2E4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6805000" y="1855000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05000" y="3305000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805000" y="4755000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438333" y="1371666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438333" y="2338333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38333" y="3305000"/>
            <a:ext cx="190000" cy="19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38333" y="4271666"/>
            <a:ext cx="190000" cy="19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438333" y="5238333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071666" y="1371666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071666" y="2338333"/>
            <a:ext cx="190000" cy="19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071666" y="3305000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071666" y="4271666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071666" y="5238333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705000" y="1855000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705000" y="3305000"/>
            <a:ext cx="190000" cy="19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05000" y="4755000"/>
            <a:ext cx="190000" cy="19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700000" y="1350000"/>
            <a:ext cx="3600000" cy="3600000"/>
          </a:xfrm>
          <a:prstGeom prst="ellipse">
            <a:avLst/>
          </a:prstGeom>
          <a:noFill/>
          <a:ln w="381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550000" y="1200000"/>
            <a:ext cx="3900000" cy="3900000"/>
          </a:xfrm>
          <a:prstGeom prst="ellipse">
            <a:avLst/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df00d7550b84d28d.jpg"/>
          <p:cNvPicPr>
            <a:picLocks noChangeAspect="1"/>
          </p:cNvPicPr>
          <p:nvPr/>
        </p:nvPicPr>
        <p:blipFill>
          <a:blip r:embed="rId2"/>
          <a:srcRect l="12500" r="12500"/>
          <a:stretch>
            <a:fillRect/>
          </a:stretch>
        </p:blipFill>
        <p:spPr>
          <a:xfrm>
            <a:off x="7850000" y="1500000"/>
            <a:ext cx="3300000" cy="3300000"/>
          </a:xfrm>
          <a:prstGeom prst="ellipse">
            <a:avLst/>
          </a:prstGeom>
          <a:ln w="19050">
            <a:solidFill>
              <a:srgbClr val="22D3EE"/>
            </a:solidFill>
          </a:ln>
        </p:spPr>
      </p:pic>
      <p:sp>
        <p:nvSpPr>
          <p:cNvPr id="64" name="TextBox 63"/>
          <p:cNvSpPr txBox="1"/>
          <p:nvPr/>
        </p:nvSpPr>
        <p:spPr>
          <a:xfrm>
            <a:off x="6900000" y="6350000"/>
            <a:ext cx="50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/>
            <a:r>
              <a:rPr sz="800" b="0">
                <a:solidFill>
                  <a:srgbClr val="707EAA"/>
                </a:solidFill>
                <a:latin typeface="Segoe UI"/>
              </a:rPr>
              <a:t>Rasm: Syced · Wikimedia Commons · CC0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00000" y="1250000"/>
            <a:ext cx="3400000" cy="400000"/>
          </a:xfrm>
          <a:prstGeom prst="roundRect">
            <a:avLst/>
          </a:prstGeom>
          <a:noFill/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2D3EE"/>
                </a:solidFill>
                <a:latin typeface="Segoe UI"/>
              </a:rPr>
              <a:t>MA'RUZA · M4 · 2 soat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0000" y="650000"/>
            <a:ext cx="6400000" cy="5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400" b="0">
                <a:solidFill>
                  <a:srgbClr val="AEBBD9"/>
                </a:solidFill>
                <a:latin typeface="Segoe UI"/>
              </a:rPr>
              <a:t>Sun'iy intellektga asoslangan kompyuter tizimlari muhandisligi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0000" y="1850000"/>
            <a:ext cx="6400000" cy="27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800" b="1">
                <a:solidFill>
                  <a:srgbClr val="E8EEFA"/>
                </a:solidFill>
                <a:latin typeface="Segoe UI"/>
              </a:rPr>
              <a:t>Mashinali o'qitish algoritmlari uchun apparat tezlatkichlari va sun'iy intellekt chiplarini loyihalash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60000" y="4650000"/>
            <a:ext cx="26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0000" y="4850000"/>
            <a:ext cx="6400000" cy="12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400" b="0">
                <a:solidFill>
                  <a:srgbClr val="AEBBD9"/>
                </a:solidFill>
                <a:latin typeface="Segoe UI"/>
              </a:rPr>
              <a:t>O‘qituvchi: S.Iskandarova, t.f.f.d. (PhD), dotsent</a:t>
            </a:r>
          </a:p>
          <a:p>
            <a:pPr algn="l"/>
            <a:r>
              <a:rPr sz="1400" b="0">
                <a:solidFill>
                  <a:srgbClr val="AEBBD9"/>
                </a:solidFill>
                <a:latin typeface="Segoe UI"/>
              </a:rPr>
              <a:t>2026-2027 o‘quv yili</a:t>
            </a:r>
          </a:p>
          <a:p>
            <a:pPr algn="l"/>
            <a:r>
              <a:rPr sz="1400" b="0">
                <a:solidFill>
                  <a:srgbClr val="AEBBD9"/>
                </a:solidFill>
                <a:latin typeface="Segoe UI"/>
              </a:rPr>
              <a:t>https://aiscan.airi.uz/ktm/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1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5" fill="hold">
                            <p:stCondLst>
                              <p:cond delay="200"/>
                            </p:stCondLst>
                            <p:childTnLst>
                              <p:par>
                                <p:cTn id="23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9" dur="5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0" dur="5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200"/>
                            </p:stCondLst>
                            <p:childTnLst>
                              <p:par>
                                <p:cTn id="24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5" dur="5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6" dur="5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7" fill="hold">
                            <p:stCondLst>
                              <p:cond delay="200"/>
                            </p:stCondLst>
                            <p:childTnLst>
                              <p:par>
                                <p:cTn id="24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1" dur="5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5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200"/>
                            </p:stCondLst>
                            <p:childTnLst>
                              <p:par>
                                <p:cTn id="2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6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7" fill="hold">
                            <p:stCondLst>
                              <p:cond delay="350"/>
                            </p:stCondLst>
                            <p:childTnLst>
                              <p:par>
                                <p:cTn id="2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1" fill="hold">
                            <p:stCondLst>
                              <p:cond delay="500"/>
                            </p:stCondLst>
                            <p:childTnLst>
                              <p:par>
                                <p:cTn id="26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5" dur="5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6" dur="5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7" fill="hold">
                            <p:stCondLst>
                              <p:cond delay="650"/>
                            </p:stCondLst>
                            <p:childTnLst>
                              <p:par>
                                <p:cTn id="26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5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1" dur="5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2" dur="5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800"/>
                            </p:stCondLst>
                            <p:childTnLst>
                              <p:par>
                                <p:cTn id="27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7" dur="8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8" fill="hold">
                            <p:stCondLst>
                              <p:cond delay="950"/>
                            </p:stCondLst>
                            <p:childTnLst>
                              <p:par>
                                <p:cTn id="2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5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2" grpId="0" animBg="1"/>
      <p:bldP spid="61" grpId="0" animBg="1"/>
      <p:bldP spid="64" grpId="0" animBg="1"/>
      <p:bldP spid="66" grpId="0" animBg="1"/>
      <p:bldP spid="65" grpId="0" animBg="1"/>
      <p:bldP spid="67" grpId="0" animBg="1"/>
      <p:bldP spid="68" grpId="0" animBg="1"/>
      <p:bldP spid="6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MA’RUZA REJASI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Reja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0000" y="195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0000" y="2035000"/>
            <a:ext cx="50000" cy="360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0000" y="2035000"/>
            <a:ext cx="360000" cy="36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0000" y="199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Sun'iy intellekt uchun maxsus apparat vositalari: umumiy manzara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0000" y="258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000" y="2665000"/>
            <a:ext cx="50000" cy="360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0000" y="2665000"/>
            <a:ext cx="360000" cy="36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0000" y="262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Tensor Core: ishlash prinsipi va evolyutsiyasi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0000" y="321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000" y="3295000"/>
            <a:ext cx="50000" cy="3600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60000" y="3295000"/>
            <a:ext cx="360000" cy="360000"/>
          </a:xfrm>
          <a:prstGeom prst="ellipse">
            <a:avLst/>
          </a:prstGeom>
          <a:noFill/>
          <a:ln w="254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EC4899"/>
                </a:solidFill>
                <a:latin typeface="Segoe U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00000" y="325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0000" y="384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000" y="3925000"/>
            <a:ext cx="50000" cy="360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0000" y="3925000"/>
            <a:ext cx="360000" cy="360000"/>
          </a:xfrm>
          <a:prstGeom prst="ellipse">
            <a:avLst/>
          </a:prstGeom>
          <a:noFill/>
          <a:ln w="254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34D399"/>
                </a:solidFill>
                <a:latin typeface="Segoe U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00000" y="388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RISC-V arxitekturasi va uning SI chiplaridagi o'rni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0000" y="447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0000" y="4555000"/>
            <a:ext cx="50000" cy="36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0000" y="4555000"/>
            <a:ext cx="360000" cy="3600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00000" y="451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Sun'iy intellekt chiplarini loyihalashning asosiy tamoyillari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50000" y="5105000"/>
            <a:ext cx="11100000" cy="520000"/>
          </a:xfrm>
          <a:prstGeom prst="roundRect">
            <a:avLst>
              <a:gd name="adj" fmla="val 25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50000" y="5185000"/>
            <a:ext cx="50000" cy="3600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60000" y="5185000"/>
            <a:ext cx="360000" cy="360000"/>
          </a:xfrm>
          <a:prstGeom prst="ellipse">
            <a:avLst/>
          </a:prstGeom>
          <a:noFill/>
          <a:ln w="254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60A5FA"/>
                </a:solidFill>
                <a:latin typeface="Segoe U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0000" y="5145000"/>
            <a:ext cx="102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E8EEFA"/>
                </a:solidFill>
                <a:latin typeface="Segoe UI"/>
              </a:rPr>
              <a:t>Zamonaviy tendensiyalar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00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00"/>
                            </p:stCondLst>
                            <p:childTnLst>
                              <p:par>
                                <p:cTn id="6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600"/>
                            </p:stCondLst>
                            <p:childTnLst>
                              <p:par>
                                <p:cTn id="6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600"/>
                            </p:stCondLst>
                            <p:childTnLst>
                              <p:par>
                                <p:cTn id="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600"/>
                            </p:stCondLst>
                            <p:childTnLst>
                              <p:par>
                                <p:cTn id="7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800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800"/>
                            </p:stCondLst>
                            <p:childTnLst>
                              <p:par>
                                <p:cTn id="9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800"/>
                            </p:stCondLst>
                            <p:childTnLst>
                              <p:par>
                                <p:cTn id="9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800"/>
                            </p:stCondLst>
                            <p:childTnLst>
                              <p:par>
                                <p:cTn id="10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000"/>
                            </p:stCondLst>
                            <p:childTnLst>
                              <p:par>
                                <p:cTn id="10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000"/>
                            </p:stCondLst>
                            <p:childTnLst>
                              <p:par>
                                <p:cTn id="1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000"/>
                            </p:stCondLst>
                            <p:childTnLst>
                              <p:par>
                                <p:cTn id="1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1200"/>
                            </p:stCondLst>
                            <p:childTnLst>
                              <p:par>
                                <p:cTn id="1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1200"/>
                            </p:stCondLst>
                            <p:childTnLst>
                              <p:par>
                                <p:cTn id="1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200"/>
                            </p:stCondLst>
                            <p:childTnLst>
                              <p:par>
                                <p:cTn id="1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1200"/>
                            </p:stCondLst>
                            <p:childTnLst>
                              <p:par>
                                <p:cTn id="1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5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00000" y="5040000"/>
            <a:ext cx="1666666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0000" y="5266666"/>
            <a:ext cx="1666666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00000" y="5266666"/>
            <a:ext cx="1666666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00000" y="5266666"/>
            <a:ext cx="1666666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00000" y="5040000"/>
            <a:ext cx="1666666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00000" y="5380000"/>
            <a:ext cx="1666666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0000" y="5720000"/>
            <a:ext cx="1666666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66666" y="504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66666" y="538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066666" y="572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66666" y="606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33333" y="5040000"/>
            <a:ext cx="1666667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33333" y="5040000"/>
            <a:ext cx="1666667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733333" y="5266666"/>
            <a:ext cx="1666667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733333" y="5380000"/>
            <a:ext cx="1666667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733333" y="5266666"/>
            <a:ext cx="1666667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733333" y="5720000"/>
            <a:ext cx="1666667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733333" y="5266666"/>
            <a:ext cx="1666667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3733333" y="5833333"/>
            <a:ext cx="1666667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4288f6de7d4c3a0.jpg"/>
          <p:cNvPicPr>
            <a:picLocks noChangeAspect="1"/>
          </p:cNvPicPr>
          <p:nvPr/>
        </p:nvPicPr>
        <p:blipFill>
          <a:blip r:embed="rId2"/>
          <a:srcRect l="9848" r="9848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46" name="TextBox 45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Norman P. Jouppi, George Kurian, Sheng Li, Peter Ma, Rahul Nagarajan, Lifeng Nai · Wikimedia Commons · CC BY 4.0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Sun'iy intellekt uchun maxsus apparat vositalari: umumiy manzara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150"/>
                            </p:stCondLst>
                            <p:childTnLst>
                              <p:par>
                                <p:cTn id="1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150"/>
                            </p:stCondLst>
                            <p:childTnLst>
                              <p:par>
                                <p:cTn id="17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50"/>
                            </p:stCondLst>
                            <p:childTnLst>
                              <p:par>
                                <p:cTn id="1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350"/>
                            </p:stCondLst>
                            <p:childTnLst>
                              <p:par>
                                <p:cTn id="18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450"/>
                            </p:stCondLst>
                            <p:childTnLst>
                              <p:par>
                                <p:cTn id="1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50"/>
                            </p:stCondLst>
                            <p:childTnLst>
                              <p:par>
                                <p:cTn id="19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5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5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650"/>
                            </p:stCondLst>
                            <p:childTnLst>
                              <p:par>
                                <p:cTn id="20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3" dur="8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1-REJA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100" b="1">
                <a:solidFill>
                  <a:srgbClr val="E8EEFA"/>
                </a:solidFill>
                <a:latin typeface="Segoe UI"/>
              </a:rPr>
              <a:t>Sun'iy intellekt uchun maxsus apparat vositalari: umumiy manzara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34c46df3bd2824bb.jpg"/>
          <p:cNvPicPr>
            <a:picLocks noChangeAspect="1"/>
          </p:cNvPicPr>
          <p:nvPr/>
        </p:nvPicPr>
        <p:blipFill>
          <a:blip r:embed="rId2"/>
          <a:srcRect l="14079" r="14079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Sangitiana Fararano · Wikimedia Commons · CC BY-SA 2.0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000" y="2568868"/>
            <a:ext cx="6750000" cy="2442264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0000" y="2648868"/>
            <a:ext cx="50000" cy="22822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0000" y="2608868"/>
            <a:ext cx="5900000" cy="2362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E8EEFA"/>
                </a:solidFill>
                <a:latin typeface="Segoe UI"/>
              </a:rPr>
              <a:t>SI uchun maxsus apparat vositalarini ixtisoslashuv darajasi va joylashuvi bo'yicha tasniflash qulay.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AEBBD9"/>
                </a:solidFill>
                <a:latin typeface="Segoe UI"/>
              </a:rPr>
              <a:t>Umumiy protsessor ichidagi bloklar — CPU dagi AMX/SVE, GPU dagi Tensor Core: dasturlanadigan mashina ichida matritsa buyrug'i; moslashuvchanlik saqlanadi, samaradorlik oshadi. Ma'lumotlar markazi ASIC lari — TPU, AWS Trainium2 va Inferentia2, Microsoft Maia 100, Meta MTIA: bulut provayderi o'z yuki uchun loyihalagan chip, kompilyator orqali dasturlanadi, umumiy maqsadda ishlatilmaydi.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6" grpId="0" animBg="1"/>
      <p:bldP spid="29" grpId="0" animBg="1"/>
      <p:bldP spid="28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1-REJA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100" b="1">
                <a:solidFill>
                  <a:srgbClr val="E8EEFA"/>
                </a:solidFill>
                <a:latin typeface="Segoe UI"/>
              </a:rPr>
              <a:t>Sun'iy intellekt uchun maxsus apparat vositalari: umumiy manzara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96da5494be5f233.jpg"/>
          <p:cNvPicPr>
            <a:picLocks noChangeAspect="1"/>
          </p:cNvPicPr>
          <p:nvPr/>
        </p:nvPicPr>
        <p:blipFill>
          <a:blip r:embed="rId2"/>
          <a:srcRect l="18210" r="18210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Jacksontlu · Wikimedia Commons · CC BY-SA 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0000" y="2568868"/>
            <a:ext cx="6750000" cy="2442264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0000" y="2648868"/>
            <a:ext cx="50000" cy="22822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0000" y="2608868"/>
            <a:ext cx="5900000" cy="2362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E8EEFA"/>
                </a:solidFill>
                <a:latin typeface="Segoe UI"/>
              </a:rPr>
              <a:t>Startap arxitekturalari — Cerebras WSE-3 (butun wafer bitta chip: 4 trillion tranzistor, 900 000 yadro, 44 GB on-chip SRAM, 21 PB/s ichki o'tkazuvchanlik), Groq LPU (deterministik, butunlay SRAM asosidagi, HBM siz, LLM inferensida juda past kechikish)…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AEBBD9"/>
                </a:solidFill>
                <a:latin typeface="Segoe UI"/>
              </a:rPr>
              <a:t>Chekka NPU lar — Apple Neural Engine, Qualcomm Hexagon, Google Edge TPU, Hailo-8 (26 TOPS, 2,5 W): vatt boshiga samaradorlik ustuvor. Qayta dasturlanadigan platformalar — FPGA va moslashuvchan SoC lar (AMD Versal, Intel Agilex).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5" grpId="0" animBg="1"/>
      <p:bldP spid="24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1-REJA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100" b="1">
                <a:solidFill>
                  <a:srgbClr val="E8EEFA"/>
                </a:solidFill>
                <a:latin typeface="Segoe UI"/>
              </a:rPr>
              <a:t>Sun'iy intellekt uchun maxsus apparat vositalari: umumiy manzara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6c7780a9e8da9fd.jpg"/>
          <p:cNvPicPr>
            <a:picLocks noChangeAspect="1"/>
          </p:cNvPicPr>
          <p:nvPr/>
        </p:nvPicPr>
        <p:blipFill>
          <a:blip r:embed="rId2"/>
          <a:srcRect l="15233" r="15233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Mister rf · Wikimedia Commons · CC BY-SA 4.0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000" y="2552104"/>
            <a:ext cx="6750000" cy="2475792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0000" y="2632104"/>
            <a:ext cx="50000" cy="2315792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EC4899"/>
                </a:solidFill>
                <a:latin typeface="Segoe U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0000" y="2592104"/>
            <a:ext cx="5900000" cy="2395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>
                <a:solidFill>
                  <a:srgbClr val="E8EEFA"/>
                </a:solidFill>
                <a:latin typeface="Segoe UI"/>
              </a:rPr>
              <a:t>Bu xilma-xillikni birlashtiruvchi narsa — barchasi Sze va hammualliflar [4] tavsiflagan bir xil loyihalash fazosida ishlaydi: hisoblash elementlari massivi (processing elements, PE), ular orasidagi ma'lumot oqimi (dataflow), ko'p darajali on-chip xotira…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AEBBD9"/>
                </a:solidFill>
                <a:latin typeface="Segoe UI"/>
              </a:rPr>
              <a:t>Farqlar — bu o'lchovlarning qaysi biriga urg'u berilganida.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6" grpId="0" animBg="1"/>
      <p:bldP spid="29" grpId="0" animBg="1"/>
      <p:bldP spid="28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00000" y="5040000"/>
            <a:ext cx="1666666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0000" y="5266666"/>
            <a:ext cx="1666666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00000" y="5040000"/>
            <a:ext cx="1666666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00000" y="5720000"/>
            <a:ext cx="1666666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00000" y="5833333"/>
            <a:ext cx="1666666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066666" y="504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066666" y="606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733333" y="5040000"/>
            <a:ext cx="1666667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733333" y="5040000"/>
            <a:ext cx="1666667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733333" y="5266666"/>
            <a:ext cx="1666667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33333" y="5380000"/>
            <a:ext cx="1666667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733333" y="5266666"/>
            <a:ext cx="1666667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33333" y="5720000"/>
            <a:ext cx="1666667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733333" y="5266666"/>
            <a:ext cx="1666667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733333" y="5833333"/>
            <a:ext cx="1666667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cc2909d57589c15.jpg"/>
          <p:cNvPicPr>
            <a:picLocks noChangeAspect="1"/>
          </p:cNvPicPr>
          <p:nvPr/>
        </p:nvPicPr>
        <p:blipFill>
          <a:blip r:embed="rId2"/>
          <a:srcRect l="19886" r="19886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极客湾Geekerwan · Wikimedia Commons · CC BY 3.0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Tensor Core: ishlash prinsipi va evolyutsiyasi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150"/>
                            </p:stCondLst>
                            <p:childTnLst>
                              <p:par>
                                <p:cTn id="14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50"/>
                            </p:stCondLst>
                            <p:childTnLst>
                              <p:par>
                                <p:cTn id="15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15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350"/>
                            </p:stCondLst>
                            <p:childTnLst>
                              <p:par>
                                <p:cTn id="16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450"/>
                            </p:stCondLst>
                            <p:childTnLst>
                              <p:par>
                                <p:cTn id="1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550"/>
                            </p:stCondLst>
                            <p:childTnLst>
                              <p:par>
                                <p:cTn id="17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650"/>
                            </p:stCondLst>
                            <p:childTnLst>
                              <p:par>
                                <p:cTn id="1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3" dur="8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2-REJA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Tensor Core: ishlash prinsipi va evolyutsiyasi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63f824eafe067fe7.jpg"/>
          <p:cNvPicPr>
            <a:picLocks noChangeAspect="1"/>
          </p:cNvPicPr>
          <p:nvPr/>
        </p:nvPicPr>
        <p:blipFill>
          <a:blip r:embed="rId2"/>
          <a:srcRect l="31648" r="31648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Popolon · Wikimedia Commons · CC0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0000" y="2417992"/>
            <a:ext cx="6750000" cy="2744016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000" y="2497992"/>
            <a:ext cx="50000" cy="258401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0000" y="2457992"/>
            <a:ext cx="5900000" cy="26640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>
                <a:solidFill>
                  <a:srgbClr val="E8EEFA"/>
                </a:solidFill>
                <a:latin typeface="Segoe UI"/>
              </a:rPr>
              <a:t>Tensor Core — NVIDIA GPU ning SM i ichidagi matritsa ko'paytirish bloki.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AEBBD9"/>
                </a:solidFill>
                <a:latin typeface="Segoe UI"/>
              </a:rPr>
              <a:t>Oddiy CUDA yadrosi bir taktda bitta FMA (fused multiply-add) bajaradi; Tensor Core esa bitta buyruqda kichik matritsa amalini D = A × B + C bajaradi, bu yerda A va B past aniqlikda (FP16, BF16, TF32, INT8, FP8), C va D esa yuqori aniqlikda (FP32 yoki INT32) to'planadi — bu aralash aniqlik (mixed precision) tamoyili: ko'paytirish arzon formatda, yig'indi aniq formatda.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3" grpId="0" animBg="1"/>
      <p:bldP spid="26" grpId="0" animBg="1"/>
      <p:bldP spid="25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2-REJA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Tensor Core: ishlash prinsipi va evolyutsiyasi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6b746d941efc8240.jpg"/>
          <p:cNvPicPr>
            <a:picLocks noChangeAspect="1"/>
          </p:cNvPicPr>
          <p:nvPr/>
        </p:nvPicPr>
        <p:blipFill>
          <a:blip r:embed="rId2"/>
          <a:srcRect l="18248" r="18248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Petty Officer 2nd Class Gary Granger Jr. · Wikimedia Commons · Public domain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0000" y="2568868"/>
            <a:ext cx="6750000" cy="2442264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000" y="2648868"/>
            <a:ext cx="50000" cy="22822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0000" y="2608868"/>
            <a:ext cx="5900000" cy="2362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E8EEFA"/>
                </a:solidFill>
                <a:latin typeface="Segoe UI"/>
              </a:rPr>
              <a:t>Jadvaldagi TF32 (TensorFloat-32) alohida izohga loyiq: bu 19-bitli format (8 bit eksponenta FP32 kabi, 10 bit mantissa FP16 kabi) bo'lib, FP32 kirish ma'lumotini kod o'zgartirmasdan Tensor Core da hisoblash imkonini beradi — A100 da 19,5 ga qarshi 156 TFLOPS.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AEBBD9"/>
                </a:solidFill>
                <a:latin typeface="Segoe UI"/>
              </a:rPr>
              <a:t>2:4 strukturali siyraklik har 4 ta ketma-ket og'irlikdan 2 tasi nol bo'lishini talab qiladi; apparat nollarni o'tkazib yuborib o'tkazuvchanlikni ikki baravar oshiradi — shuning uchun pasportda «siyrak» raqam zichdan ikki baravar katta.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3" grpId="0" animBg="1"/>
      <p:bldP spid="26" grpId="0" animBg="1"/>
      <p:bldP spid="25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2-REJA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Tensor Core: ishlash prinsipi va evolyutsiyasi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43cc558f2c389c9.jpg"/>
          <p:cNvPicPr>
            <a:picLocks noChangeAspect="1"/>
          </p:cNvPicPr>
          <p:nvPr/>
        </p:nvPicPr>
        <p:blipFill>
          <a:blip r:embed="rId2"/>
          <a:srcRect l="14116" r="14116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6" name="TextBox 25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Syced · Wikimedia Commons · CC0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0000" y="2568868"/>
            <a:ext cx="6750000" cy="2442264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000" y="2648868"/>
            <a:ext cx="50000" cy="22822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EC4899"/>
                </a:solidFill>
                <a:latin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0000" y="2608868"/>
            <a:ext cx="5900000" cy="2362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E8EEFA"/>
                </a:solidFill>
                <a:latin typeface="Segoe UI"/>
              </a:rPr>
              <a:t>Tensor Core dan foydalanish shartlari co-design uchun muhim: (1) aniqlik — FP32 da Tensor Core faqat TF32 yoqilgan bo'lsa ishlaydi; (2) o'lchamlar — FP16 uchun matritsa o'lchamlari 8 ga, INT8 uchun 16 ga karrali bo'lsa, eng samarali yadro tanlanadi (aks holda…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AEBBD9"/>
                </a:solidFill>
                <a:latin typeface="Segoe UI"/>
              </a:rPr>
              <a:t>Dasturchi uchun kirish nuqtalari: cuBLAS/cuDNN (avtomatik), PyTorch autocast (aralash aniqlik), CUTLASS kutubxonasi (shablonli yadrolar), WMMA/mma.sync buyruqlari (bevosita CUDA da), Triton tili (Python dan yadro yozish).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4" grpId="0" animBg="1"/>
      <p:bldP spid="27" grpId="0" animBg="1"/>
      <p:bldP spid="26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2-REJA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Tensor Core: ishlash prinsipi va evolyutsiyasi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11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50000" y="1400000"/>
          <a:ext cx="11100000" cy="3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5000"/>
                <a:gridCol w="2775000"/>
                <a:gridCol w="2775000"/>
                <a:gridCol w="2775000"/>
              </a:tblGrid>
              <a:tr h="52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Segoe UI"/>
                        </a:rPr>
                        <a:t>Avlod (arxitektura, yil)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Segoe UI"/>
                        </a:rPr>
                        <a:t>Yangi aniqliklar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Segoe UI"/>
                        </a:rPr>
                        <a:t>Boshqa yangiliklar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D3EE"/>
                          </a:solidFill>
                          <a:latin typeface="Segoe UI"/>
                        </a:rPr>
                        <a:t>Vakil chip, zich FP16 TFLOPS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1 (Volta, 2017)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FP16 → FP32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Tensor Core kiritildi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V100, 125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2 (Turing, 2018)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INT8, INT4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Inferens uchun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T4, 65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3 (Ampere, 2020)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TF32, BF16, FP64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2:4 strukturali siyraklik, asinxron nusxalash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A100, 312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4 (Hopper, 2022)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FP8 (E4M3, E5M2)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Transformer Engine (dinamik FP8/FP16), warp-guruh buyruqlari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H100, ~990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5 (Blackwell, 2024)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FP4, FP6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2-avlod Transformer Engine, ikki kristalli paket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8EEFA"/>
                          </a:solidFill>
                          <a:latin typeface="Segoe UI"/>
                        </a:rPr>
                        <a:t>B200, ~2 250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00000" y="5040000"/>
            <a:ext cx="1666666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0000" y="5266666"/>
            <a:ext cx="1666666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00000" y="5380000"/>
            <a:ext cx="1666666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00000" y="5720000"/>
            <a:ext cx="1666666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00000" y="5833333"/>
            <a:ext cx="1666666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66666" y="538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66666" y="572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66666" y="606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733333" y="5040000"/>
            <a:ext cx="1666667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33333" y="5040000"/>
            <a:ext cx="1666667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33333" y="5380000"/>
            <a:ext cx="1666667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733333" y="5266666"/>
            <a:ext cx="1666667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33333" y="5720000"/>
            <a:ext cx="1666667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733333" y="5266666"/>
            <a:ext cx="1666667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733333" y="5833333"/>
            <a:ext cx="1666667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88e3f43a5de01f76.jpg"/>
          <p:cNvPicPr>
            <a:picLocks noChangeAspect="1"/>
          </p:cNvPicPr>
          <p:nvPr/>
        </p:nvPicPr>
        <p:blipFill>
          <a:blip r:embed="rId2"/>
          <a:srcRect l="7216" r="7216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42" name="TextBox 41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Antti Lukats · Wikimedia Commons · CC0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50"/>
                            </p:stCondLst>
                            <p:childTnLst>
                              <p:par>
                                <p:cTn id="1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150"/>
                            </p:stCondLst>
                            <p:childTnLst>
                              <p:par>
                                <p:cTn id="1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15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50"/>
                            </p:stCondLst>
                            <p:childTnLst>
                              <p:par>
                                <p:cTn id="1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450"/>
                            </p:stCondLst>
                            <p:childTnLst>
                              <p:par>
                                <p:cTn id="1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50"/>
                            </p:stCondLst>
                            <p:childTnLst>
                              <p:par>
                                <p:cTn id="17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650"/>
                            </p:stCondLst>
                            <p:childTnLst>
                              <p:par>
                                <p:cTn id="18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7" dur="8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3-REJA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34c46df3bd2824bb.jpg"/>
          <p:cNvPicPr>
            <a:picLocks noChangeAspect="1"/>
          </p:cNvPicPr>
          <p:nvPr/>
        </p:nvPicPr>
        <p:blipFill>
          <a:blip r:embed="rId2"/>
          <a:srcRect l="14079" r="14079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Sangitiana Fararano · Wikimedia Commons · CC BY-SA 2.0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000" y="1443612"/>
            <a:ext cx="6750000" cy="2291388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0000" y="1523612"/>
            <a:ext cx="50000" cy="21313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0000" y="2389306"/>
            <a:ext cx="400000" cy="40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0000" y="1483612"/>
            <a:ext cx="5900000" cy="2211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E8EEFA"/>
                </a:solidFill>
                <a:latin typeface="Segoe UI"/>
              </a:rPr>
              <a:t>ASIC (Application-Specific Integrated Circuit) va FPGA — ixtisoslashuvning ikki yo'li: biri kremniyda qotirilgan, ikkinchisi qayta dasturlanadigan.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AEBBD9"/>
                </a:solidFill>
                <a:latin typeface="Segoe UI"/>
              </a:rPr>
              <a:t>Ularni to'g'ri taqqoslash uchun loyihalash oqimini bilish kerak.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0000" y="3845000"/>
            <a:ext cx="6750000" cy="2291388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0000" y="3925000"/>
            <a:ext cx="50000" cy="213138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0000" y="4790694"/>
            <a:ext cx="400000" cy="40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0000" y="3885000"/>
            <a:ext cx="5900000" cy="2211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E8EEFA"/>
                </a:solidFill>
                <a:latin typeface="Segoe UI"/>
              </a:rPr>
              <a:t>ASIC loyihalash oqimi quyidagi bosqichlardan iborat: spetsifikatsiya (yuk tahlili, unumdorlik/energiya/maydon maqsadlari) → arxitektura (PE massivi o'lchami, xotira hajmi, ma'lumot oqimi; odatda tezkor simulyator va analitik modellar bilan) → RTL loyihalash…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AEBBD9"/>
                </a:solidFill>
                <a:latin typeface="Segoe UI"/>
              </a:rPr>
              <a:t>Butun sikl 18–36 oy, xarajat ilg'or jarayonda yuz millionlab dollar. Buning evaziga ASIC eng yuqori samaradorlikni beradi: TPU v1 o'z davridagi GPU dan vatt boshiga 30–80 baravar samarali edi; zamonaviy chekka NPU lar 5–20 TOPS/W ga erishadi.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5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5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50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6" grpId="0" animBg="1"/>
      <p:bldP spid="29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3-REJA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96da5494be5f233.jpg"/>
          <p:cNvPicPr>
            <a:picLocks noChangeAspect="1"/>
          </p:cNvPicPr>
          <p:nvPr/>
        </p:nvPicPr>
        <p:blipFill>
          <a:blip r:embed="rId2"/>
          <a:srcRect l="18210" r="18210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Jacksontlu · Wikimedia Commons · CC BY-SA 4.0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0000" y="3088552"/>
            <a:ext cx="6750000" cy="1402896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0000" y="3168552"/>
            <a:ext cx="50000" cy="1242896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EC4899"/>
                </a:solidFill>
                <a:latin typeface="Segoe U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0000" y="3128552"/>
            <a:ext cx="5900000" cy="1322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>
                <a:solidFill>
                  <a:srgbClr val="E8EEFA"/>
                </a:solidFill>
                <a:latin typeface="Segoe UI"/>
              </a:rPr>
              <a:t>FPGA oqimi qisqaroq: RTL yoki HLS (C/C++ dan sintez) → sintez → joylashtirish va trassalash (soatlar) → bitstream yuklash (soniyalar).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AEBBD9"/>
                </a:solidFill>
                <a:latin typeface="Segoe UI"/>
              </a:rPr>
              <a:t>Xato topilsa, qayta sintez qilinadi — tape-out yo'q.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5" grpId="0" animBg="1"/>
      <p:bldP spid="28" grpId="0" animBg="1"/>
      <p:bldP spid="27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3-REJA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6c7780a9e8da9fd.jpg"/>
          <p:cNvPicPr>
            <a:picLocks noChangeAspect="1"/>
          </p:cNvPicPr>
          <p:nvPr/>
        </p:nvPicPr>
        <p:blipFill>
          <a:blip r:embed="rId2"/>
          <a:srcRect l="15233" r="15233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Mister rf · Wikimedia Commons · CC BY-SA 4.0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0000" y="2568868"/>
            <a:ext cx="6750000" cy="2442264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0000" y="2648868"/>
            <a:ext cx="50000" cy="228226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34D399"/>
                </a:solidFill>
                <a:latin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0000" y="2608868"/>
            <a:ext cx="5900000" cy="2362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E8EEFA"/>
                </a:solidFill>
                <a:latin typeface="Segoe UI"/>
              </a:rPr>
              <a:t>SI uchun FPGA ekotizimi: AMD Vitis AI (tayyor DPU yadrosi — konfiguratsiyalanadigan konvolyutsiya tezlatkichi — va kompilyator), FINN (AMD tadqiqot ramkasi, juda past bitli — hatto binar — tarmoqlarni to'g'ridan-to'g'ri mantiqqa yoyadi), hls4ml (CERN da…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AEBBD9"/>
                </a:solidFill>
                <a:latin typeface="Segoe UI"/>
              </a:rPr>
              <a:t>Yangi avlod «moslashuvchan SoC» lar — AMD Versal AI Core/AI Edge — dasturlanadigan mantiq yoniga yuzlab VLIW vektor protsessorlari (AI Engine) qo'yadi, bu FPGA ning moslashuvchanligi bilan ASIC ga yaqin zichlikni birlashtiradi.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5" grpId="0" animBg="1"/>
      <p:bldP spid="28" grpId="0" animBg="1"/>
      <p:bldP spid="27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3-REJA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63f824eafe067fe7.jpg"/>
          <p:cNvPicPr>
            <a:picLocks noChangeAspect="1"/>
          </p:cNvPicPr>
          <p:nvPr/>
        </p:nvPicPr>
        <p:blipFill>
          <a:blip r:embed="rId2"/>
          <a:srcRect l="31648" r="31648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Popolon · Wikimedia Commons · CC0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000" y="2552104"/>
            <a:ext cx="6750000" cy="2475792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0000" y="2632104"/>
            <a:ext cx="50000" cy="23157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0000" y="2592104"/>
            <a:ext cx="5900000" cy="2395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>
                <a:solidFill>
                  <a:srgbClr val="E8EEFA"/>
                </a:solidFill>
                <a:latin typeface="Segoe UI"/>
              </a:rPr>
              <a:t>Amaliy qoida: tiraj kichik, kechikish qattiq va kiritish-chiqarish nostandart bo'lsa — FPGA; tiraj millionlab va yuk barqaror bo'lsa — ASIC; yuk tez o'zgaradigan va ekotizim muhim bo'lsa — GPU.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AEBBD9"/>
                </a:solidFill>
                <a:latin typeface="Segoe UI"/>
              </a:rPr>
              <a:t>Ko'pincha FPGA ASIC uchun prototip bosqichi vazifasini ham bajaradi: arxitektura FPGA da tekshiriladi, so'ng kremniyga o'tkaziladi.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6" grpId="0" animBg="1"/>
      <p:bldP spid="29" grpId="0" animBg="1"/>
      <p:bldP spid="28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3-REJA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FPGA va ASIC asosidagi sun'iy intellekt tizimlari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17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50000" y="1400000"/>
          <a:ext cx="11100000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5000"/>
                <a:gridCol w="2775000"/>
                <a:gridCol w="2775000"/>
                <a:gridCol w="2775000"/>
              </a:tblGrid>
              <a:tr h="52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Mezon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FPGA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ASIC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D3EE"/>
                          </a:solidFill>
                          <a:latin typeface="Segoe UI"/>
                        </a:rPr>
                        <a:t>GPU (taqqoslash uchun)</a:t>
                      </a:r>
                    </a:p>
                  </a:txBody>
                  <a:tcPr>
                    <a:solidFill>
                      <a:srgbClr val="1C275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Ishlab chiqish vaqti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Haftalar–oylar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1,5–3 yil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Kunlar (dastur)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Boshlang'ich xarajat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Karta narxi (ming–o'n ming dollar)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Yuz millionlab dollar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Karta narxi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Birlik narxi katta tirajda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Yuqori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Past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O'rta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Energiya samaradorligi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Yaxshi (ASIC dan 5–10× past)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Eng yuqori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O'rta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Kechikish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Mikrosekund, deterministik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Mikrosekund, deterministik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O'n–yuz mikrosekund, o'zgaruvchan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Aniqlik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Ixtiyoriy bit kenglik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Loyihada belgilangan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FP64–FP4 to'plam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Modelni o'zgartirish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Qayta sintez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Faqat kompilyator doirasida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Erkin</a:t>
                      </a:r>
                    </a:p>
                  </a:txBody>
                  <a:tcPr>
                    <a:solidFill>
                      <a:srgbClr val="11183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Tipik soha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Sanoat, radar, moliya, prototip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Bulut, telefon, avtomobil (katta tiraj)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A"/>
                          </a:solidFill>
                          <a:latin typeface="Segoe UI"/>
                        </a:rPr>
                        <a:t>O'qitish, umumiy inferens</a:t>
                      </a:r>
                    </a:p>
                  </a:txBody>
                  <a:tcPr>
                    <a:solidFill>
                      <a:srgbClr val="161F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00000" y="5040000"/>
            <a:ext cx="1666666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0000" y="5266666"/>
            <a:ext cx="1666666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00000" y="5266666"/>
            <a:ext cx="1666666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00000" y="5040000"/>
            <a:ext cx="1666666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00000" y="5380000"/>
            <a:ext cx="1666666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00000" y="5720000"/>
            <a:ext cx="1666666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00000" y="5833333"/>
            <a:ext cx="1666666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66666" y="504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66666" y="538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066666" y="572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66666" y="606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33333" y="5040000"/>
            <a:ext cx="1666667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733333" y="5266666"/>
            <a:ext cx="1666667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733333" y="5266666"/>
            <a:ext cx="1666667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33333" y="5720000"/>
            <a:ext cx="1666667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733333" y="5266666"/>
            <a:ext cx="1666667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733333" y="5833333"/>
            <a:ext cx="1666667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9d172aa2f6ddcd23.jpg"/>
          <p:cNvPicPr>
            <a:picLocks noChangeAspect="1"/>
          </p:cNvPicPr>
          <p:nvPr/>
        </p:nvPicPr>
        <p:blipFill>
          <a:blip r:embed="rId2"/>
          <a:srcRect t="3302" b="3302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43" name="TextBox 42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James Tamim · Wikimedia Commons · CC BY-SA 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RISC-V arxitekturasi va uning SI chiplaridagi o'rni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150"/>
                            </p:stCondLst>
                            <p:childTnLst>
                              <p:par>
                                <p:cTn id="1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150"/>
                            </p:stCondLst>
                            <p:childTnLst>
                              <p:par>
                                <p:cTn id="16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15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350"/>
                            </p:stCondLst>
                            <p:childTnLst>
                              <p:par>
                                <p:cTn id="17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450"/>
                            </p:stCondLst>
                            <p:childTnLst>
                              <p:par>
                                <p:cTn id="1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550"/>
                            </p:stCondLst>
                            <p:childTnLst>
                              <p:par>
                                <p:cTn id="18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5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6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650"/>
                            </p:stCondLst>
                            <p:childTnLst>
                              <p:par>
                                <p:cTn id="18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1" dur="8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4-REJA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RISC-V arxitekturasi va uning SI chiplaridagi o'rni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19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6b746d941efc8240.jpg"/>
          <p:cNvPicPr>
            <a:picLocks noChangeAspect="1"/>
          </p:cNvPicPr>
          <p:nvPr/>
        </p:nvPicPr>
        <p:blipFill>
          <a:blip r:embed="rId2"/>
          <a:srcRect l="18248" r="18248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Petty Officer 2nd Class Gary Granger Jr. · Wikimedia Commons · Public domain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000" y="1443612"/>
            <a:ext cx="6750000" cy="2291388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0000" y="1523612"/>
            <a:ext cx="50000" cy="213138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0000" y="2389306"/>
            <a:ext cx="400000" cy="40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0000" y="1483612"/>
            <a:ext cx="5900000" cy="2211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E8EEFA"/>
                </a:solidFill>
                <a:latin typeface="Segoe UI"/>
              </a:rPr>
              <a:t>RISC-V — 2010-yilda Kaliforniya universiteti Berklida yaratilgan va hozir RISC-V International (Shveytsariya) tomonidan boshqariladigan ochiq buyruqlar to'plami arxitekturasi (Instruction Set Architecture, ISA). x86 (Intel/AMD) va ARM dan farqli o'laroq…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0000" y="3845000"/>
            <a:ext cx="6750000" cy="2291388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0000" y="3925000"/>
            <a:ext cx="50000" cy="213138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0000" y="4790694"/>
            <a:ext cx="400000" cy="40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0000" y="3885000"/>
            <a:ext cx="5900000" cy="2211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E8EEFA"/>
                </a:solidFill>
                <a:latin typeface="Segoe UI"/>
              </a:rPr>
              <a:t>Arxitektura modulli: kichik majburiy asos (RV32I/RV64I — 40 ta butun sonli buyruq) va ixtiyoriy standart kengaytmalar — M (ko'paytirish/bo'lish), A (atomar), F/D (suzuvchi nuqta), C (siqilgan buyruqlar), V (vektor kengaytmasi, 1.0 versiyasi 2021-yilda…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AEBBD9"/>
                </a:solidFill>
                <a:latin typeface="Segoe UI"/>
              </a:rPr>
              <a:t>Eng muhimi — maxsus kengaytmalar uchun rezervlangan buyruq maydoni: chip loyihalovchi o'z matritsa yoki neyron buyruqlarini qo'shib, standart kompilyator (GCC, LLVM) va operatsion tizim bilan mosligini saqlaydi.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5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5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50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6" grpId="0" animBg="1"/>
      <p:bldP spid="29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4-REJA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RISC-V arxitekturasi va uning SI chiplaridagi o'rni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43cc558f2c389c9.jpg"/>
          <p:cNvPicPr>
            <a:picLocks noChangeAspect="1"/>
          </p:cNvPicPr>
          <p:nvPr/>
        </p:nvPicPr>
        <p:blipFill>
          <a:blip r:embed="rId2"/>
          <a:srcRect l="14116" r="14116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Syced · Wikimedia Commons · CC0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0000" y="1661544"/>
            <a:ext cx="6750000" cy="2073456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000" y="1741544"/>
            <a:ext cx="50000" cy="1913456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0000" y="2498272"/>
            <a:ext cx="400000" cy="400000"/>
          </a:xfrm>
          <a:prstGeom prst="ellipse">
            <a:avLst/>
          </a:prstGeom>
          <a:noFill/>
          <a:ln w="254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EC4899"/>
                </a:solidFill>
                <a:latin typeface="Segoe UI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0000" y="1701544"/>
            <a:ext cx="5900000" cy="1993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E8EEFA"/>
                </a:solidFill>
                <a:latin typeface="Segoe UI"/>
              </a:rPr>
              <a:t>SI chiplari uchun RISC-V ning jozibasi uch jihatda.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AEBBD9"/>
                </a:solidFill>
                <a:latin typeface="Segoe UI"/>
              </a:rPr>
              <a:t>Birinchidan, vektor kengaytmasi uzunlikka bog'liq emas (vector-length agnostic): bitta kod 128 bitli chekka yadroda ham, 2048 bitli server yadrosida ham ishlaydi — SIMD ning AVX2/AVX-512 kabi qattiq kengliklaridan farqli.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0000" y="3845000"/>
            <a:ext cx="6750000" cy="2073456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0000" y="3925000"/>
            <a:ext cx="50000" cy="191345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0000" y="4681728"/>
            <a:ext cx="400000" cy="400000"/>
          </a:xfrm>
          <a:prstGeom prst="ellipse">
            <a:avLst/>
          </a:prstGeom>
          <a:noFill/>
          <a:ln w="254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34D399"/>
                </a:solidFill>
                <a:latin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0000" y="3885000"/>
            <a:ext cx="5900000" cy="1993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E8EEFA"/>
                </a:solidFill>
                <a:latin typeface="Segoe UI"/>
              </a:rPr>
              <a:t>Ikkinchidan, tezlatkich ichidagi boshqaruv yadrolari sifatida: ko'p AI chiplari minglab PE larni boshqarish, DMA ni rejalashtirish, firmware ishga tushirish uchun kichik dasturlanadigan yadrolarga muhtoj, va RISC-V bu uchun bepul, ixcham va moslashuvchan.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AEBBD9"/>
                </a:solidFill>
                <a:latin typeface="Segoe UI"/>
              </a:rPr>
              <a:t>NVIDIA o'z GPU laridagi mikrokontrollerlarni (ilgari Falcon) RISC-V ga o'tkazganini e'lon qilgan; SiFive ma'lumotiga ko'ra, Google TPU larida SiFive X280 (RISC-V + vektor) yadrolari ishlatiladi.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5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5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50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3" grpId="0" animBg="1"/>
      <p:bldP spid="26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4-REJA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RISC-V arxitekturasi va uning SI chiplaridagi o'rni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21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34c46df3bd2824bb.jpg"/>
          <p:cNvPicPr>
            <a:picLocks noChangeAspect="1"/>
          </p:cNvPicPr>
          <p:nvPr/>
        </p:nvPicPr>
        <p:blipFill>
          <a:blip r:embed="rId2"/>
          <a:srcRect l="14079" r="14079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Sangitiana Fararano · Wikimedia Commons · CC BY-SA 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0000" y="2417992"/>
            <a:ext cx="6750000" cy="2744016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0000" y="2497992"/>
            <a:ext cx="50000" cy="2584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0000" y="2457992"/>
            <a:ext cx="5900000" cy="26640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1">
                <a:solidFill>
                  <a:srgbClr val="E8EEFA"/>
                </a:solidFill>
                <a:latin typeface="Segoe UI"/>
              </a:rPr>
              <a:t>RISC-V ning cheklovlari ham bor: ekotizim (kompilyator optimizatsiyalari, operatsion tizim, kutubxonalar) ARM va x86 dan yosh; yuqori unumdorli server yadrolari hali kam; standartlashtirilmagan kengaytmalar fragmentatsiyaga olib kelishi mumkin.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AEBBD9"/>
                </a:solidFill>
                <a:latin typeface="Segoe UI"/>
              </a:rPr>
              <a:t>Shunga qaramay, SI tezlatkichlari sohasida RISC-V de-fakto standart boshqaruv va vektor yadrosi bo'lib bormoqda.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5" grpId="0" animBg="1"/>
      <p:bldP spid="24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00000" y="5040000"/>
            <a:ext cx="1666666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0000" y="5266666"/>
            <a:ext cx="1666666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00000" y="5266666"/>
            <a:ext cx="1666666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00000" y="5266666"/>
            <a:ext cx="1666666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00000" y="5040000"/>
            <a:ext cx="1666666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00000" y="5380000"/>
            <a:ext cx="1666666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0000" y="5720000"/>
            <a:ext cx="1666666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0000" y="5833333"/>
            <a:ext cx="1666666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66666" y="572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733333" y="5266666"/>
            <a:ext cx="1666667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733333" y="5380000"/>
            <a:ext cx="1666667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733333" y="5720000"/>
            <a:ext cx="1666667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733333" y="5266666"/>
            <a:ext cx="1666667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733333" y="5833333"/>
            <a:ext cx="1666667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62f7323539173c5d.jpg"/>
          <p:cNvPicPr>
            <a:picLocks noChangeAspect="1"/>
          </p:cNvPicPr>
          <p:nvPr/>
        </p:nvPicPr>
        <p:blipFill>
          <a:blip r:embed="rId2"/>
          <a:srcRect l="13153" r="13153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Camera Operator: TSGT Bob Wickley · Wikimedia Commons · Public domain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Sun'iy intellekt chiplarini loyihalashning asosiy tamoyillari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150"/>
                            </p:stCondLst>
                            <p:childTnLst>
                              <p:par>
                                <p:cTn id="13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150"/>
                            </p:stCondLst>
                            <p:childTnLst>
                              <p:par>
                                <p:cTn id="14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15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350"/>
                            </p:stCondLst>
                            <p:childTnLst>
                              <p:par>
                                <p:cTn id="1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450"/>
                            </p:stCondLst>
                            <p:childTnLst>
                              <p:par>
                                <p:cTn id="1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550"/>
                            </p:stCondLst>
                            <p:childTnLst>
                              <p:par>
                                <p:cTn id="16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5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650"/>
                            </p:stCondLst>
                            <p:childTnLst>
                              <p:par>
                                <p:cTn id="1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1" dur="8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1035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5-REJA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100" b="1">
                <a:solidFill>
                  <a:srgbClr val="E8EEFA"/>
                </a:solidFill>
                <a:latin typeface="Segoe UI"/>
              </a:rPr>
              <a:t>Sun'iy intellekt chiplarini loyihalashning asosiy tamoyillari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96da5494be5f233.jpg"/>
          <p:cNvPicPr>
            <a:picLocks noChangeAspect="1"/>
          </p:cNvPicPr>
          <p:nvPr/>
        </p:nvPicPr>
        <p:blipFill>
          <a:blip r:embed="rId2"/>
          <a:srcRect l="18210" r="18210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Jacksontlu · Wikimedia Commons · CC BY-SA 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0000" y="1762128"/>
            <a:ext cx="6750000" cy="1972872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0000" y="1842128"/>
            <a:ext cx="50000" cy="181287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0000" y="2548564"/>
            <a:ext cx="400000" cy="40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0000" y="1802128"/>
            <a:ext cx="5900000" cy="18928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E8EEFA"/>
                </a:solidFill>
                <a:latin typeface="Segoe UI"/>
              </a:rPr>
              <a:t>Sze va hammualliflar [4] hamda Hennessy va Patterson [1] asosida SI chipi loyihalashning oltita tamoyilini ajratish mumkin.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000" y="3845000"/>
            <a:ext cx="6750000" cy="1972872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0000" y="3925000"/>
            <a:ext cx="50000" cy="181287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0000" y="4631436"/>
            <a:ext cx="400000" cy="40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0000" y="3885000"/>
            <a:ext cx="5900000" cy="18928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E8EEFA"/>
                </a:solidFill>
                <a:latin typeface="Segoe UI"/>
              </a:rPr>
              <a:t>Kirish-statsionar va satr-statsionar (row-stationary, MIT Eyeriss chipi): konvolyutsiya satrlari PE larda saqlanib, uch turdagi qayta ishlatish muvozanatlanadi.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AEBBD9"/>
                </a:solidFill>
                <a:latin typeface="Segoe UI"/>
              </a:rPr>
              <a:t>To'g'ri tanlov yukning shakliga bog'liq: LLM inferensida (kichik paket, katta og'irliklar) og'irlik-statsionar oqim og'irliklarni qayta ishlata olmaydi va xotira o'tkazuvchanligi chegara bo'ladi — shuning uchun Groq butun modelni SRAM da saqlaydi.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5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5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50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5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00000" y="5040000"/>
            <a:ext cx="1666666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00000" y="5266666"/>
            <a:ext cx="1666666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00000" y="5266666"/>
            <a:ext cx="1666666" cy="79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00000" y="5040000"/>
            <a:ext cx="1666666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00000" y="5720000"/>
            <a:ext cx="1666666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00000" y="5833333"/>
            <a:ext cx="1666666" cy="22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66666" y="504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66666" y="538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066666" y="538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66666" y="504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66666" y="5720000"/>
            <a:ext cx="1666667" cy="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066666" y="5040000"/>
            <a:ext cx="1666667" cy="102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066666" y="5380000"/>
            <a:ext cx="1666667" cy="68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066666" y="5720000"/>
            <a:ext cx="1666667" cy="34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733333" y="5040000"/>
            <a:ext cx="1666667" cy="22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733333" y="5040000"/>
            <a:ext cx="1666667" cy="79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733333" y="5266666"/>
            <a:ext cx="1666667" cy="11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33333" y="5380000"/>
            <a:ext cx="1666667" cy="45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733333" y="5266666"/>
            <a:ext cx="1666667" cy="45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33333" y="5720000"/>
            <a:ext cx="1666667" cy="11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96666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996666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96666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96666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63333" y="497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63333" y="5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63333" y="565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663333" y="599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330000" y="51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330000" y="5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50000" y="650000"/>
            <a:ext cx="5600000" cy="52500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8e3f961dca185849.jpg"/>
          <p:cNvPicPr>
            <a:picLocks noChangeAspect="1"/>
          </p:cNvPicPr>
          <p:nvPr/>
        </p:nvPicPr>
        <p:blipFill>
          <a:blip r:embed="rId2"/>
          <a:srcRect l="15077" r="15077"/>
          <a:stretch>
            <a:fillRect/>
          </a:stretch>
        </p:blipFill>
        <p:spPr>
          <a:xfrm>
            <a:off x="6300000" y="800000"/>
            <a:ext cx="5300000" cy="49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40" name="TextBox 39"/>
          <p:cNvSpPr txBox="1"/>
          <p:nvPr/>
        </p:nvSpPr>
        <p:spPr>
          <a:xfrm>
            <a:off x="6300000" y="5780000"/>
            <a:ext cx="530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Wikideas1 · Wikimedia Commons · CC0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0000" y="700000"/>
            <a:ext cx="35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800" b="1">
                <a:solidFill>
                  <a:srgbClr val="22D3EE"/>
                </a:solidFill>
                <a:latin typeface="Segoe UI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0000" y="2250000"/>
            <a:ext cx="5200000" cy="35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Segoe UI"/>
              </a:rPr>
              <a:t>REJA BANDI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0000" y="2650000"/>
            <a:ext cx="5400000" cy="1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3200" b="1">
                <a:solidFill>
                  <a:srgbClr val="E8EEFA"/>
                </a:solidFill>
                <a:latin typeface="Segoe UI"/>
              </a:rPr>
              <a:t>Zamonaviy tendensiyalar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0000" y="4450000"/>
            <a:ext cx="22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150"/>
                            </p:stCondLst>
                            <p:childTnLst>
                              <p:par>
                                <p:cTn id="1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50"/>
                            </p:stCondLst>
                            <p:childTnLst>
                              <p:par>
                                <p:cTn id="15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150"/>
                            </p:stCondLst>
                            <p:childTnLst>
                              <p:par>
                                <p:cTn id="1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350"/>
                            </p:stCondLst>
                            <p:childTnLst>
                              <p:par>
                                <p:cTn id="16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450"/>
                            </p:stCondLst>
                            <p:childTnLst>
                              <p:par>
                                <p:cTn id="1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550"/>
                            </p:stCondLst>
                            <p:childTnLst>
                              <p:par>
                                <p:cTn id="17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650"/>
                            </p:stCondLst>
                            <p:childTnLst>
                              <p:par>
                                <p:cTn id="1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8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5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6-REJA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Zamonaviy tendensiyalar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6c7780a9e8da9fd.jpg"/>
          <p:cNvPicPr>
            <a:picLocks noChangeAspect="1"/>
          </p:cNvPicPr>
          <p:nvPr/>
        </p:nvPicPr>
        <p:blipFill>
          <a:blip r:embed="rId2"/>
          <a:srcRect l="15233" r="15233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Mister rf · Wikimedia Commons · CC BY-SA 4.0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0000" y="2568868"/>
            <a:ext cx="6750000" cy="2442264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0000" y="2648868"/>
            <a:ext cx="50000" cy="22822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0000" y="2608868"/>
            <a:ext cx="5900000" cy="2362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E8EEFA"/>
                </a:solidFill>
                <a:latin typeface="Segoe UI"/>
              </a:rPr>
              <a:t>Birinchi tendensiya — transformer uchun ixtisoslashuv: FP8/FP4 formatlar, Transformer Engine, diqqat mexanizmi uchun maxsus yadrolar (FlashAttention apparat bilan birgalikda), katta KV-kesh uchun xotira sig'imi (B200 192 GB, MI300X 192 GB, MI325X 256 GB).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AEBBD9"/>
                </a:solidFill>
                <a:latin typeface="Segoe UI"/>
              </a:rPr>
              <a:t>Ikkinchi — xotira devori bilan kurash: HBM3e va kelayotgan HBM4, xotira yaqinida hisoblash (processing-near-memory), SRAM asosidagi inferens chiplari, analog xotirada hisoblash (in-memory computing — tadqiqot bosqichida, M15 da).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3" grpId="0" animBg="1"/>
      <p:bldP spid="26" grpId="0" animBg="1"/>
      <p:bldP spid="25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5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1035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35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35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0000" y="305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100000" y="305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100000" y="38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100000" y="530000"/>
            <a:ext cx="750000" cy="15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100000" y="380000"/>
            <a:ext cx="750000" cy="3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100000" y="680000"/>
            <a:ext cx="750000" cy="75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02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30000" y="23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30000" y="46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0000" y="685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780000" y="3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80000" y="61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160000"/>
            <a:ext cx="96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Segoe UI"/>
              </a:rPr>
              <a:t>◆ 6-REJA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000" y="400000"/>
            <a:ext cx="98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E8EEFA"/>
                </a:solidFill>
                <a:latin typeface="Segoe UI"/>
              </a:rPr>
              <a:t>Zamonaviy tendensiyalar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000" y="1080000"/>
            <a:ext cx="1700000" cy="45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450000"/>
            <a:ext cx="9500000" cy="28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900" b="0">
                <a:solidFill>
                  <a:srgbClr val="707EAA"/>
                </a:solidFill>
                <a:latin typeface="Segoe U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00000" y="6430000"/>
            <a:ext cx="700000" cy="270000"/>
          </a:xfrm>
          <a:prstGeom prst="roundRect">
            <a:avLst/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22D3EE"/>
                </a:solidFill>
                <a:latin typeface="Segoe UI"/>
              </a:rPr>
              <a:t>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20000" y="1330000"/>
            <a:ext cx="4250000" cy="4650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63f824eafe067fe7.jpg"/>
          <p:cNvPicPr>
            <a:picLocks noChangeAspect="1"/>
          </p:cNvPicPr>
          <p:nvPr/>
        </p:nvPicPr>
        <p:blipFill>
          <a:blip r:embed="rId2"/>
          <a:srcRect l="31648" r="31648"/>
          <a:stretch>
            <a:fillRect/>
          </a:stretch>
        </p:blipFill>
        <p:spPr>
          <a:xfrm>
            <a:off x="7620000" y="1430000"/>
            <a:ext cx="4050000" cy="4250000"/>
          </a:xfrm>
          <a:prstGeom prst="roundRect">
            <a:avLst/>
          </a:prstGeom>
          <a:ln w="19050">
            <a:solidFill>
              <a:srgbClr val="22D3EE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7620000" y="5710000"/>
            <a:ext cx="4050000" cy="26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800" b="0">
                <a:solidFill>
                  <a:srgbClr val="707EAA"/>
                </a:solidFill>
                <a:latin typeface="Segoe UI"/>
              </a:rPr>
              <a:t>Rasm: Popolon · Wikimedia Commons · CC0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50000" y="1560000"/>
            <a:ext cx="1700000" cy="300000"/>
          </a:xfrm>
          <a:prstGeom prst="roundRect">
            <a:avLst/>
          </a:prstGeom>
          <a:solidFill>
            <a:srgbClr val="070B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22D3EE"/>
                </a:solidFill>
                <a:latin typeface="Segoe UI"/>
              </a:rPr>
              <a:t>⚙ AMALIYOTDA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0000" y="2568868"/>
            <a:ext cx="6750000" cy="2442264"/>
          </a:xfrm>
          <a:prstGeom prst="roundRect">
            <a:avLst>
              <a:gd name="adj" fmla="val 12000"/>
            </a:avLst>
          </a:prstGeom>
          <a:solidFill>
            <a:srgbClr val="121936"/>
          </a:solidFill>
          <a:ln w="12700">
            <a:solidFill>
              <a:srgbClr val="2A3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0000" y="2648868"/>
            <a:ext cx="50000" cy="22822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0000" y="3590000"/>
            <a:ext cx="400000" cy="400000"/>
          </a:xfrm>
          <a:prstGeom prst="ellipse">
            <a:avLst/>
          </a:prstGeom>
          <a:noFill/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8B5CF6"/>
                </a:solidFill>
                <a:latin typeface="Segoe U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0000" y="2608868"/>
            <a:ext cx="5900000" cy="2362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E8EEFA"/>
                </a:solidFill>
                <a:latin typeface="Segoe UI"/>
              </a:rPr>
              <a:t>Uchinchi — chiplet va ilg'or qadoqlash (TSMC CoWoS, 3D stacking) yangi masshtablash yo'li sifatida; CoWoS sig'imi 2023–2025-yillarda AI chiplari yetkazib berishning asosiy to'sig'i bo'ldi.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AEBBD9"/>
                </a:solidFill>
                <a:latin typeface="Segoe UI"/>
              </a:rPr>
              <a:t>To'rtinchi — bulut provayderlarining o'z chiplari (TPU, Trainium, Maia, MTIA) NVIDIA ga bog'liqlikni kamaytirish uchun. Beshinchi — ochiq apparat: RISC-V, OpenTitan, ochiq EDA vositalari (OpenROAD), Google ning ochiq shuttle dasturlari — chip loyihalash to'sig'ini pasaytirmoqda.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5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5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5" grpId="0" animBg="1"/>
      <p:bldP spid="28" grpId="0" animBg="1"/>
      <p:bldP spid="27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B1A"/>
              </a:gs>
              <a:gs pos="100000">
                <a:srgbClr val="141C44"/>
              </a:gs>
            </a:gsLst>
            <a:lin scaled="0" ang="3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800000" y="766666"/>
            <a:ext cx="2650000" cy="1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00000" y="900000"/>
            <a:ext cx="2650000" cy="40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00000" y="900000"/>
            <a:ext cx="2650000" cy="66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00000" y="900000"/>
            <a:ext cx="2650000" cy="93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00000" y="766666"/>
            <a:ext cx="2650000" cy="5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00000" y="1033333"/>
            <a:ext cx="2650000" cy="26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00000" y="1300000"/>
            <a:ext cx="2650000" cy="53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00000" y="766666"/>
            <a:ext cx="2650000" cy="9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00000" y="1033333"/>
            <a:ext cx="2650000" cy="66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00000" y="1300000"/>
            <a:ext cx="2650000" cy="40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00000" y="1566666"/>
            <a:ext cx="2650000" cy="1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0000" y="1700000"/>
            <a:ext cx="2650000" cy="13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450000" y="766666"/>
            <a:ext cx="2650000" cy="19047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450000" y="766666"/>
            <a:ext cx="2650000" cy="647619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450000" y="766666"/>
            <a:ext cx="2650000" cy="8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50000" y="766666"/>
            <a:ext cx="2650000" cy="110476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450000" y="728571"/>
            <a:ext cx="2650000" cy="30476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450000" y="1033333"/>
            <a:ext cx="2650000" cy="60952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50000" y="1033333"/>
            <a:ext cx="2650000" cy="83809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450000" y="728571"/>
            <a:ext cx="2650000" cy="571429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450000" y="1300000"/>
            <a:ext cx="2650000" cy="11428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450000" y="1300000"/>
            <a:ext cx="2650000" cy="34285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450000" y="1300000"/>
            <a:ext cx="2650000" cy="571428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450000" y="728571"/>
            <a:ext cx="2650000" cy="83809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450000" y="957142"/>
            <a:ext cx="2650000" cy="60952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450000" y="1185714"/>
            <a:ext cx="2650000" cy="38095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450000" y="1414285"/>
            <a:ext cx="2650000" cy="15238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450000" y="1566666"/>
            <a:ext cx="2650000" cy="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450000" y="1566666"/>
            <a:ext cx="2650000" cy="30476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450000" y="1185714"/>
            <a:ext cx="2650000" cy="647619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450000" y="1642857"/>
            <a:ext cx="2650000" cy="19047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450000" y="1833333"/>
            <a:ext cx="2650000" cy="3809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100000" y="728571"/>
            <a:ext cx="2650000" cy="3809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100000" y="728571"/>
            <a:ext cx="2650000" cy="30476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100000" y="728571"/>
            <a:ext cx="2650000" cy="83809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100000" y="766666"/>
            <a:ext cx="2650000" cy="19047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00000" y="957142"/>
            <a:ext cx="2650000" cy="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100000" y="957142"/>
            <a:ext cx="2650000" cy="342858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00000" y="957142"/>
            <a:ext cx="2650000" cy="60952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100000" y="957142"/>
            <a:ext cx="2650000" cy="8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100000" y="766666"/>
            <a:ext cx="2650000" cy="419048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00000" y="1033333"/>
            <a:ext cx="2650000" cy="15238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00000" y="1185714"/>
            <a:ext cx="2650000" cy="11428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00000" y="1185714"/>
            <a:ext cx="2650000" cy="38095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100000" y="1033333"/>
            <a:ext cx="2650000" cy="38095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100000" y="1300000"/>
            <a:ext cx="2650000" cy="11428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100000" y="1414285"/>
            <a:ext cx="2650000" cy="15238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00000" y="1414285"/>
            <a:ext cx="2650000" cy="419048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100000" y="766666"/>
            <a:ext cx="2650000" cy="8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6100000" y="1033333"/>
            <a:ext cx="2650000" cy="60952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100000" y="1566666"/>
            <a:ext cx="2650000" cy="76191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00000" y="1642857"/>
            <a:ext cx="2650000" cy="19047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6100000" y="766666"/>
            <a:ext cx="2650000" cy="110476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6100000" y="1300000"/>
            <a:ext cx="2650000" cy="571428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100000" y="1566666"/>
            <a:ext cx="2650000" cy="304762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100000" y="1833333"/>
            <a:ext cx="2650000" cy="38095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750000" y="766666"/>
            <a:ext cx="2650000" cy="1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750000" y="766666"/>
            <a:ext cx="2650000" cy="533334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750000" y="1033333"/>
            <a:ext cx="2650000" cy="266667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8750000" y="1300000"/>
            <a:ext cx="2650000" cy="400000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750000" y="900000"/>
            <a:ext cx="2650000" cy="666666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50000" y="900000"/>
            <a:ext cx="2650000" cy="93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750000" y="1300000"/>
            <a:ext cx="2650000" cy="53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8750000" y="1700000"/>
            <a:ext cx="2650000" cy="133333"/>
          </a:xfrm>
          <a:prstGeom prst="line">
            <a:avLst/>
          </a:prstGeom>
          <a:ln w="9525">
            <a:solidFill>
              <a:srgbClr val="26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730000" y="8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30000" y="12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30000" y="16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80000" y="6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380000" y="9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380000" y="12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80000" y="14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380000" y="1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030000" y="658571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030000" y="887142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030000" y="1115714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030000" y="1344285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030000" y="1572857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030000" y="1801428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680000" y="6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680000" y="9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80000" y="12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680000" y="1496666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680000" y="1763333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1330000" y="8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1330000" y="12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1330000" y="1630000"/>
            <a:ext cx="140000" cy="140000"/>
          </a:xfrm>
          <a:prstGeom prst="ellipse">
            <a:avLst/>
          </a:prstGeom>
          <a:solidFill>
            <a:srgbClr val="3B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0000" y="2500000"/>
            <a:ext cx="10800000" cy="11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/>
            <a:r>
              <a:rPr sz="4400" b="1">
                <a:solidFill>
                  <a:srgbClr val="E8EEFA"/>
                </a:solidFill>
                <a:latin typeface="Segoe UI"/>
              </a:rPr>
              <a:t>E’tiboringiz uchun rahmat!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800000" y="3650000"/>
            <a:ext cx="2600000" cy="60000"/>
          </a:xfrm>
          <a:prstGeom prst="rect">
            <a:avLst/>
          </a:prstGeom>
          <a:gradFill rotWithShape="1">
            <a:gsLst>
              <a:gs pos="0">
                <a:srgbClr val="22D3EE"/>
              </a:gs>
              <a:gs pos="100000">
                <a:srgbClr val="8B5CF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0000" y="3850000"/>
            <a:ext cx="10800000" cy="5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/>
            <a:r>
              <a:rPr sz="2600" b="1">
                <a:solidFill>
                  <a:srgbClr val="22D3EE"/>
                </a:solidFill>
                <a:latin typeface="Segoe UI"/>
              </a:rPr>
              <a:t>Savollar?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00000" y="4800000"/>
            <a:ext cx="9800000" cy="8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/>
            <a:r>
              <a:rPr sz="1400" b="0">
                <a:solidFill>
                  <a:srgbClr val="AEBBD9"/>
                </a:solidFill>
                <a:latin typeface="Segoe UI"/>
              </a:rPr>
              <a:t>Mavzu matni va materiallar: https://aiscan.airi.uz/ktm/#/c/mis2104/mavzu/M4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1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9" fill="hold">
                            <p:stCondLst>
                              <p:cond delay="0"/>
                            </p:stCondLst>
                            <p:childTnLst>
                              <p:par>
                                <p:cTn id="2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3" fill="hold">
                            <p:stCondLst>
                              <p:cond delay="0"/>
                            </p:stCondLst>
                            <p:childTnLst>
                              <p:par>
                                <p:cTn id="2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5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3" fill="hold">
                            <p:stCondLst>
                              <p:cond delay="0"/>
                            </p:stCondLst>
                            <p:childTnLst>
                              <p:par>
                                <p:cTn id="2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7" fill="hold">
                            <p:stCondLst>
                              <p:cond delay="0"/>
                            </p:stCondLst>
                            <p:childTnLst>
                              <p:par>
                                <p:cTn id="2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5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5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id="2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9" fill="hold">
                            <p:stCondLst>
                              <p:cond delay="0"/>
                            </p:stCondLst>
                            <p:childTnLst>
                              <p:par>
                                <p:cTn id="2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5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3" fill="hold">
                            <p:stCondLst>
                              <p:cond delay="0"/>
                            </p:stCondLst>
                            <p:childTnLst>
                              <p:par>
                                <p:cTn id="2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5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7" fill="hold">
                            <p:stCondLst>
                              <p:cond delay="0"/>
                            </p:stCondLst>
                            <p:childTnLst>
                              <p:par>
                                <p:cTn id="2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1" fill="hold">
                            <p:stCondLst>
                              <p:cond delay="0"/>
                            </p:stCondLst>
                            <p:childTnLst>
                              <p:par>
                                <p:cTn id="2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5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5" fill="hold">
                            <p:stCondLst>
                              <p:cond delay="0"/>
                            </p:stCondLst>
                            <p:childTnLst>
                              <p:par>
                                <p:cTn id="2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8" dur="5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0"/>
                            </p:stCondLst>
                            <p:childTnLst>
                              <p:par>
                                <p:cTn id="3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5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0"/>
                            </p:stCondLst>
                            <p:childTnLst>
                              <p:par>
                                <p:cTn id="3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5" fill="hold">
                            <p:stCondLst>
                              <p:cond delay="0"/>
                            </p:stCondLst>
                            <p:childTnLst>
                              <p:par>
                                <p:cTn id="3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8" dur="5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9" fill="hold">
                            <p:stCondLst>
                              <p:cond delay="0"/>
                            </p:stCondLst>
                            <p:childTnLst>
                              <p:par>
                                <p:cTn id="3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5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3" fill="hold">
                            <p:stCondLst>
                              <p:cond delay="0"/>
                            </p:stCondLst>
                            <p:childTnLst>
                              <p:par>
                                <p:cTn id="3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5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7" fill="hold">
                            <p:stCondLst>
                              <p:cond delay="0"/>
                            </p:stCondLst>
                            <p:childTnLst>
                              <p:par>
                                <p:cTn id="3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5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0"/>
                            </p:stCondLst>
                            <p:childTnLst>
                              <p:par>
                                <p:cTn id="3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4" dur="5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5" fill="hold">
                            <p:stCondLst>
                              <p:cond delay="0"/>
                            </p:stCondLst>
                            <p:childTnLst>
                              <p:par>
                                <p:cTn id="3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5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9" fill="hold">
                            <p:stCondLst>
                              <p:cond delay="0"/>
                            </p:stCondLst>
                            <p:childTnLst>
                              <p:par>
                                <p:cTn id="3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2" dur="5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3" fill="hold">
                            <p:stCondLst>
                              <p:cond delay="0"/>
                            </p:stCondLst>
                            <p:childTnLst>
                              <p:par>
                                <p:cTn id="3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6" dur="5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7" fill="hold">
                            <p:stCondLst>
                              <p:cond delay="200"/>
                            </p:stCondLst>
                            <p:childTnLst>
                              <p:par>
                                <p:cTn id="34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0" dur="5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1" dur="55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2" dur="55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3" fill="hold">
                            <p:stCondLst>
                              <p:cond delay="350"/>
                            </p:stCondLst>
                            <p:childTnLst>
                              <p:par>
                                <p:cTn id="3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7" dur="8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8" fill="hold">
                            <p:stCondLst>
                              <p:cond delay="500"/>
                            </p:stCondLst>
                            <p:childTnLst>
                              <p:par>
                                <p:cTn id="35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5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2" dur="5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3" dur="5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4" fill="hold">
                            <p:stCondLst>
                              <p:cond delay="650"/>
                            </p:stCondLst>
                            <p:childTnLst>
                              <p:par>
                                <p:cTn id="3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55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
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a:p/>
          <a:p>
            <a:r>
              <a:t>O'tkazuvchanlik (throughput) — vaqt birligida bajarilgan ish miqdori: sekundiga tasvirlar, so'rovlar yoki tokenlar. 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 GPU'da bu ayniqsa yaqqol: partiya 1 bo'lganda matritsalar kichik, yadrolar to'liq yuklanmaydi va throughput past; partiya 64 bo'lganda GPU to'yinadi, lekin so'rov navbatda boshqa 63 so'rovni kutadi. Shu sababli ishlab chiqarish xizmatlari odatda «kechikish byudjeti» (masalan, p99 ≤ 50 ms) qo'yib, shu chegarada maksimal throughput beruvchi partiya hajmini qidiradi.</a:t>
            </a:r>
          </a:p>
          <a:p/>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a:p/>
          <a:p>
            <a:r>
              <a:t>Sanoat standarti — MLCommons tashkilotining MLPerf benchmark to'plami. 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 Bu ssenariylarning farqi muhim: bir xil apparat oflayn rejimda sekundiga 30 000 tasvir bersa, server rejimida 15 ms chegara bilan bu raqam ikki-uch marta kamayishi mumkin. MLPerf natijalari apparat tanlashda eng ishonchli ochiq manba hisoblanadi, chunki ular hakamlik tekshiruvidan o'tadi va kod ochiq.</a:t>
            </a:r>
          </a:p>
          <a:p/>
          <a:p>
            <a:r>
              <a:t>Profiling vositalari bir necha darajada ishlaydi. PyTorch Profiler (torch.profiler) freymvork darajasida: har bir operator uchun CPU va CUDA vaqti, chaqiruvlar soni, xotira ajratish, hatto Python stekini yozadi va natijani TensorBoard yoki Chrome trace ko'rinishida beradi. NVIDIA Nsight Systems tizim darajasida: CPU iplar, CUDA API chaqiruvlari, yadrolar, xotira ko'chirishlar, NCCL aloqalari bitta vaqt o'qida ko'rsatiladi — bu GPU'ning bo'sh turgan oraliqlarini va ularning sababini (CPU kutmoqda, sinxronizatsiya, kichik yadrolar) topishning eng yaxshi usuli. NVIDIA Nsight Compute yadro darajasida: bitta CUDA yadrosi uchun erishilgan FLOPS, xotira o'tkazuvchanligi, band bo'lish darajasi (occupancy), kesh urish foizi, va hatto Roofline diagrammasini avtomatik chizadi. Uchta vositaning kombinatsiyasi «yuqoridan pastga» tahlilni beradi: avval Nsight Systems bilan vaqt oqimi, keyin PyTorch Profiler bilan qaysi operatorlar, oxirida Nsight Compute bilan nima uchun bu yadro sekin.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a:p/>
          <a:p>
            <a:r>
              <a:t>Zamonaviy tezlatkichlar uchun tizma nuqtasi hisoblab chiqamiz. A100 SXM 80 GB: FP16 tensor 312 TFLOPS, HBM2e 2039 GB/s → I ≈ 153 FLOP/bayt; FP32 (tensor yadrolarsiz) 19,5 TFLOPS → I ≈ 9,6. H100 SXM: FP16 989 TFLOPS, HBM3 3350 GB/s → I ≈ 295. NVIDIA T4: FP16 65 TFLOPS, GDDR6 320 GB/s → I ≈ 203. Jetson Orin AGX 64 GB: INT8 zich ~ 138 TOPS, LPDDR5 204,8 GB/s → I ≈ 670. Ko'rinib turibdiki, avlodlar almashgan sari hisoblash quvvati xotira o'tkazuvchanligidan tezroq o'sadi, tizma nuqtasi o'ngga suriladi va tobora ko'proq ish yuklari xotira bilan cheklanib qoladi — bu «xotira devori» (memory wall) muammosining Roofline tilidagi ifodasi.</a:t>
            </a:r>
          </a:p>
          <a:p/>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a:p/>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a:p/>
          <a:p>
            <a:r>
              <a:t>Zamonaviy tezlatkichlar uchun tizma nuqtasi hisoblab chiqamiz. A100 SXM 80 GB: FP16 tensor 312 TFLOPS, HBM2e 2039 GB/s → I ≈ 153 FLOP/bayt; FP32 (tensor yadrolarsiz) 19,5 TFLOPS → I ≈ 9,6. H100 SXM: FP16 989 TFLOPS, HBM3 3350 GB/s → I ≈ 295. NVIDIA T4: FP16 65 TFLOPS, GDDR6 320 GB/s → I ≈ 203. Jetson Orin AGX 64 GB: INT8 zich ~ 138 TOPS, LPDDR5 204,8 GB/s → I ≈ 670. Ko'rinib turibdiki, avlodlar almashgan sari hisoblash quvvati xotira o'tkazuvchanligidan tezroq o'sadi, tizma nuqtasi o'ngga suriladi va tobora ko'proq ish yuklari xotira bilan cheklanib qoladi — bu «xotira devori» (memory wall) muammosining Roofline tilidagi ifodasi.</a:t>
            </a:r>
          </a:p>
          <a:p/>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a:p/>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ikki sababga ko'ra unumdorlik mezoni bo'ldi. Ma'lumot markazlarida u ekspluatatsiya xarajatining asosiy qismi va quvvat ta'minoti cheklovi: H100 SXM 700 vatt, 8 ta GPU'li DGX H100 esa 10 kilovattgacha iste'mol qiladi. Chekka qurilmalarda esa batareya va issiqlik chegaralari apparat imkoniyatini belgilaydi. Asosiy o'lchovlar: quvvat P (vatt, oniy), energiya E = ∫P dt (joul), bir inferensga energiya (J/inferens yoki mJ/inferens), energiya samaradorligi (inferens/J yoki TOPS/W), ma'lumot markazi uchun PUE (power usage effectiveness — umumiy iste'mol / IT iste'moli, zamonaviy markazlarda 1,1–1,3).</a:t>
            </a:r>
          </a:p>
          <a:p/>
          <a:p>
            <a:r>
              <a:t>GPU quvvatini o'lchashning standart vositasi — nvidia-smi va uning asosidagi NVML kutubxonasi (pynvml Python paketi). nvidia-smi --query-gpu=power.draw,clocks.sm,temperature.gpu --format=csv -lms 100 har 100 millisekundda quvvat, chastota va haroratni yozadi. Shuni bilish kerakki, NVML quvvat o'lchovi butun plata uchun bo'lib, taxminan 5 foiz xatolikka ega va o'lchov oynasi 25–100 ms, shuning uchun juda qisqa yadrolarni alohida o'lchab bo'lmaydi — o'rtachalash kerak. Jetson platformalarida tegrastats yoki INA3221 sensorlari orqali CPU, GPU va xotira quvvati alohida o'lchanadi. Server darajasida PDU (quvvat taqsimlash bloki) ko'rsatkichlari to'liq tizim iste'molini beradi, chunki CPU, xotira, sovutish va tarmoq ham energiya sarflaydi — GPU odatda umumiy iste'molning 60–75 foizini tashkil etadi.</a:t>
            </a:r>
          </a:p>
          <a:p/>
          <a:p>
            <a:r>
              <a:t>Energiya va unumdorlik o'rtasida nochiziqli bog'liqlik bor. 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 Shu sababli inferens serverlari ko'pincha ataylab pasaytirilgan quvvat chegarasida ishlaydi va «vatt boshiga throughput» maksimallashtiriladi. Aniqlikni pasaytirish ham energiyani tejaydi: Horowitz (2014) ma'lumotlariga ko'ra, 45 nm texnologiyada 32-bitli suzuvchi nuqtali ko'paytirish 3,7 pJ, 8-bitli butun sonli ko'paytirish 0,2 pJ, DRAM'dan 32 bit o'qish esa 640 pJ — ya'ni xotiraga murojaat arifmetikadan 100–1000 marta qimmat. Bu raqam Roofline bilan bir xil xulosaga olib keladi: energiya samaradorligining kaliti ham ma'lumot harakatini kamaytirishda.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a:p/>
          <a:p>
            <a:r>
              <a:t>Masshtablanuvchanlik to'sig'i uchun strategiya boshqacha: aloqa va hisoblashni ustma-ust qo'yish (gradient bucketing, asinxron all-reduce), aloqa hajmini kamaytirish (gradient siqish, FP16 aloqa), topologiyaga mos kollektivlar (NVLink ichida tensor parallelizm, tugunlar orasida ma'lumot parallelizm). Energiya to'sig'i uchun: quvvat chegarasi, DVFS, kichik aniqlik, hisoblashni bulut va chekka o'rtasida qayta taqsimlash. Muhim tamoyil: har bir o'zgartirishdan keyin o'lchov takrorlanadi, chunki bitta to'siq olib tashlangach, keyingisi ochiladi va avvalgi taxminlar o'z kuchini yo'qotadi.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M10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Unumdorligini tahlil qilish va baholash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06ee57976b06f3c6.jpg"/>
          <p:cNvPicPr>
            <a:picLocks noChangeAspect="1"/>
          </p:cNvPicPr>
          <p:nvPr/>
        </p:nvPicPr>
        <p:blipFill>
          <a:blip r:embed="rId2"/>
          <a:srcRect l="24267" r="24267"/>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Ansgar Koreng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Unumdorlik mezonlari: latency, throughput va scalability</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Profiling va benchmarking usullari</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Roofline modeli</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Energiya samaradorligini tahlil qilish</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Optimallashtirish strategiyalari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2ea507789ac15ca.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Ansgar Koreng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Unumdorlik mezonlari: latency, throughput va scalability</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Kechikish (latency) — bitta so'rovni boshidan oxirigacha bajarish vaqti.</a:t>
            </a:r>
          </a:p>
          <a:p>
            <a:pPr>
              <a:spcBef>
                <a:spcPts val="400"/>
              </a:spcBef>
            </a:pPr>
            <a:r>
              <a:rPr sz="1400">
                <a:solidFill>
                  <a:srgbClr val="334055"/>
                </a:solidFill>
                <a:latin typeface="Calibri"/>
              </a:rPr>
              <a:t>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O'tkazuvchanlik (throughput) — vaqt birligida bajarilgan ish miqdori: sekundiga tasvirlar, so'rovlar yoki tokenlar.</a:t>
            </a:r>
          </a:p>
          <a:p>
            <a:pPr>
              <a:spcBef>
                <a:spcPts val="400"/>
              </a:spcBef>
            </a:pPr>
            <a:r>
              <a:rPr sz="1400">
                <a:solidFill>
                  <a:srgbClr val="334055"/>
                </a:solidFill>
                <a:latin typeface="Calibri"/>
              </a:rPr>
              <a:t>Latency va throughput o'rtasidagi munosabat Little qonuni bilan ifodalanadi: L = λ · W, bu yerda L — tizimdagi o'rtacha so'rovlar soni (parallellik), λ — o'tkazuvchanlik, W — o'rtacha kechikish.</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Masshtablanuvchanlik (scalability) — resurs qo'shilganda unumdorlikning qanday o'sishi.</a:t>
            </a:r>
          </a:p>
          <a:p>
            <a:pPr>
              <a:spcBef>
                <a:spcPts val="400"/>
              </a:spcBef>
            </a:pPr>
            <a:r>
              <a:rPr sz="1400">
                <a:solidFill>
                  <a:srgbClr val="334055"/>
                </a:solidFill>
                <a:latin typeface="Calibri"/>
              </a:rPr>
              <a:t>Ikki tur farqlanadi: kuchli masshtablash (strong scaling) — muammo hajmi o'zgarmay, protsessorlar soni ortadi; zaif masshtablash (weak scaling) — har protsessorga to'g'ri keladigan ish hajmi o'zgarmay, umumiy muammo ortadi.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Birligi</a:t>
                      </a:r>
                    </a:p>
                  </a:txBody>
                  <a:tcPr>
                    <a:solidFill>
                      <a:srgbClr val="2D5C8F"/>
                    </a:solidFill>
                  </a:tcPr>
                </a:tc>
                <a:tc>
                  <a:txBody>
                    <a:bodyPr/>
                    <a:lstStyle/>
                    <a:p>
                      <a:r>
                        <a:rPr sz="1200" b="1">
                          <a:solidFill>
                            <a:srgbClr val="FFFFFF"/>
                          </a:solidFill>
                          <a:latin typeface="Calibri"/>
                        </a:rPr>
                        <a:t>Kim uchun muhim</a:t>
                      </a:r>
                    </a:p>
                  </a:txBody>
                  <a:tcPr>
                    <a:solidFill>
                      <a:srgbClr val="2D5C8F"/>
                    </a:solidFill>
                  </a:tcPr>
                </a:tc>
                <a:tc>
                  <a:txBody>
                    <a:bodyPr/>
                    <a:lstStyle/>
                    <a:p>
                      <a:r>
                        <a:rPr sz="1200" b="1">
                          <a:solidFill>
                            <a:srgbClr val="FFFFFF"/>
                          </a:solidFill>
                          <a:latin typeface="Calibri"/>
                        </a:rPr>
                        <a:t>Tipik maqsad</a:t>
                      </a:r>
                    </a:p>
                  </a:txBody>
                  <a:tcPr>
                    <a:solidFill>
                      <a:srgbClr val="2D5C8F"/>
                    </a:solidFill>
                  </a:tcPr>
                </a:tc>
              </a:tr>
              <a:tr h="520000">
                <a:tc>
                  <a:txBody>
                    <a:bodyPr/>
                    <a:lstStyle/>
                    <a:p>
                      <a:r>
                        <a:rPr sz="1200" b="0">
                          <a:solidFill>
                            <a:srgbClr val="1B2430"/>
                          </a:solidFill>
                          <a:latin typeface="Calibri"/>
                        </a:rPr>
                        <a:t>Latency (p50/p99)</a:t>
                      </a:r>
                    </a:p>
                  </a:txBody>
                  <a:tcPr>
                    <a:solidFill>
                      <a:srgbClr val="F1F4F8"/>
                    </a:solidFill>
                  </a:tcPr>
                </a:tc>
                <a:tc>
                  <a:txBody>
                    <a:bodyPr/>
                    <a:lstStyle/>
                    <a:p>
                      <a:r>
                        <a:rPr sz="1200" b="0">
                          <a:solidFill>
                            <a:srgbClr val="1B2430"/>
                          </a:solidFill>
                          <a:latin typeface="Calibri"/>
                        </a:rPr>
                        <a:t>ms</a:t>
                      </a:r>
                    </a:p>
                  </a:txBody>
                  <a:tcPr>
                    <a:solidFill>
                      <a:srgbClr val="F1F4F8"/>
                    </a:solidFill>
                  </a:tcPr>
                </a:tc>
                <a:tc>
                  <a:txBody>
                    <a:bodyPr/>
                    <a:lstStyle/>
                    <a:p>
                      <a:r>
                        <a:rPr sz="1200" b="0">
                          <a:solidFill>
                            <a:srgbClr val="1B2430"/>
                          </a:solidFill>
                          <a:latin typeface="Calibri"/>
                        </a:rPr>
                        <a:t>Interaktiv xizmatlar, real vaqt tizimlari</a:t>
                      </a:r>
                    </a:p>
                  </a:txBody>
                  <a:tcPr>
                    <a:solidFill>
                      <a:srgbClr val="F1F4F8"/>
                    </a:solidFill>
                  </a:tcPr>
                </a:tc>
                <a:tc>
                  <a:txBody>
                    <a:bodyPr/>
                    <a:lstStyle/>
                    <a:p>
                      <a:r>
                        <a:rPr sz="1200" b="0">
                          <a:solidFill>
                            <a:srgbClr val="1B2430"/>
                          </a:solidFill>
                          <a:latin typeface="Calibri"/>
                        </a:rPr>
                        <a:t>p99 ≤ 50–100 ms; avtonom transport ≤ 10–30 ms</a:t>
                      </a:r>
                    </a:p>
                  </a:txBody>
                  <a:tcPr>
                    <a:solidFill>
                      <a:srgbClr val="F1F4F8"/>
                    </a:solidFill>
                  </a:tcPr>
                </a:tc>
              </a:tr>
              <a:tr h="520000">
                <a:tc>
                  <a:txBody>
                    <a:bodyPr/>
                    <a:lstStyle/>
                    <a:p>
                      <a:r>
                        <a:rPr sz="1200" b="0">
                          <a:solidFill>
                            <a:srgbClr val="1B2430"/>
                          </a:solidFill>
                          <a:latin typeface="Calibri"/>
                        </a:rPr>
                        <a:t>Throughput</a:t>
                      </a:r>
                    </a:p>
                  </a:txBody>
                  <a:tcPr>
                    <a:solidFill>
                      <a:srgbClr val="FFFFFF"/>
                    </a:solidFill>
                  </a:tcPr>
                </a:tc>
                <a:tc>
                  <a:txBody>
                    <a:bodyPr/>
                    <a:lstStyle/>
                    <a:p>
                      <a:r>
                        <a:rPr sz="1200" b="0">
                          <a:solidFill>
                            <a:srgbClr val="1B2430"/>
                          </a:solidFill>
                          <a:latin typeface="Calibri"/>
                        </a:rPr>
                        <a:t>img/s, tok/s, req/s</a:t>
                      </a:r>
                    </a:p>
                  </a:txBody>
                  <a:tcPr>
                    <a:solidFill>
                      <a:srgbClr val="FFFFFF"/>
                    </a:solidFill>
                  </a:tcPr>
                </a:tc>
                <a:tc>
                  <a:txBody>
                    <a:bodyPr/>
                    <a:lstStyle/>
                    <a:p>
                      <a:r>
                        <a:rPr sz="1200" b="0">
                          <a:solidFill>
                            <a:srgbClr val="1B2430"/>
                          </a:solidFill>
                          <a:latin typeface="Calibri"/>
                        </a:rPr>
                        <a:t>Oflayn qayta ishlash, o'qitish</a:t>
                      </a:r>
                    </a:p>
                  </a:txBody>
                  <a:tcPr>
                    <a:solidFill>
                      <a:srgbClr val="FFFFFF"/>
                    </a:solidFill>
                  </a:tcPr>
                </a:tc>
                <a:tc>
                  <a:txBody>
                    <a:bodyPr/>
                    <a:lstStyle/>
                    <a:p>
                      <a:r>
                        <a:rPr sz="1200" b="0">
                          <a:solidFill>
                            <a:srgbClr val="1B2430"/>
                          </a:solidFill>
                          <a:latin typeface="Calibri"/>
                        </a:rPr>
                        <a:t>Apparat cho'qqisining 40–60 %</a:t>
                      </a:r>
                    </a:p>
                  </a:txBody>
                  <a:tcPr>
                    <a:solidFill>
                      <a:srgbClr val="FFFFFF"/>
                    </a:solidFill>
                  </a:tcPr>
                </a:tc>
              </a:tr>
              <a:tr h="520000">
                <a:tc>
                  <a:txBody>
                    <a:bodyPr/>
                    <a:lstStyle/>
                    <a:p>
                      <a:r>
                        <a:rPr sz="1200" b="0">
                          <a:solidFill>
                            <a:srgbClr val="1B2430"/>
                          </a:solidFill>
                          <a:latin typeface="Calibri"/>
                        </a:rPr>
                        <a:t>Scalability</a:t>
                      </a:r>
                    </a:p>
                  </a:txBody>
                  <a:tcPr>
                    <a:solidFill>
                      <a:srgbClr val="F1F4F8"/>
                    </a:solidFill>
                  </a:tcPr>
                </a:tc>
                <a:tc>
                  <a:txBody>
                    <a:bodyPr/>
                    <a:lstStyle/>
                    <a:p>
                      <a:r>
                        <a:rPr sz="1200" b="0">
                          <a:solidFill>
                            <a:srgbClr val="1B2430"/>
                          </a:solidFill>
                          <a:latin typeface="Calibri"/>
                        </a:rPr>
                        <a:t>tezlashish, samaradorlik</a:t>
                      </a:r>
                    </a:p>
                  </a:txBody>
                  <a:tcPr>
                    <a:solidFill>
                      <a:srgbClr val="F1F4F8"/>
                    </a:solidFill>
                  </a:tcPr>
                </a:tc>
                <a:tc>
                  <a:txBody>
                    <a:bodyPr/>
                    <a:lstStyle/>
                    <a:p>
                      <a:r>
                        <a:rPr sz="1200" b="0">
                          <a:solidFill>
                            <a:srgbClr val="1B2430"/>
                          </a:solidFill>
                          <a:latin typeface="Calibri"/>
                        </a:rPr>
                        <a:t>Klasterlar, taqsimlangan o'qitish</a:t>
                      </a:r>
                    </a:p>
                  </a:txBody>
                  <a:tcPr>
                    <a:solidFill>
                      <a:srgbClr val="F1F4F8"/>
                    </a:solidFill>
                  </a:tcPr>
                </a:tc>
                <a:tc>
                  <a:txBody>
                    <a:bodyPr/>
                    <a:lstStyle/>
                    <a:p>
                      <a:r>
                        <a:rPr sz="1200" b="0">
                          <a:solidFill>
                            <a:srgbClr val="1B2430"/>
                          </a:solidFill>
                          <a:latin typeface="Calibri"/>
                        </a:rPr>
                        <a:t>8 GPU'da ≥ 85 %</a:t>
                      </a:r>
                    </a:p>
                  </a:txBody>
                  <a:tcPr>
                    <a:solidFill>
                      <a:srgbClr val="F1F4F8"/>
                    </a:solidFill>
                  </a:tcPr>
                </a:tc>
              </a:tr>
              <a:tr h="520000">
                <a:tc>
                  <a:txBody>
                    <a:bodyPr/>
                    <a:lstStyle/>
                    <a:p>
                      <a:r>
                        <a:rPr sz="1200" b="0">
                          <a:solidFill>
                            <a:srgbClr val="1B2430"/>
                          </a:solidFill>
                          <a:latin typeface="Calibri"/>
                        </a:rPr>
                        <a:t>Energiya</a:t>
                      </a:r>
                    </a:p>
                  </a:txBody>
                  <a:tcPr>
                    <a:solidFill>
                      <a:srgbClr val="FFFFFF"/>
                    </a:solidFill>
                  </a:tcPr>
                </a:tc>
                <a:tc>
                  <a:txBody>
                    <a:bodyPr/>
                    <a:lstStyle/>
                    <a:p>
                      <a:r>
                        <a:rPr sz="1200" b="0">
                          <a:solidFill>
                            <a:srgbClr val="1B2430"/>
                          </a:solidFill>
                          <a:latin typeface="Calibri"/>
                        </a:rPr>
                        <a:t>J/inferens, TOPS/W</a:t>
                      </a:r>
                    </a:p>
                  </a:txBody>
                  <a:tcPr>
                    <a:solidFill>
                      <a:srgbClr val="FFFFFF"/>
                    </a:solidFill>
                  </a:tcPr>
                </a:tc>
                <a:tc>
                  <a:txBody>
                    <a:bodyPr/>
                    <a:lstStyle/>
                    <a:p>
                      <a:r>
                        <a:rPr sz="1200" b="0">
                          <a:solidFill>
                            <a:srgbClr val="1B2430"/>
                          </a:solidFill>
                          <a:latin typeface="Calibri"/>
                        </a:rPr>
                        <a:t>Chekka qurilmalar, ma'lumot markazlari</a:t>
                      </a:r>
                    </a:p>
                  </a:txBody>
                  <a:tcPr>
                    <a:solidFill>
                      <a:srgbClr val="FFFFFF"/>
                    </a:solidFill>
                  </a:tcPr>
                </a:tc>
                <a:tc>
                  <a:txBody>
                    <a:bodyPr/>
                    <a:lstStyle/>
                    <a:p>
                      <a:r>
                        <a:rPr sz="1200" b="0">
                          <a:solidFill>
                            <a:srgbClr val="1B2430"/>
                          </a:solidFill>
                          <a:latin typeface="Calibri"/>
                        </a:rPr>
                        <a:t>Jetson: ≤ 1 J/kadr; DC: PUE ≤ 1,2</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GB, GB/s</a:t>
                      </a:r>
                    </a:p>
                  </a:txBody>
                  <a:tcPr>
                    <a:solidFill>
                      <a:srgbClr val="F1F4F8"/>
                    </a:solidFill>
                  </a:tcPr>
                </a:tc>
                <a:tc>
                  <a:txBody>
                    <a:bodyPr/>
                    <a:lstStyle/>
                    <a:p>
                      <a:r>
                        <a:rPr sz="1200" b="0">
                          <a:solidFill>
                            <a:srgbClr val="1B2430"/>
                          </a:solidFill>
                          <a:latin typeface="Calibri"/>
                        </a:rPr>
                        <a:t>Katta modellar, KV-kesh</a:t>
                      </a:r>
                    </a:p>
                  </a:txBody>
                  <a:tcPr>
                    <a:solidFill>
                      <a:srgbClr val="F1F4F8"/>
                    </a:solidFill>
                  </a:tcPr>
                </a:tc>
                <a:tc>
                  <a:txBody>
                    <a:bodyPr/>
                    <a:lstStyle/>
                    <a:p>
                      <a:r>
                        <a:rPr sz="1200" b="0">
                          <a:solidFill>
                            <a:srgbClr val="1B2430"/>
                          </a:solidFill>
                          <a:latin typeface="Calibri"/>
                        </a:rPr>
                        <a:t>HBM o'tkazuvchanligining ≥ 70 %</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fe88e41f06bb87e.jpg"/>
          <p:cNvPicPr>
            <a:picLocks noChangeAspect="1"/>
          </p:cNvPicPr>
          <p:nvPr/>
        </p:nvPicPr>
        <p:blipFill>
          <a:blip r:embed="rId2"/>
          <a:srcRect l="25736" r="25736"/>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SkyN9ne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Profiling va benchmarking usullari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Profiling va benchmarking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Benchmarking — standart ish yukini nazorat qilingan sharoitda o'lchash; profiling — bajarilish davomida vaqt va resurslarning qayerga sarflanganini tahlil qilish.</a:t>
            </a:r>
          </a:p>
          <a:p>
            <a:pPr>
              <a:spcBef>
                <a:spcPts val="400"/>
              </a:spcBef>
            </a:pPr>
            <a:r>
              <a:rPr sz="1400">
                <a:solidFill>
                  <a:srgbClr val="334055"/>
                </a:solidFill>
                <a:latin typeface="Calibri"/>
              </a:rPr>
              <a:t>Ikkalasi ham metodologiyaga bog'liq.</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Sanoat standarti — MLCommons tashkilotining MLPerf benchmark to'plami.</a:t>
            </a:r>
          </a:p>
          <a:p>
            <a:pPr>
              <a:spcBef>
                <a:spcPts val="400"/>
              </a:spcBef>
            </a:pPr>
            <a:r>
              <a:rPr sz="1400">
                <a:solidFill>
                  <a:srgbClr val="334055"/>
                </a:solidFill>
                <a:latin typeface="Calibri"/>
              </a:rPr>
              <a:t>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Profiling vositalari bir necha darajada ishlaydi.</a:t>
            </a:r>
          </a:p>
          <a:p>
            <a:pPr>
              <a:spcBef>
                <a:spcPts val="400"/>
              </a:spcBef>
            </a:pPr>
            <a:r>
              <a:rPr sz="1400">
                <a:solidFill>
                  <a:srgbClr val="334055"/>
                </a:solidFill>
                <a:latin typeface="Calibri"/>
              </a:rPr>
              <a:t>PyTorch Profiler (torch.profiler) freymvork darajasida: har bir operator uchun CPU va CUDA vaqti, chaqiruvlar soni, xotira ajratish, hatto Python stekini yozadi va natijani TensorBoard yoki Chrome trace ko'rinishida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4d30011df243dfc.jpg"/>
          <p:cNvPicPr>
            <a:picLocks noChangeAspect="1"/>
          </p:cNvPicPr>
          <p:nvPr/>
        </p:nvPicPr>
        <p:blipFill>
          <a:blip r:embed="rId2"/>
          <a:srcRect l="22238" r="2223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Giu.natale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Roofline modeli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Roofline modeli (Williams, Waterman, Patterson, 2009) ish yukining erishishi mumkin bo'lgan unumdorligini ikki apparat parametri bilan bog'laydi: cho'qqi hisoblash tezligi P_peak (FLOP/s) va cho'qqi xotira o'tkazuvchanligi B_peak (bayt/s).</a:t>
            </a:r>
          </a:p>
          <a:p>
            <a:pPr>
              <a:spcBef>
                <a:spcPts val="400"/>
              </a:spcBef>
            </a:pPr>
            <a:r>
              <a:rPr sz="1400">
                <a:solidFill>
                  <a:srgbClr val="334055"/>
                </a:solidFill>
                <a:latin typeface="Calibri"/>
              </a:rPr>
              <a:t>Ish yukining xususiyati — arifmetik intensivlik (arithmetic intensity) I = FLOP soni / xotiradan o'qilgan va yozilgan baytlar soni (FLOP/bayt).</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Zamonaviy tezlatkichlar uchun tizma nuqtasi hisoblab chiqamiz.</a:t>
            </a:r>
          </a:p>
          <a:p>
            <a:pPr>
              <a:spcBef>
                <a:spcPts val="400"/>
              </a:spcBef>
            </a:pPr>
            <a:r>
              <a:rPr sz="1400">
                <a:solidFill>
                  <a:srgbClr val="334055"/>
                </a:solidFill>
                <a:latin typeface="Calibri"/>
              </a:rPr>
              <a:t>A100 SXM 80 GB: FP16 tensor 312 TFLOPS, HBM2e 2039 GB/s → I ≈ 153 FLOP/bayt; FP32 (tensor yadrolarsiz) 19,5 TFLOPS → I ≈ 9,6. H100 SXM: FP16 989 TFLOPS, HBM3 3350 GB/s → I ≈ 295. NVIDIA T4: FP16 65 TFLOPS, GDDR6 320 GB/s → I ≈ 203. Jetson Orin AGX 64 GB: INT8 zich ~ 138 TOPS, LPDDR5 204,8 GB/s → I ≈ 670.</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Endi tipik yadrolarning intensivligini baholaymiz.</a:t>
            </a:r>
          </a:p>
          <a:p>
            <a:pPr>
              <a:spcBef>
                <a:spcPts val="400"/>
              </a:spcBef>
            </a:pPr>
            <a:r>
              <a:rPr sz="1400">
                <a:solidFill>
                  <a:srgbClr val="334055"/>
                </a:solidFill>
                <a:latin typeface="Calibri"/>
              </a:rPr>
              <a:t>M×K va K×N matritsalarni ko'paytirish 2MNK FLOP talab qiladi va FP16'da kamida 2(MK + KN + MN) bayt o'qiydi-yozadi. Kvadrat n×n holatda I = 2n³ / 6n² = n/3: n = 1024 da I ≈ 341, n = 4096 da I ≈ 1365 — A100'da aniq compute-bound.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Roofline ikki muhim kengaytmaga ega.</a:t>
            </a:r>
          </a:p>
          <a:p>
            <a:pPr>
              <a:spcBef>
                <a:spcPts val="400"/>
              </a:spcBef>
            </a:pPr>
            <a:r>
              <a:rPr sz="1700">
                <a:solidFill>
                  <a:srgbClr val="334055"/>
                </a:solidFill>
                <a:latin typeface="Calibri"/>
              </a:rPr>
              <a:t>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Arifmetik intensivlik (FP16)</a:t>
                      </a:r>
                    </a:p>
                  </a:txBody>
                  <a:tcPr>
                    <a:solidFill>
                      <a:srgbClr val="2D5C8F"/>
                    </a:solidFill>
                  </a:tcPr>
                </a:tc>
                <a:tc>
                  <a:txBody>
                    <a:bodyPr/>
                    <a:lstStyle/>
                    <a:p>
                      <a:r>
                        <a:rPr sz="1400" b="1">
                          <a:solidFill>
                            <a:srgbClr val="FFFFFF"/>
                          </a:solidFill>
                          <a:latin typeface="Calibri"/>
                        </a:rPr>
                        <a:t>A100 (I ≈ 153)</a:t>
                      </a:r>
                    </a:p>
                  </a:txBody>
                  <a:tcPr>
                    <a:solidFill>
                      <a:srgbClr val="2D5C8F"/>
                    </a:solidFill>
                  </a:tcPr>
                </a:tc>
                <a:tc>
                  <a:txBody>
                    <a:bodyPr/>
                    <a:lstStyle/>
                    <a:p>
                      <a:r>
                        <a:rPr sz="1400" b="1">
                          <a:solidFill>
                            <a:srgbClr val="FFFFFF"/>
                          </a:solidFill>
                          <a:latin typeface="Calibri"/>
                        </a:rPr>
                        <a:t>Cheklov</a:t>
                      </a:r>
                    </a:p>
                  </a:txBody>
                  <a:tcPr>
                    <a:solidFill>
                      <a:srgbClr val="2D5C8F"/>
                    </a:solidFill>
                  </a:tcPr>
                </a:tc>
              </a:tr>
              <a:tr h="520000">
                <a:tc>
                  <a:txBody>
                    <a:bodyPr/>
                    <a:lstStyle/>
                    <a:p>
                      <a:r>
                        <a:rPr sz="1400" b="0">
                          <a:solidFill>
                            <a:srgbClr val="1B2430"/>
                          </a:solidFill>
                          <a:latin typeface="Calibri"/>
                        </a:rPr>
                        <a:t>GEMM 4096×4096×4096</a:t>
                      </a:r>
                    </a:p>
                  </a:txBody>
                  <a:tcPr>
                    <a:solidFill>
                      <a:srgbClr val="F1F4F8"/>
                    </a:solidFill>
                  </a:tcPr>
                </a:tc>
                <a:tc>
                  <a:txBody>
                    <a:bodyPr/>
                    <a:lstStyle/>
                    <a:p>
                      <a:r>
                        <a:rPr sz="1400" b="0">
                          <a:solidFill>
                            <a:srgbClr val="1B2430"/>
                          </a:solidFill>
                          <a:latin typeface="Calibri"/>
                        </a:rPr>
                        <a:t>≈ 1365</a:t>
                      </a:r>
                    </a:p>
                  </a:txBody>
                  <a:tcPr>
                    <a:solidFill>
                      <a:srgbClr val="F1F4F8"/>
                    </a:solidFill>
                  </a:tcPr>
                </a:tc>
                <a:tc>
                  <a:txBody>
                    <a:bodyPr/>
                    <a:lstStyle/>
                    <a:p>
                      <a:r>
                        <a:rPr sz="1400" b="0">
                          <a:solidFill>
                            <a:srgbClr val="1B2430"/>
                          </a:solidFill>
                          <a:latin typeface="Calibri"/>
                        </a:rPr>
                        <a:t>compute-bound</a:t>
                      </a:r>
                    </a:p>
                  </a:txBody>
                  <a:tcPr>
                    <a:solidFill>
                      <a:srgbClr val="F1F4F8"/>
                    </a:solidFill>
                  </a:tcPr>
                </a:tc>
                <a:tc>
                  <a:txBody>
                    <a:bodyPr/>
                    <a:lstStyle/>
                    <a:p>
                      <a:r>
                        <a:rPr sz="1400" b="0">
                          <a:solidFill>
                            <a:srgbClr val="1B2430"/>
                          </a:solidFill>
                          <a:latin typeface="Calibri"/>
                        </a:rPr>
                        <a:t>Tensor yadro samaradorligi</a:t>
                      </a:r>
                    </a:p>
                  </a:txBody>
                  <a:tcPr>
                    <a:solidFill>
                      <a:srgbClr val="F1F4F8"/>
                    </a:solidFill>
                  </a:tcPr>
                </a:tc>
              </a:tr>
              <a:tr h="520000">
                <a:tc>
                  <a:txBody>
                    <a:bodyPr/>
                    <a:lstStyle/>
                    <a:p>
                      <a:r>
                        <a:rPr sz="1400" b="0">
                          <a:solidFill>
                            <a:srgbClr val="1B2430"/>
                          </a:solidFill>
                          <a:latin typeface="Calibri"/>
                        </a:rPr>
                        <a:t>GEMM partiya 32, d = 4096</a:t>
                      </a:r>
                    </a:p>
                  </a:txBody>
                  <a:tcPr>
                    <a:solidFill>
                      <a:srgbClr val="FFFFFF"/>
                    </a:solidFill>
                  </a:tcPr>
                </a:tc>
                <a:tc>
                  <a:txBody>
                    <a:bodyPr/>
                    <a:lstStyle/>
                    <a:p>
                      <a:r>
                        <a:rPr sz="1400" b="0">
                          <a:solidFill>
                            <a:srgbClr val="1B2430"/>
                          </a:solidFill>
                          <a:latin typeface="Calibri"/>
                        </a:rPr>
                        <a:t>≈ 32</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Og'irlik o'qish</a:t>
                      </a:r>
                    </a:p>
                  </a:txBody>
                  <a:tcPr>
                    <a:solidFill>
                      <a:srgbClr val="FFFFFF"/>
                    </a:solidFill>
                  </a:tcPr>
                </a:tc>
              </a:tr>
              <a:tr h="520000">
                <a:tc>
                  <a:txBody>
                    <a:bodyPr/>
                    <a:lstStyle/>
                    <a:p>
                      <a:r>
                        <a:rPr sz="1400" b="0">
                          <a:solidFill>
                            <a:srgbClr val="1B2430"/>
                          </a:solidFill>
                          <a:latin typeface="Calibri"/>
                        </a:rPr>
                        <a:t>GEMV (LLM decode, partiya 1)</a:t>
                      </a:r>
                    </a:p>
                  </a:txBody>
                  <a:tcPr>
                    <a:solidFill>
                      <a:srgbClr val="F1F4F8"/>
                    </a:solidFill>
                  </a:tcPr>
                </a:tc>
                <a:tc>
                  <a:txBody>
                    <a:bodyPr/>
                    <a:lstStyle/>
                    <a:p>
                      <a:r>
                        <a:rPr sz="1400" b="0">
                          <a:solidFill>
                            <a:srgbClr val="1B2430"/>
                          </a:solidFill>
                          <a:latin typeface="Calibri"/>
                        </a:rPr>
                        <a:t>≈ 1</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HBM o'tkazuvchanligi</a:t>
                      </a:r>
                    </a:p>
                  </a:txBody>
                  <a:tcPr>
                    <a:solidFill>
                      <a:srgbClr val="F1F4F8"/>
                    </a:solidFill>
                  </a:tcPr>
                </a:tc>
              </a:tr>
              <a:tr h="520000">
                <a:tc>
                  <a:txBody>
                    <a:bodyPr/>
                    <a:lstStyle/>
                    <a:p>
                      <a:r>
                        <a:rPr sz="1400" b="0">
                          <a:solidFill>
                            <a:srgbClr val="1B2430"/>
                          </a:solidFill>
                          <a:latin typeface="Calibri"/>
                        </a:rPr>
                        <a:t>LayerNorm, Softmax, ReLU</a:t>
                      </a:r>
                    </a:p>
                  </a:txBody>
                  <a:tcPr>
                    <a:solidFill>
                      <a:srgbClr val="FFFFFF"/>
                    </a:solidFill>
                  </a:tcPr>
                </a:tc>
                <a:tc>
                  <a:txBody>
                    <a:bodyPr/>
                    <a:lstStyle/>
                    <a:p>
                      <a:r>
                        <a:rPr sz="1400" b="0">
                          <a:solidFill>
                            <a:srgbClr val="1B2430"/>
                          </a:solidFill>
                          <a:latin typeface="Calibri"/>
                        </a:rPr>
                        <a:t>0,25–1</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Fusion kerak</a:t>
                      </a:r>
                    </a:p>
                  </a:txBody>
                  <a:tcPr>
                    <a:solidFill>
                      <a:srgbClr val="FFFFFF"/>
                    </a:solidFill>
                  </a:tcPr>
                </a:tc>
              </a:tr>
              <a:tr h="520000">
                <a:tc>
                  <a:txBody>
                    <a:bodyPr/>
                    <a:lstStyle/>
                    <a:p>
                      <a:r>
                        <a:rPr sz="1400" b="0">
                          <a:solidFill>
                            <a:srgbClr val="1B2430"/>
                          </a:solidFill>
                          <a:latin typeface="Calibri"/>
                        </a:rPr>
                        <a:t>Attention (uzun kontekst, naiv)</a:t>
                      </a:r>
                    </a:p>
                  </a:txBody>
                  <a:tcPr>
                    <a:solidFill>
                      <a:srgbClr val="F1F4F8"/>
                    </a:solidFill>
                  </a:tcPr>
                </a:tc>
                <a:tc>
                  <a:txBody>
                    <a:bodyPr/>
                    <a:lstStyle/>
                    <a:p>
                      <a:r>
                        <a:rPr sz="1400" b="0">
                          <a:solidFill>
                            <a:srgbClr val="1B2430"/>
                          </a:solidFill>
                          <a:latin typeface="Calibri"/>
                        </a:rPr>
                        <a:t>1–10</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FlashAttention</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0d96b7672798c27.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Mike1024 at English Wikipedia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Energiya samaradorligini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Energiya samaradorligini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Energiya ikki sababga ko'ra unumdorlik mezoni bo'ldi.</a:t>
            </a:r>
          </a:p>
          <a:p>
            <a:pPr>
              <a:spcBef>
                <a:spcPts val="400"/>
              </a:spcBef>
            </a:pPr>
            <a:r>
              <a:rPr sz="1400">
                <a:solidFill>
                  <a:srgbClr val="334055"/>
                </a:solidFill>
                <a:latin typeface="Calibri"/>
              </a:rPr>
              <a:t>Ma'lumot markazlarida u ekspluatatsiya xarajatining asosiy qismi va quvvat ta'minoti cheklovi: H100 SXM 700 vatt, 8 ta GPU'li DGX H100 esa 10 kilovattgacha iste'mol qiladi. Chekka qurilmalarda esa batareya va issiqlik chegaralari apparat imkoniyatini belgilaydi.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400" b="0">
                <a:solidFill>
                  <a:srgbClr val="1B2430"/>
                </a:solidFill>
                <a:latin typeface="Calibri"/>
              </a:rPr>
              <a:t>GPU quvvatini o'lchashning standart vositasi — nvidia-smi va uning asosidagi NVML kutubxonasi (pynvml Python paketi). nvidia-smi --query-gpu=power.draw,clocks.sm,temperature.gpu --format=csv -lms 100 har 100 millisekundda quvvat, chastota va haroratni yozadi.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Energiya va unumdorlik o'rtasida nochiziqli bog'liqlik bor.</a:t>
            </a:r>
          </a:p>
          <a:p>
            <a:pPr>
              <a:spcBef>
                <a:spcPts val="400"/>
              </a:spcBef>
            </a:pPr>
            <a:r>
              <a:rPr sz="1400">
                <a:solidFill>
                  <a:srgbClr val="334055"/>
                </a:solidFill>
                <a:latin typeface="Calibri"/>
              </a:rPr>
              <a:t>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e87f6b08587ad12.jpg"/>
          <p:cNvPicPr>
            <a:picLocks noChangeAspect="1"/>
          </p:cNvPicPr>
          <p:nvPr/>
        </p:nvPicPr>
        <p:blipFill>
          <a:blip r:embed="rId2"/>
          <a:srcRect l="21340" r="2134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Caza1393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Optimallashtirish strategiyalari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Optimallashtirish strategiyalari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800" b="1">
                <a:solidFill>
                  <a:srgbClr val="1F3A5F"/>
                </a:solidFill>
                <a:latin typeface="Calibri"/>
              </a:rPr>
              <a:t>Unumdorlik tahlilining yakuniy maqsadi — to'g'ri optimallashtirishni tanlash.</a:t>
            </a:r>
          </a:p>
          <a:p>
            <a:pPr>
              <a:spcBef>
                <a:spcPts val="400"/>
              </a:spcBef>
            </a:pPr>
            <a:r>
              <a:rPr sz="1700">
                <a:solidFill>
                  <a:srgbClr val="334055"/>
                </a:solidFill>
                <a:latin typeface="Calibri"/>
              </a:rPr>
              <a:t>Strategiya to'siq turiga bog'liq.</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Masshtablanuvchanlik to'sig'i uchun strategiya boshqacha: aloqa va hisoblashni ustma-ust qo'yish (gradient bucketing, asinxron all-reduce), aloqa hajmini kamaytirish (gradient siqish, FP16 aloqa), topologiyaga mos kollektivlar (NVLink ichida tensor…</a:t>
            </a:r>
          </a:p>
          <a:p>
            <a:pPr>
              <a:spcBef>
                <a:spcPts val="400"/>
              </a:spcBef>
            </a:pPr>
            <a:r>
              <a:rPr sz="1700">
                <a:solidFill>
                  <a:srgbClr val="334055"/>
                </a:solidFill>
                <a:latin typeface="Calibri"/>
              </a:rPr>
              <a:t>Energiya to'sig'i uchun: quvvat chegarasi, DVFS, kichik aniqlik, hisoblashni bulut va chekka o'rtasida qayta taqsimlash.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
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Kechikish (latency) — bitta so'rovni boshidan oxirigacha bajarish vaqti. AI tizimida u bir necha komponentdan yig'iladi: tarmoq va navbatda kutish, oldindan qayta ishlash (preprocessing), xost-qurilma ma'lumot ko'chirish, modelning o'zi, keyingi qayta ishlash. Kechikish hech qachon bitta son emas — u taqsimot. Shuning uchun o'rtacha qiymat bilan birga foizillar (percentiles) hisobot qilinadi: p50 (mediana), p95, p99. «Dum kechikishi» (tail latency) foydalanuvchi tajribasi uchun hal qiluvchi: agar bitta sahifa 100 ta mikroxizmatga murojaat qilsa va har birining p99 kechikishi 1 soniya bo'lsa, foydalanuvchilarning 63 foizi kamida bir marta 1 soniya kutadi. Interaktiv LLM xizmatlarida kechikish yana ikki qismga bo'linadi: birinchi tokengacha vaqt (time to first token, TTFT) va tokenlar orasidagi vaqt (inter-token latency).</a:t>
            </a:r>
          </a:p>
          <a:p/>
          <a:p>
            <a:r>
              <a:t>O'tkazuvchanlik (throughput) — vaqt birligida bajarilgan ish miqdori: sekundiga tasvirlar, so'rovlar yoki tokenlar. Latency va throughput o'rtasidagi munosabat Little qonuni bilan ifodalanadi: L = λ · W, bu yerda L — tizimdagi o'rtacha so'rovlar soni (parallellik), λ — o'tkazuvchanlik, W — o'rtacha kechikish. Bundan muhim xulosa kelib chiqadi: partiya (batch) hajmini oshirib throughput'ni ko'tarish mumkin, lekin har bir so'rovning kechikishi ortadi. GPU'da bu ayniqsa yaqqol: partiya 1 bo'lganda matritsalar kichik, yadrolar to'liq yuklanmaydi va throughput past; partiya 64 bo'lganda GPU to'yinadi, lekin so'rov navbatda boshqa 63 so'rovni kutadi. Shu sababli ishlab chiqarish xizmatlari odatda «kechikish byudjeti» (masalan, p99 ≤ 50 ms) qo'yib, shu chegarada maksimal throughput beruvchi partiya hajmini qidiradi.</a:t>
            </a:r>
          </a:p>
          <a:p/>
          <a:p>
            <a:r>
              <a:t>Masshtablanuvchanlik (scalability) — resurs qo'shilganda unumdorlikning qanday o'sishi. Ikki tur farqlanadi: kuchli masshtablash (strong scaling) — muammo hajmi o'zgarmay, protsessorlar soni ortadi; zaif masshtablash (weak scaling) — har protsessorga to'g'ri keladigan ish hajmi o'zgarmay, umumiy muammo ortadi. Kuchli masshtablashning chegarasini Amdahl qonuni belgilaydi: agar dasturning s ulushi ketma-ket bo'lsa, N protsessorda tezlashish S(N) = 1 / (s + (1 − s)/N) dan oshmaydi — s = 5 % bo'lganda cheksiz protsessorlarda ham 20 martadan ortiq tezlashish yo'q. Gustafson qonuni zaif masshtablash uchun optimistik ko'rinish beradi: S(N) = N − s · (N − 1), ya'ni muammo hajmi o'sgan sari ketma-ket qism ulushi kamayadi. Taqsimlangan o'qitishda masshtablanuvchanlik samaradorligi E(N) = S(N)/N sifatida o'lchanadi; 8 GPU'da 90 foiz samaradorlik yaxshi, 512 GPU'da 70 foiz ham qabul qilinadi, chunki gradientlarni almashish (all-reduce) va sinxronizatsiya ulushi ortadi.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Kechikish (latency) — bitta so'rovni boshidan oxirigacha bajarish vaqti. AI tizimida u bir necha komponentdan yig'iladi: tarmoq va navbatda kutish, oldindan qayta ishlash (preprocessing), xost-qurilma ma'lumot ko'chirish, modelning o'zi, keyingi qayta ishlash. Kechikish hech qachon bitta son emas — u taqsimot. Shuning uchun o'rtacha qiymat bilan birga foizillar (percentiles) hisobot qilinadi: p50 (mediana), p95, p99. «Dum kechikishi» (tail latency) foydalanuvchi tajribasi uchun hal qiluvchi: agar bitta sahifa 100 ta mikroxizmatga murojaat qilsa va har birining p99 kechikishi 1 soniya bo'lsa, foydalanuvchilarning 63 foizi kamida bir marta 1 soniya kutadi. Interaktiv LLM xizmatlarida kechikish yana ikki qismga bo'linadi: birinchi tokengacha vaqt (time to first token, TTFT) va tokenlar orasidagi vaqt (inter-token latency).</a:t>
            </a:r>
          </a:p>
          <a:p/>
          <a:p>
            <a:r>
              <a:t>O'tkazuvchanlik (throughput) — vaqt birligida bajarilgan ish miqdori: sekundiga tasvirlar, so'rovlar yoki tokenlar. Latency va throughput o'rtasidagi munosabat Little qonuni bilan ifodalanadi: L = λ · W, bu yerda L — tizimdagi o'rtacha so'rovlar soni (parallellik), λ — o'tkazuvchanlik, W — o'rtacha kechikish. Bundan muhim xulosa kelib chiqadi: partiya (batch) hajmini oshirib throughput'ni ko'tarish mumkin, lekin har bir so'rovning kechikishi ortadi. GPU'da bu ayniqsa yaqqol: partiya 1 bo'lganda matritsalar kichik, yadrolar to'liq yuklanmaydi va throughput past; partiya 64 bo'lganda GPU to'yinadi, lekin so'rov navbatda boshqa 63 so'rovni kutadi. Shu sababli ishlab chiqarish xizmatlari odatda «kechikish byudjeti» (masalan, p99 ≤ 50 ms) qo'yib, shu chegarada maksimal throughput beruvchi partiya hajmini qidiradi.</a:t>
            </a:r>
          </a:p>
          <a:p/>
          <a:p>
            <a:r>
              <a:t>Masshtablanuvchanlik (scalability) — resurs qo'shilganda unumdorlikning qanday o'sishi. Ikki tur farqlanadi: kuchli masshtablash (strong scaling) — muammo hajmi o'zgarmay, protsessorlar soni ortadi; zaif masshtablash (weak scaling) — har protsessorga to'g'ri keladigan ish hajmi o'zgarmay, umumiy muammo ortadi. Kuchli masshtablashning chegarasini Amdahl qonuni belgilaydi: agar dasturning s ulushi ketma-ket bo'lsa, N protsessorda tezlashish S(N) = 1 / (s + (1 − s)/N) dan oshmaydi — s = 5 % bo'lganda cheksiz protsessorlarda ham 20 martadan ortiq tezlashish yo'q. Gustafson qonuni zaif masshtablash uchun optimistik ko'rinish beradi: S(N) = N − s · (N − 1), ya'ni muammo hajmi o'sgan sari ketma-ket qism ulushi kamayadi. Taqsimlangan o'qitishda masshtablanuvchanlik samaradorligi E(N) = S(N)/N sifatida o'lchanadi; 8 GPU'da 90 foiz samaradorlik yaxshi, 512 GPU'da 70 foiz ham qabul qilinadi, chunki gradientlarni almashish (all-reduce) va sinxronizatsiya ulushi ortadi.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Benchmarking — standart ish yukini nazorat qilingan sharoitda o'lchash; profiling — bajarilish davomida vaqt va resurslarning qayerga sarflanganini tahlil qilish. Ikkalasi ham metodologiyaga bog'liq. GPU'da o'lchashning birinchi qoidasi — asinxronlikni hisobga olish: model(x) chaqiruvi CPU'da darhol qaytadi, GPU esa yadrolarni keyinroq bajaradi, shuning uchun time.time() bilan o'lchash noto'g'ri; torch.cuda.synchronize() yoki CUDA hodisalari (torch.cuda.Event) ishlatilishi shart. Ikkinchi qoida — isitish (warm-up): birinchi iteratsiyalar cuDNN avtomatik sozlash, xotira ajratish, JIT kompilyatsiya tufayli 10–100 marta sekin bo'ladi va o'lchovga kiritilmasligi kerak. Uchinchi qoida — takrorlash va statistika: kamida 100–1000 iteratsiya, mediana va foizillar hisobot qilinadi, o'rtacha emas. To'rtinchi qoida — muhitni qayd etish: GPU modeli, drayver va CUDA versiyasi, soat chastotalari (GPU «boost» rejimida vaqt o'tishi bilan termal cheklovga tushishi mumkin), quvvat chegarasi, partiya hajmi, aniqlik (FP32/FP16/INT8), kirish o'lchami. Beshinchi qoida — to'liq konveyerni o'lchash: faqat model emas, ma'lumot yuklash, preprocessing va natijani qaytarish ham.</a:t>
            </a:r>
          </a:p>
          <a:p/>
          <a:p>
            <a:r>
              <a:t>Sanoat standarti — MLCommons tashkilotining MLPerf benchmark to'plami. MLPerf Training LLM, tasvir tasniflash, obyekt aniqlash kabi vazifalar uchun belgilangan sifatga yetish vaqtini o'lchaydi; MLPerf Inference esa to'rt ssenariyda ishlaydi: bitta oqim (single stream — kechikish), ko'p oqim (multi stream), server (Puasson taqsimotli so'rovlar, kechikish chegarasi bilan) va oflayn (maksimal throughput). Bu ssenariylarning farqi muhim: bir xil apparat oflayn rejimda sekundiga 30 000 tasvir bersa, server rejimida 15 ms chegara bilan bu raqam ikki-uch marta kamayishi mumkin. MLPerf natijalari apparat tanlashda eng ishonchli ochiq manba hisoblanadi, chunki ular hakamlik tekshiruvidan o'tadi va kod ochiq.</a:t>
            </a:r>
          </a:p>
          <a:p/>
          <a:p>
            <a:r>
              <a:t>Profiling vositalari bir necha darajada ishlaydi. PyTorch Profiler (torch.profiler) freymvork darajasida: har bir operator uchun CPU va CUDA vaqti, chaqiruvlar soni, xotira ajratish, hatto Python stekini yozadi va natijani TensorBoard yoki Chrome trace ko'rinishida beradi. NVIDIA Nsight Systems tizim darajasida: CPU iplar, CUDA API chaqiruvlari, yadrolar, xotira ko'chirishlar, NCCL aloqalari bitta vaqt o'qida ko'rsatiladi — bu GPU'ning bo'sh turgan oraliqlarini va ularning sababini (CPU kutmoqda, sinxronizatsiya, kichik yadrolar) topishning eng yaxshi usuli. NVIDIA Nsight Compute yadro darajasida: bitta CUDA yadrosi uchun erishilgan FLOPS, xotira o'tkazuvchanligi, band bo'lish darajasi (occupancy), kesh urish foizi, va hatto Roofline diagrammasini avtomatik chizadi. Uchta vositaning kombinatsiyasi «yuqoridan pastga» tahlilni beradi: avval Nsight Systems bilan vaqt oqimi, keyin PyTorch Profiler bilan qaysi operatorlar, oxirida Nsight Compute bilan nima uchun bu yadro sekin.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Benchmarking — standart ish yukini nazorat qilingan sharoitda o'lchash; profiling — bajarilish davomida vaqt va resurslarning qayerga sarflanganini tahlil qilish. Ikkalasi ham metodologiyaga bog'liq. GPU'da o'lchashning birinchi qoidasi — asinxronlikni hisobga olish: model(x) chaqiruvi CPU'da darhol qaytadi, GPU esa yadrolarni keyinroq bajaradi, shuning uchun time.time() bilan o'lchash noto'g'ri; torch.cuda.synchronize() yoki CUDA hodisalari (torch.cuda.Event) ishlatilishi shart. Ikkinchi qoida — isitish (warm-up): birinchi iteratsiyalar cuDNN avtomatik sozlash, xotira ajratish, JIT kompilyatsiya tufayli 10–100 marta sekin bo'ladi va o'lchovga kiritilmasligi kerak. Uchinchi qoida — takrorlash va statistika: kamida 100–1000 iteratsiya, mediana va foizillar hisobot qilinadi, o'rtacha emas. To'rtinchi qoida — muhitni qayd etish: GPU modeli, drayver va CUDA versiyasi, soat chastotalari (GPU «boost» rejimida vaqt o'tishi bilan termal cheklovga tushishi mumkin), quvvat chegarasi, partiya hajmi, aniqlik (FP32/FP16/INT8), kirish o'lchami. Beshinchi qoida — to'liq konveyerni o'lchash: faqat model emas, ma'lumot yuklash, preprocessing va natijani qaytarish ham.</a:t>
            </a:r>
          </a:p>
          <a:p/>
          <a:p>
            <a:r>
              <a:t>Sanoat standarti — MLCommons tashkilotining MLPerf benchmark to'plami. MLPerf Training LLM, tasvir tasniflash, obyekt aniqlash kabi vazifalar uchun belgilangan sifatga yetish vaqtini o'lchaydi; MLPerf Inference esa to'rt ssenariyda ishlaydi: bitta oqim (single stream — kechikish), ko'p oqim (multi stream), server (Puasson taqsimotli so'rovlar, kechikish chegarasi bilan) va oflayn (maksimal throughput). Bu ssenariylarning farqi muhim: bir xil apparat oflayn rejimda sekundiga 30 000 tasvir bersa, server rejimida 15 ms chegara bilan bu raqam ikki-uch marta kamayishi mumkin. MLPerf natijalari apparat tanlashda eng ishonchli ochiq manba hisoblanadi, chunki ular hakamlik tekshiruvidan o'tadi va kod ochiq.</a:t>
            </a:r>
          </a:p>
          <a:p/>
          <a:p>
            <a:r>
              <a:t>Profiling vositalari bir necha darajada ishlaydi. PyTorch Profiler (torch.profiler) freymvork darajasida: har bir operator uchun CPU va CUDA vaqti, chaqiruvlar soni, xotira ajratish, hatto Python stekini yozadi va natijani TensorBoard yoki Chrome trace ko'rinishida beradi. NVIDIA Nsight Systems tizim darajasida: CPU iplar, CUDA API chaqiruvlari, yadrolar, xotira ko'chirishlar, NCCL aloqalari bitta vaqt o'qida ko'rsatiladi — bu GPU'ning bo'sh turgan oraliqlarini va ularning sababini (CPU kutmoqda, sinxronizatsiya, kichik yadrolar) topishning eng yaxshi usuli. NVIDIA Nsight Compute yadro darajasida: bitta CUDA yadrosi uchun erishilgan FLOPS, xotira o'tkazuvchanligi, band bo'lish darajasi (occupancy), kesh urish foizi, va hatto Roofline diagrammasini avtomatik chizadi. Uchta vositaning kombinatsiyasi «yuqoridan pastga» tahlilni beradi: avval Nsight Systems bilan vaqt oqimi, keyin PyTorch Profiler bilan qaysi operatorlar, oxirida Nsight Compute bilan nima uchun bu yadro sekin.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Roofline modeli (Williams, Waterman, Patterson, 2009) ish yukining erishishi mumkin bo'lgan unumdorligini ikki apparat parametri bilan bog'laydi: cho'qqi hisoblash tezligi P_peak (FLOP/s) va cho'qqi xotira o'tkazuvchanligi B_peak (bayt/s). Ish yukining xususiyati — arifmetik intensivlik (arithmetic intensity) I = FLOP soni / xotiradan o'qilgan va yozilgan baytlar soni (FLOP/bayt). Model shuni aytadiki, erishiladigan unumdorlik P = min(P_peak, I · B_peak). Grafikda (ikkala o'q logarifmik) bu ikki chiziq — qiya «xotira tomi» va gorizontal «hisoblash tomi» — uy tomini eslatadi, shundan nom kelib chiqqan. Ikki chiziq kesishgan nuqta — «tizma nuqtasi» (ridge point) I = P_peak / B_peak: intensivligi I dan kichik yadrolar xotira bilan cheklangan (memory-bound), kattalari hisoblash bilan cheklangan (compute-bound).</a:t>
            </a:r>
          </a:p>
          <a:p/>
          <a:p>
            <a:r>
              <a:t>Zamonaviy tezlatkichlar uchun tizma nuqtasi hisoblab chiqamiz. A100 SXM 80 GB: FP16 tensor 312 TFLOPS, HBM2e 2039 GB/s → I ≈ 153 FLOP/bayt; FP32 (tensor yadrolarsiz) 19,5 TFLOPS → I ≈ 9,6. H100 SXM: FP16 989 TFLOPS, HBM3 3350 GB/s → I ≈ 295. NVIDIA T4: FP16 65 TFLOPS, GDDR6 320 GB/s → I ≈ 203. Jetson Orin AGX 64 GB: INT8 zich ~ 138 TOPS, LPDDR5 204,8 GB/s → I ≈ 670. Ko'rinib turibdiki, avlodlar almashgan sari hisoblash quvvati xotira o'tkazuvchanligidan tezroq o'sadi, tizma nuqtasi o'ngga suriladi va tobora ko'proq ish yuklari xotira bilan cheklanib qoladi — bu «xotira devori» (memory wall) muammosining Roofline tilidagi ifodasi.</a:t>
            </a:r>
          </a:p>
          <a:p/>
          <a:p>
            <a:r>
              <a:t>Endi tipik yadrolarning intensivligini baholaymiz. M×K va K×N matritsalarni ko'paytirish 2MNK FLOP talab qiladi va FP16'da kamida 2(MK + KN + MN) bayt o'qiydi-yozadi. Kvadrat n×n holatda I = 2n³ / 6n² = n/3: n = 1024 da I ≈ 341, n = 4096 da I ≈ 1365 — A100'da aniq compute-bound. Biroq LLM dekodlashidagi partiya 1 holat matritsa-vektor ko'paytmasi (GEMV): M = 1, I = 2NK / 2(K + KN + N) ≈ 1 FLOP/bayt — tizma nuqtasidan 150 marta past, demak, qattiq memory-bound: GPU har tokenda butun og'irliklarni HBM'dan o'qiydi va hisoblash yadrolari 99 foiz bo'sh turadi. Shuning uchun LLM inferensida tokenlar/soniya taxminan B_peak / model_hajmi_baytlarda bilan chegaralanadi (masalan, 7 milliard parametrli FP16 model, 14 GB, A100'da ≈ 2039/14 ≈ 145 token/s partiya 1 uchun yuqori chegara). Elementar operatsiyalar (ReLU, qo'shish, LayerNorm) I ≈ 0,25–1 bilan hamma vaqt memory-bound; ularni matritsa ko'paytmasiga «birlashtirish» (kernel fusion) aynan shu sababdan samarali. Konvolyutsiya qatlamlari odatda yuqori intensivlikka ega (I yuzlab), lekin kichik partiyalarda va 1×1 konvolyutsiyalarda tushadi.</a:t>
            </a:r>
          </a:p>
          <a:p/>
          <a:p>
            <a:r>
              <a:t>Roofline ikki muhim kengaytmaga ega. Birinchisi — iyerarxik Roofline: har bir xotira darajasi (L1, L2, HBM, NVLink, PCIe) uchun alohida tom chiziladi va intensivlik shu daraja uchun hisoblanadi; bu kesh samaradorligini ko'rsatadi. Ikkinchisi — ko'p «shift» (ceiling): tensor yadrosiz FP32 tomi, FP16 tensor tomi, strukturaviy siyraklik tomi (A100'da 2:4 siyraklik bilan 624 TFLOPS). Modelning kuchi oddiyligida: u yadroning erishishi mumkin bo'lgan chegarasini ko'rsatadi va agar o'lchangan nuqta tomdan ancha pastda bo'lsa, muammo intensivlikda emas, balki yadro samaradorligida (band bo'lish, divergensiya, bank konfliktlari) ekanini aytadi. Agar nuqta xotira tomiga yaqin bo'lsa, yagona yo'l — intensivlikni oshirish: kvantlash (baytlar kamayadi), fusion, partiyani kattalashtirish, ma'lumotlarni qayta ishlatish (tiling).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Roofline modeli (Williams, Waterman, Patterson, 2009) ish yukining erishishi mumkin bo'lgan unumdorligini ikki apparat parametri bilan bog'laydi: cho'qqi hisoblash tezligi P_peak (FLOP/s) va cho'qqi xotira o'tkazuvchanligi B_peak (bayt/s). Ish yukining xususiyati — arifmetik intensivlik (arithmetic intensity) I = FLOP soni / xotiradan o'qilgan va yozilgan baytlar soni (FLOP/bayt). Model shuni aytadiki, erishiladigan unumdorlik P = min(P_peak, I · B_peak). Grafikda (ikkala o'q logarifmik) bu ikki chiziq — qiya «xotira tomi» va gorizontal «hisoblash tomi» — uy tomini eslatadi, shundan nom kelib chiqqan. Ikki chiziq kesishgan nuqta — «tizma nuqtasi» (ridge point) I = P_peak / B_peak: intensivligi I dan kichik yadrolar xotira bilan cheklangan (memory-bound), kattalari hisoblash bilan cheklangan (compute-bound).</a:t>
            </a:r>
          </a:p>
          <a:p/>
          <a:p>
            <a:r>
              <a:t>Zamonaviy tezlatkichlar uchun tizma nuqtasi hisoblab chiqamiz. A100 SXM 80 GB: FP16 tensor 312 TFLOPS, HBM2e 2039 GB/s → I ≈ 153 FLOP/bayt; FP32 (tensor yadrolarsiz) 19,5 TFLOPS → I ≈ 9,6. H100 SXM: FP16 989 TFLOPS, HBM3 3350 GB/s → I ≈ 295. NVIDIA T4: FP16 65 TFLOPS, GDDR6 320 GB/s → I ≈ 203. Jetson Orin AGX 64 GB: INT8 zich ~ 138 TOPS, LPDDR5 204,8 GB/s → I ≈ 670. Ko'rinib turibdiki, avlodlar almashgan sari hisoblash quvvati xotira o'tkazuvchanligidan tezroq o'sadi, tizma nuqtasi o'ngga suriladi va tobora ko'proq ish yuklari xotira bilan cheklanib qoladi — bu «xotira devori» (memory wall) muammosining Roofline tilidagi ifodasi.</a:t>
            </a:r>
          </a:p>
          <a:p/>
          <a:p>
            <a:r>
              <a:t>Endi tipik yadrolarning intensivligini baholaymiz. M×K va K×N matritsalarni ko'paytirish 2MNK FLOP talab qiladi va FP16'da kamida 2(MK + KN + MN) bayt o'qiydi-yozadi. Kvadrat n×n holatda I = 2n³ / 6n² = n/3: n = 1024 da I ≈ 341, n = 4096 da I ≈ 1365 — A100'da aniq compute-bound. Biroq LLM dekodlashidagi partiya 1 holat matritsa-vektor ko'paytmasi (GEMV): M = 1, I = 2NK / 2(K + KN + N) ≈ 1 FLOP/bayt — tizma nuqtasidan 150 marta past, demak, qattiq memory-bound: GPU har tokenda butun og'irliklarni HBM'dan o'qiydi va hisoblash yadrolari 99 foiz bo'sh turadi. Shuning uchun LLM inferensida tokenlar/soniya taxminan B_peak / model_hajmi_baytlarda bilan chegaralanadi (masalan, 7 milliard parametrli FP16 model, 14 GB, A100'da ≈ 2039/14 ≈ 145 token/s partiya 1 uchun yuqori chegara). Elementar operatsiyalar (ReLU, qo'shish, LayerNorm) I ≈ 0,25–1 bilan hamma vaqt memory-bound; ularni matritsa ko'paytmasiga «birlashtirish» (kernel fusion) aynan shu sababdan samarali. Konvolyutsiya qatlamlari odatda yuqori intensivlikka ega (I yuzlab), lekin kichik partiyalarda va 1×1 konvolyutsiyalarda tushadi.</a:t>
            </a:r>
          </a:p>
          <a:p/>
          <a:p>
            <a:r>
              <a:t>Roofline ikki muhim kengaytmaga ega. Birinchisi — iyerarxik Roofline: har bir xotira darajasi (L1, L2, HBM, NVLink, PCIe) uchun alohida tom chiziladi va intensivlik shu daraja uchun hisoblanadi; bu kesh samaradorligini ko'rsatadi. Ikkinchisi — ko'p «shift» (ceiling): tensor yadrosiz FP32 tomi, FP16 tensor tomi, strukturaviy siyraklik tomi (A100'da 2:4 siyraklik bilan 624 TFLOPS). Modelning kuchi oddiyligida: u yadroning erishishi mumkin bo'lgan chegarasini ko'rsatadi va agar o'lchangan nuqta tomdan ancha pastda bo'lsa, muammo intensivlikda emas, balki yadro samaradorligida (band bo'lish, divergensiya, bank konfliktlari) ekanini aytadi. Agar nuqta xotira tomiga yaqin bo'lsa, yagona yo'l — intensivlikni oshirish: kvantlash (baytlar kamayadi), fusion, partiyani kattalashtirish, ma'lumotlarni qayta ishlatish (tiling).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Energiya ikki sababga ko'ra unumdorlik mezoni bo'ldi. Ma'lumot markazlarida u ekspluatatsiya xarajatining asosiy qismi va quvvat ta'minoti cheklovi: H100 SXM 700 vatt, 8 ta GPU'li DGX H100 esa 10 kilovattgacha iste'mol qiladi. Chekka qurilmalarda esa batareya va issiqlik chegaralari apparat imkoniyatini belgilaydi. Asosiy o'lchovlar: quvvat P (vatt, oniy), energiya E = ∫P dt (joul), bir inferensga energiya (J/inferens yoki mJ/inferens), energiya samaradorligi (inferens/J yoki TOPS/W), ma'lumot markazi uchun PUE (power usage effectiveness — umumiy iste'mol / IT iste'moli, zamonaviy markazlarda 1,1–1,3).</a:t>
            </a:r>
          </a:p>
          <a:p/>
          <a:p>
            <a:r>
              <a:t>GPU quvvatini o'lchashning standart vositasi — nvidia-smi va uning asosidagi NVML kutubxonasi (pynvml Python paketi). nvidia-smi --query-gpu=power.draw,clocks.sm,temperature.gpu --format=csv -lms 100 har 100 millisekundda quvvat, chastota va haroratni yozadi. Shuni bilish kerakki, NVML quvvat o'lchovi butun plata uchun bo'lib, taxminan 5 foiz xatolikka ega va o'lchov oynasi 25–100 ms, shuning uchun juda qisqa yadrolarni alohida o'lchab bo'lmaydi — o'rtachalash kerak. Jetson platformalarida tegrastats yoki INA3221 sensorlari orqali CPU, GPU va xotira quvvati alohida o'lchanadi. Server darajasida PDU (quvvat taqsimlash bloki) ko'rsatkichlari to'liq tizim iste'molini beradi, chunki CPU, xotira, sovutish va tarmoq ham energiya sarflaydi — GPU odatda umumiy iste'molning 60–75 foizini tashkil etadi.</a:t>
            </a:r>
          </a:p>
          <a:p/>
          <a:p>
            <a:r>
              <a:t>Energiya va unumdorlik o'rtasida nochiziqli bog'liqlik bor. Dinamik quvvat chastota va kuchlanish kvadratiga proporsional (P ∝ f · V²), shuning uchun GPU chastotasini 10–15 foiz pasaytirish (nvidia-smi -pl bilan quvvat chegarasi yoki -lgc bilan chastota qulfi) unumdorlikni 5–8 foiz, quvvatni 20–30 foiz kamaytirishi mumkin — memory-bound ish yuklarida unumdorlik deyarli o'zgarmaydi, chunki to'siq xotirada. Shu sababli inferens serverlari ko'pincha ataylab pasaytirilgan quvvat chegarasida ishlaydi va «vatt boshiga throughput» maksimallashtiriladi. Aniqlikni pasaytirish ham energiyani tejaydi: Horowitz (2014) ma'lumotlariga ko'ra, 45 nm texnologiyada 32-bitli suzuvchi nuqtali ko'paytirish 3,7 pJ, 8-bitli butun sonli ko'paytirish 0,2 pJ, DRAM'dan 32 bit o'qish esa 640 pJ — ya'ni xotiraga murojaat arifmetikadan 100–1000 marta qimmat. Bu raqam Roofline bilan bir xil xulosaga olib keladi: energiya samaradorligining kaliti ham ma'lumot harakatini kamaytirishda.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Energiya ikki sababga ko'ra unumdorlik mezoni bo'ldi. Ma'lumot markazlarida u ekspluatatsiya xarajatining asosiy qismi va quvvat ta'minoti cheklovi: H100 SXM 700 vatt, 8 ta GPU'li DGX H100 esa 10 kilovattgacha iste'mol qiladi. Chekka qurilmalarda esa batareya va issiqlik chegaralari apparat imkoniyatini belgilaydi. Asosiy o'lchovlar: quvvat P (vatt, oniy), energiya E = ∫P dt (joul), bir inferensga energiya (J/inferens yoki mJ/inferens), energiya samaradorligi (inferens/J yoki TOPS/W), ma'lumot markazi uchun PUE (power usage effectiveness — umumiy iste'mol / IT iste'moli, zamonaviy markazlarda 1,1–1,3).</a:t>
            </a:r>
          </a:p>
          <a:p/>
          <a:p>
            <a:r>
              <a:t>GPU quvvatini o'lchashning standart vositasi — nvidia-smi va uning asosidagi NVML kutubxonasi (pynvml Python paketi). nvidia-smi --query-gpu=power.draw,clocks.sm,temperature.gpu --format=csv -lms 100 har 100 millisekundda quvvat, chastota va haroratni yozadi. Shuni bilish kerakki, NVML quvvat o'lchovi butun plata uchun bo'lib, taxminan 5 foiz xatolikka ega va o'lchov oynasi 25–100 ms, shuning uchun juda qisqa yadrolarni alohida o'lchab bo'lmaydi — o'rtachalash kerak. Jetson platformalarida tegrastats yoki INA3221 sensorlari orqali CPU, GPU va xotira quvvati alohida o'lchanadi. Server darajasida PDU (quvvat taqsimlash bloki) ko'rsatkichlari to'liq tizim iste'molini beradi, chunki CPU, xotira, sovutish va tarmoq ham energiya sarflaydi — GPU odatda umumiy iste'molning 60–75 foizini tashkil etadi.</a:t>
            </a:r>
          </a:p>
          <a:p/>
          <a:p>
            <a:r>
              <a:t>Energiya va unumdorlik o'rtasida nochiziqli bog'liqlik bor. Dinamik quvvat chastota va kuchlanish kvadratiga proporsional (P ∝ f · V²), shuning uchun GPU chastotasini 10–15 foiz pasaytirish (nvidia-smi -pl bilan quvvat chegarasi yoki -lgc bilan chastota qulfi) unumdorlikni 5–8 foiz, quvvatni 20–30 foiz kamaytirishi mumkin — memory-bound ish yuklarida unumdorlik deyarli o'zgarmaydi, chunki to'siq xotirada. Shu sababli inferens serverlari ko'pincha ataylab pasaytirilgan quvvat chegarasida ishlaydi va «vatt boshiga throughput» maksimallashtiriladi. Aniqlikni pasaytirish ham energiyani tejaydi: Horowitz (2014) ma'lumotlariga ko'ra, 45 nm texnologiyada 32-bitli suzuvchi nuqtali ko'paytirish 3,7 pJ, 8-bitli butun sonli ko'paytirish 0,2 pJ, DRAM'dan 32 bit o'qish esa 640 pJ — ya'ni xotiraga murojaat arifmetikadan 100–1000 marta qimmat. Bu raqam Roofline bilan bir xil xulosaga olib keladi: energiya samaradorligining kaliti ham ma'lumot harakatini kamaytirishda.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Unumdorlik tahlilining yakuniy maqsadi — to'g'ri optimallashtirishni tanlash. Strategiya to'siq turiga bog'liq. Agar profil GPU'ning ko'p vaqt bo'sh turganini ko'rsatsa (Nsight Systems'da yadrolar orasida bo'shliqlar), muammo GPU'da emas: ma'lumot yuklagichni ko'paytirish (num_workers, pin_memory, oldindan yuklash), CPU preprocessing'ni GPU'ga ko'chirish (NVIDIA DALI), yadro ishga tushirish xarajatini kamaytirish (CUDA Graphs, torch.compile) yordam beradi. Agar GPU band, lekin Roofline'da nuqta xotira tomida bo'lsa: kvantlash (FP16 → INT8 baytlarni ikki marta kamaytiradi), operatorlarni birlashtirish (fusion), FlashAttention kabi xotira-samarador algoritmlar, partiyani kattalashtirish. Agar nuqta hisoblash tomiga yaqin bo'lsa: tensor yadrolaridan foydalanish (o'lchamlar 8 ga karrali, FP16/BF16), siyraklik, kamroq FLOP talab qiluvchi arxitektura (distillyatsiya, pruning). Agar nuqta ikkala tomdan ham ancha pastda bo'lsa — yadro samaradorligi past: band bo'lish darajasi, registrlar bosimi, xotira murojaatlarining birlashtirilmaganligi (uncoalesced) tekshiriladi, bu Nsight Compute vazifasi.</a:t>
            </a:r>
          </a:p>
          <a:p/>
          <a:p>
            <a:r>
              <a:t>Masshtablanuvchanlik to'sig'i uchun strategiya boshqacha: aloqa va hisoblashni ustma-ust qo'yish (gradient bucketing, asinxron all-reduce), aloqa hajmini kamaytirish (gradient siqish, FP16 aloqa), topologiyaga mos kollektivlar (NVLink ichida tensor parallelizm, tugunlar orasida ma'lumot parallelizm). Energiya to'sig'i uchun: quvvat chegarasi, DVFS, kichik aniqlik, hisoblashni bulut va chekka o'rtasida qayta taqsimlash. Muhim tamoyil: har bir o'zgartirishdan keyin o'lchov takrorlanadi, chunki bitta to'siq olib tashlangach, keyingisi ochiladi va avvalgi taxminlar o'z kuchini yo'qotadi.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00000" y="19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0000" y="195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00000" y="1950000"/>
            <a:ext cx="1633333"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00000" y="1950000"/>
            <a:ext cx="1633333"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900000"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00000"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00000"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0000"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00000" y="1466666"/>
            <a:ext cx="1633333"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900000" y="2433333"/>
            <a:ext cx="1633333"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900000" y="340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900000" y="43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900000" y="48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33333" y="1466666"/>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33333" y="1466666"/>
            <a:ext cx="1633333" cy="38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533333" y="24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533333"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533333"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33333" y="4366666"/>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533333" y="53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166666" y="14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66666" y="1466666"/>
            <a:ext cx="1633334"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166666" y="19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66666" y="2433333"/>
            <a:ext cx="1633334"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166666" y="3400000"/>
            <a:ext cx="1633334"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166666" y="48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8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8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438333" y="13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438333" y="23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38333" y="3305000"/>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38333" y="4271666"/>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38333" y="5238333"/>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071666" y="1371666"/>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71666" y="2338333"/>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071666" y="330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071666" y="42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071666" y="52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7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7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7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700000" y="1350000"/>
            <a:ext cx="3600000" cy="3600000"/>
          </a:xfrm>
          <a:prstGeom prst="ellipse">
            <a:avLst/>
          </a:prstGeom>
          <a:noFill/>
          <a:ln w="381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550000" y="1200000"/>
            <a:ext cx="3900000" cy="3900000"/>
          </a:xfrm>
          <a:prstGeom prst="ellipse">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06ee57976b06f3c6.jpg"/>
          <p:cNvPicPr>
            <a:picLocks noChangeAspect="1"/>
          </p:cNvPicPr>
          <p:nvPr/>
        </p:nvPicPr>
        <p:blipFill>
          <a:blip r:embed="rId2"/>
          <a:srcRect l="16680" r="16680"/>
          <a:stretch>
            <a:fillRect/>
          </a:stretch>
        </p:blipFill>
        <p:spPr>
          <a:xfrm>
            <a:off x="7850000" y="1500000"/>
            <a:ext cx="3300000" cy="3300000"/>
          </a:xfrm>
          <a:prstGeom prst="ellipse">
            <a:avLst/>
          </a:prstGeom>
          <a:ln w="19050">
            <a:solidFill>
              <a:srgbClr val="22D3EE"/>
            </a:solidFill>
          </a:ln>
        </p:spPr>
      </p:pic>
      <p:sp>
        <p:nvSpPr>
          <p:cNvPr id="62" name="TextBox 61"/>
          <p:cNvSpPr txBox="1"/>
          <p:nvPr/>
        </p:nvSpPr>
        <p:spPr>
          <a:xfrm>
            <a:off x="6900000" y="6350000"/>
            <a:ext cx="5000000" cy="260000"/>
          </a:xfrm>
          <a:prstGeom prst="rect">
            <a:avLst/>
          </a:prstGeom>
          <a:noFill/>
        </p:spPr>
        <p:txBody>
          <a:bodyPr wrap="square" anchor="t" lIns="50800" rIns="50800">
            <a:spAutoFit/>
          </a:bodyPr>
          <a:lstStyle/>
          <a:p>
            <a:pPr algn="r"/>
            <a:r>
              <a:rPr sz="800" b="0">
                <a:solidFill>
                  <a:srgbClr val="707EAA"/>
                </a:solidFill>
                <a:latin typeface="Segoe UI"/>
              </a:rPr>
              <a:t>Rasm: Ansgar Koreng · Wikimedia Commons · CC BY-SA 4.0</a:t>
            </a:r>
          </a:p>
        </p:txBody>
      </p:sp>
      <p:sp>
        <p:nvSpPr>
          <p:cNvPr id="63" name="Rounded Rectangle 62"/>
          <p:cNvSpPr/>
          <p:nvPr/>
        </p:nvSpPr>
        <p:spPr>
          <a:xfrm>
            <a:off x="700000" y="1250000"/>
            <a:ext cx="3400000" cy="400000"/>
          </a:xfrm>
          <a:prstGeom prst="round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2D3EE"/>
                </a:solidFill>
                <a:latin typeface="Segoe UI"/>
              </a:rPr>
              <a:t>MA'RUZA · M10 · 2 soat</a:t>
            </a:r>
          </a:p>
        </p:txBody>
      </p:sp>
      <p:sp>
        <p:nvSpPr>
          <p:cNvPr id="64" name="TextBox 63"/>
          <p:cNvSpPr txBox="1"/>
          <p:nvPr/>
        </p:nvSpPr>
        <p:spPr>
          <a:xfrm>
            <a:off x="700000" y="650000"/>
            <a:ext cx="6400000" cy="500000"/>
          </a:xfrm>
          <a:prstGeom prst="rect">
            <a:avLst/>
          </a:prstGeom>
          <a:noFill/>
        </p:spPr>
        <p:txBody>
          <a:bodyPr wrap="square" anchor="t" lIns="50800" rIns="50800">
            <a:spAutoFit/>
          </a:bodyPr>
          <a:lstStyle/>
          <a:p>
            <a:pPr algn="l"/>
            <a:r>
              <a:rPr sz="1400" b="0">
                <a:solidFill>
                  <a:srgbClr val="AEBBD9"/>
                </a:solidFill>
                <a:latin typeface="Segoe UI"/>
              </a:rPr>
              <a:t>Sun'iy intellektga asoslangan kompyuter tizimlari muhandisligi</a:t>
            </a:r>
          </a:p>
        </p:txBody>
      </p:sp>
      <p:sp>
        <p:nvSpPr>
          <p:cNvPr id="65" name="TextBox 64"/>
          <p:cNvSpPr txBox="1"/>
          <p:nvPr/>
        </p:nvSpPr>
        <p:spPr>
          <a:xfrm>
            <a:off x="700000" y="1850000"/>
            <a:ext cx="6400000" cy="2700000"/>
          </a:xfrm>
          <a:prstGeom prst="rect">
            <a:avLst/>
          </a:prstGeom>
          <a:noFill/>
        </p:spPr>
        <p:txBody>
          <a:bodyPr wrap="square" anchor="t" lIns="50800" rIns="50800">
            <a:spAutoFit/>
          </a:bodyPr>
          <a:lstStyle/>
          <a:p>
            <a:pPr algn="l"/>
            <a:r>
              <a:rPr sz="3600" b="1">
                <a:solidFill>
                  <a:srgbClr val="E8EEFA"/>
                </a:solidFill>
                <a:latin typeface="Segoe UI"/>
              </a:rPr>
              <a:t>Unumdorligini tahlil qilish va baholash</a:t>
            </a:r>
          </a:p>
        </p:txBody>
      </p:sp>
      <p:sp>
        <p:nvSpPr>
          <p:cNvPr id="66" name="Rectangle 65"/>
          <p:cNvSpPr/>
          <p:nvPr/>
        </p:nvSpPr>
        <p:spPr>
          <a:xfrm>
            <a:off x="760000" y="4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0000" y="4850000"/>
            <a:ext cx="6400000" cy="1200000"/>
          </a:xfrm>
          <a:prstGeom prst="rect">
            <a:avLst/>
          </a:prstGeom>
          <a:noFill/>
        </p:spPr>
        <p:txBody>
          <a:bodyPr wrap="square" anchor="t" lIns="50800" rIns="50800">
            <a:spAutoFit/>
          </a:bodyPr>
          <a:lstStyle/>
          <a:p>
            <a:pPr algn="l"/>
            <a:r>
              <a:rPr sz="1400" b="0">
                <a:solidFill>
                  <a:srgbClr val="AEBBD9"/>
                </a:solidFill>
                <a:latin typeface="Segoe UI"/>
              </a:rPr>
              <a:t>O‘qituvchi: S.Iskandarova, t.f.f.d. (PhD), dotsent</a:t>
            </a:r>
          </a:p>
          <a:p>
            <a:pPr algn="l"/>
            <a:r>
              <a:rPr sz="1400" b="0">
                <a:solidFill>
                  <a:srgbClr val="AEBBD9"/>
                </a:solidFill>
                <a:latin typeface="Segoe UI"/>
              </a:rPr>
              <a:t>2026-2027 o‘quv yili</a:t>
            </a:r>
          </a:p>
          <a:p>
            <a:pPr algn="l"/>
            <a:r>
              <a:rPr sz="1400" b="0">
                <a:solidFill>
                  <a:srgbClr val="AEBBD9"/>
                </a:solidFill>
                <a:latin typeface="Segoe U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200"/>
                            </p:stCondLst>
                            <p:childTnLst>
                              <p:par>
                                <p:cTn id="228" presetID="53" presetClass="entr" presetSubtype="16" fill="hold" grpId="0" nodeType="afterEffect">
                                  <p:stCondLst>
                                    <p:cond delay="0"/>
                                  </p:stCondLst>
                                  <p:childTnLst>
                                    <p:set>
                                      <p:cBhvr>
                                        <p:cTn id="229" dur="1" fill="hold">
                                          <p:stCondLst>
                                            <p:cond delay="0"/>
                                          </p:stCondLst>
                                        </p:cTn>
                                        <p:tgtEl>
                                          <p:spTgt spid="60"/>
                                        </p:tgtEl>
                                        <p:attrNameLst>
                                          <p:attrName>style.visibility</p:attrName>
                                        </p:attrNameLst>
                                      </p:cBhvr>
                                      <p:to>
                                        <p:strVal val="visible"/>
                                      </p:to>
                                    </p:set>
                                    <p:animEffect transition="in" filter="fade">
                                      <p:cBhvr>
                                        <p:cTn id="230" dur="550"/>
                                        <p:tgtEl>
                                          <p:spTgt spid="60"/>
                                        </p:tgtEl>
                                      </p:cBhvr>
                                    </p:animEffect>
                                    <p:anim calcmode="lin" valueType="num">
                                      <p:cBhvr additive="base">
                                        <p:cTn id="231" dur="550" fill="hold"/>
                                        <p:tgtEl>
                                          <p:spTgt spid="60"/>
                                        </p:tgtEl>
                                        <p:attrNameLst>
                                          <p:attrName>ppt_w</p:attrName>
                                        </p:attrNameLst>
                                      </p:cBhvr>
                                      <p:tavLst>
                                        <p:tav tm="0">
                                          <p:val>
                                            <p:strVal val="0"/>
                                          </p:val>
                                        </p:tav>
                                        <p:tav tm="100000">
                                          <p:val>
                                            <p:strVal val="#ppt_w"/>
                                          </p:val>
                                        </p:tav>
                                      </p:tavLst>
                                    </p:anim>
                                    <p:anim calcmode="lin" valueType="num">
                                      <p:cBhvr additive="base">
                                        <p:cTn id="232" dur="550" fill="hold"/>
                                        <p:tgtEl>
                                          <p:spTgt spid="60"/>
                                        </p:tgtEl>
                                        <p:attrNameLst>
                                          <p:attrName>ppt_h</p:attrName>
                                        </p:attrNameLst>
                                      </p:cBhvr>
                                      <p:tavLst>
                                        <p:tav tm="0">
                                          <p:val>
                                            <p:strVal val="0"/>
                                          </p:val>
                                        </p:tav>
                                        <p:tav tm="100000">
                                          <p:val>
                                            <p:strVal val="#ppt_h"/>
                                          </p:val>
                                        </p:tav>
                                      </p:tavLst>
                                    </p:anim>
                                  </p:childTnLst>
                                </p:cTn>
                              </p:par>
                            </p:childTnLst>
                          </p:cTn>
                        </p:par>
                        <p:par>
                          <p:cTn id="233" fill="hold">
                            <p:stCondLst>
                              <p:cond delay="200"/>
                            </p:stCondLst>
                            <p:childTnLst>
                              <p:par>
                                <p:cTn id="234" presetID="53" presetClass="entr" presetSubtype="16" fill="hold" grpId="0" nodeType="afterEffect">
                                  <p:stCondLst>
                                    <p:cond delay="0"/>
                                  </p:stCondLst>
                                  <p:childTnLst>
                                    <p:set>
                                      <p:cBhvr>
                                        <p:cTn id="235" dur="1" fill="hold">
                                          <p:stCondLst>
                                            <p:cond delay="0"/>
                                          </p:stCondLst>
                                        </p:cTn>
                                        <p:tgtEl>
                                          <p:spTgt spid="59"/>
                                        </p:tgtEl>
                                        <p:attrNameLst>
                                          <p:attrName>style.visibility</p:attrName>
                                        </p:attrNameLst>
                                      </p:cBhvr>
                                      <p:to>
                                        <p:strVal val="visible"/>
                                      </p:to>
                                    </p:set>
                                    <p:animEffect transition="in" filter="fade">
                                      <p:cBhvr>
                                        <p:cTn id="236" dur="550"/>
                                        <p:tgtEl>
                                          <p:spTgt spid="59"/>
                                        </p:tgtEl>
                                      </p:cBhvr>
                                    </p:animEffect>
                                    <p:anim calcmode="lin" valueType="num">
                                      <p:cBhvr additive="base">
                                        <p:cTn id="237" dur="550" fill="hold"/>
                                        <p:tgtEl>
                                          <p:spTgt spid="59"/>
                                        </p:tgtEl>
                                        <p:attrNameLst>
                                          <p:attrName>ppt_w</p:attrName>
                                        </p:attrNameLst>
                                      </p:cBhvr>
                                      <p:tavLst>
                                        <p:tav tm="0">
                                          <p:val>
                                            <p:strVal val="0"/>
                                          </p:val>
                                        </p:tav>
                                        <p:tav tm="100000">
                                          <p:val>
                                            <p:strVal val="#ppt_w"/>
                                          </p:val>
                                        </p:tav>
                                      </p:tavLst>
                                    </p:anim>
                                    <p:anim calcmode="lin" valueType="num">
                                      <p:cBhvr additive="base">
                                        <p:cTn id="238" dur="550" fill="hold"/>
                                        <p:tgtEl>
                                          <p:spTgt spid="59"/>
                                        </p:tgtEl>
                                        <p:attrNameLst>
                                          <p:attrName>ppt_h</p:attrName>
                                        </p:attrNameLst>
                                      </p:cBhvr>
                                      <p:tavLst>
                                        <p:tav tm="0">
                                          <p:val>
                                            <p:strVal val="0"/>
                                          </p:val>
                                        </p:tav>
                                        <p:tav tm="100000">
                                          <p:val>
                                            <p:strVal val="#ppt_h"/>
                                          </p:val>
                                        </p:tav>
                                      </p:tavLst>
                                    </p:anim>
                                  </p:childTnLst>
                                </p:cTn>
                              </p:par>
                            </p:childTnLst>
                          </p:cTn>
                        </p:par>
                        <p:par>
                          <p:cTn id="239" fill="hold">
                            <p:stCondLst>
                              <p:cond delay="200"/>
                            </p:stCondLst>
                            <p:childTnLst>
                              <p:par>
                                <p:cTn id="240" presetID="53" presetClass="entr" presetSubtype="16" fill="hold" grpId="0" nodeType="afterEffect">
                                  <p:stCondLst>
                                    <p:cond delay="0"/>
                                  </p:stCondLst>
                                  <p:childTnLst>
                                    <p:set>
                                      <p:cBhvr>
                                        <p:cTn id="241" dur="1" fill="hold">
                                          <p:stCondLst>
                                            <p:cond delay="0"/>
                                          </p:stCondLst>
                                        </p:cTn>
                                        <p:tgtEl>
                                          <p:spTgt spid="61"/>
                                        </p:tgtEl>
                                        <p:attrNameLst>
                                          <p:attrName>style.visibility</p:attrName>
                                        </p:attrNameLst>
                                      </p:cBhvr>
                                      <p:to>
                                        <p:strVal val="visible"/>
                                      </p:to>
                                    </p:set>
                                    <p:animEffect transition="in" filter="fade">
                                      <p:cBhvr>
                                        <p:cTn id="242" dur="550"/>
                                        <p:tgtEl>
                                          <p:spTgt spid="61"/>
                                        </p:tgtEl>
                                      </p:cBhvr>
                                    </p:animEffect>
                                    <p:anim calcmode="lin" valueType="num">
                                      <p:cBhvr additive="base">
                                        <p:cTn id="243" dur="550" fill="hold"/>
                                        <p:tgtEl>
                                          <p:spTgt spid="61"/>
                                        </p:tgtEl>
                                        <p:attrNameLst>
                                          <p:attrName>ppt_w</p:attrName>
                                        </p:attrNameLst>
                                      </p:cBhvr>
                                      <p:tavLst>
                                        <p:tav tm="0">
                                          <p:val>
                                            <p:strVal val="0"/>
                                          </p:val>
                                        </p:tav>
                                        <p:tav tm="100000">
                                          <p:val>
                                            <p:strVal val="#ppt_w"/>
                                          </p:val>
                                        </p:tav>
                                      </p:tavLst>
                                    </p:anim>
                                    <p:anim calcmode="lin" valueType="num">
                                      <p:cBhvr additive="base">
                                        <p:cTn id="244" dur="550" fill="hold"/>
                                        <p:tgtEl>
                                          <p:spTgt spid="61"/>
                                        </p:tgtEl>
                                        <p:attrNameLst>
                                          <p:attrName>ppt_h</p:attrName>
                                        </p:attrNameLst>
                                      </p:cBhvr>
                                      <p:tavLst>
                                        <p:tav tm="0">
                                          <p:val>
                                            <p:strVal val="0"/>
                                          </p:val>
                                        </p:tav>
                                        <p:tav tm="100000">
                                          <p:val>
                                            <p:strVal val="#ppt_h"/>
                                          </p:val>
                                        </p:tav>
                                      </p:tavLst>
                                    </p:anim>
                                  </p:childTnLst>
                                </p:cTn>
                              </p:par>
                            </p:childTnLst>
                          </p:cTn>
                        </p:par>
                        <p:par>
                          <p:cTn id="245" fill="hold">
                            <p:stCondLst>
                              <p:cond delay="200"/>
                            </p:stCondLst>
                            <p:childTnLst>
                              <p:par>
                                <p:cTn id="246" presetID="10" presetClass="entr" presetSubtype="0" fill="hold" grpId="0" nodeType="afterEffect">
                                  <p:stCondLst>
                                    <p:cond delay="0"/>
                                  </p:stCondLst>
                                  <p:childTnLst>
                                    <p:set>
                                      <p:cBhvr>
                                        <p:cTn id="247" dur="1" fill="hold">
                                          <p:stCondLst>
                                            <p:cond delay="0"/>
                                          </p:stCondLst>
                                        </p:cTn>
                                        <p:tgtEl>
                                          <p:spTgt spid="62"/>
                                        </p:tgtEl>
                                        <p:attrNameLst>
                                          <p:attrName>style.visibility</p:attrName>
                                        </p:attrNameLst>
                                      </p:cBhvr>
                                      <p:to>
                                        <p:strVal val="visible"/>
                                      </p:to>
                                    </p:set>
                                    <p:animEffect transition="in" filter="fade">
                                      <p:cBhvr>
                                        <p:cTn id="248" dur="550"/>
                                        <p:tgtEl>
                                          <p:spTgt spid="62"/>
                                        </p:tgtEl>
                                      </p:cBhvr>
                                    </p:animEffect>
                                  </p:childTnLst>
                                </p:cTn>
                              </p:par>
                            </p:childTnLst>
                          </p:cTn>
                        </p:par>
                        <p:par>
                          <p:cTn id="249" fill="hold">
                            <p:stCondLst>
                              <p:cond delay="350"/>
                            </p:stCondLst>
                            <p:childTnLst>
                              <p:par>
                                <p:cTn id="250" presetID="10" presetClass="entr" presetSubtype="0" fill="hold" grpId="0" nodeType="afterEffect">
                                  <p:stCondLst>
                                    <p:cond delay="0"/>
                                  </p:stCondLst>
                                  <p:childTnLst>
                                    <p:set>
                                      <p:cBhvr>
                                        <p:cTn id="251" dur="1" fill="hold">
                                          <p:stCondLst>
                                            <p:cond delay="0"/>
                                          </p:stCondLst>
                                        </p:cTn>
                                        <p:tgtEl>
                                          <p:spTgt spid="64"/>
                                        </p:tgtEl>
                                        <p:attrNameLst>
                                          <p:attrName>style.visibility</p:attrName>
                                        </p:attrNameLst>
                                      </p:cBhvr>
                                      <p:to>
                                        <p:strVal val="visible"/>
                                      </p:to>
                                    </p:set>
                                    <p:animEffect transition="in" filter="fade">
                                      <p:cBhvr>
                                        <p:cTn id="252" dur="550"/>
                                        <p:tgtEl>
                                          <p:spTgt spid="64"/>
                                        </p:tgtEl>
                                      </p:cBhvr>
                                    </p:animEffect>
                                  </p:childTnLst>
                                </p:cTn>
                              </p:par>
                            </p:childTnLst>
                          </p:cTn>
                        </p:par>
                        <p:par>
                          <p:cTn id="253" fill="hold">
                            <p:stCondLst>
                              <p:cond delay="500"/>
                            </p:stCondLst>
                            <p:childTnLst>
                              <p:par>
                                <p:cTn id="254" presetID="2" presetClass="entr" presetSubtype="8" fill="hold" grpId="0" nodeType="afterEffect">
                                  <p:stCondLst>
                                    <p:cond delay="0"/>
                                  </p:stCondLst>
                                  <p:childTnLst>
                                    <p:set>
                                      <p:cBhvr>
                                        <p:cTn id="255" dur="1" fill="hold">
                                          <p:stCondLst>
                                            <p:cond delay="0"/>
                                          </p:stCondLst>
                                        </p:cTn>
                                        <p:tgtEl>
                                          <p:spTgt spid="63"/>
                                        </p:tgtEl>
                                        <p:attrNameLst>
                                          <p:attrName>style.visibility</p:attrName>
                                        </p:attrNameLst>
                                      </p:cBhvr>
                                      <p:to>
                                        <p:strVal val="visible"/>
                                      </p:to>
                                    </p:set>
                                    <p:anim calcmode="lin" valueType="num">
                                      <p:cBhvr additive="base">
                                        <p:cTn id="257" dur="550" fill="hold"/>
                                        <p:tgtEl>
                                          <p:spTgt spid="63"/>
                                        </p:tgtEl>
                                        <p:attrNameLst>
                                          <p:attrName>ppt_x</p:attrName>
                                        </p:attrNameLst>
                                      </p:cBhvr>
                                      <p:tavLst>
                                        <p:tav tm="0">
                                          <p:val>
                                            <p:strVal val="0-#ppt_w/2"/>
                                          </p:val>
                                        </p:tav>
                                        <p:tav tm="100000">
                                          <p:val>
                                            <p:strVal val="#ppt_x"/>
                                          </p:val>
                                        </p:tav>
                                      </p:tavLst>
                                    </p:anim>
                                    <p:anim calcmode="lin" valueType="num">
                                      <p:cBhvr additive="base">
                                        <p:cTn id="258" dur="550" fill="hold"/>
                                        <p:tgtEl>
                                          <p:spTgt spid="63"/>
                                        </p:tgtEl>
                                        <p:attrNameLst>
                                          <p:attrName>ppt_y</p:attrName>
                                        </p:attrNameLst>
                                      </p:cBhvr>
                                      <p:tavLst>
                                        <p:tav tm="0">
                                          <p:val>
                                            <p:strVal val="#ppt_y"/>
                                          </p:val>
                                        </p:tav>
                                        <p:tav tm="100000">
                                          <p:val>
                                            <p:strVal val="#ppt_y"/>
                                          </p:val>
                                        </p:tav>
                                      </p:tavLst>
                                    </p:anim>
                                  </p:childTnLst>
                                </p:cTn>
                              </p:par>
                            </p:childTnLst>
                          </p:cTn>
                        </p:par>
                        <p:par>
                          <p:cTn id="259" fill="hold">
                            <p:stCondLst>
                              <p:cond delay="650"/>
                            </p:stCondLst>
                            <p:childTnLst>
                              <p:par>
                                <p:cTn id="260" presetID="42" presetClass="entr" presetSubtype="0" fill="hold" grpId="0" nodeType="afterEffect">
                                  <p:stCondLst>
                                    <p:cond delay="0"/>
                                  </p:stCondLst>
                                  <p:childTnLst>
                                    <p:set>
                                      <p:cBhvr>
                                        <p:cTn id="261" dur="1" fill="hold">
                                          <p:stCondLst>
                                            <p:cond delay="0"/>
                                          </p:stCondLst>
                                        </p:cTn>
                                        <p:tgtEl>
                                          <p:spTgt spid="65"/>
                                        </p:tgtEl>
                                        <p:attrNameLst>
                                          <p:attrName>style.visibility</p:attrName>
                                        </p:attrNameLst>
                                      </p:cBhvr>
                                      <p:to>
                                        <p:strVal val="visible"/>
                                      </p:to>
                                    </p:set>
                                    <p:animEffect transition="in" filter="fade">
                                      <p:cBhvr>
                                        <p:cTn id="262" dur="550"/>
                                        <p:tgtEl>
                                          <p:spTgt spid="65"/>
                                        </p:tgtEl>
                                      </p:cBhvr>
                                    </p:animEffect>
                                    <p:anim calcmode="lin" valueType="num">
                                      <p:cBhvr additive="base">
                                        <p:cTn id="263" dur="550" fill="hold"/>
                                        <p:tgtEl>
                                          <p:spTgt spid="65"/>
                                        </p:tgtEl>
                                        <p:attrNameLst>
                                          <p:attrName>ppt_x</p:attrName>
                                        </p:attrNameLst>
                                      </p:cBhvr>
                                      <p:tavLst>
                                        <p:tav tm="0">
                                          <p:val>
                                            <p:strVal val="#ppt_x"/>
                                          </p:val>
                                        </p:tav>
                                        <p:tav tm="100000">
                                          <p:val>
                                            <p:strVal val="#ppt_x"/>
                                          </p:val>
                                        </p:tav>
                                      </p:tavLst>
                                    </p:anim>
                                    <p:anim calcmode="lin" valueType="num">
                                      <p:cBhvr additive="base">
                                        <p:cTn id="264" dur="550" fill="hold"/>
                                        <p:tgtEl>
                                          <p:spTgt spid="65"/>
                                        </p:tgtEl>
                                        <p:attrNameLst>
                                          <p:attrName>ppt_y</p:attrName>
                                        </p:attrNameLst>
                                      </p:cBhvr>
                                      <p:tavLst>
                                        <p:tav tm="0">
                                          <p:val>
                                            <p:strVal val="#ppt_y+.08"/>
                                          </p:val>
                                        </p:tav>
                                        <p:tav tm="100000">
                                          <p:val>
                                            <p:strVal val="#ppt_y"/>
                                          </p:val>
                                        </p:tav>
                                      </p:tavLst>
                                    </p:anim>
                                  </p:childTnLst>
                                </p:cTn>
                              </p:par>
                            </p:childTnLst>
                          </p:cTn>
                        </p:par>
                        <p:par>
                          <p:cTn id="265" fill="hold">
                            <p:stCondLst>
                              <p:cond delay="800"/>
                            </p:stCondLst>
                            <p:childTnLst>
                              <p:par>
                                <p:cTn id="266" presetID="22" presetClass="entr" presetSubtype="8" fill="hold" grpId="0" nodeType="afterEffect">
                                  <p:stCondLst>
                                    <p:cond delay="0"/>
                                  </p:stCondLst>
                                  <p:childTnLst>
                                    <p:set>
                                      <p:cBhvr>
                                        <p:cTn id="267" dur="1" fill="hold">
                                          <p:stCondLst>
                                            <p:cond delay="0"/>
                                          </p:stCondLst>
                                        </p:cTn>
                                        <p:tgtEl>
                                          <p:spTgt spid="66"/>
                                        </p:tgtEl>
                                        <p:attrNameLst>
                                          <p:attrName>style.visibility</p:attrName>
                                        </p:attrNameLst>
                                      </p:cBhvr>
                                      <p:to>
                                        <p:strVal val="visible"/>
                                      </p:to>
                                    </p:set>
                                    <p:animEffect transition="in" filter="wipe(left)">
                                      <p:cBhvr>
                                        <p:cTn id="269" dur="800"/>
                                        <p:tgtEl>
                                          <p:spTgt spid="66"/>
                                        </p:tgtEl>
                                      </p:cBhvr>
                                    </p:animEffect>
                                  </p:childTnLst>
                                </p:cTn>
                              </p:par>
                            </p:childTnLst>
                          </p:cTn>
                        </p:par>
                        <p:par>
                          <p:cTn id="270" fill="hold">
                            <p:stCondLst>
                              <p:cond delay="950"/>
                            </p:stCondLst>
                            <p:childTnLst>
                              <p:par>
                                <p:cTn id="271" presetID="10" presetClass="entr" presetSubtype="0" fill="hold" grpId="0" nodeType="afterEffect">
                                  <p:stCondLst>
                                    <p:cond delay="0"/>
                                  </p:stCondLst>
                                  <p:childTnLst>
                                    <p:set>
                                      <p:cBhvr>
                                        <p:cTn id="272" dur="1" fill="hold">
                                          <p:stCondLst>
                                            <p:cond delay="0"/>
                                          </p:stCondLst>
                                        </p:cTn>
                                        <p:tgtEl>
                                          <p:spTgt spid="67"/>
                                        </p:tgtEl>
                                        <p:attrNameLst>
                                          <p:attrName>style.visibility</p:attrName>
                                        </p:attrNameLst>
                                      </p:cBhvr>
                                      <p:to>
                                        <p:strVal val="visible"/>
                                      </p:to>
                                    </p:set>
                                    <p:animEffect transition="in" filter="fade">
                                      <p:cBhvr>
                                        <p:cTn id="273" dur="5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59" grpId="0" animBg="1"/>
      <p:bldP spid="62" grpId="0" animBg="1"/>
      <p:bldP spid="64" grpId="0" animBg="1"/>
      <p:bldP spid="63" grpId="0" animBg="1"/>
      <p:bldP spid="65" grpId="0" animBg="1"/>
      <p:bldP spid="66" grpId="0" animBg="1"/>
      <p:bldP spid="67"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MA’RUZA REJASI</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Reja</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a:t>
            </a:r>
          </a:p>
        </p:txBody>
      </p:sp>
      <p:sp>
        <p:nvSpPr>
          <p:cNvPr id="23" name="Rounded Rectangle 22"/>
          <p:cNvSpPr/>
          <p:nvPr/>
        </p:nvSpPr>
        <p:spPr>
          <a:xfrm>
            <a:off x="550000" y="227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0000" y="235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0000" y="235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6" name="TextBox 25"/>
          <p:cNvSpPr txBox="1"/>
          <p:nvPr/>
        </p:nvSpPr>
        <p:spPr>
          <a:xfrm>
            <a:off x="1300000" y="2310000"/>
            <a:ext cx="10250000" cy="440000"/>
          </a:xfrm>
          <a:prstGeom prst="rect">
            <a:avLst/>
          </a:prstGeom>
          <a:noFill/>
        </p:spPr>
        <p:txBody>
          <a:bodyPr wrap="square" anchor="ctr">
            <a:spAutoFit/>
          </a:bodyPr>
          <a:lstStyle/>
          <a:p>
            <a:r>
              <a:rPr sz="1600" b="0">
                <a:solidFill>
                  <a:srgbClr val="E8EEFA"/>
                </a:solidFill>
                <a:latin typeface="Segoe UI"/>
              </a:rPr>
              <a:t>Unumdorlik mezonlari: latency, throughput va scalability</a:t>
            </a:r>
          </a:p>
        </p:txBody>
      </p:sp>
      <p:sp>
        <p:nvSpPr>
          <p:cNvPr id="27" name="Rounded Rectangle 26"/>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980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980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0" name="TextBox 29"/>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Profiling va benchmarking usullari</a:t>
            </a:r>
          </a:p>
        </p:txBody>
      </p:sp>
      <p:sp>
        <p:nvSpPr>
          <p:cNvPr id="31" name="Rounded Rectangle 30"/>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610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610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4" name="TextBox 33"/>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Roofline modeli</a:t>
            </a:r>
          </a:p>
        </p:txBody>
      </p:sp>
      <p:sp>
        <p:nvSpPr>
          <p:cNvPr id="35" name="Rounded Rectangle 34"/>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0000" y="4240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0000" y="4240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8" name="TextBox 37"/>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Energiya samaradorligini tahlil qilish</a:t>
            </a:r>
          </a:p>
        </p:txBody>
      </p:sp>
      <p:sp>
        <p:nvSpPr>
          <p:cNvPr id="39" name="Rounded Rectangle 38"/>
          <p:cNvSpPr/>
          <p:nvPr/>
        </p:nvSpPr>
        <p:spPr>
          <a:xfrm>
            <a:off x="550000" y="479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50000" y="4870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60000" y="4870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42" name="TextBox 41"/>
          <p:cNvSpPr txBox="1"/>
          <p:nvPr/>
        </p:nvSpPr>
        <p:spPr>
          <a:xfrm>
            <a:off x="1300000" y="4830000"/>
            <a:ext cx="10250000" cy="440000"/>
          </a:xfrm>
          <a:prstGeom prst="rect">
            <a:avLst/>
          </a:prstGeom>
          <a:noFill/>
        </p:spPr>
        <p:txBody>
          <a:bodyPr wrap="square" anchor="ctr">
            <a:spAutoFit/>
          </a:bodyPr>
          <a:lstStyle/>
          <a:p>
            <a:r>
              <a:rPr sz="1600" b="0">
                <a:solidFill>
                  <a:srgbClr val="E8EEFA"/>
                </a:solidFill>
                <a:latin typeface="Segoe UI"/>
              </a:rPr>
              <a:t>Optimallashtirish strategiyalari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ppt_x</p:attrName>
                                        </p:attrNameLst>
                                      </p:cBhvr>
                                      <p:tavLst>
                                        <p:tav tm="0">
                                          <p:val>
                                            <p:strVal val="#ppt_x"/>
                                          </p:val>
                                        </p:tav>
                                        <p:tav tm="100000">
                                          <p:val>
                                            <p:strVal val="#ppt_x"/>
                                          </p:val>
                                        </p:tav>
                                      </p:tavLst>
                                    </p:anim>
                                    <p:anim calcmode="lin" valueType="num">
                                      <p:cBhvr additive="base">
                                        <p:cTn id="17" dur="550" fill="hold"/>
                                        <p:tgtEl>
                                          <p:spTgt spid="23"/>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ppt_x</p:attrName>
                                        </p:attrNameLst>
                                      </p:cBhvr>
                                      <p:tavLst>
                                        <p:tav tm="0">
                                          <p:val>
                                            <p:strVal val="#ppt_x"/>
                                          </p:val>
                                        </p:tav>
                                        <p:tav tm="100000">
                                          <p:val>
                                            <p:strVal val="#ppt_x"/>
                                          </p:val>
                                        </p:tav>
                                      </p:tavLst>
                                    </p:anim>
                                    <p:anim calcmode="lin" valueType="num">
                                      <p:cBhvr additive="base">
                                        <p:cTn id="23" dur="550" fill="hold"/>
                                        <p:tgtEl>
                                          <p:spTgt spid="24"/>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anim calcmode="lin" valueType="num">
                                      <p:cBhvr additive="base">
                                        <p:cTn id="28" dur="550" fill="hold"/>
                                        <p:tgtEl>
                                          <p:spTgt spid="25"/>
                                        </p:tgtEl>
                                        <p:attrNameLst>
                                          <p:attrName>ppt_w</p:attrName>
                                        </p:attrNameLst>
                                      </p:cBhvr>
                                      <p:tavLst>
                                        <p:tav tm="0">
                                          <p:val>
                                            <p:strVal val="0"/>
                                          </p:val>
                                        </p:tav>
                                        <p:tav tm="100000">
                                          <p:val>
                                            <p:strVal val="#ppt_w"/>
                                          </p:val>
                                        </p:tav>
                                      </p:tavLst>
                                    </p:anim>
                                    <p:anim calcmode="lin" valueType="num">
                                      <p:cBhvr additive="base">
                                        <p:cTn id="29" dur="550" fill="hold"/>
                                        <p:tgtEl>
                                          <p:spTgt spid="25"/>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50"/>
                                        <p:tgtEl>
                                          <p:spTgt spid="26"/>
                                        </p:tgtEl>
                                      </p:cBhvr>
                                    </p:animEffect>
                                    <p:anim calcmode="lin" valueType="num">
                                      <p:cBhvr additive="base">
                                        <p:cTn id="34" dur="550" fill="hold"/>
                                        <p:tgtEl>
                                          <p:spTgt spid="26"/>
                                        </p:tgtEl>
                                        <p:attrNameLst>
                                          <p:attrName>ppt_x</p:attrName>
                                        </p:attrNameLst>
                                      </p:cBhvr>
                                      <p:tavLst>
                                        <p:tav tm="0">
                                          <p:val>
                                            <p:strVal val="#ppt_x"/>
                                          </p:val>
                                        </p:tav>
                                        <p:tav tm="100000">
                                          <p:val>
                                            <p:strVal val="#ppt_x"/>
                                          </p:val>
                                        </p:tav>
                                      </p:tavLst>
                                    </p:anim>
                                    <p:anim calcmode="lin" valueType="num">
                                      <p:cBhvr additive="base">
                                        <p:cTn id="35" dur="550" fill="hold"/>
                                        <p:tgtEl>
                                          <p:spTgt spid="26"/>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50"/>
                                        <p:tgtEl>
                                          <p:spTgt spid="27"/>
                                        </p:tgtEl>
                                      </p:cBhvr>
                                    </p:animEffect>
                                    <p:anim calcmode="lin" valueType="num">
                                      <p:cBhvr additive="base">
                                        <p:cTn id="40" dur="550" fill="hold"/>
                                        <p:tgtEl>
                                          <p:spTgt spid="27"/>
                                        </p:tgtEl>
                                        <p:attrNameLst>
                                          <p:attrName>ppt_x</p:attrName>
                                        </p:attrNameLst>
                                      </p:cBhvr>
                                      <p:tavLst>
                                        <p:tav tm="0">
                                          <p:val>
                                            <p:strVal val="#ppt_x"/>
                                          </p:val>
                                        </p:tav>
                                        <p:tav tm="100000">
                                          <p:val>
                                            <p:strVal val="#ppt_x"/>
                                          </p:val>
                                        </p:tav>
                                      </p:tavLst>
                                    </p:anim>
                                    <p:anim calcmode="lin" valueType="num">
                                      <p:cBhvr additive="base">
                                        <p:cTn id="41" dur="550" fill="hold"/>
                                        <p:tgtEl>
                                          <p:spTgt spid="27"/>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50"/>
                                        <p:tgtEl>
                                          <p:spTgt spid="28"/>
                                        </p:tgtEl>
                                      </p:cBhvr>
                                    </p:animEffect>
                                    <p:anim calcmode="lin" valueType="num">
                                      <p:cBhvr additive="base">
                                        <p:cTn id="46" dur="550" fill="hold"/>
                                        <p:tgtEl>
                                          <p:spTgt spid="28"/>
                                        </p:tgtEl>
                                        <p:attrNameLst>
                                          <p:attrName>ppt_x</p:attrName>
                                        </p:attrNameLst>
                                      </p:cBhvr>
                                      <p:tavLst>
                                        <p:tav tm="0">
                                          <p:val>
                                            <p:strVal val="#ppt_x"/>
                                          </p:val>
                                        </p:tav>
                                        <p:tav tm="100000">
                                          <p:val>
                                            <p:strVal val="#ppt_x"/>
                                          </p:val>
                                        </p:tav>
                                      </p:tavLst>
                                    </p:anim>
                                    <p:anim calcmode="lin" valueType="num">
                                      <p:cBhvr additive="base">
                                        <p:cTn id="47" dur="550" fill="hold"/>
                                        <p:tgtEl>
                                          <p:spTgt spid="28"/>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50"/>
                                        <p:tgtEl>
                                          <p:spTgt spid="29"/>
                                        </p:tgtEl>
                                      </p:cBhvr>
                                    </p:animEffect>
                                    <p:anim calcmode="lin" valueType="num">
                                      <p:cBhvr additive="base">
                                        <p:cTn id="52" dur="550" fill="hold"/>
                                        <p:tgtEl>
                                          <p:spTgt spid="29"/>
                                        </p:tgtEl>
                                        <p:attrNameLst>
                                          <p:attrName>ppt_w</p:attrName>
                                        </p:attrNameLst>
                                      </p:cBhvr>
                                      <p:tavLst>
                                        <p:tav tm="0">
                                          <p:val>
                                            <p:strVal val="0"/>
                                          </p:val>
                                        </p:tav>
                                        <p:tav tm="100000">
                                          <p:val>
                                            <p:strVal val="#ppt_w"/>
                                          </p:val>
                                        </p:tav>
                                      </p:tavLst>
                                    </p:anim>
                                    <p:anim calcmode="lin" valueType="num">
                                      <p:cBhvr additive="base">
                                        <p:cTn id="53" dur="550" fill="hold"/>
                                        <p:tgtEl>
                                          <p:spTgt spid="29"/>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50"/>
                                        <p:tgtEl>
                                          <p:spTgt spid="30"/>
                                        </p:tgtEl>
                                      </p:cBhvr>
                                    </p:animEffect>
                                    <p:anim calcmode="lin" valueType="num">
                                      <p:cBhvr additive="base">
                                        <p:cTn id="58" dur="550" fill="hold"/>
                                        <p:tgtEl>
                                          <p:spTgt spid="30"/>
                                        </p:tgtEl>
                                        <p:attrNameLst>
                                          <p:attrName>ppt_x</p:attrName>
                                        </p:attrNameLst>
                                      </p:cBhvr>
                                      <p:tavLst>
                                        <p:tav tm="0">
                                          <p:val>
                                            <p:strVal val="#ppt_x"/>
                                          </p:val>
                                        </p:tav>
                                        <p:tav tm="100000">
                                          <p:val>
                                            <p:strVal val="#ppt_x"/>
                                          </p:val>
                                        </p:tav>
                                      </p:tavLst>
                                    </p:anim>
                                    <p:anim calcmode="lin" valueType="num">
                                      <p:cBhvr additive="base">
                                        <p:cTn id="59" dur="550" fill="hold"/>
                                        <p:tgtEl>
                                          <p:spTgt spid="30"/>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50"/>
                                        <p:tgtEl>
                                          <p:spTgt spid="31"/>
                                        </p:tgtEl>
                                      </p:cBhvr>
                                    </p:animEffect>
                                    <p:anim calcmode="lin" valueType="num">
                                      <p:cBhvr additive="base">
                                        <p:cTn id="64" dur="550" fill="hold"/>
                                        <p:tgtEl>
                                          <p:spTgt spid="31"/>
                                        </p:tgtEl>
                                        <p:attrNameLst>
                                          <p:attrName>ppt_x</p:attrName>
                                        </p:attrNameLst>
                                      </p:cBhvr>
                                      <p:tavLst>
                                        <p:tav tm="0">
                                          <p:val>
                                            <p:strVal val="#ppt_x"/>
                                          </p:val>
                                        </p:tav>
                                        <p:tav tm="100000">
                                          <p:val>
                                            <p:strVal val="#ppt_x"/>
                                          </p:val>
                                        </p:tav>
                                      </p:tavLst>
                                    </p:anim>
                                    <p:anim calcmode="lin" valueType="num">
                                      <p:cBhvr additive="base">
                                        <p:cTn id="65" dur="550" fill="hold"/>
                                        <p:tgtEl>
                                          <p:spTgt spid="31"/>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50"/>
                                        <p:tgtEl>
                                          <p:spTgt spid="32"/>
                                        </p:tgtEl>
                                      </p:cBhvr>
                                    </p:animEffect>
                                    <p:anim calcmode="lin" valueType="num">
                                      <p:cBhvr additive="base">
                                        <p:cTn id="70" dur="550" fill="hold"/>
                                        <p:tgtEl>
                                          <p:spTgt spid="32"/>
                                        </p:tgtEl>
                                        <p:attrNameLst>
                                          <p:attrName>ppt_x</p:attrName>
                                        </p:attrNameLst>
                                      </p:cBhvr>
                                      <p:tavLst>
                                        <p:tav tm="0">
                                          <p:val>
                                            <p:strVal val="#ppt_x"/>
                                          </p:val>
                                        </p:tav>
                                        <p:tav tm="100000">
                                          <p:val>
                                            <p:strVal val="#ppt_x"/>
                                          </p:val>
                                        </p:tav>
                                      </p:tavLst>
                                    </p:anim>
                                    <p:anim calcmode="lin" valueType="num">
                                      <p:cBhvr additive="base">
                                        <p:cTn id="71" dur="550" fill="hold"/>
                                        <p:tgtEl>
                                          <p:spTgt spid="32"/>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50"/>
                                        <p:tgtEl>
                                          <p:spTgt spid="33"/>
                                        </p:tgtEl>
                                      </p:cBhvr>
                                    </p:animEffect>
                                    <p:anim calcmode="lin" valueType="num">
                                      <p:cBhvr additive="base">
                                        <p:cTn id="76" dur="550" fill="hold"/>
                                        <p:tgtEl>
                                          <p:spTgt spid="33"/>
                                        </p:tgtEl>
                                        <p:attrNameLst>
                                          <p:attrName>ppt_w</p:attrName>
                                        </p:attrNameLst>
                                      </p:cBhvr>
                                      <p:tavLst>
                                        <p:tav tm="0">
                                          <p:val>
                                            <p:strVal val="0"/>
                                          </p:val>
                                        </p:tav>
                                        <p:tav tm="100000">
                                          <p:val>
                                            <p:strVal val="#ppt_w"/>
                                          </p:val>
                                        </p:tav>
                                      </p:tavLst>
                                    </p:anim>
                                    <p:anim calcmode="lin" valueType="num">
                                      <p:cBhvr additive="base">
                                        <p:cTn id="77" dur="550" fill="hold"/>
                                        <p:tgtEl>
                                          <p:spTgt spid="33"/>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50"/>
                                        <p:tgtEl>
                                          <p:spTgt spid="34"/>
                                        </p:tgtEl>
                                      </p:cBhvr>
                                    </p:animEffect>
                                    <p:anim calcmode="lin" valueType="num">
                                      <p:cBhvr additive="base">
                                        <p:cTn id="82" dur="550" fill="hold"/>
                                        <p:tgtEl>
                                          <p:spTgt spid="34"/>
                                        </p:tgtEl>
                                        <p:attrNameLst>
                                          <p:attrName>ppt_x</p:attrName>
                                        </p:attrNameLst>
                                      </p:cBhvr>
                                      <p:tavLst>
                                        <p:tav tm="0">
                                          <p:val>
                                            <p:strVal val="#ppt_x"/>
                                          </p:val>
                                        </p:tav>
                                        <p:tav tm="100000">
                                          <p:val>
                                            <p:strVal val="#ppt_x"/>
                                          </p:val>
                                        </p:tav>
                                      </p:tavLst>
                                    </p:anim>
                                    <p:anim calcmode="lin" valueType="num">
                                      <p:cBhvr additive="base">
                                        <p:cTn id="83" dur="550" fill="hold"/>
                                        <p:tgtEl>
                                          <p:spTgt spid="34"/>
                                        </p:tgtEl>
                                        <p:attrNameLst>
                                          <p:attrName>ppt_y</p:attrName>
                                        </p:attrNameLst>
                                      </p:cBhvr>
                                      <p:tavLst>
                                        <p:tav tm="0">
                                          <p:val>
                                            <p:strVal val="#ppt_y+.08"/>
                                          </p:val>
                                        </p:tav>
                                        <p:tav tm="100000">
                                          <p:val>
                                            <p:strVal val="#ppt_y"/>
                                          </p:val>
                                        </p:tav>
                                      </p:tavLst>
                                    </p:anim>
                                  </p:childTnLst>
                                </p:cTn>
                              </p:par>
                            </p:childTnLst>
                          </p:cTn>
                        </p:par>
                        <p:par>
                          <p:cTn id="84" fill="hold">
                            <p:stCondLst>
                              <p:cond delay="800"/>
                            </p:stCondLst>
                            <p:childTnLst>
                              <p:par>
                                <p:cTn id="85" presetID="42" presetClass="entr" presetSubtype="0" fill="hold" grpId="0" nodeType="after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550"/>
                                        <p:tgtEl>
                                          <p:spTgt spid="35"/>
                                        </p:tgtEl>
                                      </p:cBhvr>
                                    </p:animEffect>
                                    <p:anim calcmode="lin" valueType="num">
                                      <p:cBhvr additive="base">
                                        <p:cTn id="88" dur="550" fill="hold"/>
                                        <p:tgtEl>
                                          <p:spTgt spid="35"/>
                                        </p:tgtEl>
                                        <p:attrNameLst>
                                          <p:attrName>ppt_x</p:attrName>
                                        </p:attrNameLst>
                                      </p:cBhvr>
                                      <p:tavLst>
                                        <p:tav tm="0">
                                          <p:val>
                                            <p:strVal val="#ppt_x"/>
                                          </p:val>
                                        </p:tav>
                                        <p:tav tm="100000">
                                          <p:val>
                                            <p:strVal val="#ppt_x"/>
                                          </p:val>
                                        </p:tav>
                                      </p:tavLst>
                                    </p:anim>
                                    <p:anim calcmode="lin" valueType="num">
                                      <p:cBhvr additive="base">
                                        <p:cTn id="89" dur="550" fill="hold"/>
                                        <p:tgtEl>
                                          <p:spTgt spid="35"/>
                                        </p:tgtEl>
                                        <p:attrNameLst>
                                          <p:attrName>ppt_y</p:attrName>
                                        </p:attrNameLst>
                                      </p:cBhvr>
                                      <p:tavLst>
                                        <p:tav tm="0">
                                          <p:val>
                                            <p:strVal val="#ppt_y+.08"/>
                                          </p:val>
                                        </p:tav>
                                        <p:tav tm="100000">
                                          <p:val>
                                            <p:strVal val="#ppt_y"/>
                                          </p:val>
                                        </p:tav>
                                      </p:tavLst>
                                    </p:anim>
                                  </p:childTnLst>
                                </p:cTn>
                              </p:par>
                            </p:childTnLst>
                          </p:cTn>
                        </p:par>
                        <p:par>
                          <p:cTn id="90" fill="hold">
                            <p:stCondLst>
                              <p:cond delay="800"/>
                            </p:stCondLst>
                            <p:childTnLst>
                              <p:par>
                                <p:cTn id="91" presetID="42" presetClass="entr" presetSubtype="0" fill="hold" grpId="0"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550"/>
                                        <p:tgtEl>
                                          <p:spTgt spid="36"/>
                                        </p:tgtEl>
                                      </p:cBhvr>
                                    </p:animEffect>
                                    <p:anim calcmode="lin" valueType="num">
                                      <p:cBhvr additive="base">
                                        <p:cTn id="94" dur="550" fill="hold"/>
                                        <p:tgtEl>
                                          <p:spTgt spid="36"/>
                                        </p:tgtEl>
                                        <p:attrNameLst>
                                          <p:attrName>ppt_x</p:attrName>
                                        </p:attrNameLst>
                                      </p:cBhvr>
                                      <p:tavLst>
                                        <p:tav tm="0">
                                          <p:val>
                                            <p:strVal val="#ppt_x"/>
                                          </p:val>
                                        </p:tav>
                                        <p:tav tm="100000">
                                          <p:val>
                                            <p:strVal val="#ppt_x"/>
                                          </p:val>
                                        </p:tav>
                                      </p:tavLst>
                                    </p:anim>
                                    <p:anim calcmode="lin" valueType="num">
                                      <p:cBhvr additive="base">
                                        <p:cTn id="95" dur="550" fill="hold"/>
                                        <p:tgtEl>
                                          <p:spTgt spid="36"/>
                                        </p:tgtEl>
                                        <p:attrNameLst>
                                          <p:attrName>ppt_y</p:attrName>
                                        </p:attrNameLst>
                                      </p:cBhvr>
                                      <p:tavLst>
                                        <p:tav tm="0">
                                          <p:val>
                                            <p:strVal val="#ppt_y+.08"/>
                                          </p:val>
                                        </p:tav>
                                        <p:tav tm="100000">
                                          <p:val>
                                            <p:strVal val="#ppt_y"/>
                                          </p:val>
                                        </p:tav>
                                      </p:tavLst>
                                    </p:anim>
                                  </p:childTnLst>
                                </p:cTn>
                              </p:par>
                            </p:childTnLst>
                          </p:cTn>
                        </p:par>
                        <p:par>
                          <p:cTn id="96" fill="hold">
                            <p:stCondLst>
                              <p:cond delay="800"/>
                            </p:stCondLst>
                            <p:childTnLst>
                              <p:par>
                                <p:cTn id="97" presetID="53" presetClass="entr" presetSubtype="16" fill="hold" grpId="0" nodeType="after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50"/>
                                        <p:tgtEl>
                                          <p:spTgt spid="37"/>
                                        </p:tgtEl>
                                      </p:cBhvr>
                                    </p:animEffect>
                                    <p:anim calcmode="lin" valueType="num">
                                      <p:cBhvr additive="base">
                                        <p:cTn id="100" dur="550" fill="hold"/>
                                        <p:tgtEl>
                                          <p:spTgt spid="37"/>
                                        </p:tgtEl>
                                        <p:attrNameLst>
                                          <p:attrName>ppt_w</p:attrName>
                                        </p:attrNameLst>
                                      </p:cBhvr>
                                      <p:tavLst>
                                        <p:tav tm="0">
                                          <p:val>
                                            <p:strVal val="0"/>
                                          </p:val>
                                        </p:tav>
                                        <p:tav tm="100000">
                                          <p:val>
                                            <p:strVal val="#ppt_w"/>
                                          </p:val>
                                        </p:tav>
                                      </p:tavLst>
                                    </p:anim>
                                    <p:anim calcmode="lin" valueType="num">
                                      <p:cBhvr additive="base">
                                        <p:cTn id="101" dur="550" fill="hold"/>
                                        <p:tgtEl>
                                          <p:spTgt spid="37"/>
                                        </p:tgtEl>
                                        <p:attrNameLst>
                                          <p:attrName>ppt_h</p:attrName>
                                        </p:attrNameLst>
                                      </p:cBhvr>
                                      <p:tavLst>
                                        <p:tav tm="0">
                                          <p:val>
                                            <p:strVal val="0"/>
                                          </p:val>
                                        </p:tav>
                                        <p:tav tm="100000">
                                          <p:val>
                                            <p:strVal val="#ppt_h"/>
                                          </p:val>
                                        </p:tav>
                                      </p:tavLst>
                                    </p:anim>
                                  </p:childTnLst>
                                </p:cTn>
                              </p:par>
                            </p:childTnLst>
                          </p:cTn>
                        </p:par>
                        <p:par>
                          <p:cTn id="102" fill="hold">
                            <p:stCondLst>
                              <p:cond delay="800"/>
                            </p:stCondLst>
                            <p:childTnLst>
                              <p:par>
                                <p:cTn id="103" presetID="42" presetClass="entr" presetSubtype="0" fill="hold" grpId="0" nodeType="after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550"/>
                                        <p:tgtEl>
                                          <p:spTgt spid="38"/>
                                        </p:tgtEl>
                                      </p:cBhvr>
                                    </p:animEffect>
                                    <p:anim calcmode="lin" valueType="num">
                                      <p:cBhvr additive="base">
                                        <p:cTn id="106" dur="550" fill="hold"/>
                                        <p:tgtEl>
                                          <p:spTgt spid="38"/>
                                        </p:tgtEl>
                                        <p:attrNameLst>
                                          <p:attrName>ppt_x</p:attrName>
                                        </p:attrNameLst>
                                      </p:cBhvr>
                                      <p:tavLst>
                                        <p:tav tm="0">
                                          <p:val>
                                            <p:strVal val="#ppt_x"/>
                                          </p:val>
                                        </p:tav>
                                        <p:tav tm="100000">
                                          <p:val>
                                            <p:strVal val="#ppt_x"/>
                                          </p:val>
                                        </p:tav>
                                      </p:tavLst>
                                    </p:anim>
                                    <p:anim calcmode="lin" valueType="num">
                                      <p:cBhvr additive="base">
                                        <p:cTn id="107" dur="550" fill="hold"/>
                                        <p:tgtEl>
                                          <p:spTgt spid="38"/>
                                        </p:tgtEl>
                                        <p:attrNameLst>
                                          <p:attrName>ppt_y</p:attrName>
                                        </p:attrNameLst>
                                      </p:cBhvr>
                                      <p:tavLst>
                                        <p:tav tm="0">
                                          <p:val>
                                            <p:strVal val="#ppt_y+.08"/>
                                          </p:val>
                                        </p:tav>
                                        <p:tav tm="100000">
                                          <p:val>
                                            <p:strVal val="#ppt_y"/>
                                          </p:val>
                                        </p:tav>
                                      </p:tavLst>
                                    </p:anim>
                                  </p:childTnLst>
                                </p:cTn>
                              </p:par>
                            </p:childTnLst>
                          </p:cTn>
                        </p:par>
                        <p:par>
                          <p:cTn id="108" fill="hold">
                            <p:stCondLst>
                              <p:cond delay="1000"/>
                            </p:stCondLst>
                            <p:childTnLst>
                              <p:par>
                                <p:cTn id="109" presetID="42" presetClass="entr" presetSubtype="0" fill="hold" grpId="0" nodeType="after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50"/>
                                        <p:tgtEl>
                                          <p:spTgt spid="39"/>
                                        </p:tgtEl>
                                      </p:cBhvr>
                                    </p:animEffect>
                                    <p:anim calcmode="lin" valueType="num">
                                      <p:cBhvr additive="base">
                                        <p:cTn id="112" dur="550" fill="hold"/>
                                        <p:tgtEl>
                                          <p:spTgt spid="39"/>
                                        </p:tgtEl>
                                        <p:attrNameLst>
                                          <p:attrName>ppt_x</p:attrName>
                                        </p:attrNameLst>
                                      </p:cBhvr>
                                      <p:tavLst>
                                        <p:tav tm="0">
                                          <p:val>
                                            <p:strVal val="#ppt_x"/>
                                          </p:val>
                                        </p:tav>
                                        <p:tav tm="100000">
                                          <p:val>
                                            <p:strVal val="#ppt_x"/>
                                          </p:val>
                                        </p:tav>
                                      </p:tavLst>
                                    </p:anim>
                                    <p:anim calcmode="lin" valueType="num">
                                      <p:cBhvr additive="base">
                                        <p:cTn id="113" dur="550" fill="hold"/>
                                        <p:tgtEl>
                                          <p:spTgt spid="39"/>
                                        </p:tgtEl>
                                        <p:attrNameLst>
                                          <p:attrName>ppt_y</p:attrName>
                                        </p:attrNameLst>
                                      </p:cBhvr>
                                      <p:tavLst>
                                        <p:tav tm="0">
                                          <p:val>
                                            <p:strVal val="#ppt_y+.08"/>
                                          </p:val>
                                        </p:tav>
                                        <p:tav tm="100000">
                                          <p:val>
                                            <p:strVal val="#ppt_y"/>
                                          </p:val>
                                        </p:tav>
                                      </p:tavLst>
                                    </p:anim>
                                  </p:childTnLst>
                                </p:cTn>
                              </p:par>
                            </p:childTnLst>
                          </p:cTn>
                        </p:par>
                        <p:par>
                          <p:cTn id="114" fill="hold">
                            <p:stCondLst>
                              <p:cond delay="1000"/>
                            </p:stCondLst>
                            <p:childTnLst>
                              <p:par>
                                <p:cTn id="115" presetID="42" presetClass="entr" presetSubtype="0" fill="hold" grpId="0" nodeType="after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50"/>
                                        <p:tgtEl>
                                          <p:spTgt spid="40"/>
                                        </p:tgtEl>
                                      </p:cBhvr>
                                    </p:animEffect>
                                    <p:anim calcmode="lin" valueType="num">
                                      <p:cBhvr additive="base">
                                        <p:cTn id="118" dur="550" fill="hold"/>
                                        <p:tgtEl>
                                          <p:spTgt spid="40"/>
                                        </p:tgtEl>
                                        <p:attrNameLst>
                                          <p:attrName>ppt_x</p:attrName>
                                        </p:attrNameLst>
                                      </p:cBhvr>
                                      <p:tavLst>
                                        <p:tav tm="0">
                                          <p:val>
                                            <p:strVal val="#ppt_x"/>
                                          </p:val>
                                        </p:tav>
                                        <p:tav tm="100000">
                                          <p:val>
                                            <p:strVal val="#ppt_x"/>
                                          </p:val>
                                        </p:tav>
                                      </p:tavLst>
                                    </p:anim>
                                    <p:anim calcmode="lin" valueType="num">
                                      <p:cBhvr additive="base">
                                        <p:cTn id="119" dur="550" fill="hold"/>
                                        <p:tgtEl>
                                          <p:spTgt spid="40"/>
                                        </p:tgtEl>
                                        <p:attrNameLst>
                                          <p:attrName>ppt_y</p:attrName>
                                        </p:attrNameLst>
                                      </p:cBhvr>
                                      <p:tavLst>
                                        <p:tav tm="0">
                                          <p:val>
                                            <p:strVal val="#ppt_y+.08"/>
                                          </p:val>
                                        </p:tav>
                                        <p:tav tm="100000">
                                          <p:val>
                                            <p:strVal val="#ppt_y"/>
                                          </p:val>
                                        </p:tav>
                                      </p:tavLst>
                                    </p:anim>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550"/>
                                        <p:tgtEl>
                                          <p:spTgt spid="41"/>
                                        </p:tgtEl>
                                      </p:cBhvr>
                                    </p:animEffect>
                                    <p:anim calcmode="lin" valueType="num">
                                      <p:cBhvr additive="base">
                                        <p:cTn id="124" dur="550" fill="hold"/>
                                        <p:tgtEl>
                                          <p:spTgt spid="41"/>
                                        </p:tgtEl>
                                        <p:attrNameLst>
                                          <p:attrName>ppt_w</p:attrName>
                                        </p:attrNameLst>
                                      </p:cBhvr>
                                      <p:tavLst>
                                        <p:tav tm="0">
                                          <p:val>
                                            <p:strVal val="0"/>
                                          </p:val>
                                        </p:tav>
                                        <p:tav tm="100000">
                                          <p:val>
                                            <p:strVal val="#ppt_w"/>
                                          </p:val>
                                        </p:tav>
                                      </p:tavLst>
                                    </p:anim>
                                    <p:anim calcmode="lin" valueType="num">
                                      <p:cBhvr additive="base">
                                        <p:cTn id="125" dur="550" fill="hold"/>
                                        <p:tgtEl>
                                          <p:spTgt spid="41"/>
                                        </p:tgtEl>
                                        <p:attrNameLst>
                                          <p:attrName>ppt_h</p:attrName>
                                        </p:attrNameLst>
                                      </p:cBhvr>
                                      <p:tavLst>
                                        <p:tav tm="0">
                                          <p:val>
                                            <p:strVal val="0"/>
                                          </p:val>
                                        </p:tav>
                                        <p:tav tm="100000">
                                          <p:val>
                                            <p:strVal val="#ppt_h"/>
                                          </p:val>
                                        </p:tav>
                                      </p:tavLst>
                                    </p:anim>
                                  </p:childTnLst>
                                </p:cTn>
                              </p:par>
                            </p:childTnLst>
                          </p:cTn>
                        </p:par>
                        <p:par>
                          <p:cTn id="126" fill="hold">
                            <p:stCondLst>
                              <p:cond delay="1000"/>
                            </p:stCondLst>
                            <p:childTnLst>
                              <p:par>
                                <p:cTn id="127" presetID="42" presetClass="entr" presetSubtype="0" fill="hold" grpId="0" nodeType="afterEffect">
                                  <p:stCondLst>
                                    <p:cond delay="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29" dur="550"/>
                                        <p:tgtEl>
                                          <p:spTgt spid="42"/>
                                        </p:tgtEl>
                                      </p:cBhvr>
                                    </p:animEffect>
                                    <p:anim calcmode="lin" valueType="num">
                                      <p:cBhvr additive="base">
                                        <p:cTn id="130" dur="550" fill="hold"/>
                                        <p:tgtEl>
                                          <p:spTgt spid="42"/>
                                        </p:tgtEl>
                                        <p:attrNameLst>
                                          <p:attrName>ppt_x</p:attrName>
                                        </p:attrNameLst>
                                      </p:cBhvr>
                                      <p:tavLst>
                                        <p:tav tm="0">
                                          <p:val>
                                            <p:strVal val="#ppt_x"/>
                                          </p:val>
                                        </p:tav>
                                        <p:tav tm="100000">
                                          <p:val>
                                            <p:strVal val="#ppt_x"/>
                                          </p:val>
                                        </p:tav>
                                      </p:tavLst>
                                    </p:anim>
                                    <p:anim calcmode="lin" valueType="num">
                                      <p:cBhvr additive="base">
                                        <p:cTn id="131" dur="550" fill="hold"/>
                                        <p:tgtEl>
                                          <p:spTgt spid="4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b2ea507789ac15ca.jpg"/>
          <p:cNvPicPr>
            <a:picLocks noChangeAspect="1"/>
          </p:cNvPicPr>
          <p:nvPr/>
        </p:nvPicPr>
        <p:blipFill>
          <a:blip r:embed="rId2"/>
          <a:srcRect l="14324" r="14324"/>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Ansgar Koreng · Wikimedia Commons · CC BY-SA 4.0</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01</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Unumdorlik mezonlari: latency, throughput va scalability</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Unumdorlik mezonlari: latency, throughput va scalability</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4c58e1c72c3d846.jpg"/>
          <p:cNvPicPr>
            <a:picLocks noChangeAspect="1"/>
          </p:cNvPicPr>
          <p:nvPr/>
        </p:nvPicPr>
        <p:blipFill>
          <a:blip r:embed="rId2"/>
          <a:srcRect l="24836" r="24836"/>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Pittigrilli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741544"/>
            <a:ext cx="50000" cy="191345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4982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1701544"/>
            <a:ext cx="5900000" cy="1993456"/>
          </a:xfrm>
          <a:prstGeom prst="rect">
            <a:avLst/>
          </a:prstGeom>
          <a:noFill/>
        </p:spPr>
        <p:txBody>
          <a:bodyPr wrap="square" anchor="ctr">
            <a:spAutoFit/>
          </a:bodyPr>
          <a:lstStyle/>
          <a:p>
            <a:r>
              <a:rPr sz="1400" b="1">
                <a:solidFill>
                  <a:srgbClr val="E8EEFA"/>
                </a:solidFill>
                <a:latin typeface="Segoe UI"/>
              </a:rPr>
              <a:t>Kechikish (latency) — bitta so'rovni boshidan oxirigacha bajarish vaqti.</a:t>
            </a:r>
          </a:p>
          <a:p>
            <a:pPr>
              <a:spcBef>
                <a:spcPts val="400"/>
              </a:spcBef>
            </a:pPr>
            <a:r>
              <a:rPr sz="1300">
                <a:solidFill>
                  <a:srgbClr val="AEBBD9"/>
                </a:solidFill>
                <a:latin typeface="Segoe UI"/>
              </a:rPr>
              <a:t>AI tizimida u bir necha komponentdan yig'iladi: tarmoq va navbatda kutish, oldindan qayta ishlash (preprocessing), xost-qurilma ma'lumot ko'chirish, modelning o'zi, keyingi qayta ishlash. Kechikish hech qachon bitta son emas — u taqsimot. Shuning uchun o'rtacha qiymat bilan birga foizillar (percentiles) hisobot qilinadi: p50 (mediana), p95, p99.</a:t>
            </a:r>
          </a:p>
        </p:txBody>
      </p:sp>
      <p:sp>
        <p:nvSpPr>
          <p:cNvPr id="32" name="Rounded Rectangle 31"/>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6817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5" name="TextBox 34"/>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O'tkazuvchanlik (throughput) — vaqt birligida bajarilgan ish miqdori: sekundiga tasvirlar, so'rovlar yoki tokenlar.</a:t>
            </a:r>
          </a:p>
          <a:p>
            <a:pPr>
              <a:spcBef>
                <a:spcPts val="400"/>
              </a:spcBef>
            </a:pPr>
            <a:r>
              <a:rPr sz="1300">
                <a:solidFill>
                  <a:srgbClr val="AEBBD9"/>
                </a:solidFill>
                <a:latin typeface="Segoe UI"/>
              </a:rPr>
              <a:t>Latency va throughput o'rtasidagi munosabat Little qonuni bilan ifodalanadi: L = λ · W, bu yerda L — tizimdagi o'rtacha so'rovlar soni (parallellik), λ — o'tkazuvchanlik, W — o'rtacha kechikish.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Unumdorlik mezonlari: latency, throughput va scalability</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1bea6e53fc57279a.jpg"/>
          <p:cNvPicPr>
            <a:picLocks noChangeAspect="1"/>
          </p:cNvPicPr>
          <p:nvPr/>
        </p:nvPicPr>
        <p:blipFill>
          <a:blip r:embed="rId2"/>
          <a:srcRect l="22677" r="22677"/>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Brihaspati · Wikimedia Commons · CC BY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686216"/>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766216"/>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2726216"/>
            <a:ext cx="5900000" cy="2127568"/>
          </a:xfrm>
          <a:prstGeom prst="rect">
            <a:avLst/>
          </a:prstGeom>
          <a:noFill/>
        </p:spPr>
        <p:txBody>
          <a:bodyPr wrap="square" anchor="ctr">
            <a:spAutoFit/>
          </a:bodyPr>
          <a:lstStyle/>
          <a:p>
            <a:r>
              <a:rPr sz="1700" b="1">
                <a:solidFill>
                  <a:srgbClr val="E8EEFA"/>
                </a:solidFill>
                <a:latin typeface="Segoe UI"/>
              </a:rPr>
              <a:t>Masshtablanuvchanlik (scalability) — resurs qo'shilganda unumdorlikning qanday o'sishi.</a:t>
            </a:r>
          </a:p>
          <a:p>
            <a:pPr>
              <a:spcBef>
                <a:spcPts val="400"/>
              </a:spcBef>
            </a:pPr>
            <a:r>
              <a:rPr sz="1600">
                <a:solidFill>
                  <a:srgbClr val="AEBBD9"/>
                </a:solidFill>
                <a:latin typeface="Segoe UI"/>
              </a:rPr>
              <a:t>Ikki tur farqlanadi: kuchli masshtablash (strong scaling) — muammo hajmi o'zgarmay, protsessorlar soni ortadi; zaif masshtablash (weak scaling) — har protsessorga to'g'ri keladigan ish hajmi o'zgarmay, umumiy muammo ortadi.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Unumdorlik mezonlari: latency, throughput va scalability</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a:t>
            </a:r>
          </a:p>
        </p:txBody>
      </p:sp>
      <p:graphicFrame>
        <p:nvGraphicFramePr>
          <p:cNvPr id="25" name="Table 24"/>
          <p:cNvGraphicFramePr>
            <a:graphicFrameLocks noGrp="1"/>
          </p:cNvGraphicFramePr>
          <p:nvPr/>
        </p:nvGraphicFramePr>
        <p:xfrm>
          <a:off x="550000" y="1400000"/>
          <a:ext cx="11100000" cy="312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200" b="1">
                          <a:solidFill>
                            <a:srgbClr val="22D3EE"/>
                          </a:solidFill>
                          <a:latin typeface="Segoe UI"/>
                        </a:rPr>
                        <a:t>Mezon</a:t>
                      </a:r>
                    </a:p>
                  </a:txBody>
                  <a:tcPr>
                    <a:solidFill>
                      <a:srgbClr val="1C2755"/>
                    </a:solidFill>
                  </a:tcPr>
                </a:tc>
                <a:tc>
                  <a:txBody>
                    <a:bodyPr/>
                    <a:lstStyle/>
                    <a:p>
                      <a:r>
                        <a:rPr sz="1200" b="1">
                          <a:solidFill>
                            <a:srgbClr val="22D3EE"/>
                          </a:solidFill>
                          <a:latin typeface="Segoe UI"/>
                        </a:rPr>
                        <a:t>Birligi</a:t>
                      </a:r>
                    </a:p>
                  </a:txBody>
                  <a:tcPr>
                    <a:solidFill>
                      <a:srgbClr val="1C2755"/>
                    </a:solidFill>
                  </a:tcPr>
                </a:tc>
                <a:tc>
                  <a:txBody>
                    <a:bodyPr/>
                    <a:lstStyle/>
                    <a:p>
                      <a:r>
                        <a:rPr sz="1200" b="1">
                          <a:solidFill>
                            <a:srgbClr val="22D3EE"/>
                          </a:solidFill>
                          <a:latin typeface="Segoe UI"/>
                        </a:rPr>
                        <a:t>Kim uchun muhim</a:t>
                      </a:r>
                    </a:p>
                  </a:txBody>
                  <a:tcPr>
                    <a:solidFill>
                      <a:srgbClr val="1C2755"/>
                    </a:solidFill>
                  </a:tcPr>
                </a:tc>
                <a:tc>
                  <a:txBody>
                    <a:bodyPr/>
                    <a:lstStyle/>
                    <a:p>
                      <a:r>
                        <a:rPr sz="1200" b="1">
                          <a:solidFill>
                            <a:srgbClr val="22D3EE"/>
                          </a:solidFill>
                          <a:latin typeface="Segoe UI"/>
                        </a:rPr>
                        <a:t>Tipik maqsad</a:t>
                      </a:r>
                    </a:p>
                  </a:txBody>
                  <a:tcPr>
                    <a:solidFill>
                      <a:srgbClr val="1C2755"/>
                    </a:solidFill>
                  </a:tcPr>
                </a:tc>
              </a:tr>
              <a:tr h="520000">
                <a:tc>
                  <a:txBody>
                    <a:bodyPr/>
                    <a:lstStyle/>
                    <a:p>
                      <a:r>
                        <a:rPr sz="1200" b="0">
                          <a:solidFill>
                            <a:srgbClr val="E8EEFA"/>
                          </a:solidFill>
                          <a:latin typeface="Segoe UI"/>
                        </a:rPr>
                        <a:t>Latency (p50/p99)</a:t>
                      </a:r>
                    </a:p>
                  </a:txBody>
                  <a:tcPr>
                    <a:solidFill>
                      <a:srgbClr val="111834"/>
                    </a:solidFill>
                  </a:tcPr>
                </a:tc>
                <a:tc>
                  <a:txBody>
                    <a:bodyPr/>
                    <a:lstStyle/>
                    <a:p>
                      <a:r>
                        <a:rPr sz="1200" b="0">
                          <a:solidFill>
                            <a:srgbClr val="E8EEFA"/>
                          </a:solidFill>
                          <a:latin typeface="Segoe UI"/>
                        </a:rPr>
                        <a:t>ms</a:t>
                      </a:r>
                    </a:p>
                  </a:txBody>
                  <a:tcPr>
                    <a:solidFill>
                      <a:srgbClr val="111834"/>
                    </a:solidFill>
                  </a:tcPr>
                </a:tc>
                <a:tc>
                  <a:txBody>
                    <a:bodyPr/>
                    <a:lstStyle/>
                    <a:p>
                      <a:r>
                        <a:rPr sz="1200" b="0">
                          <a:solidFill>
                            <a:srgbClr val="E8EEFA"/>
                          </a:solidFill>
                          <a:latin typeface="Segoe UI"/>
                        </a:rPr>
                        <a:t>Interaktiv xizmatlar, real vaqt tizimlari</a:t>
                      </a:r>
                    </a:p>
                  </a:txBody>
                  <a:tcPr>
                    <a:solidFill>
                      <a:srgbClr val="111834"/>
                    </a:solidFill>
                  </a:tcPr>
                </a:tc>
                <a:tc>
                  <a:txBody>
                    <a:bodyPr/>
                    <a:lstStyle/>
                    <a:p>
                      <a:r>
                        <a:rPr sz="1200" b="0">
                          <a:solidFill>
                            <a:srgbClr val="E8EEFA"/>
                          </a:solidFill>
                          <a:latin typeface="Segoe UI"/>
                        </a:rPr>
                        <a:t>p99 ≤ 50–100 ms; avtonom transport ≤ 10–30 ms</a:t>
                      </a:r>
                    </a:p>
                  </a:txBody>
                  <a:tcPr>
                    <a:solidFill>
                      <a:srgbClr val="111834"/>
                    </a:solidFill>
                  </a:tcPr>
                </a:tc>
              </a:tr>
              <a:tr h="520000">
                <a:tc>
                  <a:txBody>
                    <a:bodyPr/>
                    <a:lstStyle/>
                    <a:p>
                      <a:r>
                        <a:rPr sz="1200" b="0">
                          <a:solidFill>
                            <a:srgbClr val="E8EEFA"/>
                          </a:solidFill>
                          <a:latin typeface="Segoe UI"/>
                        </a:rPr>
                        <a:t>Throughput</a:t>
                      </a:r>
                    </a:p>
                  </a:txBody>
                  <a:tcPr>
                    <a:solidFill>
                      <a:srgbClr val="161F40"/>
                    </a:solidFill>
                  </a:tcPr>
                </a:tc>
                <a:tc>
                  <a:txBody>
                    <a:bodyPr/>
                    <a:lstStyle/>
                    <a:p>
                      <a:r>
                        <a:rPr sz="1200" b="0">
                          <a:solidFill>
                            <a:srgbClr val="E8EEFA"/>
                          </a:solidFill>
                          <a:latin typeface="Segoe UI"/>
                        </a:rPr>
                        <a:t>img/s, tok/s, req/s</a:t>
                      </a:r>
                    </a:p>
                  </a:txBody>
                  <a:tcPr>
                    <a:solidFill>
                      <a:srgbClr val="161F40"/>
                    </a:solidFill>
                  </a:tcPr>
                </a:tc>
                <a:tc>
                  <a:txBody>
                    <a:bodyPr/>
                    <a:lstStyle/>
                    <a:p>
                      <a:r>
                        <a:rPr sz="1200" b="0">
                          <a:solidFill>
                            <a:srgbClr val="E8EEFA"/>
                          </a:solidFill>
                          <a:latin typeface="Segoe UI"/>
                        </a:rPr>
                        <a:t>Oflayn qayta ishlash, o'qitish</a:t>
                      </a:r>
                    </a:p>
                  </a:txBody>
                  <a:tcPr>
                    <a:solidFill>
                      <a:srgbClr val="161F40"/>
                    </a:solidFill>
                  </a:tcPr>
                </a:tc>
                <a:tc>
                  <a:txBody>
                    <a:bodyPr/>
                    <a:lstStyle/>
                    <a:p>
                      <a:r>
                        <a:rPr sz="1200" b="0">
                          <a:solidFill>
                            <a:srgbClr val="E8EEFA"/>
                          </a:solidFill>
                          <a:latin typeface="Segoe UI"/>
                        </a:rPr>
                        <a:t>Apparat cho'qqisining 40–60 %</a:t>
                      </a:r>
                    </a:p>
                  </a:txBody>
                  <a:tcPr>
                    <a:solidFill>
                      <a:srgbClr val="161F40"/>
                    </a:solidFill>
                  </a:tcPr>
                </a:tc>
              </a:tr>
              <a:tr h="520000">
                <a:tc>
                  <a:txBody>
                    <a:bodyPr/>
                    <a:lstStyle/>
                    <a:p>
                      <a:r>
                        <a:rPr sz="1200" b="0">
                          <a:solidFill>
                            <a:srgbClr val="E8EEFA"/>
                          </a:solidFill>
                          <a:latin typeface="Segoe UI"/>
                        </a:rPr>
                        <a:t>Scalability</a:t>
                      </a:r>
                    </a:p>
                  </a:txBody>
                  <a:tcPr>
                    <a:solidFill>
                      <a:srgbClr val="111834"/>
                    </a:solidFill>
                  </a:tcPr>
                </a:tc>
                <a:tc>
                  <a:txBody>
                    <a:bodyPr/>
                    <a:lstStyle/>
                    <a:p>
                      <a:r>
                        <a:rPr sz="1200" b="0">
                          <a:solidFill>
                            <a:srgbClr val="E8EEFA"/>
                          </a:solidFill>
                          <a:latin typeface="Segoe UI"/>
                        </a:rPr>
                        <a:t>tezlashish, samaradorlik</a:t>
                      </a:r>
                    </a:p>
                  </a:txBody>
                  <a:tcPr>
                    <a:solidFill>
                      <a:srgbClr val="111834"/>
                    </a:solidFill>
                  </a:tcPr>
                </a:tc>
                <a:tc>
                  <a:txBody>
                    <a:bodyPr/>
                    <a:lstStyle/>
                    <a:p>
                      <a:r>
                        <a:rPr sz="1200" b="0">
                          <a:solidFill>
                            <a:srgbClr val="E8EEFA"/>
                          </a:solidFill>
                          <a:latin typeface="Segoe UI"/>
                        </a:rPr>
                        <a:t>Klasterlar, taqsimlangan o'qitish</a:t>
                      </a:r>
                    </a:p>
                  </a:txBody>
                  <a:tcPr>
                    <a:solidFill>
                      <a:srgbClr val="111834"/>
                    </a:solidFill>
                  </a:tcPr>
                </a:tc>
                <a:tc>
                  <a:txBody>
                    <a:bodyPr/>
                    <a:lstStyle/>
                    <a:p>
                      <a:r>
                        <a:rPr sz="1200" b="0">
                          <a:solidFill>
                            <a:srgbClr val="E8EEFA"/>
                          </a:solidFill>
                          <a:latin typeface="Segoe UI"/>
                        </a:rPr>
                        <a:t>8 GPU'da ≥ 85 %</a:t>
                      </a:r>
                    </a:p>
                  </a:txBody>
                  <a:tcPr>
                    <a:solidFill>
                      <a:srgbClr val="111834"/>
                    </a:solidFill>
                  </a:tcPr>
                </a:tc>
              </a:tr>
              <a:tr h="520000">
                <a:tc>
                  <a:txBody>
                    <a:bodyPr/>
                    <a:lstStyle/>
                    <a:p>
                      <a:r>
                        <a:rPr sz="1200" b="0">
                          <a:solidFill>
                            <a:srgbClr val="E8EEFA"/>
                          </a:solidFill>
                          <a:latin typeface="Segoe UI"/>
                        </a:rPr>
                        <a:t>Energiya</a:t>
                      </a:r>
                    </a:p>
                  </a:txBody>
                  <a:tcPr>
                    <a:solidFill>
                      <a:srgbClr val="161F40"/>
                    </a:solidFill>
                  </a:tcPr>
                </a:tc>
                <a:tc>
                  <a:txBody>
                    <a:bodyPr/>
                    <a:lstStyle/>
                    <a:p>
                      <a:r>
                        <a:rPr sz="1200" b="0">
                          <a:solidFill>
                            <a:srgbClr val="E8EEFA"/>
                          </a:solidFill>
                          <a:latin typeface="Segoe UI"/>
                        </a:rPr>
                        <a:t>J/inferens, TOPS/W</a:t>
                      </a:r>
                    </a:p>
                  </a:txBody>
                  <a:tcPr>
                    <a:solidFill>
                      <a:srgbClr val="161F40"/>
                    </a:solidFill>
                  </a:tcPr>
                </a:tc>
                <a:tc>
                  <a:txBody>
                    <a:bodyPr/>
                    <a:lstStyle/>
                    <a:p>
                      <a:r>
                        <a:rPr sz="1200" b="0">
                          <a:solidFill>
                            <a:srgbClr val="E8EEFA"/>
                          </a:solidFill>
                          <a:latin typeface="Segoe UI"/>
                        </a:rPr>
                        <a:t>Chekka qurilmalar, ma'lumot markazlari</a:t>
                      </a:r>
                    </a:p>
                  </a:txBody>
                  <a:tcPr>
                    <a:solidFill>
                      <a:srgbClr val="161F40"/>
                    </a:solidFill>
                  </a:tcPr>
                </a:tc>
                <a:tc>
                  <a:txBody>
                    <a:bodyPr/>
                    <a:lstStyle/>
                    <a:p>
                      <a:r>
                        <a:rPr sz="1200" b="0">
                          <a:solidFill>
                            <a:srgbClr val="E8EEFA"/>
                          </a:solidFill>
                          <a:latin typeface="Segoe UI"/>
                        </a:rPr>
                        <a:t>Jetson: ≤ 1 J/kadr; DC: PUE ≤ 1,2</a:t>
                      </a:r>
                    </a:p>
                  </a:txBody>
                  <a:tcPr>
                    <a:solidFill>
                      <a:srgbClr val="161F40"/>
                    </a:solidFill>
                  </a:tcPr>
                </a:tc>
              </a:tr>
              <a:tr h="520000">
                <a:tc>
                  <a:txBody>
                    <a:bodyPr/>
                    <a:lstStyle/>
                    <a:p>
                      <a:r>
                        <a:rPr sz="1200" b="0">
                          <a:solidFill>
                            <a:srgbClr val="E8EEFA"/>
                          </a:solidFill>
                          <a:latin typeface="Segoe UI"/>
                        </a:rPr>
                        <a:t>Xotira</a:t>
                      </a:r>
                    </a:p>
                  </a:txBody>
                  <a:tcPr>
                    <a:solidFill>
                      <a:srgbClr val="111834"/>
                    </a:solidFill>
                  </a:tcPr>
                </a:tc>
                <a:tc>
                  <a:txBody>
                    <a:bodyPr/>
                    <a:lstStyle/>
                    <a:p>
                      <a:r>
                        <a:rPr sz="1200" b="0">
                          <a:solidFill>
                            <a:srgbClr val="E8EEFA"/>
                          </a:solidFill>
                          <a:latin typeface="Segoe UI"/>
                        </a:rPr>
                        <a:t>GB, GB/s</a:t>
                      </a:r>
                    </a:p>
                  </a:txBody>
                  <a:tcPr>
                    <a:solidFill>
                      <a:srgbClr val="111834"/>
                    </a:solidFill>
                  </a:tcPr>
                </a:tc>
                <a:tc>
                  <a:txBody>
                    <a:bodyPr/>
                    <a:lstStyle/>
                    <a:p>
                      <a:r>
                        <a:rPr sz="1200" b="0">
                          <a:solidFill>
                            <a:srgbClr val="E8EEFA"/>
                          </a:solidFill>
                          <a:latin typeface="Segoe UI"/>
                        </a:rPr>
                        <a:t>Katta modellar, KV-kesh</a:t>
                      </a:r>
                    </a:p>
                  </a:txBody>
                  <a:tcPr>
                    <a:solidFill>
                      <a:srgbClr val="111834"/>
                    </a:solidFill>
                  </a:tcPr>
                </a:tc>
                <a:tc>
                  <a:txBody>
                    <a:bodyPr/>
                    <a:lstStyle/>
                    <a:p>
                      <a:r>
                        <a:rPr sz="1200" b="0">
                          <a:solidFill>
                            <a:srgbClr val="E8EEFA"/>
                          </a:solidFill>
                          <a:latin typeface="Segoe UI"/>
                        </a:rPr>
                        <a:t>HBM o'tkazuvchanligining ≥ 70 %</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6"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8fe88e41f06bb87e.jpg"/>
          <p:cNvPicPr>
            <a:picLocks noChangeAspect="1"/>
          </p:cNvPicPr>
          <p:nvPr/>
        </p:nvPicPr>
        <p:blipFill>
          <a:blip r:embed="rId2"/>
          <a:srcRect l="19761" r="19761"/>
          <a:stretch>
            <a:fillRect/>
          </a:stretch>
        </p:blipFill>
        <p:spPr>
          <a:xfrm>
            <a:off x="6300000" y="800000"/>
            <a:ext cx="5300000" cy="4950000"/>
          </a:xfrm>
          <a:prstGeom prst="roundRect">
            <a:avLst/>
          </a:prstGeom>
          <a:ln w="19050">
            <a:solidFill>
              <a:srgbClr val="22D3EE"/>
            </a:solidFill>
          </a:ln>
        </p:spPr>
      </p:pic>
      <p:sp>
        <p:nvSpPr>
          <p:cNvPr id="40" name="TextBox 39"/>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SkyN9ne · Wikimedia Commons · CC BY-SA 4.0</a:t>
            </a:r>
          </a:p>
        </p:txBody>
      </p:sp>
      <p:sp>
        <p:nvSpPr>
          <p:cNvPr id="41" name="TextBox 40"/>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02</a:t>
            </a:r>
          </a:p>
        </p:txBody>
      </p:sp>
      <p:sp>
        <p:nvSpPr>
          <p:cNvPr id="42" name="TextBox 41"/>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3" name="TextBox 42"/>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Profiling va benchmarking usullari</a:t>
            </a:r>
          </a:p>
        </p:txBody>
      </p:sp>
      <p:sp>
        <p:nvSpPr>
          <p:cNvPr id="44" name="Rectangle 43"/>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150"/>
                            </p:stCondLst>
                            <p:childTnLst>
                              <p:par>
                                <p:cTn id="144" presetID="53" presetClass="entr" presetSubtype="16"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anim calcmode="lin" valueType="num">
                                      <p:cBhvr additive="base">
                                        <p:cTn id="147" dur="550" fill="hold"/>
                                        <p:tgtEl>
                                          <p:spTgt spid="38"/>
                                        </p:tgtEl>
                                        <p:attrNameLst>
                                          <p:attrName>ppt_w</p:attrName>
                                        </p:attrNameLst>
                                      </p:cBhvr>
                                      <p:tavLst>
                                        <p:tav tm="0">
                                          <p:val>
                                            <p:strVal val="0"/>
                                          </p:val>
                                        </p:tav>
                                        <p:tav tm="100000">
                                          <p:val>
                                            <p:strVal val="#ppt_w"/>
                                          </p:val>
                                        </p:tav>
                                      </p:tavLst>
                                    </p:anim>
                                    <p:anim calcmode="lin" valueType="num">
                                      <p:cBhvr additive="base">
                                        <p:cTn id="148" dur="550" fill="hold"/>
                                        <p:tgtEl>
                                          <p:spTgt spid="38"/>
                                        </p:tgtEl>
                                        <p:attrNameLst>
                                          <p:attrName>ppt_h</p:attrName>
                                        </p:attrNameLst>
                                      </p:cBhvr>
                                      <p:tavLst>
                                        <p:tav tm="0">
                                          <p:val>
                                            <p:strVal val="0"/>
                                          </p:val>
                                        </p:tav>
                                        <p:tav tm="100000">
                                          <p:val>
                                            <p:strVal val="#ppt_h"/>
                                          </p:val>
                                        </p:tav>
                                      </p:tavLst>
                                    </p:anim>
                                  </p:childTnLst>
                                </p:cTn>
                              </p:par>
                            </p:childTnLst>
                          </p:cTn>
                        </p:par>
                        <p:par>
                          <p:cTn id="149" fill="hold">
                            <p:stCondLst>
                              <p:cond delay="150"/>
                            </p:stCondLst>
                            <p:childTnLst>
                              <p:par>
                                <p:cTn id="150" presetID="53" presetClass="entr" presetSubtype="16" fill="hold" grpId="0" nodeType="afterEffect">
                                  <p:stCondLst>
                                    <p:cond delay="0"/>
                                  </p:stCondLst>
                                  <p:childTnLst>
                                    <p:set>
                                      <p:cBhvr>
                                        <p:cTn id="151" dur="1" fill="hold">
                                          <p:stCondLst>
                                            <p:cond delay="0"/>
                                          </p:stCondLst>
                                        </p:cTn>
                                        <p:tgtEl>
                                          <p:spTgt spid="39"/>
                                        </p:tgtEl>
                                        <p:attrNameLst>
                                          <p:attrName>style.visibility</p:attrName>
                                        </p:attrNameLst>
                                      </p:cBhvr>
                                      <p:to>
                                        <p:strVal val="visible"/>
                                      </p:to>
                                    </p:set>
                                    <p:animEffect transition="in" filter="fade">
                                      <p:cBhvr>
                                        <p:cTn id="152" dur="550"/>
                                        <p:tgtEl>
                                          <p:spTgt spid="39"/>
                                        </p:tgtEl>
                                      </p:cBhvr>
                                    </p:animEffect>
                                    <p:anim calcmode="lin" valueType="num">
                                      <p:cBhvr additive="base">
                                        <p:cTn id="153" dur="550" fill="hold"/>
                                        <p:tgtEl>
                                          <p:spTgt spid="39"/>
                                        </p:tgtEl>
                                        <p:attrNameLst>
                                          <p:attrName>ppt_w</p:attrName>
                                        </p:attrNameLst>
                                      </p:cBhvr>
                                      <p:tavLst>
                                        <p:tav tm="0">
                                          <p:val>
                                            <p:strVal val="0"/>
                                          </p:val>
                                        </p:tav>
                                        <p:tav tm="100000">
                                          <p:val>
                                            <p:strVal val="#ppt_w"/>
                                          </p:val>
                                        </p:tav>
                                      </p:tavLst>
                                    </p:anim>
                                    <p:anim calcmode="lin" valueType="num">
                                      <p:cBhvr additive="base">
                                        <p:cTn id="154" dur="550" fill="hold"/>
                                        <p:tgtEl>
                                          <p:spTgt spid="39"/>
                                        </p:tgtEl>
                                        <p:attrNameLst>
                                          <p:attrName>ppt_h</p:attrName>
                                        </p:attrNameLst>
                                      </p:cBhvr>
                                      <p:tavLst>
                                        <p:tav tm="0">
                                          <p:val>
                                            <p:strVal val="0"/>
                                          </p:val>
                                        </p:tav>
                                        <p:tav tm="100000">
                                          <p:val>
                                            <p:strVal val="#ppt_h"/>
                                          </p:val>
                                        </p:tav>
                                      </p:tavLst>
                                    </p:anim>
                                  </p:childTnLst>
                                </p:cTn>
                              </p:par>
                            </p:childTnLst>
                          </p:cTn>
                        </p:par>
                        <p:par>
                          <p:cTn id="155" fill="hold">
                            <p:stCondLst>
                              <p:cond delay="150"/>
                            </p:stCondLst>
                            <p:childTnLst>
                              <p:par>
                                <p:cTn id="156" presetID="10" presetClass="entr" presetSubtype="0" fill="hold" grpId="0" nodeType="after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fade">
                                      <p:cBhvr>
                                        <p:cTn id="158" dur="550"/>
                                        <p:tgtEl>
                                          <p:spTgt spid="40"/>
                                        </p:tgtEl>
                                      </p:cBhvr>
                                    </p:animEffect>
                                  </p:childTnLst>
                                </p:cTn>
                              </p:par>
                            </p:childTnLst>
                          </p:cTn>
                        </p:par>
                        <p:par>
                          <p:cTn id="159" fill="hold">
                            <p:stCondLst>
                              <p:cond delay="350"/>
                            </p:stCondLst>
                            <p:childTnLst>
                              <p:par>
                                <p:cTn id="160" presetID="53" presetClass="entr" presetSubtype="16"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anim calcmode="lin" valueType="num">
                                      <p:cBhvr additive="base">
                                        <p:cTn id="163" dur="550" fill="hold"/>
                                        <p:tgtEl>
                                          <p:spTgt spid="41"/>
                                        </p:tgtEl>
                                        <p:attrNameLst>
                                          <p:attrName>ppt_w</p:attrName>
                                        </p:attrNameLst>
                                      </p:cBhvr>
                                      <p:tavLst>
                                        <p:tav tm="0">
                                          <p:val>
                                            <p:strVal val="0"/>
                                          </p:val>
                                        </p:tav>
                                        <p:tav tm="100000">
                                          <p:val>
                                            <p:strVal val="#ppt_w"/>
                                          </p:val>
                                        </p:tav>
                                      </p:tavLst>
                                    </p:anim>
                                    <p:anim calcmode="lin" valueType="num">
                                      <p:cBhvr additive="base">
                                        <p:cTn id="164" dur="550" fill="hold"/>
                                        <p:tgtEl>
                                          <p:spTgt spid="41"/>
                                        </p:tgtEl>
                                        <p:attrNameLst>
                                          <p:attrName>ppt_h</p:attrName>
                                        </p:attrNameLst>
                                      </p:cBhvr>
                                      <p:tavLst>
                                        <p:tav tm="0">
                                          <p:val>
                                            <p:strVal val="0"/>
                                          </p:val>
                                        </p:tav>
                                        <p:tav tm="100000">
                                          <p:val>
                                            <p:strVal val="#ppt_h"/>
                                          </p:val>
                                        </p:tav>
                                      </p:tavLst>
                                    </p:anim>
                                  </p:childTnLst>
                                </p:cTn>
                              </p:par>
                            </p:childTnLst>
                          </p:cTn>
                        </p:par>
                        <p:par>
                          <p:cTn id="165" fill="hold">
                            <p:stCondLst>
                              <p:cond delay="450"/>
                            </p:stCondLst>
                            <p:childTnLst>
                              <p:par>
                                <p:cTn id="166" presetID="10" presetClass="entr" presetSubtype="0" fill="hold" grpId="0" nodeType="afterEffect">
                                  <p:stCondLst>
                                    <p:cond delay="0"/>
                                  </p:stCondLst>
                                  <p:childTnLst>
                                    <p:set>
                                      <p:cBhvr>
                                        <p:cTn id="167" dur="1" fill="hold">
                                          <p:stCondLst>
                                            <p:cond delay="0"/>
                                          </p:stCondLst>
                                        </p:cTn>
                                        <p:tgtEl>
                                          <p:spTgt spid="42"/>
                                        </p:tgtEl>
                                        <p:attrNameLst>
                                          <p:attrName>style.visibility</p:attrName>
                                        </p:attrNameLst>
                                      </p:cBhvr>
                                      <p:to>
                                        <p:strVal val="visible"/>
                                      </p:to>
                                    </p:set>
                                    <p:animEffect transition="in" filter="fade">
                                      <p:cBhvr>
                                        <p:cTn id="168" dur="550"/>
                                        <p:tgtEl>
                                          <p:spTgt spid="42"/>
                                        </p:tgtEl>
                                      </p:cBhvr>
                                    </p:animEffect>
                                  </p:childTnLst>
                                </p:cTn>
                              </p:par>
                            </p:childTnLst>
                          </p:cTn>
                        </p:par>
                        <p:par>
                          <p:cTn id="169" fill="hold">
                            <p:stCondLst>
                              <p:cond delay="550"/>
                            </p:stCondLst>
                            <p:childTnLst>
                              <p:par>
                                <p:cTn id="170" presetID="2" presetClass="entr" presetSubtype="8"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3" dur="550" fill="hold"/>
                                        <p:tgtEl>
                                          <p:spTgt spid="43"/>
                                        </p:tgtEl>
                                        <p:attrNameLst>
                                          <p:attrName>ppt_x</p:attrName>
                                        </p:attrNameLst>
                                      </p:cBhvr>
                                      <p:tavLst>
                                        <p:tav tm="0">
                                          <p:val>
                                            <p:strVal val="0-#ppt_w/2"/>
                                          </p:val>
                                        </p:tav>
                                        <p:tav tm="100000">
                                          <p:val>
                                            <p:strVal val="#ppt_x"/>
                                          </p:val>
                                        </p:tav>
                                      </p:tavLst>
                                    </p:anim>
                                    <p:anim calcmode="lin" valueType="num">
                                      <p:cBhvr additive="base">
                                        <p:cTn id="174" dur="550" fill="hold"/>
                                        <p:tgtEl>
                                          <p:spTgt spid="43"/>
                                        </p:tgtEl>
                                        <p:attrNameLst>
                                          <p:attrName>ppt_y</p:attrName>
                                        </p:attrNameLst>
                                      </p:cBhvr>
                                      <p:tavLst>
                                        <p:tav tm="0">
                                          <p:val>
                                            <p:strVal val="#ppt_y"/>
                                          </p:val>
                                        </p:tav>
                                        <p:tav tm="100000">
                                          <p:val>
                                            <p:strVal val="#ppt_y"/>
                                          </p:val>
                                        </p:tav>
                                      </p:tavLst>
                                    </p:anim>
                                  </p:childTnLst>
                                </p:cTn>
                              </p:par>
                            </p:childTnLst>
                          </p:cTn>
                        </p:par>
                        <p:par>
                          <p:cTn id="175" fill="hold">
                            <p:stCondLst>
                              <p:cond delay="650"/>
                            </p:stCondLst>
                            <p:childTnLst>
                              <p:par>
                                <p:cTn id="176" presetID="22" presetClass="entr" presetSubtype="8" fill="hold" grpId="0" nodeType="afterEffect">
                                  <p:stCondLst>
                                    <p:cond delay="0"/>
                                  </p:stCondLst>
                                  <p:childTnLst>
                                    <p:set>
                                      <p:cBhvr>
                                        <p:cTn id="177" dur="1" fill="hold">
                                          <p:stCondLst>
                                            <p:cond delay="0"/>
                                          </p:stCondLst>
                                        </p:cTn>
                                        <p:tgtEl>
                                          <p:spTgt spid="44"/>
                                        </p:tgtEl>
                                        <p:attrNameLst>
                                          <p:attrName>style.visibility</p:attrName>
                                        </p:attrNameLst>
                                      </p:cBhvr>
                                      <p:to>
                                        <p:strVal val="visible"/>
                                      </p:to>
                                    </p:set>
                                    <p:animEffect transition="in" filter="wipe(left)">
                                      <p:cBhvr>
                                        <p:cTn id="179"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Profiling va benchmarking usullari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8</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Benchmarking — standart ish yukini nazorat qilingan sharoitda o'lchash; profiling — bajarilish davomida vaqt va resurslarning qayerga sarflanganini tahlil qilish.</a:t>
            </a:r>
          </a:p>
          <a:p>
            <a:pPr>
              <a:spcBef>
                <a:spcPts val="400"/>
              </a:spcBef>
            </a:pPr>
            <a:r>
              <a:rPr sz="1400">
                <a:solidFill>
                  <a:srgbClr val="AEBBD9"/>
                </a:solidFill>
                <a:latin typeface="Segoe UI"/>
              </a:rPr>
              <a:t>Ikkalasi ham metodologiyaga bog'liq.</a:t>
            </a:r>
          </a:p>
        </p:txBody>
      </p:sp>
      <p:sp>
        <p:nvSpPr>
          <p:cNvPr id="32" name="Rounded Rectangle 31"/>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5" name="TextBox 34"/>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Sanoat standarti — MLCommons tashkilotining MLPerf benchmark to'plami.</a:t>
            </a:r>
          </a:p>
          <a:p>
            <a:pPr>
              <a:spcBef>
                <a:spcPts val="400"/>
              </a:spcBef>
            </a:pPr>
            <a:r>
              <a:rPr sz="1400">
                <a:solidFill>
                  <a:srgbClr val="AEBBD9"/>
                </a:solidFill>
                <a:latin typeface="Segoe UI"/>
              </a:rPr>
              <a:t>MLPerf Training LLM, tasvir tasniflash, obyekt aniqlash kabi vazifalar uchun belgilangan sifatga yetish vaqtini o'lchaydi; MLPerf Inference esa to'rt ssenariyda ishlaydi: bitta oqim (single stream — kechikish), ko'p oqim (multi stream), server (Puasson taqsimotli so'rovlar, kechikish chegarasi bilan) va oflayn (maksimal throughput).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Profiling va benchmarking usullari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9</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8bb7a9dd855efa2.jpg"/>
          <p:cNvPicPr>
            <a:picLocks noChangeAspect="1"/>
          </p:cNvPicPr>
          <p:nvPr/>
        </p:nvPicPr>
        <p:blipFill>
          <a:blip r:embed="rId2"/>
          <a:srcRect l="15158" r="15158"/>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Daderot · Wikimedia Commons · CC0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900328"/>
            <a:ext cx="50000" cy="177934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2860328"/>
            <a:ext cx="5900000" cy="1859344"/>
          </a:xfrm>
          <a:prstGeom prst="rect">
            <a:avLst/>
          </a:prstGeom>
          <a:noFill/>
        </p:spPr>
        <p:txBody>
          <a:bodyPr wrap="square" anchor="ctr">
            <a:spAutoFit/>
          </a:bodyPr>
          <a:lstStyle/>
          <a:p>
            <a:r>
              <a:rPr sz="1700" b="1">
                <a:solidFill>
                  <a:srgbClr val="E8EEFA"/>
                </a:solidFill>
                <a:latin typeface="Segoe UI"/>
              </a:rPr>
              <a:t>Profiling vositalari bir necha darajada ishlaydi.</a:t>
            </a:r>
          </a:p>
          <a:p>
            <a:pPr>
              <a:spcBef>
                <a:spcPts val="400"/>
              </a:spcBef>
            </a:pPr>
            <a:r>
              <a:rPr sz="1600">
                <a:solidFill>
                  <a:srgbClr val="AEBBD9"/>
                </a:solidFill>
                <a:latin typeface="Segoe UI"/>
              </a:rPr>
              <a:t>PyTorch Profiler (torch.profiler) freymvork darajasida: har bir operator uchun CPU va CUDA vaqti, chaqiruvlar soni, xotira ajratish, hatto Python stekini yozadi va natijani TensorBoard yoki Chrome trace ko'rinishida beradi.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b4d30011df243dfc.jpg"/>
          <p:cNvPicPr>
            <a:picLocks noChangeAspect="1"/>
          </p:cNvPicPr>
          <p:nvPr/>
        </p:nvPicPr>
        <p:blipFill>
          <a:blip r:embed="rId2"/>
          <a:srcRect l="15401" r="15401"/>
          <a:stretch>
            <a:fillRect/>
          </a:stretch>
        </p:blipFill>
        <p:spPr>
          <a:xfrm>
            <a:off x="6300000" y="800000"/>
            <a:ext cx="5300000" cy="4950000"/>
          </a:xfrm>
          <a:prstGeom prst="roundRect">
            <a:avLst/>
          </a:prstGeom>
          <a:ln w="19050">
            <a:solidFill>
              <a:srgbClr val="22D3EE"/>
            </a:solidFill>
          </a:ln>
        </p:spPr>
      </p:pic>
      <p:sp>
        <p:nvSpPr>
          <p:cNvPr id="37" name="TextBox 36"/>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Giu.natale · Wikimedia Commons · CC BY-SA 4.0</a:t>
            </a:r>
          </a:p>
        </p:txBody>
      </p:sp>
      <p:sp>
        <p:nvSpPr>
          <p:cNvPr id="38" name="TextBox 37"/>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03</a:t>
            </a:r>
          </a:p>
        </p:txBody>
      </p:sp>
      <p:sp>
        <p:nvSpPr>
          <p:cNvPr id="39" name="TextBox 38"/>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0" name="TextBox 39"/>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Roofline modeli</a:t>
            </a:r>
          </a:p>
        </p:txBody>
      </p:sp>
      <p:sp>
        <p:nvSpPr>
          <p:cNvPr id="41" name="Rectangle 40"/>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6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150"/>
                            </p:stCondLst>
                            <p:childTnLst>
                              <p:par>
                                <p:cTn id="132" presetID="53" presetClass="entr" presetSubtype="16"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anim calcmode="lin" valueType="num">
                                      <p:cBhvr additive="base">
                                        <p:cTn id="135" dur="550" fill="hold"/>
                                        <p:tgtEl>
                                          <p:spTgt spid="35"/>
                                        </p:tgtEl>
                                        <p:attrNameLst>
                                          <p:attrName>ppt_w</p:attrName>
                                        </p:attrNameLst>
                                      </p:cBhvr>
                                      <p:tavLst>
                                        <p:tav tm="0">
                                          <p:val>
                                            <p:strVal val="0"/>
                                          </p:val>
                                        </p:tav>
                                        <p:tav tm="100000">
                                          <p:val>
                                            <p:strVal val="#ppt_w"/>
                                          </p:val>
                                        </p:tav>
                                      </p:tavLst>
                                    </p:anim>
                                    <p:anim calcmode="lin" valueType="num">
                                      <p:cBhvr additive="base">
                                        <p:cTn id="136" dur="550" fill="hold"/>
                                        <p:tgtEl>
                                          <p:spTgt spid="35"/>
                                        </p:tgtEl>
                                        <p:attrNameLst>
                                          <p:attrName>ppt_h</p:attrName>
                                        </p:attrNameLst>
                                      </p:cBhvr>
                                      <p:tavLst>
                                        <p:tav tm="0">
                                          <p:val>
                                            <p:strVal val="0"/>
                                          </p:val>
                                        </p:tav>
                                        <p:tav tm="100000">
                                          <p:val>
                                            <p:strVal val="#ppt_h"/>
                                          </p:val>
                                        </p:tav>
                                      </p:tavLst>
                                    </p:anim>
                                  </p:childTnLst>
                                </p:cTn>
                              </p:par>
                            </p:childTnLst>
                          </p:cTn>
                        </p:par>
                        <p:par>
                          <p:cTn id="137" fill="hold">
                            <p:stCondLst>
                              <p:cond delay="150"/>
                            </p:stCondLst>
                            <p:childTnLst>
                              <p:par>
                                <p:cTn id="138" presetID="53" presetClass="entr" presetSubtype="16" fill="hold" grpId="0" nodeType="afterEffect">
                                  <p:stCondLst>
                                    <p:cond delay="0"/>
                                  </p:stCondLst>
                                  <p:childTnLst>
                                    <p:set>
                                      <p:cBhvr>
                                        <p:cTn id="139" dur="1" fill="hold">
                                          <p:stCondLst>
                                            <p:cond delay="0"/>
                                          </p:stCondLst>
                                        </p:cTn>
                                        <p:tgtEl>
                                          <p:spTgt spid="36"/>
                                        </p:tgtEl>
                                        <p:attrNameLst>
                                          <p:attrName>style.visibility</p:attrName>
                                        </p:attrNameLst>
                                      </p:cBhvr>
                                      <p:to>
                                        <p:strVal val="visible"/>
                                      </p:to>
                                    </p:set>
                                    <p:animEffect transition="in" filter="fade">
                                      <p:cBhvr>
                                        <p:cTn id="140" dur="550"/>
                                        <p:tgtEl>
                                          <p:spTgt spid="36"/>
                                        </p:tgtEl>
                                      </p:cBhvr>
                                    </p:animEffect>
                                    <p:anim calcmode="lin" valueType="num">
                                      <p:cBhvr additive="base">
                                        <p:cTn id="141" dur="550" fill="hold"/>
                                        <p:tgtEl>
                                          <p:spTgt spid="36"/>
                                        </p:tgtEl>
                                        <p:attrNameLst>
                                          <p:attrName>ppt_w</p:attrName>
                                        </p:attrNameLst>
                                      </p:cBhvr>
                                      <p:tavLst>
                                        <p:tav tm="0">
                                          <p:val>
                                            <p:strVal val="0"/>
                                          </p:val>
                                        </p:tav>
                                        <p:tav tm="100000">
                                          <p:val>
                                            <p:strVal val="#ppt_w"/>
                                          </p:val>
                                        </p:tav>
                                      </p:tavLst>
                                    </p:anim>
                                    <p:anim calcmode="lin" valueType="num">
                                      <p:cBhvr additive="base">
                                        <p:cTn id="142" dur="550" fill="hold"/>
                                        <p:tgtEl>
                                          <p:spTgt spid="36"/>
                                        </p:tgtEl>
                                        <p:attrNameLst>
                                          <p:attrName>ppt_h</p:attrName>
                                        </p:attrNameLst>
                                      </p:cBhvr>
                                      <p:tavLst>
                                        <p:tav tm="0">
                                          <p:val>
                                            <p:strVal val="0"/>
                                          </p:val>
                                        </p:tav>
                                        <p:tav tm="100000">
                                          <p:val>
                                            <p:strVal val="#ppt_h"/>
                                          </p:val>
                                        </p:tav>
                                      </p:tavLst>
                                    </p:anim>
                                  </p:childTnLst>
                                </p:cTn>
                              </p:par>
                            </p:childTnLst>
                          </p:cTn>
                        </p:par>
                        <p:par>
                          <p:cTn id="143" fill="hold">
                            <p:stCondLst>
                              <p:cond delay="150"/>
                            </p:stCondLst>
                            <p:childTnLst>
                              <p:par>
                                <p:cTn id="144" presetID="10" presetClass="entr" presetSubtype="0" fill="hold" grpId="0" nodeType="after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childTnLst>
                                </p:cTn>
                              </p:par>
                            </p:childTnLst>
                          </p:cTn>
                        </p:par>
                        <p:par>
                          <p:cTn id="147" fill="hold">
                            <p:stCondLst>
                              <p:cond delay="350"/>
                            </p:stCondLst>
                            <p:childTnLst>
                              <p:par>
                                <p:cTn id="148" presetID="53" presetClass="entr" presetSubtype="16" fill="hold" grpId="0" nodeType="after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550"/>
                                        <p:tgtEl>
                                          <p:spTgt spid="38"/>
                                        </p:tgtEl>
                                      </p:cBhvr>
                                    </p:animEffect>
                                    <p:anim calcmode="lin" valueType="num">
                                      <p:cBhvr additive="base">
                                        <p:cTn id="151" dur="550" fill="hold"/>
                                        <p:tgtEl>
                                          <p:spTgt spid="38"/>
                                        </p:tgtEl>
                                        <p:attrNameLst>
                                          <p:attrName>ppt_w</p:attrName>
                                        </p:attrNameLst>
                                      </p:cBhvr>
                                      <p:tavLst>
                                        <p:tav tm="0">
                                          <p:val>
                                            <p:strVal val="0"/>
                                          </p:val>
                                        </p:tav>
                                        <p:tav tm="100000">
                                          <p:val>
                                            <p:strVal val="#ppt_w"/>
                                          </p:val>
                                        </p:tav>
                                      </p:tavLst>
                                    </p:anim>
                                    <p:anim calcmode="lin" valueType="num">
                                      <p:cBhvr additive="base">
                                        <p:cTn id="152" dur="550" fill="hold"/>
                                        <p:tgtEl>
                                          <p:spTgt spid="38"/>
                                        </p:tgtEl>
                                        <p:attrNameLst>
                                          <p:attrName>ppt_h</p:attrName>
                                        </p:attrNameLst>
                                      </p:cBhvr>
                                      <p:tavLst>
                                        <p:tav tm="0">
                                          <p:val>
                                            <p:strVal val="0"/>
                                          </p:val>
                                        </p:tav>
                                        <p:tav tm="100000">
                                          <p:val>
                                            <p:strVal val="#ppt_h"/>
                                          </p:val>
                                        </p:tav>
                                      </p:tavLst>
                                    </p:anim>
                                  </p:childTnLst>
                                </p:cTn>
                              </p:par>
                            </p:childTnLst>
                          </p:cTn>
                        </p:par>
                        <p:par>
                          <p:cTn id="153" fill="hold">
                            <p:stCondLst>
                              <p:cond delay="450"/>
                            </p:stCondLst>
                            <p:childTnLst>
                              <p:par>
                                <p:cTn id="154" presetID="10" presetClass="entr" presetSubtype="0" fill="hold" grpId="0" nodeType="afterEffect">
                                  <p:stCondLst>
                                    <p:cond delay="0"/>
                                  </p:stCondLst>
                                  <p:childTnLst>
                                    <p:set>
                                      <p:cBhvr>
                                        <p:cTn id="155" dur="1" fill="hold">
                                          <p:stCondLst>
                                            <p:cond delay="0"/>
                                          </p:stCondLst>
                                        </p:cTn>
                                        <p:tgtEl>
                                          <p:spTgt spid="39"/>
                                        </p:tgtEl>
                                        <p:attrNameLst>
                                          <p:attrName>style.visibility</p:attrName>
                                        </p:attrNameLst>
                                      </p:cBhvr>
                                      <p:to>
                                        <p:strVal val="visible"/>
                                      </p:to>
                                    </p:set>
                                    <p:animEffect transition="in" filter="fade">
                                      <p:cBhvr>
                                        <p:cTn id="156" dur="550"/>
                                        <p:tgtEl>
                                          <p:spTgt spid="39"/>
                                        </p:tgtEl>
                                      </p:cBhvr>
                                    </p:animEffect>
                                  </p:childTnLst>
                                </p:cTn>
                              </p:par>
                            </p:childTnLst>
                          </p:cTn>
                        </p:par>
                        <p:par>
                          <p:cTn id="157" fill="hold">
                            <p:stCondLst>
                              <p:cond delay="550"/>
                            </p:stCondLst>
                            <p:childTnLst>
                              <p:par>
                                <p:cTn id="158" presetID="2" presetClass="entr" presetSubtype="8" fill="hold" grpId="0" nodeType="afterEffect">
                                  <p:stCondLst>
                                    <p:cond delay="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1" dur="550" fill="hold"/>
                                        <p:tgtEl>
                                          <p:spTgt spid="40"/>
                                        </p:tgtEl>
                                        <p:attrNameLst>
                                          <p:attrName>ppt_x</p:attrName>
                                        </p:attrNameLst>
                                      </p:cBhvr>
                                      <p:tavLst>
                                        <p:tav tm="0">
                                          <p:val>
                                            <p:strVal val="0-#ppt_w/2"/>
                                          </p:val>
                                        </p:tav>
                                        <p:tav tm="100000">
                                          <p:val>
                                            <p:strVal val="#ppt_x"/>
                                          </p:val>
                                        </p:tav>
                                      </p:tavLst>
                                    </p:anim>
                                    <p:anim calcmode="lin" valueType="num">
                                      <p:cBhvr additive="base">
                                        <p:cTn id="162" dur="550" fill="hold"/>
                                        <p:tgtEl>
                                          <p:spTgt spid="40"/>
                                        </p:tgtEl>
                                        <p:attrNameLst>
                                          <p:attrName>ppt_y</p:attrName>
                                        </p:attrNameLst>
                                      </p:cBhvr>
                                      <p:tavLst>
                                        <p:tav tm="0">
                                          <p:val>
                                            <p:strVal val="#ppt_y"/>
                                          </p:val>
                                        </p:tav>
                                        <p:tav tm="100000">
                                          <p:val>
                                            <p:strVal val="#ppt_y"/>
                                          </p:val>
                                        </p:tav>
                                      </p:tavLst>
                                    </p:anim>
                                  </p:childTnLst>
                                </p:cTn>
                              </p:par>
                            </p:childTnLst>
                          </p:cTn>
                        </p:par>
                        <p:par>
                          <p:cTn id="163" fill="hold">
                            <p:stCondLst>
                              <p:cond delay="650"/>
                            </p:stCondLst>
                            <p:childTnLst>
                              <p:par>
                                <p:cTn id="164" presetID="22" presetClass="entr" presetSubtype="8" fill="hold" grpId="0" nodeType="afterEffect">
                                  <p:stCondLst>
                                    <p:cond delay="0"/>
                                  </p:stCondLst>
                                  <p:childTnLst>
                                    <p:set>
                                      <p:cBhvr>
                                        <p:cTn id="165" dur="1" fill="hold">
                                          <p:stCondLst>
                                            <p:cond delay="0"/>
                                          </p:stCondLst>
                                        </p:cTn>
                                        <p:tgtEl>
                                          <p:spTgt spid="41"/>
                                        </p:tgtEl>
                                        <p:attrNameLst>
                                          <p:attrName>style.visibility</p:attrName>
                                        </p:attrNameLst>
                                      </p:cBhvr>
                                      <p:to>
                                        <p:strVal val="visible"/>
                                      </p:to>
                                    </p:set>
                                    <p:animEffect transition="in" filter="wipe(left)">
                                      <p:cBhvr>
                                        <p:cTn id="167" dur="8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Roofline modeli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11</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4d95181a78a19bae.jpg"/>
          <p:cNvPicPr>
            <a:picLocks noChangeAspect="1"/>
          </p:cNvPicPr>
          <p:nvPr/>
        </p:nvPicPr>
        <p:blipFill>
          <a:blip r:embed="rId2"/>
          <a:srcRect t="10648" b="10648"/>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中少 · Wikimedia Commons · CC BY-SA 4.0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879476"/>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1959476"/>
            <a:ext cx="50000" cy="16955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607238"/>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1919476"/>
            <a:ext cx="5900000" cy="1775524"/>
          </a:xfrm>
          <a:prstGeom prst="rect">
            <a:avLst/>
          </a:prstGeom>
          <a:noFill/>
        </p:spPr>
        <p:txBody>
          <a:bodyPr wrap="square" anchor="ctr">
            <a:spAutoFit/>
          </a:bodyPr>
          <a:lstStyle/>
          <a:p>
            <a:r>
              <a:rPr sz="1400" b="1">
                <a:solidFill>
                  <a:srgbClr val="E8EEFA"/>
                </a:solidFill>
                <a:latin typeface="Segoe UI"/>
              </a:rPr>
              <a:t>Roofline modeli (Williams, Waterman, Patterson, 2009) ish yukining erishishi mumkin bo'lgan unumdorligini ikki apparat parametri bilan bog'laydi: cho'qqi hisoblash tezligi P_peak (FLOP/s) va cho'qqi xotira o'tkazuvchanligi B_peak (bayt/s).</a:t>
            </a:r>
          </a:p>
          <a:p>
            <a:pPr>
              <a:spcBef>
                <a:spcPts val="400"/>
              </a:spcBef>
            </a:pPr>
            <a:r>
              <a:rPr sz="1300">
                <a:solidFill>
                  <a:srgbClr val="AEBBD9"/>
                </a:solidFill>
                <a:latin typeface="Segoe UI"/>
              </a:rPr>
              <a:t>Ish yukining xususiyati — arifmetik intensivlik (arithmetic intensity) I = FLOP soni / xotiradan o'qilgan va yozilgan baytlar soni (FLOP/bayt).</a:t>
            </a:r>
          </a:p>
        </p:txBody>
      </p:sp>
      <p:sp>
        <p:nvSpPr>
          <p:cNvPr id="33" name="Rounded Rectangle 32"/>
          <p:cNvSpPr/>
          <p:nvPr/>
        </p:nvSpPr>
        <p:spPr>
          <a:xfrm>
            <a:off x="550000" y="3845000"/>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69552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572762"/>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6" name="TextBox 35"/>
          <p:cNvSpPr txBox="1"/>
          <p:nvPr/>
        </p:nvSpPr>
        <p:spPr>
          <a:xfrm>
            <a:off x="1300000" y="3885000"/>
            <a:ext cx="5900000" cy="1775524"/>
          </a:xfrm>
          <a:prstGeom prst="rect">
            <a:avLst/>
          </a:prstGeom>
          <a:noFill/>
        </p:spPr>
        <p:txBody>
          <a:bodyPr wrap="square" anchor="ctr">
            <a:spAutoFit/>
          </a:bodyPr>
          <a:lstStyle/>
          <a:p>
            <a:r>
              <a:rPr sz="1400" b="1">
                <a:solidFill>
                  <a:srgbClr val="E8EEFA"/>
                </a:solidFill>
                <a:latin typeface="Segoe UI"/>
              </a:rPr>
              <a:t>Zamonaviy tezlatkichlar uchun tizma nuqtasi hisoblab chiqamiz.</a:t>
            </a:r>
          </a:p>
          <a:p>
            <a:pPr>
              <a:spcBef>
                <a:spcPts val="400"/>
              </a:spcBef>
            </a:pPr>
            <a:r>
              <a:rPr sz="1300">
                <a:solidFill>
                  <a:srgbClr val="AEBBD9"/>
                </a:solidFill>
                <a:latin typeface="Segoe UI"/>
              </a:rPr>
              <a:t>A100 SXM 80 GB: FP16 tensor 312 TFLOPS, HBM2e 2039 GB/s → I ≈ 153 FLOP/bayt; FP32 (tensor yadrolarsiz) 19,5 TFLOPS → I ≈ 9,6. H100 SXM: FP16 989 TFLOPS, HBM3 3350 GB/s → I ≈ 295. NVIDIA T4: FP16 65 TFLOPS, GDDR6 320 GB/s → I ≈ 203. Jetson Orin AGX 64 GB: INT8 zich ~ 138 TOPS, LPDDR5 204,8 GB/s → I ≈ 670.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Roofline modeli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12</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35f8d73a104866af.jpg"/>
          <p:cNvPicPr>
            <a:picLocks noChangeAspect="1"/>
          </p:cNvPicPr>
          <p:nvPr/>
        </p:nvPicPr>
        <p:blipFill>
          <a:blip r:embed="rId2"/>
          <a:srcRect t="9387" b="9387"/>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Matthias Zronek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842128"/>
            <a:ext cx="50000" cy="18128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548564"/>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Endi tipik yadrolarning intensivligini baholaymiz.</a:t>
            </a:r>
          </a:p>
          <a:p>
            <a:pPr>
              <a:spcBef>
                <a:spcPts val="400"/>
              </a:spcBef>
            </a:pPr>
            <a:r>
              <a:rPr sz="1400">
                <a:solidFill>
                  <a:srgbClr val="AEBBD9"/>
                </a:solidFill>
                <a:latin typeface="Segoe UI"/>
              </a:rPr>
              <a:t>M×K va K×N matritsalarni ko'paytirish 2MNK FLOP talab qiladi va FP16'da kamida 2(MK + KN + MN) bayt o'qiydi-yozadi. Kvadrat n×n holatda I = 2n³ / 6n² = n/3: n = 1024 da I ≈ 341, n = 4096 da I ≈ 1365 — A100'da aniq compute-bound.</a:t>
            </a:r>
          </a:p>
        </p:txBody>
      </p:sp>
      <p:sp>
        <p:nvSpPr>
          <p:cNvPr id="32" name="Rounded Rectangle 31"/>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81287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631436"/>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5" name="TextBox 34"/>
          <p:cNvSpPr txBox="1"/>
          <p:nvPr/>
        </p:nvSpPr>
        <p:spPr>
          <a:xfrm>
            <a:off x="1300000" y="3885000"/>
            <a:ext cx="5900000" cy="1892872"/>
          </a:xfrm>
          <a:prstGeom prst="rect">
            <a:avLst/>
          </a:prstGeom>
          <a:noFill/>
        </p:spPr>
        <p:txBody>
          <a:bodyPr wrap="square" anchor="ctr">
            <a:spAutoFit/>
          </a:bodyPr>
          <a:lstStyle/>
          <a:p>
            <a:r>
              <a:rPr sz="1500" b="1">
                <a:solidFill>
                  <a:srgbClr val="E8EEFA"/>
                </a:solidFill>
                <a:latin typeface="Segoe UI"/>
              </a:rPr>
              <a:t>Roofline ikki muhim kengaytmaga ega.</a:t>
            </a:r>
          </a:p>
          <a:p>
            <a:pPr>
              <a:spcBef>
                <a:spcPts val="400"/>
              </a:spcBef>
            </a:pPr>
            <a:r>
              <a:rPr sz="1400">
                <a:solidFill>
                  <a:srgbClr val="AEBBD9"/>
                </a:solidFill>
                <a:latin typeface="Segoe UI"/>
              </a:rPr>
              <a:t>Birinchisi — iyerarxik Roofline: har bir xotira darajasi (L1, L2, HBM, NVLink, PCIe) uchun alohida tom chiziladi va intensivlik shu daraja uchun hisoblanadi; bu kesh samaradorligini ko'rsatadi. Ikkinchisi — ko'p «shift» (ceiling): tensor yadrosiz FP32 tomi, FP16 tensor tomi, strukturaviy siyraklik tomi (A100'da 2:4 siyraklik bilan 624 TFLOPS).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Roofline modeli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13</a:t>
            </a:r>
          </a:p>
        </p:txBody>
      </p:sp>
      <p:graphicFrame>
        <p:nvGraphicFramePr>
          <p:cNvPr id="25" name="Table 24"/>
          <p:cNvGraphicFramePr>
            <a:graphicFrameLocks noGrp="1"/>
          </p:cNvGraphicFramePr>
          <p:nvPr/>
        </p:nvGraphicFramePr>
        <p:xfrm>
          <a:off x="550000" y="1400000"/>
          <a:ext cx="11100000" cy="312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400" b="1">
                          <a:solidFill>
                            <a:srgbClr val="22D3EE"/>
                          </a:solidFill>
                          <a:latin typeface="Segoe UI"/>
                        </a:rPr>
                        <a:t>Yadro</a:t>
                      </a:r>
                    </a:p>
                  </a:txBody>
                  <a:tcPr>
                    <a:solidFill>
                      <a:srgbClr val="1C2755"/>
                    </a:solidFill>
                  </a:tcPr>
                </a:tc>
                <a:tc>
                  <a:txBody>
                    <a:bodyPr/>
                    <a:lstStyle/>
                    <a:p>
                      <a:r>
                        <a:rPr sz="1400" b="1">
                          <a:solidFill>
                            <a:srgbClr val="22D3EE"/>
                          </a:solidFill>
                          <a:latin typeface="Segoe UI"/>
                        </a:rPr>
                        <a:t>Arifmetik intensivlik (FP16)</a:t>
                      </a:r>
                    </a:p>
                  </a:txBody>
                  <a:tcPr>
                    <a:solidFill>
                      <a:srgbClr val="1C2755"/>
                    </a:solidFill>
                  </a:tcPr>
                </a:tc>
                <a:tc>
                  <a:txBody>
                    <a:bodyPr/>
                    <a:lstStyle/>
                    <a:p>
                      <a:r>
                        <a:rPr sz="1400" b="1">
                          <a:solidFill>
                            <a:srgbClr val="22D3EE"/>
                          </a:solidFill>
                          <a:latin typeface="Segoe UI"/>
                        </a:rPr>
                        <a:t>A100 (I ≈ 153)</a:t>
                      </a:r>
                    </a:p>
                  </a:txBody>
                  <a:tcPr>
                    <a:solidFill>
                      <a:srgbClr val="1C2755"/>
                    </a:solidFill>
                  </a:tcPr>
                </a:tc>
                <a:tc>
                  <a:txBody>
                    <a:bodyPr/>
                    <a:lstStyle/>
                    <a:p>
                      <a:r>
                        <a:rPr sz="1400" b="1">
                          <a:solidFill>
                            <a:srgbClr val="22D3EE"/>
                          </a:solidFill>
                          <a:latin typeface="Segoe UI"/>
                        </a:rPr>
                        <a:t>Cheklov</a:t>
                      </a:r>
                    </a:p>
                  </a:txBody>
                  <a:tcPr>
                    <a:solidFill>
                      <a:srgbClr val="1C2755"/>
                    </a:solidFill>
                  </a:tcPr>
                </a:tc>
              </a:tr>
              <a:tr h="520000">
                <a:tc>
                  <a:txBody>
                    <a:bodyPr/>
                    <a:lstStyle/>
                    <a:p>
                      <a:r>
                        <a:rPr sz="1400" b="0">
                          <a:solidFill>
                            <a:srgbClr val="E8EEFA"/>
                          </a:solidFill>
                          <a:latin typeface="Segoe UI"/>
                        </a:rPr>
                        <a:t>GEMM 4096×4096×4096</a:t>
                      </a:r>
                    </a:p>
                  </a:txBody>
                  <a:tcPr>
                    <a:solidFill>
                      <a:srgbClr val="111834"/>
                    </a:solidFill>
                  </a:tcPr>
                </a:tc>
                <a:tc>
                  <a:txBody>
                    <a:bodyPr/>
                    <a:lstStyle/>
                    <a:p>
                      <a:r>
                        <a:rPr sz="1400" b="0">
                          <a:solidFill>
                            <a:srgbClr val="E8EEFA"/>
                          </a:solidFill>
                          <a:latin typeface="Segoe UI"/>
                        </a:rPr>
                        <a:t>≈ 1365</a:t>
                      </a:r>
                    </a:p>
                  </a:txBody>
                  <a:tcPr>
                    <a:solidFill>
                      <a:srgbClr val="111834"/>
                    </a:solidFill>
                  </a:tcPr>
                </a:tc>
                <a:tc>
                  <a:txBody>
                    <a:bodyPr/>
                    <a:lstStyle/>
                    <a:p>
                      <a:r>
                        <a:rPr sz="1400" b="0">
                          <a:solidFill>
                            <a:srgbClr val="E8EEFA"/>
                          </a:solidFill>
                          <a:latin typeface="Segoe UI"/>
                        </a:rPr>
                        <a:t>compute-bound</a:t>
                      </a:r>
                    </a:p>
                  </a:txBody>
                  <a:tcPr>
                    <a:solidFill>
                      <a:srgbClr val="111834"/>
                    </a:solidFill>
                  </a:tcPr>
                </a:tc>
                <a:tc>
                  <a:txBody>
                    <a:bodyPr/>
                    <a:lstStyle/>
                    <a:p>
                      <a:r>
                        <a:rPr sz="1400" b="0">
                          <a:solidFill>
                            <a:srgbClr val="E8EEFA"/>
                          </a:solidFill>
                          <a:latin typeface="Segoe UI"/>
                        </a:rPr>
                        <a:t>Tensor yadro samaradorligi</a:t>
                      </a:r>
                    </a:p>
                  </a:txBody>
                  <a:tcPr>
                    <a:solidFill>
                      <a:srgbClr val="111834"/>
                    </a:solidFill>
                  </a:tcPr>
                </a:tc>
              </a:tr>
              <a:tr h="520000">
                <a:tc>
                  <a:txBody>
                    <a:bodyPr/>
                    <a:lstStyle/>
                    <a:p>
                      <a:r>
                        <a:rPr sz="1400" b="0">
                          <a:solidFill>
                            <a:srgbClr val="E8EEFA"/>
                          </a:solidFill>
                          <a:latin typeface="Segoe UI"/>
                        </a:rPr>
                        <a:t>GEMM partiya 32, d = 4096</a:t>
                      </a:r>
                    </a:p>
                  </a:txBody>
                  <a:tcPr>
                    <a:solidFill>
                      <a:srgbClr val="161F40"/>
                    </a:solidFill>
                  </a:tcPr>
                </a:tc>
                <a:tc>
                  <a:txBody>
                    <a:bodyPr/>
                    <a:lstStyle/>
                    <a:p>
                      <a:r>
                        <a:rPr sz="1400" b="0">
                          <a:solidFill>
                            <a:srgbClr val="E8EEFA"/>
                          </a:solidFill>
                          <a:latin typeface="Segoe UI"/>
                        </a:rPr>
                        <a:t>≈ 32</a:t>
                      </a:r>
                    </a:p>
                  </a:txBody>
                  <a:tcPr>
                    <a:solidFill>
                      <a:srgbClr val="161F40"/>
                    </a:solidFill>
                  </a:tcPr>
                </a:tc>
                <a:tc>
                  <a:txBody>
                    <a:bodyPr/>
                    <a:lstStyle/>
                    <a:p>
                      <a:r>
                        <a:rPr sz="1400" b="0">
                          <a:solidFill>
                            <a:srgbClr val="E8EEFA"/>
                          </a:solidFill>
                          <a:latin typeface="Segoe UI"/>
                        </a:rPr>
                        <a:t>memory-bound</a:t>
                      </a:r>
                    </a:p>
                  </a:txBody>
                  <a:tcPr>
                    <a:solidFill>
                      <a:srgbClr val="161F40"/>
                    </a:solidFill>
                  </a:tcPr>
                </a:tc>
                <a:tc>
                  <a:txBody>
                    <a:bodyPr/>
                    <a:lstStyle/>
                    <a:p>
                      <a:r>
                        <a:rPr sz="1400" b="0">
                          <a:solidFill>
                            <a:srgbClr val="E8EEFA"/>
                          </a:solidFill>
                          <a:latin typeface="Segoe UI"/>
                        </a:rPr>
                        <a:t>Og'irlik o'qish</a:t>
                      </a:r>
                    </a:p>
                  </a:txBody>
                  <a:tcPr>
                    <a:solidFill>
                      <a:srgbClr val="161F40"/>
                    </a:solidFill>
                  </a:tcPr>
                </a:tc>
              </a:tr>
              <a:tr h="520000">
                <a:tc>
                  <a:txBody>
                    <a:bodyPr/>
                    <a:lstStyle/>
                    <a:p>
                      <a:r>
                        <a:rPr sz="1400" b="0">
                          <a:solidFill>
                            <a:srgbClr val="E8EEFA"/>
                          </a:solidFill>
                          <a:latin typeface="Segoe UI"/>
                        </a:rPr>
                        <a:t>GEMV (LLM decode, partiya 1)</a:t>
                      </a:r>
                    </a:p>
                  </a:txBody>
                  <a:tcPr>
                    <a:solidFill>
                      <a:srgbClr val="111834"/>
                    </a:solidFill>
                  </a:tcPr>
                </a:tc>
                <a:tc>
                  <a:txBody>
                    <a:bodyPr/>
                    <a:lstStyle/>
                    <a:p>
                      <a:r>
                        <a:rPr sz="1400" b="0">
                          <a:solidFill>
                            <a:srgbClr val="E8EEFA"/>
                          </a:solidFill>
                          <a:latin typeface="Segoe UI"/>
                        </a:rPr>
                        <a:t>≈ 1</a:t>
                      </a:r>
                    </a:p>
                  </a:txBody>
                  <a:tcPr>
                    <a:solidFill>
                      <a:srgbClr val="111834"/>
                    </a:solidFill>
                  </a:tcPr>
                </a:tc>
                <a:tc>
                  <a:txBody>
                    <a:bodyPr/>
                    <a:lstStyle/>
                    <a:p>
                      <a:r>
                        <a:rPr sz="1400" b="0">
                          <a:solidFill>
                            <a:srgbClr val="E8EEFA"/>
                          </a:solidFill>
                          <a:latin typeface="Segoe UI"/>
                        </a:rPr>
                        <a:t>memory-bound</a:t>
                      </a:r>
                    </a:p>
                  </a:txBody>
                  <a:tcPr>
                    <a:solidFill>
                      <a:srgbClr val="111834"/>
                    </a:solidFill>
                  </a:tcPr>
                </a:tc>
                <a:tc>
                  <a:txBody>
                    <a:bodyPr/>
                    <a:lstStyle/>
                    <a:p>
                      <a:r>
                        <a:rPr sz="1400" b="0">
                          <a:solidFill>
                            <a:srgbClr val="E8EEFA"/>
                          </a:solidFill>
                          <a:latin typeface="Segoe UI"/>
                        </a:rPr>
                        <a:t>HBM o'tkazuvchanligi</a:t>
                      </a:r>
                    </a:p>
                  </a:txBody>
                  <a:tcPr>
                    <a:solidFill>
                      <a:srgbClr val="111834"/>
                    </a:solidFill>
                  </a:tcPr>
                </a:tc>
              </a:tr>
              <a:tr h="520000">
                <a:tc>
                  <a:txBody>
                    <a:bodyPr/>
                    <a:lstStyle/>
                    <a:p>
                      <a:r>
                        <a:rPr sz="1400" b="0">
                          <a:solidFill>
                            <a:srgbClr val="E8EEFA"/>
                          </a:solidFill>
                          <a:latin typeface="Segoe UI"/>
                        </a:rPr>
                        <a:t>LayerNorm, Softmax, ReLU</a:t>
                      </a:r>
                    </a:p>
                  </a:txBody>
                  <a:tcPr>
                    <a:solidFill>
                      <a:srgbClr val="161F40"/>
                    </a:solidFill>
                  </a:tcPr>
                </a:tc>
                <a:tc>
                  <a:txBody>
                    <a:bodyPr/>
                    <a:lstStyle/>
                    <a:p>
                      <a:r>
                        <a:rPr sz="1400" b="0">
                          <a:solidFill>
                            <a:srgbClr val="E8EEFA"/>
                          </a:solidFill>
                          <a:latin typeface="Segoe UI"/>
                        </a:rPr>
                        <a:t>0,25–1</a:t>
                      </a:r>
                    </a:p>
                  </a:txBody>
                  <a:tcPr>
                    <a:solidFill>
                      <a:srgbClr val="161F40"/>
                    </a:solidFill>
                  </a:tcPr>
                </a:tc>
                <a:tc>
                  <a:txBody>
                    <a:bodyPr/>
                    <a:lstStyle/>
                    <a:p>
                      <a:r>
                        <a:rPr sz="1400" b="0">
                          <a:solidFill>
                            <a:srgbClr val="E8EEFA"/>
                          </a:solidFill>
                          <a:latin typeface="Segoe UI"/>
                        </a:rPr>
                        <a:t>memory-bound</a:t>
                      </a:r>
                    </a:p>
                  </a:txBody>
                  <a:tcPr>
                    <a:solidFill>
                      <a:srgbClr val="161F40"/>
                    </a:solidFill>
                  </a:tcPr>
                </a:tc>
                <a:tc>
                  <a:txBody>
                    <a:bodyPr/>
                    <a:lstStyle/>
                    <a:p>
                      <a:r>
                        <a:rPr sz="1400" b="0">
                          <a:solidFill>
                            <a:srgbClr val="E8EEFA"/>
                          </a:solidFill>
                          <a:latin typeface="Segoe UI"/>
                        </a:rPr>
                        <a:t>Fusion kerak</a:t>
                      </a:r>
                    </a:p>
                  </a:txBody>
                  <a:tcPr>
                    <a:solidFill>
                      <a:srgbClr val="161F40"/>
                    </a:solidFill>
                  </a:tcPr>
                </a:tc>
              </a:tr>
              <a:tr h="520000">
                <a:tc>
                  <a:txBody>
                    <a:bodyPr/>
                    <a:lstStyle/>
                    <a:p>
                      <a:r>
                        <a:rPr sz="1400" b="0">
                          <a:solidFill>
                            <a:srgbClr val="E8EEFA"/>
                          </a:solidFill>
                          <a:latin typeface="Segoe UI"/>
                        </a:rPr>
                        <a:t>Attention (uzun kontekst, naiv)</a:t>
                      </a:r>
                    </a:p>
                  </a:txBody>
                  <a:tcPr>
                    <a:solidFill>
                      <a:srgbClr val="111834"/>
                    </a:solidFill>
                  </a:tcPr>
                </a:tc>
                <a:tc>
                  <a:txBody>
                    <a:bodyPr/>
                    <a:lstStyle/>
                    <a:p>
                      <a:r>
                        <a:rPr sz="1400" b="0">
                          <a:solidFill>
                            <a:srgbClr val="E8EEFA"/>
                          </a:solidFill>
                          <a:latin typeface="Segoe UI"/>
                        </a:rPr>
                        <a:t>1–10</a:t>
                      </a:r>
                    </a:p>
                  </a:txBody>
                  <a:tcPr>
                    <a:solidFill>
                      <a:srgbClr val="111834"/>
                    </a:solidFill>
                  </a:tcPr>
                </a:tc>
                <a:tc>
                  <a:txBody>
                    <a:bodyPr/>
                    <a:lstStyle/>
                    <a:p>
                      <a:r>
                        <a:rPr sz="1400" b="0">
                          <a:solidFill>
                            <a:srgbClr val="E8EEFA"/>
                          </a:solidFill>
                          <a:latin typeface="Segoe UI"/>
                        </a:rPr>
                        <a:t>memory-bound</a:t>
                      </a:r>
                    </a:p>
                  </a:txBody>
                  <a:tcPr>
                    <a:solidFill>
                      <a:srgbClr val="111834"/>
                    </a:solidFill>
                  </a:tcPr>
                </a:tc>
                <a:tc>
                  <a:txBody>
                    <a:bodyPr/>
                    <a:lstStyle/>
                    <a:p>
                      <a:r>
                        <a:rPr sz="1400" b="0">
                          <a:solidFill>
                            <a:srgbClr val="E8EEFA"/>
                          </a:solidFill>
                          <a:latin typeface="Segoe UI"/>
                        </a:rPr>
                        <a:t>FlashAttention</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6"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30d96b7672798c27.jpg"/>
          <p:cNvPicPr>
            <a:picLocks noChangeAspect="1"/>
          </p:cNvPicPr>
          <p:nvPr/>
        </p:nvPicPr>
        <p:blipFill>
          <a:blip r:embed="rId2"/>
          <a:srcRect l="9848" r="9848"/>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Mike1024 at English Wikipedia · Wikimedia Commons · Public domain</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04</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Energiya samaradorligini tahlil qilish</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Energiya samaradorligini tahlil qilish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15</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4c58e1c72c3d846.jpg"/>
          <p:cNvPicPr>
            <a:picLocks noChangeAspect="1"/>
          </p:cNvPicPr>
          <p:nvPr/>
        </p:nvPicPr>
        <p:blipFill>
          <a:blip r:embed="rId2"/>
          <a:srcRect l="24836" r="24836"/>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Pittigrilli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076824"/>
            <a:ext cx="50000" cy="157817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66591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036824"/>
            <a:ext cx="5900000" cy="1658176"/>
          </a:xfrm>
          <a:prstGeom prst="rect">
            <a:avLst/>
          </a:prstGeom>
          <a:noFill/>
        </p:spPr>
        <p:txBody>
          <a:bodyPr wrap="square" anchor="ctr">
            <a:spAutoFit/>
          </a:bodyPr>
          <a:lstStyle/>
          <a:p>
            <a:r>
              <a:rPr sz="1500" b="1">
                <a:solidFill>
                  <a:srgbClr val="E8EEFA"/>
                </a:solidFill>
                <a:latin typeface="Segoe UI"/>
              </a:rPr>
              <a:t>Energiya ikki sababga ko'ra unumdorlik mezoni bo'ldi.</a:t>
            </a:r>
          </a:p>
          <a:p>
            <a:pPr>
              <a:spcBef>
                <a:spcPts val="400"/>
              </a:spcBef>
            </a:pPr>
            <a:r>
              <a:rPr sz="1400">
                <a:solidFill>
                  <a:srgbClr val="AEBBD9"/>
                </a:solidFill>
                <a:latin typeface="Segoe UI"/>
              </a:rPr>
              <a:t>Ma'lumot markazlarida u ekspluatatsiya xarajatining asosiy qismi va quvvat ta'minoti cheklovi: H100 SXM 700 vatt, 8 ta GPU'li DGX H100 esa 10 kilovattgacha iste'mol qiladi. Chekka qurilmalarda esa batareya va issiqlik chegaralari apparat imkoniyatini belgilaydi.</a:t>
            </a:r>
          </a:p>
        </p:txBody>
      </p:sp>
      <p:sp>
        <p:nvSpPr>
          <p:cNvPr id="32" name="Rounded Rectangle 31"/>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5781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51408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5" name="TextBox 34"/>
          <p:cNvSpPr txBox="1"/>
          <p:nvPr/>
        </p:nvSpPr>
        <p:spPr>
          <a:xfrm>
            <a:off x="1300000" y="3885000"/>
            <a:ext cx="5900000" cy="1658176"/>
          </a:xfrm>
          <a:prstGeom prst="rect">
            <a:avLst/>
          </a:prstGeom>
          <a:noFill/>
        </p:spPr>
        <p:txBody>
          <a:bodyPr wrap="square" anchor="ctr">
            <a:spAutoFit/>
          </a:bodyPr>
          <a:lstStyle/>
          <a:p>
            <a:r>
              <a:rPr sz="1400" b="0">
                <a:solidFill>
                  <a:srgbClr val="E8EEFA"/>
                </a:solidFill>
                <a:latin typeface="Segoe UI"/>
              </a:rPr>
              <a:t>GPU quvvatini o'lchashning standart vositasi — nvidia-smi va uning asosidagi NVML kutubxonasi (pynvml Python paketi). nvidia-smi --query-gpu=power.draw,clocks.sm,temperature.gpu --format=csv -lms 100 har 100 millisekundda quvvat, chastota va haroratni yozadi.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Energiya samaradorligini tahlil qilish</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16</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1bea6e53fc57279a.jpg"/>
          <p:cNvPicPr>
            <a:picLocks noChangeAspect="1"/>
          </p:cNvPicPr>
          <p:nvPr/>
        </p:nvPicPr>
        <p:blipFill>
          <a:blip r:embed="rId2"/>
          <a:srcRect l="22677" r="22677"/>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Brihaspati · Wikimedia Commons · CC BY 4.0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497992"/>
            <a:ext cx="50000" cy="258401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2" name="TextBox 31"/>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Energiya va unumdorlik o'rtasida nochiziqli bog'liqlik bor.</a:t>
            </a:r>
          </a:p>
          <a:p>
            <a:pPr>
              <a:spcBef>
                <a:spcPts val="400"/>
              </a:spcBef>
            </a:pPr>
            <a:r>
              <a:rPr sz="1600">
                <a:solidFill>
                  <a:srgbClr val="AEBBD9"/>
                </a:solidFill>
                <a:latin typeface="Segoe UI"/>
              </a:rPr>
              <a:t>Dinamik quvvat chastota va kuchlanish kvadratiga proporsional (P ∝ f · V²), shuning uchun GPU chastotasini 10–15 foiz pasaytirish (nvidia-smi -pl bilan quvvat chegarasi yoki -lgc bilan chastota qulfi) unumdorlikni 5–8 foiz, quvvatni 20–30 foiz kamaytirishi mumkin — memory-bound ish yuklarida unumdorlik deyarli o'zgarmaydi, chunki to'siq xotirada.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9e87f6b08587ad12.jpg"/>
          <p:cNvPicPr>
            <a:picLocks noChangeAspect="1"/>
          </p:cNvPicPr>
          <p:nvPr/>
        </p:nvPicPr>
        <p:blipFill>
          <a:blip r:embed="rId2"/>
          <a:srcRect l="14282" r="14282"/>
          <a:stretch>
            <a:fillRect/>
          </a:stretch>
        </p:blipFill>
        <p:spPr>
          <a:xfrm>
            <a:off x="6300000" y="800000"/>
            <a:ext cx="5300000" cy="4950000"/>
          </a:xfrm>
          <a:prstGeom prst="roundRect">
            <a:avLst/>
          </a:prstGeom>
          <a:ln w="19050">
            <a:solidFill>
              <a:srgbClr val="22D3EE"/>
            </a:solidFill>
          </a:ln>
        </p:spPr>
      </p:pic>
      <p:sp>
        <p:nvSpPr>
          <p:cNvPr id="44" name="TextBox 43"/>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Caza1393 · Wikimedia Commons · CC BY-SA 4.0</a:t>
            </a:r>
          </a:p>
        </p:txBody>
      </p:sp>
      <p:sp>
        <p:nvSpPr>
          <p:cNvPr id="45" name="TextBox 44"/>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05</a:t>
            </a:r>
          </a:p>
        </p:txBody>
      </p:sp>
      <p:sp>
        <p:nvSpPr>
          <p:cNvPr id="46" name="TextBox 45"/>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7" name="TextBox 46"/>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Optimallashtirish strategiyalari</a:t>
            </a:r>
          </a:p>
        </p:txBody>
      </p:sp>
      <p:sp>
        <p:nvSpPr>
          <p:cNvPr id="48" name="Rectangle 47"/>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9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150"/>
                            </p:stCondLst>
                            <p:childTnLst>
                              <p:par>
                                <p:cTn id="160" presetID="53" presetClass="entr" presetSubtype="16"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anim calcmode="lin" valueType="num">
                                      <p:cBhvr additive="base">
                                        <p:cTn id="163" dur="550" fill="hold"/>
                                        <p:tgtEl>
                                          <p:spTgt spid="42"/>
                                        </p:tgtEl>
                                        <p:attrNameLst>
                                          <p:attrName>ppt_w</p:attrName>
                                        </p:attrNameLst>
                                      </p:cBhvr>
                                      <p:tavLst>
                                        <p:tav tm="0">
                                          <p:val>
                                            <p:strVal val="0"/>
                                          </p:val>
                                        </p:tav>
                                        <p:tav tm="100000">
                                          <p:val>
                                            <p:strVal val="#ppt_w"/>
                                          </p:val>
                                        </p:tav>
                                      </p:tavLst>
                                    </p:anim>
                                    <p:anim calcmode="lin" valueType="num">
                                      <p:cBhvr additive="base">
                                        <p:cTn id="164" dur="550" fill="hold"/>
                                        <p:tgtEl>
                                          <p:spTgt spid="42"/>
                                        </p:tgtEl>
                                        <p:attrNameLst>
                                          <p:attrName>ppt_h</p:attrName>
                                        </p:attrNameLst>
                                      </p:cBhvr>
                                      <p:tavLst>
                                        <p:tav tm="0">
                                          <p:val>
                                            <p:strVal val="0"/>
                                          </p:val>
                                        </p:tav>
                                        <p:tav tm="100000">
                                          <p:val>
                                            <p:strVal val="#ppt_h"/>
                                          </p:val>
                                        </p:tav>
                                      </p:tavLst>
                                    </p:anim>
                                  </p:childTnLst>
                                </p:cTn>
                              </p:par>
                            </p:childTnLst>
                          </p:cTn>
                        </p:par>
                        <p:par>
                          <p:cTn id="165" fill="hold">
                            <p:stCondLst>
                              <p:cond delay="150"/>
                            </p:stCondLst>
                            <p:childTnLst>
                              <p:par>
                                <p:cTn id="166" presetID="53" presetClass="entr" presetSubtype="16" fill="hold" grpId="0" nodeType="afterEffect">
                                  <p:stCondLst>
                                    <p:cond delay="0"/>
                                  </p:stCondLst>
                                  <p:childTnLst>
                                    <p:set>
                                      <p:cBhvr>
                                        <p:cTn id="167" dur="1" fill="hold">
                                          <p:stCondLst>
                                            <p:cond delay="0"/>
                                          </p:stCondLst>
                                        </p:cTn>
                                        <p:tgtEl>
                                          <p:spTgt spid="43"/>
                                        </p:tgtEl>
                                        <p:attrNameLst>
                                          <p:attrName>style.visibility</p:attrName>
                                        </p:attrNameLst>
                                      </p:cBhvr>
                                      <p:to>
                                        <p:strVal val="visible"/>
                                      </p:to>
                                    </p:set>
                                    <p:animEffect transition="in" filter="fade">
                                      <p:cBhvr>
                                        <p:cTn id="168" dur="550"/>
                                        <p:tgtEl>
                                          <p:spTgt spid="43"/>
                                        </p:tgtEl>
                                      </p:cBhvr>
                                    </p:animEffect>
                                    <p:anim calcmode="lin" valueType="num">
                                      <p:cBhvr additive="base">
                                        <p:cTn id="169" dur="550" fill="hold"/>
                                        <p:tgtEl>
                                          <p:spTgt spid="43"/>
                                        </p:tgtEl>
                                        <p:attrNameLst>
                                          <p:attrName>ppt_w</p:attrName>
                                        </p:attrNameLst>
                                      </p:cBhvr>
                                      <p:tavLst>
                                        <p:tav tm="0">
                                          <p:val>
                                            <p:strVal val="0"/>
                                          </p:val>
                                        </p:tav>
                                        <p:tav tm="100000">
                                          <p:val>
                                            <p:strVal val="#ppt_w"/>
                                          </p:val>
                                        </p:tav>
                                      </p:tavLst>
                                    </p:anim>
                                    <p:anim calcmode="lin" valueType="num">
                                      <p:cBhvr additive="base">
                                        <p:cTn id="170" dur="550" fill="hold"/>
                                        <p:tgtEl>
                                          <p:spTgt spid="43"/>
                                        </p:tgtEl>
                                        <p:attrNameLst>
                                          <p:attrName>ppt_h</p:attrName>
                                        </p:attrNameLst>
                                      </p:cBhvr>
                                      <p:tavLst>
                                        <p:tav tm="0">
                                          <p:val>
                                            <p:strVal val="0"/>
                                          </p:val>
                                        </p:tav>
                                        <p:tav tm="100000">
                                          <p:val>
                                            <p:strVal val="#ppt_h"/>
                                          </p:val>
                                        </p:tav>
                                      </p:tavLst>
                                    </p:anim>
                                  </p:childTnLst>
                                </p:cTn>
                              </p:par>
                            </p:childTnLst>
                          </p:cTn>
                        </p:par>
                        <p:par>
                          <p:cTn id="171" fill="hold">
                            <p:stCondLst>
                              <p:cond delay="150"/>
                            </p:stCondLst>
                            <p:childTnLst>
                              <p:par>
                                <p:cTn id="172" presetID="10" presetClass="entr" presetSubtype="0" fill="hold" grpId="0" nodeType="after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550"/>
                                        <p:tgtEl>
                                          <p:spTgt spid="44"/>
                                        </p:tgtEl>
                                      </p:cBhvr>
                                    </p:animEffect>
                                  </p:childTnLst>
                                </p:cTn>
                              </p:par>
                            </p:childTnLst>
                          </p:cTn>
                        </p:par>
                        <p:par>
                          <p:cTn id="175" fill="hold">
                            <p:stCondLst>
                              <p:cond delay="350"/>
                            </p:stCondLst>
                            <p:childTnLst>
                              <p:par>
                                <p:cTn id="176" presetID="53" presetClass="entr" presetSubtype="16" fill="hold" grpId="0" nodeType="afterEffect">
                                  <p:stCondLst>
                                    <p:cond delay="0"/>
                                  </p:stCondLst>
                                  <p:childTnLst>
                                    <p:set>
                                      <p:cBhvr>
                                        <p:cTn id="177" dur="1" fill="hold">
                                          <p:stCondLst>
                                            <p:cond delay="0"/>
                                          </p:stCondLst>
                                        </p:cTn>
                                        <p:tgtEl>
                                          <p:spTgt spid="45"/>
                                        </p:tgtEl>
                                        <p:attrNameLst>
                                          <p:attrName>style.visibility</p:attrName>
                                        </p:attrNameLst>
                                      </p:cBhvr>
                                      <p:to>
                                        <p:strVal val="visible"/>
                                      </p:to>
                                    </p:set>
                                    <p:animEffect transition="in" filter="fade">
                                      <p:cBhvr>
                                        <p:cTn id="178" dur="550"/>
                                        <p:tgtEl>
                                          <p:spTgt spid="45"/>
                                        </p:tgtEl>
                                      </p:cBhvr>
                                    </p:animEffect>
                                    <p:anim calcmode="lin" valueType="num">
                                      <p:cBhvr additive="base">
                                        <p:cTn id="179" dur="550" fill="hold"/>
                                        <p:tgtEl>
                                          <p:spTgt spid="45"/>
                                        </p:tgtEl>
                                        <p:attrNameLst>
                                          <p:attrName>ppt_w</p:attrName>
                                        </p:attrNameLst>
                                      </p:cBhvr>
                                      <p:tavLst>
                                        <p:tav tm="0">
                                          <p:val>
                                            <p:strVal val="0"/>
                                          </p:val>
                                        </p:tav>
                                        <p:tav tm="100000">
                                          <p:val>
                                            <p:strVal val="#ppt_w"/>
                                          </p:val>
                                        </p:tav>
                                      </p:tavLst>
                                    </p:anim>
                                    <p:anim calcmode="lin" valueType="num">
                                      <p:cBhvr additive="base">
                                        <p:cTn id="180" dur="550" fill="hold"/>
                                        <p:tgtEl>
                                          <p:spTgt spid="45"/>
                                        </p:tgtEl>
                                        <p:attrNameLst>
                                          <p:attrName>ppt_h</p:attrName>
                                        </p:attrNameLst>
                                      </p:cBhvr>
                                      <p:tavLst>
                                        <p:tav tm="0">
                                          <p:val>
                                            <p:strVal val="0"/>
                                          </p:val>
                                        </p:tav>
                                        <p:tav tm="100000">
                                          <p:val>
                                            <p:strVal val="#ppt_h"/>
                                          </p:val>
                                        </p:tav>
                                      </p:tavLst>
                                    </p:anim>
                                  </p:childTnLst>
                                </p:cTn>
                              </p:par>
                            </p:childTnLst>
                          </p:cTn>
                        </p:par>
                        <p:par>
                          <p:cTn id="181" fill="hold">
                            <p:stCondLst>
                              <p:cond delay="450"/>
                            </p:stCondLst>
                            <p:childTnLst>
                              <p:par>
                                <p:cTn id="182" presetID="10" presetClass="entr" presetSubtype="0" fill="hold" grpId="0" nodeType="afterEffect">
                                  <p:stCondLst>
                                    <p:cond delay="0"/>
                                  </p:stCondLst>
                                  <p:childTnLst>
                                    <p:set>
                                      <p:cBhvr>
                                        <p:cTn id="183" dur="1" fill="hold">
                                          <p:stCondLst>
                                            <p:cond delay="0"/>
                                          </p:stCondLst>
                                        </p:cTn>
                                        <p:tgtEl>
                                          <p:spTgt spid="46"/>
                                        </p:tgtEl>
                                        <p:attrNameLst>
                                          <p:attrName>style.visibility</p:attrName>
                                        </p:attrNameLst>
                                      </p:cBhvr>
                                      <p:to>
                                        <p:strVal val="visible"/>
                                      </p:to>
                                    </p:set>
                                    <p:animEffect transition="in" filter="fade">
                                      <p:cBhvr>
                                        <p:cTn id="184" dur="550"/>
                                        <p:tgtEl>
                                          <p:spTgt spid="46"/>
                                        </p:tgtEl>
                                      </p:cBhvr>
                                    </p:animEffect>
                                  </p:childTnLst>
                                </p:cTn>
                              </p:par>
                            </p:childTnLst>
                          </p:cTn>
                        </p:par>
                        <p:par>
                          <p:cTn id="185" fill="hold">
                            <p:stCondLst>
                              <p:cond delay="550"/>
                            </p:stCondLst>
                            <p:childTnLst>
                              <p:par>
                                <p:cTn id="186" presetID="2" presetClass="entr" presetSubtype="8" fill="hold" grpId="0" nodeType="afterEffect">
                                  <p:stCondLst>
                                    <p:cond delay="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9" dur="550" fill="hold"/>
                                        <p:tgtEl>
                                          <p:spTgt spid="47"/>
                                        </p:tgtEl>
                                        <p:attrNameLst>
                                          <p:attrName>ppt_x</p:attrName>
                                        </p:attrNameLst>
                                      </p:cBhvr>
                                      <p:tavLst>
                                        <p:tav tm="0">
                                          <p:val>
                                            <p:strVal val="0-#ppt_w/2"/>
                                          </p:val>
                                        </p:tav>
                                        <p:tav tm="100000">
                                          <p:val>
                                            <p:strVal val="#ppt_x"/>
                                          </p:val>
                                        </p:tav>
                                      </p:tavLst>
                                    </p:anim>
                                    <p:anim calcmode="lin" valueType="num">
                                      <p:cBhvr additive="base">
                                        <p:cTn id="190" dur="550" fill="hold"/>
                                        <p:tgtEl>
                                          <p:spTgt spid="47"/>
                                        </p:tgtEl>
                                        <p:attrNameLst>
                                          <p:attrName>ppt_y</p:attrName>
                                        </p:attrNameLst>
                                      </p:cBhvr>
                                      <p:tavLst>
                                        <p:tav tm="0">
                                          <p:val>
                                            <p:strVal val="#ppt_y"/>
                                          </p:val>
                                        </p:tav>
                                        <p:tav tm="100000">
                                          <p:val>
                                            <p:strVal val="#ppt_y"/>
                                          </p:val>
                                        </p:tav>
                                      </p:tavLst>
                                    </p:anim>
                                  </p:childTnLst>
                                </p:cTn>
                              </p:par>
                            </p:childTnLst>
                          </p:cTn>
                        </p:par>
                        <p:par>
                          <p:cTn id="191" fill="hold">
                            <p:stCondLst>
                              <p:cond delay="650"/>
                            </p:stCondLst>
                            <p:childTnLst>
                              <p:par>
                                <p:cTn id="192" presetID="22" presetClass="entr" presetSubtype="8" fill="hold" grpId="0" nodeType="afterEffect">
                                  <p:stCondLst>
                                    <p:cond delay="0"/>
                                  </p:stCondLst>
                                  <p:childTnLst>
                                    <p:set>
                                      <p:cBhvr>
                                        <p:cTn id="193" dur="1" fill="hold">
                                          <p:stCondLst>
                                            <p:cond delay="0"/>
                                          </p:stCondLst>
                                        </p:cTn>
                                        <p:tgtEl>
                                          <p:spTgt spid="48"/>
                                        </p:tgtEl>
                                        <p:attrNameLst>
                                          <p:attrName>style.visibility</p:attrName>
                                        </p:attrNameLst>
                                      </p:cBhvr>
                                      <p:to>
                                        <p:strVal val="visible"/>
                                      </p:to>
                                    </p:set>
                                    <p:animEffect transition="in" filter="wipe(left)">
                                      <p:cBhvr>
                                        <p:cTn id="195" dur="8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Optimallashtirish strategiyalari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M10 · Unumdorligini tahlil qilish va baholash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18</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076824"/>
            <a:ext cx="50000" cy="157817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66591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2036824"/>
            <a:ext cx="5900000" cy="1658176"/>
          </a:xfrm>
          <a:prstGeom prst="rect">
            <a:avLst/>
          </a:prstGeom>
          <a:noFill/>
        </p:spPr>
        <p:txBody>
          <a:bodyPr wrap="square" anchor="ctr">
            <a:spAutoFit/>
          </a:bodyPr>
          <a:lstStyle/>
          <a:p>
            <a:r>
              <a:rPr sz="1500" b="1">
                <a:solidFill>
                  <a:srgbClr val="E8EEFA"/>
                </a:solidFill>
                <a:latin typeface="Segoe UI"/>
              </a:rPr>
              <a:t>Unumdorlik tahlilining yakuniy maqsadi — to'g'ri optimallashtirishni tanlash.</a:t>
            </a:r>
          </a:p>
          <a:p>
            <a:pPr>
              <a:spcBef>
                <a:spcPts val="400"/>
              </a:spcBef>
            </a:pPr>
            <a:r>
              <a:rPr sz="1400">
                <a:solidFill>
                  <a:srgbClr val="AEBBD9"/>
                </a:solidFill>
                <a:latin typeface="Segoe UI"/>
              </a:rPr>
              <a:t>Strategiya to'siq turiga bog'liq.</a:t>
            </a:r>
          </a:p>
        </p:txBody>
      </p:sp>
      <p:sp>
        <p:nvSpPr>
          <p:cNvPr id="31" name="Rounded Rectangle 30"/>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5781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51408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1658176"/>
          </a:xfrm>
          <a:prstGeom prst="rect">
            <a:avLst/>
          </a:prstGeom>
          <a:noFill/>
        </p:spPr>
        <p:txBody>
          <a:bodyPr wrap="square" anchor="ctr">
            <a:spAutoFit/>
          </a:bodyPr>
          <a:lstStyle/>
          <a:p>
            <a:r>
              <a:rPr sz="1500" b="1">
                <a:solidFill>
                  <a:srgbClr val="E8EEFA"/>
                </a:solidFill>
                <a:latin typeface="Segoe UI"/>
              </a:rPr>
              <a:t>Masshtablanuvchanlik to'sig'i uchun strategiya boshqacha: aloqa va hisoblashni ustma-ust qo'yish (gradient bucketing, asinxron all-reduce), aloqa hajmini kamaytirish (gradient siqish, FP16 aloqa), topologiyaga mos kollektivlar (NVLink ichida tensor…</a:t>
            </a:r>
          </a:p>
          <a:p>
            <a:pPr>
              <a:spcBef>
                <a:spcPts val="400"/>
              </a:spcBef>
            </a:pPr>
            <a:r>
              <a:rPr sz="1400">
                <a:solidFill>
                  <a:srgbClr val="AEBBD9"/>
                </a:solidFill>
                <a:latin typeface="Segoe UI"/>
              </a:rPr>
              <a:t>Energiya to'sig'i uchun: quvvat chegarasi, DVFS, kichik aniqlik, hisoblashni bulut va chekka o'rtasida qayta taqsimlash.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0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0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0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0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80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0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5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45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5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50000" y="766666"/>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450000" y="728571"/>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45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5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45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5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45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45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5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45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5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45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45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45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5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5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45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45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00000" y="728571"/>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0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0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0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10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10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0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10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10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0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0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0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0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10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0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10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0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10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5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5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75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75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75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75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75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75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75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75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75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7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3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3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3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3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3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6030000" y="658571"/>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030000" y="887142"/>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030000" y="1115714"/>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030000" y="1344285"/>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030000" y="1572857"/>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030000" y="1801428"/>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6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6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6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13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3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13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00000" y="2500000"/>
            <a:ext cx="10800000" cy="1100000"/>
          </a:xfrm>
          <a:prstGeom prst="rect">
            <a:avLst/>
          </a:prstGeom>
          <a:noFill/>
        </p:spPr>
        <p:txBody>
          <a:bodyPr wrap="square" anchor="t" lIns="50800" rIns="50800">
            <a:spAutoFit/>
          </a:bodyPr>
          <a:lstStyle/>
          <a:p>
            <a:pPr algn="ctr"/>
            <a:r>
              <a:rPr sz="4400" b="1">
                <a:solidFill>
                  <a:srgbClr val="E8EEFA"/>
                </a:solidFill>
                <a:latin typeface="Segoe UI"/>
              </a:rPr>
              <a:t>E’tiboringiz uchun rahmat!</a:t>
            </a:r>
          </a:p>
        </p:txBody>
      </p:sp>
      <p:sp>
        <p:nvSpPr>
          <p:cNvPr id="87" name="Rectangle 86"/>
          <p:cNvSpPr/>
          <p:nvPr/>
        </p:nvSpPr>
        <p:spPr>
          <a:xfrm>
            <a:off x="4800000" y="3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00000" y="3850000"/>
            <a:ext cx="10800000" cy="500000"/>
          </a:xfrm>
          <a:prstGeom prst="rect">
            <a:avLst/>
          </a:prstGeom>
          <a:noFill/>
        </p:spPr>
        <p:txBody>
          <a:bodyPr wrap="square" anchor="t" lIns="50800" rIns="50800">
            <a:spAutoFit/>
          </a:bodyPr>
          <a:lstStyle/>
          <a:p>
            <a:pPr algn="ctr"/>
            <a:r>
              <a:rPr sz="2600" b="1">
                <a:solidFill>
                  <a:srgbClr val="22D3EE"/>
                </a:solidFill>
                <a:latin typeface="Segoe UI"/>
              </a:rPr>
              <a:t>Savollar?</a:t>
            </a:r>
          </a:p>
        </p:txBody>
      </p:sp>
      <p:sp>
        <p:nvSpPr>
          <p:cNvPr id="89" name="TextBox 88"/>
          <p:cNvSpPr txBox="1"/>
          <p:nvPr/>
        </p:nvSpPr>
        <p:spPr>
          <a:xfrm>
            <a:off x="1200000" y="4800000"/>
            <a:ext cx="9800000" cy="800000"/>
          </a:xfrm>
          <a:prstGeom prst="rect">
            <a:avLst/>
          </a:prstGeom>
          <a:noFill/>
        </p:spPr>
        <p:txBody>
          <a:bodyPr wrap="square" anchor="t" lIns="50800" rIns="50800">
            <a:spAutoFit/>
          </a:bodyPr>
          <a:lstStyle/>
          <a:p>
            <a:pPr algn="ctr"/>
            <a:r>
              <a:rPr sz="1400" b="0">
                <a:solidFill>
                  <a:srgbClr val="AEBBD9"/>
                </a:solidFill>
                <a:latin typeface="Segoe UI"/>
              </a:rPr>
              <a:t>Mavzu matni va materiallar: https://aiscan.airi.uz/ktm/#/c/mis2104/mavzu/M10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0"/>
                            </p:stCondLst>
                            <p:childTnLst>
                              <p:par>
                                <p:cTn id="236" presetID="10" presetClass="entr" presetSubtype="0" fill="hold" grpId="0" nodeType="afterEffect">
                                  <p:stCondLst>
                                    <p:cond delay="0"/>
                                  </p:stCondLst>
                                  <p:childTnLst>
                                    <p:set>
                                      <p:cBhvr>
                                        <p:cTn id="237" dur="1" fill="hold">
                                          <p:stCondLst>
                                            <p:cond delay="0"/>
                                          </p:stCondLst>
                                        </p:cTn>
                                        <p:tgtEl>
                                          <p:spTgt spid="61"/>
                                        </p:tgtEl>
                                        <p:attrNameLst>
                                          <p:attrName>style.visibility</p:attrName>
                                        </p:attrNameLst>
                                      </p:cBhvr>
                                      <p:to>
                                        <p:strVal val="visible"/>
                                      </p:to>
                                    </p:set>
                                    <p:animEffect transition="in" filter="fade">
                                      <p:cBhvr>
                                        <p:cTn id="238" dur="550"/>
                                        <p:tgtEl>
                                          <p:spTgt spid="61"/>
                                        </p:tgtEl>
                                      </p:cBhvr>
                                    </p:animEffect>
                                  </p:childTnLst>
                                </p:cTn>
                              </p:par>
                            </p:childTnLst>
                          </p:cTn>
                        </p:par>
                        <p:par>
                          <p:cTn id="239" fill="hold">
                            <p:stCondLst>
                              <p:cond delay="0"/>
                            </p:stCondLst>
                            <p:childTnLst>
                              <p:par>
                                <p:cTn id="240" presetID="10" presetClass="entr" presetSubtype="0" fill="hold" grpId="0" nodeType="afterEffect">
                                  <p:stCondLst>
                                    <p:cond delay="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550"/>
                                        <p:tgtEl>
                                          <p:spTgt spid="62"/>
                                        </p:tgtEl>
                                      </p:cBhvr>
                                    </p:animEffect>
                                  </p:childTnLst>
                                </p:cTn>
                              </p:par>
                            </p:childTnLst>
                          </p:cTn>
                        </p:par>
                        <p:par>
                          <p:cTn id="243" fill="hold">
                            <p:stCondLst>
                              <p:cond delay="0"/>
                            </p:stCondLst>
                            <p:childTnLst>
                              <p:par>
                                <p:cTn id="244" presetID="10" presetClass="entr" presetSubtype="0" fill="hold" grpId="0" nodeType="after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fade">
                                      <p:cBhvr>
                                        <p:cTn id="246" dur="550"/>
                                        <p:tgtEl>
                                          <p:spTgt spid="63"/>
                                        </p:tgtEl>
                                      </p:cBhvr>
                                    </p:animEffect>
                                  </p:childTnLst>
                                </p:cTn>
                              </p:par>
                            </p:childTnLst>
                          </p:cTn>
                        </p:par>
                        <p:par>
                          <p:cTn id="247" fill="hold">
                            <p:stCondLst>
                              <p:cond delay="0"/>
                            </p:stCondLst>
                            <p:childTnLst>
                              <p:par>
                                <p:cTn id="248" presetID="10" presetClass="entr" presetSubtype="0" fill="hold" grpId="0" nodeType="after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fade">
                                      <p:cBhvr>
                                        <p:cTn id="250" dur="550"/>
                                        <p:tgtEl>
                                          <p:spTgt spid="64"/>
                                        </p:tgtEl>
                                      </p:cBhvr>
                                    </p:animEffect>
                                  </p:childTnLst>
                                </p:cTn>
                              </p:par>
                            </p:childTnLst>
                          </p:cTn>
                        </p:par>
                        <p:par>
                          <p:cTn id="251" fill="hold">
                            <p:stCondLst>
                              <p:cond delay="0"/>
                            </p:stCondLst>
                            <p:childTnLst>
                              <p:par>
                                <p:cTn id="252" presetID="10" presetClass="entr" presetSubtype="0" fill="hold" grpId="0" nodeType="afterEffect">
                                  <p:stCondLst>
                                    <p:cond delay="0"/>
                                  </p:stCondLst>
                                  <p:childTnLst>
                                    <p:set>
                                      <p:cBhvr>
                                        <p:cTn id="253" dur="1" fill="hold">
                                          <p:stCondLst>
                                            <p:cond delay="0"/>
                                          </p:stCondLst>
                                        </p:cTn>
                                        <p:tgtEl>
                                          <p:spTgt spid="65"/>
                                        </p:tgtEl>
                                        <p:attrNameLst>
                                          <p:attrName>style.visibility</p:attrName>
                                        </p:attrNameLst>
                                      </p:cBhvr>
                                      <p:to>
                                        <p:strVal val="visible"/>
                                      </p:to>
                                    </p:set>
                                    <p:animEffect transition="in" filter="fade">
                                      <p:cBhvr>
                                        <p:cTn id="254" dur="550"/>
                                        <p:tgtEl>
                                          <p:spTgt spid="65"/>
                                        </p:tgtEl>
                                      </p:cBhvr>
                                    </p:animEffect>
                                  </p:childTnLst>
                                </p:cTn>
                              </p:par>
                            </p:childTnLst>
                          </p:cTn>
                        </p:par>
                        <p:par>
                          <p:cTn id="255"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66"/>
                                        </p:tgtEl>
                                        <p:attrNameLst>
                                          <p:attrName>style.visibility</p:attrName>
                                        </p:attrNameLst>
                                      </p:cBhvr>
                                      <p:to>
                                        <p:strVal val="visible"/>
                                      </p:to>
                                    </p:set>
                                    <p:animEffect transition="in" filter="fade">
                                      <p:cBhvr>
                                        <p:cTn id="258" dur="550"/>
                                        <p:tgtEl>
                                          <p:spTgt spid="66"/>
                                        </p:tgtEl>
                                      </p:cBhvr>
                                    </p:animEffect>
                                  </p:childTnLst>
                                </p:cTn>
                              </p:par>
                            </p:childTnLst>
                          </p:cTn>
                        </p:par>
                        <p:par>
                          <p:cTn id="259" fill="hold">
                            <p:stCondLst>
                              <p:cond delay="0"/>
                            </p:stCondLst>
                            <p:childTnLst>
                              <p:par>
                                <p:cTn id="260" presetID="10" presetClass="entr" presetSubtype="0" fill="hold" grpId="0" nodeType="afterEffect">
                                  <p:stCondLst>
                                    <p:cond delay="0"/>
                                  </p:stCondLst>
                                  <p:childTnLst>
                                    <p:set>
                                      <p:cBhvr>
                                        <p:cTn id="261" dur="1" fill="hold">
                                          <p:stCondLst>
                                            <p:cond delay="0"/>
                                          </p:stCondLst>
                                        </p:cTn>
                                        <p:tgtEl>
                                          <p:spTgt spid="67"/>
                                        </p:tgtEl>
                                        <p:attrNameLst>
                                          <p:attrName>style.visibility</p:attrName>
                                        </p:attrNameLst>
                                      </p:cBhvr>
                                      <p:to>
                                        <p:strVal val="visible"/>
                                      </p:to>
                                    </p:set>
                                    <p:animEffect transition="in" filter="fade">
                                      <p:cBhvr>
                                        <p:cTn id="262" dur="550"/>
                                        <p:tgtEl>
                                          <p:spTgt spid="67"/>
                                        </p:tgtEl>
                                      </p:cBhvr>
                                    </p:animEffect>
                                  </p:childTnLst>
                                </p:cTn>
                              </p:par>
                            </p:childTnLst>
                          </p:cTn>
                        </p:par>
                        <p:par>
                          <p:cTn id="263" fill="hold">
                            <p:stCondLst>
                              <p:cond delay="0"/>
                            </p:stCondLst>
                            <p:childTnLst>
                              <p:par>
                                <p:cTn id="264" presetID="10" presetClass="entr" presetSubtype="0" fill="hold" grpId="0" nodeType="afterEffect">
                                  <p:stCondLst>
                                    <p:cond delay="0"/>
                                  </p:stCondLst>
                                  <p:childTnLst>
                                    <p:set>
                                      <p:cBhvr>
                                        <p:cTn id="265" dur="1" fill="hold">
                                          <p:stCondLst>
                                            <p:cond delay="0"/>
                                          </p:stCondLst>
                                        </p:cTn>
                                        <p:tgtEl>
                                          <p:spTgt spid="68"/>
                                        </p:tgtEl>
                                        <p:attrNameLst>
                                          <p:attrName>style.visibility</p:attrName>
                                        </p:attrNameLst>
                                      </p:cBhvr>
                                      <p:to>
                                        <p:strVal val="visible"/>
                                      </p:to>
                                    </p:set>
                                    <p:animEffect transition="in" filter="fade">
                                      <p:cBhvr>
                                        <p:cTn id="266" dur="550"/>
                                        <p:tgtEl>
                                          <p:spTgt spid="68"/>
                                        </p:tgtEl>
                                      </p:cBhvr>
                                    </p:animEffect>
                                  </p:childTnLst>
                                </p:cTn>
                              </p:par>
                            </p:childTnLst>
                          </p:cTn>
                        </p:par>
                        <p:par>
                          <p:cTn id="267" fill="hold">
                            <p:stCondLst>
                              <p:cond delay="0"/>
                            </p:stCondLst>
                            <p:childTnLst>
                              <p:par>
                                <p:cTn id="268" presetID="10" presetClass="entr" presetSubtype="0" fill="hold" grpId="0" nodeType="afterEffect">
                                  <p:stCondLst>
                                    <p:cond delay="0"/>
                                  </p:stCondLst>
                                  <p:childTnLst>
                                    <p:set>
                                      <p:cBhvr>
                                        <p:cTn id="269" dur="1" fill="hold">
                                          <p:stCondLst>
                                            <p:cond delay="0"/>
                                          </p:stCondLst>
                                        </p:cTn>
                                        <p:tgtEl>
                                          <p:spTgt spid="69"/>
                                        </p:tgtEl>
                                        <p:attrNameLst>
                                          <p:attrName>style.visibility</p:attrName>
                                        </p:attrNameLst>
                                      </p:cBhvr>
                                      <p:to>
                                        <p:strVal val="visible"/>
                                      </p:to>
                                    </p:set>
                                    <p:animEffect transition="in" filter="fade">
                                      <p:cBhvr>
                                        <p:cTn id="270" dur="550"/>
                                        <p:tgtEl>
                                          <p:spTgt spid="69"/>
                                        </p:tgtEl>
                                      </p:cBhvr>
                                    </p:animEffect>
                                  </p:childTnLst>
                                </p:cTn>
                              </p:par>
                            </p:childTnLst>
                          </p:cTn>
                        </p:par>
                        <p:par>
                          <p:cTn id="271" fill="hold">
                            <p:stCondLst>
                              <p:cond delay="0"/>
                            </p:stCondLst>
                            <p:childTnLst>
                              <p:par>
                                <p:cTn id="272" presetID="10" presetClass="entr" presetSubtype="0" fill="hold" grpId="0" nodeType="afterEffect">
                                  <p:stCondLst>
                                    <p:cond delay="0"/>
                                  </p:stCondLst>
                                  <p:childTnLst>
                                    <p:set>
                                      <p:cBhvr>
                                        <p:cTn id="273" dur="1" fill="hold">
                                          <p:stCondLst>
                                            <p:cond delay="0"/>
                                          </p:stCondLst>
                                        </p:cTn>
                                        <p:tgtEl>
                                          <p:spTgt spid="70"/>
                                        </p:tgtEl>
                                        <p:attrNameLst>
                                          <p:attrName>style.visibility</p:attrName>
                                        </p:attrNameLst>
                                      </p:cBhvr>
                                      <p:to>
                                        <p:strVal val="visible"/>
                                      </p:to>
                                    </p:set>
                                    <p:animEffect transition="in" filter="fade">
                                      <p:cBhvr>
                                        <p:cTn id="274" dur="550"/>
                                        <p:tgtEl>
                                          <p:spTgt spid="70"/>
                                        </p:tgtEl>
                                      </p:cBhvr>
                                    </p:animEffect>
                                  </p:childTnLst>
                                </p:cTn>
                              </p:par>
                            </p:childTnLst>
                          </p:cTn>
                        </p:par>
                        <p:par>
                          <p:cTn id="275" fill="hold">
                            <p:stCondLst>
                              <p:cond delay="0"/>
                            </p:stCondLst>
                            <p:childTnLst>
                              <p:par>
                                <p:cTn id="276" presetID="10" presetClass="entr" presetSubtype="0" fill="hold" grpId="0" nodeType="afterEffect">
                                  <p:stCondLst>
                                    <p:cond delay="0"/>
                                  </p:stCondLst>
                                  <p:childTnLst>
                                    <p:set>
                                      <p:cBhvr>
                                        <p:cTn id="277" dur="1" fill="hold">
                                          <p:stCondLst>
                                            <p:cond delay="0"/>
                                          </p:stCondLst>
                                        </p:cTn>
                                        <p:tgtEl>
                                          <p:spTgt spid="71"/>
                                        </p:tgtEl>
                                        <p:attrNameLst>
                                          <p:attrName>style.visibility</p:attrName>
                                        </p:attrNameLst>
                                      </p:cBhvr>
                                      <p:to>
                                        <p:strVal val="visible"/>
                                      </p:to>
                                    </p:set>
                                    <p:animEffect transition="in" filter="fade">
                                      <p:cBhvr>
                                        <p:cTn id="278" dur="550"/>
                                        <p:tgtEl>
                                          <p:spTgt spid="71"/>
                                        </p:tgtEl>
                                      </p:cBhvr>
                                    </p:animEffect>
                                  </p:childTnLst>
                                </p:cTn>
                              </p:par>
                            </p:childTnLst>
                          </p:cTn>
                        </p:par>
                        <p:par>
                          <p:cTn id="279" fill="hold">
                            <p:stCondLst>
                              <p:cond delay="0"/>
                            </p:stCondLst>
                            <p:childTnLst>
                              <p:par>
                                <p:cTn id="280" presetID="10" presetClass="entr" presetSubtype="0" fill="hold" grpId="0" nodeType="afterEffect">
                                  <p:stCondLst>
                                    <p:cond delay="0"/>
                                  </p:stCondLst>
                                  <p:childTnLst>
                                    <p:set>
                                      <p:cBhvr>
                                        <p:cTn id="281" dur="1" fill="hold">
                                          <p:stCondLst>
                                            <p:cond delay="0"/>
                                          </p:stCondLst>
                                        </p:cTn>
                                        <p:tgtEl>
                                          <p:spTgt spid="72"/>
                                        </p:tgtEl>
                                        <p:attrNameLst>
                                          <p:attrName>style.visibility</p:attrName>
                                        </p:attrNameLst>
                                      </p:cBhvr>
                                      <p:to>
                                        <p:strVal val="visible"/>
                                      </p:to>
                                    </p:set>
                                    <p:animEffect transition="in" filter="fade">
                                      <p:cBhvr>
                                        <p:cTn id="282" dur="550"/>
                                        <p:tgtEl>
                                          <p:spTgt spid="72"/>
                                        </p:tgtEl>
                                      </p:cBhvr>
                                    </p:animEffect>
                                  </p:childTnLst>
                                </p:cTn>
                              </p:par>
                            </p:childTnLst>
                          </p:cTn>
                        </p:par>
                        <p:par>
                          <p:cTn id="283" fill="hold">
                            <p:stCondLst>
                              <p:cond delay="0"/>
                            </p:stCondLst>
                            <p:childTnLst>
                              <p:par>
                                <p:cTn id="284" presetID="10" presetClass="entr" presetSubtype="0" fill="hold" grpId="0" nodeType="afterEffect">
                                  <p:stCondLst>
                                    <p:cond delay="0"/>
                                  </p:stCondLst>
                                  <p:childTnLst>
                                    <p:set>
                                      <p:cBhvr>
                                        <p:cTn id="285" dur="1" fill="hold">
                                          <p:stCondLst>
                                            <p:cond delay="0"/>
                                          </p:stCondLst>
                                        </p:cTn>
                                        <p:tgtEl>
                                          <p:spTgt spid="73"/>
                                        </p:tgtEl>
                                        <p:attrNameLst>
                                          <p:attrName>style.visibility</p:attrName>
                                        </p:attrNameLst>
                                      </p:cBhvr>
                                      <p:to>
                                        <p:strVal val="visible"/>
                                      </p:to>
                                    </p:set>
                                    <p:animEffect transition="in" filter="fade">
                                      <p:cBhvr>
                                        <p:cTn id="286" dur="550"/>
                                        <p:tgtEl>
                                          <p:spTgt spid="73"/>
                                        </p:tgtEl>
                                      </p:cBhvr>
                                    </p:animEffect>
                                  </p:childTnLst>
                                </p:cTn>
                              </p:par>
                            </p:childTnLst>
                          </p:cTn>
                        </p:par>
                        <p:par>
                          <p:cTn id="287" fill="hold">
                            <p:stCondLst>
                              <p:cond delay="0"/>
                            </p:stCondLst>
                            <p:childTnLst>
                              <p:par>
                                <p:cTn id="288" presetID="10" presetClass="entr" presetSubtype="0" fill="hold" grpId="0" nodeType="afterEffect">
                                  <p:stCondLst>
                                    <p:cond delay="0"/>
                                  </p:stCondLst>
                                  <p:childTnLst>
                                    <p:set>
                                      <p:cBhvr>
                                        <p:cTn id="289" dur="1" fill="hold">
                                          <p:stCondLst>
                                            <p:cond delay="0"/>
                                          </p:stCondLst>
                                        </p:cTn>
                                        <p:tgtEl>
                                          <p:spTgt spid="74"/>
                                        </p:tgtEl>
                                        <p:attrNameLst>
                                          <p:attrName>style.visibility</p:attrName>
                                        </p:attrNameLst>
                                      </p:cBhvr>
                                      <p:to>
                                        <p:strVal val="visible"/>
                                      </p:to>
                                    </p:set>
                                    <p:animEffect transition="in" filter="fade">
                                      <p:cBhvr>
                                        <p:cTn id="290" dur="550"/>
                                        <p:tgtEl>
                                          <p:spTgt spid="74"/>
                                        </p:tgtEl>
                                      </p:cBhvr>
                                    </p:animEffect>
                                  </p:childTnLst>
                                </p:cTn>
                              </p:par>
                            </p:childTnLst>
                          </p:cTn>
                        </p:par>
                        <p:par>
                          <p:cTn id="291" fill="hold">
                            <p:stCondLst>
                              <p:cond delay="0"/>
                            </p:stCondLst>
                            <p:childTnLst>
                              <p:par>
                                <p:cTn id="292" presetID="10" presetClass="entr" presetSubtype="0" fill="hold" grpId="0" nodeType="afterEffect">
                                  <p:stCondLst>
                                    <p:cond delay="0"/>
                                  </p:stCondLst>
                                  <p:childTnLst>
                                    <p:set>
                                      <p:cBhvr>
                                        <p:cTn id="293" dur="1" fill="hold">
                                          <p:stCondLst>
                                            <p:cond delay="0"/>
                                          </p:stCondLst>
                                        </p:cTn>
                                        <p:tgtEl>
                                          <p:spTgt spid="75"/>
                                        </p:tgtEl>
                                        <p:attrNameLst>
                                          <p:attrName>style.visibility</p:attrName>
                                        </p:attrNameLst>
                                      </p:cBhvr>
                                      <p:to>
                                        <p:strVal val="visible"/>
                                      </p:to>
                                    </p:set>
                                    <p:animEffect transition="in" filter="fade">
                                      <p:cBhvr>
                                        <p:cTn id="294" dur="550"/>
                                        <p:tgtEl>
                                          <p:spTgt spid="75"/>
                                        </p:tgtEl>
                                      </p:cBhvr>
                                    </p:animEffect>
                                  </p:childTnLst>
                                </p:cTn>
                              </p:par>
                            </p:childTnLst>
                          </p:cTn>
                        </p:par>
                        <p:par>
                          <p:cTn id="295" fill="hold">
                            <p:stCondLst>
                              <p:cond delay="0"/>
                            </p:stCondLst>
                            <p:childTnLst>
                              <p:par>
                                <p:cTn id="296" presetID="10" presetClass="entr" presetSubtype="0" fill="hold" grpId="0" nodeType="afterEffect">
                                  <p:stCondLst>
                                    <p:cond delay="0"/>
                                  </p:stCondLst>
                                  <p:childTnLst>
                                    <p:set>
                                      <p:cBhvr>
                                        <p:cTn id="297" dur="1" fill="hold">
                                          <p:stCondLst>
                                            <p:cond delay="0"/>
                                          </p:stCondLst>
                                        </p:cTn>
                                        <p:tgtEl>
                                          <p:spTgt spid="76"/>
                                        </p:tgtEl>
                                        <p:attrNameLst>
                                          <p:attrName>style.visibility</p:attrName>
                                        </p:attrNameLst>
                                      </p:cBhvr>
                                      <p:to>
                                        <p:strVal val="visible"/>
                                      </p:to>
                                    </p:set>
                                    <p:animEffect transition="in" filter="fade">
                                      <p:cBhvr>
                                        <p:cTn id="298" dur="550"/>
                                        <p:tgtEl>
                                          <p:spTgt spid="76"/>
                                        </p:tgtEl>
                                      </p:cBhvr>
                                    </p:animEffect>
                                  </p:childTnLst>
                                </p:cTn>
                              </p:par>
                            </p:childTnLst>
                          </p:cTn>
                        </p:par>
                        <p:par>
                          <p:cTn id="299" fill="hold">
                            <p:stCondLst>
                              <p:cond delay="0"/>
                            </p:stCondLst>
                            <p:childTnLst>
                              <p:par>
                                <p:cTn id="300" presetID="10" presetClass="entr" presetSubtype="0" fill="hold" grpId="0" nodeType="afterEffect">
                                  <p:stCondLst>
                                    <p:cond delay="0"/>
                                  </p:stCondLst>
                                  <p:childTnLst>
                                    <p:set>
                                      <p:cBhvr>
                                        <p:cTn id="301" dur="1" fill="hold">
                                          <p:stCondLst>
                                            <p:cond delay="0"/>
                                          </p:stCondLst>
                                        </p:cTn>
                                        <p:tgtEl>
                                          <p:spTgt spid="77"/>
                                        </p:tgtEl>
                                        <p:attrNameLst>
                                          <p:attrName>style.visibility</p:attrName>
                                        </p:attrNameLst>
                                      </p:cBhvr>
                                      <p:to>
                                        <p:strVal val="visible"/>
                                      </p:to>
                                    </p:set>
                                    <p:animEffect transition="in" filter="fade">
                                      <p:cBhvr>
                                        <p:cTn id="302" dur="550"/>
                                        <p:tgtEl>
                                          <p:spTgt spid="77"/>
                                        </p:tgtEl>
                                      </p:cBhvr>
                                    </p:animEffect>
                                  </p:childTnLst>
                                </p:cTn>
                              </p:par>
                            </p:childTnLst>
                          </p:cTn>
                        </p:par>
                        <p:par>
                          <p:cTn id="303" fill="hold">
                            <p:stCondLst>
                              <p:cond delay="0"/>
                            </p:stCondLst>
                            <p:childTnLst>
                              <p:par>
                                <p:cTn id="304" presetID="10" presetClass="entr" presetSubtype="0" fill="hold" grpId="0" nodeType="afterEffect">
                                  <p:stCondLst>
                                    <p:cond delay="0"/>
                                  </p:stCondLst>
                                  <p:childTnLst>
                                    <p:set>
                                      <p:cBhvr>
                                        <p:cTn id="305" dur="1" fill="hold">
                                          <p:stCondLst>
                                            <p:cond delay="0"/>
                                          </p:stCondLst>
                                        </p:cTn>
                                        <p:tgtEl>
                                          <p:spTgt spid="78"/>
                                        </p:tgtEl>
                                        <p:attrNameLst>
                                          <p:attrName>style.visibility</p:attrName>
                                        </p:attrNameLst>
                                      </p:cBhvr>
                                      <p:to>
                                        <p:strVal val="visible"/>
                                      </p:to>
                                    </p:set>
                                    <p:animEffect transition="in" filter="fade">
                                      <p:cBhvr>
                                        <p:cTn id="306" dur="550"/>
                                        <p:tgtEl>
                                          <p:spTgt spid="78"/>
                                        </p:tgtEl>
                                      </p:cBhvr>
                                    </p:animEffect>
                                  </p:childTnLst>
                                </p:cTn>
                              </p:par>
                            </p:childTnLst>
                          </p:cTn>
                        </p:par>
                        <p:par>
                          <p:cTn id="307" fill="hold">
                            <p:stCondLst>
                              <p:cond delay="0"/>
                            </p:stCondLst>
                            <p:childTnLst>
                              <p:par>
                                <p:cTn id="308" presetID="10" presetClass="entr" presetSubtype="0" fill="hold" grpId="0" nodeType="afterEffect">
                                  <p:stCondLst>
                                    <p:cond delay="0"/>
                                  </p:stCondLst>
                                  <p:childTnLst>
                                    <p:set>
                                      <p:cBhvr>
                                        <p:cTn id="309" dur="1" fill="hold">
                                          <p:stCondLst>
                                            <p:cond delay="0"/>
                                          </p:stCondLst>
                                        </p:cTn>
                                        <p:tgtEl>
                                          <p:spTgt spid="79"/>
                                        </p:tgtEl>
                                        <p:attrNameLst>
                                          <p:attrName>style.visibility</p:attrName>
                                        </p:attrNameLst>
                                      </p:cBhvr>
                                      <p:to>
                                        <p:strVal val="visible"/>
                                      </p:to>
                                    </p:set>
                                    <p:animEffect transition="in" filter="fade">
                                      <p:cBhvr>
                                        <p:cTn id="310" dur="550"/>
                                        <p:tgtEl>
                                          <p:spTgt spid="79"/>
                                        </p:tgtEl>
                                      </p:cBhvr>
                                    </p:animEffect>
                                  </p:childTnLst>
                                </p:cTn>
                              </p:par>
                            </p:childTnLst>
                          </p:cTn>
                        </p:par>
                        <p:par>
                          <p:cTn id="311" fill="hold">
                            <p:stCondLst>
                              <p:cond delay="0"/>
                            </p:stCondLst>
                            <p:childTnLst>
                              <p:par>
                                <p:cTn id="312" presetID="10" presetClass="entr" presetSubtype="0" fill="hold" grpId="0" nodeType="afterEffect">
                                  <p:stCondLst>
                                    <p:cond delay="0"/>
                                  </p:stCondLst>
                                  <p:childTnLst>
                                    <p:set>
                                      <p:cBhvr>
                                        <p:cTn id="313" dur="1" fill="hold">
                                          <p:stCondLst>
                                            <p:cond delay="0"/>
                                          </p:stCondLst>
                                        </p:cTn>
                                        <p:tgtEl>
                                          <p:spTgt spid="80"/>
                                        </p:tgtEl>
                                        <p:attrNameLst>
                                          <p:attrName>style.visibility</p:attrName>
                                        </p:attrNameLst>
                                      </p:cBhvr>
                                      <p:to>
                                        <p:strVal val="visible"/>
                                      </p:to>
                                    </p:set>
                                    <p:animEffect transition="in" filter="fade">
                                      <p:cBhvr>
                                        <p:cTn id="314" dur="550"/>
                                        <p:tgtEl>
                                          <p:spTgt spid="80"/>
                                        </p:tgtEl>
                                      </p:cBhvr>
                                    </p:animEffect>
                                  </p:childTnLst>
                                </p:cTn>
                              </p:par>
                            </p:childTnLst>
                          </p:cTn>
                        </p:par>
                        <p:par>
                          <p:cTn id="315" fill="hold">
                            <p:stCondLst>
                              <p:cond delay="0"/>
                            </p:stCondLst>
                            <p:childTnLst>
                              <p:par>
                                <p:cTn id="316" presetID="10" presetClass="entr" presetSubtype="0" fill="hold" grpId="0" nodeType="afterEffect">
                                  <p:stCondLst>
                                    <p:cond delay="0"/>
                                  </p:stCondLst>
                                  <p:childTnLst>
                                    <p:set>
                                      <p:cBhvr>
                                        <p:cTn id="317" dur="1" fill="hold">
                                          <p:stCondLst>
                                            <p:cond delay="0"/>
                                          </p:stCondLst>
                                        </p:cTn>
                                        <p:tgtEl>
                                          <p:spTgt spid="81"/>
                                        </p:tgtEl>
                                        <p:attrNameLst>
                                          <p:attrName>style.visibility</p:attrName>
                                        </p:attrNameLst>
                                      </p:cBhvr>
                                      <p:to>
                                        <p:strVal val="visible"/>
                                      </p:to>
                                    </p:set>
                                    <p:animEffect transition="in" filter="fade">
                                      <p:cBhvr>
                                        <p:cTn id="318" dur="550"/>
                                        <p:tgtEl>
                                          <p:spTgt spid="81"/>
                                        </p:tgtEl>
                                      </p:cBhvr>
                                    </p:animEffect>
                                  </p:childTnLst>
                                </p:cTn>
                              </p:par>
                            </p:childTnLst>
                          </p:cTn>
                        </p:par>
                        <p:par>
                          <p:cTn id="319" fill="hold">
                            <p:stCondLst>
                              <p:cond delay="0"/>
                            </p:stCondLst>
                            <p:childTnLst>
                              <p:par>
                                <p:cTn id="320" presetID="10" presetClass="entr" presetSubtype="0" fill="hold" grpId="0" nodeType="afterEffect">
                                  <p:stCondLst>
                                    <p:cond delay="0"/>
                                  </p:stCondLst>
                                  <p:childTnLst>
                                    <p:set>
                                      <p:cBhvr>
                                        <p:cTn id="321" dur="1" fill="hold">
                                          <p:stCondLst>
                                            <p:cond delay="0"/>
                                          </p:stCondLst>
                                        </p:cTn>
                                        <p:tgtEl>
                                          <p:spTgt spid="82"/>
                                        </p:tgtEl>
                                        <p:attrNameLst>
                                          <p:attrName>style.visibility</p:attrName>
                                        </p:attrNameLst>
                                      </p:cBhvr>
                                      <p:to>
                                        <p:strVal val="visible"/>
                                      </p:to>
                                    </p:set>
                                    <p:animEffect transition="in" filter="fade">
                                      <p:cBhvr>
                                        <p:cTn id="322" dur="550"/>
                                        <p:tgtEl>
                                          <p:spTgt spid="82"/>
                                        </p:tgtEl>
                                      </p:cBhvr>
                                    </p:animEffect>
                                  </p:childTnLst>
                                </p:cTn>
                              </p:par>
                            </p:childTnLst>
                          </p:cTn>
                        </p:par>
                        <p:par>
                          <p:cTn id="323" fill="hold">
                            <p:stCondLst>
                              <p:cond delay="0"/>
                            </p:stCondLst>
                            <p:childTnLst>
                              <p:par>
                                <p:cTn id="324" presetID="10" presetClass="entr" presetSubtype="0" fill="hold" grpId="0" nodeType="afterEffect">
                                  <p:stCondLst>
                                    <p:cond delay="0"/>
                                  </p:stCondLst>
                                  <p:childTnLst>
                                    <p:set>
                                      <p:cBhvr>
                                        <p:cTn id="325" dur="1" fill="hold">
                                          <p:stCondLst>
                                            <p:cond delay="0"/>
                                          </p:stCondLst>
                                        </p:cTn>
                                        <p:tgtEl>
                                          <p:spTgt spid="83"/>
                                        </p:tgtEl>
                                        <p:attrNameLst>
                                          <p:attrName>style.visibility</p:attrName>
                                        </p:attrNameLst>
                                      </p:cBhvr>
                                      <p:to>
                                        <p:strVal val="visible"/>
                                      </p:to>
                                    </p:set>
                                    <p:animEffect transition="in" filter="fade">
                                      <p:cBhvr>
                                        <p:cTn id="326" dur="550"/>
                                        <p:tgtEl>
                                          <p:spTgt spid="83"/>
                                        </p:tgtEl>
                                      </p:cBhvr>
                                    </p:animEffect>
                                  </p:childTnLst>
                                </p:cTn>
                              </p:par>
                            </p:childTnLst>
                          </p:cTn>
                        </p:par>
                        <p:par>
                          <p:cTn id="327" fill="hold">
                            <p:stCondLst>
                              <p:cond delay="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50"/>
                                        <p:tgtEl>
                                          <p:spTgt spid="84"/>
                                        </p:tgtEl>
                                      </p:cBhvr>
                                    </p:animEffect>
                                  </p:childTnLst>
                                </p:cTn>
                              </p:par>
                            </p:childTnLst>
                          </p:cTn>
                        </p:par>
                        <p:par>
                          <p:cTn id="331" fill="hold">
                            <p:stCondLst>
                              <p:cond delay="0"/>
                            </p:stCondLst>
                            <p:childTnLst>
                              <p:par>
                                <p:cTn id="332" presetID="10" presetClass="entr" presetSubtype="0" fill="hold" grpId="0" nodeType="afterEffect">
                                  <p:stCondLst>
                                    <p:cond delay="0"/>
                                  </p:stCondLst>
                                  <p:childTnLst>
                                    <p:set>
                                      <p:cBhvr>
                                        <p:cTn id="333" dur="1" fill="hold">
                                          <p:stCondLst>
                                            <p:cond delay="0"/>
                                          </p:stCondLst>
                                        </p:cTn>
                                        <p:tgtEl>
                                          <p:spTgt spid="85"/>
                                        </p:tgtEl>
                                        <p:attrNameLst>
                                          <p:attrName>style.visibility</p:attrName>
                                        </p:attrNameLst>
                                      </p:cBhvr>
                                      <p:to>
                                        <p:strVal val="visible"/>
                                      </p:to>
                                    </p:set>
                                    <p:animEffect transition="in" filter="fade">
                                      <p:cBhvr>
                                        <p:cTn id="334" dur="550"/>
                                        <p:tgtEl>
                                          <p:spTgt spid="85"/>
                                        </p:tgtEl>
                                      </p:cBhvr>
                                    </p:animEffect>
                                  </p:childTnLst>
                                </p:cTn>
                              </p:par>
                            </p:childTnLst>
                          </p:cTn>
                        </p:par>
                        <p:par>
                          <p:cTn id="335" fill="hold">
                            <p:stCondLst>
                              <p:cond delay="200"/>
                            </p:stCondLst>
                            <p:childTnLst>
                              <p:par>
                                <p:cTn id="336" presetID="53" presetClass="entr" presetSubtype="16" fill="hold" grpId="0" nodeType="afterEffect">
                                  <p:stCondLst>
                                    <p:cond delay="0"/>
                                  </p:stCondLst>
                                  <p:childTnLst>
                                    <p:set>
                                      <p:cBhvr>
                                        <p:cTn id="337" dur="1" fill="hold">
                                          <p:stCondLst>
                                            <p:cond delay="0"/>
                                          </p:stCondLst>
                                        </p:cTn>
                                        <p:tgtEl>
                                          <p:spTgt spid="86"/>
                                        </p:tgtEl>
                                        <p:attrNameLst>
                                          <p:attrName>style.visibility</p:attrName>
                                        </p:attrNameLst>
                                      </p:cBhvr>
                                      <p:to>
                                        <p:strVal val="visible"/>
                                      </p:to>
                                    </p:set>
                                    <p:animEffect transition="in" filter="fade">
                                      <p:cBhvr>
                                        <p:cTn id="338" dur="550"/>
                                        <p:tgtEl>
                                          <p:spTgt spid="86"/>
                                        </p:tgtEl>
                                      </p:cBhvr>
                                    </p:animEffect>
                                    <p:anim calcmode="lin" valueType="num">
                                      <p:cBhvr additive="base">
                                        <p:cTn id="339" dur="550" fill="hold"/>
                                        <p:tgtEl>
                                          <p:spTgt spid="86"/>
                                        </p:tgtEl>
                                        <p:attrNameLst>
                                          <p:attrName>ppt_w</p:attrName>
                                        </p:attrNameLst>
                                      </p:cBhvr>
                                      <p:tavLst>
                                        <p:tav tm="0">
                                          <p:val>
                                            <p:strVal val="0"/>
                                          </p:val>
                                        </p:tav>
                                        <p:tav tm="100000">
                                          <p:val>
                                            <p:strVal val="#ppt_w"/>
                                          </p:val>
                                        </p:tav>
                                      </p:tavLst>
                                    </p:anim>
                                    <p:anim calcmode="lin" valueType="num">
                                      <p:cBhvr additive="base">
                                        <p:cTn id="340" dur="550" fill="hold"/>
                                        <p:tgtEl>
                                          <p:spTgt spid="86"/>
                                        </p:tgtEl>
                                        <p:attrNameLst>
                                          <p:attrName>ppt_h</p:attrName>
                                        </p:attrNameLst>
                                      </p:cBhvr>
                                      <p:tavLst>
                                        <p:tav tm="0">
                                          <p:val>
                                            <p:strVal val="0"/>
                                          </p:val>
                                        </p:tav>
                                        <p:tav tm="100000">
                                          <p:val>
                                            <p:strVal val="#ppt_h"/>
                                          </p:val>
                                        </p:tav>
                                      </p:tavLst>
                                    </p:anim>
                                  </p:childTnLst>
                                </p:cTn>
                              </p:par>
                            </p:childTnLst>
                          </p:cTn>
                        </p:par>
                        <p:par>
                          <p:cTn id="341" fill="hold">
                            <p:stCondLst>
                              <p:cond delay="350"/>
                            </p:stCondLst>
                            <p:childTnLst>
                              <p:par>
                                <p:cTn id="342" presetID="22" presetClass="entr" presetSubtype="8" fill="hold" grpId="0" nodeType="afterEffect">
                                  <p:stCondLst>
                                    <p:cond delay="0"/>
                                  </p:stCondLst>
                                  <p:childTnLst>
                                    <p:set>
                                      <p:cBhvr>
                                        <p:cTn id="343" dur="1" fill="hold">
                                          <p:stCondLst>
                                            <p:cond delay="0"/>
                                          </p:stCondLst>
                                        </p:cTn>
                                        <p:tgtEl>
                                          <p:spTgt spid="87"/>
                                        </p:tgtEl>
                                        <p:attrNameLst>
                                          <p:attrName>style.visibility</p:attrName>
                                        </p:attrNameLst>
                                      </p:cBhvr>
                                      <p:to>
                                        <p:strVal val="visible"/>
                                      </p:to>
                                    </p:set>
                                    <p:animEffect transition="in" filter="wipe(left)">
                                      <p:cBhvr>
                                        <p:cTn id="345" dur="800"/>
                                        <p:tgtEl>
                                          <p:spTgt spid="87"/>
                                        </p:tgtEl>
                                      </p:cBhvr>
                                    </p:animEffect>
                                  </p:childTnLst>
                                </p:cTn>
                              </p:par>
                            </p:childTnLst>
                          </p:cTn>
                        </p:par>
                        <p:par>
                          <p:cTn id="346" fill="hold">
                            <p:stCondLst>
                              <p:cond delay="500"/>
                            </p:stCondLst>
                            <p:childTnLst>
                              <p:par>
                                <p:cTn id="347" presetID="42" presetClass="entr" presetSubtype="0" fill="hold" grpId="0" nodeType="afterEffect">
                                  <p:stCondLst>
                                    <p:cond delay="0"/>
                                  </p:stCondLst>
                                  <p:childTnLst>
                                    <p:set>
                                      <p:cBhvr>
                                        <p:cTn id="348" dur="1" fill="hold">
                                          <p:stCondLst>
                                            <p:cond delay="0"/>
                                          </p:stCondLst>
                                        </p:cTn>
                                        <p:tgtEl>
                                          <p:spTgt spid="88"/>
                                        </p:tgtEl>
                                        <p:attrNameLst>
                                          <p:attrName>style.visibility</p:attrName>
                                        </p:attrNameLst>
                                      </p:cBhvr>
                                      <p:to>
                                        <p:strVal val="visible"/>
                                      </p:to>
                                    </p:set>
                                    <p:animEffect transition="in" filter="fade">
                                      <p:cBhvr>
                                        <p:cTn id="349" dur="550"/>
                                        <p:tgtEl>
                                          <p:spTgt spid="88"/>
                                        </p:tgtEl>
                                      </p:cBhvr>
                                    </p:animEffect>
                                    <p:anim calcmode="lin" valueType="num">
                                      <p:cBhvr additive="base">
                                        <p:cTn id="350" dur="550" fill="hold"/>
                                        <p:tgtEl>
                                          <p:spTgt spid="88"/>
                                        </p:tgtEl>
                                        <p:attrNameLst>
                                          <p:attrName>ppt_x</p:attrName>
                                        </p:attrNameLst>
                                      </p:cBhvr>
                                      <p:tavLst>
                                        <p:tav tm="0">
                                          <p:val>
                                            <p:strVal val="#ppt_x"/>
                                          </p:val>
                                        </p:tav>
                                        <p:tav tm="100000">
                                          <p:val>
                                            <p:strVal val="#ppt_x"/>
                                          </p:val>
                                        </p:tav>
                                      </p:tavLst>
                                    </p:anim>
                                    <p:anim calcmode="lin" valueType="num">
                                      <p:cBhvr additive="base">
                                        <p:cTn id="351" dur="550" fill="hold"/>
                                        <p:tgtEl>
                                          <p:spTgt spid="88"/>
                                        </p:tgtEl>
                                        <p:attrNameLst>
                                          <p:attrName>ppt_y</p:attrName>
                                        </p:attrNameLst>
                                      </p:cBhvr>
                                      <p:tavLst>
                                        <p:tav tm="0">
                                          <p:val>
                                            <p:strVal val="#ppt_y+.08"/>
                                          </p:val>
                                        </p:tav>
                                        <p:tav tm="100000">
                                          <p:val>
                                            <p:strVal val="#ppt_y"/>
                                          </p:val>
                                        </p:tav>
                                      </p:tavLst>
                                    </p:anim>
                                  </p:childTnLst>
                                </p:cTn>
                              </p:par>
                            </p:childTnLst>
                          </p:cTn>
                        </p:par>
                        <p:par>
                          <p:cTn id="352" fill="hold">
                            <p:stCondLst>
                              <p:cond delay="650"/>
                            </p:stCondLst>
                            <p:childTnLst>
                              <p:par>
                                <p:cTn id="353" presetID="10" presetClass="entr" presetSubtype="0" fill="hold" grpId="0" nodeType="afterEffect">
                                  <p:stCondLst>
                                    <p:cond delay="0"/>
                                  </p:stCondLst>
                                  <p:childTnLst>
                                    <p:set>
                                      <p:cBhvr>
                                        <p:cTn id="354" dur="1" fill="hold">
                                          <p:stCondLst>
                                            <p:cond delay="0"/>
                                          </p:stCondLst>
                                        </p:cTn>
                                        <p:tgtEl>
                                          <p:spTgt spid="89"/>
                                        </p:tgtEl>
                                        <p:attrNameLst>
                                          <p:attrName>style.visibility</p:attrName>
                                        </p:attrNameLst>
                                      </p:cBhvr>
                                      <p:to>
                                        <p:strVal val="visible"/>
                                      </p:to>
                                    </p:set>
                                    <p:animEffect transition="in" filter="fade">
                                      <p:cBhvr>
                                        <p:cTn id="355" dur="55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
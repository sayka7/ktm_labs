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tizimlarining unumdorligini (performance) o'lchash, tahlil qilish va baholashning muhandislik metodologiyasini shakllantirishdir. Oldingi ma'ruzalarda biz apparat arxitekturalari, parallel hisoblash va optimallashtirish usullari bilan tanishdik; endi savol shunday qo'yiladi: ma'lum bir tizim o'z apparatining imkoniyatidan qanchalik to'liq foydalanmoqda, uni cheklayotgan omil nima va qaysi optimallashtirish haqiqatan ham natija beradi? Bu savollarga javob «taxmin» bilan emas, o'lchov va model bilan beriladi. Shuning uchun mavzu ikki ustunga tayanadi: empirik profiling va benchmarking vositalari hamda analitik Roofline modeli.</a:t>
            </a:r>
          </a:p>
          <a:p/>
          <a:p>
            <a:r>
              <a:t>Mavzuni o'zlashtirgach talaba:</a:t>
            </a:r>
          </a:p>
          <a:p/>
          <a:p>
            <a:r>
              <a:t>AI tizimi unumdorligining asosiy mezonlarini — kechikish (latency), o'tkazuvchanlik (throughput), masshtablanuvchanlik (scalability), energiya samaradorligi — to'g'ri ta'riflay oladi, ular orasidagi bog'liqlik va qarama-qarshiliklarni tushuntira oladi.</a:t>
            </a:r>
          </a:p>
          <a:p/>
          <a:p>
            <a:r>
              <a:t>Benchmark o'tkazishning to'g'ri metodologiyasini (isitish, sinxronizatsiya, takrorlash, foizillar, muhitni qayd etish) qo'llay oladi va MLPerf kabi sanoat benchmarklarining tuzilishini biladi.</a:t>
            </a:r>
          </a:p>
          <a:p/>
          <a:p>
            <a:r>
              <a:t>PyTorch Profiler va NVIDIA Nsight vositalari yordamida profil olib, vaqt qayerga ketayotganini (kernel, xotira ko'chirish, CPU kutish) aniqlay oladi.</a:t>
            </a:r>
          </a:p>
          <a:p/>
          <a:p>
            <a:r>
              <a:t>Roofline modelini berilgan apparat va yadro uchun hisoblab, ish yukining hisoblash yoki xotira bilan cheklanganini aniqlay oladi va shundan optimallashtirish strategiyasini keltirib chiqara oladi.</a:t>
            </a:r>
          </a:p>
          <a:p/>
          <a:p>
            <a:r>
              <a:t>nvidia-smi va NVML orqali energiya sarfini o'lchab, bir inferensga sarflangan joul va vatt boshiga unumdorlikni hisoblay oladi.</a:t>
            </a:r>
          </a:p>
          <a:p/>
          <a:p>
            <a:r>
              <a:t>Mavzu fanning TN2 (apparat platformalarini tahlil qilish va tanlash), TN4 (AI tizimlarini optimallashtirish) va TN3 (tizimlarni baholash) natijalariga xizmat qiladi; A2 va A3 amaliy mashg'ulotlari hamda 2- va 3-mustaqil ta'lim topshiriqlari bilan bevosita bog'liq.</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tizimlarining unumdorligini (performance) o'lchash, tahlil qilish va baholashning muhandislik metodologiyasini shakllantirishdir. Oldingi ma'ruzalarda biz apparat arxitekturalari, parallel hisoblash va optimallashtirish usullari bilan tanishdik; endi savol shunday qo'yiladi: ma'lum bir tizim o'z apparatining imkoniyatidan qanchalik to'liq foydalanmoqda, uni cheklayotgan omil nima va qaysi optimallashtirish haqiqatan ham natija beradi? Bu savollarga javob «taxmin» bilan emas, o'lchov va model bilan beriladi. Shuning uchun mavzu ikki ustunga tayanadi: empirik profiling va benchmarking vositalari hamda analitik Roofline modeli.</a:t>
            </a:r>
          </a:p>
          <a:p/>
          <a:p>
            <a:r>
              <a:t>Mavzuni o'zlashtirgach talaba:</a:t>
            </a:r>
          </a:p>
          <a:p/>
          <a:p>
            <a:r>
              <a:t>AI tizimi unumdorligining asosiy mezonlarini — kechikish (latency), o'tkazuvchanlik (throughput), masshtablanuvchanlik (scalability), energiya samaradorligi — to'g'ri ta'riflay oladi, ular orasidagi bog'liqlik va qarama-qarshiliklarni tushuntira oladi.</a:t>
            </a:r>
          </a:p>
          <a:p/>
          <a:p>
            <a:r>
              <a:t>Benchmark o'tkazishning to'g'ri metodologiyasini (isitish, sinxronizatsiya, takrorlash, foizillar, muhitni qayd etish) qo'llay oladi va MLPerf kabi sanoat benchmarklarining tuzilishini biladi.</a:t>
            </a:r>
          </a:p>
          <a:p/>
          <a:p>
            <a:r>
              <a:t>PyTorch Profiler va NVIDIA Nsight vositalari yordamida profil olib, vaqt qayerga ketayotganini (kernel, xotira ko'chirish, CPU kutish) aniqlay oladi.</a:t>
            </a:r>
          </a:p>
          <a:p/>
          <a:p>
            <a:r>
              <a:t>Roofline modelini berilgan apparat va yadro uchun hisoblab, ish yukining hisoblash yoki xotira bilan cheklanganini aniqlay oladi va shundan optimallashtirish strategiyasini keltirib chiqara oladi.</a:t>
            </a:r>
          </a:p>
          <a:p/>
          <a:p>
            <a:r>
              <a:t>nvidia-smi va NVML orqali energiya sarfini o'lchab, bir inferensga sarflangan joul va vatt boshiga unumdorlikni hisoblay oladi.</a:t>
            </a:r>
          </a:p>
          <a:p/>
          <a:p>
            <a:r>
              <a:t>Mavzu fanning TN2 (apparat platformalarini tahlil qilish va tanlash), TN4 (AI tizimlarini optimallashtirish) va TN3 (tizimlarni baholash) natijalariga xizmat qiladi; A2 va A3 amaliy mashg'ulotlari hamda 2- va 3-mustaqil ta'lim topshiriqlari bilan bevosita bog'liq.</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AI tezlatkichlarining nazariy quvvati hayratlanarli: NVIDIA A100 FP16 tensor yadrolarida sekundiga 312 trillion amal (312 TFLOPS), H100 esa 989 TFLOPS (zich rejimda) bajara oladi. Biroq amaliyotda ko'plab ishlab chiqarish tizimlari bu quvvatning 5–15 foizidan foydalanadi, xolos. Katta til modellarini o'qitishda «model FLOPs utilization» (MFU) ko'rsatkichi 40–50 foizga yetsa yaxshi natija hisoblanadi; inferensda, ayniqsa kichik partiyalarda, GPU vaqtining katta qismi xotira kutish yoki CPU tomonidan yadrolarni ishga tushirishni kutish bilan o'tadi. Bu farq — nazariy cho'qqi va haqiqiy unumdorlik o'rtasidagi jarlik — aynan unumdorlik tahlilining predmetidir.</a:t>
            </a:r>
          </a:p>
          <a:p/>
          <a:p>
            <a:r>
              <a:t>Muammoning iqtisodiy o'lchami katta. Bitta H100 serverining soatlik ijara narxi bulutda bir necha dollar, minglab GPU'dan iborat klasterda esa 10 foiz samaradorlik farqi yiliga millionlab dollar demak. Chekka qurilmalarda esa savol boshqacha qo'yiladi: Jetson Orin modulida berilgan 15–60 vatt byudjetida kamera oqimini real vaqtda qayta ishlash mumkinmi? Har ikki holatda ham javob o'lchovga asoslanishi kerak, chunki intuitsiya ko'pincha aldaydi: masalan, muhandis modelni kvantlashga vaqt sarflaydi, holbuki tizim ma'lumot yuklagich (data loader) bilan cheklangan bo'ladi va GPU 70 foiz vaqt bo'sh turadi.</a:t>
            </a:r>
          </a:p>
          <a:p/>
          <a:p>
            <a:r>
              <a:t>Unumdorlik tahlili bir martalik ish emas, balki tsikl: o'lchash, to'siqni (bottleneck) aniqlash, gipoteza qo'yish, o'zgartirish, qayta o'lchash. Bu tsiklda ikki turdagi vosita kerak. Profilerlar «nima bo'lyapti» degan savolga javob beradi: qaysi yadro qancha vaqt oladi, xotira o'tkazuvchanligi qanchalik band, CPU va GPU qanchalik sinxron ishlaydi. Analitik modellar esa «nima bo'lishi kerak edi» degan savolga javob beradi: berilgan apparat va algoritm uchun erishish mumkin bo'lgan yuqori chegara qancha. Roofline modeli aynan shu ikkinchi savolga oddiy va kuchli javob beradi, va u o'lchov bilan birlashganda optimallashtirishning yo'nalishini aniq ko'rsatadi. Ushbu ma'ruza shu ikki yondashuvni birlashtirgan holda o'lchovdan qarorga olib boruvchi yo'lni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Kechikish (latency) — bitta so'rovni boshidan oxirigacha bajarish vaqti. AI tizimida u bir necha komponentdan yig'iladi: tarmoq va navbatda kutish, oldindan qayta ishlash (preprocessing), xost-qurilma ma'lumot ko'chirish, modelning o'zi, keyingi qayta ishlash. Kechikish hech qachon bitta son emas — u taqsimot. Shuning uchun o'rtacha qiymat bilan birga foizillar (percentiles) hisobot qilinadi: p50 (mediana), p95, p99. «Dum kechikishi» (tail latency) foydalanuvchi tajribasi uchun hal qiluvchi: agar bitta sahifa 100 ta mikroxizmatga murojaat qilsa va har birining p99 kechikishi 1 soniya bo'lsa, foydalanuvchilarning 63 foizi kamida bir marta 1 soniya kutadi. Interaktiv LLM xizmatlarida kechikish yana ikki qismga bo'linadi: birinchi tokengacha vaqt (time to first token, TTFT) va tokenlar orasidagi vaqt (inter-token latency).</a:t>
            </a:r>
          </a:p>
          <a:p/>
          <a:p>
            <a:r>
              <a:t>O'tkazuvchanlik (throughput) — vaqt birligida bajarilgan ish miqdori: sekundiga tasvirlar, so'rovlar yoki tokenlar. Latency va throughput o'rtasidagi munosabat Little qonuni bilan ifodalanadi: L = λ · W, bu yerda L — tizimdagi o'rtacha so'rovlar soni (parallellik), λ — o'tkazuvchanlik, W — o'rtacha kechikish. Bundan muhim xulosa kelib chiqadi: partiya (batch) hajmini oshirib throughput'ni ko'tarish mumkin, lekin har bir so'rovning kechikishi ortadi. GPU'da bu ayniqsa yaqqol: partiya 1 bo'lganda matritsalar kichik, yadrolar to'liq yuklanmaydi va throughput past; partiya 64 bo'lganda GPU to'yinadi, lekin so'rov navbatda boshqa 63 so'rovni kutadi. Shu sababli ishlab chiqarish xizmatlari odatda «kechikish byudjeti» (masalan, p99 ≤ 50 ms) qo'yib, shu chegarada maksimal throughput beruvchi partiya hajmini qidiradi.</a:t>
            </a:r>
          </a:p>
          <a:p/>
          <a:p>
            <a:r>
              <a:t>Masshtablanuvchanlik (scalability) — resurs qo'shilganda unumdorlikning qanday o'sishi. Ikki tur farqlanadi: kuchli masshtablash (strong scaling) — muammo hajmi o'zgarmay, protsessorlar soni ortadi; zaif masshtablash (weak scaling) — har protsessorga to'g'ri keladigan ish hajmi o'zgarmay, umumiy muammo ortadi. Kuchli masshtablashning chegarasini Amdahl qonuni belgilaydi: agar dasturning s ulushi ketma-ket bo'lsa, N protsessorda tezlashish S(N) = 1 / (s + (1 − s)/N) dan oshmaydi — s = 5 % bo'lganda cheksiz protsessorlarda ham 20 martadan ortiq tezlashish yo'q. Gustafson qonuni zaif masshtablash uchun optimistik ko'rinish beradi: S(N) = N − s · (N − 1), ya'ni muammo hajmi o'sgan sari ketma-ket qism ulushi kamayadi. Taqsimlangan o'qitishda masshtablanuvchanlik samaradorligi E(N) = S(N)/N sifatida o'lchanadi; 8 GPU'da 90 foiz samaradorlik yaxshi, 512 GPU'da 70 foiz ham qabul qilinadi, chunki gradientlarni almashish (all-reduce) va sinxronizatsiya ulushi ortadi.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Benchmarking — standart ish yukini nazorat qilingan sharoitda o'lchash; profiling — bajarilish davomida vaqt va resurslarning qayerga sarflanganini tahlil qilish. Ikkalasi ham metodologiyaga bog'liq. GPU'da o'lchashning birinchi qoidasi — asinxronlikni hisobga olish: model(x) chaqiruvi CPU'da darhol qaytadi, GPU esa yadrolarni keyinroq bajaradi, shuning uchun time.time() bilan o'lchash noto'g'ri; torch.cuda.synchronize() yoki CUDA hodisalari (torch.cuda.Event) ishlatilishi shart. Ikkinchi qoida — isitish (warm-up): birinchi iteratsiyalar cuDNN avtomatik sozlash, xotira ajratish, JIT kompilyatsiya tufayli 10–100 marta sekin bo'ladi va o'lchovga kiritilmasligi kerak. Uchinchi qoida — takrorlash va statistika: kamida 100–1000 iteratsiya, mediana va foizillar hisobot qilinadi, o'rtacha emas. To'rtinchi qoida — muhitni qayd etish: GPU modeli, drayver va CUDA versiyasi, soat chastotalari (GPU «boost» rejimida vaqt o'tishi bilan termal cheklovga tushishi mumkin), quvvat chegarasi, partiya hajmi, aniqlik (FP32/FP16/INT8), kirish o'lchami. Beshinchi qoida — to'liq konveyerni o'lchash: faqat model emas, ma'lumot yuklash, preprocessing va natijani qaytarish ham.</a:t>
            </a:r>
          </a:p>
          <a:p/>
          <a:p>
            <a:r>
              <a:t>Sanoat standarti — MLCommons tashkilotining MLPerf benchmark to'plami. MLPerf Training LLM, tasvir tasniflash, obyekt aniqlash kabi vazifalar uchun belgilangan sifatga yetish vaqtini o'lchaydi; MLPerf Inference esa to'rt ssenariyda ishlaydi: bitta oqim (single stream — kechikish), ko'p oqim (multi stream), server (Puasson taqsimotli so'rovlar, kechikish chegarasi bilan) va oflayn (maksimal throughput). Bu ssenariylarning farqi muhim: bir xil apparat oflayn rejimda sekundiga 30 000 tasvir bersa, server rejimida 15 ms chegara bilan bu raqam ikki-uch marta kamayishi mumkin. MLPerf natijalari apparat tanlashda eng ishonchli ochiq manba hisoblanadi, chunki ular hakamlik tekshiruvidan o'tadi va kod ochiq.</a:t>
            </a:r>
          </a:p>
          <a:p/>
          <a:p>
            <a:r>
              <a:t>Profiling vositalari bir necha darajada ishlaydi. PyTorch Profiler (torch.profiler) freymvork darajasida: har bir operator uchun CPU va CUDA vaqti, chaqiruvlar soni, xotira ajratish, hatto Python stekini yozadi va natijani TensorBoard yoki Chrome trace ko'rinishida beradi. NVIDIA Nsight Systems tizim darajasida: CPU iplar, CUDA API chaqiruvlari, yadrolar, xotira ko'chirishlar, NCCL aloqalari bitta vaqt o'qida ko'rsatiladi — bu GPU'ning bo'sh turgan oraliqlarini va ularning sababini (CPU kutmoqda, sinxronizatsiya, kichik yadrolar) topishning eng yaxshi usuli. NVIDIA Nsight Compute yadro darajasida: bitta CUDA yadrosi uchun erishilgan FLOPS, xotira o'tkazuvchanligi, band bo'lish darajasi (occupancy), kesh urish foizi, va hatto Roofline diagrammasini avtomatik chizadi. Uchta vositaning kombinatsiyasi «yuqoridan pastga» tahlilni beradi: avval Nsight Systems bilan vaqt oqimi, keyin PyTorch Profiler bilan qaysi operatorlar, oxirida Nsight Compute bilan nima uchun bu yadro sekin.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Roofline modeli (Williams, Waterman, Patterson, 2009) ish yukining erishishi mumkin bo'lgan unumdorligini ikki apparat parametri bilan bog'laydi: cho'qqi hisoblash tezligi P_peak (FLOP/s) va cho'qqi xotira o'tkazuvchanligi B_peak (bayt/s). Ish yukining xususiyati — arifmetik intensivlik (arithmetic intensity) I = FLOP soni / xotiradan o'qilgan va yozilgan baytlar soni (FLOP/bayt). Model shuni aytadiki, erishiladigan unumdorlik P = min(P_peak, I · B_peak). Grafikda (ikkala o'q logarifmik) bu ikki chiziq — qiya «xotira tomi» va gorizontal «hisoblash tomi» — uy tomini eslatadi, shundan nom kelib chiqqan. Ikki chiziq kesishgan nuqta — «tizma nuqtasi» (ridge point) I = P_peak / B_peak: intensivligi I dan kichik yadrolar xotira bilan cheklangan (memory-bound), kattalari hisoblash bilan cheklangan (compute-bound).</a:t>
            </a:r>
          </a:p>
          <a:p/>
          <a:p>
            <a:r>
              <a:t>Zamonaviy tezlatkichlar uchun tizma nuqtasi hisoblab chiqamiz. A100 SXM 80 GB: FP16 tensor 312 TFLOPS, HBM2e 2039 GB/s → I ≈ 153 FLOP/bayt; FP32 (tensor yadrolarsiz) 19,5 TFLOPS → I ≈ 9,6. H100 SXM: FP16 989 TFLOPS, HBM3 3350 GB/s → I ≈ 295. NVIDIA T4: FP16 65 TFLOPS, GDDR6 320 GB/s → I ≈ 203. Jetson Orin AGX 64 GB: INT8 zich ~ 138 TOPS, LPDDR5 204,8 GB/s → I ≈ 670. Ko'rinib turibdiki, avlodlar almashgan sari hisoblash quvvati xotira o'tkazuvchanligidan tezroq o'sadi, tizma nuqtasi o'ngga suriladi va tobora ko'proq ish yuklari xotira bilan cheklanib qoladi — bu «xotira devori» (memory wall) muammosining Roofline tilidagi ifodasi.</a:t>
            </a:r>
          </a:p>
          <a:p/>
          <a:p>
            <a:r>
              <a:t>Endi tipik yadrolarning intensivligini baholaymiz. M×K va K×N matritsalarni ko'paytirish 2MNK FLOP talab qiladi va FP16'da kamida 2(MK + KN + MN) bayt o'qiydi-yozadi. Kvadrat n×n holatda I = 2n³ / 6n² = n/3: n = 1024 da I ≈ 341, n = 4096 da I ≈ 1365 — A100'da aniq compute-bound. Biroq LLM dekodlashidagi partiya 1 holat matritsa-vektor ko'paytmasi (GEMV): M = 1, I = 2NK / 2(K + KN + N) ≈ 1 FLOP/bayt — tizma nuqtasidan 150 marta past, demak, qattiq memory-bound: GPU har tokenda butun og'irliklarni HBM'dan o'qiydi va hisoblash yadrolari 99 foiz bo'sh turadi. Shuning uchun LLM inferensida tokenlar/soniya taxminan B_peak / model_hajmi_baytlarda bilan chegaralanadi (masalan, 7 milliard parametrli FP16 model, 14 GB, A100'da ≈ 2039/14 ≈ 145 token/s partiya 1 uchun yuqori chegara). Elementar operatsiyalar (ReLU, qo'shish, LayerNorm) I ≈ 0,25–1 bilan hamma vaqt memory-bound; ularni matritsa ko'paytmasiga «birlashtirish» (kernel fusion) aynan shu sababdan samarali. Konvolyutsiya qatlamlari odatda yuqori intensivlikka ega (I yuzlab), lekin kichik partiyalarda va 1×1 konvolyutsiyalarda tushadi.</a:t>
            </a:r>
          </a:p>
          <a:p/>
          <a:p>
            <a:r>
              <a:t>Roofline ikki muhim kengaytmaga ega. Birinchisi — iyerarxik Roofline: har bir xotira darajasi (L1, L2, HBM, NVLink, PCIe) uchun alohida tom chiziladi va intensivlik shu daraja uchun hisoblanadi; bu kesh samaradorligini ko'rsatadi. Ikkinchisi — ko'p «shift» (ceiling): tensor yadrosiz FP32 tomi, FP16 tensor tomi, strukturaviy siyraklik tomi (A100'da 2:4 siyraklik bilan 624 TFLOPS). Modelning kuchi oddiyligida: u yadroning erishishi mumkin bo'lgan chegarasini ko'rsatadi va agar o'lchangan nuqta tomdan ancha pastda bo'lsa, muammo intensivlikda emas, balki yadro samaradorligida (band bo'lish, divergensiya, bank konfliktlari) ekanini aytadi. Agar nuqta xotira tomiga yaqin bo'lsa, yagona yo'l — intensivlikni oshirish: kvantlash (baytlar kamayadi), fusion, partiyani kattalashtirish, ma'lumotlarni qayta ishlatish (tiling).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Energiya ikki sababga ko'ra unumdorlik mezoni bo'ldi. Ma'lumot markazlarida u ekspluatatsiya xarajatining asosiy qismi va quvvat ta'minoti cheklovi: H100 SXM 700 vatt, 8 ta GPU'li DGX H100 esa 10 kilovattgacha iste'mol qiladi. Chekka qurilmalarda esa batareya va issiqlik chegaralari apparat imkoniyatini belgilaydi. Asosiy o'lchovlar: quvvat P (vatt, oniy), energiya E = ∫P dt (joul), bir inferensga energiya (J/inferens yoki mJ/inferens), energiya samaradorligi (inferens/J yoki TOPS/W), ma'lumot markazi uchun PUE (power usage effectiveness — umumiy iste'mol / IT iste'moli, zamonaviy markazlarda 1,1–1,3).</a:t>
            </a:r>
          </a:p>
          <a:p/>
          <a:p>
            <a:r>
              <a:t>GPU quvvatini o'lchashning standart vositasi — nvidia-smi va uning asosidagi NVML kutubxonasi (pynvml Python paketi). nvidia-smi --query-gpu=power.draw,clocks.sm,temperature.gpu --format=csv -lms 100 har 100 millisekundda quvvat, chastota va haroratni yozadi. Shuni bilish kerakki, NVML quvvat o'lchovi butun plata uchun bo'lib, taxminan 5 foiz xatolikka ega va o'lchov oynasi 25–100 ms, shuning uchun juda qisqa yadrolarni alohida o'lchab bo'lmaydi — o'rtachalash kerak. Jetson platformalarida tegrastats yoki INA3221 sensorlari orqali CPU, GPU va xotira quvvati alohida o'lchanadi. Server darajasida PDU (quvvat taqsimlash bloki) ko'rsatkichlari to'liq tizim iste'molini beradi, chunki CPU, xotira, sovutish va tarmoq ham energiya sarflaydi — GPU odatda umumiy iste'molning 60–75 foizini tashkil etadi.</a:t>
            </a:r>
          </a:p>
          <a:p/>
          <a:p>
            <a:r>
              <a:t>Energiya va unumdorlik o'rtasida nochiziqli bog'liqlik bor. Dinamik quvvat chastota va kuchlanish kvadratiga proporsional (P ∝ f · V²), shuning uchun GPU chastotasini 10–15 foiz pasaytirish (nvidia-smi -pl bilan quvvat chegarasi yoki -lgc bilan chastota qulfi) unumdorlikni 5–8 foiz, quvvatni 20–30 foiz kamaytirishi mumkin — memory-bound ish yuklarida unumdorlik deyarli o'zgarmaydi, chunki to'siq xotirada. Shu sababli inferens serverlari ko'pincha ataylab pasaytirilgan quvvat chegarasida ishlaydi va «vatt boshiga throughput» maksimallashtiriladi. Aniqlikni pasaytirish ham energiyani tejaydi: Horowitz (2014) ma'lumotlariga ko'ra, 45 nm texnologiyada 32-bitli suzuvchi nuqtali ko'paytirish 3,7 pJ, 8-bitli butun sonli ko'paytirish 0,2 pJ, DRAM'dan 32 bit o'qish esa 640 pJ — ya'ni xotiraga murojaat arifmetikadan 100–1000 marta qimmat. Bu raqam Roofline bilan bir xil xulosaga olib keladi: energiya samaradorligining kaliti ham ma'lumot harakatini kamaytirishda.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Unumdorlik tahlilining yakuniy maqsadi — to'g'ri optimallashtirishni tanlash. Strategiya to'siq turiga bog'liq. Agar profil GPU'ning ko'p vaqt bo'sh turganini ko'rsatsa (Nsight Systems'da yadrolar orasida bo'shliqlar), muammo GPU'da emas: ma'lumot yuklagichni ko'paytirish (num_workers, pin_memory, oldindan yuklash), CPU preprocessing'ni GPU'ga ko'chirish (NVIDIA DALI), yadro ishga tushirish xarajatini kamaytirish (CUDA Graphs, torch.compile) yordam beradi. Agar GPU band, lekin Roofline'da nuqta xotira tomida bo'lsa: kvantlash (FP16 → INT8 baytlarni ikki marta kamaytiradi), operatorlarni birlashtirish (fusion), FlashAttention kabi xotira-samarador algoritmlar, partiyani kattalashtirish. Agar nuqta hisoblash tomiga yaqin bo'lsa: tensor yadrolaridan foydalanish (o'lchamlar 8 ga karrali, FP16/BF16), siyraklik, kamroq FLOP talab qiluvchi arxitektura (distillyatsiya, pruning). Agar nuqta ikkala tomdan ham ancha pastda bo'lsa — yadro samaradorligi past: band bo'lish darajasi, registrlar bosimi, xotira murojaatlarining birlashtirilmaganligi (uncoalesced) tekshiriladi, bu Nsight Compute vazifasi.</a:t>
            </a:r>
          </a:p>
          <a:p/>
          <a:p>
            <a:r>
              <a:t>Masshtablanuvchanlik to'sig'i uchun strategiya boshqacha: aloqa va hisoblashni ustma-ust qo'yish (gradient bucketing, asinxron all-reduce), aloqa hajmini kamaytirish (gradient siqish, FP16 aloqa), topologiyaga mos kollektivlar (NVLink ichida tensor parallelizm, tugunlar orasida ma'lumot parallelizm). Energiya to'sig'i uchun: quvvat chegarasi, DVFS, kichik aniqlik, hisoblashni bulut va chekka o'rtasida qayta taqsimlash. Muhim tamoyil: har bir o'zgartirishdan keyin o'lchov takrorlanadi, chunki bitta to'siq olib tashlangach, keyingisi ochiladi va avvalgi taxminlar o'z kuchini yo'qotadi.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Misolda biz ResNet-50 tasniflash modelining inferens unumdorligini bitta GPU'da to'liq tahlil qilamiz: to'g'ri benchmark, partiya hajmining latency va throughput'ga ta'siri, PyTorch Profiler bilan operatorlar profili, Nsight Systems bilan tizim oqimi, Roofline hisobi va energiya o'lchovi. Muhit: PyTorch 2.x, CUDA 12, NVIDIA A100 40 GB (T4 yoki boshqa GPU'da ham ishlaydi, raqamlar farq qiladi). Barcha raqamlar taxminiy.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biz CUDA hodisalari bilan GPU vaqt o'qida o'lchadik, 30 iteratsiya isitdik va mediana hamda p99 ni oldik. A100'da kutilgan natija (taxminiy): FP32 partiya 1 — p50 ≈ 4,5 ms (≈ 220 img/s), partiya 64 — ≈ 52 ms (≈ 1230 img/s); FP16 partiya 1 — ≈ 3,8 ms, partiya 64 — ≈ 21 ms (≈ 3000 img/s), partiya 128 — ≈ 40 ms (≈ 3200 img/s). Uchta kuzatuv: partiya 1 dan 8 ga o'tganda kechikish deyarli oshmaydi, throughput esa 6–7 marta ortadi — GPU kichik partiyada bo'sh; FP16 partiya 1 da deyarli foyda bermaydi (3,8 vs 4,5 ms) — chunki bu rejimda to'siq hisoblash emas, yadrolarni ishga tushirish (ResNet-50 taxminan 170 ta yadro chaqiradi, har biri 5–10 mikrosekund xarajat bilan); partiya 128 da throughput to'yinadi.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jadvalda aten::cudnn_convolution CUDA vaqtining 65–75 foizini, aten::batch_norm 8–10 foizini, aten::relu_ va aten::add_ 5–8 foizini oladi. Lekin eng muhim ustun — CPU vaqti umumiy CUDA vaqtidan katta bo'lishi: partiya 1 da CPU tomonidagi Python va dispetcher xarajati ≈ 4 ms, GPU yadrolarining jami vaqti ≈ 2,5 ms. Bu «launch-bound» holat: GPU CPU'ni kutmoqda. TensorBoard'dagi «GPU Utilization» 50–60 foizni ko'rsatadi. Partiya 64 uchun profil olsak, manzara o'zgaradi: GPU 95 foizdan ortiq band, konvolyutsiya yadrolari uzunroq, CPU xarajati nisbatan ahamiyatsiz.</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nsys grafik interfeysida (yoki nsys stats jadvalida) biz ko'ramiz: yadrolar orasida 20–40 mikrosekundlik bo'shliqlar, cudaLaunchKernel API chaqiruvlari soni iteratsiyaga ≈ 170, postprocess bosqichida .cpu() chaqiruvi sinxronizatsiya nuqtasini yaratib, keyingi iteratsiyaning oldindan yuklanishiga to'sqinlik qiladi. Bu bo'shliqlarni yo'qotishning ikki yo'li: CUDA Graphs (butun forward'ni bitta grafik sifatida yozib olib, bitta chaqiruv bilan ishga tushirish) yoki torch.compile(model, mode="reduce-overhead"). Ularni qo'llaganda partiya 1 kechikishi A100'da taxminan 4,5 ms dan 2,2–2,6 ms gacha tushadi (taxminiy) — modelning birorta FLOP'i o'zgarmagan holda deyarli ikki marta tezlashish.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A100 40 GB uchun FP16 tizma nuqtasi ≈ 200, FP32 ≈ 12,5 FLOP/bayt. O'lchangan throughput'dan erishilgan unumdorlikni hisoblaymiz: FP32 partiya 1 — 1,8 TFLOPS (cho'qqi 19,5 ning 9 %), FP32 partiya 64 — 10,1 TFLOPS (52 %), FP16 partiya 64 — 24,6 TFLOPS (tensor cho'qqi 312 ning atigi 8 %). ResNet-50 ning umumiy arifmetik intensivligi partiya 64 da yuzlab FLOP/bayt, ya'ni nazariy jihatdan compute-bound; demak, FP16'da tomdan 12 marta past turishimiz intensivlik emas, yadro samaradorligi masalasi: 3×3 konvolyutsiyalar tensor yadrolarni to'liq yuklamaydi, BatchNorm va ReLU alohida memory-bound yadrolar sifatida ishlaydi, kanal soni 64 bo'lgan birinchi qatlamlar kam parallel. Bu TensorRT kabi kompilyatorlar nima uchun 2–3 marta qo'shimcha tezlashish berishini tushuntiradi: ular conv + BN + ReLU'ni bitta yadroga birlashtiradi, NHWC joylashuvni va INT8'ni ishlatadi. Nsight Compute bilan alohida konvolyutsiya yadrosini ochsak, u «SM throughput 40 %, DRAM throughput 55 %» kabi ko'rsatkichlar beradi — ya'ni yadro ikkala tomdan ham pastda.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kutilgan natija (taxminiy) A100 SXM uchun: bo'sh holatda ≈ 55 vatt, FP16 partiya 64 yuk ostida ≈ 280 vatt, 3000 img/s → ≈ 93 mJ/tasvir, ≈ 10,7 img/s/W. FP32 partiya 64 da quvvat ≈ 300 vatt, 1230 img/s → ≈ 245 mJ/tasvir — ya'ni FP16 energiya samaradorligini 2,6 marta oshiradi, bu throughput o'sishi bilan deyarli mos. Partiya 1 da esa ≈ 120 vatt, 220 img/s → ≈ 550 mJ/tasvir: kichik partiya nafaqat throughput, energiya nuqtai nazaridan ham 6 marta isrof. Quvvat chegarasini 250 vattga tushirsak, throughput taxminan 5–7 foiz kamayadi, energiya/tasvir esa 10–15 foiz yaxshilanadi, chunki GPU past kuchlanishda ishlaydi. Solishtirish uchun: Jetson AGX Orin INT8 TensorRT ResNet-50 uchun taxminan 30 vattda 2000–2500 img/s atrofida ko'rsatkich beradi, ya'ni ≈ 12–15 mJ/tasvir — maxsus optimallashtirilgan konveyer va INT8 tufayli.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1, 2, 4 GPU'da ishga tushirib, img/s ni solishtiramiz. NVLink'li A100 serverida kutilgan (taxminiy): 1 GPU ≈ 850 img/s (AMP'siz), 2 GPU ≈ 1650 (97 %), 4 GPU ≈ 3200 (94 %), 8 GPU ≈ 6100 (90 %). PCIe orqali ulangan GPU'larda 4 GPU'da samaradorlik 80–85 foizga tushadi, chunki ResNet-50 ning 100 MB gradientlarini har qadamda all-reduce qilish PCIe'da sezilarli vaqt oladi. Nsight Systems'da ncclAllReduce yadrolari orqaga tarqatish bilan qanchalik ustma-ust tushganini ko'rish mumkin — DDP gradientlarni 25 MB «chelak»larga bo'lib, orqaga tarqatish tugamasdan yuborishni boshlaydi.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 natijalarini bitta jadvalga jamlaymiz (A100 40 GB, taxminiy):</a:t>
            </a:r>
          </a:p>
          <a:p/>
          <a:p>
            <a:r>
              <a:t>Tahlilning birinchi xulosasi: bitta tizimda to'siq konfiguratsiyaga qarab o'zgaradi. Partiya 1 da to'siq CPU va yadrolarni ishga tushirish — bu yerda kvantlash yoki tensor yadrolar yordam bermaydi, CUDA Graphs va kompilyatsiya yordam beradi. Partiya 64 da to'siq yadro samaradorligi — bu yerda fusion va TensorRT yordam beradi. Shu sababli «modelni tezlashtirish» degan umumiy vazifa profilsiz ma'nosiz. Ikkinchi xulosa: Roofline modeli «nazariy jihatdan compute-bound, amalda cho'qqidan 12 marta past» degan vaziyatni ochib berdi va bu yadro darajasidagi tahlilga yo'naltirdi; agar intensivlik past bo'lganida, javob butunlay boshqacha — kvantlash va fusion — bo'lar edi. Uchinchi xulosa: energiya samaradorligi throughput bilan birga o'sadi, lekin quvvat chegarasi orqali qo'shimcha 10–15 foiz olish mumkin, bu ko'p GPU'li serverlarda sezilarli.</a:t>
            </a:r>
          </a:p>
          <a:p/>
          <a:p>
            <a:r>
              <a:t>Cheklovlar: biz sintetik kirish (torch.randn) ishlatdik — real konveyerda JPEG dekodlash va o'lchamini o'zgartirish ko'pincha GPU'dan ko'proq vaqt oladi va o'lchovga kiritilishi kerak. Biz bitta modelni o'lchadik; ishlab chiqarishda bir GPU'da bir nechta model (MPS yoki MIG orqali) ishlaydi va ular bir-biriga ta'sir qiladi. NVML quvvat o'lchovi 25–100 ms oynaga ega va 5 foiz xatolikka ega; aniqroq o'lchov tashqi quvvat o'lchagich bilan olinadi. Muqobil yondashuvlar: TensorRT bilan to'liq optimallashtirilgan konveyer (A100'da FP16 ResNet-50 uchun 8000–10000 img/s atrofida, INT8'da undan yuqori — bu Roofline tomiga ancha yaqin); MLPerf Inference natijalari bilan solishtirish (ular GPU uchun erishiladigan amaliy maksimumni beradi); Nsight Compute'ning avtomatik Roofline'i bilan har bir yadroni alohida ko'rish; PyTorch'ning torch.utils.flop_counter bilan FLOP'ni aniq hisoblash (biz adabiyotdagi 4,1 GMAC qiymatidan foydalandik).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Asinxron GPU'ni time.time() bilan o'lchash. torch.cuda.synchronize() siz siz CPU'ning yadroni navbatga qo'yish vaqtini o'lchaysiz, GPU vaqtini emas; natija haqiqiydan 10–100 marta kichik chiqishi mumkin. CUDA hodisalari yoki sinxronizatsiya ishlating.</a:t>
            </a:r>
          </a:p>
          <a:p/>
          <a:p>
            <a:r>
              <a:t>Isitishsiz o'lchash va o'rtacha qiymat. Birinchi iteratsiyalar cuDNN autotune va xotira ajratish tufayli anomal sekin; ularni tashlab, mediana va foizillarni hisobot qiling. O'rtacha dum kechikishni yashiradi.</a:t>
            </a:r>
          </a:p>
          <a:p/>
          <a:p>
            <a:r>
              <a:t>Faqat modelni o'lchab, konveyerni unutish. Ma'lumot yuklash, preprocessing, .cpu() sinxronizatsiyalari real latency'ning yarmini tashkil etishi mumkin; Nsight Systems bilan to'liq oqimni ko'ring va NVTX belgilaridan foydalaning.</a:t>
            </a:r>
          </a:p>
          <a:p/>
          <a:p>
            <a:r>
              <a:t>Cho'qqi FLOPS bilan solishtirib tushkunlikka tushish yoki aksincha, uni e'tiborsiz qoldirish. Cho'qqi — marketing raqami, erishiladigan chegara Roofline bilan aniqlanadi; lekin agar siz tomdan 10 marta pastda bo'lsangiz, bu optimallashtirish zaxirasi borligining aniq belgisi.</a:t>
            </a:r>
          </a:p>
          <a:p/>
          <a:p>
            <a:r>
              <a:t>Memory-bound yadroni ko'proq FLOPS bilan tezlashtirishga urinish. Agar intensivlik tizma nuqtasidan past bo'lsa, kuchliroq GPU yordam bermaydi — baytlarni kamaytiring: kvantlash, fusion, partiya, kesh.</a:t>
            </a:r>
          </a:p>
          <a:p/>
          <a:p>
            <a:r>
              <a:t>Partiya hajmini faqat throughput bo'yicha tanlash. Little qonuni: katta partiya kechikishni oshiradi; kechikish byudjetini avval belgilang, keyin shu chegarada throughput'ni maksimallashtiring. Dinamik partiyalash (Triton Inference Server, vLLM) ikkalasini muvozanatlaydi.</a:t>
            </a:r>
          </a:p>
          <a:p/>
          <a:p>
            <a:r>
              <a:t>Muhitni qayd etmaslik. GPU chastotasi, quvvat chegarasi, drayver versiyasi, cudnn.benchmark bayrog'i, hatto xona harorati natijaga ta'sir qiladi; takrorlanuvchanlik uchun nvidia-smi -q chiqishi va kutubxona versiyalari hisobotga kiritiladi.</a:t>
            </a:r>
          </a:p>
          <a:p/>
          <a:p>
            <a:r>
              <a:t>Masshtablanuvchanlikni tezlashish bilan chalkashtirish. 8 GPU'da 6 marta tezlashish 75 foiz samaradorlik — bu tugunlar orasidagi aloqa to'sig'ining belgisi; Amdahl bo'yicha ketma-ket ulushni hisoblang va aloqani hisoblash bilan ustma-ust qo'ying.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Asinxron GPU'ni time.time() bilan o'lchash. torch.cuda.synchronize() siz siz CPU'ning yadroni navbatga qo'yish vaqtini o'lchaysiz, GPU vaqtini emas; natija haqiqiydan 10–100 marta kichik chiqishi mumkin. CUDA hodisalari yoki sinxronizatsiya ishlating.</a:t>
            </a:r>
          </a:p>
          <a:p/>
          <a:p>
            <a:r>
              <a:t>Isitishsiz o'lchash va o'rtacha qiymat. Birinchi iteratsiyalar cuDNN autotune va xotira ajratish tufayli anomal sekin; ularni tashlab, mediana va foizillarni hisobot qiling. O'rtacha dum kechikishni yashiradi.</a:t>
            </a:r>
          </a:p>
          <a:p/>
          <a:p>
            <a:r>
              <a:t>Faqat modelni o'lchab, konveyerni unutish. Ma'lumot yuklash, preprocessing, .cpu() sinxronizatsiyalari real latency'ning yarmini tashkil etishi mumkin; Nsight Systems bilan to'liq oqimni ko'ring va NVTX belgilaridan foydalaning.</a:t>
            </a:r>
          </a:p>
          <a:p/>
          <a:p>
            <a:r>
              <a:t>Cho'qqi FLOPS bilan solishtirib tushkunlikka tushish yoki aksincha, uni e'tiborsiz qoldirish. Cho'qqi — marketing raqami, erishiladigan chegara Roofline bilan aniqlanadi; lekin agar siz tomdan 10 marta pastda bo'lsangiz, bu optimallashtirish zaxirasi borligining aniq belgisi.</a:t>
            </a:r>
          </a:p>
          <a:p/>
          <a:p>
            <a:r>
              <a:t>Memory-bound yadroni ko'proq FLOPS bilan tezlashtirishga urinish. Agar intensivlik tizma nuqtasidan past bo'lsa, kuchliroq GPU yordam bermaydi — baytlarni kamaytiring: kvantlash, fusion, partiya, kesh.</a:t>
            </a:r>
          </a:p>
          <a:p/>
          <a:p>
            <a:r>
              <a:t>Partiya hajmini faqat throughput bo'yicha tanlash. Little qonuni: katta partiya kechikishni oshiradi; kechikish byudjetini avval belgilang, keyin shu chegarada throughput'ni maksimallashtiring. Dinamik partiyalash (Triton Inference Server, vLLM) ikkalasini muvozanatlaydi.</a:t>
            </a:r>
          </a:p>
          <a:p/>
          <a:p>
            <a:r>
              <a:t>Muhitni qayd etmaslik. GPU chastotasi, quvvat chegarasi, drayver versiyasi, cudnn.benchmark bayrog'i, hatto xona harorati natijaga ta'sir qiladi; takrorlanuvchanlik uchun nvidia-smi -q chiqishi va kutubxona versiyalari hisobotga kiritiladi.</a:t>
            </a:r>
          </a:p>
          <a:p/>
          <a:p>
            <a:r>
              <a:t>Masshtablanuvchanlikni tezlashish bilan chalkashtirish. 8 GPU'da 6 marta tezlashish 75 foiz samaradorlik — bu tugunlar orasidagi aloqa to'sig'ining belgisi; Amdahl bo'yicha ketma-ket ulushni hisoblang va aloqani hisoblash bilan ustma-ust qo'ying.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Little qonunidan kelib chiqib, p99 kechikish byudjeti 30 ms bo'lgan xizmat uchun partiya hajmini tanlash jarayonini tushuntiring. Dinamik partiyalash bu masalani qanday o'zgartiradi?</a:t>
            </a:r>
          </a:p>
          <a:p/>
          <a:p>
            <a:r>
              <a:t>Nima uchun FP16 ga o'tish partiya 1 da deyarli tezlashish bermadi, partiya 64 da esa 2,4 marta berdi? Bu kuzatuv qaysi to'siq turini ko'rsatadi va uni qanday tasdiqlash mumkin?</a:t>
            </a:r>
          </a:p>
          <a:p/>
          <a:p>
            <a:r>
              <a:t>A100 va H100 uchun FP16 tizma nuqtasini hisoblang va solishtiring. Natija LLM dekodlash ish yuklari uchun qanday oqibatlarga olib keladi?</a:t>
            </a:r>
          </a:p>
          <a:p/>
          <a:p>
            <a:r>
              <a:t>ResNet-50 nazariy jihatdan compute-bound bo'lsa-da, erishilgan unumdorlik tensor cho'qqisining 8 foizi bo'ldi. Qanday sabablar bo'lishi mumkin va ularni qaysi vosita bilan tekshirasiz?</a:t>
            </a:r>
          </a:p>
          <a:p/>
          <a:p>
            <a:r>
              <a:t>Horowitz ma'lumotlariga ko'ra DRAM murojaat ko'paytirishdan yuzlab marta qimmat. Bu fakt Roofline modeli bilan qanday bog'liq va u qaysi optimallashtirishlarni asoslaydi?</a:t>
            </a:r>
          </a:p>
          <a:p/>
          <a:p>
            <a:r>
              <a:t>Quvvat chegarasini pasaytirish memory-bound va compute-bound ish yuklariga qanday turlicha ta'sir qiladi? Nima uchun?</a:t>
            </a:r>
          </a:p>
          <a:p/>
          <a:p>
            <a:r>
              <a:t>MLPerf Inference'ning server va oflayn ssenariylari bir xil apparatda nima uchun 2–3 marta farqli natija beradi? Qaysi ssenariy sizning loyihangiz uchun mos?</a:t>
            </a:r>
          </a:p>
          <a:p/>
          <a:p>
            <a:r>
              <a:t>Amdahl va Gustafson qonunlari taqsimlangan o'qitishni masshtablashda qanday qarama-qarshi xulosalar beradi? Qaysi holatda qaysi qonun amal qiladi?</a:t>
            </a:r>
          </a:p>
          <a:p/>
          <a:p>
            <a:r>
              <a:t>Nsight Systems, PyTorch Profiler va Nsight Compute har biri qanday savolga javob beradi? Ularni qanday ketma-ketlikda qo'llash maqsadga muvofiq?</a:t>
            </a:r>
          </a:p>
          <a:p/>
          <a:p>
            <a:r>
              <a:t>Sintetik kirish bilan o'lchangan 3000 img/s ko'rsatkichi ishlab chiqarishda 800 img/s ga tushdi. Sabablarni gipoteza qiling va tekshirish rejasini tuzing.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Little qonunidan kelib chiqib, p99 kechikish byudjeti 30 ms bo'lgan xizmat uchun partiya hajmini tanlash jarayonini tushuntiring. Dinamik partiyalash bu masalani qanday o'zgartiradi?</a:t>
            </a:r>
          </a:p>
          <a:p/>
          <a:p>
            <a:r>
              <a:t>Nima uchun FP16 ga o'tish partiya 1 da deyarli tezlashish bermadi, partiya 64 da esa 2,4 marta berdi? Bu kuzatuv qaysi to'siq turini ko'rsatadi va uni qanday tasdiqlash mumkin?</a:t>
            </a:r>
          </a:p>
          <a:p/>
          <a:p>
            <a:r>
              <a:t>A100 va H100 uchun FP16 tizma nuqtasini hisoblang va solishtiring. Natija LLM dekodlash ish yuklari uchun qanday oqibatlarga olib keladi?</a:t>
            </a:r>
          </a:p>
          <a:p/>
          <a:p>
            <a:r>
              <a:t>ResNet-50 nazariy jihatdan compute-bound bo'lsa-da, erishilgan unumdorlik tensor cho'qqisining 8 foizi bo'ldi. Qanday sabablar bo'lishi mumkin va ularni qaysi vosita bilan tekshirasiz?</a:t>
            </a:r>
          </a:p>
          <a:p/>
          <a:p>
            <a:r>
              <a:t>Horowitz ma'lumotlariga ko'ra DRAM murojaat ko'paytirishdan yuzlab marta qimmat. Bu fakt Roofline modeli bilan qanday bog'liq va u qaysi optimallashtirishlarni asoslaydi?</a:t>
            </a:r>
          </a:p>
          <a:p/>
          <a:p>
            <a:r>
              <a:t>Quvvat chegarasini pasaytirish memory-bound va compute-bound ish yuklariga qanday turlicha ta'sir qiladi? Nima uchun?</a:t>
            </a:r>
          </a:p>
          <a:p/>
          <a:p>
            <a:r>
              <a:t>MLPerf Inference'ning server va oflayn ssenariylari bir xil apparatda nima uchun 2–3 marta farqli natija beradi? Qaysi ssenariy sizning loyihangiz uchun mos?</a:t>
            </a:r>
          </a:p>
          <a:p/>
          <a:p>
            <a:r>
              <a:t>Amdahl va Gustafson qonunlari taqsimlangan o'qitishni masshtablashda qanday qarama-qarshi xulosalar beradi? Qaysi holatda qaysi qonun amal qiladi?</a:t>
            </a:r>
          </a:p>
          <a:p/>
          <a:p>
            <a:r>
              <a:t>Nsight Systems, PyTorch Profiler va Nsight Compute har biri qanday savolga javob beradi? Ularni qanday ketma-ketlikda qo'llash maqsadga muvofiq?</a:t>
            </a:r>
          </a:p>
          <a:p/>
          <a:p>
            <a:r>
              <a:t>Sintetik kirish bilan o'lchangan 3000 img/s ko'rsatkichi ishlab chiqarishda 800 img/s ga tushdi. Sabablarni gipoteza qiling va tekshirish rejasini tuzing.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(2-mustaqil ta'lim topshirig'i va A3 bilan bog'liq). O'zingiz tanlagan modelni (ResNet-50, YOLOv8n, BERT-base yoki boshqa) mavjud GPU'da (universitet serveri, Colab T4 yoki Jetson) to'liq unumdorlik tahlilidan o'tkazing: (a) partiya hajmi {1, 4, 16, 64} va aniqlik {FP32, FP16, INT8 (TensorRT yoki ONNX Runtime orqali)} uchun p50/p99 latency va throughput jadvali; (b) PyTorch Profiler va iloji bo'lsa Nsight Systems bilan eng katta uchta vaqt iste'molchisini aniqlash; (c) GPU uchun Roofline tizma nuqtasini hisoblab, erishilgan unumdorlikni tomga nisbatan joylashtirish va to'siq turini asoslash; (d) nvidia-smi/NVML bilan mJ/inferens va img/s/W hisoblash; (e) tahlilga asoslangan bitta optimallashtirishni qo'llab, qayta o'lchash. Baholash mezoni: o'lchov metodologiyasining to'g'riligi (sinxronizatsiya, isitish, foizillar, muhit qaydi) — 30 %; Roofline tahlili va to'siqni asoslash — 30 %; optimallashtirish natijasi va uning izohi — 25 %; hisobot sifati — 15 %.</a:t>
            </a:r>
          </a:p>
          <a:p/>
          <a:p>
            <a:r>
              <a:t>2-topshiriq (tahliliy, 3-mustaqil ta'lim topshirig'iga bog'liq). Uchta platforma (masalan, A100, Jetson AGX Orin va zamonaviy server CPU yoki TPU v5e) uchun rasmiy spetsifikatsiyalar asosida Roofline diagrammasini tuzing va uchta ish yukini (katta GEMM, LLM dekodlash GEMV, konvolyutsion tarmoq) joylashtiring; har platforma uchun vatt boshiga nazariy unumdorlikni hisoblang va qaysi ish yukiga qaysi platforma mos ekanini asoslang. Baholash mezoni: hisob-kitoblar to'g'riligi — 40 %, xulosalarning asoslanganligi — 40 %, manbalarga to'g'ri havola — 20 %.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(unumdorlikni o'lchash, Amdahl qonuni, Roofline).</a:t>
            </a:r>
          </a:p>
          <a:p/>
          <a:p>
            <a:r>
              <a:t>[4] Sze, V., Chen, Y.-H., Yang, T.-J., &amp; Emer, J. S. Efficient Processing of Deep Neural Networks. Morgan &amp; Claypool, 2020 (energiya va ma'lumot harakati tahlili).</a:t>
            </a:r>
          </a:p>
          <a:p/>
          <a:p>
            <a:r>
              <a:t>[5] Kirk, D. B., &amp; Hwu, W.-M. W. Programming Massively Parallel Processors. 4th Edition. Morgan Kaufmann, 2022 (yadro unumdorligi, xotira o'tkazuvchanligi).</a:t>
            </a:r>
          </a:p>
          <a:p/>
          <a:p>
            <a:r>
              <a:t>[6] NVIDIA Developer Portal — https://developer.nvidia.com (Nsight Systems, Nsight Compute, NVML hujjatlari, A100/H100 spetsifikatsiyalari).</a:t>
            </a:r>
          </a:p>
          <a:p/>
          <a:p>
            <a:r>
              <a:t>[7] PyTorch rasmiy hujjatlari — https://pytorch.org (torch.profiler, CUDA semantikasi, torch.compile).</a:t>
            </a:r>
          </a:p>
          <a:p/>
          <a:p>
            <a:r>
              <a:t>Williams, S., Waterman, A., &amp; Patterson, D. Roofline: An Insightful Visual Performance Model for Multicore Architectures. Communications of the ACM, 52(4), 2009, 65–76.</a:t>
            </a:r>
          </a:p>
          <a:p/>
          <a:p>
            <a:r>
              <a:t>Amdahl, G. M. Validity of the Single Processor Approach to Achieving Large Scale Computing Capabilities. AFIPS Conference Proceedings, 1967.</a:t>
            </a:r>
          </a:p>
          <a:p/>
          <a:p>
            <a:r>
              <a:t>Horowitz, M. Computing's Energy Problem (and what we can do about it). IEEE ISSCC, 2014.</a:t>
            </a:r>
          </a:p>
          <a:p/>
          <a:p>
            <a:r>
              <a:t>MLCommons MLPerf benchmark to'plami va natijalari: https://mlcommons.org</a:t>
            </a:r>
          </a:p>
          <a:p/>
          <a:p>
            <a:r>
              <a:t>Dean, J., &amp; Barroso, L. A. The Tail at Scale. Communications of the ACM, 56(2), 2013, 74–80.</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(unumdorlikni o'lchash, Amdahl qonuni, Roofline).</a:t>
            </a:r>
          </a:p>
          <a:p/>
          <a:p>
            <a:r>
              <a:t>[4] Sze, V., Chen, Y.-H., Yang, T.-J., &amp; Emer, J. S. Efficient Processing of Deep Neural Networks. Morgan &amp; Claypool, 2020 (energiya va ma'lumot harakati tahlili).</a:t>
            </a:r>
          </a:p>
          <a:p/>
          <a:p>
            <a:r>
              <a:t>[5] Kirk, D. B., &amp; Hwu, W.-M. W. Programming Massively Parallel Processors. 4th Edition. Morgan Kaufmann, 2022 (yadro unumdorligi, xotira o'tkazuvchanligi).</a:t>
            </a:r>
          </a:p>
          <a:p/>
          <a:p>
            <a:r>
              <a:t>[6] NVIDIA Developer Portal — https://developer.nvidia.com (Nsight Systems, Nsight Compute, NVML hujjatlari, A100/H100 spetsifikatsiyalari).</a:t>
            </a:r>
          </a:p>
          <a:p/>
          <a:p>
            <a:r>
              <a:t>[7] PyTorch rasmiy hujjatlari — https://pytorch.org (torch.profiler, CUDA semantikasi, torch.compile).</a:t>
            </a:r>
          </a:p>
          <a:p/>
          <a:p>
            <a:r>
              <a:t>Williams, S., Waterman, A., &amp; Patterson, D. Roofline: An Insightful Visual Performance Model for Multicore Architectures. Communications of the ACM, 52(4), 2009, 65–76.</a:t>
            </a:r>
          </a:p>
          <a:p/>
          <a:p>
            <a:r>
              <a:t>Amdahl, G. M. Validity of the Single Processor Approach to Achieving Large Scale Computing Capabilities. AFIPS Conference Proceedings, 1967.</a:t>
            </a:r>
          </a:p>
          <a:p/>
          <a:p>
            <a:r>
              <a:t>Horowitz, M. Computing's Energy Problem (and what we can do about it). IEEE ISSCC, 2014.</a:t>
            </a:r>
          </a:p>
          <a:p/>
          <a:p>
            <a:r>
              <a:t>MLCommons MLPerf benchmark to'plami va natijalari: https://mlcommons.org</a:t>
            </a:r>
          </a:p>
          <a:p/>
          <a:p>
            <a:r>
              <a:t>Dean, J., &amp; Barroso, L. A. The Tail at Scale. Communications of the ACM, 56(2), 2013, 74–80.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M10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800" b="1">
                <a:solidFill>
                  <a:srgbClr val="FFFFFF"/>
                </a:solidFill>
                <a:latin typeface="Calibri"/>
              </a:rPr>
              <a:t>Unumdorligini tahlil qilish va baholash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1"/>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1"/>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91667"/>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1"/>
            <a:ext cx="10050000" cy="443333"/>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63334"/>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63334"/>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8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63334"/>
            <a:ext cx="10050000" cy="443333"/>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426667"/>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426667"/>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418333"/>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426667"/>
            <a:ext cx="10050000" cy="443333"/>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990000"/>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990000"/>
            <a:ext cx="70000" cy="443333"/>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981666"/>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990000"/>
            <a:ext cx="10050000" cy="443333"/>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553333"/>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553333"/>
            <a:ext cx="70000" cy="443333"/>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544999"/>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553333"/>
            <a:ext cx="10050000" cy="443333"/>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4116666"/>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116666"/>
            <a:ext cx="70000" cy="443333"/>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4108332"/>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4116666"/>
            <a:ext cx="10050000" cy="443333"/>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679999"/>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79999"/>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671665"/>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679999"/>
            <a:ext cx="10050000" cy="443333"/>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5243332"/>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5243332"/>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5234998"/>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5243332"/>
            <a:ext cx="10050000" cy="443333"/>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806665"/>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806665"/>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798331"/>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806665"/>
            <a:ext cx="10050000" cy="443333"/>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2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Mavzuning maqsadi — sun'iy intellekt tizimlarining unumdorligini (performance) o'lchash, tahlil qilish va baholashning muhandislik metodologiyasini shakllantirishdir.</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Mavzuni o'zlashtirgach talaba: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AI tizimi unumdorligining asosiy mezonlarini — kechikish (latency), o'tkazuvchanlik (throughput), masshtablanuvchanlik (scalability), energiya samaradorligi — to'g'ri ta'riflay oladi, ular…</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Benchmark o'tkazishning to'g'ri metodologiyasini (isitish, sinxronizatsiya, takrorlash, foizillar, muhitni qayd etish) qo'llay oladi va MLPerf kabi sanoat benchmarklarining tuzilishini…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PyTorch Profiler va NVIDIA Nsight vositalari yordamida profil olib, vaqt qayerga ketayotganini (kernel, xotira ko'chirish, CPU kutish) aniqlay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Roofline modelini berilgan apparat va yadro uchun hisoblab, ish yukining hisoblash yoki xotira bilan cheklanganini aniqlay oladi va shundan optimallashtirish strategiyasini keltirib chiqara…</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nvidia-smi va NVML orqali energiya sarfini o'lchab, bir inferensga sarflangan joul va vatt boshiga unumdorlikni hisoblay oladi.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TN2 (apparat platformalarini tahlil qilish va tanlash), TN4 (AI tizimlarini optimallashtirish) va TN3 (tizimlarni baholash) natijalariga xizmat qiladi; A2 va A3 amaliy…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Zamonaviy AI tezlatkichlarining nazariy quvvati hayratlanarli: NVIDIA A100 FP16 tensor yadrolarida sekundiga 312 trillion amal (312 TFLOPS), H100 esa 989 TFLOPS (zich rejimda) bajara oladi. Biroq amaliyotda ko'plab ishlab chiqarish tizimlari bu quvvatning…</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Muammoning iqtisodiy o'lchami katta. Bitta H100 serverining soatlik ijara narxi bulutda bir necha dollar, minglab GPU'dan iborat klasterda esa 10 foiz samaradorlik farqi yiliga millionlab dollar demak. Chekka qurilmalarda esa savol boshqacha qo'yiladi: Jetson…</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Unumdorlik tahlili bir martalik ish emas, balki tsikl: o'lchash, to'siqni (bottleneck) aniqlash, gipoteza qo'yish, o'zgartirish, qayta o'lchash. Bu tsiklda ikki turdagi vosita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Unumdorlik mezonlari: latency, throughput va scalability</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Kechikish (latency) — bitta so'rovni boshidan oxirigacha bajarish vaqti. AI tizimida u bir necha komponentdan yig'iladi: tarmoq va navbatda kutish, oldindan qayta ishlash (preprocessing), xost-qurilma ma'lumot ko'chirish, modelning o'zi, keyingi qayta ishlash.</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O'tkazuvchanlik (throughput) — vaqt birligida bajarilgan ish miqdori: sekundiga tasvirlar, so'rovlar yoki tokenlar. Latency va throughput o'rtasidagi munosabat Little qonuni bilan ifodalanadi: L = λ · W, bu yerda L — tizimdagi o'rtacha so'rovlar soni…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Masshtablanuvchanlik (scalability) — resurs qo'shilganda unumdorlikning qanday o'sishi. Ikki tur farqlanadi: kuchli masshtablash (strong scaling) — muammo hajmi o'zgarmay, protsessorlar soni ortadi; zaif masshtablash (weak scaling) — har protsessorga to'g'ri…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Unumdorlik mezonlari: latency, throughput va scalability</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Birligi</a:t>
                      </a:r>
                    </a:p>
                  </a:txBody>
                  <a:tcPr>
                    <a:solidFill>
                      <a:srgbClr val="2D5C8F"/>
                    </a:solidFill>
                  </a:tcPr>
                </a:tc>
                <a:tc>
                  <a:txBody>
                    <a:bodyPr/>
                    <a:lstStyle/>
                    <a:p>
                      <a:r>
                        <a:rPr sz="1200" b="1">
                          <a:solidFill>
                            <a:srgbClr val="FFFFFF"/>
                          </a:solidFill>
                          <a:latin typeface="Calibri"/>
                        </a:rPr>
                        <a:t>Kim uchun muhim</a:t>
                      </a:r>
                    </a:p>
                  </a:txBody>
                  <a:tcPr>
                    <a:solidFill>
                      <a:srgbClr val="2D5C8F"/>
                    </a:solidFill>
                  </a:tcPr>
                </a:tc>
                <a:tc>
                  <a:txBody>
                    <a:bodyPr/>
                    <a:lstStyle/>
                    <a:p>
                      <a:r>
                        <a:rPr sz="1200" b="1">
                          <a:solidFill>
                            <a:srgbClr val="FFFFFF"/>
                          </a:solidFill>
                          <a:latin typeface="Calibri"/>
                        </a:rPr>
                        <a:t>Tipik maqsad</a:t>
                      </a:r>
                    </a:p>
                  </a:txBody>
                  <a:tcPr>
                    <a:solidFill>
                      <a:srgbClr val="2D5C8F"/>
                    </a:solidFill>
                  </a:tcPr>
                </a:tc>
              </a:tr>
              <a:tr h="520000">
                <a:tc>
                  <a:txBody>
                    <a:bodyPr/>
                    <a:lstStyle/>
                    <a:p>
                      <a:r>
                        <a:rPr sz="1200" b="0">
                          <a:solidFill>
                            <a:srgbClr val="1B2430"/>
                          </a:solidFill>
                          <a:latin typeface="Calibri"/>
                        </a:rPr>
                        <a:t>Latency (p50/p99)</a:t>
                      </a:r>
                    </a:p>
                  </a:txBody>
                  <a:tcPr>
                    <a:solidFill>
                      <a:srgbClr val="F1F4F8"/>
                    </a:solidFill>
                  </a:tcPr>
                </a:tc>
                <a:tc>
                  <a:txBody>
                    <a:bodyPr/>
                    <a:lstStyle/>
                    <a:p>
                      <a:r>
                        <a:rPr sz="1200" b="0">
                          <a:solidFill>
                            <a:srgbClr val="1B2430"/>
                          </a:solidFill>
                          <a:latin typeface="Calibri"/>
                        </a:rPr>
                        <a:t>ms</a:t>
                      </a:r>
                    </a:p>
                  </a:txBody>
                  <a:tcPr>
                    <a:solidFill>
                      <a:srgbClr val="F1F4F8"/>
                    </a:solidFill>
                  </a:tcPr>
                </a:tc>
                <a:tc>
                  <a:txBody>
                    <a:bodyPr/>
                    <a:lstStyle/>
                    <a:p>
                      <a:r>
                        <a:rPr sz="1200" b="0">
                          <a:solidFill>
                            <a:srgbClr val="1B2430"/>
                          </a:solidFill>
                          <a:latin typeface="Calibri"/>
                        </a:rPr>
                        <a:t>Interaktiv xizmatlar, real vaqt tizimlari</a:t>
                      </a:r>
                    </a:p>
                  </a:txBody>
                  <a:tcPr>
                    <a:solidFill>
                      <a:srgbClr val="F1F4F8"/>
                    </a:solidFill>
                  </a:tcPr>
                </a:tc>
                <a:tc>
                  <a:txBody>
                    <a:bodyPr/>
                    <a:lstStyle/>
                    <a:p>
                      <a:r>
                        <a:rPr sz="1200" b="0">
                          <a:solidFill>
                            <a:srgbClr val="1B2430"/>
                          </a:solidFill>
                          <a:latin typeface="Calibri"/>
                        </a:rPr>
                        <a:t>p99 ≤ 50–100 ms; avtonom transport ≤ 10–30 ms</a:t>
                      </a:r>
                    </a:p>
                  </a:txBody>
                  <a:tcPr>
                    <a:solidFill>
                      <a:srgbClr val="F1F4F8"/>
                    </a:solidFill>
                  </a:tcPr>
                </a:tc>
              </a:tr>
              <a:tr h="520000">
                <a:tc>
                  <a:txBody>
                    <a:bodyPr/>
                    <a:lstStyle/>
                    <a:p>
                      <a:r>
                        <a:rPr sz="1200" b="0">
                          <a:solidFill>
                            <a:srgbClr val="1B2430"/>
                          </a:solidFill>
                          <a:latin typeface="Calibri"/>
                        </a:rPr>
                        <a:t>Throughput</a:t>
                      </a:r>
                    </a:p>
                  </a:txBody>
                  <a:tcPr>
                    <a:solidFill>
                      <a:srgbClr val="FFFFFF"/>
                    </a:solidFill>
                  </a:tcPr>
                </a:tc>
                <a:tc>
                  <a:txBody>
                    <a:bodyPr/>
                    <a:lstStyle/>
                    <a:p>
                      <a:r>
                        <a:rPr sz="1200" b="0">
                          <a:solidFill>
                            <a:srgbClr val="1B2430"/>
                          </a:solidFill>
                          <a:latin typeface="Calibri"/>
                        </a:rPr>
                        <a:t>img/s, tok/s, req/s</a:t>
                      </a:r>
                    </a:p>
                  </a:txBody>
                  <a:tcPr>
                    <a:solidFill>
                      <a:srgbClr val="FFFFFF"/>
                    </a:solidFill>
                  </a:tcPr>
                </a:tc>
                <a:tc>
                  <a:txBody>
                    <a:bodyPr/>
                    <a:lstStyle/>
                    <a:p>
                      <a:r>
                        <a:rPr sz="1200" b="0">
                          <a:solidFill>
                            <a:srgbClr val="1B2430"/>
                          </a:solidFill>
                          <a:latin typeface="Calibri"/>
                        </a:rPr>
                        <a:t>Oflayn qayta ishlash, o'qitish</a:t>
                      </a:r>
                    </a:p>
                  </a:txBody>
                  <a:tcPr>
                    <a:solidFill>
                      <a:srgbClr val="FFFFFF"/>
                    </a:solidFill>
                  </a:tcPr>
                </a:tc>
                <a:tc>
                  <a:txBody>
                    <a:bodyPr/>
                    <a:lstStyle/>
                    <a:p>
                      <a:r>
                        <a:rPr sz="1200" b="0">
                          <a:solidFill>
                            <a:srgbClr val="1B2430"/>
                          </a:solidFill>
                          <a:latin typeface="Calibri"/>
                        </a:rPr>
                        <a:t>Apparat cho'qqisining 40–60 %</a:t>
                      </a:r>
                    </a:p>
                  </a:txBody>
                  <a:tcPr>
                    <a:solidFill>
                      <a:srgbClr val="FFFFFF"/>
                    </a:solidFill>
                  </a:tcPr>
                </a:tc>
              </a:tr>
              <a:tr h="520000">
                <a:tc>
                  <a:txBody>
                    <a:bodyPr/>
                    <a:lstStyle/>
                    <a:p>
                      <a:r>
                        <a:rPr sz="1200" b="0">
                          <a:solidFill>
                            <a:srgbClr val="1B2430"/>
                          </a:solidFill>
                          <a:latin typeface="Calibri"/>
                        </a:rPr>
                        <a:t>Scalability</a:t>
                      </a:r>
                    </a:p>
                  </a:txBody>
                  <a:tcPr>
                    <a:solidFill>
                      <a:srgbClr val="F1F4F8"/>
                    </a:solidFill>
                  </a:tcPr>
                </a:tc>
                <a:tc>
                  <a:txBody>
                    <a:bodyPr/>
                    <a:lstStyle/>
                    <a:p>
                      <a:r>
                        <a:rPr sz="1200" b="0">
                          <a:solidFill>
                            <a:srgbClr val="1B2430"/>
                          </a:solidFill>
                          <a:latin typeface="Calibri"/>
                        </a:rPr>
                        <a:t>tezlashish, samaradorlik</a:t>
                      </a:r>
                    </a:p>
                  </a:txBody>
                  <a:tcPr>
                    <a:solidFill>
                      <a:srgbClr val="F1F4F8"/>
                    </a:solidFill>
                  </a:tcPr>
                </a:tc>
                <a:tc>
                  <a:txBody>
                    <a:bodyPr/>
                    <a:lstStyle/>
                    <a:p>
                      <a:r>
                        <a:rPr sz="1200" b="0">
                          <a:solidFill>
                            <a:srgbClr val="1B2430"/>
                          </a:solidFill>
                          <a:latin typeface="Calibri"/>
                        </a:rPr>
                        <a:t>Klasterlar, taqsimlangan o'qitish</a:t>
                      </a:r>
                    </a:p>
                  </a:txBody>
                  <a:tcPr>
                    <a:solidFill>
                      <a:srgbClr val="F1F4F8"/>
                    </a:solidFill>
                  </a:tcPr>
                </a:tc>
                <a:tc>
                  <a:txBody>
                    <a:bodyPr/>
                    <a:lstStyle/>
                    <a:p>
                      <a:r>
                        <a:rPr sz="1200" b="0">
                          <a:solidFill>
                            <a:srgbClr val="1B2430"/>
                          </a:solidFill>
                          <a:latin typeface="Calibri"/>
                        </a:rPr>
                        <a:t>8 GPU'da ≥ 85 %</a:t>
                      </a:r>
                    </a:p>
                  </a:txBody>
                  <a:tcPr>
                    <a:solidFill>
                      <a:srgbClr val="F1F4F8"/>
                    </a:solidFill>
                  </a:tcPr>
                </a:tc>
              </a:tr>
              <a:tr h="520000">
                <a:tc>
                  <a:txBody>
                    <a:bodyPr/>
                    <a:lstStyle/>
                    <a:p>
                      <a:r>
                        <a:rPr sz="1200" b="0">
                          <a:solidFill>
                            <a:srgbClr val="1B2430"/>
                          </a:solidFill>
                          <a:latin typeface="Calibri"/>
                        </a:rPr>
                        <a:t>Energiya</a:t>
                      </a:r>
                    </a:p>
                  </a:txBody>
                  <a:tcPr>
                    <a:solidFill>
                      <a:srgbClr val="FFFFFF"/>
                    </a:solidFill>
                  </a:tcPr>
                </a:tc>
                <a:tc>
                  <a:txBody>
                    <a:bodyPr/>
                    <a:lstStyle/>
                    <a:p>
                      <a:r>
                        <a:rPr sz="1200" b="0">
                          <a:solidFill>
                            <a:srgbClr val="1B2430"/>
                          </a:solidFill>
                          <a:latin typeface="Calibri"/>
                        </a:rPr>
                        <a:t>J/inferens, TOPS/W</a:t>
                      </a:r>
                    </a:p>
                  </a:txBody>
                  <a:tcPr>
                    <a:solidFill>
                      <a:srgbClr val="FFFFFF"/>
                    </a:solidFill>
                  </a:tcPr>
                </a:tc>
                <a:tc>
                  <a:txBody>
                    <a:bodyPr/>
                    <a:lstStyle/>
                    <a:p>
                      <a:r>
                        <a:rPr sz="1200" b="0">
                          <a:solidFill>
                            <a:srgbClr val="1B2430"/>
                          </a:solidFill>
                          <a:latin typeface="Calibri"/>
                        </a:rPr>
                        <a:t>Chekka qurilmalar, ma'lumot markazlari</a:t>
                      </a:r>
                    </a:p>
                  </a:txBody>
                  <a:tcPr>
                    <a:solidFill>
                      <a:srgbClr val="FFFFFF"/>
                    </a:solidFill>
                  </a:tcPr>
                </a:tc>
                <a:tc>
                  <a:txBody>
                    <a:bodyPr/>
                    <a:lstStyle/>
                    <a:p>
                      <a:r>
                        <a:rPr sz="1200" b="0">
                          <a:solidFill>
                            <a:srgbClr val="1B2430"/>
                          </a:solidFill>
                          <a:latin typeface="Calibri"/>
                        </a:rPr>
                        <a:t>Jetson: ≤ 1 J/kadr; DC: PUE ≤ 1,2</a:t>
                      </a:r>
                    </a:p>
                  </a:txBody>
                  <a:tcPr>
                    <a:solidFill>
                      <a:srgbClr val="FFFFFF"/>
                    </a:solidFill>
                  </a:tcPr>
                </a:tc>
              </a:tr>
              <a:tr h="520000">
                <a:tc>
                  <a:txBody>
                    <a:bodyPr/>
                    <a:lstStyle/>
                    <a:p>
                      <a:r>
                        <a:rPr sz="1200" b="0">
                          <a:solidFill>
                            <a:srgbClr val="1B2430"/>
                          </a:solidFill>
                          <a:latin typeface="Calibri"/>
                        </a:rPr>
                        <a:t>Xotira</a:t>
                      </a:r>
                    </a:p>
                  </a:txBody>
                  <a:tcPr>
                    <a:solidFill>
                      <a:srgbClr val="F1F4F8"/>
                    </a:solidFill>
                  </a:tcPr>
                </a:tc>
                <a:tc>
                  <a:txBody>
                    <a:bodyPr/>
                    <a:lstStyle/>
                    <a:p>
                      <a:r>
                        <a:rPr sz="1200" b="0">
                          <a:solidFill>
                            <a:srgbClr val="1B2430"/>
                          </a:solidFill>
                          <a:latin typeface="Calibri"/>
                        </a:rPr>
                        <a:t>GB, GB/s</a:t>
                      </a:r>
                    </a:p>
                  </a:txBody>
                  <a:tcPr>
                    <a:solidFill>
                      <a:srgbClr val="F1F4F8"/>
                    </a:solidFill>
                  </a:tcPr>
                </a:tc>
                <a:tc>
                  <a:txBody>
                    <a:bodyPr/>
                    <a:lstStyle/>
                    <a:p>
                      <a:r>
                        <a:rPr sz="1200" b="0">
                          <a:solidFill>
                            <a:srgbClr val="1B2430"/>
                          </a:solidFill>
                          <a:latin typeface="Calibri"/>
                        </a:rPr>
                        <a:t>Katta modellar, KV-kesh</a:t>
                      </a:r>
                    </a:p>
                  </a:txBody>
                  <a:tcPr>
                    <a:solidFill>
                      <a:srgbClr val="F1F4F8"/>
                    </a:solidFill>
                  </a:tcPr>
                </a:tc>
                <a:tc>
                  <a:txBody>
                    <a:bodyPr/>
                    <a:lstStyle/>
                    <a:p>
                      <a:r>
                        <a:rPr sz="1200" b="0">
                          <a:solidFill>
                            <a:srgbClr val="1B2430"/>
                          </a:solidFill>
                          <a:latin typeface="Calibri"/>
                        </a:rPr>
                        <a:t>HBM o'tkazuvchanligining ≥ 70 %</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Profiling va benchmarking usullari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Benchmarking — standart ish yukini nazorat qilingan sharoitda o'lchash; profiling — bajarilish davomida vaqt va resurslarning qayerga sarflanganini tahlil qilish. Ikkalasi ham metodologiyaga bog'liq.</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Sanoat standarti — MLCommons tashkilotining MLPerf benchmark to'plami. MLPerf Training LLM, tasvir tasniflash, obyekt aniqlash kabi vazifalar uchun belgilangan sifatga yetish vaqtini o'lchaydi; MLPerf Inference esa to'rt ssenariyda ishlaydi: bitta oqim…</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Profiling vositalari bir necha darajada ishlaydi. PyTorch Profiler (torch.profiler) freymvork darajasida: har bir operator uchun CPU va CUDA vaqti, chaqiruvlar soni, xotira ajratish, hatto Python stekini yozadi va natijani TensorBoard yoki Chrome trace…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Roofline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Roofline modeli (Williams, Waterman, Patterson, 2009) ish yukining erishishi mumkin bo'lgan unumdorligini ikki apparat parametri bilan bog'laydi: cho'qqi hisoblash tezligi P_peak (FLOP/s)…</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Zamonaviy tezlatkichlar uchun tizma nuqtasi hisoblab chiqamiz.</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Endi tipik yadrolarning intensivligini baholaymiz.</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Roofline ikki muhim kengaytmaga ega. Birinchisi — iyerarxik Roofline: har bir xotira darajasi (L1, L2, HBM, NVLink, PCIe) uchun alohida tom chiziladi va intensivlik shu daraja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Roofline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Yadro</a:t>
                      </a:r>
                    </a:p>
                  </a:txBody>
                  <a:tcPr>
                    <a:solidFill>
                      <a:srgbClr val="2D5C8F"/>
                    </a:solidFill>
                  </a:tcPr>
                </a:tc>
                <a:tc>
                  <a:txBody>
                    <a:bodyPr/>
                    <a:lstStyle/>
                    <a:p>
                      <a:r>
                        <a:rPr sz="1400" b="1">
                          <a:solidFill>
                            <a:srgbClr val="FFFFFF"/>
                          </a:solidFill>
                          <a:latin typeface="Calibri"/>
                        </a:rPr>
                        <a:t>Arifmetik intensivlik (FP16)</a:t>
                      </a:r>
                    </a:p>
                  </a:txBody>
                  <a:tcPr>
                    <a:solidFill>
                      <a:srgbClr val="2D5C8F"/>
                    </a:solidFill>
                  </a:tcPr>
                </a:tc>
                <a:tc>
                  <a:txBody>
                    <a:bodyPr/>
                    <a:lstStyle/>
                    <a:p>
                      <a:r>
                        <a:rPr sz="1400" b="1">
                          <a:solidFill>
                            <a:srgbClr val="FFFFFF"/>
                          </a:solidFill>
                          <a:latin typeface="Calibri"/>
                        </a:rPr>
                        <a:t>A100 (I ≈ 153)</a:t>
                      </a:r>
                    </a:p>
                  </a:txBody>
                  <a:tcPr>
                    <a:solidFill>
                      <a:srgbClr val="2D5C8F"/>
                    </a:solidFill>
                  </a:tcPr>
                </a:tc>
                <a:tc>
                  <a:txBody>
                    <a:bodyPr/>
                    <a:lstStyle/>
                    <a:p>
                      <a:r>
                        <a:rPr sz="1400" b="1">
                          <a:solidFill>
                            <a:srgbClr val="FFFFFF"/>
                          </a:solidFill>
                          <a:latin typeface="Calibri"/>
                        </a:rPr>
                        <a:t>Cheklov</a:t>
                      </a:r>
                    </a:p>
                  </a:txBody>
                  <a:tcPr>
                    <a:solidFill>
                      <a:srgbClr val="2D5C8F"/>
                    </a:solidFill>
                  </a:tcPr>
                </a:tc>
              </a:tr>
              <a:tr h="520000">
                <a:tc>
                  <a:txBody>
                    <a:bodyPr/>
                    <a:lstStyle/>
                    <a:p>
                      <a:r>
                        <a:rPr sz="1400" b="0">
                          <a:solidFill>
                            <a:srgbClr val="1B2430"/>
                          </a:solidFill>
                          <a:latin typeface="Calibri"/>
                        </a:rPr>
                        <a:t>GEMM 4096×4096×4096</a:t>
                      </a:r>
                    </a:p>
                  </a:txBody>
                  <a:tcPr>
                    <a:solidFill>
                      <a:srgbClr val="F1F4F8"/>
                    </a:solidFill>
                  </a:tcPr>
                </a:tc>
                <a:tc>
                  <a:txBody>
                    <a:bodyPr/>
                    <a:lstStyle/>
                    <a:p>
                      <a:r>
                        <a:rPr sz="1400" b="0">
                          <a:solidFill>
                            <a:srgbClr val="1B2430"/>
                          </a:solidFill>
                          <a:latin typeface="Calibri"/>
                        </a:rPr>
                        <a:t>≈ 1365</a:t>
                      </a:r>
                    </a:p>
                  </a:txBody>
                  <a:tcPr>
                    <a:solidFill>
                      <a:srgbClr val="F1F4F8"/>
                    </a:solidFill>
                  </a:tcPr>
                </a:tc>
                <a:tc>
                  <a:txBody>
                    <a:bodyPr/>
                    <a:lstStyle/>
                    <a:p>
                      <a:r>
                        <a:rPr sz="1400" b="0">
                          <a:solidFill>
                            <a:srgbClr val="1B2430"/>
                          </a:solidFill>
                          <a:latin typeface="Calibri"/>
                        </a:rPr>
                        <a:t>compute-bound</a:t>
                      </a:r>
                    </a:p>
                  </a:txBody>
                  <a:tcPr>
                    <a:solidFill>
                      <a:srgbClr val="F1F4F8"/>
                    </a:solidFill>
                  </a:tcPr>
                </a:tc>
                <a:tc>
                  <a:txBody>
                    <a:bodyPr/>
                    <a:lstStyle/>
                    <a:p>
                      <a:r>
                        <a:rPr sz="1400" b="0">
                          <a:solidFill>
                            <a:srgbClr val="1B2430"/>
                          </a:solidFill>
                          <a:latin typeface="Calibri"/>
                        </a:rPr>
                        <a:t>Tensor yadro samaradorligi</a:t>
                      </a:r>
                    </a:p>
                  </a:txBody>
                  <a:tcPr>
                    <a:solidFill>
                      <a:srgbClr val="F1F4F8"/>
                    </a:solidFill>
                  </a:tcPr>
                </a:tc>
              </a:tr>
              <a:tr h="520000">
                <a:tc>
                  <a:txBody>
                    <a:bodyPr/>
                    <a:lstStyle/>
                    <a:p>
                      <a:r>
                        <a:rPr sz="1400" b="0">
                          <a:solidFill>
                            <a:srgbClr val="1B2430"/>
                          </a:solidFill>
                          <a:latin typeface="Calibri"/>
                        </a:rPr>
                        <a:t>GEMM partiya 32, d = 4096</a:t>
                      </a:r>
                    </a:p>
                  </a:txBody>
                  <a:tcPr>
                    <a:solidFill>
                      <a:srgbClr val="FFFFFF"/>
                    </a:solidFill>
                  </a:tcPr>
                </a:tc>
                <a:tc>
                  <a:txBody>
                    <a:bodyPr/>
                    <a:lstStyle/>
                    <a:p>
                      <a:r>
                        <a:rPr sz="1400" b="0">
                          <a:solidFill>
                            <a:srgbClr val="1B2430"/>
                          </a:solidFill>
                          <a:latin typeface="Calibri"/>
                        </a:rPr>
                        <a:t>≈ 32</a:t>
                      </a:r>
                    </a:p>
                  </a:txBody>
                  <a:tcPr>
                    <a:solidFill>
                      <a:srgbClr val="FFFFFF"/>
                    </a:solidFill>
                  </a:tcPr>
                </a:tc>
                <a:tc>
                  <a:txBody>
                    <a:bodyPr/>
                    <a:lstStyle/>
                    <a:p>
                      <a:r>
                        <a:rPr sz="1400" b="0">
                          <a:solidFill>
                            <a:srgbClr val="1B2430"/>
                          </a:solidFill>
                          <a:latin typeface="Calibri"/>
                        </a:rPr>
                        <a:t>memory-bound</a:t>
                      </a:r>
                    </a:p>
                  </a:txBody>
                  <a:tcPr>
                    <a:solidFill>
                      <a:srgbClr val="FFFFFF"/>
                    </a:solidFill>
                  </a:tcPr>
                </a:tc>
                <a:tc>
                  <a:txBody>
                    <a:bodyPr/>
                    <a:lstStyle/>
                    <a:p>
                      <a:r>
                        <a:rPr sz="1400" b="0">
                          <a:solidFill>
                            <a:srgbClr val="1B2430"/>
                          </a:solidFill>
                          <a:latin typeface="Calibri"/>
                        </a:rPr>
                        <a:t>Og'irlik o'qish</a:t>
                      </a:r>
                    </a:p>
                  </a:txBody>
                  <a:tcPr>
                    <a:solidFill>
                      <a:srgbClr val="FFFFFF"/>
                    </a:solidFill>
                  </a:tcPr>
                </a:tc>
              </a:tr>
              <a:tr h="520000">
                <a:tc>
                  <a:txBody>
                    <a:bodyPr/>
                    <a:lstStyle/>
                    <a:p>
                      <a:r>
                        <a:rPr sz="1400" b="0">
                          <a:solidFill>
                            <a:srgbClr val="1B2430"/>
                          </a:solidFill>
                          <a:latin typeface="Calibri"/>
                        </a:rPr>
                        <a:t>GEMV (LLM decode, partiya 1)</a:t>
                      </a:r>
                    </a:p>
                  </a:txBody>
                  <a:tcPr>
                    <a:solidFill>
                      <a:srgbClr val="F1F4F8"/>
                    </a:solidFill>
                  </a:tcPr>
                </a:tc>
                <a:tc>
                  <a:txBody>
                    <a:bodyPr/>
                    <a:lstStyle/>
                    <a:p>
                      <a:r>
                        <a:rPr sz="1400" b="0">
                          <a:solidFill>
                            <a:srgbClr val="1B2430"/>
                          </a:solidFill>
                          <a:latin typeface="Calibri"/>
                        </a:rPr>
                        <a:t>≈ 1</a:t>
                      </a:r>
                    </a:p>
                  </a:txBody>
                  <a:tcPr>
                    <a:solidFill>
                      <a:srgbClr val="F1F4F8"/>
                    </a:solidFill>
                  </a:tcPr>
                </a:tc>
                <a:tc>
                  <a:txBody>
                    <a:bodyPr/>
                    <a:lstStyle/>
                    <a:p>
                      <a:r>
                        <a:rPr sz="1400" b="0">
                          <a:solidFill>
                            <a:srgbClr val="1B2430"/>
                          </a:solidFill>
                          <a:latin typeface="Calibri"/>
                        </a:rPr>
                        <a:t>memory-bound</a:t>
                      </a:r>
                    </a:p>
                  </a:txBody>
                  <a:tcPr>
                    <a:solidFill>
                      <a:srgbClr val="F1F4F8"/>
                    </a:solidFill>
                  </a:tcPr>
                </a:tc>
                <a:tc>
                  <a:txBody>
                    <a:bodyPr/>
                    <a:lstStyle/>
                    <a:p>
                      <a:r>
                        <a:rPr sz="1400" b="0">
                          <a:solidFill>
                            <a:srgbClr val="1B2430"/>
                          </a:solidFill>
                          <a:latin typeface="Calibri"/>
                        </a:rPr>
                        <a:t>HBM o'tkazuvchanligi</a:t>
                      </a:r>
                    </a:p>
                  </a:txBody>
                  <a:tcPr>
                    <a:solidFill>
                      <a:srgbClr val="F1F4F8"/>
                    </a:solidFill>
                  </a:tcPr>
                </a:tc>
              </a:tr>
              <a:tr h="520000">
                <a:tc>
                  <a:txBody>
                    <a:bodyPr/>
                    <a:lstStyle/>
                    <a:p>
                      <a:r>
                        <a:rPr sz="1400" b="0">
                          <a:solidFill>
                            <a:srgbClr val="1B2430"/>
                          </a:solidFill>
                          <a:latin typeface="Calibri"/>
                        </a:rPr>
                        <a:t>LayerNorm, Softmax, ReLU</a:t>
                      </a:r>
                    </a:p>
                  </a:txBody>
                  <a:tcPr>
                    <a:solidFill>
                      <a:srgbClr val="FFFFFF"/>
                    </a:solidFill>
                  </a:tcPr>
                </a:tc>
                <a:tc>
                  <a:txBody>
                    <a:bodyPr/>
                    <a:lstStyle/>
                    <a:p>
                      <a:r>
                        <a:rPr sz="1400" b="0">
                          <a:solidFill>
                            <a:srgbClr val="1B2430"/>
                          </a:solidFill>
                          <a:latin typeface="Calibri"/>
                        </a:rPr>
                        <a:t>0,25–1</a:t>
                      </a:r>
                    </a:p>
                  </a:txBody>
                  <a:tcPr>
                    <a:solidFill>
                      <a:srgbClr val="FFFFFF"/>
                    </a:solidFill>
                  </a:tcPr>
                </a:tc>
                <a:tc>
                  <a:txBody>
                    <a:bodyPr/>
                    <a:lstStyle/>
                    <a:p>
                      <a:r>
                        <a:rPr sz="1400" b="0">
                          <a:solidFill>
                            <a:srgbClr val="1B2430"/>
                          </a:solidFill>
                          <a:latin typeface="Calibri"/>
                        </a:rPr>
                        <a:t>memory-bound</a:t>
                      </a:r>
                    </a:p>
                  </a:txBody>
                  <a:tcPr>
                    <a:solidFill>
                      <a:srgbClr val="FFFFFF"/>
                    </a:solidFill>
                  </a:tcPr>
                </a:tc>
                <a:tc>
                  <a:txBody>
                    <a:bodyPr/>
                    <a:lstStyle/>
                    <a:p>
                      <a:r>
                        <a:rPr sz="1400" b="0">
                          <a:solidFill>
                            <a:srgbClr val="1B2430"/>
                          </a:solidFill>
                          <a:latin typeface="Calibri"/>
                        </a:rPr>
                        <a:t>Fusion kerak</a:t>
                      </a:r>
                    </a:p>
                  </a:txBody>
                  <a:tcPr>
                    <a:solidFill>
                      <a:srgbClr val="FFFFFF"/>
                    </a:solidFill>
                  </a:tcPr>
                </a:tc>
              </a:tr>
              <a:tr h="520000">
                <a:tc>
                  <a:txBody>
                    <a:bodyPr/>
                    <a:lstStyle/>
                    <a:p>
                      <a:r>
                        <a:rPr sz="1400" b="0">
                          <a:solidFill>
                            <a:srgbClr val="1B2430"/>
                          </a:solidFill>
                          <a:latin typeface="Calibri"/>
                        </a:rPr>
                        <a:t>Attention (uzun kontekst, naiv)</a:t>
                      </a:r>
                    </a:p>
                  </a:txBody>
                  <a:tcPr>
                    <a:solidFill>
                      <a:srgbClr val="F1F4F8"/>
                    </a:solidFill>
                  </a:tcPr>
                </a:tc>
                <a:tc>
                  <a:txBody>
                    <a:bodyPr/>
                    <a:lstStyle/>
                    <a:p>
                      <a:r>
                        <a:rPr sz="1400" b="0">
                          <a:solidFill>
                            <a:srgbClr val="1B2430"/>
                          </a:solidFill>
                          <a:latin typeface="Calibri"/>
                        </a:rPr>
                        <a:t>1–10</a:t>
                      </a:r>
                    </a:p>
                  </a:txBody>
                  <a:tcPr>
                    <a:solidFill>
                      <a:srgbClr val="F1F4F8"/>
                    </a:solidFill>
                  </a:tcPr>
                </a:tc>
                <a:tc>
                  <a:txBody>
                    <a:bodyPr/>
                    <a:lstStyle/>
                    <a:p>
                      <a:r>
                        <a:rPr sz="1400" b="0">
                          <a:solidFill>
                            <a:srgbClr val="1B2430"/>
                          </a:solidFill>
                          <a:latin typeface="Calibri"/>
                        </a:rPr>
                        <a:t>memory-bound</a:t>
                      </a:r>
                    </a:p>
                  </a:txBody>
                  <a:tcPr>
                    <a:solidFill>
                      <a:srgbClr val="F1F4F8"/>
                    </a:solidFill>
                  </a:tcPr>
                </a:tc>
                <a:tc>
                  <a:txBody>
                    <a:bodyPr/>
                    <a:lstStyle/>
                    <a:p>
                      <a:r>
                        <a:rPr sz="1400" b="0">
                          <a:solidFill>
                            <a:srgbClr val="1B2430"/>
                          </a:solidFill>
                          <a:latin typeface="Calibri"/>
                        </a:rPr>
                        <a:t>FlashAttention</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Energiya samaradorligini tahlil qilish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Energiya ikki sababga ko'ra unumdorlik mezoni bo'ldi. Ma'lumot markazlarida u ekspluatatsiya xarajatining asosiy qismi va quvvat ta'minoti cheklovi: H100 SXM 700 vatt, 8 ta GPU'li DGX H100 esa 10 kilovattgacha iste'mol qiladi.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GPU quvvatini o'lchashning standart vositasi — nvidia-smi va uning asosidagi NVML kutubxonasi (pynvml Python paketi). nvidia-smi --query-gpu=power.draw,clocks.sm,temperature.gpu --format=csv -lms 100 har 100 millisekundda quvvat, chastota va haroratni yozadi.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Energiya va unumdorlik o'rtasida nochiziqli bog'liqlik bor. Dinamik quvvat chastota va kuchlanish kvadratiga proporsional (P ∝ f · V²), shuning uchun GPU chastotasini 10–15 foiz pasaytirish (nvidia-smi -pl bilan quvvat chegarasi yoki -lgc bilan chastota…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Optimallashtirish strategiyalari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Unumdorlik tahlilining yakuniy maqsadi — to'g'ri optimallashtirishni tanlash. Strategiya to'siq turiga bog'liq.</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Masshtablanuvchanlik to'sig'i uchun strategiya boshqacha: aloqa va hisoblashni ustma-ust qo'yish (gradient bucketing, asinxron all-reduce), aloqa hajmini kamaytirish (gradient siqish, FP16 aloqa), topologiyaga mos kollektivlar (NVLink ichida tensor…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Misolda biz ResNet-50 tasniflash modelining inferens unumdorligini bitta GPU'da to'liq tahlil qilamiz: to'g'ri benchmark, partiya hajmining latency va throughput'ga ta'siri, PyTorch Profiler bilan operatorlar profili, Nsight Systems bilan tizim oqimi,…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To'g'ri benchmark funksiyasi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biz CUDA hodisalari bilan GPU vaqt o'qida o'lchadik, 30 iteratsiya isitdik va mediana hamda p99 ni oldik. A100'da kutilgan natija (taxminiy): FP32 partiya 1 — p50 ≈ 4,5 ms (≈ 220 img/s), partiya 64 — ≈ 52 ms (≈ 1230 img/s); FP16 partiya 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To'g'ri benchmark funksiyasi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import torch, time, statistics, torchvision</a:t>
            </a:r>
          </a:p>
          <a:p>
            <a:r>
              <a:rPr sz="1200">
                <a:solidFill>
                  <a:srgbClr val="E2E8F0"/>
                </a:solidFill>
                <a:latin typeface="Consolas"/>
              </a:rPr>
              <a:t>device = "cuda"</a:t>
            </a:r>
          </a:p>
          <a:p>
            <a:r>
              <a:rPr sz="1200">
                <a:solidFill>
                  <a:srgbClr val="E2E8F0"/>
                </a:solidFill>
                <a:latin typeface="Consolas"/>
              </a:rPr>
              <a:t>model = torchvision.models.resnet50(weights="IMAGENET1K_V2").eval().to(device)</a:t>
            </a:r>
          </a:p>
          <a:p>
            <a:r>
              <a:rPr sz="1200">
                <a:solidFill>
                  <a:srgbClr val="E2E8F0"/>
                </a:solidFill>
                <a:latin typeface="Consolas"/>
              </a:rPr>
              <a:t> </a:t>
            </a:r>
          </a:p>
          <a:p>
            <a:r>
              <a:rPr sz="1200">
                <a:solidFill>
                  <a:srgbClr val="E2E8F0"/>
                </a:solidFill>
                <a:latin typeface="Consolas"/>
              </a:rPr>
              <a:t>@torch.no_grad()</a:t>
            </a:r>
          </a:p>
          <a:p>
            <a:r>
              <a:rPr sz="1200">
                <a:solidFill>
                  <a:srgbClr val="E2E8F0"/>
                </a:solidFill>
                <a:latin typeface="Consolas"/>
              </a:rPr>
              <a:t>def bench(model, batch, dtype=torch.float32, iters=200, warmup=30):</a:t>
            </a:r>
          </a:p>
          <a:p>
            <a:r>
              <a:rPr sz="1200">
                <a:solidFill>
                  <a:srgbClr val="E2E8F0"/>
                </a:solidFill>
                <a:latin typeface="Consolas"/>
              </a:rPr>
              <a:t>    x = torch.randn(batch, 3, 224, 224, device=device, dtype=dtype)</a:t>
            </a:r>
          </a:p>
          <a:p>
            <a:r>
              <a:rPr sz="1200">
                <a:solidFill>
                  <a:srgbClr val="E2E8F0"/>
                </a:solidFill>
                <a:latin typeface="Consolas"/>
              </a:rPr>
              <a:t>    m = model.to(dtype)</a:t>
            </a:r>
          </a:p>
          <a:p>
            <a:r>
              <a:rPr sz="1200">
                <a:solidFill>
                  <a:srgbClr val="E2E8F0"/>
                </a:solidFill>
                <a:latin typeface="Consolas"/>
              </a:rPr>
              <a:t>    for _ in range(warmup):            # isitish: cuDNN autotune, xotira ajratish</a:t>
            </a:r>
          </a:p>
          <a:p>
            <a:r>
              <a:rPr sz="1200">
                <a:solidFill>
                  <a:srgbClr val="E2E8F0"/>
                </a:solidFill>
                <a:latin typeface="Consolas"/>
              </a:rPr>
              <a:t>        m(x)</a:t>
            </a:r>
          </a:p>
          <a:p>
            <a:r>
              <a:rPr sz="1200">
                <a:solidFill>
                  <a:srgbClr val="E2E8F0"/>
                </a:solidFill>
                <a:latin typeface="Consolas"/>
              </a:rPr>
              <a:t>    torch.cuda.synchronize()</a:t>
            </a:r>
          </a:p>
          <a:p>
            <a:r>
              <a:rPr sz="1200">
                <a:solidFill>
                  <a:srgbClr val="E2E8F0"/>
                </a:solidFill>
                <a:latin typeface="Consolas"/>
              </a:rPr>
              <a:t>    times = []</a:t>
            </a:r>
          </a:p>
          <a:p>
            <a:r>
              <a:rPr sz="1200">
                <a:solidFill>
                  <a:srgbClr val="E2E8F0"/>
                </a:solidFill>
                <a:latin typeface="Consolas"/>
              </a:rPr>
              <a:t>    start, end = torch.cuda.Event(enable_timing=True), torch.cuda.Event(enable_timing=True)</a:t>
            </a:r>
          </a:p>
          <a:p>
            <a:r>
              <a:rPr sz="1200">
                <a:solidFill>
                  <a:srgbClr val="E2E8F0"/>
                </a:solidFill>
                <a:latin typeface="Consolas"/>
              </a:rPr>
              <a:t>    for _ in range(iters):</a:t>
            </a:r>
          </a:p>
          <a:p>
            <a:r>
              <a:rPr sz="1200">
                <a:solidFill>
                  <a:srgbClr val="E2E8F0"/>
                </a:solidFill>
                <a:latin typeface="Consolas"/>
              </a:rPr>
              <a:t>        start.record(); m(x); end.record()</a:t>
            </a:r>
          </a:p>
          <a:p>
            <a:r>
              <a:rPr sz="1200">
                <a:solidFill>
                  <a:srgbClr val="E2E8F0"/>
                </a:solidFill>
                <a:latin typeface="Consolas"/>
              </a:rPr>
              <a:t>        torch.cuda.synchronize()</a:t>
            </a:r>
          </a:p>
          <a:p>
            <a:r>
              <a:rPr sz="1200">
                <a:solidFill>
                  <a:srgbClr val="E2E8F0"/>
                </a:solidFill>
                <a:latin typeface="Consolas"/>
              </a:rPr>
              <a:t>        times.append(start.elapsed_time(end))   # ms, GPU vaqt o'qi bo'yicha</a:t>
            </a:r>
          </a:p>
          <a:p>
            <a:r>
              <a:rPr sz="1200">
                <a:solidFill>
                  <a:srgbClr val="E2E8F0"/>
                </a:solidFill>
                <a:latin typeface="Consolas"/>
              </a:rPr>
              <a:t>    times.sort()</a:t>
            </a:r>
          </a:p>
          <a:p>
            <a:r>
              <a:rPr sz="1200">
                <a:solidFill>
                  <a:srgbClr val="E2E8F0"/>
                </a:solidFill>
                <a:latin typeface="Consolas"/>
              </a:rPr>
              <a:t>    p50, p99 = statistics.median(times), times[int(0.99*len(times))-1]</a:t>
            </a:r>
          </a:p>
          <a:p>
            <a:r>
              <a:rPr sz="1200">
                <a:solidFill>
                  <a:srgbClr val="E2E8F0"/>
                </a:solidFill>
                <a:latin typeface="Consolas"/>
              </a:rPr>
              <a:t>    return p50, p99, batch / (p50/1000)       # ms, ms, img/s</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PyTorch Profiler bilan operatorlar profili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jadvalda aten::cudnn_convolution CUDA vaqtining 65–75 foizini, aten::batch_norm 8–10 foizini, aten::relu_ va aten::add_ 5–8 foizini oladi. Lekin eng muhim ustun — CPU vaqti umumiy CUDA vaqtidan katta bo'lishi: partiya 1 da CPU tomonidagi…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PyTorch Profiler bilan operatorlar profili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from torch.profiler import profile, ProfilerActivity, schedule</a:t>
            </a:r>
          </a:p>
          <a:p>
            <a:r>
              <a:rPr sz="1200">
                <a:solidFill>
                  <a:srgbClr val="E2E8F0"/>
                </a:solidFill>
                <a:latin typeface="Consolas"/>
              </a:rPr>
              <a:t>x = torch.randn(1, 3, 224, 224, device=device)</a:t>
            </a:r>
          </a:p>
          <a:p>
            <a:r>
              <a:rPr sz="1200">
                <a:solidFill>
                  <a:srgbClr val="E2E8F0"/>
                </a:solidFill>
                <a:latin typeface="Consolas"/>
              </a:rPr>
              <a:t>with profile(activities=[ProfilerActivity.CPU, ProfilerActivity.CUDA],</a:t>
            </a:r>
          </a:p>
          <a:p>
            <a:r>
              <a:rPr sz="1200">
                <a:solidFill>
                  <a:srgbClr val="E2E8F0"/>
                </a:solidFill>
                <a:latin typeface="Consolas"/>
              </a:rPr>
              <a:t>             schedule=schedule(wait=5, warmup=5, active=10),</a:t>
            </a:r>
          </a:p>
          <a:p>
            <a:r>
              <a:rPr sz="1200">
                <a:solidFill>
                  <a:srgbClr val="E2E8F0"/>
                </a:solidFill>
                <a:latin typeface="Consolas"/>
              </a:rPr>
              <a:t>             on_trace_ready=torch.profiler.tensorboard_trace_handler("./prof_b1"),</a:t>
            </a:r>
          </a:p>
          <a:p>
            <a:r>
              <a:rPr sz="1200">
                <a:solidFill>
                  <a:srgbClr val="E2E8F0"/>
                </a:solidFill>
                <a:latin typeface="Consolas"/>
              </a:rPr>
              <a:t>             record_shapes=True) as prof:</a:t>
            </a:r>
          </a:p>
          <a:p>
            <a:r>
              <a:rPr sz="1200">
                <a:solidFill>
                  <a:srgbClr val="E2E8F0"/>
                </a:solidFill>
                <a:latin typeface="Consolas"/>
              </a:rPr>
              <a:t>    with torch.no_grad():</a:t>
            </a:r>
          </a:p>
          <a:p>
            <a:r>
              <a:rPr sz="1200">
                <a:solidFill>
                  <a:srgbClr val="E2E8F0"/>
                </a:solidFill>
                <a:latin typeface="Consolas"/>
              </a:rPr>
              <a:t>        for _ in range(20):</a:t>
            </a:r>
          </a:p>
          <a:p>
            <a:r>
              <a:rPr sz="1200">
                <a:solidFill>
                  <a:srgbClr val="E2E8F0"/>
                </a:solidFill>
                <a:latin typeface="Consolas"/>
              </a:rPr>
              <a:t>            model(x); prof.step()</a:t>
            </a:r>
          </a:p>
          <a:p>
            <a:r>
              <a:rPr sz="1200">
                <a:solidFill>
                  <a:srgbClr val="E2E8F0"/>
                </a:solidFill>
                <a:latin typeface="Consolas"/>
              </a:rPr>
              <a:t>print(prof.key_averages().table(sort_by="cuda_time_total", row_limit=12))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Nsight Systems bilan tizim oqimi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nsys grafik interfeysida (yoki nsys stats jadvalida) biz ko'ramiz: yadrolar orasida 20–40 mikrosekundlik bo'shliqlar, cudaLaunchKernel API chaqiruvlari soni iteratsiyaga ≈ 170, postprocess bosqichida .cpu() chaqiruvi sinxronizatsiya…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Nsight Systems bilan tizim oqimi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nsys profile -t cuda,nvtx,osrt -o resnet_b1 --force-overwrite true \</a:t>
            </a:r>
          </a:p>
          <a:p>
            <a:r>
              <a:rPr sz="1200">
                <a:solidFill>
                  <a:srgbClr val="E2E8F0"/>
                </a:solidFill>
                <a:latin typeface="Consolas"/>
              </a:rPr>
              <a:t>     python3 bench_b1.py</a:t>
            </a:r>
          </a:p>
          <a:p>
            <a:r>
              <a:rPr sz="1200">
                <a:solidFill>
                  <a:srgbClr val="E2E8F0"/>
                </a:solidFill>
                <a:latin typeface="Consolas"/>
              </a:rPr>
              <a:t>nsys stats --report cuda_gpu_kern_sum,cuda_api_sum resnet_b1.nsys-rep | head -40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Nsight Systems bilan tizim oqimi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bench_b1.py ichida NVTX belgilari — vaqt oqimida bosqichlarni ajratish uchun</a:t>
            </a:r>
          </a:p>
          <a:p>
            <a:r>
              <a:rPr sz="1200">
                <a:solidFill>
                  <a:srgbClr val="E2E8F0"/>
                </a:solidFill>
                <a:latin typeface="Consolas"/>
              </a:rPr>
              <a:t>import torch.cuda.nvtx as nvtx</a:t>
            </a:r>
          </a:p>
          <a:p>
            <a:r>
              <a:rPr sz="1200">
                <a:solidFill>
                  <a:srgbClr val="E2E8F0"/>
                </a:solidFill>
                <a:latin typeface="Consolas"/>
              </a:rPr>
              <a:t>with nvtx.range("preprocess"): x = pre(img).to(device, non_blocking=True)</a:t>
            </a:r>
          </a:p>
          <a:p>
            <a:r>
              <a:rPr sz="1200">
                <a:solidFill>
                  <a:srgbClr val="E2E8F0"/>
                </a:solidFill>
                <a:latin typeface="Consolas"/>
              </a:rPr>
              <a:t>with nvtx.range("forward"):    y = model(x)</a:t>
            </a:r>
          </a:p>
          <a:p>
            <a:r>
              <a:rPr sz="1200">
                <a:solidFill>
                  <a:srgbClr val="E2E8F0"/>
                </a:solidFill>
                <a:latin typeface="Consolas"/>
              </a:rPr>
              <a:t>with nvtx.range("postprocess"): out = y.softmax(1).argmax(1).cpu()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Roofline hisobi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A100 40 GB uchun FP16 tizma nuqtasi ≈ 200, FP32 ≈ 12,5 FLOP/bayt. O'lchangan throughput'dan erishilgan unumdorlikni hisoblaymiz: FP32 partiya 1 — 1,8 TFLOPS (cho'qqi 19,5 ning 9 %), FP32 partiya 64 — 10,1 TFLOPS (52 %), FP16 partiya 64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Roofline hisobi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A100 40GB SXM parametrlari (rasmiy spetsifikatsiya)</a:t>
            </a:r>
          </a:p>
          <a:p>
            <a:r>
              <a:rPr sz="1000">
                <a:solidFill>
                  <a:srgbClr val="E2E8F0"/>
                </a:solidFill>
                <a:latin typeface="Consolas"/>
              </a:rPr>
              <a:t>PEAK_FP16 = 312e12       # FLOP/s, tensor yadrolar, zich</a:t>
            </a:r>
          </a:p>
          <a:p>
            <a:r>
              <a:rPr sz="1000">
                <a:solidFill>
                  <a:srgbClr val="E2E8F0"/>
                </a:solidFill>
                <a:latin typeface="Consolas"/>
              </a:rPr>
              <a:t>PEAK_FP32 = 19.5e12</a:t>
            </a:r>
          </a:p>
          <a:p>
            <a:r>
              <a:rPr sz="1000">
                <a:solidFill>
                  <a:srgbClr val="E2E8F0"/>
                </a:solidFill>
                <a:latin typeface="Consolas"/>
              </a:rPr>
              <a:t>BW_HBM    = 1555e9       # bayt/s (40 GB varianti)</a:t>
            </a:r>
          </a:p>
          <a:p>
            <a:r>
              <a:rPr sz="1000">
                <a:solidFill>
                  <a:srgbClr val="E2E8F0"/>
                </a:solidFill>
                <a:latin typeface="Consolas"/>
              </a:rPr>
              <a:t>ridge_fp16, ridge_fp32 = PEAK_FP16/BW_HBM, PEAK_FP32/BW_HBM</a:t>
            </a:r>
          </a:p>
          <a:p>
            <a:r>
              <a:rPr sz="1000">
                <a:solidFill>
                  <a:srgbClr val="E2E8F0"/>
                </a:solidFill>
                <a:latin typeface="Consolas"/>
              </a:rPr>
              <a:t>print(f"Tizma nuqtasi: FP16 {ridge_fp16:.0f}, FP32 {ridge_fp32:.1f} FLOP/bayt")</a:t>
            </a:r>
          </a:p>
          <a:p>
            <a:r>
              <a:rPr sz="1000">
                <a:solidFill>
                  <a:srgbClr val="E2E8F0"/>
                </a:solidFill>
                <a:latin typeface="Consolas"/>
              </a:rPr>
              <a:t> </a:t>
            </a:r>
          </a:p>
          <a:p>
            <a:r>
              <a:rPr sz="1000">
                <a:solidFill>
                  <a:srgbClr val="7FD6D7"/>
                </a:solidFill>
                <a:latin typeface="Consolas"/>
              </a:rPr>
              <a:t># ResNet-50: ~4.1 GMAC = 8.2 GFLOP / tasvir</a:t>
            </a:r>
          </a:p>
          <a:p>
            <a:r>
              <a:rPr sz="1000">
                <a:solidFill>
                  <a:srgbClr val="E2E8F0"/>
                </a:solidFill>
                <a:latin typeface="Consolas"/>
              </a:rPr>
              <a:t>flops_per_img = 8.2e9</a:t>
            </a:r>
          </a:p>
          <a:p>
            <a:r>
              <a:rPr sz="1000">
                <a:solidFill>
                  <a:srgbClr val="E2E8F0"/>
                </a:solidFill>
                <a:latin typeface="Consolas"/>
              </a:rPr>
              <a:t>for batch, thr in [(1, 220), (64, 1230), (64, 3000)]:       # o'lchangan img/s (FP32, FP32, FP16)</a:t>
            </a:r>
          </a:p>
          <a:p>
            <a:r>
              <a:rPr sz="1000">
                <a:solidFill>
                  <a:srgbClr val="E2E8F0"/>
                </a:solidFill>
                <a:latin typeface="Consolas"/>
              </a:rPr>
              <a:t>    achieved = flops_per_img * thr</a:t>
            </a:r>
          </a:p>
          <a:p>
            <a:r>
              <a:rPr sz="1000">
                <a:solidFill>
                  <a:srgbClr val="E2E8F0"/>
                </a:solidFill>
                <a:latin typeface="Consolas"/>
              </a:rPr>
              <a:t>    print(f"batch={batch} thr={thr} -&gt; {achieved/1e12:.1f} TFLOPS")</a:t>
            </a:r>
          </a:p>
          <a:p>
            <a:r>
              <a:rPr sz="1000">
                <a:solidFill>
                  <a:srgbClr val="E2E8F0"/>
                </a:solidFill>
                <a:latin typeface="Consolas"/>
              </a:rPr>
              <a:t> </a:t>
            </a:r>
          </a:p>
          <a:p>
            <a:r>
              <a:rPr sz="1000">
                <a:solidFill>
                  <a:srgbClr val="7FD6D7"/>
                </a:solidFill>
                <a:latin typeface="Consolas"/>
              </a:rPr>
              <a:t># Misol yadro: GEMM M=N=K=4096 FP16 va GEMV</a:t>
            </a:r>
          </a:p>
          <a:p>
            <a:r>
              <a:rPr sz="1000">
                <a:solidFill>
                  <a:srgbClr val="E2E8F0"/>
                </a:solidFill>
                <a:latin typeface="Consolas"/>
              </a:rPr>
              <a:t>def intensity(M, N, K, bytes_per=2):</a:t>
            </a:r>
          </a:p>
          <a:p>
            <a:r>
              <a:rPr sz="1000">
                <a:solidFill>
                  <a:srgbClr val="E2E8F0"/>
                </a:solidFill>
                <a:latin typeface="Consolas"/>
              </a:rPr>
              <a:t>    return 2*M*N*K / (bytes_per*(M*K + K*N + M*N))</a:t>
            </a:r>
          </a:p>
          <a:p>
            <a:r>
              <a:rPr sz="1000">
                <a:solidFill>
                  <a:srgbClr val="E2E8F0"/>
                </a:solidFill>
                <a:latin typeface="Consolas"/>
              </a:rPr>
              <a:t>print("GEMM 4096^3:", round(intensity(4096,4096,4096)), "FLOP/B -&gt;", "compute-bound")</a:t>
            </a:r>
          </a:p>
          <a:p>
            <a:r>
              <a:rPr sz="1000">
                <a:solidFill>
                  <a:srgbClr val="E2E8F0"/>
                </a:solidFill>
                <a:latin typeface="Consolas"/>
              </a:rPr>
              <a:t>print("GEMV 1x4096x4096:", round(intensity(1,4096,4096), 2), "FLOP/B -&gt;", "memory-bound")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Energiya o'lchovi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kutilgan natija (taxminiy) A100 SXM uchun: bo'sh holatda ≈ 55 vatt, FP16 partiya 64 yuk ostida ≈ 280 vatt, 3000 img/s → ≈ 93 mJ/tasvir, ≈ 10,7 img/s/W. FP32 partiya 64 da quvvat ≈ 300 vatt, 1230 img/s → ≈ 245 mJ/tasvir — ya'ni FP16…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Energiya o'lchovi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import pynvml, threading, time</a:t>
            </a:r>
          </a:p>
          <a:p>
            <a:r>
              <a:rPr sz="1000">
                <a:solidFill>
                  <a:srgbClr val="E2E8F0"/>
                </a:solidFill>
                <a:latin typeface="Consolas"/>
              </a:rPr>
              <a:t>pynvml.nvmlInit(); h = pynvml.nvmlDeviceGetHandleByIndex(0)</a:t>
            </a:r>
          </a:p>
          <a:p>
            <a:r>
              <a:rPr sz="1000">
                <a:solidFill>
                  <a:srgbClr val="E2E8F0"/>
                </a:solidFill>
                <a:latin typeface="Consolas"/>
              </a:rPr>
              <a:t>samples = []; stop = False</a:t>
            </a:r>
          </a:p>
          <a:p>
            <a:r>
              <a:rPr sz="1000">
                <a:solidFill>
                  <a:srgbClr val="E2E8F0"/>
                </a:solidFill>
                <a:latin typeface="Consolas"/>
              </a:rPr>
              <a:t>def sampler():</a:t>
            </a:r>
          </a:p>
          <a:p>
            <a:r>
              <a:rPr sz="1000">
                <a:solidFill>
                  <a:srgbClr val="E2E8F0"/>
                </a:solidFill>
                <a:latin typeface="Consolas"/>
              </a:rPr>
              <a:t>    while not stop:</a:t>
            </a:r>
          </a:p>
          <a:p>
            <a:r>
              <a:rPr sz="1000">
                <a:solidFill>
                  <a:srgbClr val="E2E8F0"/>
                </a:solidFill>
                <a:latin typeface="Consolas"/>
              </a:rPr>
              <a:t>        samples.append((time.time(), pynvml.nvmlDeviceGetPowerUsage(h)/1000))  # W</a:t>
            </a:r>
          </a:p>
          <a:p>
            <a:r>
              <a:rPr sz="1000">
                <a:solidFill>
                  <a:srgbClr val="E2E8F0"/>
                </a:solidFill>
                <a:latin typeface="Consolas"/>
              </a:rPr>
              <a:t>        time.sleep(0.05)</a:t>
            </a:r>
          </a:p>
          <a:p>
            <a:r>
              <a:rPr sz="1000">
                <a:solidFill>
                  <a:srgbClr val="E2E8F0"/>
                </a:solidFill>
                <a:latin typeface="Consolas"/>
              </a:rPr>
              <a:t>t = threading.Thread(target=sampler); t.start()</a:t>
            </a:r>
          </a:p>
          <a:p>
            <a:r>
              <a:rPr sz="1000">
                <a:solidFill>
                  <a:srgbClr val="E2E8F0"/>
                </a:solidFill>
                <a:latin typeface="Consolas"/>
              </a:rPr>
              <a:t>t0 = time.time(); p50, p99, thr = bench(model, 64, torch.float16, iters=500); t1 = time.time()</a:t>
            </a:r>
          </a:p>
          <a:p>
            <a:r>
              <a:rPr sz="1000">
                <a:solidFill>
                  <a:srgbClr val="E2E8F0"/>
                </a:solidFill>
                <a:latin typeface="Consolas"/>
              </a:rPr>
              <a:t>stop = True; t.join()</a:t>
            </a:r>
          </a:p>
          <a:p>
            <a:r>
              <a:rPr sz="1000">
                <a:solidFill>
                  <a:srgbClr val="E2E8F0"/>
                </a:solidFill>
                <a:latin typeface="Consolas"/>
              </a:rPr>
              <a:t>avg_power = statistics.mean(p for ts, p in samples if t0 &lt;= ts &lt;= t1)</a:t>
            </a:r>
          </a:p>
          <a:p>
            <a:r>
              <a:rPr sz="1000">
                <a:solidFill>
                  <a:srgbClr val="E2E8F0"/>
                </a:solidFill>
                <a:latin typeface="Consolas"/>
              </a:rPr>
              <a:t>energy_per_img = avg_power / thr</a:t>
            </a:r>
          </a:p>
          <a:p>
            <a:r>
              <a:rPr sz="1000">
                <a:solidFill>
                  <a:srgbClr val="E2E8F0"/>
                </a:solidFill>
                <a:latin typeface="Consolas"/>
              </a:rPr>
              <a:t>print(f"O'rtacha quvvat {avg_power:.0f} W, {thr:.0f} img/s, {energy_per_img*1000:.1f} mJ/tasvir, "</a:t>
            </a:r>
          </a:p>
          <a:p>
            <a:r>
              <a:rPr sz="1000">
                <a:solidFill>
                  <a:srgbClr val="E2E8F0"/>
                </a:solidFill>
                <a:latin typeface="Consolas"/>
              </a:rPr>
              <a:t>      f"{thr/avg_power:.1f} img/s/W")</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Energiya o'lchovi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Muqobil: tashqi monitoring va quvvat chegarasini o'zgartirish (root talab qiladi)</a:t>
            </a:r>
          </a:p>
          <a:p>
            <a:r>
              <a:rPr sz="1000">
                <a:solidFill>
                  <a:srgbClr val="E2E8F0"/>
                </a:solidFill>
                <a:latin typeface="Consolas"/>
              </a:rPr>
              <a:t>nvidia-smi --query-gpu=timestamp,power.draw,clocks.sm,utilization.gpu --format=csv -lms 100 &gt; power.csv &amp;</a:t>
            </a:r>
          </a:p>
          <a:p>
            <a:r>
              <a:rPr sz="1000">
                <a:solidFill>
                  <a:srgbClr val="E2E8F0"/>
                </a:solidFill>
                <a:latin typeface="Consolas"/>
              </a:rPr>
              <a:t>sudo nvidia-smi -pl 250     # A100 400W -&gt; 250W chegara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Masshtablanuvchanlikni baholash (ko'p GPU)</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Nima bo'ldi va nega: 1, 2, 4 GPU'da ishga tushirib, img/s ni solishtiramiz. NVLink'li A100 serverida kutilgan (taxminiy): 1 GPU ≈ 850 img/s (AMP'siz), 2 GPU ≈ 1650 (97 %), 4 GPU ≈ 3200 (94 %), 8 GPU ≈ 6100 (90 %).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Masshtablanuvchanlikni baholash (ko'p GPU)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torchrun --nproc_per_node=4 scale.py  — har jarayon o'z GPU'sida, DDP bilan o'qitish qadami</a:t>
            </a:r>
          </a:p>
          <a:p>
            <a:r>
              <a:rPr sz="1000">
                <a:solidFill>
                  <a:srgbClr val="E2E8F0"/>
                </a:solidFill>
                <a:latin typeface="Consolas"/>
              </a:rPr>
              <a:t>import torch.distributed as dist, os</a:t>
            </a:r>
          </a:p>
          <a:p>
            <a:r>
              <a:rPr sz="1000">
                <a:solidFill>
                  <a:srgbClr val="E2E8F0"/>
                </a:solidFill>
                <a:latin typeface="Consolas"/>
              </a:rPr>
              <a:t>dist.init_process_group("nccl"); rank = int(os.environ["LOCAL_RANK"]); torch.cuda.set_device(rank)</a:t>
            </a:r>
          </a:p>
          <a:p>
            <a:r>
              <a:rPr sz="1000">
                <a:solidFill>
                  <a:srgbClr val="E2E8F0"/>
                </a:solidFill>
                <a:latin typeface="Consolas"/>
              </a:rPr>
              <a:t>m = torch.nn.parallel.DistributedDataParallel(torchvision.models.resnet50().cuda(), device_ids=[rank])</a:t>
            </a:r>
          </a:p>
          <a:p>
            <a:r>
              <a:rPr sz="1000">
                <a:solidFill>
                  <a:srgbClr val="E2E8F0"/>
                </a:solidFill>
                <a:latin typeface="Consolas"/>
              </a:rPr>
              <a:t>opt = torch.optim.SGD(m.parameters(), lr=0.1)</a:t>
            </a:r>
          </a:p>
          <a:p>
            <a:r>
              <a:rPr sz="1000">
                <a:solidFill>
                  <a:srgbClr val="E2E8F0"/>
                </a:solidFill>
                <a:latin typeface="Consolas"/>
              </a:rPr>
              <a:t>x = torch.randn(64, 3, 224, 224, device="cuda"); y = torch.randint(0, 1000, (64,), device="cuda")</a:t>
            </a:r>
          </a:p>
          <a:p>
            <a:r>
              <a:rPr sz="1000">
                <a:solidFill>
                  <a:srgbClr val="E2E8F0"/>
                </a:solidFill>
                <a:latin typeface="Consolas"/>
              </a:rPr>
              <a:t>for _ in range(20): loss = torch.nn.functional.cross_entropy(m(x), y); loss.backward(); opt.step(); opt.zero_grad()</a:t>
            </a:r>
          </a:p>
          <a:p>
            <a:r>
              <a:rPr sz="1000">
                <a:solidFill>
                  <a:srgbClr val="E2E8F0"/>
                </a:solidFill>
                <a:latin typeface="Consolas"/>
              </a:rPr>
              <a:t>torch.cuda.synchronize(); dist.barrier(); t0 = time.time()</a:t>
            </a:r>
          </a:p>
          <a:p>
            <a:r>
              <a:rPr sz="1000">
                <a:solidFill>
                  <a:srgbClr val="E2E8F0"/>
                </a:solidFill>
                <a:latin typeface="Consolas"/>
              </a:rPr>
              <a:t>for _ in range(100): loss = torch.nn.functional.cross_entropy(m(x), y); loss.backward(); opt.step(); opt.zero_grad()</a:t>
            </a:r>
          </a:p>
          <a:p>
            <a:r>
              <a:rPr sz="1000">
                <a:solidFill>
                  <a:srgbClr val="E2E8F0"/>
                </a:solidFill>
                <a:latin typeface="Consolas"/>
              </a:rPr>
              <a:t>torch.cuda.synchronize(); dt = time.time() - t0</a:t>
            </a:r>
          </a:p>
          <a:p>
            <a:r>
              <a:rPr sz="1000">
                <a:solidFill>
                  <a:srgbClr val="E2E8F0"/>
                </a:solidFill>
                <a:latin typeface="Consolas"/>
              </a:rPr>
              <a:t>if rank == 0: print(f"{dist.get_world_size()} GPU: {100*64*dist.get_world_size()/dt:.0f} img/s (o'qitish)")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Misol natijalarini bitta jadvalga jamlaymiz (A100 40 GB, taxminiy):</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Tahlilning birinchi xulosasi: bitta tizimda to'siq konfiguratsiyaga qarab o'zgaradi. Partiya 1 da to'siq CPU va yadrolarni ishga tushirish — bu yerda kvantlash yoki tensor yadrolar yordam bermaydi, CUDA Graphs va kompilyatsiya yordam beradi.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Cheklovlar: biz sintetik kirish (torch.randn) ishlatdik — real konveyerda JPEG dekodlash va o'lchamini o'zgartirish ko'pincha GPU'dan ko'proq vaqt oladi va o'lchovga kiritilishi kerak. Biz bitta modelni o'lchadik; ishlab chiqarishda bir GPU'da bir nechta…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graphicFrame>
        <p:nvGraphicFramePr>
          <p:cNvPr id="9" name="Table 8"/>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Konfiguratsiya</a:t>
                      </a:r>
                    </a:p>
                  </a:txBody>
                  <a:tcPr>
                    <a:solidFill>
                      <a:srgbClr val="2D5C8F"/>
                    </a:solidFill>
                  </a:tcPr>
                </a:tc>
                <a:tc>
                  <a:txBody>
                    <a:bodyPr/>
                    <a:lstStyle/>
                    <a:p>
                      <a:r>
                        <a:rPr sz="1400" b="1">
                          <a:solidFill>
                            <a:srgbClr val="FFFFFF"/>
                          </a:solidFill>
                          <a:latin typeface="Calibri"/>
                        </a:rPr>
                        <a:t>p50 latency</a:t>
                      </a:r>
                    </a:p>
                  </a:txBody>
                  <a:tcPr>
                    <a:solidFill>
                      <a:srgbClr val="2D5C8F"/>
                    </a:solidFill>
                  </a:tcPr>
                </a:tc>
                <a:tc>
                  <a:txBody>
                    <a:bodyPr/>
                    <a:lstStyle/>
                    <a:p>
                      <a:r>
                        <a:rPr sz="1400" b="1">
                          <a:solidFill>
                            <a:srgbClr val="FFFFFF"/>
                          </a:solidFill>
                          <a:latin typeface="Calibri"/>
                        </a:rPr>
                        <a:t>Throughput</a:t>
                      </a:r>
                    </a:p>
                  </a:txBody>
                  <a:tcPr>
                    <a:solidFill>
                      <a:srgbClr val="2D5C8F"/>
                    </a:solidFill>
                  </a:tcPr>
                </a:tc>
                <a:tc>
                  <a:txBody>
                    <a:bodyPr/>
                    <a:lstStyle/>
                    <a:p>
                      <a:r>
                        <a:rPr sz="1400" b="1">
                          <a:solidFill>
                            <a:srgbClr val="FFFFFF"/>
                          </a:solidFill>
                          <a:latin typeface="Calibri"/>
                        </a:rPr>
                        <a:t>Erishilgan TFLOPS</a:t>
                      </a:r>
                    </a:p>
                  </a:txBody>
                  <a:tcPr>
                    <a:solidFill>
                      <a:srgbClr val="2D5C8F"/>
                    </a:solidFill>
                  </a:tcPr>
                </a:tc>
                <a:tc>
                  <a:txBody>
                    <a:bodyPr/>
                    <a:lstStyle/>
                    <a:p>
                      <a:r>
                        <a:rPr sz="1400" b="1">
                          <a:solidFill>
                            <a:srgbClr val="FFFFFF"/>
                          </a:solidFill>
                          <a:latin typeface="Calibri"/>
                        </a:rPr>
                        <a:t>Cho'qqidan %</a:t>
                      </a:r>
                    </a:p>
                  </a:txBody>
                  <a:tcPr>
                    <a:solidFill>
                      <a:srgbClr val="2D5C8F"/>
                    </a:solidFill>
                  </a:tcPr>
                </a:tc>
                <a:tc>
                  <a:txBody>
                    <a:bodyPr/>
                    <a:lstStyle/>
                    <a:p>
                      <a:r>
                        <a:rPr sz="1400" b="1">
                          <a:solidFill>
                            <a:srgbClr val="FFFFFF"/>
                          </a:solidFill>
                          <a:latin typeface="Calibri"/>
                        </a:rPr>
                        <a:t>mJ/tasvir</a:t>
                      </a:r>
                    </a:p>
                  </a:txBody>
                  <a:tcPr>
                    <a:solidFill>
                      <a:srgbClr val="2D5C8F"/>
                    </a:solidFill>
                  </a:tcPr>
                </a:tc>
              </a:tr>
              <a:tr h="520000">
                <a:tc>
                  <a:txBody>
                    <a:bodyPr/>
                    <a:lstStyle/>
                    <a:p>
                      <a:r>
                        <a:rPr sz="1400" b="0">
                          <a:solidFill>
                            <a:srgbClr val="1B2430"/>
                          </a:solidFill>
                          <a:latin typeface="Calibri"/>
                        </a:rPr>
                        <a:t>FP32, partiya 1</a:t>
                      </a:r>
                    </a:p>
                  </a:txBody>
                  <a:tcPr>
                    <a:solidFill>
                      <a:srgbClr val="F1F4F8"/>
                    </a:solidFill>
                  </a:tcPr>
                </a:tc>
                <a:tc>
                  <a:txBody>
                    <a:bodyPr/>
                    <a:lstStyle/>
                    <a:p>
                      <a:r>
                        <a:rPr sz="1400" b="0">
                          <a:solidFill>
                            <a:srgbClr val="1B2430"/>
                          </a:solidFill>
                          <a:latin typeface="Calibri"/>
                        </a:rPr>
                        <a:t>4,5 ms</a:t>
                      </a:r>
                    </a:p>
                  </a:txBody>
                  <a:tcPr>
                    <a:solidFill>
                      <a:srgbClr val="F1F4F8"/>
                    </a:solidFill>
                  </a:tcPr>
                </a:tc>
                <a:tc>
                  <a:txBody>
                    <a:bodyPr/>
                    <a:lstStyle/>
                    <a:p>
                      <a:r>
                        <a:rPr sz="1400" b="0">
                          <a:solidFill>
                            <a:srgbClr val="1B2430"/>
                          </a:solidFill>
                          <a:latin typeface="Calibri"/>
                        </a:rPr>
                        <a:t>220 img/s</a:t>
                      </a:r>
                    </a:p>
                  </a:txBody>
                  <a:tcPr>
                    <a:solidFill>
                      <a:srgbClr val="F1F4F8"/>
                    </a:solidFill>
                  </a:tcPr>
                </a:tc>
                <a:tc>
                  <a:txBody>
                    <a:bodyPr/>
                    <a:lstStyle/>
                    <a:p>
                      <a:r>
                        <a:rPr sz="1400" b="0">
                          <a:solidFill>
                            <a:srgbClr val="1B2430"/>
                          </a:solidFill>
                          <a:latin typeface="Calibri"/>
                        </a:rPr>
                        <a:t>1,8</a:t>
                      </a:r>
                    </a:p>
                  </a:txBody>
                  <a:tcPr>
                    <a:solidFill>
                      <a:srgbClr val="F1F4F8"/>
                    </a:solidFill>
                  </a:tcPr>
                </a:tc>
                <a:tc>
                  <a:txBody>
                    <a:bodyPr/>
                    <a:lstStyle/>
                    <a:p>
                      <a:r>
                        <a:rPr sz="1400" b="0">
                          <a:solidFill>
                            <a:srgbClr val="1B2430"/>
                          </a:solidFill>
                          <a:latin typeface="Calibri"/>
                        </a:rPr>
                        <a:t>9 % (FP32)</a:t>
                      </a:r>
                    </a:p>
                  </a:txBody>
                  <a:tcPr>
                    <a:solidFill>
                      <a:srgbClr val="F1F4F8"/>
                    </a:solidFill>
                  </a:tcPr>
                </a:tc>
                <a:tc>
                  <a:txBody>
                    <a:bodyPr/>
                    <a:lstStyle/>
                    <a:p>
                      <a:r>
                        <a:rPr sz="1400" b="0">
                          <a:solidFill>
                            <a:srgbClr val="1B2430"/>
                          </a:solidFill>
                          <a:latin typeface="Calibri"/>
                        </a:rPr>
                        <a:t>≈ 550</a:t>
                      </a:r>
                    </a:p>
                  </a:txBody>
                  <a:tcPr>
                    <a:solidFill>
                      <a:srgbClr val="F1F4F8"/>
                    </a:solidFill>
                  </a:tcPr>
                </a:tc>
              </a:tr>
              <a:tr h="520000">
                <a:tc>
                  <a:txBody>
                    <a:bodyPr/>
                    <a:lstStyle/>
                    <a:p>
                      <a:r>
                        <a:rPr sz="1400" b="0">
                          <a:solidFill>
                            <a:srgbClr val="1B2430"/>
                          </a:solidFill>
                          <a:latin typeface="Calibri"/>
                        </a:rPr>
                        <a:t>FP32, partiya 64</a:t>
                      </a:r>
                    </a:p>
                  </a:txBody>
                  <a:tcPr>
                    <a:solidFill>
                      <a:srgbClr val="FFFFFF"/>
                    </a:solidFill>
                  </a:tcPr>
                </a:tc>
                <a:tc>
                  <a:txBody>
                    <a:bodyPr/>
                    <a:lstStyle/>
                    <a:p>
                      <a:r>
                        <a:rPr sz="1400" b="0">
                          <a:solidFill>
                            <a:srgbClr val="1B2430"/>
                          </a:solidFill>
                          <a:latin typeface="Calibri"/>
                        </a:rPr>
                        <a:t>52 ms</a:t>
                      </a:r>
                    </a:p>
                  </a:txBody>
                  <a:tcPr>
                    <a:solidFill>
                      <a:srgbClr val="FFFFFF"/>
                    </a:solidFill>
                  </a:tcPr>
                </a:tc>
                <a:tc>
                  <a:txBody>
                    <a:bodyPr/>
                    <a:lstStyle/>
                    <a:p>
                      <a:r>
                        <a:rPr sz="1400" b="0">
                          <a:solidFill>
                            <a:srgbClr val="1B2430"/>
                          </a:solidFill>
                          <a:latin typeface="Calibri"/>
                        </a:rPr>
                        <a:t>1230 img/s</a:t>
                      </a:r>
                    </a:p>
                  </a:txBody>
                  <a:tcPr>
                    <a:solidFill>
                      <a:srgbClr val="FFFFFF"/>
                    </a:solidFill>
                  </a:tcPr>
                </a:tc>
                <a:tc>
                  <a:txBody>
                    <a:bodyPr/>
                    <a:lstStyle/>
                    <a:p>
                      <a:r>
                        <a:rPr sz="1400" b="0">
                          <a:solidFill>
                            <a:srgbClr val="1B2430"/>
                          </a:solidFill>
                          <a:latin typeface="Calibri"/>
                        </a:rPr>
                        <a:t>10,1</a:t>
                      </a:r>
                    </a:p>
                  </a:txBody>
                  <a:tcPr>
                    <a:solidFill>
                      <a:srgbClr val="FFFFFF"/>
                    </a:solidFill>
                  </a:tcPr>
                </a:tc>
                <a:tc>
                  <a:txBody>
                    <a:bodyPr/>
                    <a:lstStyle/>
                    <a:p>
                      <a:r>
                        <a:rPr sz="1400" b="0">
                          <a:solidFill>
                            <a:srgbClr val="1B2430"/>
                          </a:solidFill>
                          <a:latin typeface="Calibri"/>
                        </a:rPr>
                        <a:t>52 % (FP32)</a:t>
                      </a:r>
                    </a:p>
                  </a:txBody>
                  <a:tcPr>
                    <a:solidFill>
                      <a:srgbClr val="FFFFFF"/>
                    </a:solidFill>
                  </a:tcPr>
                </a:tc>
                <a:tc>
                  <a:txBody>
                    <a:bodyPr/>
                    <a:lstStyle/>
                    <a:p>
                      <a:r>
                        <a:rPr sz="1400" b="0">
                          <a:solidFill>
                            <a:srgbClr val="1B2430"/>
                          </a:solidFill>
                          <a:latin typeface="Calibri"/>
                        </a:rPr>
                        <a:t>≈ 245</a:t>
                      </a:r>
                    </a:p>
                  </a:txBody>
                  <a:tcPr>
                    <a:solidFill>
                      <a:srgbClr val="FFFFFF"/>
                    </a:solidFill>
                  </a:tcPr>
                </a:tc>
              </a:tr>
              <a:tr h="520000">
                <a:tc>
                  <a:txBody>
                    <a:bodyPr/>
                    <a:lstStyle/>
                    <a:p>
                      <a:r>
                        <a:rPr sz="1400" b="0">
                          <a:solidFill>
                            <a:srgbClr val="1B2430"/>
                          </a:solidFill>
                          <a:latin typeface="Calibri"/>
                        </a:rPr>
                        <a:t>FP16, partiya 64</a:t>
                      </a:r>
                    </a:p>
                  </a:txBody>
                  <a:tcPr>
                    <a:solidFill>
                      <a:srgbClr val="F1F4F8"/>
                    </a:solidFill>
                  </a:tcPr>
                </a:tc>
                <a:tc>
                  <a:txBody>
                    <a:bodyPr/>
                    <a:lstStyle/>
                    <a:p>
                      <a:r>
                        <a:rPr sz="1400" b="0">
                          <a:solidFill>
                            <a:srgbClr val="1B2430"/>
                          </a:solidFill>
                          <a:latin typeface="Calibri"/>
                        </a:rPr>
                        <a:t>21 ms</a:t>
                      </a:r>
                    </a:p>
                  </a:txBody>
                  <a:tcPr>
                    <a:solidFill>
                      <a:srgbClr val="F1F4F8"/>
                    </a:solidFill>
                  </a:tcPr>
                </a:tc>
                <a:tc>
                  <a:txBody>
                    <a:bodyPr/>
                    <a:lstStyle/>
                    <a:p>
                      <a:r>
                        <a:rPr sz="1400" b="0">
                          <a:solidFill>
                            <a:srgbClr val="1B2430"/>
                          </a:solidFill>
                          <a:latin typeface="Calibri"/>
                        </a:rPr>
                        <a:t>3000 img/s</a:t>
                      </a:r>
                    </a:p>
                  </a:txBody>
                  <a:tcPr>
                    <a:solidFill>
                      <a:srgbClr val="F1F4F8"/>
                    </a:solidFill>
                  </a:tcPr>
                </a:tc>
                <a:tc>
                  <a:txBody>
                    <a:bodyPr/>
                    <a:lstStyle/>
                    <a:p>
                      <a:r>
                        <a:rPr sz="1400" b="0">
                          <a:solidFill>
                            <a:srgbClr val="1B2430"/>
                          </a:solidFill>
                          <a:latin typeface="Calibri"/>
                        </a:rPr>
                        <a:t>24,6</a:t>
                      </a:r>
                    </a:p>
                  </a:txBody>
                  <a:tcPr>
                    <a:solidFill>
                      <a:srgbClr val="F1F4F8"/>
                    </a:solidFill>
                  </a:tcPr>
                </a:tc>
                <a:tc>
                  <a:txBody>
                    <a:bodyPr/>
                    <a:lstStyle/>
                    <a:p>
                      <a:r>
                        <a:rPr sz="1400" b="0">
                          <a:solidFill>
                            <a:srgbClr val="1B2430"/>
                          </a:solidFill>
                          <a:latin typeface="Calibri"/>
                        </a:rPr>
                        <a:t>8 % (tensor)</a:t>
                      </a:r>
                    </a:p>
                  </a:txBody>
                  <a:tcPr>
                    <a:solidFill>
                      <a:srgbClr val="F1F4F8"/>
                    </a:solidFill>
                  </a:tcPr>
                </a:tc>
                <a:tc>
                  <a:txBody>
                    <a:bodyPr/>
                    <a:lstStyle/>
                    <a:p>
                      <a:r>
                        <a:rPr sz="1400" b="0">
                          <a:solidFill>
                            <a:srgbClr val="1B2430"/>
                          </a:solidFill>
                          <a:latin typeface="Calibri"/>
                        </a:rPr>
                        <a:t>≈ 93</a:t>
                      </a:r>
                    </a:p>
                  </a:txBody>
                  <a:tcPr>
                    <a:solidFill>
                      <a:srgbClr val="F1F4F8"/>
                    </a:solidFill>
                  </a:tcPr>
                </a:tc>
              </a:tr>
              <a:tr h="520000">
                <a:tc>
                  <a:txBody>
                    <a:bodyPr/>
                    <a:lstStyle/>
                    <a:p>
                      <a:r>
                        <a:rPr sz="1400" b="0">
                          <a:solidFill>
                            <a:srgbClr val="1B2430"/>
                          </a:solidFill>
                          <a:latin typeface="Calibri"/>
                        </a:rPr>
                        <a:t>FP16, partiya 1 + CUDA Graphs</a:t>
                      </a:r>
                    </a:p>
                  </a:txBody>
                  <a:tcPr>
                    <a:solidFill>
                      <a:srgbClr val="FFFFFF"/>
                    </a:solidFill>
                  </a:tcPr>
                </a:tc>
                <a:tc>
                  <a:txBody>
                    <a:bodyPr/>
                    <a:lstStyle/>
                    <a:p>
                      <a:r>
                        <a:rPr sz="1400" b="0">
                          <a:solidFill>
                            <a:srgbClr val="1B2430"/>
                          </a:solidFill>
                          <a:latin typeface="Calibri"/>
                        </a:rPr>
                        <a:t>≈ 2,4 ms</a:t>
                      </a:r>
                    </a:p>
                  </a:txBody>
                  <a:tcPr>
                    <a:solidFill>
                      <a:srgbClr val="FFFFFF"/>
                    </a:solidFill>
                  </a:tcPr>
                </a:tc>
                <a:tc>
                  <a:txBody>
                    <a:bodyPr/>
                    <a:lstStyle/>
                    <a:p>
                      <a:r>
                        <a:rPr sz="1400" b="0">
                          <a:solidFill>
                            <a:srgbClr val="1B2430"/>
                          </a:solidFill>
                          <a:latin typeface="Calibri"/>
                        </a:rPr>
                        <a:t>≈ 420 img/s</a:t>
                      </a:r>
                    </a:p>
                  </a:txBody>
                  <a:tcPr>
                    <a:solidFill>
                      <a:srgbClr val="FFFFFF"/>
                    </a:solidFill>
                  </a:tcPr>
                </a:tc>
                <a:tc>
                  <a:txBody>
                    <a:bodyPr/>
                    <a:lstStyle/>
                    <a:p>
                      <a:r>
                        <a:rPr sz="1400" b="0">
                          <a:solidFill>
                            <a:srgbClr val="1B2430"/>
                          </a:solidFill>
                          <a:latin typeface="Calibri"/>
                        </a:rPr>
                        <a:t>3,4</a:t>
                      </a:r>
                    </a:p>
                  </a:txBody>
                  <a:tcPr>
                    <a:solidFill>
                      <a:srgbClr val="FFFFFF"/>
                    </a:solidFill>
                  </a:tcPr>
                </a:tc>
                <a:tc>
                  <a:txBody>
                    <a:bodyPr/>
                    <a:lstStyle/>
                    <a:p>
                      <a:r>
                        <a:rPr sz="1400" b="0">
                          <a:solidFill>
                            <a:srgbClr val="1B2430"/>
                          </a:solidFill>
                          <a:latin typeface="Calibri"/>
                        </a:rPr>
                        <a:t>1 %</a:t>
                      </a:r>
                    </a:p>
                  </a:txBody>
                  <a:tcPr>
                    <a:solidFill>
                      <a:srgbClr val="FFFFFF"/>
                    </a:solidFill>
                  </a:tcPr>
                </a:tc>
                <a:tc>
                  <a:txBody>
                    <a:bodyPr/>
                    <a:lstStyle/>
                    <a:p>
                      <a:r>
                        <a:rPr sz="1400" b="0">
                          <a:solidFill>
                            <a:srgbClr val="1B2430"/>
                          </a:solidFill>
                          <a:latin typeface="Calibri"/>
                        </a:rPr>
                        <a:t>≈ 250</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1" dur="8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Asinxron GPU'ni time.time() bilan o'lchash. torch.cuda.synchronize() siz siz CPU'ning yadroni navbatga qo'yish vaqtini o'lchaysiz, GPU vaqtini emas; natija haqiqiydan 10–100 marta kichik…</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Isitishsiz o'lchash va o'rtacha qiymat. Birinchi iteratsiyalar cuDNN autotune va xotira ajratish tufayli anomal sekin; ularni tashlab, mediana va foizillarni hisobot qiling. O'rtacha dum…</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Faqat modelni o'lchab, konveyerni unutish. Ma'lumot yuklash, preprocessing, .cpu() sinxronizatsiyalari real latency'ning yarmini tashkil etishi mumkin; Nsight Systems bilan to'liq oqimni…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Cho'qqi FLOPS bilan solishtirib tushkunlikka tushish yoki aksincha, uni e'tiborsiz qoldirish. Cho'qqi — marketing raqami, erishiladigan chegara Roofline bilan aniqlanadi; lekin agar siz…</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Memory-bound yadroni ko'proq FLOPS bilan tezlashtirishga urinish. Agar intensivlik tizma nuqtasidan past bo'lsa, kuchliroq GPU yordam bermaydi — baytlarni kamaytiring: kvantlash, fusion,…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Partiya hajmini faqat throughput bo'yicha tanlash. Little qonuni: katta partiya kechikishni oshiradi; kechikish byudjetini avval belgilang, keyin shu chegarada throughput'ni…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Muhitni qayd etmaslik. GPU chastotasi, quvvat chegarasi, drayver versiyasi, cudnn.benchmark bayrog'i, hatto xona harorati natijaga ta'sir qiladi; takrorlanuvchanlik uchun nvidia-smi -q…</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Masshtablanuvchanlikni tezlashish bilan chalkashtirish. 8 GPU'da 6 marta tezlashish 75 foiz samaradorlik — bu tugunlar orasidagi aloqa to'sig'ining belgisi; Amdahl bo'yicha ketma-ket…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Little qonunidan kelib chiqib, p99 kechikish byudjeti 30 ms bo'lgan xizmat uchun partiya hajmini tanlash jarayonini tushuntiring. Dinamik partiyalash bu masalani qanday o'zgartiradi?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Nima uchun FP16 ga o'tish partiya 1 da deyarli tezlashish bermadi, partiya 64 da esa 2,4 marta berdi? Bu kuzatuv qaysi to'siq turini ko'rsatadi va uni qanday tasdiqlash mumkin?</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A100 va H100 uchun FP16 tizma nuqtasini hisoblang va solishtiring. Natija LLM dekodlash ish yuklari uchun qanday oqibatlarga olib keladi?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ResNet-50 nazariy jihatdan compute-bound bo'lsa-da, erishilgan unumdorlik tensor cho'qqisining 8 foizi bo'ldi. Qanday sabablar bo'lishi mumkin va ularni qaysi vosita bilan tekshirasiz?</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Horowitz ma'lumotlariga ko'ra DRAM murojaat ko'paytirishdan yuzlab marta qimmat. Bu fakt Roofline modeli bilan qanday bog'liq va u qaysi optimallashtirishlarni asoslaydi?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Quvvat chegarasini pasaytirish memory-bound va compute-bound ish yuklariga qanday turlicha ta'sir qiladi? Nima uchun?</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MLPerf Inference'ning server va oflayn ssenariylari bir xil apparatda nima uchun 2–3 marta farqli natija beradi? Qaysi ssenariy sizning loyihangiz uchun mos?</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Amdahl va Gustafson qonunlari taqsimlangan o'qitishni masshtablashda qanday qarama-qarshi xulosalar beradi? Qaysi holatda qaysi qonun amal qiladi?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Nsight Systems, PyTorch Profiler va Nsight Compute har biri qanday savolga javob beradi? Ularni qanday ketma-ketlikda qo'llash maqsadga muvofiq?</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Sintetik kirish bilan o'lchangan 3000 img/s ko'rsatkichi ishlab chiqarishda 800 img/s ga tushdi. Sabablarni gipoteza qiling va tekshirish rejasini tuzing.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1-topshiriq (2-mustaqil ta'lim topshirig'i va A3 bilan bog'liq). O'zingiz tanlagan modelni (ResNet-50, YOLOv8n, BERT-base yoki boshqa) mavjud GPU'da (universitet serveri, Colab T4 yoki Jetson) to'liq unumdorlik tahlilidan o'tkazing: (a) partiya hajmi {1, 4,…</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2-topshiriq (tahliliy, 3-mustaqil ta'lim topshirig'iga bog'liq). Uchta platforma (masalan, A100, Jetson AGX Orin va zamonaviy server CPU yoki TPU v5e) uchun rasmiy spetsifikatsiyalar asosida Roofline diagrammasini tuzing va uchta ish yukini (katta GEMM, LLM…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[1] Hennessy, J. L., &amp; Patterson, D. A. Computer Architecture: A Quantitative Approach. 7th Edition. Morgan Kaufmann, 2024 (unumdorlikni o'lchash, Amdahl qonuni, Roofline).</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[4] Sze, V., Chen, Y.-H., Yang, T.-J., &amp; Emer, J. S. Efficient Processing of Deep Neural Networks. Morgan &amp; Claypool, 2020 (energiya va ma'lumot harakati tahlili).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[5] Kirk, D. B., &amp; Hwu, W.-M. W. Programming Massively Parallel Processors. 4th Edition. Morgan Kaufmann, 2022 (yadro unumdorligi, xotira o'tkazuvchanligi).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[6] NVIDIA Developer Portal — https://developer.nvidia.com (Nsight Systems, Nsight Compute, NVML hujjatlari, A100/H100 spetsifikatsiyalari).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[7] PyTorch rasmiy hujjatlari — https://pytorch.org (torch.profiler, CUDA semantikasi, torch.compile).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Williams, S., Waterman, A., &amp; Patterson, D. Roofline: An Insightful Visual Performance Model for Multicore Architectures. Communications of the ACM, 52(4), 2009, 65–76.</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Amdahl, G. M. Validity of the Single Processor Approach to Achieving Large Scale Computing Capabilities. AFIPS Conference Proceedings, 1967.</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Horowitz, M. Computing's Energy Problem (and what we can do about it). IEEE ISSCC, 2014.</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MLCommons MLPerf benchmark to'plami va natijalari: https://mlcommons.org</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Dean, J., &amp; Barroso, L. A. The Tail at Scale. Communications of the ACM, 56(2), 2013, 74–80.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https://aiscan.airi.uz/ktm/#/c/mis2104/mavzu/M10</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
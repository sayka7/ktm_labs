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Mavzuning maqsadi — sun'iy intellektga asoslangan kompyuter tizimlarini ishonchlilik (reliability) va axborot xavfsizligi (information security) nuqtai nazaridan yaxlit tizim sifatida ko'rib chiqish, bu tizimlarga xos bo'lgan yangi turdagi tahdidlarni tasniflash hamda ularga qarshi muhandislik darajasida qo'llaniladigan himoya usullarini amalda sinab ko'rishdir. An'anaviy dasturiy tizimlarda xavfsizlik kod va tarmoq darajasida ta'minlansa, AI tizimlarida hujum yuzasi (attack surface) ma'lumotlar, model og'irliklari, o'qitish jarayoni va hatto foydalanuvchi so'rovining o'ziga qadar kengayadi. Shu sababli mavzu magistrantlardan ham matematik, ham tizimli fikrlashni talab qiladi.</a:t>
            </a:r>
          </a:p>
          <a:p/>
          <a:p>
            <a:r>
              <a:t>Mavzuni o'zlashtirgach talaba:</a:t>
            </a:r>
          </a:p>
          <a:p/>
          <a:p>
            <a:r>
              <a:t>AI tizimining tahdid modelini (threat model) tuza oladi: hujumchi nimani biladi (white-box, black-box), nimaga ta'sir qila oladi (kirish, o'qitish to'plami, model fayli) va qanday maqsadni ko'zlaydi (yashirinish, buzish, ma'lumot o'g'irlash).</a:t>
            </a:r>
          </a:p>
          <a:p/>
          <a:p>
            <a:r>
              <a:t>Adversarial hujumlarning asosiy turlarini (FGSM, PGD, zaharlash, model ekstraksiyasi, a'zolik inferensiyasi, prompt injection) farqlay oladi va ularni PyTorch'da modellashtira oladi.</a:t>
            </a:r>
          </a:p>
          <a:p/>
          <a:p>
            <a:r>
              <a:t>Himoya usullarini — adversarial o'qitish, kirishni tozalash, sertifikatlangan mustahkamlik, detektsiya — taqqoslab, aniqlik va mustahkamlik o'rtasidagi murosani miqdoriy baholay oladi.</a:t>
            </a:r>
          </a:p>
          <a:p/>
          <a:p>
            <a:r>
              <a:t>Maxfiylikni saqlovchi texnologiyalar (differensial maxfiylik, federativ o'qitish, gomomorf shifrlash, xavfsiz ko'p tomonlama hisoblash) qaysi vaziyatda qo'llanishini asoslab bera oladi.</a:t>
            </a:r>
          </a:p>
          <a:p/>
          <a:p>
            <a:r>
              <a:t>Trusted Computing va Secure AI tamoyillarini — ishonchli bajarish muhitlari (TEE), attestatsiya, model imzolash, ta'minot zanjiri xavfsizligi — infratuzilma darajasida loyihalashda hisobga ola oladi.</a:t>
            </a:r>
          </a:p>
          <a:p/>
          <a:p>
            <a:r>
              <a:t>Mavzu fanning TN3 (AI tizimlarini loyihalash va baholash), TN5 (ishonchlilik, xavfsizlik va etik talablarni ta'minlash) hamda TN6 (AI xizmatlarini ekspluatatsiya qilish) natijalariga bevosita xizmat qiladi va A6 amaliy mashg'uloti hamda 6-mustaqil ta'lim topshirig'i uchun nazariy poydevor bo'ladi.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Mavzuning maqsadi — sun'iy intellektga asoslangan kompyuter tizimlarini ishonchlilik (reliability) va axborot xavfsizligi (information security) nuqtai nazaridan yaxlit tizim sifatida ko'rib chiqish, bu tizimlarga xos bo'lgan yangi turdagi tahdidlarni tasniflash hamda ularga qarshi muhandislik darajasida qo'llaniladigan himoya usullarini amalda sinab ko'rishdir. An'anaviy dasturiy tizimlarda xavfsizlik kod va tarmoq darajasida ta'minlansa, AI tizimlarida hujum yuzasi (attack surface) ma'lumotlar, model og'irliklari, o'qitish jarayoni va hatto foydalanuvchi so'rovining o'ziga qadar kengayadi. Shu sababli mavzu magistrantlardan ham matematik, ham tizimli fikrlashni talab qiladi.</a:t>
            </a:r>
          </a:p>
          <a:p/>
          <a:p>
            <a:r>
              <a:t>Mavzuni o'zlashtirgach talaba:</a:t>
            </a:r>
          </a:p>
          <a:p/>
          <a:p>
            <a:r>
              <a:t>AI tizimining tahdid modelini (threat model) tuza oladi: hujumchi nimani biladi (white-box, black-box), nimaga ta'sir qila oladi (kirish, o'qitish to'plami, model fayli) va qanday maqsadni ko'zlaydi (yashirinish, buzish, ma'lumot o'g'irlash).</a:t>
            </a:r>
          </a:p>
          <a:p/>
          <a:p>
            <a:r>
              <a:t>Adversarial hujumlarning asosiy turlarini (FGSM, PGD, zaharlash, model ekstraksiyasi, a'zolik inferensiyasi, prompt injection) farqlay oladi va ularni PyTorch'da modellashtira oladi.</a:t>
            </a:r>
          </a:p>
          <a:p/>
          <a:p>
            <a:r>
              <a:t>Himoya usullarini — adversarial o'qitish, kirishni tozalash, sertifikatlangan mustahkamlik, detektsiya — taqqoslab, aniqlik va mustahkamlik o'rtasidagi murosani miqdoriy baholay oladi.</a:t>
            </a:r>
          </a:p>
          <a:p/>
          <a:p>
            <a:r>
              <a:t>Maxfiylikni saqlovchi texnologiyalar (differensial maxfiylik, federativ o'qitish, gomomorf shifrlash, xavfsiz ko'p tomonlama hisoblash) qaysi vaziyatda qo'llanishini asoslab bera oladi.</a:t>
            </a:r>
          </a:p>
          <a:p/>
          <a:p>
            <a:r>
              <a:t>Trusted Computing va Secure AI tamoyillarini — ishonchli bajarish muhitlari (TEE), attestatsiya, model imzolash, ta'minot zanjiri xavfsizligi — infratuzilma darajasida loyihalashda hisobga ola oladi.</a:t>
            </a:r>
          </a:p>
          <a:p/>
          <a:p>
            <a:r>
              <a:t>Mavzu fanning TN3 (AI tizimlarini loyihalash va baholash), TN5 (ishonchlilik, xavfsizlik va etik talablarni ta'minlash) hamda TN6 (AI xizmatlarini ekspluatatsiya qilish) natijalariga bevosita xizmat qiladi va A6 amaliy mashg'uloti hamda 6-mustaqil ta'lim topshirig'i uchun nazariy poydevor bo'ladi.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2010-yillarning boshida chuqur neyron tarmoqlar tasvirlarni tanishda inson darajasiga yetganda, tadqiqotchilar kutilmagan hodisaga duch kelishdi: tasvirga inson ko'zi ilg'amaydigan, piksel qiymatlari bo'yicha 1–2 foizdan oshmaydigan shovqin qo'shilsa, model «panda»ni ishonch bilan «gibbon» deb tasniflay boshlaydi. Szegedy va hamkasblari 2014-yilda tavsiflagan bu hodisa «adversarial misollar» (adversarial examples) deb ataldi va u sun'iy intellekt xavfsizligi degan alohida yo'nalishning boshlanishi bo'ldi. Oradan o'n yil o'tib bu muammo laboratoriya qiziqishi bo'lmay qoldi: avtonom avtomobil kamerasiga yopishtirilgan stiker «STOP» belgisini «tezlik chegarasi» deb o'qitishi, tibbiy diagnostika modeli saraton belgisini o'tkazib yuborishi, bank skoring modeli esa maxsus tayyorlangan ariza bilan aldanishi mumkin.</a:t>
            </a:r>
          </a:p>
          <a:p/>
          <a:p>
            <a:r>
              <a:t>Sanoat konteksti ham o'zgardi. Bugun yirik tashkilotlar modelni o'zlari o'qitmasdan, tayyor og'irliklarni ochiq omborlardan (Hugging Face Hub, PyTorch Hub) yuklab oladi, ularni o'z ma'lumotlarida qayta sozlaydi va bulutli yoki chekka (edge) qurilmalarda ishga tushiradi. Bu zanjirning har bir bo'g'ini — ma'lumotlar manbasi, o'qitish skripti, model fayli, inferens serveri, API — potensial zaif nuqtadir. 2023–2024-yillarda pickle formatidagi model fayllari orqali zararli kod ishga tushirilishi, ochiq LLM xizmatlarida prompt injection yordamida tizim ko'rsatmalari o'g'irlanishi, o'qitish to'plamiga atigi 0,1 foiz zaharli namuna qo'shib «orqa eshik» (backdoor) o'rnatilishi kabi real hodisalar qayd etildi. NIST tashkiloti 2024-yilda «Adversarial Machine Learning: A Taxonomy and Terminology» (NIST AI 100-2) hujjatini, MITRE esa AI tizimlariga hujum taktikalarini tizimlashtiruvchi ATLAS bazasini e'lon qildi; Yevropa Ittifoqining AI Act qonuni yuqori xavfli tizimlardan mustahkamlik va kiberxavfsizlikni hujjatlashtirishni talab qiladi.</a:t>
            </a:r>
          </a:p>
          <a:p/>
          <a:p>
            <a:r>
              <a:t>Shu bilan birga, AI tizimlari maxfiy ma'lumotlar bilan ishlaydi: tibbiy tasvirlar, moliyaviy tranzaksiyalar, shaxsiy xabarlar. Model o'qitish uchun ularni bir joyga yig'ish o'zi xavf tug'diradi, o'qitilgan model esa o'z «xotirasida» alohida namunalarni saqlab qolib, ularni so'rov orqali qaytarib berishi mumkin. Demak, AI muhandisi oldida ikki tomonlama vazifa turadi: tizimni tashqi hujumlardan himoya qilish va tizimning o'zi ma'lumot sizdirmasligini kafolatlash. Ushbu ma'ruzada ana shu ikki vazifa bitta tizimli nuqtai nazardan — hisoblash platformasi, model va ma'lumotlar yaxlitligi doirasida — ko'rib chiqiladi.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Ishonchlilik va xavfsizlik ko'pincha birgalikda tilga olinsa-da, ular turli savollarga javob beradi. Ishonchlilik tizimning tasodifiy nosozliklar — apparat xatolari, tarmoq uzilishi, ma'lumot taqsimotining tabiiy siljishi — sharoitida kutilgan vazifani bajarishda davom etishi haqida. An'anaviy ko'rsatkichlar — nosozliklar orasidagi o'rtacha vaqt (MTBF), mavjudlik (availability, masalan 99,9 %), xatolarni qayta tiklash vaqti — AI tizimlari uchun ham amal qiladi, biroq ularga modelga xos ko'rsatkichlar qo'shiladi: taqsimotdan tashqari (out-of-distribution) kirishlarda ishonchning kalibrlanganligi, tabiiy buzilishlarga (yorug'lik, shovqin, siqish artefaktlari) chidamlilik, qayta o'qitishdan keyin sifatning barqarorligi.</a:t>
            </a:r>
          </a:p>
          <a:p/>
          <a:p>
            <a:r>
              <a:t>Xavfsizlik esa ataylab harakat qiluvchi raqibga qarshi turish haqida. Shuning uchun har qanday xavfsizlik tahlili tahdid modelidan boshlanadi. AI tizimlari uchun tahdid modeli kamida uch o'qda tavsiflanadi. Birinchi o'q — hujumchining bilimi: oq quti (white-box) rejimida u model arxitekturasi va og'irliklarini biladi va gradientlarni hisoblay oladi; qora quti (black-box) rejimida faqat kirish-chiqishni kuzatadi; kulrang quti (gray-box) oraliq holat. Ikkinchi o'q — ta'sir nuqtasi: inferens vaqtidagi kirish (evasion), o'qitish to'plami (poisoning), model fayli yoki ta'minot zanjiri, ishlash muhiti (apparat, drayverlar). Uchinchi o'q — maqsad: yaxlitlikni buzish (noto'g'ri javob olish), mavjudlikni buzish (xizmatni to'xtatish, masalan, hisoblash jihatidan og'ir kirishlar bilan), maxfiylikni buzish (o'qitish ma'lumotlari yoki modelning o'zini o'g'irlash).</a:t>
            </a:r>
          </a:p>
          <a:p/>
          <a:p>
            <a:r>
              <a:t>Klassik axborot xavfsizligidagi CIA triadasi (confidentiality, integrity, availability) AI tizimlariga quyidagicha proyeksiyalanadi: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 ko'p o'rganilgan sinf — chetlab o'tish (evasion) hujumlari, ya'ni inferens vaqtida kirishga kichik o'zgartirish kiritish. Matematik jihatdan hujumchi x kirish uchun shunday δ buzilish izlaydiki, ||δ||_p ≤ ε cheklov bajarilsin va model yo'qotish funksiyasi L(f(x+δ), y) maksimal bo'lsin. Goodfellow va hamkasblari 2015-yilda taklif qilgan tezkor gradient belgisi usuli (Fast Gradient Sign Method, FGSM) bitta qadamda yechim beradi: x_adv = x + ε · sign(∇_x L(f(x), y)). Bu usul juda arzon — bitta orqaga tarqatish — va shuning uchun chuqur tarmoqlarning chiziqliligi haqidagi gipotezani tasdiqlovchi klassik demonstratsiya hisoblanadi. Madry va hamkasblari 2018-yilda tavsiflagan proyeksiyalangan gradient tushishi (Projected Gradient Descent, PGD) esa FGSM'ni iterativ qiladi: har qadamda x_{t+1} = Π_{B_ε(x)}(x_t + α · sign(∇_x L)), bu yerda Π — ε-shar ichiga proyeksiya. 10–40 qadamli PGD «birinchi tartibli eng kuchli raqib» deb hisoblanadi va mustahkamlikni baholashda standart hisoblanadi. Carlini–Wagner (C&amp;W) hujumi L2 normada minimal buzilishni optimallashtirish masalasi sifatida qo'yadi; AutoAttack esa bir nechta hujumni birlashtirgan ansambl bo'lib, giperparametrlardan deyarli mustaqil baholash beradi.</a:t>
            </a:r>
          </a:p>
          <a:p/>
          <a:p>
            <a:r>
              <a:t>Qora quti sharoitida gradient mavjud emas, lekin ikki yo'l bor. Birinchisi — ko'chuvchanlik (transferability): hujumchi o'zining o'rinbosar modelini o'qitadi, unga qarshi adversarial misollar yasaydi va ularning muhim qismi maqsad modelga ham ta'sir qiladi. Ikkinchisi — so'rovlarga asoslangan usullar (masalan, Square Attack, HopSkipJump): minglab so'rovlar orqali qaror chegarasi topiladi. Bu amaliy jihatdan muhim: ochiq API ko'rinishidagi har qanday model, so'rovlar soni cheklanmasa, qora quti hujumiga ochiqdir.</a:t>
            </a:r>
          </a:p>
          <a:p/>
          <a:p>
            <a:r>
              <a:t>Zaharlash (poisoning) hujumlari o'qitish bosqichiga qaratilgan. Hujumchi o'qitish to'plamiga noto'g'ri yorliqli yoki maxsus tuzilgan namunalar qo'shadi. Eng xavfli ko'rinishi — orqa eshik (backdoor yoki Trojan) hujumi: namunalarning kichik qismiga «trigger» (masalan, burchakdagi 3×3 piksel naqsh) qo'shilib, ular maqsad sinfga yorliqlanadi. Model toza ma'lumotlarda odatdagidek ishlaydi, trigger paydo bo'lganda esa hujumchi xohlagan javobni beradi. Tadqiqotlar ko'rsatadiki, CIFAR-10 kabi to'plamlarda 0,5–1 foiz zaharli namuna 95 foizdan yuqori hujum muvaffaqiyatini ta'minlashi mumkin. Veb-dan yig'ilgan ulkan to'plamlar (LAION, Common Crawl) va tayyor og'irliklarni qayta sozlash amaliyoti bu xavfni real qiladi.</a:t>
            </a:r>
          </a:p>
          <a:p/>
          <a:p>
            <a:r>
              <a:t>Maxfiylikka qarshi hujumlar modelning o'zini axborot manbai sifatida ishlatadi. A'zolik inferensiyasi (membership inference) hujumida raqib berilgan namuna o'qitish to'plamida bo'lgan-bo'lmaganini aniqlaydi — bu, masalan, bemorning klinik tadqiqotda qatnashganini oshkor qiladi. Model inversiyasi (model inversion) sinf prototipini yoki hatto aniq namunani qayta tiklaydi; katta til modellarida o'qitish matnini so'zma-so'z qaytarish (memorization) hodisasi hujjatlashtirilgan. Model ekstraksiyasi (model extraction yoki stealing) esa ko'p sonli so'rovlar orqali funksional nusxa yaratadi — bu intellektual mulk va keyingi oq quti hujumlar uchun zamin.</a:t>
            </a:r>
          </a:p>
          <a:p/>
          <a:p>
            <a:r>
              <a:t>Katta til modellari bilan yangi sinf — prompt injection — paydo bo'ldi. To'g'ridan-to'g'ri injection'da foydalanuvchi tizim ko'rsatmalarini bekor qilishga urinadi; bilvosita (indirect) injection'da esa zararli ko'rsatma model o'qiydigan hujjat, veb-sahifa yoki elektron pochtaga yashiriladi va RAG yoki agent tizimi orqali bajariladi. OWASP tashkilotining «Top 10 for LLM Applications» ro'yxatida prompt injection birinchi o'rinda turadi. Nihoyat, mavjudlikka qarshi «shimgich» (sponge) hujumlar modelni maksimal energiya va vaqt sarflashga majburlovchi kirishlar yasaydi — bu, ayniqsa, batareyali chekka qurilmalar uchun xavflidir.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 ishonchli empirik himoya — adversarial o'qitish (adversarial training). G'oya oddiy: har bir mini-partiyada toza namunalar o'rniga (yoki ular bilan birga) PGD yordamida yasalgan adversarial namunalarda o'qitish, ya'ni min_θ E[max_{||δ||≤ε} L(f_θ(x+δ), y)] min-max masalasini yechish. Madry va hamkasblarining natijalariga ko'ra, CIFAR-10'da ResNet modelining PGD (ε = 8/255) ostidagi aniqligi 0 foizdan 45–50 foizgacha ko'tariladi, biroq toza aniqlik 95 foizdan 85–87 foizgacha tushadi. Bu «aniqlik–mustahkamlik murosasi» (accuracy–robustness trade-off) deb ataladi va hozircha fundamental hisoblanadi. Hisoblash narxi ham yuqori: 10 qadamli PGD bilan o'qitish toza o'qitishdan 8–11 marta qimmat; «Free» va «Fast» adversarial training variantlari FGSM'ni tasodifiy boshlang'ich nuqta bilan ishlatib, narxni 2–3 martagacha tushiradi, lekin «halokatli ortiqcha moslashish» (catastrophic overfitting) xavfi bor.</a:t>
            </a:r>
          </a:p>
          <a:p/>
          <a:p>
            <a:r>
              <a:t>Sertifikatlangan mustahkamlik (certified robustness) usullari empirik baholash o'rniga matematik kafolat beradi. Tasodifiy silliqlash (randomized smoothing) kirishga Gauss shovqini qo'shib, ko'pchilik ovozi bilan tasniflaydi va L2 normada ma'lum radius ichida bashorat o'zgarmasligini isbotlaydi. Interval chegaralarini tarqatish (interval bound propagation) va chiziqli relaksatsiyaga asoslangan tekshiruvchilar kichik tarmoqlar uchun qat'iy kafolat beradi, lekin katta modellarda yoki ko'rilgan radius oshganda kafolatlangan aniqlik keskin tushadi.</a:t>
            </a:r>
          </a:p>
          <a:p/>
          <a:p>
            <a:r>
              <a:t>Kirishni qayta ishlash usullari — JPEG siqish, bit chuqurligini kamaytirish, median filtr, avtokoder orqali tiklash — oddiy hujumlarga qarshi samarali ko'rinadi, biroq Athalye va hamkasblari 2018-yilda ko'rsatganidek, ularning aksariyati «gradientni yashirish» (gradient masking) hisobiga ishlaydi va adaptiv hujumchi oldida yiqiladi. Shu sababli har qanday yangi himoya adaptiv hujum — himoyani biladigan va unga moslashgan hujum — bilan baholanishi shart. Detektsiya yondashuvi adversarial kirishlarni ajratishga harakat qiladi (statistik testlar, ishonch darajasini tahlil qilish, ikkilamchi model); ular himoyaning qo'shimcha qatlami sifatida foydali, lekin yagona himoya bo'la olmaydi.</a:t>
            </a:r>
          </a:p>
          <a:p/>
          <a:p>
            <a:r>
              <a:t>Zaharlashga qarshi himoya ma'lumotlar provenansi (data provenance), anomal namunalarni filtrlash (spektral imzolar, faollashuv klasterlash), o'qitishdan keyin orqa eshikni qidirish (Neural Cleanse kabi trigger qayta tiklash) va differensial maxfiylik bilan o'qitishni (u alohida namunaning ta'sirini cheklaydi) o'z ichiga oladi. Model ekstraksiyasiga qarshi so'rovlar chegarasi, chiqishda to'liq ehtimolliklar o'rniga faqat yorliq berish, suv belgisi (watermarking) qo'llaniladi. Prompt injection'ga qarshi esa hozircha to'liq yechim yo'q: ko'rsatma va ma'lumotni ajratish, kirish-chiqish filtrlari, agent harakatlariga eng kam imtiyoz tamoyili (least privilege) va inson tasdig'i majburiy.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Maxfiylikni saqlovchi mashinali o'qitish (privacy-preserving machine learning) to'rtta asosiy texnologiyaga tayanadi. Differensial maxfiylik (differential privacy, DP) — matematik ta'rif: tasodifiy algoritm M (ε, δ)-differensial maxfiy deyiladi, agar bitta yozuv bilan farq qiluvchi har qanday ikki D va D' to'plam va har qanday S natija to'plami uchun Pr[M(D) ∈ S] ≤ e^ε · Pr[M(D') ∈ S] + δ bajarilsa. Intuitiv ma'no: biror shaxsning ma'lumoti to'plamda bo'lish-bo'lmasligi natijaga sezilarli ta'sir qilmaydi, demak, natijadan shaxs haqida ko'p narsa bilib bo'lmaydi. Chuqur o'qitishda DP ni ta'minlovchi standart algoritm — Abadi va hamkasblari 2016-yilda taklif qilgan DP-SGD: har bir namunaning gradienti alohida hisoblanadi, uning L2 normasi C chegarasiga qirqiladi (clipping), so'ngra yig'indiga σC standart og'ishli Gauss shovqini qo'shiladi. Maxfiylik byudjeti ε har qadamda sarflanadi va «moments accountant» yoki Rényi DP yordamida hisoblab boriladi. Amaliy tajriba: MNIST'da ε ≈ 1 bilan 96–97 foiz aniqlikka erishiladi (DP'siz 99 foiz), CIFAR-10'da esa ε ≈ 8 da 60–70 foiz — bu DP'ning murakkab vazifalarda hali qimmat ekanini ko'rsatadi. PyTorch uchun Opacus, TensorFlow uchun TensorFlow Privacy kutubxonalari DP-SGD'ni bir necha qator kod bilan qo'shish imkonini beradi.</a:t>
            </a:r>
          </a:p>
          <a:p/>
          <a:p>
            <a:r>
              <a:t>Federativ o'qitish (federated learning, FL) ma'lumotlarni markazga yig'ish o'rniga modelni ma'lumot joylashgan qurilmaga olib boradi. McMahan va hamkasblarining FedAvg algoritmi (2017) quyidagicha ishlaydi: server global og'irliklarni K ta mijozga yuboradi, har bir mijoz o'z lokal ma'lumotida bir necha epoxa o'qitadi, yangilangan og'irliklarni qaytaradi, server ularni ma'lumot hajmiga proporsional o'rtachalaydi. Google buni Gboard klaviaturasida so'z bashorati uchun millionlab telefonlarda qo'llagan. Biroq FL o'z-o'zidan maxfiylikni kafolatlamaydi: og'irlik yangilanishlaridan gradient inversiyasi (gradient inversion) orqali o'qitish namunasini qayta tiklash mumkin. Shuning uchun FL odatda xavfsiz agregatsiya (secure aggregation — server faqat yig'indini ko'radi) va mijoz tomonida DP bilan birlashtiriladi. FL'ning muhandislik muammolari: mijozlar ma'lumoti bir xil taqsimlanmagan (non-IID), aloqa qimmat, qurilmalar ishonchsiz, zararli mijozlar zaharlashga urinishi mumkin.</a:t>
            </a:r>
          </a:p>
          <a:p/>
          <a:p>
            <a:r>
              <a:t>Gomomorf shifrlash (homomorphic encryption, HE) shifrlangan ma'lumot ustida to'g'ridan-to'g'ri hisoblash imkonini beradi: Enc(a) ⊕ Enc(b) = Enc(a+b). CKKS sxemasi haqiqiy sonlar bilan taxminiy arifmetikani qo'llab-quvvatlaydi va neyron tarmoq inferensi uchun mos; Microsoft SEAL, OpenFHE kutubxonalari mavjud. Narxi juda yuqori: shifrlangan inferens ochiq inferensdan 1000–10000 marta sekin, chuqurlik cheklangan (bootstrapping qimmat), faollashuv funksiyalari polinom bilan yaqinlashtiriladi. Xavfsiz ko'p tomonlama hisoblash (secure multi-party computation, SMPC) esa hisoblashni bir nechta ishonmaydigan tomon o'rtasida maxfiy ulushlarga bo'ladi (CrypTen, MP-SPDZ); u HE'dan tezroq, lekin ko'p aloqa talab qiladi. Amaliyotda bu to'rt texnologiya bir-birini to'ldiradi: FL arxitekturani, DP natija maxfiyligini, HE/SMPC hisoblash jarayonidagi maxfiylikni ta'minlaydi.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Yuqoridagi usullar model va ma'lumot darajasida ishlaydi; Trusted Computing esa savolni platforma darajasiga ko'chiradi: hisoblash bajarilayotgan apparat va dasturiy muhitga qanchalik ishonish mumkin? Asosiy tushunchalar: ishonch ildizi (root of trust) — o'zgartirib bo'lmaydigan apparat komponenti (TPM 2.0 chipi yoki protsessor ichidagi kalitlar); o'lchangan yuklash (measured boot) — har bir yuklash bosqichining xesh qiymatini TPM registrlariga yozish; attestatsiya (remote attestation) — masofadagi tomonga «men aynan shu kod va konfiguratsiya bilan ishlayapman» degan kriptografik dalil taqdim etish.</a:t>
            </a:r>
          </a:p>
          <a:p/>
          <a:p>
            <a:r>
              <a:t>Ishonchli bajarish muhiti (Trusted Execution Environment, TEE) protsessor ichida xotirasi shifrlangan va hatto operatsion tizim yoki gipervizor ham kira olmaydigan izolyatsiyalangan hudud yaratadi. Intel SGX (Software Guard Extensions) ilova darajasidagi «enklav»lar beradi (dastlab 128–256 MB cheklangan xotira bilan), Intel TDX va AMD SEV-SNP esa butun virtual mashinani himoyalaydi va bulut provayderlarida «konfidensial hisoblash» (confidential computing) xizmatlarining asosidir. AI uchun burilish nuqtasi NVIDIA H100 bo'ldi: u konfidensial hisoblash rejimini qo'llab-quvvatlovchi birinchi GPU bo'lib, CPU TEE va GPU o'rtasidagi PCIe trafigini shifrlaydi, GPU xotirasini himoyalaydi va GPU attestatsiyasini beradi. Bu, masalan, kasalxona o'z ma'lumotini bulutda qayta ishlash uchun bersa-da, bulut provayderi ham, uning ma'muri ham uni ko'ra olmasligini ta'minlaydi. Narxi: TEE rejimida H100 unumdorligi ish yukiga qarab bir necha foizdan 10–20 foizgacha pasayishi mumkin, asosan shifrlangan PCIe almashinuvi hisobiga.</a:t>
            </a:r>
          </a:p>
          <a:p/>
          <a:p>
            <a:r>
              <a:t>Secure AI tushunchasi butun hayot sikli bo'yicha xavfsizlik amaliyotlarini birlashtiradi va ko'pincha MLSecOps deb ham ataladi. Uning tarkibiy qismlari: ta'minot zanjiri xavfsizligi — model fayllarini pickle o'rniga safetensors kabi kod bajarmaydigan formatda saqlash, og'irliklarni kriptografik imzolash (Sigstore), ma'lumotlar va modellar uchun «materiallar ro'yxati» (AI Bill of Materials, AIBOM); maxfiy ma'lumotlar va API kalitlarini kod va promptlardan ajratish; model va ma'lumotlarga kirishni rolga asoslangan boshqarish; barcha inferens so'rovlarini auditlash; qizil jamoa (red teaming) sinovlari; voqeaga javob rejasi. Xalqaro standartlar — ISO/IEC 42001 (AI boshqaruv tizimi), ISO/IEC 23894 (AI xavflarini boshqarish), NIST AI RMF — bu amaliyotlarni tashkiliy doiraga soladi. Muhim tamoyil: «himoya chuqurligi» (defense in depth) — birorta usul yagona emas, model darajasidagi mustahkamlik, ma'lumot maxfiyligi, platforma ishonchi va tashkiliy jarayonlar bir-birini qoplashi kerak.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misolda biz to'liq himoya siklini kichik masshtabda qayta tiklaymiz: CIFAR-10'da ResNet-18 ni o'qitamiz, unga FGSM va PGD hujumlarini qo'llaymiz, PGD adversarial o'qitish bilan mustahkamlaymiz, so'ngra Opacus kutubxonasi bilan differensial maxfiy o'qitishni va FedAvg'ning oddiy simulyatsiyasini bajaramiz. Muhit: Python 3.10, PyTorch 2.x, bitta NVIDIA GPU (T4 yoki undan yuqori; 16 GB xotira yetarli). Keltirilgan raqamlar taxminiy bo'lib, aniq qiymatlar apparat, tasodifiy urug' va giperparametrlarga bog'liq.</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biz normalizatsiyani ataylab kirish konveyeridan chiqardik — pikseller [0, 1] oraliqda qoladi, shuning uchun ε = 8/255 cheklovi to'g'ridan-to'g'ri piksel shkalasida ma'noga ega bo'ladi. Agar normalizatsiya zarur bo'lsa, u model ichiga birinchi qatlam sifatida kiritiladi; aks holda buzilish kattaligi haqida noto'g'ri xulosa chiqariladi.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15 epoxada T4 GPU'da taxminan 12–15 daqiqa sarflanib, 92–94 foiz test aniqligi olinadi. Bu bizning «himoyasiz» bazaviy nuqtamiz.</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kutilgan natija (taxminiy) — ε = 1/255 da FGSM aniqlikni 93 foizdan 55–60 foizgacha, ε = 8/255 da 10–20 foizgacha tushiradi; PGD-10 esa ε = 8/255 da deyarli 0 foizga olib keladi. E'tibor bering, 8/255 ≈ 0,031 — bu 8-bitli tasvirda har pikselni ko'pi bilan 8 qiymatga o'zgartirish demak; inson bunday farqni sezmaydi. PGD har doim FGSM'dan kuchliroq, chunki u yo'qotish yuzasi bo'ylab bir necha qadam yurib, lokal chiziqlilik buzilgan joylarda ham maksimumga yaqinlashadi. Tasodifiy boshlang'ich nuqta (random_start) gradientni yashiruvchi himoyalarni chetlab o'tishda muhim.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o'qitish vaqti 7 qadamli PGD tufayli taxminan 8 marta oshadi (T4'da 1,5–2 soat). Natija (taxminiy): toza aniqlik 82–85 foiz, PGD-20 ostida 45–50 foiz. Adabiyotdagi 87/47 foiz qiymatlar bilan mos. Muhim tafsilot: mustahkamlikni o'qitishda ishlatilganidan ko'proq qadamli PGD (20) bilan baholash kerak — aks holda modelning aynan 7 qadamli hujumga «moslashib» olganini payqamay qolish mumkin. Yana ham ishonchli baho uchun AutoAttack paketidan foydalaniladi.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ModuleValidator.fix BatchNorm qatlamlarini GroupNorm bilan almashtiradi, chunki BatchNorm partiya ichidagi namunalarni bog'laydi va har bir namuna gradientini alohida qirqishga imkon bermaydi. max_grad_norm=1.0 — qirqish chegarasi C, shovqin ko'paytuvchisi σ esa berilgan ε = 8 byudjetga mos avtomatik tanlanadi. Opacus har namuna gradientini hisoblash uchun qo'shimcha xotira ishlatadi, shuning uchun partiyani 128 dan oshirish xotira xatosiga olib kelishi mumkin; Opacus'ning BatchMemoryManager yordamida virtual katta partiyalar hosil qilinadi. Kutilgan natija (taxminiy): 20 epoxada ε ≈ 8 da 60–68 foiz aniqlik. ε ni 2 ga tushirsak, aniqlik 50 foizdan pastga tushadi. MNIST kabi oddiy to'plamda esa ε = 1 bilan 96 foizdan yuqori natija olinadi. Bu DP'ning murakkab vazifalarda hali ham sezilarli narxga ega ekanini ko'rsatadi.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biz 10 mijozni har biriga faqat 2 ta sinfdan namuna tegadigan qilib («non-IID») bo'ldik — bu real sharoitga yaqin: bitta shifoxonada bir xil kasallik ko'proq uchraydi. Har raundda server 5 mijozni tanlaydi, ular lokal bir epoxa o'qitadi, server og'irliklarni ma'lumot hajmiga ko'ra vaznli o'rtachalaydi. Kutilgan natija (taxminiy): 30 raunddan keyin 55–65 foiz; xuddi shu hisoblash byudjeti bilan IID bo'lingan mijozlarda 75–80 foiz. Farq — mijozlar og'irliklarining «siljishi» (client drift), FL'ning asosiy muammolaridan biri. Haqiqiy tizimda bunga qo'shimcha ravishda og'irliklar xavfsiz agregatsiya bilan shifrlanadi va har mijoz DP shovqini qo'shadi; Flower yoki TensorFlow Federated kabi freymvorklar aloqa, tanlash va agregatsiyani boshqaradi.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torch.save standart holatda pickle ishlatadi va yuklashda ixtiyoriy kodni bajarishi mumkin — bu ta'minot zanjiri hujumining eng oddiy yo'li. safetensors faqat tensor ma'lumotlarini saqlaydi; xesh qiymati esa model registrida imzolanib, deploy paytida solishtiriladi. Ishlab chiqarishda bu bosqich Sigstore imzosi va attestatsiya bilan to'ldiriladi.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Olingan natijalarni bir jadvalga jamlaymiz (barcha raqamlar taxminiy, T4 GPU, 15–20 epoxa):</a:t>
            </a:r>
          </a:p>
          <a:p/>
          <a:p>
            <a:r>
              <a:t>Birinchi xulosa: himoyasiz model juda zaif — inson sezmaydigan buzilish uni butunlay ishdan chiqaradi. Bu AI tizimini xavfsizlik nuqtai nazaridan «yopiq quti» deb hisoblash xatoligini ko'rsatadi. Ikkinchi xulosa: adversarial o'qitish ishlaydi, lekin ikki narxga ega — hisoblash va toza aniqlik. Loyihachi bu murosani vazifaga qarab tanlashi kerak: tibbiy skrining yoki avtonom transport uchun 9 foiz toza aniqlik yo'qotish mustahkamlik evaziga oqlanishi mumkin, tavsiya tizimi uchun esa yo'q. Uchinchi xulosa: mustahkamlik faqat o'qitilgan ε va norma uchun amal qiladi; L∞ ga mustahkam model L2 yoki aylantirish kabi buzilishlarga zaif bo'lishi mumkin — mustahkamlik umumiy xususiyat emas.</a:t>
            </a:r>
          </a:p>
          <a:p/>
          <a:p>
            <a:r>
              <a:t>DP natijalari «maxfiylik–foydalilik» (privacy–utility) murosasini ko'rsatadi. ε = 8 ko'pchilik amaliy yo'riqnomalarda qabul qilinadigan yuqori chegara hisoblanadi; ε 1 ga yaqin bo'lganda CIFAR-10'da hozirgi usullar 50 foizdan pastga tushadi. Aniqlikni oshirish yo'llari: ommaviy ma'lumotda oldindan o'qitilgan modelni DP bilan faqat qayta sozlash (bu usul ε = 1 da CIFAR-10'da 90 foizdan yuqori beradi), katta partiyalar va ko'proq epoxa. Federativ simulyatsiya esa arxitektura darajasidagi maxfiylikning hisoblash sifatiga ta'sirini ko'rsatdi: non-IID taqsimot va qisman ishtirok konvergensiyani sekinlashtiradi; FedProx, SCAFFOLD kabi algoritmlar mijoz siljishini kamaytiradi.</a:t>
            </a:r>
          </a:p>
          <a:p/>
          <a:p>
            <a:r>
              <a:t>Cheklovlar: biz faqat L∞ evasion hujumlarini ko'rdik; zaharlash, model ekstraksiyasi va prompt injection alohida sinovlarni talab qiladi. Baholash AutoAttack bilan takrorlanishi kerak. TEE va attestatsiya misolda ko'rsatilmadi, chunki ular maxsus apparat talab qiladi — biroq ishlab chiqarish tizimida 7-qadamdagi xesh tekshiruvi aynan attestatsiya zanjirining bir bo'g'ini bo'ladi. Muqobil yondashuvlar: randomized smoothing bilan sertifikatlangan kafolat; HE yordamida shifrlangan inferens (mijoz ma'lumotni ko'rsatmasdan natija oladi, lekin minglab marta sekin); mustahkamlik va maxfiylikni birgalikda — DP adversarial training — ta'minlashga urinishlar, ular ikkala narxni ham jamlaydi.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Faqat FGSM bilan baholash. FGSM zaif hujum; unga chidamli model PGD yoki AutoAttack oldida yiqilishi mumkin. Har doim ko'p qadamli, tasodifiy boshlang'ich nuqtali va adaptiv hujumlar bilan baholang.</a:t>
            </a:r>
          </a:p>
          <a:p/>
          <a:p>
            <a:r>
              <a:t>Gradientni yashirishni mustahkamlik deb qabul qilish. Kirishni kvantlash, tasodifiylashtirish yoki chiqishni yumaloqlash hujumchining gradientini buzadi, lekin modelni mustahkam qilmaydi. Tekshiruv belgisi: qora quti yoki ko'chuvchan hujum oq qutidan kuchliroq chiqsa — gradient yashirilgan.</a:t>
            </a:r>
          </a:p>
          <a:p/>
          <a:p>
            <a:r>
              <a:t>Normalizatsiya va ε shkalasini aralashtirish. Normalizatsiyadan keyin ε = 8/255 qo'llash buzilishni bir necha marta kattalashtiradi va natijalarni adabiyot bilan solishtirib bo'lmaydi.</a:t>
            </a:r>
          </a:p>
          <a:p/>
          <a:p>
            <a:r>
              <a:t>DP'da maxfiylik byudjetini hisobga olmaslik. Har bir o'qitish, giperparametr qidiruvi va baholash byudjet sarflaydi; ε ni hisobot bermasdan «DP qo'lladik» deyish ma'nosiz. δ ma'lumotlar soniga teskari (δ ≪ 1/N) bo'lishi kerak.</a:t>
            </a:r>
          </a:p>
          <a:p/>
          <a:p>
            <a:r>
              <a:t>Federativ o'qitishni maxfiylik kafolati deb hisoblash. Og'irlik yangilanishlari ma'lumot sizdiradi; xavfsiz agregatsiya va DP'siz FL faqat ma'lumot ko'chirishni kamaytiradi, xolos.</a:t>
            </a:r>
          </a:p>
          <a:p/>
          <a:p>
            <a:r>
              <a:t>pickle formatidagi modellarni ishonchsiz manbadan yuklash. torch.load ixtiyoriy kodni bajarishi mumkin; safetensors, weights_only=True, xesh va imzo tekshiruvi majburiy.</a:t>
            </a:r>
          </a:p>
          <a:p/>
          <a:p>
            <a:r>
              <a:t>Xavfsizlikni oxirgi bosqichga qoldirish. Tahdid modeli loyihalash boshida tuzilishi, qizil jamoa sinovlari esa har relizda takrorlanishi kerak. Himoya chuqurligi tamoyili: model, ma'lumot, platforma va jarayon darajalari bir-birini qoplasin.</a:t>
            </a:r>
          </a:p>
          <a:p/>
          <a:p>
            <a:r>
              <a:t>LLM tizimlarida ma'lumot va ko'rsatmani ajratmaslik. RAG orqali kelgan hujjatlar yoki foydalanuvchi matni hech qachon tizim ko'rsatmasi sifatida ishlanmasligi kerak; agent harakatlari eng kam imtiyoz bilan cheklanishi va qaytarib bo'lmaydigan amallar inson tasdig'ini talab qilishi lozim.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Faqat FGSM bilan baholash. FGSM zaif hujum; unga chidamli model PGD yoki AutoAttack oldida yiqilishi mumkin. Har doim ko'p qadamli, tasodifiy boshlang'ich nuqtali va adaptiv hujumlar bilan baholang.</a:t>
            </a:r>
          </a:p>
          <a:p/>
          <a:p>
            <a:r>
              <a:t>Gradientni yashirishni mustahkamlik deb qabul qilish. Kirishni kvantlash, tasodifiylashtirish yoki chiqishni yumaloqlash hujumchining gradientini buzadi, lekin modelni mustahkam qilmaydi. Tekshiruv belgisi: qora quti yoki ko'chuvchan hujum oq qutidan kuchliroq chiqsa — gradient yashirilgan.</a:t>
            </a:r>
          </a:p>
          <a:p/>
          <a:p>
            <a:r>
              <a:t>Normalizatsiya va ε shkalasini aralashtirish. Normalizatsiyadan keyin ε = 8/255 qo'llash buzilishni bir necha marta kattalashtiradi va natijalarni adabiyot bilan solishtirib bo'lmaydi.</a:t>
            </a:r>
          </a:p>
          <a:p/>
          <a:p>
            <a:r>
              <a:t>DP'da maxfiylik byudjetini hisobga olmaslik. Har bir o'qitish, giperparametr qidiruvi va baholash byudjet sarflaydi; ε ni hisobot bermasdan «DP qo'lladik» deyish ma'nosiz. δ ma'lumotlar soniga teskari (δ ≪ 1/N) bo'lishi kerak.</a:t>
            </a:r>
          </a:p>
          <a:p/>
          <a:p>
            <a:r>
              <a:t>Federativ o'qitishni maxfiylik kafolati deb hisoblash. Og'irlik yangilanishlari ma'lumot sizdiradi; xavfsiz agregatsiya va DP'siz FL faqat ma'lumot ko'chirishni kamaytiradi, xolos.</a:t>
            </a:r>
          </a:p>
          <a:p/>
          <a:p>
            <a:r>
              <a:t>pickle formatidagi modellarni ishonchsiz manbadan yuklash. torch.load ixtiyoriy kodni bajarishi mumkin; safetensors, weights_only=True, xesh va imzo tekshiruvi majburiy.</a:t>
            </a:r>
          </a:p>
          <a:p/>
          <a:p>
            <a:r>
              <a:t>Xavfsizlikni oxirgi bosqichga qoldirish. Tahdid modeli loyihalash boshida tuzilishi, qizil jamoa sinovlari esa har relizda takrorlanishi kerak. Himoya chuqurligi tamoyili: model, ma'lumot, platforma va jarayon darajalari bir-birini qoplasin.</a:t>
            </a:r>
          </a:p>
          <a:p/>
          <a:p>
            <a:r>
              <a:t>LLM tizimlarida ma'lumot va ko'rsatmani ajratmaslik. RAG orqali kelgan hujjatlar yoki foydalanuvchi matni hech qachon tizim ko'rsatmasi sifatida ishlanmasligi kerak; agent harakatlari eng kam imtiyoz bilan cheklanishi va qaytarib bo'lmaydigan amallar inson tasdig'ini talab qilishi lozim.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Oq quti va qora quti tahdid modellari uchun himoya strategiyasi qanday farq qiladi? Ochiq API ko'rinishidagi model haqiqatan ham «qora quti» deb hisoblanishi mumkinmi?</a:t>
            </a:r>
          </a:p>
          <a:p/>
          <a:p>
            <a:r>
              <a:t>Nima uchun PGD adversarial training toza aniqlikni pasaytiradi? Bu murosa fundamentalmi yoki hozirgi usullarning cheklovimi — dalillar keltiring.</a:t>
            </a:r>
          </a:p>
          <a:p/>
          <a:p>
            <a:r>
              <a:t>Gradient yashirish hodisasini tajribada qanday aniqlash mumkin? Qaysi kuzatuvlar sizni ehtiyotkorlikka undashi kerak?</a:t>
            </a:r>
          </a:p>
          <a:p/>
          <a:p>
            <a:r>
              <a:t>(ε, δ)-differensial maxfiylik ta'rifida δ qanday rol o'ynaydi va nima uchun u ma'lumotlar soniga nisbatan juda kichik bo'lishi kerak?</a:t>
            </a:r>
          </a:p>
          <a:p/>
          <a:p>
            <a:r>
              <a:t>Federativ o'qitish, differensial maxfiylik va gomomorf shifrlash bir-birini qanday to'ldiradi? Tibbiy tasvirlar bo'yicha ko'p markazli loyiha uchun qaysi kombinatsiyani tanlar edingiz va nima uchun?</a:t>
            </a:r>
          </a:p>
          <a:p/>
          <a:p>
            <a:r>
              <a:t>Orqa eshik (backdoor) hujumi oddiy zaharlashdan nimasi bilan xavfliroq va uni toza test to'plamidagi aniqlik orqali nima uchun aniqlab bo'lmaydi?</a:t>
            </a:r>
          </a:p>
          <a:p/>
          <a:p>
            <a:r>
              <a:t>NVIDIA H100 konfidensial hisoblash rejimi qanday tahdidlardan himoya qiladi va qaysilaridan himoya qilmaydi (masalan, adversarial kirishlar, zaharlangan model)?</a:t>
            </a:r>
          </a:p>
          <a:p/>
          <a:p>
            <a:r>
              <a:t>Model fayllari uchun pickle formatining xavfi nimada va uni bartaraf etish uchun ta'minot zanjirida qanday nazorat nuqtalarini joriy etgan bo'lardingiz?</a:t>
            </a:r>
          </a:p>
          <a:p/>
          <a:p>
            <a:r>
              <a:t>Bilvosita prompt injection'ni an'anaviy SQL in'eksiyasi bilan taqqoslang: o'xshashlik va farqlar, nima uchun LLM uchun «parametrlangan so'rov» analogi yo'q?</a:t>
            </a:r>
          </a:p>
          <a:p/>
          <a:p>
            <a:r>
              <a:t>Tizimning mustahkamligi «faqat o'qitilgan ε va norma uchun» amal qilishi loyihalash qarorlariga qanday ta'sir qilishi kerak?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Oq quti va qora quti tahdid modellari uchun himoya strategiyasi qanday farq qiladi? Ochiq API ko'rinishidagi model haqiqatan ham «qora quti» deb hisoblanishi mumkinmi?</a:t>
            </a:r>
          </a:p>
          <a:p/>
          <a:p>
            <a:r>
              <a:t>Nima uchun PGD adversarial training toza aniqlikni pasaytiradi? Bu murosa fundamentalmi yoki hozirgi usullarning cheklovimi — dalillar keltiring.</a:t>
            </a:r>
          </a:p>
          <a:p/>
          <a:p>
            <a:r>
              <a:t>Gradient yashirish hodisasini tajribada qanday aniqlash mumkin? Qaysi kuzatuvlar sizni ehtiyotkorlikka undashi kerak?</a:t>
            </a:r>
          </a:p>
          <a:p/>
          <a:p>
            <a:r>
              <a:t>(ε, δ)-differensial maxfiylik ta'rifida δ qanday rol o'ynaydi va nima uchun u ma'lumotlar soniga nisbatan juda kichik bo'lishi kerak?</a:t>
            </a:r>
          </a:p>
          <a:p/>
          <a:p>
            <a:r>
              <a:t>Federativ o'qitish, differensial maxfiylik va gomomorf shifrlash bir-birini qanday to'ldiradi? Tibbiy tasvirlar bo'yicha ko'p markazli loyiha uchun qaysi kombinatsiyani tanlar edingiz va nima uchun?</a:t>
            </a:r>
          </a:p>
          <a:p/>
          <a:p>
            <a:r>
              <a:t>Orqa eshik (backdoor) hujumi oddiy zaharlashdan nimasi bilan xavfliroq va uni toza test to'plamidagi aniqlik orqali nima uchun aniqlab bo'lmaydi?</a:t>
            </a:r>
          </a:p>
          <a:p/>
          <a:p>
            <a:r>
              <a:t>NVIDIA H100 konfidensial hisoblash rejimi qanday tahdidlardan himoya qiladi va qaysilaridan himoya qilmaydi (masalan, adversarial kirishlar, zaharlangan model)?</a:t>
            </a:r>
          </a:p>
          <a:p/>
          <a:p>
            <a:r>
              <a:t>Model fayllari uchun pickle formatining xavfi nimada va uni bartaraf etish uchun ta'minot zanjirida qanday nazorat nuqtalarini joriy etgan bo'lardingiz?</a:t>
            </a:r>
          </a:p>
          <a:p/>
          <a:p>
            <a:r>
              <a:t>Bilvosita prompt injection'ni an'anaviy SQL in'eksiyasi bilan taqqoslang: o'xshashlik va farqlar, nima uchun LLM uchun «parametrlangan so'rov» analogi yo'q?</a:t>
            </a:r>
          </a:p>
          <a:p/>
          <a:p>
            <a:r>
              <a:t>Tizimning mustahkamligi «faqat o'qitilgan ε va norma uchun» amal qilishi loyihalash qarorlariga qanday ta'sir qilishi kerak?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(amaliy, A6 va 6-mustaqil ta'lim topshirig'iga bog'liq). O'zingiz tanlagan tasvir tasniflash modelida (CIFAR-10 yoki o'z ma'lumotlaringiz) quyidagilarni bajaring: (a) FGSM va PGD-20 hujumlarini ε ∈ {2, 4, 8}/255 uchun qo'llab, aniqlik–ε grafigini tuzing; (b) PGD adversarial training yoki «Fast» adversarial training bilan model o'qiting va xuddi shu grafikni taqqoslang; (c) toza modelga qarshi yasalgan adversarial misollarning mustahkam modelga ko'chuvchanligini o'lchang; (d) hisobotda tahdid modeli, aniqlik–mustahkamlik murosasi va hisoblash narxini (GPU-soat) tahlil qiling. Baholash mezoni: tajriba to'g'riligi va takrorlanuvchanligi — 40 %, tahlil chuqurligi (gradient yashirish tekshiruvi, cheklovlar) — 30 %, hisobot sifati va atamalar izchilligi — 20 %, qo'shimcha hujum/himoya (AutoAttack, randomized smoothing) — 10 %.</a:t>
            </a:r>
          </a:p>
          <a:p/>
          <a:p>
            <a:r>
              <a:t>2-topshiriq (tahliliy). Muayyan AI xizmati (masalan, bank skoring modeli yoki tibbiy diagnostika tizimi) uchun ISO/IEC 23894 va NIST AI 100-2 asosida xavf reyestri tuzing: kamida 8 ta tahdid, har biri uchun ehtimollik, ta'sir, mavjud nazorat va tavsiya etilgan qo'shimcha chora (DP, TEE, model imzolash, qizil jamoa va h.k.). Baholash mezoni: tahdidlarning to'liqligi va reallikka yaqinligi — 40 %, choralarning asoslanganligi va narxi hisobga olinganligi — 40 %, standartlarga to'g'ri havola — 20 %.</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Kneusel, R. T. Artificial Intelligence Engineering: A Practical Guide for AI Applications. No Starch Press, 2023.</a:t>
            </a:r>
          </a:p>
          <a:p/>
          <a:p>
            <a:r>
              <a:t>[3] Amershi, S., Begel, A., Bird, C. va boshq. Machine Learning Engineering. MIT Press, 2025.</a:t>
            </a:r>
          </a:p>
          <a:p/>
          <a:p>
            <a:r>
              <a:t>[1] Hennessy, J. L., &amp; Patterson, D. A. Computer Architecture: A Quantitative Approach. 7th Edition. Morgan Kaufmann, 2024 (xavfsizlik va ishonchli bajarish muhitlariga oid bo'limlar).</a:t>
            </a:r>
          </a:p>
          <a:p/>
          <a:p>
            <a:r>
              <a:t>[7] PyTorch rasmiy hujjatlari — https://pytorch.org (autograd, torch.load xavfsizlik eslatmalari).</a:t>
            </a:r>
          </a:p>
          <a:p/>
          <a:p>
            <a:r>
              <a:t>[6] NVIDIA Developer Portal — https://developer.nvidia.com (H100 Confidential Computing hujjatlari).</a:t>
            </a:r>
          </a:p>
          <a:p/>
          <a:p>
            <a:r>
              <a:t>Goodfellow, I. J., Shlens, J., &amp; Szegedy, C. Explaining and Harnessing Adversarial Examples. ICLR 2015. arXiv:1412.6572.</a:t>
            </a:r>
          </a:p>
          <a:p/>
          <a:p>
            <a:r>
              <a:t>Madry, A., Makelov, A., Schmidt, L., Tsipras, D., &amp; Vladu, A. Towards Deep Learning Models Resistant to Adversarial Attacks. ICLR 2018. arXiv:1706.06083.</a:t>
            </a:r>
          </a:p>
          <a:p/>
          <a:p>
            <a:r>
              <a:t>Abadi, M., Chu, A., Goodfellow, I. va boshq. Deep Learning with Differential Privacy. ACM CCS 2016. arXiv:1607.00133.</a:t>
            </a:r>
          </a:p>
          <a:p/>
          <a:p>
            <a:r>
              <a:t>McMahan, H. B., Moore, E., Ramage, D., Hampson, S., &amp; Agüera y Arcas, B. Communication-Efficient Learning of Deep Networks from Decentralized Data. AISTATS 2017. arXiv:1602.05629.</a:t>
            </a:r>
          </a:p>
          <a:p/>
          <a:p>
            <a:r>
              <a:t>NIST AI 100-2 E2023: Adversarial Machine Learning — A Taxonomy and Terminology of Attacks and Mitigations. National Institute of Standards and Technology, 2024.</a:t>
            </a:r>
          </a:p>
          <a:p/>
          <a:p>
            <a:r>
              <a:t>Opacus — PyTorch uchun differensial maxfiylik kutubxonasi hujjatlari: https://opacus.ai</a:t>
            </a:r>
          </a:p>
          <a:p/>
          <a:p>
            <a:r>
              <a:t>OWASP Top 10 for Large Language Model Applications: https://owasp.org/www-project-top-10-for-large-language-model-applications/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Kneusel, R. T. Artificial Intelligence Engineering: A Practical Guide for AI Applications. No Starch Press, 2023.</a:t>
            </a:r>
          </a:p>
          <a:p/>
          <a:p>
            <a:r>
              <a:t>[3] Amershi, S., Begel, A., Bird, C. va boshq. Machine Learning Engineering. MIT Press, 2025.</a:t>
            </a:r>
          </a:p>
          <a:p/>
          <a:p>
            <a:r>
              <a:t>[1] Hennessy, J. L., &amp; Patterson, D. A. Computer Architecture: A Quantitative Approach. 7th Edition. Morgan Kaufmann, 2024 (xavfsizlik va ishonchli bajarish muhitlariga oid bo'limlar).</a:t>
            </a:r>
          </a:p>
          <a:p/>
          <a:p>
            <a:r>
              <a:t>[7] PyTorch rasmiy hujjatlari — https://pytorch.org (autograd, torch.load xavfsizlik eslatmalari).</a:t>
            </a:r>
          </a:p>
          <a:p/>
          <a:p>
            <a:r>
              <a:t>[6] NVIDIA Developer Portal — https://developer.nvidia.com (H100 Confidential Computing hujjatlari).</a:t>
            </a:r>
          </a:p>
          <a:p/>
          <a:p>
            <a:r>
              <a:t>Goodfellow, I. J., Shlens, J., &amp; Szegedy, C. Explaining and Harnessing Adversarial Examples. ICLR 2015. arXiv:1412.6572.</a:t>
            </a:r>
          </a:p>
          <a:p/>
          <a:p>
            <a:r>
              <a:t>Madry, A., Makelov, A., Schmidt, L., Tsipras, D., &amp; Vladu, A. Towards Deep Learning Models Resistant to Adversarial Attacks. ICLR 2018. arXiv:1706.06083.</a:t>
            </a:r>
          </a:p>
          <a:p/>
          <a:p>
            <a:r>
              <a:t>Abadi, M., Chu, A., Goodfellow, I. va boshq. Deep Learning with Differential Privacy. ACM CCS 2016. arXiv:1607.00133.</a:t>
            </a:r>
          </a:p>
          <a:p/>
          <a:p>
            <a:r>
              <a:t>McMahan, H. B., Moore, E., Ramage, D., Hampson, S., &amp; Agüera y Arcas, B. Communication-Efficient Learning of Deep Networks from Decentralized Data. AISTATS 2017. arXiv:1602.05629.</a:t>
            </a:r>
          </a:p>
          <a:p/>
          <a:p>
            <a:r>
              <a:t>NIST AI 100-2 E2023: Adversarial Machine Learning — A Taxonomy and Terminology of Attacks and Mitigations. National Institute of Standards and Technology, 2024.</a:t>
            </a:r>
          </a:p>
          <a:p/>
          <a:p>
            <a:r>
              <a:t>Opacus — PyTorch uchun differensial maxfiylik kutubxonasi hujjatlari: https://opacus.ai</a:t>
            </a:r>
          </a:p>
          <a:p/>
          <a:p>
            <a:r>
              <a:t>OWASP Top 10 for Large Language Model Applications: https://owasp.org/www-project-top-10-for-large-language-model-applications/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Kneusel, R. T. Artificial Intelligence Engineering: A Practical Guide for AI Applications. No Starch Press, 2023.</a:t>
            </a:r>
          </a:p>
          <a:p/>
          <a:p>
            <a:r>
              <a:t>[3] Amershi, S., Begel, A., Bird, C. va boshq. Machine Learning Engineering. MIT Press, 2025.</a:t>
            </a:r>
          </a:p>
          <a:p/>
          <a:p>
            <a:r>
              <a:t>[1] Hennessy, J. L., &amp; Patterson, D. A. Computer Architecture: A Quantitative Approach. 7th Edition. Morgan Kaufmann, 2024 (xavfsizlik va ishonchli bajarish muhitlariga oid bo'limlar).</a:t>
            </a:r>
          </a:p>
          <a:p/>
          <a:p>
            <a:r>
              <a:t>[7] PyTorch rasmiy hujjatlari — https://pytorch.org (autograd, torch.load xavfsizlik eslatmalari).</a:t>
            </a:r>
          </a:p>
          <a:p/>
          <a:p>
            <a:r>
              <a:t>[6] NVIDIA Developer Portal — https://developer.nvidia.com (H100 Confidential Computing hujjatlari).</a:t>
            </a:r>
          </a:p>
          <a:p/>
          <a:p>
            <a:r>
              <a:t>Goodfellow, I. J., Shlens, J., &amp; Szegedy, C. Explaining and Harnessing Adversarial Examples. ICLR 2015. arXiv:1412.6572.</a:t>
            </a:r>
          </a:p>
          <a:p/>
          <a:p>
            <a:r>
              <a:t>Madry, A., Makelov, A., Schmidt, L., Tsipras, D., &amp; Vladu, A. Towards Deep Learning Models Resistant to Adversarial Attacks. ICLR 2018. arXiv:1706.06083.</a:t>
            </a:r>
          </a:p>
          <a:p/>
          <a:p>
            <a:r>
              <a:t>Abadi, M., Chu, A., Goodfellow, I. va boshq. Deep Learning with Differential Privacy. ACM CCS 2016. arXiv:1607.00133.</a:t>
            </a:r>
          </a:p>
          <a:p/>
          <a:p>
            <a:r>
              <a:t>McMahan, H. B., Moore, E., Ramage, D., Hampson, S., &amp; Agüera y Arcas, B. Communication-Efficient Learning of Deep Networks from Decentralized Data. AISTATS 2017. arXiv:1602.05629.</a:t>
            </a:r>
          </a:p>
          <a:p/>
          <a:p>
            <a:r>
              <a:t>NIST AI 100-2 E2023: Adversarial Machine Learning — A Taxonomy and Terminology of Attacks and Mitigations. National Institute of Standards and Technology, 2024.</a:t>
            </a:r>
          </a:p>
          <a:p/>
          <a:p>
            <a:r>
              <a:t>Opacus — PyTorch uchun differensial maxfiylik kutubxonasi hujjatlari: https://opacus.ai</a:t>
            </a:r>
          </a:p>
          <a:p/>
          <a:p>
            <a:r>
              <a:t>OWASP Top 10 for Large Language Model Applications: https://owasp.org/www-project-top-10-for-large-language-model-applications/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M9 · 2 soat</a:t>
            </a:r>
          </a:p>
        </p:txBody>
      </p:sp>
      <p:sp>
        <p:nvSpPr>
          <p:cNvPr id="9" name="TextBox 8"/>
          <p:cNvSpPr txBox="1"/>
          <p:nvPr/>
        </p:nvSpPr>
        <p:spPr>
          <a:xfrm>
            <a:off x="700000" y="1900000"/>
            <a:ext cx="8400000" cy="2600000"/>
          </a:xfrm>
          <a:prstGeom prst="rect">
            <a:avLst/>
          </a:prstGeom>
          <a:noFill/>
        </p:spPr>
        <p:txBody>
          <a:bodyPr wrap="square" anchor="t" lIns="50800" rIns="50800">
            <a:spAutoFit/>
          </a:bodyPr>
          <a:lstStyle/>
          <a:p>
            <a:pPr algn="l"/>
            <a:r>
              <a:rPr sz="3800" b="1">
                <a:solidFill>
                  <a:srgbClr val="FFFFFF"/>
                </a:solidFill>
                <a:latin typeface="Calibri"/>
              </a:rPr>
              <a:t>Tizimlarining ishonchliligi va axborot xavfsizligi</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10" presetClass="entr" presetSubtype="0"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50"/>
                                        <p:tgtEl>
                                          <p:spTgt spid="7"/>
                                        </p:tgtEl>
                                      </p:cBhvr>
                                    </p:animEffect>
                                  </p:childTnLst>
                                </p:cTn>
                              </p:par>
                            </p:childTnLst>
                          </p:cTn>
                        </p:par>
                        <p:par>
                          <p:cTn id="25" fill="hold">
                            <p:stCondLst>
                              <p:cond delay="550"/>
                            </p:stCondLst>
                            <p:childTnLst>
                              <p:par>
                                <p:cTn id="26" presetID="2" presetClass="entr" presetSubtype="8"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additive="base">
                                        <p:cTn id="29" dur="550" fill="hold"/>
                                        <p:tgtEl>
                                          <p:spTgt spid="8"/>
                                        </p:tgtEl>
                                        <p:attrNameLst>
                                          <p:attrName>ppt_x</p:attrName>
                                        </p:attrNameLst>
                                      </p:cBhvr>
                                      <p:tavLst>
                                        <p:tav tm="0">
                                          <p:val>
                                            <p:strVal val="0-#ppt_w/2"/>
                                          </p:val>
                                        </p:tav>
                                        <p:tav tm="100000">
                                          <p:val>
                                            <p:strVal val="#ppt_x"/>
                                          </p:val>
                                        </p:tav>
                                      </p:tavLst>
                                    </p:anim>
                                    <p:anim calcmode="lin" valueType="num">
                                      <p:cBhvr additive="base">
                                        <p:cTn id="30" dur="550" fill="hold"/>
                                        <p:tgtEl>
                                          <p:spTgt spid="8"/>
                                        </p:tgtEl>
                                        <p:attrNameLst>
                                          <p:attrName>ppt_y</p:attrName>
                                        </p:attrNameLst>
                                      </p:cBhvr>
                                      <p:tavLst>
                                        <p:tav tm="0">
                                          <p:val>
                                            <p:strVal val="#ppt_y"/>
                                          </p:val>
                                        </p:tav>
                                        <p:tav tm="100000">
                                          <p:val>
                                            <p:strVal val="#ppt_y"/>
                                          </p:val>
                                        </p:tav>
                                      </p:tavLst>
                                    </p:anim>
                                  </p:childTnLst>
                                </p:cTn>
                              </p:par>
                            </p:childTnLst>
                          </p:cTn>
                        </p:par>
                        <p:par>
                          <p:cTn id="31" fill="hold">
                            <p:stCondLst>
                              <p:cond delay="700"/>
                            </p:stCondLst>
                            <p:childTnLst>
                              <p:par>
                                <p:cTn id="32" presetID="42"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50"/>
                                        <p:tgtEl>
                                          <p:spTgt spid="9"/>
                                        </p:tgtEl>
                                      </p:cBhvr>
                                    </p:animEffect>
                                    <p:anim calcmode="lin" valueType="num">
                                      <p:cBhvr additive="base">
                                        <p:cTn id="35" dur="550" fill="hold"/>
                                        <p:tgtEl>
                                          <p:spTgt spid="9"/>
                                        </p:tgtEl>
                                        <p:attrNameLst>
                                          <p:attrName>ppt_x</p:attrName>
                                        </p:attrNameLst>
                                      </p:cBhvr>
                                      <p:tavLst>
                                        <p:tav tm="0">
                                          <p:val>
                                            <p:strVal val="#ppt_x"/>
                                          </p:val>
                                        </p:tav>
                                        <p:tav tm="100000">
                                          <p:val>
                                            <p:strVal val="#ppt_x"/>
                                          </p:val>
                                        </p:tav>
                                      </p:tavLst>
                                    </p:anim>
                                    <p:anim calcmode="lin" valueType="num">
                                      <p:cBhvr additive="base">
                                        <p:cTn id="36" dur="550" fill="hold"/>
                                        <p:tgtEl>
                                          <p:spTgt spid="9"/>
                                        </p:tgtEl>
                                        <p:attrNameLst>
                                          <p:attrName>ppt_y</p:attrName>
                                        </p:attrNameLst>
                                      </p:cBhvr>
                                      <p:tavLst>
                                        <p:tav tm="0">
                                          <p:val>
                                            <p:strVal val="#ppt_y+.08"/>
                                          </p:val>
                                        </p:tav>
                                        <p:tav tm="100000">
                                          <p:val>
                                            <p:strVal val="#ppt_y"/>
                                          </p:val>
                                        </p:tav>
                                      </p:tavLst>
                                    </p:anim>
                                  </p:childTnLst>
                                </p:cTn>
                              </p:par>
                            </p:childTnLst>
                          </p:cTn>
                        </p:par>
                        <p:par>
                          <p:cTn id="37" fill="hold">
                            <p:stCondLst>
                              <p:cond delay="850"/>
                            </p:stCondLst>
                            <p:childTnLst>
                              <p:par>
                                <p:cTn id="38" presetID="22" presetClass="entr" presetSubtype="8" fill="hold" grpId="0" nodeType="after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wipe(left)">
                                      <p:cBhvr>
                                        <p:cTn id="41" dur="800"/>
                                        <p:tgtEl>
                                          <p:spTgt spid="6"/>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1"/>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1"/>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291667"/>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1"/>
            <a:ext cx="10050000" cy="443333"/>
          </a:xfrm>
          <a:prstGeom prst="rect">
            <a:avLst/>
          </a:prstGeom>
          <a:noFill/>
        </p:spPr>
        <p:txBody>
          <a:bodyPr wrap="square" anchor="ctr" lIns="50800" rIns="50800">
            <a:spAutoFit/>
          </a:bodyPr>
          <a:lstStyle/>
          <a:p>
            <a:pPr algn="l"/>
            <a:r>
              <a:rPr sz="1900" b="0">
                <a:solidFill>
                  <a:srgbClr val="1B2430"/>
                </a:solidFill>
                <a:latin typeface="Calibri"/>
              </a:rPr>
              <a:t>Mavzuning maqsadi va o'rganish natijalari</a:t>
            </a:r>
          </a:p>
        </p:txBody>
      </p:sp>
      <p:sp>
        <p:nvSpPr>
          <p:cNvPr id="14" name="Rounded Rectangle 13"/>
          <p:cNvSpPr/>
          <p:nvPr/>
        </p:nvSpPr>
        <p:spPr>
          <a:xfrm>
            <a:off x="550000" y="1863334"/>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1863334"/>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18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1863334"/>
            <a:ext cx="10050000" cy="443333"/>
          </a:xfrm>
          <a:prstGeom prst="rect">
            <a:avLst/>
          </a:prstGeom>
          <a:noFill/>
        </p:spPr>
        <p:txBody>
          <a:bodyPr wrap="square" anchor="ctr" lIns="50800" rIns="50800">
            <a:spAutoFit/>
          </a:bodyPr>
          <a:lstStyle/>
          <a:p>
            <a:pPr algn="l"/>
            <a:r>
              <a:rPr sz="1900" b="0">
                <a:solidFill>
                  <a:srgbClr val="1B2430"/>
                </a:solidFill>
                <a:latin typeface="Calibri"/>
              </a:rPr>
              <a:t>Kirish</a:t>
            </a:r>
          </a:p>
        </p:txBody>
      </p:sp>
      <p:sp>
        <p:nvSpPr>
          <p:cNvPr id="18" name="Rounded Rectangle 17"/>
          <p:cNvSpPr/>
          <p:nvPr/>
        </p:nvSpPr>
        <p:spPr>
          <a:xfrm>
            <a:off x="550000" y="2426667"/>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426667"/>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2418333"/>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2426667"/>
            <a:ext cx="10050000" cy="443333"/>
          </a:xfrm>
          <a:prstGeom prst="rect">
            <a:avLst/>
          </a:prstGeom>
          <a:noFill/>
        </p:spPr>
        <p:txBody>
          <a:bodyPr wrap="square" anchor="ctr" lIns="50800" rIns="50800">
            <a:spAutoFit/>
          </a:bodyPr>
          <a:lstStyle/>
          <a:p>
            <a:pPr algn="l"/>
            <a:r>
              <a:rPr sz="1900" b="0">
                <a:solidFill>
                  <a:srgbClr val="1B2430"/>
                </a:solidFill>
                <a:latin typeface="Calibri"/>
              </a:rPr>
              <a:t>Nazariy asoslar</a:t>
            </a:r>
          </a:p>
        </p:txBody>
      </p:sp>
      <p:sp>
        <p:nvSpPr>
          <p:cNvPr id="22" name="Rounded Rectangle 21"/>
          <p:cNvSpPr/>
          <p:nvPr/>
        </p:nvSpPr>
        <p:spPr>
          <a:xfrm>
            <a:off x="550000" y="2990000"/>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2990000"/>
            <a:ext cx="70000" cy="443333"/>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2981666"/>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2990000"/>
            <a:ext cx="10050000" cy="443333"/>
          </a:xfrm>
          <a:prstGeom prst="rect">
            <a:avLst/>
          </a:prstGeom>
          <a:noFill/>
        </p:spPr>
        <p:txBody>
          <a:bodyPr wrap="square" anchor="ctr" lIns="50800" rIns="50800">
            <a:spAutoFit/>
          </a:bodyPr>
          <a:lstStyle/>
          <a:p>
            <a:pPr algn="l"/>
            <a:r>
              <a:rPr sz="1900" b="0">
                <a:solidFill>
                  <a:srgbClr val="1B2430"/>
                </a:solidFill>
                <a:latin typeface="Calibri"/>
              </a:rPr>
              <a:t>Amaliy misol</a:t>
            </a:r>
          </a:p>
        </p:txBody>
      </p:sp>
      <p:sp>
        <p:nvSpPr>
          <p:cNvPr id="26" name="Rounded Rectangle 25"/>
          <p:cNvSpPr/>
          <p:nvPr/>
        </p:nvSpPr>
        <p:spPr>
          <a:xfrm>
            <a:off x="550000" y="3553333"/>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553333"/>
            <a:ext cx="70000" cy="443333"/>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3544999"/>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3553333"/>
            <a:ext cx="10050000" cy="443333"/>
          </a:xfrm>
          <a:prstGeom prst="rect">
            <a:avLst/>
          </a:prstGeom>
          <a:noFill/>
        </p:spPr>
        <p:txBody>
          <a:bodyPr wrap="square" anchor="ctr" lIns="50800" rIns="50800">
            <a:spAutoFit/>
          </a:bodyPr>
          <a:lstStyle/>
          <a:p>
            <a:pPr algn="l"/>
            <a:r>
              <a:rPr sz="1900" b="0">
                <a:solidFill>
                  <a:srgbClr val="1B2430"/>
                </a:solidFill>
                <a:latin typeface="Calibri"/>
              </a:rPr>
              <a:t>Natijalarni tahlil qilish</a:t>
            </a:r>
          </a:p>
        </p:txBody>
      </p:sp>
      <p:sp>
        <p:nvSpPr>
          <p:cNvPr id="30" name="Rounded Rectangle 29"/>
          <p:cNvSpPr/>
          <p:nvPr/>
        </p:nvSpPr>
        <p:spPr>
          <a:xfrm>
            <a:off x="550000" y="4116666"/>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4116666"/>
            <a:ext cx="70000" cy="443333"/>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00000" y="4108332"/>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33" name="TextBox 32"/>
          <p:cNvSpPr txBox="1"/>
          <p:nvPr/>
        </p:nvSpPr>
        <p:spPr>
          <a:xfrm>
            <a:off x="1450000" y="4116666"/>
            <a:ext cx="10050000" cy="443333"/>
          </a:xfrm>
          <a:prstGeom prst="rect">
            <a:avLst/>
          </a:prstGeom>
          <a:noFill/>
        </p:spPr>
        <p:txBody>
          <a:bodyPr wrap="square" anchor="ctr" lIns="50800" rIns="50800">
            <a:spAutoFit/>
          </a:bodyPr>
          <a:lstStyle/>
          <a:p>
            <a:pPr algn="l"/>
            <a:r>
              <a:rPr sz="1900" b="0">
                <a:solidFill>
                  <a:srgbClr val="1B2430"/>
                </a:solidFill>
                <a:latin typeface="Calibri"/>
              </a:rPr>
              <a:t>Keng tarqalgan xatolar va amaliy tavsiyalar</a:t>
            </a:r>
          </a:p>
        </p:txBody>
      </p:sp>
      <p:sp>
        <p:nvSpPr>
          <p:cNvPr id="34" name="Rounded Rectangle 33"/>
          <p:cNvSpPr/>
          <p:nvPr/>
        </p:nvSpPr>
        <p:spPr>
          <a:xfrm>
            <a:off x="550000" y="4679999"/>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4679999"/>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00000" y="4671665"/>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37" name="TextBox 36"/>
          <p:cNvSpPr txBox="1"/>
          <p:nvPr/>
        </p:nvSpPr>
        <p:spPr>
          <a:xfrm>
            <a:off x="1450000" y="4679999"/>
            <a:ext cx="10050000" cy="443333"/>
          </a:xfrm>
          <a:prstGeom prst="rect">
            <a:avLst/>
          </a:prstGeom>
          <a:noFill/>
        </p:spPr>
        <p:txBody>
          <a:bodyPr wrap="square" anchor="ctr" lIns="50800" rIns="50800">
            <a:spAutoFit/>
          </a:bodyPr>
          <a:lstStyle/>
          <a:p>
            <a:pPr algn="l"/>
            <a:r>
              <a:rPr sz="1900" b="0">
                <a:solidFill>
                  <a:srgbClr val="1B2430"/>
                </a:solidFill>
                <a:latin typeface="Calibri"/>
              </a:rPr>
              <a:t>Nazorat savollari</a:t>
            </a:r>
          </a:p>
        </p:txBody>
      </p:sp>
      <p:sp>
        <p:nvSpPr>
          <p:cNvPr id="38" name="Rounded Rectangle 37"/>
          <p:cNvSpPr/>
          <p:nvPr/>
        </p:nvSpPr>
        <p:spPr>
          <a:xfrm>
            <a:off x="550000" y="5243332"/>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5243332"/>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0000" y="5234998"/>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41" name="TextBox 40"/>
          <p:cNvSpPr txBox="1"/>
          <p:nvPr/>
        </p:nvSpPr>
        <p:spPr>
          <a:xfrm>
            <a:off x="1450000" y="5243332"/>
            <a:ext cx="10050000" cy="443333"/>
          </a:xfrm>
          <a:prstGeom prst="rect">
            <a:avLst/>
          </a:prstGeom>
          <a:noFill/>
        </p:spPr>
        <p:txBody>
          <a:bodyPr wrap="square" anchor="ctr" lIns="50800" rIns="50800">
            <a:spAutoFit/>
          </a:bodyPr>
          <a:lstStyle/>
          <a:p>
            <a:pPr algn="l"/>
            <a:r>
              <a:rPr sz="1900" b="0">
                <a:solidFill>
                  <a:srgbClr val="1B2430"/>
                </a:solidFill>
                <a:latin typeface="Calibri"/>
              </a:rPr>
              <a:t>Mustaqil ish uchun topshiriq</a:t>
            </a:r>
          </a:p>
        </p:txBody>
      </p:sp>
      <p:sp>
        <p:nvSpPr>
          <p:cNvPr id="42" name="Rounded Rectangle 41"/>
          <p:cNvSpPr/>
          <p:nvPr/>
        </p:nvSpPr>
        <p:spPr>
          <a:xfrm>
            <a:off x="550000" y="5806665"/>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5806665"/>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00000" y="5798331"/>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45" name="TextBox 44"/>
          <p:cNvSpPr txBox="1"/>
          <p:nvPr/>
        </p:nvSpPr>
        <p:spPr>
          <a:xfrm>
            <a:off x="1450000" y="5806665"/>
            <a:ext cx="10050000" cy="443333"/>
          </a:xfrm>
          <a:prstGeom prst="rect">
            <a:avLst/>
          </a:prstGeom>
          <a:noFill/>
        </p:spPr>
        <p:txBody>
          <a:bodyPr wrap="square" anchor="ctr" lIns="50800" rIns="50800">
            <a:spAutoFit/>
          </a:bodyPr>
          <a:lstStyle/>
          <a:p>
            <a:pPr algn="l"/>
            <a:r>
              <a:rPr sz="1900" b="0">
                <a:solidFill>
                  <a:srgbClr val="1B2430"/>
                </a:solidFill>
                <a:latin typeface="Calibri"/>
              </a:rPr>
              <a:t>Foydalanilgan manbalar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2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par>
                          <p:cTn id="151" fill="hold">
                            <p:stCondLst>
                              <p:cond delay="1540"/>
                            </p:stCondLst>
                            <p:childTnLst>
                              <p:par>
                                <p:cTn id="152" presetID="42" presetClass="entr" presetSubtype="0" fill="hold" grpId="0" nodeType="afterEffect">
                                  <p:stCondLst>
                                    <p:cond delay="0"/>
                                  </p:stCondLst>
                                  <p:childTnLst>
                                    <p:set>
                                      <p:cBhvr>
                                        <p:cTn id="153" dur="1" fill="hold">
                                          <p:stCondLst>
                                            <p:cond delay="0"/>
                                          </p:stCondLst>
                                        </p:cTn>
                                        <p:tgtEl>
                                          <p:spTgt spid="34"/>
                                        </p:tgtEl>
                                        <p:attrNameLst>
                                          <p:attrName>style.visibility</p:attrName>
                                        </p:attrNameLst>
                                      </p:cBhvr>
                                      <p:to>
                                        <p:strVal val="visible"/>
                                      </p:to>
                                    </p:set>
                                    <p:animEffect transition="in" filter="fade">
                                      <p:cBhvr>
                                        <p:cTn id="154" dur="550"/>
                                        <p:tgtEl>
                                          <p:spTgt spid="34"/>
                                        </p:tgtEl>
                                      </p:cBhvr>
                                    </p:animEffect>
                                    <p:anim calcmode="lin" valueType="num">
                                      <p:cBhvr additive="base">
                                        <p:cTn id="155" dur="550" fill="hold"/>
                                        <p:tgtEl>
                                          <p:spTgt spid="34"/>
                                        </p:tgtEl>
                                        <p:attrNameLst>
                                          <p:attrName>ppt_x</p:attrName>
                                        </p:attrNameLst>
                                      </p:cBhvr>
                                      <p:tavLst>
                                        <p:tav tm="0">
                                          <p:val>
                                            <p:strVal val="#ppt_x"/>
                                          </p:val>
                                        </p:tav>
                                        <p:tav tm="100000">
                                          <p:val>
                                            <p:strVal val="#ppt_x"/>
                                          </p:val>
                                        </p:tav>
                                      </p:tavLst>
                                    </p:anim>
                                    <p:anim calcmode="lin" valueType="num">
                                      <p:cBhvr additive="base">
                                        <p:cTn id="156" dur="550" fill="hold"/>
                                        <p:tgtEl>
                                          <p:spTgt spid="34"/>
                                        </p:tgtEl>
                                        <p:attrNameLst>
                                          <p:attrName>ppt_y</p:attrName>
                                        </p:attrNameLst>
                                      </p:cBhvr>
                                      <p:tavLst>
                                        <p:tav tm="0">
                                          <p:val>
                                            <p:strVal val="#ppt_y+.08"/>
                                          </p:val>
                                        </p:tav>
                                        <p:tav tm="100000">
                                          <p:val>
                                            <p:strVal val="#ppt_y"/>
                                          </p:val>
                                        </p:tav>
                                      </p:tavLst>
                                    </p:anim>
                                  </p:childTnLst>
                                </p:cTn>
                              </p:par>
                            </p:childTnLst>
                          </p:cTn>
                        </p:par>
                        <p:par>
                          <p:cTn id="157" fill="hold">
                            <p:stCondLst>
                              <p:cond delay="1540"/>
                            </p:stCondLst>
                            <p:childTnLst>
                              <p:par>
                                <p:cTn id="158" presetID="42" presetClass="entr" presetSubtype="0" fill="hold" grpId="0" nodeType="afterEffect">
                                  <p:stCondLst>
                                    <p:cond delay="0"/>
                                  </p:stCondLst>
                                  <p:childTnLst>
                                    <p:set>
                                      <p:cBhvr>
                                        <p:cTn id="159" dur="1" fill="hold">
                                          <p:stCondLst>
                                            <p:cond delay="0"/>
                                          </p:stCondLst>
                                        </p:cTn>
                                        <p:tgtEl>
                                          <p:spTgt spid="35"/>
                                        </p:tgtEl>
                                        <p:attrNameLst>
                                          <p:attrName>style.visibility</p:attrName>
                                        </p:attrNameLst>
                                      </p:cBhvr>
                                      <p:to>
                                        <p:strVal val="visible"/>
                                      </p:to>
                                    </p:set>
                                    <p:animEffect transition="in" filter="fade">
                                      <p:cBhvr>
                                        <p:cTn id="160" dur="550"/>
                                        <p:tgtEl>
                                          <p:spTgt spid="35"/>
                                        </p:tgtEl>
                                      </p:cBhvr>
                                    </p:animEffect>
                                    <p:anim calcmode="lin" valueType="num">
                                      <p:cBhvr additive="base">
                                        <p:cTn id="161" dur="550" fill="hold"/>
                                        <p:tgtEl>
                                          <p:spTgt spid="35"/>
                                        </p:tgtEl>
                                        <p:attrNameLst>
                                          <p:attrName>ppt_x</p:attrName>
                                        </p:attrNameLst>
                                      </p:cBhvr>
                                      <p:tavLst>
                                        <p:tav tm="0">
                                          <p:val>
                                            <p:strVal val="#ppt_x"/>
                                          </p:val>
                                        </p:tav>
                                        <p:tav tm="100000">
                                          <p:val>
                                            <p:strVal val="#ppt_x"/>
                                          </p:val>
                                        </p:tav>
                                      </p:tavLst>
                                    </p:anim>
                                    <p:anim calcmode="lin" valueType="num">
                                      <p:cBhvr additive="base">
                                        <p:cTn id="162" dur="550" fill="hold"/>
                                        <p:tgtEl>
                                          <p:spTgt spid="35"/>
                                        </p:tgtEl>
                                        <p:attrNameLst>
                                          <p:attrName>ppt_y</p:attrName>
                                        </p:attrNameLst>
                                      </p:cBhvr>
                                      <p:tavLst>
                                        <p:tav tm="0">
                                          <p:val>
                                            <p:strVal val="#ppt_y+.08"/>
                                          </p:val>
                                        </p:tav>
                                        <p:tav tm="100000">
                                          <p:val>
                                            <p:strVal val="#ppt_y"/>
                                          </p:val>
                                        </p:tav>
                                      </p:tavLst>
                                    </p:anim>
                                  </p:childTnLst>
                                </p:cTn>
                              </p:par>
                            </p:childTnLst>
                          </p:cTn>
                        </p:par>
                        <p:par>
                          <p:cTn id="163" fill="hold">
                            <p:stCondLst>
                              <p:cond delay="1540"/>
                            </p:stCondLst>
                            <p:childTnLst>
                              <p:par>
                                <p:cTn id="164" presetID="53" presetClass="entr" presetSubtype="16" fill="hold" grpId="0" nodeType="afterEffect">
                                  <p:stCondLst>
                                    <p:cond delay="0"/>
                                  </p:stCondLst>
                                  <p:childTnLst>
                                    <p:set>
                                      <p:cBhvr>
                                        <p:cTn id="165" dur="1" fill="hold">
                                          <p:stCondLst>
                                            <p:cond delay="0"/>
                                          </p:stCondLst>
                                        </p:cTn>
                                        <p:tgtEl>
                                          <p:spTgt spid="36"/>
                                        </p:tgtEl>
                                        <p:attrNameLst>
                                          <p:attrName>style.visibility</p:attrName>
                                        </p:attrNameLst>
                                      </p:cBhvr>
                                      <p:to>
                                        <p:strVal val="visible"/>
                                      </p:to>
                                    </p:set>
                                    <p:animEffect transition="in" filter="fade">
                                      <p:cBhvr>
                                        <p:cTn id="166" dur="550"/>
                                        <p:tgtEl>
                                          <p:spTgt spid="36"/>
                                        </p:tgtEl>
                                      </p:cBhvr>
                                    </p:animEffect>
                                    <p:anim calcmode="lin" valueType="num">
                                      <p:cBhvr additive="base">
                                        <p:cTn id="167" dur="550" fill="hold"/>
                                        <p:tgtEl>
                                          <p:spTgt spid="36"/>
                                        </p:tgtEl>
                                        <p:attrNameLst>
                                          <p:attrName>ppt_w</p:attrName>
                                        </p:attrNameLst>
                                      </p:cBhvr>
                                      <p:tavLst>
                                        <p:tav tm="0">
                                          <p:val>
                                            <p:strVal val="0"/>
                                          </p:val>
                                        </p:tav>
                                        <p:tav tm="100000">
                                          <p:val>
                                            <p:strVal val="#ppt_w"/>
                                          </p:val>
                                        </p:tav>
                                      </p:tavLst>
                                    </p:anim>
                                    <p:anim calcmode="lin" valueType="num">
                                      <p:cBhvr additive="base">
                                        <p:cTn id="168" dur="550" fill="hold"/>
                                        <p:tgtEl>
                                          <p:spTgt spid="36"/>
                                        </p:tgtEl>
                                        <p:attrNameLst>
                                          <p:attrName>ppt_h</p:attrName>
                                        </p:attrNameLst>
                                      </p:cBhvr>
                                      <p:tavLst>
                                        <p:tav tm="0">
                                          <p:val>
                                            <p:strVal val="0"/>
                                          </p:val>
                                        </p:tav>
                                        <p:tav tm="100000">
                                          <p:val>
                                            <p:strVal val="#ppt_h"/>
                                          </p:val>
                                        </p:tav>
                                      </p:tavLst>
                                    </p:anim>
                                  </p:childTnLst>
                                </p:cTn>
                              </p:par>
                            </p:childTnLst>
                          </p:cTn>
                        </p:par>
                        <p:par>
                          <p:cTn id="169" fill="hold">
                            <p:stCondLst>
                              <p:cond delay="1540"/>
                            </p:stCondLst>
                            <p:childTnLst>
                              <p:par>
                                <p:cTn id="170" presetID="42" presetClass="entr" presetSubtype="0" fill="hold" grpId="0" nodeType="after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50"/>
                                        <p:tgtEl>
                                          <p:spTgt spid="37"/>
                                        </p:tgtEl>
                                      </p:cBhvr>
                                    </p:animEffect>
                                    <p:anim calcmode="lin" valueType="num">
                                      <p:cBhvr additive="base">
                                        <p:cTn id="173" dur="550" fill="hold"/>
                                        <p:tgtEl>
                                          <p:spTgt spid="37"/>
                                        </p:tgtEl>
                                        <p:attrNameLst>
                                          <p:attrName>ppt_x</p:attrName>
                                        </p:attrNameLst>
                                      </p:cBhvr>
                                      <p:tavLst>
                                        <p:tav tm="0">
                                          <p:val>
                                            <p:strVal val="#ppt_x"/>
                                          </p:val>
                                        </p:tav>
                                        <p:tav tm="100000">
                                          <p:val>
                                            <p:strVal val="#ppt_x"/>
                                          </p:val>
                                        </p:tav>
                                      </p:tavLst>
                                    </p:anim>
                                    <p:anim calcmode="lin" valueType="num">
                                      <p:cBhvr additive="base">
                                        <p:cTn id="174" dur="550" fill="hold"/>
                                        <p:tgtEl>
                                          <p:spTgt spid="37"/>
                                        </p:tgtEl>
                                        <p:attrNameLst>
                                          <p:attrName>ppt_y</p:attrName>
                                        </p:attrNameLst>
                                      </p:cBhvr>
                                      <p:tavLst>
                                        <p:tav tm="0">
                                          <p:val>
                                            <p:strVal val="#ppt_y+.08"/>
                                          </p:val>
                                        </p:tav>
                                        <p:tav tm="100000">
                                          <p:val>
                                            <p:strVal val="#ppt_y"/>
                                          </p:val>
                                        </p:tav>
                                      </p:tavLst>
                                    </p:anim>
                                  </p:childTnLst>
                                </p:cTn>
                              </p:par>
                            </p:childTnLst>
                          </p:cTn>
                        </p:par>
                        <p:par>
                          <p:cTn id="175" fill="hold">
                            <p:stCondLst>
                              <p:cond delay="1760"/>
                            </p:stCondLst>
                            <p:childTnLst>
                              <p:par>
                                <p:cTn id="176" presetID="42" presetClass="entr" presetSubtype="0" fill="hold" grpId="0" nodeType="afterEffect">
                                  <p:stCondLst>
                                    <p:cond delay="0"/>
                                  </p:stCondLst>
                                  <p:childTnLst>
                                    <p:set>
                                      <p:cBhvr>
                                        <p:cTn id="177" dur="1" fill="hold">
                                          <p:stCondLst>
                                            <p:cond delay="0"/>
                                          </p:stCondLst>
                                        </p:cTn>
                                        <p:tgtEl>
                                          <p:spTgt spid="38"/>
                                        </p:tgtEl>
                                        <p:attrNameLst>
                                          <p:attrName>style.visibility</p:attrName>
                                        </p:attrNameLst>
                                      </p:cBhvr>
                                      <p:to>
                                        <p:strVal val="visible"/>
                                      </p:to>
                                    </p:set>
                                    <p:animEffect transition="in" filter="fade">
                                      <p:cBhvr>
                                        <p:cTn id="178" dur="550"/>
                                        <p:tgtEl>
                                          <p:spTgt spid="38"/>
                                        </p:tgtEl>
                                      </p:cBhvr>
                                    </p:animEffect>
                                    <p:anim calcmode="lin" valueType="num">
                                      <p:cBhvr additive="base">
                                        <p:cTn id="179" dur="550" fill="hold"/>
                                        <p:tgtEl>
                                          <p:spTgt spid="38"/>
                                        </p:tgtEl>
                                        <p:attrNameLst>
                                          <p:attrName>ppt_x</p:attrName>
                                        </p:attrNameLst>
                                      </p:cBhvr>
                                      <p:tavLst>
                                        <p:tav tm="0">
                                          <p:val>
                                            <p:strVal val="#ppt_x"/>
                                          </p:val>
                                        </p:tav>
                                        <p:tav tm="100000">
                                          <p:val>
                                            <p:strVal val="#ppt_x"/>
                                          </p:val>
                                        </p:tav>
                                      </p:tavLst>
                                    </p:anim>
                                    <p:anim calcmode="lin" valueType="num">
                                      <p:cBhvr additive="base">
                                        <p:cTn id="180" dur="550" fill="hold"/>
                                        <p:tgtEl>
                                          <p:spTgt spid="38"/>
                                        </p:tgtEl>
                                        <p:attrNameLst>
                                          <p:attrName>ppt_y</p:attrName>
                                        </p:attrNameLst>
                                      </p:cBhvr>
                                      <p:tavLst>
                                        <p:tav tm="0">
                                          <p:val>
                                            <p:strVal val="#ppt_y+.08"/>
                                          </p:val>
                                        </p:tav>
                                        <p:tav tm="100000">
                                          <p:val>
                                            <p:strVal val="#ppt_y"/>
                                          </p:val>
                                        </p:tav>
                                      </p:tavLst>
                                    </p:anim>
                                  </p:childTnLst>
                                </p:cTn>
                              </p:par>
                            </p:childTnLst>
                          </p:cTn>
                        </p:par>
                        <p:par>
                          <p:cTn id="181" fill="hold">
                            <p:stCondLst>
                              <p:cond delay="1760"/>
                            </p:stCondLst>
                            <p:childTnLst>
                              <p:par>
                                <p:cTn id="182" presetID="42" presetClass="entr" presetSubtype="0" fill="hold" grpId="0" nodeType="afterEffect">
                                  <p:stCondLst>
                                    <p:cond delay="0"/>
                                  </p:stCondLst>
                                  <p:childTnLst>
                                    <p:set>
                                      <p:cBhvr>
                                        <p:cTn id="183" dur="1" fill="hold">
                                          <p:stCondLst>
                                            <p:cond delay="0"/>
                                          </p:stCondLst>
                                        </p:cTn>
                                        <p:tgtEl>
                                          <p:spTgt spid="39"/>
                                        </p:tgtEl>
                                        <p:attrNameLst>
                                          <p:attrName>style.visibility</p:attrName>
                                        </p:attrNameLst>
                                      </p:cBhvr>
                                      <p:to>
                                        <p:strVal val="visible"/>
                                      </p:to>
                                    </p:set>
                                    <p:animEffect transition="in" filter="fade">
                                      <p:cBhvr>
                                        <p:cTn id="184" dur="550"/>
                                        <p:tgtEl>
                                          <p:spTgt spid="39"/>
                                        </p:tgtEl>
                                      </p:cBhvr>
                                    </p:animEffect>
                                    <p:anim calcmode="lin" valueType="num">
                                      <p:cBhvr additive="base">
                                        <p:cTn id="185" dur="550" fill="hold"/>
                                        <p:tgtEl>
                                          <p:spTgt spid="39"/>
                                        </p:tgtEl>
                                        <p:attrNameLst>
                                          <p:attrName>ppt_x</p:attrName>
                                        </p:attrNameLst>
                                      </p:cBhvr>
                                      <p:tavLst>
                                        <p:tav tm="0">
                                          <p:val>
                                            <p:strVal val="#ppt_x"/>
                                          </p:val>
                                        </p:tav>
                                        <p:tav tm="100000">
                                          <p:val>
                                            <p:strVal val="#ppt_x"/>
                                          </p:val>
                                        </p:tav>
                                      </p:tavLst>
                                    </p:anim>
                                    <p:anim calcmode="lin" valueType="num">
                                      <p:cBhvr additive="base">
                                        <p:cTn id="186" dur="550" fill="hold"/>
                                        <p:tgtEl>
                                          <p:spTgt spid="39"/>
                                        </p:tgtEl>
                                        <p:attrNameLst>
                                          <p:attrName>ppt_y</p:attrName>
                                        </p:attrNameLst>
                                      </p:cBhvr>
                                      <p:tavLst>
                                        <p:tav tm="0">
                                          <p:val>
                                            <p:strVal val="#ppt_y+.08"/>
                                          </p:val>
                                        </p:tav>
                                        <p:tav tm="100000">
                                          <p:val>
                                            <p:strVal val="#ppt_y"/>
                                          </p:val>
                                        </p:tav>
                                      </p:tavLst>
                                    </p:anim>
                                  </p:childTnLst>
                                </p:cTn>
                              </p:par>
                            </p:childTnLst>
                          </p:cTn>
                        </p:par>
                        <p:par>
                          <p:cTn id="187" fill="hold">
                            <p:stCondLst>
                              <p:cond delay="1760"/>
                            </p:stCondLst>
                            <p:childTnLst>
                              <p:par>
                                <p:cTn id="188" presetID="53" presetClass="entr" presetSubtype="16" fill="hold" grpId="0" nodeType="after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50"/>
                                        <p:tgtEl>
                                          <p:spTgt spid="40"/>
                                        </p:tgtEl>
                                      </p:cBhvr>
                                    </p:animEffect>
                                    <p:anim calcmode="lin" valueType="num">
                                      <p:cBhvr additive="base">
                                        <p:cTn id="191" dur="550" fill="hold"/>
                                        <p:tgtEl>
                                          <p:spTgt spid="40"/>
                                        </p:tgtEl>
                                        <p:attrNameLst>
                                          <p:attrName>ppt_w</p:attrName>
                                        </p:attrNameLst>
                                      </p:cBhvr>
                                      <p:tavLst>
                                        <p:tav tm="0">
                                          <p:val>
                                            <p:strVal val="0"/>
                                          </p:val>
                                        </p:tav>
                                        <p:tav tm="100000">
                                          <p:val>
                                            <p:strVal val="#ppt_w"/>
                                          </p:val>
                                        </p:tav>
                                      </p:tavLst>
                                    </p:anim>
                                    <p:anim calcmode="lin" valueType="num">
                                      <p:cBhvr additive="base">
                                        <p:cTn id="192" dur="550" fill="hold"/>
                                        <p:tgtEl>
                                          <p:spTgt spid="40"/>
                                        </p:tgtEl>
                                        <p:attrNameLst>
                                          <p:attrName>ppt_h</p:attrName>
                                        </p:attrNameLst>
                                      </p:cBhvr>
                                      <p:tavLst>
                                        <p:tav tm="0">
                                          <p:val>
                                            <p:strVal val="0"/>
                                          </p:val>
                                        </p:tav>
                                        <p:tav tm="100000">
                                          <p:val>
                                            <p:strVal val="#ppt_h"/>
                                          </p:val>
                                        </p:tav>
                                      </p:tavLst>
                                    </p:anim>
                                  </p:childTnLst>
                                </p:cTn>
                              </p:par>
                            </p:childTnLst>
                          </p:cTn>
                        </p:par>
                        <p:par>
                          <p:cTn id="193" fill="hold">
                            <p:stCondLst>
                              <p:cond delay="1760"/>
                            </p:stCondLst>
                            <p:childTnLst>
                              <p:par>
                                <p:cTn id="194" presetID="42" presetClass="entr" presetSubtype="0" fill="hold" grpId="0" nodeType="afterEffect">
                                  <p:stCondLst>
                                    <p:cond delay="0"/>
                                  </p:stCondLst>
                                  <p:childTnLst>
                                    <p:set>
                                      <p:cBhvr>
                                        <p:cTn id="195" dur="1" fill="hold">
                                          <p:stCondLst>
                                            <p:cond delay="0"/>
                                          </p:stCondLst>
                                        </p:cTn>
                                        <p:tgtEl>
                                          <p:spTgt spid="41"/>
                                        </p:tgtEl>
                                        <p:attrNameLst>
                                          <p:attrName>style.visibility</p:attrName>
                                        </p:attrNameLst>
                                      </p:cBhvr>
                                      <p:to>
                                        <p:strVal val="visible"/>
                                      </p:to>
                                    </p:set>
                                    <p:animEffect transition="in" filter="fade">
                                      <p:cBhvr>
                                        <p:cTn id="196" dur="550"/>
                                        <p:tgtEl>
                                          <p:spTgt spid="41"/>
                                        </p:tgtEl>
                                      </p:cBhvr>
                                    </p:animEffect>
                                    <p:anim calcmode="lin" valueType="num">
                                      <p:cBhvr additive="base">
                                        <p:cTn id="197" dur="550" fill="hold"/>
                                        <p:tgtEl>
                                          <p:spTgt spid="41"/>
                                        </p:tgtEl>
                                        <p:attrNameLst>
                                          <p:attrName>ppt_x</p:attrName>
                                        </p:attrNameLst>
                                      </p:cBhvr>
                                      <p:tavLst>
                                        <p:tav tm="0">
                                          <p:val>
                                            <p:strVal val="#ppt_x"/>
                                          </p:val>
                                        </p:tav>
                                        <p:tav tm="100000">
                                          <p:val>
                                            <p:strVal val="#ppt_x"/>
                                          </p:val>
                                        </p:tav>
                                      </p:tavLst>
                                    </p:anim>
                                    <p:anim calcmode="lin" valueType="num">
                                      <p:cBhvr additive="base">
                                        <p:cTn id="198" dur="550" fill="hold"/>
                                        <p:tgtEl>
                                          <p:spTgt spid="41"/>
                                        </p:tgtEl>
                                        <p:attrNameLst>
                                          <p:attrName>ppt_y</p:attrName>
                                        </p:attrNameLst>
                                      </p:cBhvr>
                                      <p:tavLst>
                                        <p:tav tm="0">
                                          <p:val>
                                            <p:strVal val="#ppt_y+.08"/>
                                          </p:val>
                                        </p:tav>
                                        <p:tav tm="100000">
                                          <p:val>
                                            <p:strVal val="#ppt_y"/>
                                          </p:val>
                                        </p:tav>
                                      </p:tavLst>
                                    </p:anim>
                                  </p:childTnLst>
                                </p:cTn>
                              </p:par>
                            </p:childTnLst>
                          </p:cTn>
                        </p:par>
                        <p:par>
                          <p:cTn id="199" fill="hold">
                            <p:stCondLst>
                              <p:cond delay="1980"/>
                            </p:stCondLst>
                            <p:childTnLst>
                              <p:par>
                                <p:cTn id="200" presetID="42" presetClass="entr" presetSubtype="0" fill="hold" grpId="0" nodeType="afterEffect">
                                  <p:stCondLst>
                                    <p:cond delay="0"/>
                                  </p:stCondLst>
                                  <p:childTnLst>
                                    <p:set>
                                      <p:cBhvr>
                                        <p:cTn id="201" dur="1" fill="hold">
                                          <p:stCondLst>
                                            <p:cond delay="0"/>
                                          </p:stCondLst>
                                        </p:cTn>
                                        <p:tgtEl>
                                          <p:spTgt spid="42"/>
                                        </p:tgtEl>
                                        <p:attrNameLst>
                                          <p:attrName>style.visibility</p:attrName>
                                        </p:attrNameLst>
                                      </p:cBhvr>
                                      <p:to>
                                        <p:strVal val="visible"/>
                                      </p:to>
                                    </p:set>
                                    <p:animEffect transition="in" filter="fade">
                                      <p:cBhvr>
                                        <p:cTn id="202" dur="550"/>
                                        <p:tgtEl>
                                          <p:spTgt spid="42"/>
                                        </p:tgtEl>
                                      </p:cBhvr>
                                    </p:animEffect>
                                    <p:anim calcmode="lin" valueType="num">
                                      <p:cBhvr additive="base">
                                        <p:cTn id="203" dur="550" fill="hold"/>
                                        <p:tgtEl>
                                          <p:spTgt spid="42"/>
                                        </p:tgtEl>
                                        <p:attrNameLst>
                                          <p:attrName>ppt_x</p:attrName>
                                        </p:attrNameLst>
                                      </p:cBhvr>
                                      <p:tavLst>
                                        <p:tav tm="0">
                                          <p:val>
                                            <p:strVal val="#ppt_x"/>
                                          </p:val>
                                        </p:tav>
                                        <p:tav tm="100000">
                                          <p:val>
                                            <p:strVal val="#ppt_x"/>
                                          </p:val>
                                        </p:tav>
                                      </p:tavLst>
                                    </p:anim>
                                    <p:anim calcmode="lin" valueType="num">
                                      <p:cBhvr additive="base">
                                        <p:cTn id="204" dur="550" fill="hold"/>
                                        <p:tgtEl>
                                          <p:spTgt spid="42"/>
                                        </p:tgtEl>
                                        <p:attrNameLst>
                                          <p:attrName>ppt_y</p:attrName>
                                        </p:attrNameLst>
                                      </p:cBhvr>
                                      <p:tavLst>
                                        <p:tav tm="0">
                                          <p:val>
                                            <p:strVal val="#ppt_y+.08"/>
                                          </p:val>
                                        </p:tav>
                                        <p:tav tm="100000">
                                          <p:val>
                                            <p:strVal val="#ppt_y"/>
                                          </p:val>
                                        </p:tav>
                                      </p:tavLst>
                                    </p:anim>
                                  </p:childTnLst>
                                </p:cTn>
                              </p:par>
                            </p:childTnLst>
                          </p:cTn>
                        </p:par>
                        <p:par>
                          <p:cTn id="205" fill="hold">
                            <p:stCondLst>
                              <p:cond delay="1980"/>
                            </p:stCondLst>
                            <p:childTnLst>
                              <p:par>
                                <p:cTn id="206" presetID="42" presetClass="entr" presetSubtype="0" fill="hold" grpId="0" nodeType="afterEffect">
                                  <p:stCondLst>
                                    <p:cond delay="0"/>
                                  </p:stCondLst>
                                  <p:childTnLst>
                                    <p:set>
                                      <p:cBhvr>
                                        <p:cTn id="207" dur="1" fill="hold">
                                          <p:stCondLst>
                                            <p:cond delay="0"/>
                                          </p:stCondLst>
                                        </p:cTn>
                                        <p:tgtEl>
                                          <p:spTgt spid="43"/>
                                        </p:tgtEl>
                                        <p:attrNameLst>
                                          <p:attrName>style.visibility</p:attrName>
                                        </p:attrNameLst>
                                      </p:cBhvr>
                                      <p:to>
                                        <p:strVal val="visible"/>
                                      </p:to>
                                    </p:set>
                                    <p:animEffect transition="in" filter="fade">
                                      <p:cBhvr>
                                        <p:cTn id="208" dur="550"/>
                                        <p:tgtEl>
                                          <p:spTgt spid="43"/>
                                        </p:tgtEl>
                                      </p:cBhvr>
                                    </p:animEffect>
                                    <p:anim calcmode="lin" valueType="num">
                                      <p:cBhvr additive="base">
                                        <p:cTn id="209" dur="550" fill="hold"/>
                                        <p:tgtEl>
                                          <p:spTgt spid="43"/>
                                        </p:tgtEl>
                                        <p:attrNameLst>
                                          <p:attrName>ppt_x</p:attrName>
                                        </p:attrNameLst>
                                      </p:cBhvr>
                                      <p:tavLst>
                                        <p:tav tm="0">
                                          <p:val>
                                            <p:strVal val="#ppt_x"/>
                                          </p:val>
                                        </p:tav>
                                        <p:tav tm="100000">
                                          <p:val>
                                            <p:strVal val="#ppt_x"/>
                                          </p:val>
                                        </p:tav>
                                      </p:tavLst>
                                    </p:anim>
                                    <p:anim calcmode="lin" valueType="num">
                                      <p:cBhvr additive="base">
                                        <p:cTn id="210" dur="550" fill="hold"/>
                                        <p:tgtEl>
                                          <p:spTgt spid="43"/>
                                        </p:tgtEl>
                                        <p:attrNameLst>
                                          <p:attrName>ppt_y</p:attrName>
                                        </p:attrNameLst>
                                      </p:cBhvr>
                                      <p:tavLst>
                                        <p:tav tm="0">
                                          <p:val>
                                            <p:strVal val="#ppt_y+.08"/>
                                          </p:val>
                                        </p:tav>
                                        <p:tav tm="100000">
                                          <p:val>
                                            <p:strVal val="#ppt_y"/>
                                          </p:val>
                                        </p:tav>
                                      </p:tavLst>
                                    </p:anim>
                                  </p:childTnLst>
                                </p:cTn>
                              </p:par>
                            </p:childTnLst>
                          </p:cTn>
                        </p:par>
                        <p:par>
                          <p:cTn id="211" fill="hold">
                            <p:stCondLst>
                              <p:cond delay="1980"/>
                            </p:stCondLst>
                            <p:childTnLst>
                              <p:par>
                                <p:cTn id="212" presetID="53" presetClass="entr" presetSubtype="16" fill="hold" grpId="0" nodeType="afterEffect">
                                  <p:stCondLst>
                                    <p:cond delay="0"/>
                                  </p:stCondLst>
                                  <p:childTnLst>
                                    <p:set>
                                      <p:cBhvr>
                                        <p:cTn id="213" dur="1" fill="hold">
                                          <p:stCondLst>
                                            <p:cond delay="0"/>
                                          </p:stCondLst>
                                        </p:cTn>
                                        <p:tgtEl>
                                          <p:spTgt spid="44"/>
                                        </p:tgtEl>
                                        <p:attrNameLst>
                                          <p:attrName>style.visibility</p:attrName>
                                        </p:attrNameLst>
                                      </p:cBhvr>
                                      <p:to>
                                        <p:strVal val="visible"/>
                                      </p:to>
                                    </p:set>
                                    <p:animEffect transition="in" filter="fade">
                                      <p:cBhvr>
                                        <p:cTn id="214" dur="550"/>
                                        <p:tgtEl>
                                          <p:spTgt spid="44"/>
                                        </p:tgtEl>
                                      </p:cBhvr>
                                    </p:animEffect>
                                    <p:anim calcmode="lin" valueType="num">
                                      <p:cBhvr additive="base">
                                        <p:cTn id="215" dur="550" fill="hold"/>
                                        <p:tgtEl>
                                          <p:spTgt spid="44"/>
                                        </p:tgtEl>
                                        <p:attrNameLst>
                                          <p:attrName>ppt_w</p:attrName>
                                        </p:attrNameLst>
                                      </p:cBhvr>
                                      <p:tavLst>
                                        <p:tav tm="0">
                                          <p:val>
                                            <p:strVal val="0"/>
                                          </p:val>
                                        </p:tav>
                                        <p:tav tm="100000">
                                          <p:val>
                                            <p:strVal val="#ppt_w"/>
                                          </p:val>
                                        </p:tav>
                                      </p:tavLst>
                                    </p:anim>
                                    <p:anim calcmode="lin" valueType="num">
                                      <p:cBhvr additive="base">
                                        <p:cTn id="216" dur="550" fill="hold"/>
                                        <p:tgtEl>
                                          <p:spTgt spid="44"/>
                                        </p:tgtEl>
                                        <p:attrNameLst>
                                          <p:attrName>ppt_h</p:attrName>
                                        </p:attrNameLst>
                                      </p:cBhvr>
                                      <p:tavLst>
                                        <p:tav tm="0">
                                          <p:val>
                                            <p:strVal val="0"/>
                                          </p:val>
                                        </p:tav>
                                        <p:tav tm="100000">
                                          <p:val>
                                            <p:strVal val="#ppt_h"/>
                                          </p:val>
                                        </p:tav>
                                      </p:tavLst>
                                    </p:anim>
                                  </p:childTnLst>
                                </p:cTn>
                              </p:par>
                            </p:childTnLst>
                          </p:cTn>
                        </p:par>
                        <p:par>
                          <p:cTn id="217" fill="hold">
                            <p:stCondLst>
                              <p:cond delay="1980"/>
                            </p:stCondLst>
                            <p:childTnLst>
                              <p:par>
                                <p:cTn id="218" presetID="42" presetClass="entr" presetSubtype="0" fill="hold" grpId="0" nodeType="afterEffect">
                                  <p:stCondLst>
                                    <p:cond delay="0"/>
                                  </p:stCondLst>
                                  <p:childTnLst>
                                    <p:set>
                                      <p:cBhvr>
                                        <p:cTn id="219" dur="1" fill="hold">
                                          <p:stCondLst>
                                            <p:cond delay="0"/>
                                          </p:stCondLst>
                                        </p:cTn>
                                        <p:tgtEl>
                                          <p:spTgt spid="45"/>
                                        </p:tgtEl>
                                        <p:attrNameLst>
                                          <p:attrName>style.visibility</p:attrName>
                                        </p:attrNameLst>
                                      </p:cBhvr>
                                      <p:to>
                                        <p:strVal val="visible"/>
                                      </p:to>
                                    </p:set>
                                    <p:animEffect transition="in" filter="fade">
                                      <p:cBhvr>
                                        <p:cTn id="220" dur="550"/>
                                        <p:tgtEl>
                                          <p:spTgt spid="45"/>
                                        </p:tgtEl>
                                      </p:cBhvr>
                                    </p:animEffect>
                                    <p:anim calcmode="lin" valueType="num">
                                      <p:cBhvr additive="base">
                                        <p:cTn id="221" dur="550" fill="hold"/>
                                        <p:tgtEl>
                                          <p:spTgt spid="45"/>
                                        </p:tgtEl>
                                        <p:attrNameLst>
                                          <p:attrName>ppt_x</p:attrName>
                                        </p:attrNameLst>
                                      </p:cBhvr>
                                      <p:tavLst>
                                        <p:tav tm="0">
                                          <p:val>
                                            <p:strVal val="#ppt_x"/>
                                          </p:val>
                                        </p:tav>
                                        <p:tav tm="100000">
                                          <p:val>
                                            <p:strVal val="#ppt_x"/>
                                          </p:val>
                                        </p:tav>
                                      </p:tavLst>
                                    </p:anim>
                                    <p:anim calcmode="lin" valueType="num">
                                      <p:cBhvr additive="base">
                                        <p:cTn id="222" dur="550" fill="hold"/>
                                        <p:tgtEl>
                                          <p:spTgt spid="4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01</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Mavzuning maqsadi va o'rganish natijalari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Mavzuning maqsadi — sun'iy intellektga asoslangan kompyuter tizimlarini ishonchlilik (reliability) va axborot xavfsizligi (information security) nuqtai nazaridan yaxlit tizim sifatida…</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Mavzuni o'zlashtirgach talaba:</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AI tizimining tahdid modelini (threat model) tuza oladi: hujumchi nimani biladi (white-box, black-box), nimaga ta'sir qila oladi (kirish, o'qitish to'plami, model fayli) va qanday maqsadni…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Adversarial hujumlarning asosiy turlarini (FGSM, PGD, zaharlash, model ekstraksiyasi, a'zolik inferensiyasi, prompt injection) farqlay oladi va ularni PyTorch'da modellashtira oladi.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Himoya usullarini — adversarial o'qitish, kirishni tozalash, sertifikatlangan mustahkamlik, detektsiya — taqqoslab, aniqlik va mustahkamlik o'rtasidagi murosani miqdoriy baholay 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Maxfiylikni saqlovchi texnologiyalar (differensial maxfiylik, federativ o'qitish, gomomorf shifrlash, xavfsiz ko'p tomonlama hisoblash) qaysi vaziyatda qo'llanishini asoslab bera oladi.</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Trusted Computing va Secure AI tamoyillarini — ishonchli bajarish muhitlari (TEE), attestatsiya, model imzolash, ta'minot zanjiri xavfsizligi — infratuzilma darajasida loyihalashda hisobga…</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Mavzu fanning TN3 (AI tizimlarini loyihalash va baholash), TN5 (ishonchlilik, xavfsizlik va etik talablarni ta'minlash) hamda TN6 (AI xizmatlarini ekspluatatsiya qilish) natijalariga…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02</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Kirish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2010-yillarning boshida chuqur neyron tarmoqlar tasvirlarni tanishda inson darajasiga yetganda, tadqiqotchilar kutilmagan hodisaga duch kelishdi: tasvirga inson ko'zi ilg'amaydigan, piksel qiymatlari bo'yicha 1–2 foizdan oshmaydigan shovqin qo'shilsa, model…</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Sanoat konteksti ham o'zgardi. Bugun yirik tashkilotlar modelni o'zlari o'qitmasdan, tayyor og'irliklarni ochiq omborlardan (Hugging Face Hub, PyTorch Hub) yuklab oladi, ularni o'z ma'lumotlarida qayta sozlaydi va bulutli yoki chekka (edge) qurilmalarda ishga…</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Shu bilan birga, AI tizimlari maxfiy ma'lumotlar bilan ishlaydi: tibbiy tasvirlar, moliyaviy tranzaksiyalar, shaxsiy xabarlar. Model o'qitish uchun ularni bir joyga yig'ish o'zi xavf tug'diradi, o'qitilgan model esa o'z «xotirasida» alohida namunalarni saqlab…</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03</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Nazariy asoslar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Ishonchlilik, xavfsizlik va tahdid modeli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Ishonchlilik va xavfsizlik ko'pincha birgalikda tilga olinsa-da, ular turli savollarga javob beradi. Ishonchlilik tizimning tasodifiy nosozliklar — apparat xatolari, tarmoq uzilishi, ma'lumot taqsimotining tabiiy siljishi — sharoitida kutilgan vazifani…</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Xavfsizlik esa ataylab harakat qiluvchi raqibga qarshi turish haqida. Shuning uchun har qanday xavfsizlik tahlili tahdid modelidan boshlanadi.</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Klassik axborot xavfsizligidagi CIA triadasi (confidentiality, integrity, availability) AI tizimlariga quyidagicha proyeksiyalanadi: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Ishonchlilik, xavfsizlik va tahdid modeli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graphicFrame>
        <p:nvGraphicFramePr>
          <p:cNvPr id="10" name="Table 9"/>
          <p:cNvGraphicFramePr>
            <a:graphicFrameLocks noGrp="1"/>
          </p:cNvGraphicFramePr>
          <p:nvPr/>
        </p:nvGraphicFramePr>
        <p:xfrm>
          <a:off x="500000" y="1350000"/>
          <a:ext cx="11200000" cy="208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000" b="1">
                          <a:solidFill>
                            <a:srgbClr val="FFFFFF"/>
                          </a:solidFill>
                          <a:latin typeface="Calibri"/>
                        </a:rPr>
                        <a:t>Xususiyat</a:t>
                      </a:r>
                    </a:p>
                  </a:txBody>
                  <a:tcPr>
                    <a:solidFill>
                      <a:srgbClr val="2D5C8F"/>
                    </a:solidFill>
                  </a:tcPr>
                </a:tc>
                <a:tc>
                  <a:txBody>
                    <a:bodyPr/>
                    <a:lstStyle/>
                    <a:p>
                      <a:r>
                        <a:rPr sz="1000" b="1">
                          <a:solidFill>
                            <a:srgbClr val="FFFFFF"/>
                          </a:solidFill>
                          <a:latin typeface="Calibri"/>
                        </a:rPr>
                        <a:t>An'anaviy tizimda</a:t>
                      </a:r>
                    </a:p>
                  </a:txBody>
                  <a:tcPr>
                    <a:solidFill>
                      <a:srgbClr val="2D5C8F"/>
                    </a:solidFill>
                  </a:tcPr>
                </a:tc>
                <a:tc>
                  <a:txBody>
                    <a:bodyPr/>
                    <a:lstStyle/>
                    <a:p>
                      <a:r>
                        <a:rPr sz="1000" b="1">
                          <a:solidFill>
                            <a:srgbClr val="FFFFFF"/>
                          </a:solidFill>
                          <a:latin typeface="Calibri"/>
                        </a:rPr>
                        <a:t>AI tizimida qo'shimcha ma'no</a:t>
                      </a:r>
                    </a:p>
                  </a:txBody>
                  <a:tcPr>
                    <a:solidFill>
                      <a:srgbClr val="2D5C8F"/>
                    </a:solidFill>
                  </a:tcPr>
                </a:tc>
              </a:tr>
              <a:tr h="520000">
                <a:tc>
                  <a:txBody>
                    <a:bodyPr/>
                    <a:lstStyle/>
                    <a:p>
                      <a:r>
                        <a:rPr sz="1000" b="0">
                          <a:solidFill>
                            <a:srgbClr val="1B2430"/>
                          </a:solidFill>
                          <a:latin typeface="Calibri"/>
                        </a:rPr>
                        <a:t>Maxfiylik</a:t>
                      </a:r>
                    </a:p>
                  </a:txBody>
                  <a:tcPr>
                    <a:solidFill>
                      <a:srgbClr val="F1F4F8"/>
                    </a:solidFill>
                  </a:tcPr>
                </a:tc>
                <a:tc>
                  <a:txBody>
                    <a:bodyPr/>
                    <a:lstStyle/>
                    <a:p>
                      <a:r>
                        <a:rPr sz="1000" b="0">
                          <a:solidFill>
                            <a:srgbClr val="1B2430"/>
                          </a:solidFill>
                          <a:latin typeface="Calibri"/>
                        </a:rPr>
                        <a:t>Ma'lumotlar bazasi, kalitlar</a:t>
                      </a:r>
                    </a:p>
                  </a:txBody>
                  <a:tcPr>
                    <a:solidFill>
                      <a:srgbClr val="F1F4F8"/>
                    </a:solidFill>
                  </a:tcPr>
                </a:tc>
                <a:tc>
                  <a:txBody>
                    <a:bodyPr/>
                    <a:lstStyle/>
                    <a:p>
                      <a:r>
                        <a:rPr sz="1000" b="0">
                          <a:solidFill>
                            <a:srgbClr val="1B2430"/>
                          </a:solidFill>
                          <a:latin typeface="Calibri"/>
                        </a:rPr>
                        <a:t>O'qitish to'plami, model og'irliklari, tizim prompti, foydalanuvchi so'rovlari</a:t>
                      </a:r>
                    </a:p>
                  </a:txBody>
                  <a:tcPr>
                    <a:solidFill>
                      <a:srgbClr val="F1F4F8"/>
                    </a:solidFill>
                  </a:tcPr>
                </a:tc>
              </a:tr>
              <a:tr h="520000">
                <a:tc>
                  <a:txBody>
                    <a:bodyPr/>
                    <a:lstStyle/>
                    <a:p>
                      <a:r>
                        <a:rPr sz="1000" b="0">
                          <a:solidFill>
                            <a:srgbClr val="1B2430"/>
                          </a:solidFill>
                          <a:latin typeface="Calibri"/>
                        </a:rPr>
                        <a:t>Yaxlitlik</a:t>
                      </a:r>
                    </a:p>
                  </a:txBody>
                  <a:tcPr>
                    <a:solidFill>
                      <a:srgbClr val="FFFFFF"/>
                    </a:solidFill>
                  </a:tcPr>
                </a:tc>
                <a:tc>
                  <a:txBody>
                    <a:bodyPr/>
                    <a:lstStyle/>
                    <a:p>
                      <a:r>
                        <a:rPr sz="1000" b="0">
                          <a:solidFill>
                            <a:srgbClr val="1B2430"/>
                          </a:solidFill>
                          <a:latin typeface="Calibri"/>
                        </a:rPr>
                        <a:t>Kod va ma'lumot o'zgartirilmasligi</a:t>
                      </a:r>
                    </a:p>
                  </a:txBody>
                  <a:tcPr>
                    <a:solidFill>
                      <a:srgbClr val="FFFFFF"/>
                    </a:solidFill>
                  </a:tcPr>
                </a:tc>
                <a:tc>
                  <a:txBody>
                    <a:bodyPr/>
                    <a:lstStyle/>
                    <a:p>
                      <a:r>
                        <a:rPr sz="1000" b="0">
                          <a:solidFill>
                            <a:srgbClr val="1B2430"/>
                          </a:solidFill>
                          <a:latin typeface="Calibri"/>
                        </a:rPr>
                        <a:t>Model qarori manipulyatsiya qilinmasligi, zaharlanmagan o'qitish, orqa eshik yo'qligi</a:t>
                      </a:r>
                    </a:p>
                  </a:txBody>
                  <a:tcPr>
                    <a:solidFill>
                      <a:srgbClr val="FFFFFF"/>
                    </a:solidFill>
                  </a:tcPr>
                </a:tc>
              </a:tr>
              <a:tr h="520000">
                <a:tc>
                  <a:txBody>
                    <a:bodyPr/>
                    <a:lstStyle/>
                    <a:p>
                      <a:r>
                        <a:rPr sz="1000" b="0">
                          <a:solidFill>
                            <a:srgbClr val="1B2430"/>
                          </a:solidFill>
                          <a:latin typeface="Calibri"/>
                        </a:rPr>
                        <a:t>Mavjudlik</a:t>
                      </a:r>
                    </a:p>
                  </a:txBody>
                  <a:tcPr>
                    <a:solidFill>
                      <a:srgbClr val="F1F4F8"/>
                    </a:solidFill>
                  </a:tcPr>
                </a:tc>
                <a:tc>
                  <a:txBody>
                    <a:bodyPr/>
                    <a:lstStyle/>
                    <a:p>
                      <a:r>
                        <a:rPr sz="1000" b="0">
                          <a:solidFill>
                            <a:srgbClr val="1B2430"/>
                          </a:solidFill>
                          <a:latin typeface="Calibri"/>
                        </a:rPr>
                        <a:t>Xizmat ishlab turishi</a:t>
                      </a:r>
                    </a:p>
                  </a:txBody>
                  <a:tcPr>
                    <a:solidFill>
                      <a:srgbClr val="F1F4F8"/>
                    </a:solidFill>
                  </a:tcPr>
                </a:tc>
                <a:tc>
                  <a:txBody>
                    <a:bodyPr/>
                    <a:lstStyle/>
                    <a:p>
                      <a:r>
                        <a:rPr sz="1000" b="0">
                          <a:solidFill>
                            <a:srgbClr val="1B2430"/>
                          </a:solidFill>
                          <a:latin typeface="Calibri"/>
                        </a:rPr>
                        <a:t>Adversarial kirishlar bilan latency portlatilmasligi, GPU resursini egallab olish (sponge attacks)</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Hujumlar taksonomiyasi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Eng ko'p o'rganilgan sinf — chetlab o'tish (evasion) hujumlari, ya'ni inferens vaqtida kirishga kichik o'zgartirish kiritish.</a:t>
            </a:r>
          </a:p>
        </p:txBody>
      </p:sp>
      <p:sp>
        <p:nvSpPr>
          <p:cNvPr id="14" name="Rounded Rectangle 13"/>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Qora quti sharoitida gradient mavjud emas, lekin ikki yo'l bor.</a:t>
            </a:r>
          </a:p>
        </p:txBody>
      </p:sp>
      <p:sp>
        <p:nvSpPr>
          <p:cNvPr id="18" name="Rounded Rectangle 17"/>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Zaharlash (poisoning) hujumlari o'qitish bosqichiga qaratilgan.</a:t>
            </a:r>
          </a:p>
        </p:txBody>
      </p:sp>
      <p:sp>
        <p:nvSpPr>
          <p:cNvPr id="22" name="Rounded Rectangle 21"/>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Maxfiylikka qarshi hujumlar modelning o'zini axborot manbai sifatida ishlatadi.</a:t>
            </a:r>
          </a:p>
        </p:txBody>
      </p:sp>
      <p:sp>
        <p:nvSpPr>
          <p:cNvPr id="26" name="Rounded Rectangle 25"/>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Katta til modellari bilan yangi sinf — prompt injection — paydo bo'ldi.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Himoya usullari va ularning chegaralari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Eng ishonchli empirik himoya — adversarial o'qitish (adversarial training).</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Sertifikatlangan mustahkamlik (certified robustness) usullari empirik baholash o'rniga matematik kafolat beradi.</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Kirishni qayta ishlash usullari — JPEG siqish, bit chuqurligini kamaytirish, median filtr, avtokoder orqali tiklash — oddiy hujumlarga qarshi samarali ko'rinadi, biroq Athalye va…</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Zaharlashga qarshi himoya ma'lumotlar provenansi (data provenance), anomal namunalarni filtrlash (spektral imzolar, faollashuv klasterlash), o'qitishdan keyin orqa eshikni qidirish (Neural…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Himoya usullari va ularning chegaralari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Himoya</a:t>
                      </a:r>
                    </a:p>
                  </a:txBody>
                  <a:tcPr>
                    <a:solidFill>
                      <a:srgbClr val="2D5C8F"/>
                    </a:solidFill>
                  </a:tcPr>
                </a:tc>
                <a:tc>
                  <a:txBody>
                    <a:bodyPr/>
                    <a:lstStyle/>
                    <a:p>
                      <a:r>
                        <a:rPr sz="1200" b="1">
                          <a:solidFill>
                            <a:srgbClr val="FFFFFF"/>
                          </a:solidFill>
                          <a:latin typeface="Calibri"/>
                        </a:rPr>
                        <a:t>Nimadan himoya qiladi</a:t>
                      </a:r>
                    </a:p>
                  </a:txBody>
                  <a:tcPr>
                    <a:solidFill>
                      <a:srgbClr val="2D5C8F"/>
                    </a:solidFill>
                  </a:tcPr>
                </a:tc>
                <a:tc>
                  <a:txBody>
                    <a:bodyPr/>
                    <a:lstStyle/>
                    <a:p>
                      <a:r>
                        <a:rPr sz="1200" b="1">
                          <a:solidFill>
                            <a:srgbClr val="FFFFFF"/>
                          </a:solidFill>
                          <a:latin typeface="Calibri"/>
                        </a:rPr>
                        <a:t>Kafolat turi</a:t>
                      </a:r>
                    </a:p>
                  </a:txBody>
                  <a:tcPr>
                    <a:solidFill>
                      <a:srgbClr val="2D5C8F"/>
                    </a:solidFill>
                  </a:tcPr>
                </a:tc>
                <a:tc>
                  <a:txBody>
                    <a:bodyPr/>
                    <a:lstStyle/>
                    <a:p>
                      <a:r>
                        <a:rPr sz="1200" b="1">
                          <a:solidFill>
                            <a:srgbClr val="FFFFFF"/>
                          </a:solidFill>
                          <a:latin typeface="Calibri"/>
                        </a:rPr>
                        <a:t>Narxi</a:t>
                      </a:r>
                    </a:p>
                  </a:txBody>
                  <a:tcPr>
                    <a:solidFill>
                      <a:srgbClr val="2D5C8F"/>
                    </a:solidFill>
                  </a:tcPr>
                </a:tc>
              </a:tr>
              <a:tr h="520000">
                <a:tc>
                  <a:txBody>
                    <a:bodyPr/>
                    <a:lstStyle/>
                    <a:p>
                      <a:r>
                        <a:rPr sz="1200" b="0">
                          <a:solidFill>
                            <a:srgbClr val="1B2430"/>
                          </a:solidFill>
                          <a:latin typeface="Calibri"/>
                        </a:rPr>
                        <a:t>PGD adversarial training</a:t>
                      </a:r>
                    </a:p>
                  </a:txBody>
                  <a:tcPr>
                    <a:solidFill>
                      <a:srgbClr val="F1F4F8"/>
                    </a:solidFill>
                  </a:tcPr>
                </a:tc>
                <a:tc>
                  <a:txBody>
                    <a:bodyPr/>
                    <a:lstStyle/>
                    <a:p>
                      <a:r>
                        <a:rPr sz="1200" b="0">
                          <a:solidFill>
                            <a:srgbClr val="1B2430"/>
                          </a:solidFill>
                          <a:latin typeface="Calibri"/>
                        </a:rPr>
                        <a:t>Evasion (oq va qora quti)</a:t>
                      </a:r>
                    </a:p>
                  </a:txBody>
                  <a:tcPr>
                    <a:solidFill>
                      <a:srgbClr val="F1F4F8"/>
                    </a:solidFill>
                  </a:tcPr>
                </a:tc>
                <a:tc>
                  <a:txBody>
                    <a:bodyPr/>
                    <a:lstStyle/>
                    <a:p>
                      <a:r>
                        <a:rPr sz="1200" b="0">
                          <a:solidFill>
                            <a:srgbClr val="1B2430"/>
                          </a:solidFill>
                          <a:latin typeface="Calibri"/>
                        </a:rPr>
                        <a:t>Empirik</a:t>
                      </a:r>
                    </a:p>
                  </a:txBody>
                  <a:tcPr>
                    <a:solidFill>
                      <a:srgbClr val="F1F4F8"/>
                    </a:solidFill>
                  </a:tcPr>
                </a:tc>
                <a:tc>
                  <a:txBody>
                    <a:bodyPr/>
                    <a:lstStyle/>
                    <a:p>
                      <a:r>
                        <a:rPr sz="1200" b="0">
                          <a:solidFill>
                            <a:srgbClr val="1B2430"/>
                          </a:solidFill>
                          <a:latin typeface="Calibri"/>
                        </a:rPr>
                        <a:t>O'qitish 8–11× qimmat, toza aniqlik −5…−10 %</a:t>
                      </a:r>
                    </a:p>
                  </a:txBody>
                  <a:tcPr>
                    <a:solidFill>
                      <a:srgbClr val="F1F4F8"/>
                    </a:solidFill>
                  </a:tcPr>
                </a:tc>
              </a:tr>
              <a:tr h="520000">
                <a:tc>
                  <a:txBody>
                    <a:bodyPr/>
                    <a:lstStyle/>
                    <a:p>
                      <a:r>
                        <a:rPr sz="1200" b="0">
                          <a:solidFill>
                            <a:srgbClr val="1B2430"/>
                          </a:solidFill>
                          <a:latin typeface="Calibri"/>
                        </a:rPr>
                        <a:t>Randomized smoothing</a:t>
                      </a:r>
                    </a:p>
                  </a:txBody>
                  <a:tcPr>
                    <a:solidFill>
                      <a:srgbClr val="FFFFFF"/>
                    </a:solidFill>
                  </a:tcPr>
                </a:tc>
                <a:tc>
                  <a:txBody>
                    <a:bodyPr/>
                    <a:lstStyle/>
                    <a:p>
                      <a:r>
                        <a:rPr sz="1200" b="0">
                          <a:solidFill>
                            <a:srgbClr val="1B2430"/>
                          </a:solidFill>
                          <a:latin typeface="Calibri"/>
                        </a:rPr>
                        <a:t>Evasion (L2)</a:t>
                      </a:r>
                    </a:p>
                  </a:txBody>
                  <a:tcPr>
                    <a:solidFill>
                      <a:srgbClr val="FFFFFF"/>
                    </a:solidFill>
                  </a:tcPr>
                </a:tc>
                <a:tc>
                  <a:txBody>
                    <a:bodyPr/>
                    <a:lstStyle/>
                    <a:p>
                      <a:r>
                        <a:rPr sz="1200" b="0">
                          <a:solidFill>
                            <a:srgbClr val="1B2430"/>
                          </a:solidFill>
                          <a:latin typeface="Calibri"/>
                        </a:rPr>
                        <a:t>Sertifikatlangan</a:t>
                      </a:r>
                    </a:p>
                  </a:txBody>
                  <a:tcPr>
                    <a:solidFill>
                      <a:srgbClr val="FFFFFF"/>
                    </a:solidFill>
                  </a:tcPr>
                </a:tc>
                <a:tc>
                  <a:txBody>
                    <a:bodyPr/>
                    <a:lstStyle/>
                    <a:p>
                      <a:r>
                        <a:rPr sz="1200" b="0">
                          <a:solidFill>
                            <a:srgbClr val="1B2430"/>
                          </a:solidFill>
                          <a:latin typeface="Calibri"/>
                        </a:rPr>
                        <a:t>Inferens 100× (ko'p namunalash)</a:t>
                      </a:r>
                    </a:p>
                  </a:txBody>
                  <a:tcPr>
                    <a:solidFill>
                      <a:srgbClr val="FFFFFF"/>
                    </a:solidFill>
                  </a:tcPr>
                </a:tc>
              </a:tr>
              <a:tr h="520000">
                <a:tc>
                  <a:txBody>
                    <a:bodyPr/>
                    <a:lstStyle/>
                    <a:p>
                      <a:r>
                        <a:rPr sz="1200" b="0">
                          <a:solidFill>
                            <a:srgbClr val="1B2430"/>
                          </a:solidFill>
                          <a:latin typeface="Calibri"/>
                        </a:rPr>
                        <a:t>Kirishni tozalash</a:t>
                      </a:r>
                    </a:p>
                  </a:txBody>
                  <a:tcPr>
                    <a:solidFill>
                      <a:srgbClr val="F1F4F8"/>
                    </a:solidFill>
                  </a:tcPr>
                </a:tc>
                <a:tc>
                  <a:txBody>
                    <a:bodyPr/>
                    <a:lstStyle/>
                    <a:p>
                      <a:r>
                        <a:rPr sz="1200" b="0">
                          <a:solidFill>
                            <a:srgbClr val="1B2430"/>
                          </a:solidFill>
                          <a:latin typeface="Calibri"/>
                        </a:rPr>
                        <a:t>Oddiy evasion</a:t>
                      </a:r>
                    </a:p>
                  </a:txBody>
                  <a:tcPr>
                    <a:solidFill>
                      <a:srgbClr val="F1F4F8"/>
                    </a:solidFill>
                  </a:tcPr>
                </a:tc>
                <a:tc>
                  <a:txBody>
                    <a:bodyPr/>
                    <a:lstStyle/>
                    <a:p>
                      <a:r>
                        <a:rPr sz="1200" b="0">
                          <a:solidFill>
                            <a:srgbClr val="1B2430"/>
                          </a:solidFill>
                          <a:latin typeface="Calibri"/>
                        </a:rPr>
                        <a:t>Yo'q (adaptivga zaif)</a:t>
                      </a:r>
                    </a:p>
                  </a:txBody>
                  <a:tcPr>
                    <a:solidFill>
                      <a:srgbClr val="F1F4F8"/>
                    </a:solidFill>
                  </a:tcPr>
                </a:tc>
                <a:tc>
                  <a:txBody>
                    <a:bodyPr/>
                    <a:lstStyle/>
                    <a:p>
                      <a:r>
                        <a:rPr sz="1200" b="0">
                          <a:solidFill>
                            <a:srgbClr val="1B2430"/>
                          </a:solidFill>
                          <a:latin typeface="Calibri"/>
                        </a:rPr>
                        <a:t>Arzon</a:t>
                      </a:r>
                    </a:p>
                  </a:txBody>
                  <a:tcPr>
                    <a:solidFill>
                      <a:srgbClr val="F1F4F8"/>
                    </a:solidFill>
                  </a:tcPr>
                </a:tc>
              </a:tr>
              <a:tr h="520000">
                <a:tc>
                  <a:txBody>
                    <a:bodyPr/>
                    <a:lstStyle/>
                    <a:p>
                      <a:r>
                        <a:rPr sz="1200" b="0">
                          <a:solidFill>
                            <a:srgbClr val="1B2430"/>
                          </a:solidFill>
                          <a:latin typeface="Calibri"/>
                        </a:rPr>
                        <a:t>DP-SGD</a:t>
                      </a:r>
                    </a:p>
                  </a:txBody>
                  <a:tcPr>
                    <a:solidFill>
                      <a:srgbClr val="FFFFFF"/>
                    </a:solidFill>
                  </a:tcPr>
                </a:tc>
                <a:tc>
                  <a:txBody>
                    <a:bodyPr/>
                    <a:lstStyle/>
                    <a:p>
                      <a:r>
                        <a:rPr sz="1200" b="0">
                          <a:solidFill>
                            <a:srgbClr val="1B2430"/>
                          </a:solidFill>
                          <a:latin typeface="Calibri"/>
                        </a:rPr>
                        <a:t>Membership inference, memorization</a:t>
                      </a:r>
                    </a:p>
                  </a:txBody>
                  <a:tcPr>
                    <a:solidFill>
                      <a:srgbClr val="FFFFFF"/>
                    </a:solidFill>
                  </a:tcPr>
                </a:tc>
                <a:tc>
                  <a:txBody>
                    <a:bodyPr/>
                    <a:lstStyle/>
                    <a:p>
                      <a:r>
                        <a:rPr sz="1200" b="0">
                          <a:solidFill>
                            <a:srgbClr val="1B2430"/>
                          </a:solidFill>
                          <a:latin typeface="Calibri"/>
                        </a:rPr>
                        <a:t>Formal (ε, δ)</a:t>
                      </a:r>
                    </a:p>
                  </a:txBody>
                  <a:tcPr>
                    <a:solidFill>
                      <a:srgbClr val="FFFFFF"/>
                    </a:solidFill>
                  </a:tcPr>
                </a:tc>
                <a:tc>
                  <a:txBody>
                    <a:bodyPr/>
                    <a:lstStyle/>
                    <a:p>
                      <a:r>
                        <a:rPr sz="1200" b="0">
                          <a:solidFill>
                            <a:srgbClr val="1B2430"/>
                          </a:solidFill>
                          <a:latin typeface="Calibri"/>
                        </a:rPr>
                        <a:t>Aniqlik −1…−5 %, o'qitish 2–3× sekin</a:t>
                      </a:r>
                    </a:p>
                  </a:txBody>
                  <a:tcPr>
                    <a:solidFill>
                      <a:srgbClr val="FFFFFF"/>
                    </a:solidFill>
                  </a:tcPr>
                </a:tc>
              </a:tr>
              <a:tr h="520000">
                <a:tc>
                  <a:txBody>
                    <a:bodyPr/>
                    <a:lstStyle/>
                    <a:p>
                      <a:r>
                        <a:rPr sz="1200" b="0">
                          <a:solidFill>
                            <a:srgbClr val="1B2430"/>
                          </a:solidFill>
                          <a:latin typeface="Calibri"/>
                        </a:rPr>
                        <a:t>Provenans + filtrlash</a:t>
                      </a:r>
                    </a:p>
                  </a:txBody>
                  <a:tcPr>
                    <a:solidFill>
                      <a:srgbClr val="F1F4F8"/>
                    </a:solidFill>
                  </a:tcPr>
                </a:tc>
                <a:tc>
                  <a:txBody>
                    <a:bodyPr/>
                    <a:lstStyle/>
                    <a:p>
                      <a:r>
                        <a:rPr sz="1200" b="0">
                          <a:solidFill>
                            <a:srgbClr val="1B2430"/>
                          </a:solidFill>
                          <a:latin typeface="Calibri"/>
                        </a:rPr>
                        <a:t>Poisoning</a:t>
                      </a:r>
                    </a:p>
                  </a:txBody>
                  <a:tcPr>
                    <a:solidFill>
                      <a:srgbClr val="F1F4F8"/>
                    </a:solidFill>
                  </a:tcPr>
                </a:tc>
                <a:tc>
                  <a:txBody>
                    <a:bodyPr/>
                    <a:lstStyle/>
                    <a:p>
                      <a:r>
                        <a:rPr sz="1200" b="0">
                          <a:solidFill>
                            <a:srgbClr val="1B2430"/>
                          </a:solidFill>
                          <a:latin typeface="Calibri"/>
                        </a:rPr>
                        <a:t>Empirik</a:t>
                      </a:r>
                    </a:p>
                  </a:txBody>
                  <a:tcPr>
                    <a:solidFill>
                      <a:srgbClr val="F1F4F8"/>
                    </a:solidFill>
                  </a:tcPr>
                </a:tc>
                <a:tc>
                  <a:txBody>
                    <a:bodyPr/>
                    <a:lstStyle/>
                    <a:p>
                      <a:r>
                        <a:rPr sz="1200" b="0">
                          <a:solidFill>
                            <a:srgbClr val="1B2430"/>
                          </a:solidFill>
                          <a:latin typeface="Calibri"/>
                        </a:rPr>
                        <a:t>Tashkiliy</a:t>
                      </a:r>
                    </a:p>
                  </a:txBody>
                  <a:tcPr>
                    <a:solidFill>
                      <a:srgbClr val="F1F4F8"/>
                    </a:solidFill>
                  </a:tcPr>
                </a:tc>
              </a:tr>
              <a:tr h="520000">
                <a:tc>
                  <a:txBody>
                    <a:bodyPr/>
                    <a:lstStyle/>
                    <a:p>
                      <a:r>
                        <a:rPr sz="1200" b="0">
                          <a:solidFill>
                            <a:srgbClr val="1B2430"/>
                          </a:solidFill>
                          <a:latin typeface="Calibri"/>
                        </a:rPr>
                        <a:t>Faqat yorliq chiqarish, limit</a:t>
                      </a:r>
                    </a:p>
                  </a:txBody>
                  <a:tcPr>
                    <a:solidFill>
                      <a:srgbClr val="FFFFFF"/>
                    </a:solidFill>
                  </a:tcPr>
                </a:tc>
                <a:tc>
                  <a:txBody>
                    <a:bodyPr/>
                    <a:lstStyle/>
                    <a:p>
                      <a:r>
                        <a:rPr sz="1200" b="0">
                          <a:solidFill>
                            <a:srgbClr val="1B2430"/>
                          </a:solidFill>
                          <a:latin typeface="Calibri"/>
                        </a:rPr>
                        <a:t>Model extraction</a:t>
                      </a:r>
                    </a:p>
                  </a:txBody>
                  <a:tcPr>
                    <a:solidFill>
                      <a:srgbClr val="FFFFFF"/>
                    </a:solidFill>
                  </a:tcPr>
                </a:tc>
                <a:tc>
                  <a:txBody>
                    <a:bodyPr/>
                    <a:lstStyle/>
                    <a:p>
                      <a:r>
                        <a:rPr sz="1200" b="0">
                          <a:solidFill>
                            <a:srgbClr val="1B2430"/>
                          </a:solidFill>
                          <a:latin typeface="Calibri"/>
                        </a:rPr>
                        <a:t>Empirik</a:t>
                      </a:r>
                    </a:p>
                  </a:txBody>
                  <a:tcPr>
                    <a:solidFill>
                      <a:srgbClr val="FFFFFF"/>
                    </a:solidFill>
                  </a:tcPr>
                </a:tc>
                <a:tc>
                  <a:txBody>
                    <a:bodyPr/>
                    <a:lstStyle/>
                    <a:p>
                      <a:r>
                        <a:rPr sz="1200" b="0">
                          <a:solidFill>
                            <a:srgbClr val="1B2430"/>
                          </a:solidFill>
                          <a:latin typeface="Calibri"/>
                        </a:rPr>
                        <a:t>Funksionallik qisqaradi</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Maxfiylikni saqlovchi sun'iy intellekt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Maxfiylikni saqlovchi mashinali o'qitish (privacy-preserving machine learning) to'rtta asosiy texnologiyaga tayanadi. Differensial maxfiylik (differential privacy, DP) — matematik ta'rif: tasodifiy algoritm M (ε, δ)-differensial maxfiy deyiladi, agar bitta…</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Federativ o'qitish (federated learning, FL) ma'lumotlarni markazga yig'ish o'rniga modelni ma'lumot joylashgan qurilmaga olib boradi. McMahan va hamkasblarining FedAvg algoritmi (2017) quyidagicha ishlaydi: server global og'irliklarni K ta mijozga yuboradi,…</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Gomomorf shifrlash (homomorphic encryption, HE) shifrlangan ma'lumot ustida to'g'ridan-to'g'ri hisoblash imkonini beradi: Enc(a) ⊕ Enc(b) = Enc(a+b). CKKS sxemasi haqiqiy sonlar bilan taxminiy arifmetikani qo'llab-quvvatlaydi va neyron tarmoq inferensi uchun…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Trusted Computing va Secure AI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Yuqoridagi usullar model va ma'lumot darajasida ishlaydi; Trusted Computing esa savolni platforma darajasiga ko'chiradi: hisoblash bajarilayotgan apparat va dasturiy muhitga qanchalik ishonish mumkin? Asosiy tushunchalar: ishonch ildizi (root of trust) —…</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Ishonchli bajarish muhiti (Trusted Execution Environment, TEE) protsessor ichida xotirasi shifrlangan va hatto operatsion tizim yoki gipervizor ham kira olmaydigan izolyatsiyalangan hudud yaratadi. Intel SGX (Software Guard Extensions) ilova darajasidagi…</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Secure AI tushunchasi butun hayot sikli bo'yicha xavfsizlik amaliyotlarini birlashtiradi va ko'pincha MLSecOps deb ham ataladi. Uning tarkibiy qismlari: ta'minot zanjiri xavfsizligi — model fayllarini pickle o'rniga safetensors kabi kod bajarmaydigan formatda…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04</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Amaliy misol</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9" name="Rounded Rectangle 8"/>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Quyidagi misolda biz to'liq himoya siklini kichik masshtabda qayta tiklaymiz: CIFAR-10'da ResNet-18 ni o'qitamiz, unga FGSM va PGD hujumlarini qo'llaymiz, PGD adversarial o'qitish bilan mustahkamlaymiz, so'ngra Opacus kutubxonasi bilan differensial maxfiy…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Muhit va bazaviy model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biz normalizatsiyani ataylab kirish konveyeridan chiqardik — pikseller [0, 1] oraliqda qoladi, shuning uchun ε = 8/255 cheklovi to'g'ridan-to'g'ri piksel shkalasida ma'noga ega bo'ladi. Agar normalizatsiya zarur bo'lsa, u model ichiga…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Muhit va bazaviy model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400">
                <a:solidFill>
                  <a:srgbClr val="E2E8F0"/>
                </a:solidFill>
                <a:latin typeface="Consolas"/>
              </a:rPr>
              <a:t>python3 -m venv venv &amp;&amp; source venv/bin/activate</a:t>
            </a:r>
          </a:p>
          <a:p>
            <a:r>
              <a:rPr sz="1400">
                <a:solidFill>
                  <a:srgbClr val="E2E8F0"/>
                </a:solidFill>
                <a:latin typeface="Consolas"/>
              </a:rPr>
              <a:t>pip install torch torchvision opacus</a:t>
            </a:r>
          </a:p>
          <a:p>
            <a:r>
              <a:rPr sz="1400">
                <a:solidFill>
                  <a:srgbClr val="E2E8F0"/>
                </a:solidFill>
                <a:latin typeface="Consolas"/>
              </a:rPr>
              <a:t>nvidia-smi --query-gpu=name,memory.total --format=csv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Muhit va bazaviy model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import torch, torch.nn as nn, torch.nn.functional as F</a:t>
            </a:r>
          </a:p>
          <a:p>
            <a:r>
              <a:rPr sz="1000">
                <a:solidFill>
                  <a:srgbClr val="E2E8F0"/>
                </a:solidFill>
                <a:latin typeface="Consolas"/>
              </a:rPr>
              <a:t>import torchvision, torchvision.transforms as T</a:t>
            </a:r>
          </a:p>
          <a:p>
            <a:r>
              <a:rPr sz="1000">
                <a:solidFill>
                  <a:srgbClr val="E2E8F0"/>
                </a:solidFill>
                <a:latin typeface="Consolas"/>
              </a:rPr>
              <a:t>from torchvision.models import resnet18</a:t>
            </a:r>
          </a:p>
          <a:p>
            <a:r>
              <a:rPr sz="1000">
                <a:solidFill>
                  <a:srgbClr val="E2E8F0"/>
                </a:solidFill>
                <a:latin typeface="Consolas"/>
              </a:rPr>
              <a:t> </a:t>
            </a:r>
          </a:p>
          <a:p>
            <a:r>
              <a:rPr sz="1000">
                <a:solidFill>
                  <a:srgbClr val="E2E8F0"/>
                </a:solidFill>
                <a:latin typeface="Consolas"/>
              </a:rPr>
              <a:t>device = "cuda" if torch.cuda.is_available() else "cpu"</a:t>
            </a:r>
          </a:p>
          <a:p>
            <a:r>
              <a:rPr sz="1000">
                <a:solidFill>
                  <a:srgbClr val="E2E8F0"/>
                </a:solidFill>
                <a:latin typeface="Consolas"/>
              </a:rPr>
              <a:t>tf = T.Compose([T.RandomCrop(32, padding=4), T.RandomHorizontalFlip(), T.ToTensor()])</a:t>
            </a:r>
          </a:p>
          <a:p>
            <a:r>
              <a:rPr sz="1000">
                <a:solidFill>
                  <a:srgbClr val="E2E8F0"/>
                </a:solidFill>
                <a:latin typeface="Consolas"/>
              </a:rPr>
              <a:t>train = torchvision.datasets.CIFAR10("data", train=True, download=True, transform=tf)</a:t>
            </a:r>
          </a:p>
          <a:p>
            <a:r>
              <a:rPr sz="1000">
                <a:solidFill>
                  <a:srgbClr val="E2E8F0"/>
                </a:solidFill>
                <a:latin typeface="Consolas"/>
              </a:rPr>
              <a:t>test  = torchvision.datasets.CIFAR10("data", train=False, download=True, transform=T.ToTensor())</a:t>
            </a:r>
          </a:p>
          <a:p>
            <a:r>
              <a:rPr sz="1000">
                <a:solidFill>
                  <a:srgbClr val="E2E8F0"/>
                </a:solidFill>
                <a:latin typeface="Consolas"/>
              </a:rPr>
              <a:t>train_dl = torch.utils.data.DataLoader(train, batch_size=128, shuffle=True, num_workers=4)</a:t>
            </a:r>
          </a:p>
          <a:p>
            <a:r>
              <a:rPr sz="1000">
                <a:solidFill>
                  <a:srgbClr val="E2E8F0"/>
                </a:solidFill>
                <a:latin typeface="Consolas"/>
              </a:rPr>
              <a:t>test_dl  = torch.utils.data.DataLoader(test, batch_size=256)</a:t>
            </a:r>
          </a:p>
          <a:p>
            <a:r>
              <a:rPr sz="1000">
                <a:solidFill>
                  <a:srgbClr val="E2E8F0"/>
                </a:solidFill>
                <a:latin typeface="Consolas"/>
              </a:rPr>
              <a:t> </a:t>
            </a:r>
          </a:p>
          <a:p>
            <a:r>
              <a:rPr sz="1000">
                <a:solidFill>
                  <a:srgbClr val="E2E8F0"/>
                </a:solidFill>
                <a:latin typeface="Consolas"/>
              </a:rPr>
              <a:t>def make_model():</a:t>
            </a:r>
          </a:p>
          <a:p>
            <a:r>
              <a:rPr sz="1000">
                <a:solidFill>
                  <a:srgbClr val="E2E8F0"/>
                </a:solidFill>
                <a:latin typeface="Consolas"/>
              </a:rPr>
              <a:t>    m = resnet18(num_classes=10)</a:t>
            </a:r>
          </a:p>
          <a:p>
            <a:r>
              <a:rPr sz="1000">
                <a:solidFill>
                  <a:srgbClr val="E2E8F0"/>
                </a:solidFill>
                <a:latin typeface="Consolas"/>
              </a:rPr>
              <a:t>    m.conv1 = nn.Conv2d(3, 64, 3, 1, 1, bias=False)   # 32x32 uchun moslash</a:t>
            </a:r>
          </a:p>
          <a:p>
            <a:r>
              <a:rPr sz="1000">
                <a:solidFill>
                  <a:srgbClr val="E2E8F0"/>
                </a:solidFill>
                <a:latin typeface="Consolas"/>
              </a:rPr>
              <a:t>    m.maxpool = nn.Identity()</a:t>
            </a:r>
          </a:p>
          <a:p>
            <a:r>
              <a:rPr sz="1000">
                <a:solidFill>
                  <a:srgbClr val="E2E8F0"/>
                </a:solidFill>
                <a:latin typeface="Consolas"/>
              </a:rPr>
              <a:t>    return m.to(device)</a:t>
            </a:r>
          </a:p>
          <a:p>
            <a:r>
              <a:rPr sz="1000">
                <a:solidFill>
                  <a:srgbClr val="E2E8F0"/>
                </a:solidFill>
                <a:latin typeface="Consolas"/>
              </a:rPr>
              <a:t> </a:t>
            </a:r>
          </a:p>
          <a:p>
            <a:r>
              <a:rPr sz="1000">
                <a:solidFill>
                  <a:srgbClr val="E2E8F0"/>
                </a:solidFill>
                <a:latin typeface="Consolas"/>
              </a:rPr>
              <a:t>def evaluate(model, attack=None, **kw):</a:t>
            </a:r>
          </a:p>
          <a:p>
            <a:r>
              <a:rPr sz="1000">
                <a:solidFill>
                  <a:srgbClr val="E2E8F0"/>
                </a:solidFill>
                <a:latin typeface="Consolas"/>
              </a:rPr>
              <a:t>    model.eval(); correct = n = 0</a:t>
            </a:r>
          </a:p>
          <a:p>
            <a:r>
              <a:rPr sz="1000">
                <a:solidFill>
                  <a:srgbClr val="E2E8F0"/>
                </a:solidFill>
                <a:latin typeface="Consolas"/>
              </a:rPr>
              <a:t>    for x, y in test_dl:</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Toza o'qitish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2000" b="0">
                <a:solidFill>
                  <a:srgbClr val="1B2430"/>
                </a:solidFill>
                <a:latin typeface="Calibri"/>
              </a:rPr>
              <a:t>Nima bo'ldi va nega: 15 epoxada T4 GPU'da taxminan 12–15 daqiqa sarflanib, 92–94 foiz test aniqligi olinadi. Bu bizning «himoyasiz» bazaviy nuqtamiz.</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Toza o'qitish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def train_clean(model, epochs=15):</a:t>
            </a:r>
          </a:p>
          <a:p>
            <a:r>
              <a:rPr sz="1200">
                <a:solidFill>
                  <a:srgbClr val="E2E8F0"/>
                </a:solidFill>
                <a:latin typeface="Consolas"/>
              </a:rPr>
              <a:t>    opt = torch.optim.SGD(model.parameters(), lr=0.1, momentum=0.9, weight_decay=5e-4)</a:t>
            </a:r>
          </a:p>
          <a:p>
            <a:r>
              <a:rPr sz="1200">
                <a:solidFill>
                  <a:srgbClr val="E2E8F0"/>
                </a:solidFill>
                <a:latin typeface="Consolas"/>
              </a:rPr>
              <a:t>    sched = torch.optim.lr_scheduler.OneCycleLR(opt, 0.1, total_steps=epochs*len(train_dl))</a:t>
            </a:r>
          </a:p>
          <a:p>
            <a:r>
              <a:rPr sz="1200">
                <a:solidFill>
                  <a:srgbClr val="E2E8F0"/>
                </a:solidFill>
                <a:latin typeface="Consolas"/>
              </a:rPr>
              <a:t>    for ep in range(epochs):</a:t>
            </a:r>
          </a:p>
          <a:p>
            <a:r>
              <a:rPr sz="1200">
                <a:solidFill>
                  <a:srgbClr val="E2E8F0"/>
                </a:solidFill>
                <a:latin typeface="Consolas"/>
              </a:rPr>
              <a:t>        model.train()</a:t>
            </a:r>
          </a:p>
          <a:p>
            <a:r>
              <a:rPr sz="1200">
                <a:solidFill>
                  <a:srgbClr val="E2E8F0"/>
                </a:solidFill>
                <a:latin typeface="Consolas"/>
              </a:rPr>
              <a:t>        for x, y in train_dl:</a:t>
            </a:r>
          </a:p>
          <a:p>
            <a:r>
              <a:rPr sz="1200">
                <a:solidFill>
                  <a:srgbClr val="E2E8F0"/>
                </a:solidFill>
                <a:latin typeface="Consolas"/>
              </a:rPr>
              <a:t>            x, y = x.to(device), y.to(device)</a:t>
            </a:r>
          </a:p>
          <a:p>
            <a:r>
              <a:rPr sz="1200">
                <a:solidFill>
                  <a:srgbClr val="E2E8F0"/>
                </a:solidFill>
                <a:latin typeface="Consolas"/>
              </a:rPr>
              <a:t>            loss = F.cross_entropy(model(x), y)</a:t>
            </a:r>
          </a:p>
          <a:p>
            <a:r>
              <a:rPr sz="1200">
                <a:solidFill>
                  <a:srgbClr val="E2E8F0"/>
                </a:solidFill>
                <a:latin typeface="Consolas"/>
              </a:rPr>
              <a:t>            opt.zero_grad(); loss.backward(); opt.step(); sched.step()</a:t>
            </a:r>
          </a:p>
          <a:p>
            <a:r>
              <a:rPr sz="1200">
                <a:solidFill>
                  <a:srgbClr val="E2E8F0"/>
                </a:solidFill>
                <a:latin typeface="Consolas"/>
              </a:rPr>
              <a:t>    return model</a:t>
            </a:r>
          </a:p>
          <a:p>
            <a:r>
              <a:rPr sz="1200">
                <a:solidFill>
                  <a:srgbClr val="E2E8F0"/>
                </a:solidFill>
                <a:latin typeface="Consolas"/>
              </a:rPr>
              <a:t> </a:t>
            </a:r>
          </a:p>
          <a:p>
            <a:r>
              <a:rPr sz="1200">
                <a:solidFill>
                  <a:srgbClr val="E2E8F0"/>
                </a:solidFill>
                <a:latin typeface="Consolas"/>
              </a:rPr>
              <a:t>clean_model = train_clean(make_model())</a:t>
            </a:r>
          </a:p>
          <a:p>
            <a:r>
              <a:rPr sz="1200">
                <a:solidFill>
                  <a:srgbClr val="E2E8F0"/>
                </a:solidFill>
                <a:latin typeface="Consolas"/>
              </a:rPr>
              <a:t>print("Toza aniqlik:", evaluate(clean_model))   # ~0.93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FGSM va PGD hujumlarini amalga oshirish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kutilgan natija (taxminiy) — ε = 1/255 da FGSM aniqlikni 93 foizdan 55–60 foizgacha, ε = 8/255 da 10–20 foizgacha tushiradi; PGD-10 esa ε = 8/255 da deyarli 0 foizga olib keladi. E'tibor bering, 8/255 ≈ 0,031 — bu 8-bitli tasvirda har…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FGSM va PGD hujumlarini amalga oshirish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def fgsm(model, x, y, eps=8/255):</a:t>
            </a:r>
          </a:p>
          <a:p>
            <a:r>
              <a:rPr sz="1000">
                <a:solidFill>
                  <a:srgbClr val="E2E8F0"/>
                </a:solidFill>
                <a:latin typeface="Consolas"/>
              </a:rPr>
              <a:t>    x = x.clone().detach().requires_grad_(True)</a:t>
            </a:r>
          </a:p>
          <a:p>
            <a:r>
              <a:rPr sz="1000">
                <a:solidFill>
                  <a:srgbClr val="E2E8F0"/>
                </a:solidFill>
                <a:latin typeface="Consolas"/>
              </a:rPr>
              <a:t>    loss = F.cross_entropy(model(x), y)</a:t>
            </a:r>
          </a:p>
          <a:p>
            <a:r>
              <a:rPr sz="1000">
                <a:solidFill>
                  <a:srgbClr val="E2E8F0"/>
                </a:solidFill>
                <a:latin typeface="Consolas"/>
              </a:rPr>
              <a:t>    grad, = torch.autograd.grad(loss, x)</a:t>
            </a:r>
          </a:p>
          <a:p>
            <a:r>
              <a:rPr sz="1000">
                <a:solidFill>
                  <a:srgbClr val="E2E8F0"/>
                </a:solidFill>
                <a:latin typeface="Consolas"/>
              </a:rPr>
              <a:t>    return (x + eps * grad.sign()).clamp(0, 1).detach()</a:t>
            </a:r>
          </a:p>
          <a:p>
            <a:r>
              <a:rPr sz="1000">
                <a:solidFill>
                  <a:srgbClr val="E2E8F0"/>
                </a:solidFill>
                <a:latin typeface="Consolas"/>
              </a:rPr>
              <a:t> </a:t>
            </a:r>
          </a:p>
          <a:p>
            <a:r>
              <a:rPr sz="1000">
                <a:solidFill>
                  <a:srgbClr val="E2E8F0"/>
                </a:solidFill>
                <a:latin typeface="Consolas"/>
              </a:rPr>
              <a:t>def pgd(model, x, y, eps=8/255, alpha=2/255, steps=10, random_start=True):</a:t>
            </a:r>
          </a:p>
          <a:p>
            <a:r>
              <a:rPr sz="1000">
                <a:solidFill>
                  <a:srgbClr val="E2E8F0"/>
                </a:solidFill>
                <a:latin typeface="Consolas"/>
              </a:rPr>
              <a:t>    x0 = x.clone().detach()</a:t>
            </a:r>
          </a:p>
          <a:p>
            <a:r>
              <a:rPr sz="1000">
                <a:solidFill>
                  <a:srgbClr val="E2E8F0"/>
                </a:solidFill>
                <a:latin typeface="Consolas"/>
              </a:rPr>
              <a:t>    delta = torch.empty_like(x0).uniform_(-eps, eps) if random_start else torch.zeros_like(x0)</a:t>
            </a:r>
          </a:p>
          <a:p>
            <a:r>
              <a:rPr sz="1000">
                <a:solidFill>
                  <a:srgbClr val="E2E8F0"/>
                </a:solidFill>
                <a:latin typeface="Consolas"/>
              </a:rPr>
              <a:t>    for _ in range(steps):</a:t>
            </a:r>
          </a:p>
          <a:p>
            <a:r>
              <a:rPr sz="1000">
                <a:solidFill>
                  <a:srgbClr val="E2E8F0"/>
                </a:solidFill>
                <a:latin typeface="Consolas"/>
              </a:rPr>
              <a:t>        delta.requires_grad_(True)</a:t>
            </a:r>
          </a:p>
          <a:p>
            <a:r>
              <a:rPr sz="1000">
                <a:solidFill>
                  <a:srgbClr val="E2E8F0"/>
                </a:solidFill>
                <a:latin typeface="Consolas"/>
              </a:rPr>
              <a:t>        loss = F.cross_entropy(model((x0 + delta).clamp(0, 1)), y)</a:t>
            </a:r>
          </a:p>
          <a:p>
            <a:r>
              <a:rPr sz="1000">
                <a:solidFill>
                  <a:srgbClr val="E2E8F0"/>
                </a:solidFill>
                <a:latin typeface="Consolas"/>
              </a:rPr>
              <a:t>        grad, = torch.autograd.grad(loss, delta)</a:t>
            </a:r>
          </a:p>
          <a:p>
            <a:r>
              <a:rPr sz="1000">
                <a:solidFill>
                  <a:srgbClr val="E2E8F0"/>
                </a:solidFill>
                <a:latin typeface="Consolas"/>
              </a:rPr>
              <a:t>        delta = (delta.detach() + alpha * grad.sign()).clamp(-eps, eps)   # eps-sharga proyeksiya</a:t>
            </a:r>
          </a:p>
          <a:p>
            <a:r>
              <a:rPr sz="1000">
                <a:solidFill>
                  <a:srgbClr val="E2E8F0"/>
                </a:solidFill>
                <a:latin typeface="Consolas"/>
              </a:rPr>
              <a:t>    return (x0 + delta).clamp(0, 1).detach()</a:t>
            </a:r>
          </a:p>
          <a:p>
            <a:r>
              <a:rPr sz="1000">
                <a:solidFill>
                  <a:srgbClr val="E2E8F0"/>
                </a:solidFill>
                <a:latin typeface="Consolas"/>
              </a:rPr>
              <a:t> </a:t>
            </a:r>
          </a:p>
          <a:p>
            <a:r>
              <a:rPr sz="1000">
                <a:solidFill>
                  <a:srgbClr val="E2E8F0"/>
                </a:solidFill>
                <a:latin typeface="Consolas"/>
              </a:rPr>
              <a:t>for eps in [1/255, 2/255, 4/255, 8/255]:</a:t>
            </a:r>
          </a:p>
          <a:p>
            <a:r>
              <a:rPr sz="1000">
                <a:solidFill>
                  <a:srgbClr val="E2E8F0"/>
                </a:solidFill>
                <a:latin typeface="Consolas"/>
              </a:rPr>
              <a:t>    print(f"eps={eps*255:.0f}/255  FGSM: {evaluate(clean_model, fgsm, eps=eps):.3f}"</a:t>
            </a:r>
          </a:p>
          <a:p>
            <a:r>
              <a:rPr sz="1000">
                <a:solidFill>
                  <a:srgbClr val="E2E8F0"/>
                </a:solidFill>
                <a:latin typeface="Consolas"/>
              </a:rPr>
              <a:t>          f"  PGD-10: {evaluate(clean_model, pgd, eps=eps):.3f}")</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PGD adversarial o'qitish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800" b="0">
                <a:solidFill>
                  <a:srgbClr val="1B2430"/>
                </a:solidFill>
                <a:latin typeface="Calibri"/>
              </a:rPr>
              <a:t>Nima bo'ldi va nega: o'qitish vaqti 7 qadamli PGD tufayli taxminan 8 marta oshadi (T4'da 1,5–2 soat). Natija (taxminiy): toza aniqlik 82–85 foiz, PGD-20 ostida 45–50 foiz.</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PGD adversarial o'qitish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def train_adversarial(model, epochs=15, eps=8/255):</a:t>
            </a:r>
          </a:p>
          <a:p>
            <a:r>
              <a:rPr sz="1200">
                <a:solidFill>
                  <a:srgbClr val="E2E8F0"/>
                </a:solidFill>
                <a:latin typeface="Consolas"/>
              </a:rPr>
              <a:t>    opt = torch.optim.SGD(model.parameters(), lr=0.1, momentum=0.9, weight_decay=5e-4)</a:t>
            </a:r>
          </a:p>
          <a:p>
            <a:r>
              <a:rPr sz="1200">
                <a:solidFill>
                  <a:srgbClr val="E2E8F0"/>
                </a:solidFill>
                <a:latin typeface="Consolas"/>
              </a:rPr>
              <a:t>    sched = torch.optim.lr_scheduler.OneCycleLR(opt, 0.1, total_steps=epochs*len(train_dl))</a:t>
            </a:r>
          </a:p>
          <a:p>
            <a:r>
              <a:rPr sz="1200">
                <a:solidFill>
                  <a:srgbClr val="E2E8F0"/>
                </a:solidFill>
                <a:latin typeface="Consolas"/>
              </a:rPr>
              <a:t>    for ep in range(epochs):</a:t>
            </a:r>
          </a:p>
          <a:p>
            <a:r>
              <a:rPr sz="1200">
                <a:solidFill>
                  <a:srgbClr val="E2E8F0"/>
                </a:solidFill>
                <a:latin typeface="Consolas"/>
              </a:rPr>
              <a:t>        model.train()</a:t>
            </a:r>
          </a:p>
          <a:p>
            <a:r>
              <a:rPr sz="1200">
                <a:solidFill>
                  <a:srgbClr val="E2E8F0"/>
                </a:solidFill>
                <a:latin typeface="Consolas"/>
              </a:rPr>
              <a:t>        for x, y in train_dl:</a:t>
            </a:r>
          </a:p>
          <a:p>
            <a:r>
              <a:rPr sz="1200">
                <a:solidFill>
                  <a:srgbClr val="E2E8F0"/>
                </a:solidFill>
                <a:latin typeface="Consolas"/>
              </a:rPr>
              <a:t>            x, y = x.to(device), y.to(device)</a:t>
            </a:r>
          </a:p>
          <a:p>
            <a:r>
              <a:rPr sz="1200">
                <a:solidFill>
                  <a:srgbClr val="E2E8F0"/>
                </a:solidFill>
                <a:latin typeface="Consolas"/>
              </a:rPr>
              <a:t>            x_adv = pgd(model, x, y, eps=eps, steps=7)   # ichki maksimum</a:t>
            </a:r>
          </a:p>
          <a:p>
            <a:r>
              <a:rPr sz="1200">
                <a:solidFill>
                  <a:srgbClr val="E2E8F0"/>
                </a:solidFill>
                <a:latin typeface="Consolas"/>
              </a:rPr>
              <a:t>            loss = F.cross_entropy(model(x_adv), y)      # tashqi minimum</a:t>
            </a:r>
          </a:p>
          <a:p>
            <a:r>
              <a:rPr sz="1200">
                <a:solidFill>
                  <a:srgbClr val="E2E8F0"/>
                </a:solidFill>
                <a:latin typeface="Consolas"/>
              </a:rPr>
              <a:t>            opt.zero_grad(); loss.backward(); opt.step(); sched.step()</a:t>
            </a:r>
          </a:p>
          <a:p>
            <a:r>
              <a:rPr sz="1200">
                <a:solidFill>
                  <a:srgbClr val="E2E8F0"/>
                </a:solidFill>
                <a:latin typeface="Consolas"/>
              </a:rPr>
              <a:t>    return model</a:t>
            </a:r>
          </a:p>
          <a:p>
            <a:r>
              <a:rPr sz="1200">
                <a:solidFill>
                  <a:srgbClr val="E2E8F0"/>
                </a:solidFill>
                <a:latin typeface="Consolas"/>
              </a:rPr>
              <a:t> </a:t>
            </a:r>
          </a:p>
          <a:p>
            <a:r>
              <a:rPr sz="1200">
                <a:solidFill>
                  <a:srgbClr val="E2E8F0"/>
                </a:solidFill>
                <a:latin typeface="Consolas"/>
              </a:rPr>
              <a:t>robust_model = train_adversarial(make_model())</a:t>
            </a:r>
          </a:p>
          <a:p>
            <a:r>
              <a:rPr sz="1200">
                <a:solidFill>
                  <a:srgbClr val="E2E8F0"/>
                </a:solidFill>
                <a:latin typeface="Consolas"/>
              </a:rPr>
              <a:t>print("Toza:", evaluate(robust_model), " PGD-20:", evaluate(robust_model, pgd, steps=20))</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Differensial maxfiy o'qitish (Opacus)</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ModuleValidator.fix BatchNorm qatlamlarini GroupNorm bilan almashtiradi, chunki BatchNorm partiya ichidagi namunalarni bog'laydi va har bir namuna gradientini alohida qirqishga imkon bermaydi. max_grad_norm=1.0 — qirqish chegarasi C,…</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Differensial maxfiy o'qitish (Opacus)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from opacus import PrivacyEngine</a:t>
            </a:r>
          </a:p>
          <a:p>
            <a:r>
              <a:rPr sz="1200">
                <a:solidFill>
                  <a:srgbClr val="E2E8F0"/>
                </a:solidFill>
                <a:latin typeface="Consolas"/>
              </a:rPr>
              <a:t>from opacus.validators import ModuleValidator</a:t>
            </a:r>
          </a:p>
          <a:p>
            <a:r>
              <a:rPr sz="1200">
                <a:solidFill>
                  <a:srgbClr val="E2E8F0"/>
                </a:solidFill>
                <a:latin typeface="Consolas"/>
              </a:rPr>
              <a:t> </a:t>
            </a:r>
          </a:p>
          <a:p>
            <a:r>
              <a:rPr sz="1200">
                <a:solidFill>
                  <a:srgbClr val="E2E8F0"/>
                </a:solidFill>
                <a:latin typeface="Consolas"/>
              </a:rPr>
              <a:t>dp_model = ModuleValidator.fix(make_model())      # BatchNorm -&gt; GroupNorm (DP talabi)</a:t>
            </a:r>
          </a:p>
          <a:p>
            <a:r>
              <a:rPr sz="1200">
                <a:solidFill>
                  <a:srgbClr val="E2E8F0"/>
                </a:solidFill>
                <a:latin typeface="Consolas"/>
              </a:rPr>
              <a:t>opt = torch.optim.SGD(dp_model.parameters(), lr=0.05, momentum=0.9)</a:t>
            </a:r>
          </a:p>
          <a:p>
            <a:r>
              <a:rPr sz="1200">
                <a:solidFill>
                  <a:srgbClr val="E2E8F0"/>
                </a:solidFill>
                <a:latin typeface="Consolas"/>
              </a:rPr>
              <a:t>engine = PrivacyEngine()</a:t>
            </a:r>
          </a:p>
          <a:p>
            <a:r>
              <a:rPr sz="1200">
                <a:solidFill>
                  <a:srgbClr val="E2E8F0"/>
                </a:solidFill>
                <a:latin typeface="Consolas"/>
              </a:rPr>
              <a:t>dp_model, opt, dp_dl = engine.make_private_with_epsilon(</a:t>
            </a:r>
          </a:p>
          <a:p>
            <a:r>
              <a:rPr sz="1200">
                <a:solidFill>
                  <a:srgbClr val="E2E8F0"/>
                </a:solidFill>
                <a:latin typeface="Consolas"/>
              </a:rPr>
              <a:t>    module=dp_model, optimizer=opt, data_loader=train_dl,</a:t>
            </a:r>
          </a:p>
          <a:p>
            <a:r>
              <a:rPr sz="1200">
                <a:solidFill>
                  <a:srgbClr val="E2E8F0"/>
                </a:solidFill>
                <a:latin typeface="Consolas"/>
              </a:rPr>
              <a:t>    target_epsilon=8.0, target_delta=1e-5, epochs=20, max_grad_norm=1.0)</a:t>
            </a:r>
          </a:p>
          <a:p>
            <a:r>
              <a:rPr sz="1200">
                <a:solidFill>
                  <a:srgbClr val="E2E8F0"/>
                </a:solidFill>
                <a:latin typeface="Consolas"/>
              </a:rPr>
              <a:t> </a:t>
            </a:r>
          </a:p>
          <a:p>
            <a:r>
              <a:rPr sz="1200">
                <a:solidFill>
                  <a:srgbClr val="E2E8F0"/>
                </a:solidFill>
                <a:latin typeface="Consolas"/>
              </a:rPr>
              <a:t>for ep in range(20):</a:t>
            </a:r>
          </a:p>
          <a:p>
            <a:r>
              <a:rPr sz="1200">
                <a:solidFill>
                  <a:srgbClr val="E2E8F0"/>
                </a:solidFill>
                <a:latin typeface="Consolas"/>
              </a:rPr>
              <a:t>    dp_model.train()</a:t>
            </a:r>
          </a:p>
          <a:p>
            <a:r>
              <a:rPr sz="1200">
                <a:solidFill>
                  <a:srgbClr val="E2E8F0"/>
                </a:solidFill>
                <a:latin typeface="Consolas"/>
              </a:rPr>
              <a:t>    for x, y in dp_dl:</a:t>
            </a:r>
          </a:p>
          <a:p>
            <a:r>
              <a:rPr sz="1200">
                <a:solidFill>
                  <a:srgbClr val="E2E8F0"/>
                </a:solidFill>
                <a:latin typeface="Consolas"/>
              </a:rPr>
              <a:t>        x, y = x.to(device), y.to(device)</a:t>
            </a:r>
          </a:p>
          <a:p>
            <a:r>
              <a:rPr sz="1200">
                <a:solidFill>
                  <a:srgbClr val="E2E8F0"/>
                </a:solidFill>
                <a:latin typeface="Consolas"/>
              </a:rPr>
              <a:t>        loss = F.cross_entropy(dp_model(x), y)</a:t>
            </a:r>
          </a:p>
          <a:p>
            <a:r>
              <a:rPr sz="1200">
                <a:solidFill>
                  <a:srgbClr val="E2E8F0"/>
                </a:solidFill>
                <a:latin typeface="Consolas"/>
              </a:rPr>
              <a:t>        opt.zero_grad(); loss.backward(); opt.step()</a:t>
            </a:r>
          </a:p>
          <a:p>
            <a:r>
              <a:rPr sz="1200">
                <a:solidFill>
                  <a:srgbClr val="E2E8F0"/>
                </a:solidFill>
                <a:latin typeface="Consolas"/>
              </a:rPr>
              <a:t>    print(ep, "eps sarflandi:", round(engine.get_epsilon(1e-5), 2),</a:t>
            </a:r>
          </a:p>
          <a:p>
            <a:r>
              <a:rPr sz="1200">
                <a:solidFill>
                  <a:srgbClr val="E2E8F0"/>
                </a:solidFill>
                <a:latin typeface="Consolas"/>
              </a:rPr>
              <a:t>          "aniqlik:", round(evaluate(dp_model), 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Federativ o'qitishning FedAvg simulyatsiyasi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biz 10 mijozni har biriga faqat 2 ta sinfdan namuna tegadigan qilib («non-IID») bo'ldik — bu real sharoitga yaqin: bitta shifoxonada bir xil kasallik ko'proq uchraydi. Har raundda server 5 mijozni tanlaydi, ular lokal bir epoxa o'qitadi,…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Federativ o'qitishning FedAvg simulyatsiyasi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import copy, random</a:t>
            </a:r>
          </a:p>
          <a:p>
            <a:r>
              <a:rPr sz="1000">
                <a:solidFill>
                  <a:srgbClr val="E2E8F0"/>
                </a:solidFill>
                <a:latin typeface="Consolas"/>
              </a:rPr>
              <a:t>def split_non_iid(dataset, k=10, shards_per_client=2):</a:t>
            </a:r>
          </a:p>
          <a:p>
            <a:r>
              <a:rPr sz="1000">
                <a:solidFill>
                  <a:srgbClr val="E2E8F0"/>
                </a:solidFill>
                <a:latin typeface="Consolas"/>
              </a:rPr>
              <a:t>    idx = sorted(range(len(dataset)), key=lambda i: dataset.targets[i])</a:t>
            </a:r>
          </a:p>
          <a:p>
            <a:r>
              <a:rPr sz="1000">
                <a:solidFill>
                  <a:srgbClr val="E2E8F0"/>
                </a:solidFill>
                <a:latin typeface="Consolas"/>
              </a:rPr>
              <a:t>    shards = [idx[i::k*shards_per_client] for i in range(k*shards_per_client)]</a:t>
            </a:r>
          </a:p>
          <a:p>
            <a:r>
              <a:rPr sz="1000">
                <a:solidFill>
                  <a:srgbClr val="E2E8F0"/>
                </a:solidFill>
                <a:latin typeface="Consolas"/>
              </a:rPr>
              <a:t>    random.shuffle(shards)</a:t>
            </a:r>
          </a:p>
          <a:p>
            <a:r>
              <a:rPr sz="1000">
                <a:solidFill>
                  <a:srgbClr val="E2E8F0"/>
                </a:solidFill>
                <a:latin typeface="Consolas"/>
              </a:rPr>
              <a:t>    return [sum(shards[i*shards_per_client:(i+1)*shards_per_client], []) for i in range(k)]</a:t>
            </a:r>
          </a:p>
          <a:p>
            <a:r>
              <a:rPr sz="1000">
                <a:solidFill>
                  <a:srgbClr val="E2E8F0"/>
                </a:solidFill>
                <a:latin typeface="Consolas"/>
              </a:rPr>
              <a:t> </a:t>
            </a:r>
          </a:p>
          <a:p>
            <a:r>
              <a:rPr sz="1000">
                <a:solidFill>
                  <a:srgbClr val="E2E8F0"/>
                </a:solidFill>
                <a:latin typeface="Consolas"/>
              </a:rPr>
              <a:t>clients = split_non_iid(train, k=10)</a:t>
            </a:r>
          </a:p>
          <a:p>
            <a:r>
              <a:rPr sz="1000">
                <a:solidFill>
                  <a:srgbClr val="E2E8F0"/>
                </a:solidFill>
                <a:latin typeface="Consolas"/>
              </a:rPr>
              <a:t>global_model = make_model()</a:t>
            </a:r>
          </a:p>
          <a:p>
            <a:r>
              <a:rPr sz="1000">
                <a:solidFill>
                  <a:srgbClr val="E2E8F0"/>
                </a:solidFill>
                <a:latin typeface="Consolas"/>
              </a:rPr>
              <a:t> </a:t>
            </a:r>
          </a:p>
          <a:p>
            <a:r>
              <a:rPr sz="1000">
                <a:solidFill>
                  <a:srgbClr val="E2E8F0"/>
                </a:solidFill>
                <a:latin typeface="Consolas"/>
              </a:rPr>
              <a:t>def local_train(model, indices, epochs=1):</a:t>
            </a:r>
          </a:p>
          <a:p>
            <a:r>
              <a:rPr sz="1000">
                <a:solidFill>
                  <a:srgbClr val="E2E8F0"/>
                </a:solidFill>
                <a:latin typeface="Consolas"/>
              </a:rPr>
              <a:t>    dl = torch.utils.data.DataLoader(torch.utils.data.Subset(train, indices), batch_size=64, shuffle=True)</a:t>
            </a:r>
          </a:p>
          <a:p>
            <a:r>
              <a:rPr sz="1000">
                <a:solidFill>
                  <a:srgbClr val="E2E8F0"/>
                </a:solidFill>
                <a:latin typeface="Consolas"/>
              </a:rPr>
              <a:t>    opt = torch.optim.SGD(model.parameters(), lr=0.05, momentum=0.9)</a:t>
            </a:r>
          </a:p>
          <a:p>
            <a:r>
              <a:rPr sz="1000">
                <a:solidFill>
                  <a:srgbClr val="E2E8F0"/>
                </a:solidFill>
                <a:latin typeface="Consolas"/>
              </a:rPr>
              <a:t>    model.train()</a:t>
            </a:r>
          </a:p>
          <a:p>
            <a:r>
              <a:rPr sz="1000">
                <a:solidFill>
                  <a:srgbClr val="E2E8F0"/>
                </a:solidFill>
                <a:latin typeface="Consolas"/>
              </a:rPr>
              <a:t>    for _ in range(epochs):</a:t>
            </a:r>
          </a:p>
          <a:p>
            <a:r>
              <a:rPr sz="1000">
                <a:solidFill>
                  <a:srgbClr val="E2E8F0"/>
                </a:solidFill>
                <a:latin typeface="Consolas"/>
              </a:rPr>
              <a:t>        for x, y in dl:</a:t>
            </a:r>
          </a:p>
          <a:p>
            <a:r>
              <a:rPr sz="1000">
                <a:solidFill>
                  <a:srgbClr val="E2E8F0"/>
                </a:solidFill>
                <a:latin typeface="Consolas"/>
              </a:rPr>
              <a:t>            x, y = x.to(device), y.to(device)</a:t>
            </a:r>
          </a:p>
          <a:p>
            <a:r>
              <a:rPr sz="1000">
                <a:solidFill>
                  <a:srgbClr val="E2E8F0"/>
                </a:solidFill>
                <a:latin typeface="Consolas"/>
              </a:rPr>
              <a:t>            loss = F.cross_entropy(model(x), y)</a:t>
            </a:r>
          </a:p>
          <a:p>
            <a:r>
              <a:rPr sz="1000">
                <a:solidFill>
                  <a:srgbClr val="E2E8F0"/>
                </a:solidFill>
                <a:latin typeface="Consolas"/>
              </a:rPr>
              <a:t>            opt.zero_grad(); loss.backward(); opt.step()</a:t>
            </a:r>
          </a:p>
          <a:p>
            <a:r>
              <a:rPr sz="1000">
                <a:solidFill>
                  <a:srgbClr val="E2E8F0"/>
                </a:solidFill>
                <a:latin typeface="Consolas"/>
              </a:rPr>
              <a:t>    return model.state_dict(), len(indices)</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7-qadam. Model faylini xavfsiz saqlash va yaxlitlikni tekshirish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torch.save standart holatda pickle ishlatadi va yuklashda ixtiyoriy kodni bajarishi mumkin — bu ta'minot zanjiri hujumining eng oddiy yo'li. safetensors faqat tensor ma'lumotlarini saqlaydi; xesh qiymati esa model registrida imzolanib,…</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7-qadam. Model faylini xavfsiz saqlash va yaxlitlikni tekshirish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from safetensors.torch import save_file, load_file</a:t>
            </a:r>
          </a:p>
          <a:p>
            <a:r>
              <a:rPr sz="1200">
                <a:solidFill>
                  <a:srgbClr val="E2E8F0"/>
                </a:solidFill>
                <a:latin typeface="Consolas"/>
              </a:rPr>
              <a:t>import hashlib</a:t>
            </a:r>
          </a:p>
          <a:p>
            <a:r>
              <a:rPr sz="1200">
                <a:solidFill>
                  <a:srgbClr val="E2E8F0"/>
                </a:solidFill>
                <a:latin typeface="Consolas"/>
              </a:rPr>
              <a:t>save_file(robust_model.state_dict(), "robust_resnet18.safetensors")</a:t>
            </a:r>
          </a:p>
          <a:p>
            <a:r>
              <a:rPr sz="1200">
                <a:solidFill>
                  <a:srgbClr val="E2E8F0"/>
                </a:solidFill>
                <a:latin typeface="Consolas"/>
              </a:rPr>
              <a:t>digest = hashlib.sha256(open("robust_resnet18.safetensors", "rb").read()).hexdigest()</a:t>
            </a:r>
          </a:p>
          <a:p>
            <a:r>
              <a:rPr sz="1200">
                <a:solidFill>
                  <a:srgbClr val="E2E8F0"/>
                </a:solidFill>
                <a:latin typeface="Consolas"/>
              </a:rPr>
              <a:t>print("SHA-256:", digest)   # registr/manifestga yoziladi, deploy oldidan solishtiriladi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05</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Natijalarni tahlil qilish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600" b="0">
                <a:solidFill>
                  <a:srgbClr val="1B2430"/>
                </a:solidFill>
                <a:latin typeface="Calibri"/>
              </a:rPr>
              <a:t>Olingan natijalarni bir jadvalga jamlaymiz (barcha raqamlar taxminiy, T4 GPU, 15–20 epoxa):</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600" b="0">
                <a:solidFill>
                  <a:srgbClr val="1B2430"/>
                </a:solidFill>
                <a:latin typeface="Calibri"/>
              </a:rPr>
              <a:t>Birinchi xulosa: himoyasiz model juda zaif — inson sezmaydigan buzilish uni butunlay ishdan chiqaradi.</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600" b="0">
                <a:solidFill>
                  <a:srgbClr val="1B2430"/>
                </a:solidFill>
                <a:latin typeface="Calibri"/>
              </a:rPr>
              <a:t>DP natijalari «maxfiylik–foydalilik» (privacy–utility) murosasini ko'rsatadi.</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600" b="0">
                <a:solidFill>
                  <a:srgbClr val="1B2430"/>
                </a:solidFill>
                <a:latin typeface="Calibri"/>
              </a:rPr>
              <a:t>Cheklovlar: biz faqat L∞ evasion hujumlarini ko'rdik; zaharlash, model ekstraksiyasi va prompt injection alohida sinovlarni talab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graphicFrame>
        <p:nvGraphicFramePr>
          <p:cNvPr id="9" name="Table 8"/>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Model</a:t>
                      </a:r>
                    </a:p>
                  </a:txBody>
                  <a:tcPr>
                    <a:solidFill>
                      <a:srgbClr val="2D5C8F"/>
                    </a:solidFill>
                  </a:tcPr>
                </a:tc>
                <a:tc>
                  <a:txBody>
                    <a:bodyPr/>
                    <a:lstStyle/>
                    <a:p>
                      <a:r>
                        <a:rPr sz="1400" b="1">
                          <a:solidFill>
                            <a:srgbClr val="FFFFFF"/>
                          </a:solidFill>
                          <a:latin typeface="Calibri"/>
                        </a:rPr>
                        <a:t>Toza aniqlik</a:t>
                      </a:r>
                    </a:p>
                  </a:txBody>
                  <a:tcPr>
                    <a:solidFill>
                      <a:srgbClr val="2D5C8F"/>
                    </a:solidFill>
                  </a:tcPr>
                </a:tc>
                <a:tc>
                  <a:txBody>
                    <a:bodyPr/>
                    <a:lstStyle/>
                    <a:p>
                      <a:r>
                        <a:rPr sz="1400" b="1">
                          <a:solidFill>
                            <a:srgbClr val="FFFFFF"/>
                          </a:solidFill>
                          <a:latin typeface="Calibri"/>
                        </a:rPr>
                        <a:t>PGD-20 (8/255)</a:t>
                      </a:r>
                    </a:p>
                  </a:txBody>
                  <a:tcPr>
                    <a:solidFill>
                      <a:srgbClr val="2D5C8F"/>
                    </a:solidFill>
                  </a:tcPr>
                </a:tc>
                <a:tc>
                  <a:txBody>
                    <a:bodyPr/>
                    <a:lstStyle/>
                    <a:p>
                      <a:r>
                        <a:rPr sz="1400" b="1">
                          <a:solidFill>
                            <a:srgbClr val="FFFFFF"/>
                          </a:solidFill>
                          <a:latin typeface="Calibri"/>
                        </a:rPr>
                        <a:t>O'qitish vaqti</a:t>
                      </a:r>
                    </a:p>
                  </a:txBody>
                  <a:tcPr>
                    <a:solidFill>
                      <a:srgbClr val="2D5C8F"/>
                    </a:solidFill>
                  </a:tcPr>
                </a:tc>
                <a:tc>
                  <a:txBody>
                    <a:bodyPr/>
                    <a:lstStyle/>
                    <a:p>
                      <a:r>
                        <a:rPr sz="1400" b="1">
                          <a:solidFill>
                            <a:srgbClr val="FFFFFF"/>
                          </a:solidFill>
                          <a:latin typeface="Calibri"/>
                        </a:rPr>
                        <a:t>Maxfiylik kafolati</a:t>
                      </a:r>
                    </a:p>
                  </a:txBody>
                  <a:tcPr>
                    <a:solidFill>
                      <a:srgbClr val="2D5C8F"/>
                    </a:solidFill>
                  </a:tcPr>
                </a:tc>
              </a:tr>
              <a:tr h="520000">
                <a:tc>
                  <a:txBody>
                    <a:bodyPr/>
                    <a:lstStyle/>
                    <a:p>
                      <a:r>
                        <a:rPr sz="1400" b="0">
                          <a:solidFill>
                            <a:srgbClr val="1B2430"/>
                          </a:solidFill>
                          <a:latin typeface="Calibri"/>
                        </a:rPr>
                        <a:t>Toza ResNet-18</a:t>
                      </a:r>
                    </a:p>
                  </a:txBody>
                  <a:tcPr>
                    <a:solidFill>
                      <a:srgbClr val="F1F4F8"/>
                    </a:solidFill>
                  </a:tcPr>
                </a:tc>
                <a:tc>
                  <a:txBody>
                    <a:bodyPr/>
                    <a:lstStyle/>
                    <a:p>
                      <a:r>
                        <a:rPr sz="1400" b="0">
                          <a:solidFill>
                            <a:srgbClr val="1B2430"/>
                          </a:solidFill>
                          <a:latin typeface="Calibri"/>
                        </a:rPr>
                        <a:t>~93 %</a:t>
                      </a:r>
                    </a:p>
                  </a:txBody>
                  <a:tcPr>
                    <a:solidFill>
                      <a:srgbClr val="F1F4F8"/>
                    </a:solidFill>
                  </a:tcPr>
                </a:tc>
                <a:tc>
                  <a:txBody>
                    <a:bodyPr/>
                    <a:lstStyle/>
                    <a:p>
                      <a:r>
                        <a:rPr sz="1400" b="0">
                          <a:solidFill>
                            <a:srgbClr val="1B2430"/>
                          </a:solidFill>
                          <a:latin typeface="Calibri"/>
                        </a:rPr>
                        <a:t>~0 %</a:t>
                      </a:r>
                    </a:p>
                  </a:txBody>
                  <a:tcPr>
                    <a:solidFill>
                      <a:srgbClr val="F1F4F8"/>
                    </a:solidFill>
                  </a:tcPr>
                </a:tc>
                <a:tc>
                  <a:txBody>
                    <a:bodyPr/>
                    <a:lstStyle/>
                    <a:p>
                      <a:r>
                        <a:rPr sz="1400" b="0">
                          <a:solidFill>
                            <a:srgbClr val="1B2430"/>
                          </a:solidFill>
                          <a:latin typeface="Calibri"/>
                        </a:rPr>
                        <a:t>1× (≈13 daq)</a:t>
                      </a:r>
                    </a:p>
                  </a:txBody>
                  <a:tcPr>
                    <a:solidFill>
                      <a:srgbClr val="F1F4F8"/>
                    </a:solidFill>
                  </a:tcPr>
                </a:tc>
                <a:tc>
                  <a:txBody>
                    <a:bodyPr/>
                    <a:lstStyle/>
                    <a:p>
                      <a:r>
                        <a:rPr sz="1400" b="0">
                          <a:solidFill>
                            <a:srgbClr val="1B2430"/>
                          </a:solidFill>
                          <a:latin typeface="Calibri"/>
                        </a:rPr>
                        <a:t>Yo'q</a:t>
                      </a:r>
                    </a:p>
                  </a:txBody>
                  <a:tcPr>
                    <a:solidFill>
                      <a:srgbClr val="F1F4F8"/>
                    </a:solidFill>
                  </a:tcPr>
                </a:tc>
              </a:tr>
              <a:tr h="520000">
                <a:tc>
                  <a:txBody>
                    <a:bodyPr/>
                    <a:lstStyle/>
                    <a:p>
                      <a:r>
                        <a:rPr sz="1400" b="0">
                          <a:solidFill>
                            <a:srgbClr val="1B2430"/>
                          </a:solidFill>
                          <a:latin typeface="Calibri"/>
                        </a:rPr>
                        <a:t>PGD adversarial training</a:t>
                      </a:r>
                    </a:p>
                  </a:txBody>
                  <a:tcPr>
                    <a:solidFill>
                      <a:srgbClr val="FFFFFF"/>
                    </a:solidFill>
                  </a:tcPr>
                </a:tc>
                <a:tc>
                  <a:txBody>
                    <a:bodyPr/>
                    <a:lstStyle/>
                    <a:p>
                      <a:r>
                        <a:rPr sz="1400" b="0">
                          <a:solidFill>
                            <a:srgbClr val="1B2430"/>
                          </a:solidFill>
                          <a:latin typeface="Calibri"/>
                        </a:rPr>
                        <a:t>~84 %</a:t>
                      </a:r>
                    </a:p>
                  </a:txBody>
                  <a:tcPr>
                    <a:solidFill>
                      <a:srgbClr val="FFFFFF"/>
                    </a:solidFill>
                  </a:tcPr>
                </a:tc>
                <a:tc>
                  <a:txBody>
                    <a:bodyPr/>
                    <a:lstStyle/>
                    <a:p>
                      <a:r>
                        <a:rPr sz="1400" b="0">
                          <a:solidFill>
                            <a:srgbClr val="1B2430"/>
                          </a:solidFill>
                          <a:latin typeface="Calibri"/>
                        </a:rPr>
                        <a:t>~47 %</a:t>
                      </a:r>
                    </a:p>
                  </a:txBody>
                  <a:tcPr>
                    <a:solidFill>
                      <a:srgbClr val="FFFFFF"/>
                    </a:solidFill>
                  </a:tcPr>
                </a:tc>
                <a:tc>
                  <a:txBody>
                    <a:bodyPr/>
                    <a:lstStyle/>
                    <a:p>
                      <a:r>
                        <a:rPr sz="1400" b="0">
                          <a:solidFill>
                            <a:srgbClr val="1B2430"/>
                          </a:solidFill>
                          <a:latin typeface="Calibri"/>
                        </a:rPr>
                        <a:t>≈8×</a:t>
                      </a:r>
                    </a:p>
                  </a:txBody>
                  <a:tcPr>
                    <a:solidFill>
                      <a:srgbClr val="FFFFFF"/>
                    </a:solidFill>
                  </a:tcPr>
                </a:tc>
                <a:tc>
                  <a:txBody>
                    <a:bodyPr/>
                    <a:lstStyle/>
                    <a:p>
                      <a:r>
                        <a:rPr sz="1400" b="0">
                          <a:solidFill>
                            <a:srgbClr val="1B2430"/>
                          </a:solidFill>
                          <a:latin typeface="Calibri"/>
                        </a:rPr>
                        <a:t>Yo'q</a:t>
                      </a:r>
                    </a:p>
                  </a:txBody>
                  <a:tcPr>
                    <a:solidFill>
                      <a:srgbClr val="FFFFFF"/>
                    </a:solidFill>
                  </a:tcPr>
                </a:tc>
              </a:tr>
              <a:tr h="520000">
                <a:tc>
                  <a:txBody>
                    <a:bodyPr/>
                    <a:lstStyle/>
                    <a:p>
                      <a:r>
                        <a:rPr sz="1400" b="0">
                          <a:solidFill>
                            <a:srgbClr val="1B2430"/>
                          </a:solidFill>
                          <a:latin typeface="Calibri"/>
                        </a:rPr>
                        <a:t>DP-SGD (ε = 8)</a:t>
                      </a:r>
                    </a:p>
                  </a:txBody>
                  <a:tcPr>
                    <a:solidFill>
                      <a:srgbClr val="F1F4F8"/>
                    </a:solidFill>
                  </a:tcPr>
                </a:tc>
                <a:tc>
                  <a:txBody>
                    <a:bodyPr/>
                    <a:lstStyle/>
                    <a:p>
                      <a:r>
                        <a:rPr sz="1400" b="0">
                          <a:solidFill>
                            <a:srgbClr val="1B2430"/>
                          </a:solidFill>
                          <a:latin typeface="Calibri"/>
                        </a:rPr>
                        <a:t>~65 %</a:t>
                      </a:r>
                    </a:p>
                  </a:txBody>
                  <a:tcPr>
                    <a:solidFill>
                      <a:srgbClr val="F1F4F8"/>
                    </a:solidFill>
                  </a:tcPr>
                </a:tc>
                <a:tc>
                  <a:txBody>
                    <a:bodyPr/>
                    <a:lstStyle/>
                    <a:p>
                      <a:r>
                        <a:rPr sz="1400" b="0">
                          <a:solidFill>
                            <a:srgbClr val="1B2430"/>
                          </a:solidFill>
                          <a:latin typeface="Calibri"/>
                        </a:rPr>
                        <a:t>past</a:t>
                      </a:r>
                    </a:p>
                  </a:txBody>
                  <a:tcPr>
                    <a:solidFill>
                      <a:srgbClr val="F1F4F8"/>
                    </a:solidFill>
                  </a:tcPr>
                </a:tc>
                <a:tc>
                  <a:txBody>
                    <a:bodyPr/>
                    <a:lstStyle/>
                    <a:p>
                      <a:r>
                        <a:rPr sz="1400" b="0">
                          <a:solidFill>
                            <a:srgbClr val="1B2430"/>
                          </a:solidFill>
                          <a:latin typeface="Calibri"/>
                        </a:rPr>
                        <a:t>≈2,5×</a:t>
                      </a:r>
                    </a:p>
                  </a:txBody>
                  <a:tcPr>
                    <a:solidFill>
                      <a:srgbClr val="F1F4F8"/>
                    </a:solidFill>
                  </a:tcPr>
                </a:tc>
                <a:tc>
                  <a:txBody>
                    <a:bodyPr/>
                    <a:lstStyle/>
                    <a:p>
                      <a:r>
                        <a:rPr sz="1400" b="0">
                          <a:solidFill>
                            <a:srgbClr val="1B2430"/>
                          </a:solidFill>
                          <a:latin typeface="Calibri"/>
                        </a:rPr>
                        <a:t>(8, 1e-5)-DP</a:t>
                      </a:r>
                    </a:p>
                  </a:txBody>
                  <a:tcPr>
                    <a:solidFill>
                      <a:srgbClr val="F1F4F8"/>
                    </a:solidFill>
                  </a:tcPr>
                </a:tc>
              </a:tr>
              <a:tr h="520000">
                <a:tc>
                  <a:txBody>
                    <a:bodyPr/>
                    <a:lstStyle/>
                    <a:p>
                      <a:r>
                        <a:rPr sz="1400" b="0">
                          <a:solidFill>
                            <a:srgbClr val="1B2430"/>
                          </a:solidFill>
                          <a:latin typeface="Calibri"/>
                        </a:rPr>
                        <a:t>FedAvg non-IID, 30 raund</a:t>
                      </a:r>
                    </a:p>
                  </a:txBody>
                  <a:tcPr>
                    <a:solidFill>
                      <a:srgbClr val="FFFFFF"/>
                    </a:solidFill>
                  </a:tcPr>
                </a:tc>
                <a:tc>
                  <a:txBody>
                    <a:bodyPr/>
                    <a:lstStyle/>
                    <a:p>
                      <a:r>
                        <a:rPr sz="1400" b="0">
                          <a:solidFill>
                            <a:srgbClr val="1B2430"/>
                          </a:solidFill>
                          <a:latin typeface="Calibri"/>
                        </a:rPr>
                        <a:t>~60 %</a:t>
                      </a:r>
                    </a:p>
                  </a:txBody>
                  <a:tcPr>
                    <a:solidFill>
                      <a:srgbClr val="FFFFFF"/>
                    </a:solidFill>
                  </a:tcPr>
                </a:tc>
                <a:tc>
                  <a:txBody>
                    <a:bodyPr/>
                    <a:lstStyle/>
                    <a:p>
                      <a:r>
                        <a:rPr sz="1400" b="0">
                          <a:solidFill>
                            <a:srgbClr val="1B2430"/>
                          </a:solidFill>
                          <a:latin typeface="Calibri"/>
                        </a:rPr>
                        <a:t>past</a:t>
                      </a:r>
                    </a:p>
                  </a:txBody>
                  <a:tcPr>
                    <a:solidFill>
                      <a:srgbClr val="FFFFFF"/>
                    </a:solidFill>
                  </a:tcPr>
                </a:tc>
                <a:tc>
                  <a:txBody>
                    <a:bodyPr/>
                    <a:lstStyle/>
                    <a:p>
                      <a:r>
                        <a:rPr sz="1400" b="0">
                          <a:solidFill>
                            <a:srgbClr val="1B2430"/>
                          </a:solidFill>
                          <a:latin typeface="Calibri"/>
                        </a:rPr>
                        <a:t>aloqa bilan cheklangan</a:t>
                      </a:r>
                    </a:p>
                  </a:txBody>
                  <a:tcPr>
                    <a:solidFill>
                      <a:srgbClr val="FFFFFF"/>
                    </a:solidFill>
                  </a:tcPr>
                </a:tc>
                <a:tc>
                  <a:txBody>
                    <a:bodyPr/>
                    <a:lstStyle/>
                    <a:p>
                      <a:r>
                        <a:rPr sz="1400" b="0">
                          <a:solidFill>
                            <a:srgbClr val="1B2430"/>
                          </a:solidFill>
                          <a:latin typeface="Calibri"/>
                        </a:rPr>
                        <a:t>Ma'lumot tarqalmaydi (lekin DP'siz)</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1" dur="8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06</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Keng tarqalgan xatolar va amaliy tavsiyalar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Faqat FGSM bilan baholash. FGSM zaif hujum; unga chidamli model PGD yoki AutoAttack oldida yiqilishi mumkin. Har doim ko'p qadamli, tasodifiy boshlang'ich nuqtali va adaptiv hujumlar bilan…</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Gradientni yashirishni mustahkamlik deb qabul qilish. Kirishni kvantlash, tasodifiylashtirish yoki chiqishni yumaloqlash hujumchining gradientini buzadi, lekin modelni mustahkam qilmaydi.…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Normalizatsiya va ε shkalasini aralashtirish. Normalizatsiyadan keyin ε = 8/255 qo'llash buzilishni bir necha marta kattalashtiradi va natijalarni adabiyot bilan solishtirib bo'lmaydi.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DP'da maxfiylik byudjetini hisobga olmaslik. Har bir o'qitish, giperparametr qidiruvi va baholash byudjet sarflaydi; ε ni hisobot bermasdan «DP qo'lladik» deyish ma'nosiz. δ ma'lumotlar…</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Federativ o'qitishni maxfiylik kafolati deb hisoblash. Og'irlik yangilanishlari ma'lumot sizdiradi; xavfsiz agregatsiya va DP'siz FL faqat ma'lumot ko'chirishni kamaytiradi, xolos.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pickle formatidagi modellarni ishonchsiz manbadan yuklash. torch.load ixtiyoriy kodni bajarishi mumkin; safetensors, weights_only=True, xesh va imzo tekshiruvi majburiy.</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Xavfsizlikni oxirgi bosqichga qoldirish. Tahdid modeli loyihalash boshida tuzilishi, qizil jamoa sinovlari esa har relizda takrorlanishi kerak. Himoya chuqurligi tamoyili: model, ma'lumot,…</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LLM tizimlarida ma'lumot va ko'rsatmani ajratmaslik. RAG orqali kelgan hujjatlar yoki foydalanuvchi matni hech qachon tizim ko'rsatmasi sifatida ishlanmasligi kerak; agent harakatlari eng…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07</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Nazorat savollari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40</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Oq quti va qora quti tahdid modellari uchun himoya strategiyasi qanday farq qiladi? Ochiq API ko'rinishidagi model haqiqatan ham «qora quti» deb hisoblanishi mumkinmi?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Nima uchun PGD adversarial training toza aniqlikni pasaytiradi? Bu murosa fundamentalmi yoki hozirgi usullarning cheklovimi — dalillar keltiring.</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Gradient yashirish hodisasini tajribada qanday aniqlash mumkin? Qaysi kuzatuvlar sizni ehtiyotkorlikka undashi kerak?</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(ε, δ)-differensial maxfiylik ta'rifida δ qanday rol o'ynaydi va nima uchun u ma'lumotlar soniga nisbatan juda kichik bo'lishi kerak?</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Federativ o'qitish, differensial maxfiylik va gomomorf shifrlash bir-birini qanday to'ldiradi? Tibbiy tasvirlar bo'yicha ko'p markazli loyiha uchun qaysi kombinatsiyani tanlar edingiz va…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41</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Orqa eshik (backdoor) hujumi oddiy zaharlashdan nimasi bilan xavfliroq va uni toza test to'plamidagi aniqlik orqali nima uchun aniqlab bo'lmaydi?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NVIDIA H100 konfidensial hisoblash rejimi qanday tahdidlardan himoya qiladi va qaysilaridan himoya qilmaydi (masalan, adversarial kirishlar, zaharlangan model)?</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Model fayllari uchun pickle formatining xavfi nimada va uni bartaraf etish uchun ta'minot zanjirida qanday nazorat nuqtalarini joriy etgan bo'lardingiz?</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Bilvosita prompt injection'ni an'anaviy SQL in'eksiyasi bilan taqqoslang: o'xshashlik va farqlar, nima uchun LLM uchun «parametrlangan so'rov» analogi yo'q?</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Tizimning mustahkamligi «faqat o'qitilgan ε va norma uchun» amal qilishi loyihalash qarorlariga qanday ta'sir qilishi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08</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Mustaqil ish uchun topshiriq</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43</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1-topshiriq (amaliy, A6 va 6-mustaqil ta'lim topshirig'iga bog'liq). O'zingiz tanlagan tasvir tasniflash modelida (CIFAR-10 yoki o'z ma'lumotlaringiz) quyidagilarni bajaring: (a) FGSM va PGD-20 hujumlarini ε ∈ {2, 4, 8}/255 uchun qo'llab, aniqlik–ε grafigini…</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2-topshiriq (tahliliy). Muayyan AI xizmati (masalan, bank skoring modeli yoki tibbiy diagnostika tizimi) uchun ISO/IEC 23894 va NIST AI 100-2 asosida xavf reyestri tuzing: kamida 8 ta tahdid, har biri uchun ehtimollik, ta'sir, mavjud nazorat va tavsiya…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09</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Foydalanilgan manbalar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45</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[2] Kneusel, R. T. Artificial Intelligence Engineering: A Practical Guide for AI Applications. No Starch Press, 2023.</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[3] Amershi, S., Begel, A., Bird, C. va boshq. Machine Learning Engineering. MIT Press, 2025.</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[1] Hennessy, J. L., &amp; Patterson, D. A. Computer Architecture: A Quantitative Approach. 7th Edition. Morgan Kaufmann, 2024 (xavfsizlik va ishonchli bajarish muhitlariga oid bo'limlar).</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[7] PyTorch rasmiy hujjatlari — https://pytorch.org (autograd, torch.load xavfsizlik eslatmalari).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[6] NVIDIA Developer Portal — https://developer.nvidia.com (H100 Confidential Computing hujjatlari).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46</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Goodfellow, I. J., Shlens, J., &amp; Szegedy, C. Explaining and Harnessing Adversarial Examples. ICLR 2015. arXiv:1412.6572.</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Madry, A., Makelov, A., Schmidt, L., Tsipras, D., &amp; Vladu, A. Towards Deep Learning Models Resistant to Adversarial Attacks. ICLR 2018. arXiv:1706.06083.</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Abadi, M., Chu, A., Goodfellow, I. va boshq. Deep Learning with Differential Privacy. ACM CCS 2016. arXiv:1607.00133.</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McMahan, H. B., Moore, E., Ramage, D., Hampson, S., &amp; Agüera y Arcas, B. Communication-Efficient Learning of Deep Networks from Decentralized Data. AISTATS 2017. arXiv:1602.05629.</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NIST AI 100-2 E2023: Adversarial Machine Learning — A Taxonomy and Terminology of Attacks and Mitigations. National Institute of Standards and Technology, 2024.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(3)</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M9 · Tizimlarining ishonchliligi va axborot xavfsizligi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47</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2000" b="0">
                <a:solidFill>
                  <a:srgbClr val="1B2430"/>
                </a:solidFill>
                <a:latin typeface="Calibri"/>
              </a:rPr>
              <a:t>Opacus — PyTorch uchun differensial maxfiylik kutubxonasi hujjatlari: https://opacus.ai</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2000" b="0">
                <a:solidFill>
                  <a:srgbClr val="1B2430"/>
                </a:solidFill>
                <a:latin typeface="Calibri"/>
              </a:rPr>
              <a:t>OWASP Top 10 for Large Language Model Applications: https://owasp.org/www-project-top-10-for-large-language-model-applications/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https://aiscan.airi.uz/ktm/#/c/mis2104/mavzu/M9</a:t>
            </a:r>
          </a:p>
          <a:p>
            <a:pPr algn="ctr"/>
            <a:r>
              <a:rPr sz="1600" b="0">
                <a:solidFill>
                  <a:srgbClr val="D7E3F4"/>
                </a:solidFill>
                <a:latin typeface="Calibri"/>
              </a:rPr>
              <a:t>Nazorat savollari va mustaqil ish — mavzu matnining oxirida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
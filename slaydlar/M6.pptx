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a:p/>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a:p/>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a:p/>
          <a:p>
            <a:r>
              <a:t>Quvur (pipeline) nuqtai nazaridan inferens — kamera → dekodlash → oldindan qayta ishlash (o'lcham o'zgartirish, normalizatsiya) → model → keyingi qayta ishlash (NMS, kuzatish) → qaror. 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a:p/>
          <a:p>
            <a:r>
              <a:t>TinyML'ning texnik asoslari: modellar o'nlab–yuzlab kilobayt (masalan, kalit so'z aniqlovchi DS-CNN ~20–50 KB, odam aniqlash uchun MobileNet-v1 0,25x ~250–300 KB INT8); barcha og'irliklar INT8'ga kvantlangan, hisoblash butun sonli arifmetikada; xotira statik — dinamik ajratish yo'q, «tensor arena» deb ataladigan bitta bufer oldindan ajratiladi; dasturiy stek — TensorFlow Lite for Microcontrollers (TFLM), Arm CMSIS-NN kernellari (Cortex-M'ning SIMD ko'rsatmalaridan foydalanadi), Edge Impulse kabi platformalar. Arm Ethos-U55/U65 microNPU'lari Cortex-M55 bilan birga INT8 konvolyutsiyani apparat darajasida tezlashtirib, bir xil quvvatda o'nlab marta ko'proq amal bajaradi.</a:t>
            </a:r>
          </a:p>
          <a:p/>
          <a:p>
            <a:r>
              <a:t>TinyML loyihasida muhandis quyidagi balansni ushlab turadi: model aniqligi, flesh hajmi (model + kod), SRAM (arena + aktivatsiyalar), inferens vaqti (davomiylik va chastota orqali energiya) va batareya umri. 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a:p/>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a:p/>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a:p/>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a:p/>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a:p/>
          <a:p>
            <a:r>
              <a:t>M8 mavzusida kvantlash va boshqa siqish usullari nazariy jihatdan chuqurroq ko'riladi; bu yerda ular chekka joylash kontekstida amaliy vosita sifatida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a:p/>
          <a:p>
            <a:r>
              <a:t>Model yangilash (OTA — over-the-air update) Edge AI'ning muhim tarkibiy qismi: model kuzatilgan ma'lumotda eskiradi (drift), yangi sinflar kerak bo'ladi, xatolar tuzatiladi. OTA tizimi versiyalash, imzolangan paketlar, bosqichma-bosqich tarqatish (canary) va muvaffaqiyatsizlikda avtomatik orqaga qaytishni ta'minlashi kerak. Bu MLOps (M12) va xavfsizlik (M9) mavzulari bilan kesishadi. Federativ o'qitish (federated learning) — qurilmalar xom ma'lumotni yubormasdan, mahalliy gradientlarni yoki model yangilanishlarini bulutga yuboradi — maxfiylik talab qilinadigan IoT tizimlarida ishlatiladi.</a:t>
            </a:r>
          </a:p>
          <a:p/>
          <a:p>
            <a:r>
              <a:t>Bulut va chekka o'rtasidagi tanlovni quyidagi jadval umumlashtiradi: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M6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Edge AI va intellektual o'rnatilgan kompyuter tizimlari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2c5fd702c6f21dc6.jpg"/>
          <p:cNvPicPr>
            <a:picLocks noChangeAspect="1"/>
          </p:cNvPicPr>
          <p:nvPr/>
        </p:nvPicPr>
        <p:blipFill>
          <a:blip r:embed="rId2"/>
          <a:srcRect l="20798" r="20798"/>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Auledas · Wikimedia Commons · CC BY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Edge AI konsepsiyasi va hisoblash darajalari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Embedded AI tizimlari va real vaqt talablari</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TinyML texnologiyalari</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NVIDIA Jetson va Google Edge TPU platformalari</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Dasturiy vositalar zanjiri: konvertatsiya, kvantlash, delegat</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IoT va Edge AI integratsiyasi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ef86809f26bc20c.jpg"/>
          <p:cNvPicPr>
            <a:picLocks noChangeAspect="1"/>
          </p:cNvPicPr>
          <p:nvPr/>
        </p:nvPicPr>
        <p:blipFill>
          <a:blip r:embed="rId2"/>
          <a:srcRect l="21239" r="2123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Cody Logan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Edge AI konsepsiyasi va hisoblash darajalari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Zamonaviy intellektual tizimlarda hisoblash bir nechta darajaga taqsimlanadi.</a:t>
            </a:r>
          </a:p>
          <a:p>
            <a:pPr>
              <a:spcBef>
                <a:spcPts val="400"/>
              </a:spcBef>
            </a:pPr>
            <a:r>
              <a:rPr sz="1500">
                <a:solidFill>
                  <a:srgbClr val="334055"/>
                </a:solidFill>
                <a:latin typeface="Calibri"/>
              </a:rPr>
              <a:t>Bulut (cloud) — model o'qitish, katta modellar, tarixiy tahlil. Tuman yoki chekka server (fog / edge server) — zavod, kasalxona yoki telekom bazaviy stansiyasidagi kichik server (masalan, bir nechta L4 yoki Jetson AGX Orin bilan), o'nlab kameralarni qayta ishlaydi.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Edge AI konsepsiyasining asosiy tamoyili — ma'lumotni emas, qarorni uzatish.</a:t>
            </a:r>
          </a:p>
          <a:p>
            <a:pPr>
              <a:spcBef>
                <a:spcPts val="400"/>
              </a:spcBef>
            </a:pPr>
            <a:r>
              <a:rPr sz="1500">
                <a:solidFill>
                  <a:srgbClr val="334055"/>
                </a:solidFill>
                <a:latin typeface="Calibri"/>
              </a:rPr>
              <a:t>Kamera xom videoni emas, «konveyerda nuqsonli mahsulot №4471» degan hodisani yuboradi; bu uzatish hajmini ming martalab kamaytiradi va qaror kechikishini millisekundlar darajasiga tushiradi.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Tipik apparat</a:t>
                      </a:r>
                    </a:p>
                  </a:txBody>
                  <a:tcPr>
                    <a:solidFill>
                      <a:srgbClr val="2D5C8F"/>
                    </a:solidFill>
                  </a:tcPr>
                </a:tc>
                <a:tc>
                  <a:txBody>
                    <a:bodyPr/>
                    <a:lstStyle/>
                    <a:p>
                      <a:r>
                        <a:rPr sz="1400" b="1">
                          <a:solidFill>
                            <a:srgbClr val="FFFFFF"/>
                          </a:solidFill>
                          <a:latin typeface="Calibri"/>
                        </a:rPr>
                        <a:t>Quvvat</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Tipik model</a:t>
                      </a:r>
                    </a:p>
                  </a:txBody>
                  <a:tcPr>
                    <a:solidFill>
                      <a:srgbClr val="2D5C8F"/>
                    </a:solidFill>
                  </a:tcPr>
                </a:tc>
                <a:tc>
                  <a:txBody>
                    <a:bodyPr/>
                    <a:lstStyle/>
                    <a:p>
                      <a:r>
                        <a:rPr sz="1400" b="1">
                          <a:solidFill>
                            <a:srgbClr val="FFFFFF"/>
                          </a:solidFill>
                          <a:latin typeface="Calibri"/>
                        </a:rPr>
                        <a:t>Kechikish maqsadi</a:t>
                      </a:r>
                    </a:p>
                  </a:txBody>
                  <a:tcPr>
                    <a:solidFill>
                      <a:srgbClr val="2D5C8F"/>
                    </a:solidFill>
                  </a:tcPr>
                </a:tc>
              </a:tr>
              <a:tr h="520000">
                <a:tc>
                  <a:txBody>
                    <a:bodyPr/>
                    <a:lstStyle/>
                    <a:p>
                      <a:r>
                        <a:rPr sz="1400" b="0">
                          <a:solidFill>
                            <a:srgbClr val="1B2430"/>
                          </a:solidFill>
                          <a:latin typeface="Calibri"/>
                        </a:rPr>
                        <a:t>Bulut</a:t>
                      </a:r>
                    </a:p>
                  </a:txBody>
                  <a:tcPr>
                    <a:solidFill>
                      <a:srgbClr val="F1F4F8"/>
                    </a:solidFill>
                  </a:tcPr>
                </a:tc>
                <a:tc>
                  <a:txBody>
                    <a:bodyPr/>
                    <a:lstStyle/>
                    <a:p>
                      <a:r>
                        <a:rPr sz="1400" b="0">
                          <a:solidFill>
                            <a:srgbClr val="1B2430"/>
                          </a:solidFill>
                          <a:latin typeface="Calibri"/>
                        </a:rPr>
                        <a:t>H100/B200 serverlar</a:t>
                      </a:r>
                    </a:p>
                  </a:txBody>
                  <a:tcPr>
                    <a:solidFill>
                      <a:srgbClr val="F1F4F8"/>
                    </a:solidFill>
                  </a:tcPr>
                </a:tc>
                <a:tc>
                  <a:txBody>
                    <a:bodyPr/>
                    <a:lstStyle/>
                    <a:p>
                      <a:r>
                        <a:rPr sz="1400" b="0">
                          <a:solidFill>
                            <a:srgbClr val="1B2430"/>
                          </a:solidFill>
                          <a:latin typeface="Calibri"/>
                        </a:rPr>
                        <a:t>kVt'lar</a:t>
                      </a:r>
                    </a:p>
                  </a:txBody>
                  <a:tcPr>
                    <a:solidFill>
                      <a:srgbClr val="F1F4F8"/>
                    </a:solidFill>
                  </a:tcPr>
                </a:tc>
                <a:tc>
                  <a:txBody>
                    <a:bodyPr/>
                    <a:lstStyle/>
                    <a:p>
                      <a:r>
                        <a:rPr sz="1400" b="0">
                          <a:solidFill>
                            <a:srgbClr val="1B2430"/>
                          </a:solidFill>
                          <a:latin typeface="Calibri"/>
                        </a:rPr>
                        <a:t>80 GB+ / GPU</a:t>
                      </a:r>
                    </a:p>
                  </a:txBody>
                  <a:tcPr>
                    <a:solidFill>
                      <a:srgbClr val="F1F4F8"/>
                    </a:solidFill>
                  </a:tcPr>
                </a:tc>
                <a:tc>
                  <a:txBody>
                    <a:bodyPr/>
                    <a:lstStyle/>
                    <a:p>
                      <a:r>
                        <a:rPr sz="1400" b="0">
                          <a:solidFill>
                            <a:srgbClr val="1B2430"/>
                          </a:solidFill>
                          <a:latin typeface="Calibri"/>
                        </a:rPr>
                        <a:t>LLM, diffuziya, o'qitish</a:t>
                      </a:r>
                    </a:p>
                  </a:txBody>
                  <a:tcPr>
                    <a:solidFill>
                      <a:srgbClr val="F1F4F8"/>
                    </a:solidFill>
                  </a:tcPr>
                </a:tc>
                <a:tc>
                  <a:txBody>
                    <a:bodyPr/>
                    <a:lstStyle/>
                    <a:p>
                      <a:r>
                        <a:rPr sz="1400" b="0">
                          <a:solidFill>
                            <a:srgbClr val="1B2430"/>
                          </a:solidFill>
                          <a:latin typeface="Calibri"/>
                        </a:rPr>
                        <a:t>100 ms – s</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L4, AGX Orin, Xeon-D</a:t>
                      </a:r>
                    </a:p>
                  </a:txBody>
                  <a:tcPr>
                    <a:solidFill>
                      <a:srgbClr val="FFFFFF"/>
                    </a:solidFill>
                  </a:tcPr>
                </a:tc>
                <a:tc>
                  <a:txBody>
                    <a:bodyPr/>
                    <a:lstStyle/>
                    <a:p>
                      <a:r>
                        <a:rPr sz="1400" b="0">
                          <a:solidFill>
                            <a:srgbClr val="1B2430"/>
                          </a:solidFill>
                          <a:latin typeface="Calibri"/>
                        </a:rPr>
                        <a:t>50–300 Vt</a:t>
                      </a:r>
                    </a:p>
                  </a:txBody>
                  <a:tcPr>
                    <a:solidFill>
                      <a:srgbClr val="FFFFFF"/>
                    </a:solidFill>
                  </a:tcPr>
                </a:tc>
                <a:tc>
                  <a:txBody>
                    <a:bodyPr/>
                    <a:lstStyle/>
                    <a:p>
                      <a:r>
                        <a:rPr sz="1400" b="0">
                          <a:solidFill>
                            <a:srgbClr val="1B2430"/>
                          </a:solidFill>
                          <a:latin typeface="Calibri"/>
                        </a:rPr>
                        <a:t>16–64 GB</a:t>
                      </a:r>
                    </a:p>
                  </a:txBody>
                  <a:tcPr>
                    <a:solidFill>
                      <a:srgbClr val="FFFFFF"/>
                    </a:solidFill>
                  </a:tcPr>
                </a:tc>
                <a:tc>
                  <a:txBody>
                    <a:bodyPr/>
                    <a:lstStyle/>
                    <a:p>
                      <a:r>
                        <a:rPr sz="1400" b="0">
                          <a:solidFill>
                            <a:srgbClr val="1B2430"/>
                          </a:solidFill>
                          <a:latin typeface="Calibri"/>
                        </a:rPr>
                        <a:t>YOLO, segmentatsiya, kichik LLM</a:t>
                      </a:r>
                    </a:p>
                  </a:txBody>
                  <a:tcPr>
                    <a:solidFill>
                      <a:srgbClr val="FFFFFF"/>
                    </a:solidFill>
                  </a:tcPr>
                </a:tc>
                <a:tc>
                  <a:txBody>
                    <a:bodyPr/>
                    <a:lstStyle/>
                    <a:p>
                      <a:r>
                        <a:rPr sz="1400" b="0">
                          <a:solidFill>
                            <a:srgbClr val="1B2430"/>
                          </a:solidFill>
                          <a:latin typeface="Calibri"/>
                        </a:rPr>
                        <a:t>10–50 ms</a:t>
                      </a:r>
                    </a:p>
                  </a:txBody>
                  <a:tcPr>
                    <a:solidFill>
                      <a:srgbClr val="FFFFFF"/>
                    </a:solidFill>
                  </a:tcPr>
                </a:tc>
              </a:tr>
              <a:tr h="520000">
                <a:tc>
                  <a:txBody>
                    <a:bodyPr/>
                    <a:lstStyle/>
                    <a:p>
                      <a:r>
                        <a:rPr sz="1400" b="0">
                          <a:solidFill>
                            <a:srgbClr val="1B2430"/>
                          </a:solidFill>
                          <a:latin typeface="Calibri"/>
                        </a:rPr>
                        <a:t>Qurilma chekkasi</a:t>
                      </a:r>
                    </a:p>
                  </a:txBody>
                  <a:tcPr>
                    <a:solidFill>
                      <a:srgbClr val="F1F4F8"/>
                    </a:solidFill>
                  </a:tcPr>
                </a:tc>
                <a:tc>
                  <a:txBody>
                    <a:bodyPr/>
                    <a:lstStyle/>
                    <a:p>
                      <a:r>
                        <a:rPr sz="1400" b="0">
                          <a:solidFill>
                            <a:srgbClr val="1B2430"/>
                          </a:solidFill>
                          <a:latin typeface="Calibri"/>
                        </a:rPr>
                        <a:t>Orin Nano/NX, Coral, telefon NPU</a:t>
                      </a:r>
                    </a:p>
                  </a:txBody>
                  <a:tcPr>
                    <a:solidFill>
                      <a:srgbClr val="F1F4F8"/>
                    </a:solidFill>
                  </a:tcPr>
                </a:tc>
                <a:tc>
                  <a:txBody>
                    <a:bodyPr/>
                    <a:lstStyle/>
                    <a:p>
                      <a:r>
                        <a:rPr sz="1400" b="0">
                          <a:solidFill>
                            <a:srgbClr val="1B2430"/>
                          </a:solidFill>
                          <a:latin typeface="Calibri"/>
                        </a:rPr>
                        <a:t>2–25 Vt</a:t>
                      </a:r>
                    </a:p>
                  </a:txBody>
                  <a:tcPr>
                    <a:solidFill>
                      <a:srgbClr val="F1F4F8"/>
                    </a:solidFill>
                  </a:tcPr>
                </a:tc>
                <a:tc>
                  <a:txBody>
                    <a:bodyPr/>
                    <a:lstStyle/>
                    <a:p>
                      <a:r>
                        <a:rPr sz="1400" b="0">
                          <a:solidFill>
                            <a:srgbClr val="1B2430"/>
                          </a:solidFill>
                          <a:latin typeface="Calibri"/>
                        </a:rPr>
                        <a:t>1–16 GB</a:t>
                      </a:r>
                    </a:p>
                  </a:txBody>
                  <a:tcPr>
                    <a:solidFill>
                      <a:srgbClr val="F1F4F8"/>
                    </a:solidFill>
                  </a:tcPr>
                </a:tc>
                <a:tc>
                  <a:txBody>
                    <a:bodyPr/>
                    <a:lstStyle/>
                    <a:p>
                      <a:r>
                        <a:rPr sz="1400" b="0">
                          <a:solidFill>
                            <a:srgbClr val="1B2430"/>
                          </a:solidFill>
                          <a:latin typeface="Calibri"/>
                        </a:rPr>
                        <a:t>MobileNet, YOLO-nano, ASR</a:t>
                      </a:r>
                    </a:p>
                  </a:txBody>
                  <a:tcPr>
                    <a:solidFill>
                      <a:srgbClr val="F1F4F8"/>
                    </a:solidFill>
                  </a:tcPr>
                </a:tc>
                <a:tc>
                  <a:txBody>
                    <a:bodyPr/>
                    <a:lstStyle/>
                    <a:p>
                      <a:r>
                        <a:rPr sz="1400" b="0">
                          <a:solidFill>
                            <a:srgbClr val="1B2430"/>
                          </a:solidFill>
                          <a:latin typeface="Calibri"/>
                        </a:rPr>
                        <a:t>5–30 ms</a:t>
                      </a:r>
                    </a:p>
                  </a:txBody>
                  <a:tcPr>
                    <a:solidFill>
                      <a:srgbClr val="F1F4F8"/>
                    </a:solidFill>
                  </a:tcPr>
                </a:tc>
              </a:tr>
              <a:tr h="520000">
                <a:tc>
                  <a:txBody>
                    <a:bodyPr/>
                    <a:lstStyle/>
                    <a:p>
                      <a:r>
                        <a:rPr sz="1400" b="0">
                          <a:solidFill>
                            <a:srgbClr val="1B2430"/>
                          </a:solidFill>
                          <a:latin typeface="Calibri"/>
                        </a:rPr>
                        <a:t>TinyML</a:t>
                      </a:r>
                    </a:p>
                  </a:txBody>
                  <a:tcPr>
                    <a:solidFill>
                      <a:srgbClr val="FFFFFF"/>
                    </a:solidFill>
                  </a:tcPr>
                </a:tc>
                <a:tc>
                  <a:txBody>
                    <a:bodyPr/>
                    <a:lstStyle/>
                    <a:p>
                      <a:r>
                        <a:rPr sz="1400" b="0">
                          <a:solidFill>
                            <a:srgbClr val="1B2430"/>
                          </a:solidFill>
                          <a:latin typeface="Calibri"/>
                        </a:rPr>
                        <a:t>Cortex-M4/M7/M55, ESP32-S3</a:t>
                      </a:r>
                    </a:p>
                  </a:txBody>
                  <a:tcPr>
                    <a:solidFill>
                      <a:srgbClr val="FFFFFF"/>
                    </a:solidFill>
                  </a:tcPr>
                </a:tc>
                <a:tc>
                  <a:txBody>
                    <a:bodyPr/>
                    <a:lstStyle/>
                    <a:p>
                      <a:r>
                        <a:rPr sz="1400" b="0">
                          <a:solidFill>
                            <a:srgbClr val="1B2430"/>
                          </a:solidFill>
                          <a:latin typeface="Calibri"/>
                        </a:rPr>
                        <a:t>1–100 mVt</a:t>
                      </a:r>
                    </a:p>
                  </a:txBody>
                  <a:tcPr>
                    <a:solidFill>
                      <a:srgbClr val="FFFFFF"/>
                    </a:solidFill>
                  </a:tcPr>
                </a:tc>
                <a:tc>
                  <a:txBody>
                    <a:bodyPr/>
                    <a:lstStyle/>
                    <a:p>
                      <a:r>
                        <a:rPr sz="1400" b="0">
                          <a:solidFill>
                            <a:srgbClr val="1B2430"/>
                          </a:solidFill>
                          <a:latin typeface="Calibri"/>
                        </a:rPr>
                        <a:t>64 KB – 2 MB SRAM</a:t>
                      </a:r>
                    </a:p>
                  </a:txBody>
                  <a:tcPr>
                    <a:solidFill>
                      <a:srgbClr val="FFFFFF"/>
                    </a:solidFill>
                  </a:tcPr>
                </a:tc>
                <a:tc>
                  <a:txBody>
                    <a:bodyPr/>
                    <a:lstStyle/>
                    <a:p>
                      <a:r>
                        <a:rPr sz="1400" b="0">
                          <a:solidFill>
                            <a:srgbClr val="1B2430"/>
                          </a:solidFill>
                          <a:latin typeface="Calibri"/>
                        </a:rPr>
                        <a:t>kalit so'z, anomaliya, imo-ishora</a:t>
                      </a:r>
                    </a:p>
                  </a:txBody>
                  <a:tcPr>
                    <a:solidFill>
                      <a:srgbClr val="FFFFFF"/>
                    </a:solidFill>
                  </a:tcPr>
                </a:tc>
                <a:tc>
                  <a:txBody>
                    <a:bodyPr/>
                    <a:lstStyle/>
                    <a:p>
                      <a:r>
                        <a:rPr sz="1400" b="0">
                          <a:solidFill>
                            <a:srgbClr val="1B2430"/>
                          </a:solidFill>
                          <a:latin typeface="Calibri"/>
                        </a:rPr>
                        <a:t>10–100 ms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1825445339c4dd8.jpg"/>
          <p:cNvPicPr>
            <a:picLocks noChangeAspect="1"/>
          </p:cNvPicPr>
          <p:nvPr/>
        </p:nvPicPr>
        <p:blipFill>
          <a:blip r:embed="rId2"/>
          <a:srcRect l="7076" r="707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Ordercrazy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Embedded AI tizimlari va real vaqt talablari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Embedded AI tizimlari va real vaqt talablari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O'rnatilgan tizim (embedded system) — muayyan funksiyani bajarish uchun qurilma ichiga joylashtirilgan ixtisoslashgan kompyuter.</a:t>
            </a:r>
          </a:p>
          <a:p>
            <a:pPr>
              <a:spcBef>
                <a:spcPts val="400"/>
              </a:spcBef>
            </a:pPr>
            <a:r>
              <a:rPr sz="1400">
                <a:solidFill>
                  <a:srgbClr val="334055"/>
                </a:solidFill>
                <a:latin typeface="Calibri"/>
              </a:rPr>
              <a:t>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Real vaqt rejimida ishlash (real-time) atamasi «tez» degani emas, balki «belgilangan muddat ichida kafolatlangan» deganidir.</a:t>
            </a:r>
          </a:p>
          <a:p>
            <a:pPr>
              <a:spcBef>
                <a:spcPts val="400"/>
              </a:spcBef>
            </a:pPr>
            <a:r>
              <a:rPr sz="1400">
                <a:solidFill>
                  <a:srgbClr val="334055"/>
                </a:solidFill>
                <a:latin typeface="Calibri"/>
              </a:rPr>
              <a:t>Qattiq real vaqt (hard real-time) tizimlarda muddatni o'tkazib yuborish — tizim nosozligi (avtomobil tormozi, tibbiy qurilma); yumshoq real vaqt (soft real-time) tizimlarda — sifat pasayishi (video kadr tushib qolishi).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Quvur (pipeline) nuqtai nazaridan inferens — kamera → dekodlash → oldindan qayta ishlash (o'lcham o'zgartirish, normalizatsiya) → model → keyingi qayta ishlash (NMS, kuzatish) → qaror.</a:t>
            </a:r>
          </a:p>
          <a:p>
            <a:pPr>
              <a:spcBef>
                <a:spcPts val="400"/>
              </a:spcBef>
            </a:pPr>
            <a:r>
              <a:rPr sz="1400">
                <a:solidFill>
                  <a:srgbClr val="334055"/>
                </a:solidFill>
                <a:latin typeface="Calibri"/>
              </a:rPr>
              <a:t>Ko'pincha modelning o'zi quvur vaqtining yarmidan kamini oladi; qolgani JPEG dekodlash, rang fazosi konvertatsiyasi va CPU–GPU nusxalashga ketadi.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93d9621b5e98991.jpg"/>
          <p:cNvPicPr>
            <a:picLocks noChangeAspect="1"/>
          </p:cNvPicPr>
          <p:nvPr/>
        </p:nvPicPr>
        <p:blipFill>
          <a:blip r:embed="rId2"/>
          <a:srcRect l="29360" r="2936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Retired electrician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TinyML texnologiyalari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TinyML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TinyML — mashinali o'qitish modellarini milliVatt darajasidagi quvvat bilan ishlaydigan mikrokontrollerlarda bajarish yo'nalishi.</a:t>
            </a:r>
          </a:p>
          <a:p>
            <a:pPr>
              <a:spcBef>
                <a:spcPts val="400"/>
              </a:spcBef>
            </a:pPr>
            <a:r>
              <a:rPr sz="1400">
                <a:solidFill>
                  <a:srgbClr val="334055"/>
                </a:solidFill>
                <a:latin typeface="Calibri"/>
              </a:rPr>
              <a:t>Tipik maqsad qurilma: Arm Cortex-M4F, 80–200 MHz, 256 KB flesh, 64–320 KB SRAM, suzuvchi nuqtali blok bor, lekin kesh va operatsion tizim deyarli yo'q.</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TinyML'ning texnik asoslari: modellar o'nlab–yuzlab kilobayt (masalan, kalit so'z aniqlovchi DS-CNN ~20–50 KB, odam aniqlash uchun MobileNet-v1 0,25x ~250–300 KB INT8); barcha og'irliklar INT8'ga kvantlangan, hisoblash butun sonli arifmetikada; xotira statik…</a:t>
            </a:r>
          </a:p>
          <a:p>
            <a:pPr>
              <a:spcBef>
                <a:spcPts val="400"/>
              </a:spcBef>
            </a:pPr>
            <a:r>
              <a:rPr sz="1400">
                <a:solidFill>
                  <a:srgbClr val="334055"/>
                </a:solidFill>
                <a:latin typeface="Calibri"/>
              </a:rPr>
              <a:t>Arm Ethos-U55/U65 microNPU'lari Cortex-M55 bilan birga INT8 konvolyutsiyani apparat darajasida tezlashtirib, bir xil quvvatda o'nlab marta ko'proq amal bajaradi.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TinyML loyihasida muhandis quyidagi balansni ushlab turadi: model aniqligi, flesh hajmi (model + kod), SRAM (arena + aktivatsiyalar), inferens vaqti (davomiylik va chastota orqali energiya) va batareya umri.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808f516f552dd95.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Thomas Amberg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NVIDIA Jetson va Google Edge TPU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NVIDIA Jetson — Arm protsessor, Ampere arxitekturali GPU (Tensor Core bilan), apparat video kodek va ixtiyoriy DLA (Deep Learning Accelerator) bloklarini bitta modulda birlashtirgan tizim-modul (system-on-module).</a:t>
            </a:r>
          </a:p>
          <a:p>
            <a:pPr>
              <a:spcBef>
                <a:spcPts val="400"/>
              </a:spcBef>
            </a:pPr>
            <a:r>
              <a:rPr sz="1400">
                <a:solidFill>
                  <a:srgbClr val="334055"/>
                </a:solidFill>
                <a:latin typeface="Calibri"/>
              </a:rPr>
              <a:t>Orin avlodi ko'rsatkichlari (zich INT8, Tensor Core, ishlab chiqaruvchi ma'lumotlari, taxminiy):</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Jetson'ning asosiy afzalligi — to'liq CUDA ekotizimi: ma'lumot markazida ishlatiladigan PyTorch, TensorRT, cuDNN, DeepStream, Triton Inference Server bevosita ishlaydi, shuning uchun bulutdan chekkaga ko'chish nisbatan oson.</a:t>
            </a:r>
          </a:p>
          <a:p>
            <a:pPr>
              <a:spcBef>
                <a:spcPts val="400"/>
              </a:spcBef>
            </a:pPr>
            <a:r>
              <a:rPr sz="1400">
                <a:solidFill>
                  <a:srgbClr val="334055"/>
                </a:solidFill>
                <a:latin typeface="Calibri"/>
              </a:rPr>
              <a:t>DLA bloklari esa INT8/FP16 konvolyutsion tarmoqlarni GPU'dan kamroq quvvat bilan bajaradi va GPU'ni boshqa vazifalarga bo'shatadi.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Google Edge TPU (Coral mahsulot oilasi) — mutlaqo boshqa falsafa: faqat INT8, faqat TensorFlow Lite formatidagi va maxsus kompilyator (edgetpu_compiler) orqali o'tkazilgan modellar; 4 TOPS (INT8) unumdorlik atigi ~2 Vt (0,5 Vt/TOPS) iste'molda; USB stik…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182518"/>
            <a:ext cx="70000" cy="11849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Mobil telefonlarda NPU — Apple Neural Engine, Qualcomm Hexagon, Samsung/Google tensor bloklari — o'nlab TOPS beradi; ularga kirish Core ML, Android NNAPI (hozir asta-sekin LiteRT delegatlari va vendor SDK'lar bilan almashtirilmoqda), Qualcomm QNN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Modul</a:t>
                      </a:r>
                    </a:p>
                  </a:txBody>
                  <a:tcPr>
                    <a:solidFill>
                      <a:srgbClr val="2D5C8F"/>
                    </a:solidFill>
                  </a:tcPr>
                </a:tc>
                <a:tc>
                  <a:txBody>
                    <a:bodyPr/>
                    <a:lstStyle/>
                    <a:p>
                      <a:r>
                        <a:rPr sz="1400" b="1">
                          <a:solidFill>
                            <a:srgbClr val="FFFFFF"/>
                          </a:solidFill>
                          <a:latin typeface="Calibri"/>
                        </a:rPr>
                        <a:t>GPU (CUDA yadro / Tensor Core)</a:t>
                      </a:r>
                    </a:p>
                  </a:txBody>
                  <a:tcPr>
                    <a:solidFill>
                      <a:srgbClr val="2D5C8F"/>
                    </a:solidFill>
                  </a:tcPr>
                </a:tc>
                <a:tc>
                  <a:txBody>
                    <a:bodyPr/>
                    <a:lstStyle/>
                    <a:p>
                      <a:r>
                        <a:rPr sz="1400" b="1">
                          <a:solidFill>
                            <a:srgbClr val="FFFFFF"/>
                          </a:solidFill>
                          <a:latin typeface="Calibri"/>
                        </a:rPr>
                        <a:t>CPU</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INT8 unumdorlik</a:t>
                      </a:r>
                    </a:p>
                  </a:txBody>
                  <a:tcPr>
                    <a:solidFill>
                      <a:srgbClr val="2D5C8F"/>
                    </a:solidFill>
                  </a:tcPr>
                </a:tc>
                <a:tc>
                  <a:txBody>
                    <a:bodyPr/>
                    <a:lstStyle/>
                    <a:p>
                      <a:r>
                        <a:rPr sz="1400" b="1">
                          <a:solidFill>
                            <a:srgbClr val="FFFFFF"/>
                          </a:solidFill>
                          <a:latin typeface="Calibri"/>
                        </a:rPr>
                        <a:t>Quvvat rejimlari</a:t>
                      </a:r>
                    </a:p>
                  </a:txBody>
                  <a:tcPr>
                    <a:solidFill>
                      <a:srgbClr val="2D5C8F"/>
                    </a:solidFill>
                  </a:tcPr>
                </a:tc>
              </a:tr>
              <a:tr h="520000">
                <a:tc>
                  <a:txBody>
                    <a:bodyPr/>
                    <a:lstStyle/>
                    <a:p>
                      <a:r>
                        <a:rPr sz="1400" b="0">
                          <a:solidFill>
                            <a:srgbClr val="1B2430"/>
                          </a:solidFill>
                          <a:latin typeface="Calibri"/>
                        </a:rPr>
                        <a:t>Jetson Orin Nano 8GB</a:t>
                      </a:r>
                    </a:p>
                  </a:txBody>
                  <a:tcPr>
                    <a:solidFill>
                      <a:srgbClr val="F1F4F8"/>
                    </a:solidFill>
                  </a:tcPr>
                </a:tc>
                <a:tc>
                  <a:txBody>
                    <a:bodyPr/>
                    <a:lstStyle/>
                    <a:p>
                      <a:r>
                        <a:rPr sz="1400" b="0">
                          <a:solidFill>
                            <a:srgbClr val="1B2430"/>
                          </a:solidFill>
                          <a:latin typeface="Calibri"/>
                        </a:rPr>
                        <a:t>1024 / 32</a:t>
                      </a:r>
                    </a:p>
                  </a:txBody>
                  <a:tcPr>
                    <a:solidFill>
                      <a:srgbClr val="F1F4F8"/>
                    </a:solidFill>
                  </a:tcPr>
                </a:tc>
                <a:tc>
                  <a:txBody>
                    <a:bodyPr/>
                    <a:lstStyle/>
                    <a:p>
                      <a:r>
                        <a:rPr sz="1400" b="0">
                          <a:solidFill>
                            <a:srgbClr val="1B2430"/>
                          </a:solidFill>
                          <a:latin typeface="Calibri"/>
                        </a:rPr>
                        <a:t>6× Cortex-A78AE</a:t>
                      </a:r>
                    </a:p>
                  </a:txBody>
                  <a:tcPr>
                    <a:solidFill>
                      <a:srgbClr val="F1F4F8"/>
                    </a:solidFill>
                  </a:tcPr>
                </a:tc>
                <a:tc>
                  <a:txBody>
                    <a:bodyPr/>
                    <a:lstStyle/>
                    <a:p>
                      <a:r>
                        <a:rPr sz="1400" b="0">
                          <a:solidFill>
                            <a:srgbClr val="1B2430"/>
                          </a:solidFill>
                          <a:latin typeface="Calibri"/>
                        </a:rPr>
                        <a:t>8 GB LPDDR5, 68 GB/s (Super: 102 GB/s)</a:t>
                      </a:r>
                    </a:p>
                  </a:txBody>
                  <a:tcPr>
                    <a:solidFill>
                      <a:srgbClr val="F1F4F8"/>
                    </a:solidFill>
                  </a:tcPr>
                </a:tc>
                <a:tc>
                  <a:txBody>
                    <a:bodyPr/>
                    <a:lstStyle/>
                    <a:p>
                      <a:r>
                        <a:rPr sz="1400" b="0">
                          <a:solidFill>
                            <a:srgbClr val="1B2430"/>
                          </a:solidFill>
                          <a:latin typeface="Calibri"/>
                        </a:rPr>
                        <a:t>~40 TOPS (Super: ~67 TOPS)</a:t>
                      </a:r>
                    </a:p>
                  </a:txBody>
                  <a:tcPr>
                    <a:solidFill>
                      <a:srgbClr val="F1F4F8"/>
                    </a:solidFill>
                  </a:tcPr>
                </a:tc>
                <a:tc>
                  <a:txBody>
                    <a:bodyPr/>
                    <a:lstStyle/>
                    <a:p>
                      <a:r>
                        <a:rPr sz="1400" b="0">
                          <a:solidFill>
                            <a:srgbClr val="1B2430"/>
                          </a:solidFill>
                          <a:latin typeface="Calibri"/>
                        </a:rPr>
                        <a:t>7–15 Vt (Super: 25 Vt)</a:t>
                      </a:r>
                    </a:p>
                  </a:txBody>
                  <a:tcPr>
                    <a:solidFill>
                      <a:srgbClr val="F1F4F8"/>
                    </a:solidFill>
                  </a:tcPr>
                </a:tc>
              </a:tr>
              <a:tr h="520000">
                <a:tc>
                  <a:txBody>
                    <a:bodyPr/>
                    <a:lstStyle/>
                    <a:p>
                      <a:r>
                        <a:rPr sz="1400" b="0">
                          <a:solidFill>
                            <a:srgbClr val="1B2430"/>
                          </a:solidFill>
                          <a:latin typeface="Calibri"/>
                        </a:rPr>
                        <a:t>Jetson Orin NX 16GB</a:t>
                      </a:r>
                    </a:p>
                  </a:txBody>
                  <a:tcPr>
                    <a:solidFill>
                      <a:srgbClr val="FFFFFF"/>
                    </a:solidFill>
                  </a:tcPr>
                </a:tc>
                <a:tc>
                  <a:txBody>
                    <a:bodyPr/>
                    <a:lstStyle/>
                    <a:p>
                      <a:r>
                        <a:rPr sz="1400" b="0">
                          <a:solidFill>
                            <a:srgbClr val="1B2430"/>
                          </a:solidFill>
                          <a:latin typeface="Calibri"/>
                        </a:rPr>
                        <a:t>1024 / 32 + 2 DLA</a:t>
                      </a:r>
                    </a:p>
                  </a:txBody>
                  <a:tcPr>
                    <a:solidFill>
                      <a:srgbClr val="FFFFFF"/>
                    </a:solidFill>
                  </a:tcPr>
                </a:tc>
                <a:tc>
                  <a:txBody>
                    <a:bodyPr/>
                    <a:lstStyle/>
                    <a:p>
                      <a:r>
                        <a:rPr sz="1400" b="0">
                          <a:solidFill>
                            <a:srgbClr val="1B2430"/>
                          </a:solidFill>
                          <a:latin typeface="Calibri"/>
                        </a:rPr>
                        <a:t>8× Cortex-A78AE</a:t>
                      </a:r>
                    </a:p>
                  </a:txBody>
                  <a:tcPr>
                    <a:solidFill>
                      <a:srgbClr val="FFFFFF"/>
                    </a:solidFill>
                  </a:tcPr>
                </a:tc>
                <a:tc>
                  <a:txBody>
                    <a:bodyPr/>
                    <a:lstStyle/>
                    <a:p>
                      <a:r>
                        <a:rPr sz="1400" b="0">
                          <a:solidFill>
                            <a:srgbClr val="1B2430"/>
                          </a:solidFill>
                          <a:latin typeface="Calibri"/>
                        </a:rPr>
                        <a:t>16 GB, 102 GB/s</a:t>
                      </a:r>
                    </a:p>
                  </a:txBody>
                  <a:tcPr>
                    <a:solidFill>
                      <a:srgbClr val="FFFFFF"/>
                    </a:solidFill>
                  </a:tcPr>
                </a:tc>
                <a:tc>
                  <a:txBody>
                    <a:bodyPr/>
                    <a:lstStyle/>
                    <a:p>
                      <a:r>
                        <a:rPr sz="1400" b="0">
                          <a:solidFill>
                            <a:srgbClr val="1B2430"/>
                          </a:solidFill>
                          <a:latin typeface="Calibri"/>
                        </a:rPr>
                        <a:t>~100 TOPS (Super: ~157)</a:t>
                      </a:r>
                    </a:p>
                  </a:txBody>
                  <a:tcPr>
                    <a:solidFill>
                      <a:srgbClr val="FFFFFF"/>
                    </a:solidFill>
                  </a:tcPr>
                </a:tc>
                <a:tc>
                  <a:txBody>
                    <a:bodyPr/>
                    <a:lstStyle/>
                    <a:p>
                      <a:r>
                        <a:rPr sz="1400" b="0">
                          <a:solidFill>
                            <a:srgbClr val="1B2430"/>
                          </a:solidFill>
                          <a:latin typeface="Calibri"/>
                        </a:rPr>
                        <a:t>10–25 Vt (Super: 40 Vt)</a:t>
                      </a:r>
                    </a:p>
                  </a:txBody>
                  <a:tcPr>
                    <a:solidFill>
                      <a:srgbClr val="FFFFFF"/>
                    </a:solidFill>
                  </a:tcPr>
                </a:tc>
              </a:tr>
              <a:tr h="520000">
                <a:tc>
                  <a:txBody>
                    <a:bodyPr/>
                    <a:lstStyle/>
                    <a:p>
                      <a:r>
                        <a:rPr sz="1400" b="0">
                          <a:solidFill>
                            <a:srgbClr val="1B2430"/>
                          </a:solidFill>
                          <a:latin typeface="Calibri"/>
                        </a:rPr>
                        <a:t>Jetson AGX Orin 64GB</a:t>
                      </a:r>
                    </a:p>
                  </a:txBody>
                  <a:tcPr>
                    <a:solidFill>
                      <a:srgbClr val="F1F4F8"/>
                    </a:solidFill>
                  </a:tcPr>
                </a:tc>
                <a:tc>
                  <a:txBody>
                    <a:bodyPr/>
                    <a:lstStyle/>
                    <a:p>
                      <a:r>
                        <a:rPr sz="1400" b="0">
                          <a:solidFill>
                            <a:srgbClr val="1B2430"/>
                          </a:solidFill>
                          <a:latin typeface="Calibri"/>
                        </a:rPr>
                        <a:t>2048 / 64 + 2 DLA</a:t>
                      </a:r>
                    </a:p>
                  </a:txBody>
                  <a:tcPr>
                    <a:solidFill>
                      <a:srgbClr val="F1F4F8"/>
                    </a:solidFill>
                  </a:tcPr>
                </a:tc>
                <a:tc>
                  <a:txBody>
                    <a:bodyPr/>
                    <a:lstStyle/>
                    <a:p>
                      <a:r>
                        <a:rPr sz="1400" b="0">
                          <a:solidFill>
                            <a:srgbClr val="1B2430"/>
                          </a:solidFill>
                          <a:latin typeface="Calibri"/>
                        </a:rPr>
                        <a:t>12× Cortex-A78AE</a:t>
                      </a:r>
                    </a:p>
                  </a:txBody>
                  <a:tcPr>
                    <a:solidFill>
                      <a:srgbClr val="F1F4F8"/>
                    </a:solidFill>
                  </a:tcPr>
                </a:tc>
                <a:tc>
                  <a:txBody>
                    <a:bodyPr/>
                    <a:lstStyle/>
                    <a:p>
                      <a:r>
                        <a:rPr sz="1400" b="0">
                          <a:solidFill>
                            <a:srgbClr val="1B2430"/>
                          </a:solidFill>
                          <a:latin typeface="Calibri"/>
                        </a:rPr>
                        <a:t>64 GB, 204,8 GB/s</a:t>
                      </a:r>
                    </a:p>
                  </a:txBody>
                  <a:tcPr>
                    <a:solidFill>
                      <a:srgbClr val="F1F4F8"/>
                    </a:solidFill>
                  </a:tcPr>
                </a:tc>
                <a:tc>
                  <a:txBody>
                    <a:bodyPr/>
                    <a:lstStyle/>
                    <a:p>
                      <a:r>
                        <a:rPr sz="1400" b="0">
                          <a:solidFill>
                            <a:srgbClr val="1B2430"/>
                          </a:solidFill>
                          <a:latin typeface="Calibri"/>
                        </a:rPr>
                        <a:t>~275 TOPS</a:t>
                      </a:r>
                    </a:p>
                  </a:txBody>
                  <a:tcPr>
                    <a:solidFill>
                      <a:srgbClr val="F1F4F8"/>
                    </a:solidFill>
                  </a:tcPr>
                </a:tc>
                <a:tc>
                  <a:txBody>
                    <a:bodyPr/>
                    <a:lstStyle/>
                    <a:p>
                      <a:r>
                        <a:rPr sz="1400" b="0">
                          <a:solidFill>
                            <a:srgbClr val="1B2430"/>
                          </a:solidFill>
                          <a:latin typeface="Calibri"/>
                        </a:rPr>
                        <a:t>15–60 Vt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b5bd977528652ec.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Acabashi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Dasturiy vositalar zanjiri: konvertatsiya, kvantlash, delegat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Dasturiy vositalar zanjiri: konvertatsiya, kvantlash, delegat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250048"/>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0048"/>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7502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0048"/>
            <a:ext cx="10150000" cy="1389952"/>
          </a:xfrm>
          <a:prstGeom prst="rect">
            <a:avLst/>
          </a:prstGeom>
          <a:noFill/>
        </p:spPr>
        <p:txBody>
          <a:bodyPr wrap="square" anchor="ctr">
            <a:spAutoFit/>
          </a:bodyPr>
          <a:lstStyle/>
          <a:p>
            <a:r>
              <a:rPr sz="1800" b="1">
                <a:solidFill>
                  <a:srgbClr val="1F3A5F"/>
                </a:solidFill>
                <a:latin typeface="Calibri"/>
              </a:rPr>
              <a:t>Chekka qurilma uchun model tayyorlash odatda uch bosqichdan iborat.</a:t>
            </a:r>
          </a:p>
          <a:p>
            <a:pPr>
              <a:spcBef>
                <a:spcPts val="400"/>
              </a:spcBef>
            </a:pPr>
            <a:r>
              <a:rPr sz="1700">
                <a:solidFill>
                  <a:srgbClr val="334055"/>
                </a:solidFill>
                <a:latin typeface="Calibri"/>
              </a:rPr>
              <a:t>Birinchi — formatga o'tkazish: PyTorch → ONNX (torch.onnx.export) → ONNX Runtime (Jetson'da CUDA/TensorRT execution provider bilan) yoki TensorRT dvigateli; TensorFlow/Keras → TensorFlow Lite (2024 yildan boshlab LiteRT nomi bilan) → Edge TPU kompilyatori yoki TFLM.</a:t>
            </a:r>
          </a:p>
        </p:txBody>
      </p:sp>
      <p:sp>
        <p:nvSpPr>
          <p:cNvPr id="14" name="Rounded Rectangle 13"/>
          <p:cNvSpPr/>
          <p:nvPr/>
        </p:nvSpPr>
        <p:spPr>
          <a:xfrm>
            <a:off x="550000" y="3830000"/>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35497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389952"/>
          </a:xfrm>
          <a:prstGeom prst="rect">
            <a:avLst/>
          </a:prstGeom>
          <a:noFill/>
        </p:spPr>
        <p:txBody>
          <a:bodyPr wrap="square" anchor="ctr">
            <a:spAutoFit/>
          </a:bodyPr>
          <a:lstStyle/>
          <a:p>
            <a:r>
              <a:rPr sz="1700" b="0">
                <a:solidFill>
                  <a:srgbClr val="1B2430"/>
                </a:solidFill>
                <a:latin typeface="Calibri"/>
              </a:rPr>
              <a:t>M8 mavzusida kvantlash va boshqa siqish usullari nazariy jihatdan chuqurroq ko'riladi; bu yerda ular chekka joylash kontekstida amaliy vosita sifatida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2d9bd8fb074cc5e.jpg"/>
          <p:cNvPicPr>
            <a:picLocks noChangeAspect="1"/>
          </p:cNvPicPr>
          <p:nvPr/>
        </p:nvPicPr>
        <p:blipFill>
          <a:blip r:embed="rId2"/>
          <a:srcRect l="22430" r="2243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iSys.PL · Wikimedia Commons · Attribution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IoT va Edge AI integratsiyasi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Internet buyumlari (IoT) tizimlarida chekka intellekt uch qatlamli arxitekturada ishlaydi: qurilmalar (sensorlar, kameralar, kontrollerlar) → shlyuz yoki chekka server (ma'lumot yig'ish, oldingi filtrlash, mahalliy inferens, vaqtincha saqlash) → bulut (uzoq…</a:t>
            </a:r>
          </a:p>
          <a:p>
            <a:pPr>
              <a:spcBef>
                <a:spcPts val="400"/>
              </a:spcBef>
            </a:pPr>
            <a:r>
              <a:rPr sz="1500">
                <a:solidFill>
                  <a:srgbClr val="334055"/>
                </a:solidFill>
                <a:latin typeface="Calibri"/>
              </a:rPr>
              <a:t>Aloqa protokollari: MQTT (yengil publish/subscribe, tarmoq uzilishiga chidamli), CoAP, AMQP, sanoatda OPC UA va Modbus.</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600" b="1">
                <a:solidFill>
                  <a:srgbClr val="1F3A5F"/>
                </a:solidFill>
                <a:latin typeface="Calibri"/>
              </a:rPr>
              <a:t>Model yangilash (OTA — over-the-air update) Edge AI'ning muhim tarkibiy qismi: model kuzatilgan ma'lumotda eskiradi (drift), yangi sinflar kerak bo'ladi, xatolar tuzatiladi.</a:t>
            </a:r>
          </a:p>
          <a:p>
            <a:pPr>
              <a:spcBef>
                <a:spcPts val="400"/>
              </a:spcBef>
            </a:pPr>
            <a:r>
              <a:rPr sz="1500">
                <a:solidFill>
                  <a:srgbClr val="334055"/>
                </a:solidFill>
                <a:latin typeface="Calibri"/>
              </a:rPr>
              <a:t>OTA tizimi versiyalash, imzolangan paketlar, bosqichma-bosqich tarqatish (canary) va muvaffaqiyatsizlikda avtomatik orqaga qaytishni ta'minlashi kerak. Bu MLOps (M12) va xavfsizlik (M9) mavzulari bilan kesishadi.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500" b="0">
                <a:solidFill>
                  <a:srgbClr val="1B2430"/>
                </a:solidFill>
                <a:latin typeface="Calibri"/>
              </a:rPr>
              <a:t>Bulut va chekka o'rtasidagi tanlovni quyidagi jadval umumlashtiradi: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Bulut inferens</a:t>
                      </a:r>
                    </a:p>
                  </a:txBody>
                  <a:tcPr>
                    <a:solidFill>
                      <a:srgbClr val="2D5C8F"/>
                    </a:solidFill>
                  </a:tcPr>
                </a:tc>
                <a:tc>
                  <a:txBody>
                    <a:bodyPr/>
                    <a:lstStyle/>
                    <a:p>
                      <a:r>
                        <a:rPr sz="1400" b="1">
                          <a:solidFill>
                            <a:srgbClr val="FFFFFF"/>
                          </a:solidFill>
                          <a:latin typeface="Calibri"/>
                        </a:rPr>
                        <a:t>Chekka inferens</a:t>
                      </a:r>
                    </a:p>
                  </a:txBody>
                  <a:tcPr>
                    <a:solidFill>
                      <a:srgbClr val="2D5C8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50–500 ms (tarmoqqa bog'liq)</a:t>
                      </a:r>
                    </a:p>
                  </a:txBody>
                  <a:tcPr>
                    <a:solidFill>
                      <a:srgbClr val="F1F4F8"/>
                    </a:solidFill>
                  </a:tcPr>
                </a:tc>
                <a:tc>
                  <a:txBody>
                    <a:bodyPr/>
                    <a:lstStyle/>
                    <a:p>
                      <a:r>
                        <a:rPr sz="1400" b="0">
                          <a:solidFill>
                            <a:srgbClr val="1B2430"/>
                          </a:solidFill>
                          <a:latin typeface="Calibri"/>
                        </a:rPr>
                        <a:t>5–50 ms, bashoratli</a:t>
                      </a:r>
                    </a:p>
                  </a:txBody>
                  <a:tcPr>
                    <a:solidFill>
                      <a:srgbClr val="F1F4F8"/>
                    </a:solidFill>
                  </a:tcPr>
                </a:tc>
              </a:tr>
              <a:tr h="520000">
                <a:tc>
                  <a:txBody>
                    <a:bodyPr/>
                    <a:lstStyle/>
                    <a:p>
                      <a:r>
                        <a:rPr sz="1400" b="0">
                          <a:solidFill>
                            <a:srgbClr val="1B2430"/>
                          </a:solidFill>
                          <a:latin typeface="Calibri"/>
                        </a:rPr>
                        <a:t>Model hajmi</a:t>
                      </a:r>
                    </a:p>
                  </a:txBody>
                  <a:tcPr>
                    <a:solidFill>
                      <a:srgbClr val="FFFFFF"/>
                    </a:solidFill>
                  </a:tcPr>
                </a:tc>
                <a:tc>
                  <a:txBody>
                    <a:bodyPr/>
                    <a:lstStyle/>
                    <a:p>
                      <a:r>
                        <a:rPr sz="1400" b="0">
                          <a:solidFill>
                            <a:srgbClr val="1B2430"/>
                          </a:solidFill>
                          <a:latin typeface="Calibri"/>
                        </a:rPr>
                        <a:t>cheklanmagan</a:t>
                      </a:r>
                    </a:p>
                  </a:txBody>
                  <a:tcPr>
                    <a:solidFill>
                      <a:srgbClr val="FFFFFF"/>
                    </a:solidFill>
                  </a:tcPr>
                </a:tc>
                <a:tc>
                  <a:txBody>
                    <a:bodyPr/>
                    <a:lstStyle/>
                    <a:p>
                      <a:r>
                        <a:rPr sz="1400" b="0">
                          <a:solidFill>
                            <a:srgbClr val="1B2430"/>
                          </a:solidFill>
                          <a:latin typeface="Calibri"/>
                        </a:rPr>
                        <a:t>odatda 1–500 MB, TinyML'da KB'lar</a:t>
                      </a:r>
                    </a:p>
                  </a:txBody>
                  <a:tcPr>
                    <a:solidFill>
                      <a:srgbClr val="FFFFFF"/>
                    </a:solidFill>
                  </a:tcPr>
                </a:tc>
              </a:tr>
              <a:tr h="520000">
                <a:tc>
                  <a:txBody>
                    <a:bodyPr/>
                    <a:lstStyle/>
                    <a:p>
                      <a:r>
                        <a:rPr sz="1400" b="0">
                          <a:solidFill>
                            <a:srgbClr val="1B2430"/>
                          </a:solidFill>
                          <a:latin typeface="Calibri"/>
                        </a:rPr>
                        <a:t>Yangilash</a:t>
                      </a:r>
                    </a:p>
                  </a:txBody>
                  <a:tcPr>
                    <a:solidFill>
                      <a:srgbClr val="F1F4F8"/>
                    </a:solidFill>
                  </a:tcPr>
                </a:tc>
                <a:tc>
                  <a:txBody>
                    <a:bodyPr/>
                    <a:lstStyle/>
                    <a:p>
                      <a:r>
                        <a:rPr sz="1400" b="0">
                          <a:solidFill>
                            <a:srgbClr val="1B2430"/>
                          </a:solidFill>
                          <a:latin typeface="Calibri"/>
                        </a:rPr>
                        <a:t>markazlashgan, oson</a:t>
                      </a:r>
                    </a:p>
                  </a:txBody>
                  <a:tcPr>
                    <a:solidFill>
                      <a:srgbClr val="F1F4F8"/>
                    </a:solidFill>
                  </a:tcPr>
                </a:tc>
                <a:tc>
                  <a:txBody>
                    <a:bodyPr/>
                    <a:lstStyle/>
                    <a:p>
                      <a:r>
                        <a:rPr sz="1400" b="0">
                          <a:solidFill>
                            <a:srgbClr val="1B2430"/>
                          </a:solidFill>
                          <a:latin typeface="Calibri"/>
                        </a:rPr>
                        <a:t>OTA tizimi talab qiladi</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so'rov hajmiga proporsional</a:t>
                      </a:r>
                    </a:p>
                  </a:txBody>
                  <a:tcPr>
                    <a:solidFill>
                      <a:srgbClr val="FFFFFF"/>
                    </a:solidFill>
                  </a:tcPr>
                </a:tc>
                <a:tc>
                  <a:txBody>
                    <a:bodyPr/>
                    <a:lstStyle/>
                    <a:p>
                      <a:r>
                        <a:rPr sz="1400" b="0">
                          <a:solidFill>
                            <a:srgbClr val="1B2430"/>
                          </a:solidFill>
                          <a:latin typeface="Calibri"/>
                        </a:rPr>
                        <a:t>bir martalik apparat + texnik xizmat</a:t>
                      </a:r>
                    </a:p>
                  </a:txBody>
                  <a:tcPr>
                    <a:solidFill>
                      <a:srgbClr val="FFFFFF"/>
                    </a:solidFill>
                  </a:tcPr>
                </a:tc>
              </a:tr>
              <a:tr h="520000">
                <a:tc>
                  <a:txBody>
                    <a:bodyPr/>
                    <a:lstStyle/>
                    <a:p>
                      <a:r>
                        <a:rPr sz="1400" b="0">
                          <a:solidFill>
                            <a:srgbClr val="1B2430"/>
                          </a:solidFill>
                          <a:latin typeface="Calibri"/>
                        </a:rPr>
                        <a:t>Maxfiylik</a:t>
                      </a:r>
                    </a:p>
                  </a:txBody>
                  <a:tcPr>
                    <a:solidFill>
                      <a:srgbClr val="F1F4F8"/>
                    </a:solidFill>
                  </a:tcPr>
                </a:tc>
                <a:tc>
                  <a:txBody>
                    <a:bodyPr/>
                    <a:lstStyle/>
                    <a:p>
                      <a:r>
                        <a:rPr sz="1400" b="0">
                          <a:solidFill>
                            <a:srgbClr val="1B2430"/>
                          </a:solidFill>
                          <a:latin typeface="Calibri"/>
                        </a:rPr>
                        <a:t>ma'lumot qurilmadan chiqadi</a:t>
                      </a:r>
                    </a:p>
                  </a:txBody>
                  <a:tcPr>
                    <a:solidFill>
                      <a:srgbClr val="F1F4F8"/>
                    </a:solidFill>
                  </a:tcPr>
                </a:tc>
                <a:tc>
                  <a:txBody>
                    <a:bodyPr/>
                    <a:lstStyle/>
                    <a:p>
                      <a:r>
                        <a:rPr sz="1400" b="0">
                          <a:solidFill>
                            <a:srgbClr val="1B2430"/>
                          </a:solidFill>
                          <a:latin typeface="Calibri"/>
                        </a:rPr>
                        <a:t>ma'lumot joyida qoladi</a:t>
                      </a:r>
                    </a:p>
                  </a:txBody>
                  <a:tcPr>
                    <a:solidFill>
                      <a:srgbClr val="F1F4F8"/>
                    </a:solidFill>
                  </a:tcPr>
                </a:tc>
              </a:tr>
              <a:tr h="520000">
                <a:tc>
                  <a:txBody>
                    <a:bodyPr/>
                    <a:lstStyle/>
                    <a:p>
                      <a:r>
                        <a:rPr sz="1400" b="0">
                          <a:solidFill>
                            <a:srgbClr val="1B2430"/>
                          </a:solidFill>
                          <a:latin typeface="Calibri"/>
                        </a:rPr>
                        <a:t>Oflayn ishlash</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ha</a:t>
                      </a:r>
                    </a:p>
                  </a:txBody>
                  <a:tcPr>
                    <a:solidFill>
                      <a:srgbClr val="FFFFFF"/>
                    </a:solidFill>
                  </a:tcPr>
                </a:tc>
              </a:tr>
              <a:tr h="520000">
                <a:tc>
                  <a:txBody>
                    <a:bodyPr/>
                    <a:lstStyle/>
                    <a:p>
                      <a:r>
                        <a:rPr sz="1400" b="0">
                          <a:solidFill>
                            <a:srgbClr val="1B2430"/>
                          </a:solidFill>
                          <a:latin typeface="Calibri"/>
                        </a:rPr>
                        <a:t>Energiya (qurilma)</a:t>
                      </a:r>
                    </a:p>
                  </a:txBody>
                  <a:tcPr>
                    <a:solidFill>
                      <a:srgbClr val="F1F4F8"/>
                    </a:solidFill>
                  </a:tcPr>
                </a:tc>
                <a:tc>
                  <a:txBody>
                    <a:bodyPr/>
                    <a:lstStyle/>
                    <a:p>
                      <a:r>
                        <a:rPr sz="1400" b="0">
                          <a:solidFill>
                            <a:srgbClr val="1B2430"/>
                          </a:solidFill>
                          <a:latin typeface="Calibri"/>
                        </a:rPr>
                        <a:t>radio uzatish</a:t>
                      </a:r>
                    </a:p>
                  </a:txBody>
                  <a:tcPr>
                    <a:solidFill>
                      <a:srgbClr val="F1F4F8"/>
                    </a:solidFill>
                  </a:tcPr>
                </a:tc>
                <a:tc>
                  <a:txBody>
                    <a:bodyPr/>
                    <a:lstStyle/>
                    <a:p>
                      <a:r>
                        <a:rPr sz="1400" b="0">
                          <a:solidFill>
                            <a:srgbClr val="1B2430"/>
                          </a:solidFill>
                          <a:latin typeface="Calibri"/>
                        </a:rPr>
                        <a:t>hisoblash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
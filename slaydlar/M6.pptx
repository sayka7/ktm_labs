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intellektual tizimlarda hisoblash bir nechta darajaga taqsimlanadi. Bulut (cloud) — model o'qitish, katta modellar, tarixiy tahlil. Tuman yoki chekka server (fog / edge server) — zavod, kasalxona yoki telekom bazaviy stansiyasidagi kichik server (masalan, bir nechta L4 yoki Jetson AGX Orin bilan), o'nlab kameralarni qayta ishlaydi. Qurilma chekkasi (device edge) — kamera, shlyuz, robot, telefon ichidagi hisoblash moduli. Nihoyat, sensor chekkasi (TinyML) — batareyali mikrokontrollerda, sensor yonida bajariladigan juda kichik modellar.</a:t>
            </a:r>
          </a:p>
          <a:p/>
          <a:p>
            <a:r>
              <a:t>Edge AI konsepsiyasining asosiy tamoyili — ma'lumotni emas, qarorni uzatish. Kamera xom videoni emas, «konveyerda nuqsonli mahsulot №4471» degan hodisani yuboradi; bu uzatish hajmini ming martalab kamaytiradi va qaror kechikishini millisekundlar darajasiga tushiradi. Ikkinchi tamoyil — hamkorlik: chekka qurilma tez va arzon qarorlarni o'zi qabul qiladi, ishonchsiz holatlarni (past ehtimollik) bulutga yuboradi, bulut esa yangilangan modelni qaytarib beradi. Uchinchi tamoyil — avtonomlik: tarmoq yo'q bo'lsa ham asosiy funksiya ishlashi shart.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O'rnatilgan tizim (embedded system) — muayyan funksiyani bajarish uchun qurilma ichiga joylashtirilgan ixtisoslashgan kompyuter. Unga sun'iy intellekt qo'shilganda «Embedded AI» yoki «intellektual o'rnatilgan tizim» paydo bo'ladi. Oddiy o'rnatilgan tizimdan farqi — xulq-atvor qoidalar bilan emas, ma'lumotdan o'rganilgan model bilan belgilanadi, bu esa tekshirish (verification) va ishonchlilik masalalarini murakkablashtiradi.</a:t>
            </a:r>
          </a:p>
          <a:p/>
          <a:p>
            <a:r>
              <a:t>Real vaqt rejimida ishlash (real-time) atamasi «tez» degani emas, balki «belgilangan muddat ichida kafolatlangan» deganidir. Qattiq real vaqt (hard real-time) tizimlarda muddatni o'tkazib yuborish — tizim nosozligi (avtomobil tormozi, tibbiy qurilma); yumshoq real vaqt (soft real-time) tizimlarda — sifat pasayishi (video kadr tushib qolishi). Sun'iy intellekt modellari uchun muhim ko'rsatkich o'rtacha emas, balki eng yomon holat yoki yuqori persentil kechikishi (p99). GPU'da ishlaydigan modellarning kechikishi odatda deterministik emas: xotira ajratish, kernel kompilyatsiyasi, operatsion tizimning boshqa jarayonlari ta'sir qiladi. Shu sababli real vaqt tizimlarda quyidagi amaliyotlar qo'llaniladi: barcha xotirani ishga tushirishda oldindan ajratish, birinchi inferensni «isitish», modelni TensorRT yoki tflite'da oldindan kompilyatsiya qilish, inferens ipini yuqori ustuvorlikka va alohida yadroga bog'lash, Jetson'da nvpmodel va jetson_clocks bilan chastotalarni qotirish, zarur bo'lsa Linux'da PREEMPT_RT yadro yoki alohida real vaqt operatsion tizimi (Zephyr, FreeRTOS) ishlatish.</a:t>
            </a:r>
          </a:p>
          <a:p/>
          <a:p>
            <a:r>
              <a:t>Quvur (pipeline) nuqtai nazaridan inferens — kamera → dekodlash → oldindan qayta ishlash (o'lcham o'zgartirish, normalizatsiya) → model → keyingi qayta ishlash (NMS, kuzatish) → qaror. Ko'pincha modelning o'zi quvur vaqtining yarmidan kamini oladi; qolgani JPEG dekodlash, rang fazosi konvertatsiyasi va CPU–GPU nusxalashga ketadi. Jetson'da bu bosqichlar NVDEC apparat dekoderi, VIC (Video Image Compositor) va DeepStream SDK orqali GPU'ga yuklanadi, shunda CPU bo'shab qoladi.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O'rnatilgan tizim (embedded system) — muayyan funksiyani bajarish uchun qurilma ichiga joylashtirilgan ixtisoslashgan kompyuter. Unga sun'iy intellekt qo'shilganda «Embedded AI» yoki «intellektual o'rnatilgan tizim» paydo bo'ladi. Oddiy o'rnatilgan tizimdan farqi — xulq-atvor qoidalar bilan emas, ma'lumotdan o'rganilgan model bilan belgilanadi, bu esa tekshirish (verification) va ishonchlilik masalalarini murakkablashtiradi.</a:t>
            </a:r>
          </a:p>
          <a:p/>
          <a:p>
            <a:r>
              <a:t>Real vaqt rejimida ishlash (real-time) atamasi «tez» degani emas, balki «belgilangan muddat ichida kafolatlangan» deganidir. Qattiq real vaqt (hard real-time) tizimlarda muddatni o'tkazib yuborish — tizim nosozligi (avtomobil tormozi, tibbiy qurilma); yumshoq real vaqt (soft real-time) tizimlarda — sifat pasayishi (video kadr tushib qolishi). Sun'iy intellekt modellari uchun muhim ko'rsatkich o'rtacha emas, balki eng yomon holat yoki yuqori persentil kechikishi (p99). GPU'da ishlaydigan modellarning kechikishi odatda deterministik emas: xotira ajratish, kernel kompilyatsiyasi, operatsion tizimning boshqa jarayonlari ta'sir qiladi. Shu sababli real vaqt tizimlarda quyidagi amaliyotlar qo'llaniladi: barcha xotirani ishga tushirishda oldindan ajratish, birinchi inferensni «isitish», modelni TensorRT yoki tflite'da oldindan kompilyatsiya qilish, inferens ipini yuqori ustuvorlikka va alohida yadroga bog'lash, Jetson'da nvpmodel va jetson_clocks bilan chastotalarni qotirish, zarur bo'lsa Linux'da PREEMPT_RT yadro yoki alohida real vaqt operatsion tizimi (Zephyr, FreeRTOS) ishlatish.</a:t>
            </a:r>
          </a:p>
          <a:p/>
          <a:p>
            <a:r>
              <a:t>Quvur (pipeline) nuqtai nazaridan inferens — kamera → dekodlash → oldindan qayta ishlash (o'lcham o'zgartirish, normalizatsiya) → model → keyingi qayta ishlash (NMS, kuzatish) → qaror. Ko'pincha modelning o'zi quvur vaqtining yarmidan kamini oladi; qolgani JPEG dekodlash, rang fazosi konvertatsiyasi va CPU–GPU nusxalashga ketadi. Jetson'da bu bosqichlar NVDEC apparat dekoderi, VIC (Video Image Compositor) va DeepStream SDK orqali GPU'ga yuklanadi, shunda CPU bo'shab qoladi.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TinyML — mashinali o'qitish modellarini milliVatt darajasidagi quvvat bilan ishlaydigan mikrokontrollerlarda bajarish yo'nalishi. Tipik maqsad qurilma: Arm Cortex-M4F, 80–200 MHz, 256 KB flesh, 64–320 KB SRAM, suzuvchi nuqtali blok bor, lekin kesh va operatsion tizim deyarli yo'q. Bunday qurilma yillab bitta tangasimon batareyada ishlashi mumkin, shuning uchun TinyML «doim yoqiq» (always-on) vazifalar uchun ideal: kalit so'zni aniqlash («Hey Siri» uslubida), sensor orqali uskuna tebranishida anomaliyani sezish, akselerometr bilan harakat turini aniqlash, kichik kamerada odam bor-yo'qligini aniqlash.</a:t>
            </a:r>
          </a:p>
          <a:p/>
          <a:p>
            <a:r>
              <a:t>TinyML'ning texnik asoslari: modellar o'nlab–yuzlab kilobayt (masalan, kalit so'z aniqlovchi DS-CNN ~20–50 KB, odam aniqlash uchun MobileNet-v1 0,25x ~250–300 KB INT8); barcha og'irliklar INT8'ga kvantlangan, hisoblash butun sonli arifmetikada; xotira statik — dinamik ajratish yo'q, «tensor arena» deb ataladigan bitta bufer oldindan ajratiladi; dasturiy stek — TensorFlow Lite for Microcontrollers (TFLM), Arm CMSIS-NN kernellari (Cortex-M'ning SIMD ko'rsatmalaridan foydalanadi), Edge Impulse kabi platformalar. Arm Ethos-U55/U65 microNPU'lari Cortex-M55 bilan birga INT8 konvolyutsiyani apparat darajasida tezlashtirib, bir xil quvvatda o'nlab marta ko'proq amal bajaradi.</a:t>
            </a:r>
          </a:p>
          <a:p/>
          <a:p>
            <a:r>
              <a:t>TinyML loyihasida muhandis quyidagi balansni ushlab turadi: model aniqligi, flesh hajmi (model + kod), SRAM (arena + aktivatsiyalar), inferens vaqti (davomiylik va chastota orqali energiya) va batareya umri. Masalan, 1 mJ/inferens sarflaydigan model sekundiga bir marta ishlasa, 1000 mAh (≈ 3,7 Vt·soat ≈ 13 kJ) batareya nazariy jihatdan yillarcha yetadi; lekin radio uzatish ko'pincha inferensdan ko'proq energiya oladi, shuning uchun «qarorni uzatish» tamoyili bu yerda ham ishlaydi.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TinyML — mashinali o'qitish modellarini milliVatt darajasidagi quvvat bilan ishlaydigan mikrokontrollerlarda bajarish yo'nalishi. Tipik maqsad qurilma: Arm Cortex-M4F, 80–200 MHz, 256 KB flesh, 64–320 KB SRAM, suzuvchi nuqtali blok bor, lekin kesh va operatsion tizim deyarli yo'q. Bunday qurilma yillab bitta tangasimon batareyada ishlashi mumkin, shuning uchun TinyML «doim yoqiq» (always-on) vazifalar uchun ideal: kalit so'zni aniqlash («Hey Siri» uslubida), sensor orqali uskuna tebranishida anomaliyani sezish, akselerometr bilan harakat turini aniqlash, kichik kamerada odam bor-yo'qligini aniqlash.</a:t>
            </a:r>
          </a:p>
          <a:p/>
          <a:p>
            <a:r>
              <a:t>TinyML'ning texnik asoslari: modellar o'nlab–yuzlab kilobayt (masalan, kalit so'z aniqlovchi DS-CNN ~20–50 KB, odam aniqlash uchun MobileNet-v1 0,25x ~250–300 KB INT8); barcha og'irliklar INT8'ga kvantlangan, hisoblash butun sonli arifmetikada; xotira statik — dinamik ajratish yo'q, «tensor arena» deb ataladigan bitta bufer oldindan ajratiladi; dasturiy stek — TensorFlow Lite for Microcontrollers (TFLM), Arm CMSIS-NN kernellari (Cortex-M'ning SIMD ko'rsatmalaridan foydalanadi), Edge Impulse kabi platformalar. Arm Ethos-U55/U65 microNPU'lari Cortex-M55 bilan birga INT8 konvolyutsiyani apparat darajasida tezlashtirib, bir xil quvvatda o'nlab marta ko'proq amal bajaradi.</a:t>
            </a:r>
          </a:p>
          <a:p/>
          <a:p>
            <a:r>
              <a:t>TinyML loyihasida muhandis quyidagi balansni ushlab turadi: model aniqligi, flesh hajmi (model + kod), SRAM (arena + aktivatsiyalar), inferens vaqti (davomiylik va chastota orqali energiya) va batareya umri. Masalan, 1 mJ/inferens sarflaydigan model sekundiga bir marta ishlasa, 1000 mAh (≈ 3,7 Vt·soat ≈ 13 kJ) batareya nazariy jihatdan yillarcha yetadi; lekin radio uzatish ko'pincha inferensdan ko'proq energiya oladi, shuning uchun «qarorni uzatish» tamoyili bu yerda ham ishlaydi.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 Jetson — Arm protsessor, Ampere arxitekturali GPU (Tensor Core bilan), apparat video kodek va ixtiyoriy DLA (Deep Learning Accelerator) bloklarini bitta modulda birlashtirgan tizim-modul (system-on-module). Orin avlodi ko'rsatkichlari (zich INT8, Tensor Core, ishlab chiqaruvchi ma'lumotlari, taxminiy):</a:t>
            </a:r>
          </a:p>
          <a:p/>
          <a:p>
            <a:r>
              <a:t>Jetson'ning asosiy afzalligi — to'liq CUDA ekotizimi: ma'lumot markazida ishlatiladigan PyTorch, TensorRT, cuDNN, DeepStream, Triton Inference Server bevosita ishlaydi, shuning uchun bulutdan chekkaga ko'chish nisbatan oson. DLA bloklari esa INT8/FP16 konvolyutsion tarmoqlarni GPU'dan kamroq quvvat bilan bajaradi va GPU'ni boshqa vazifalarga bo'shatadi. JetPack SDK (Ubuntu asosida) barcha drayverlar va kutubxonalarni o'z ichiga oladi. Kamchiliklari: narx (modul 250–2000 dollar oralig'ida), boshqa chekka chiplarga nisbatan yuqori quvvat, va Arm'da ba'zi Python paketlarini qurish qiyinligi.</a:t>
            </a:r>
          </a:p>
          <a:p/>
          <a:p>
            <a:r>
              <a:t>Google Edge TPU (Coral mahsulot oilasi) — mutlaqo boshqa falsafa: faqat INT8, faqat TensorFlow Lite formatidagi va maxsus kompilyator (edgetpu_compiler) orqali o'tkazilgan modellar; 4 TOPS (INT8) unumdorlik atigi ~2 Vt (0,5 Vt/TOPS) iste'molda; USB stik, M.2/PCIe modul yoki Dev Board ko'rinishida. Edge TPU sistolik massiv (systolic array) arxitekturasida qurilgan: ma'lumot massiv bo'ylab oqadi, har bir element ko'paytirish-qo'shish bajaradi va natijani qo'shnisiga uzatadi — xotiraga murojaat minimal, energiya samaradorligi maksimal (M4 va M5 mavzularidagi ma'lumot harakati tamoyilining amaliy ifodasi). Cheklovlar: faqat qo'llab-quvvatlanadigan operatsiyalar TPU'da bajariladi, qolganlari CPU'ga qaytadi (va grafda birinchi qo'llab-quvvatlanmagan operatsiyadan keyingi barchasi CPU'da qoladi); model parametrlari uchun ~8 MB chip ichi keshi bor, kattaroq modellar og'irliklarni oqim bilan yuklaydi va sekinlashadi; FP16 yoki dinamik shakllar yo'q. Shuni ham qayd etish kerakki, Coral qatori so'nggi yillarda sekin yangilanmoqda, shuning uchun yangi loyihalarda muqobil NPU'lar (Hailo-8, Qualcomm, Rockchip NPU, Intel NPU) ham ko'rib chiqiladi.</a:t>
            </a:r>
          </a:p>
          <a:p/>
          <a:p>
            <a:r>
              <a:t>Mobil telefonlarda NPU — Apple Neural Engine, Qualcomm Hexagon, Samsung/Google tensor bloklari — o'nlab TOPS beradi; ularga kirish Core ML, Android NNAPI (hozir asta-sekin LiteRT delegatlari va vendor SDK'lar bilan almashtirilmoqda), Qualcomm QNN orqali amalga oshiriladi.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 Jetson — Arm protsessor, Ampere arxitekturali GPU (Tensor Core bilan), apparat video kodek va ixtiyoriy DLA (Deep Learning Accelerator) bloklarini bitta modulda birlashtirgan tizim-modul (system-on-module). Orin avlodi ko'rsatkichlari (zich INT8, Tensor Core, ishlab chiqaruvchi ma'lumotlari, taxminiy):</a:t>
            </a:r>
          </a:p>
          <a:p/>
          <a:p>
            <a:r>
              <a:t>Jetson'ning asosiy afzalligi — to'liq CUDA ekotizimi: ma'lumot markazida ishlatiladigan PyTorch, TensorRT, cuDNN, DeepStream, Triton Inference Server bevosita ishlaydi, shuning uchun bulutdan chekkaga ko'chish nisbatan oson. DLA bloklari esa INT8/FP16 konvolyutsion tarmoqlarni GPU'dan kamroq quvvat bilan bajaradi va GPU'ni boshqa vazifalarga bo'shatadi. JetPack SDK (Ubuntu asosida) barcha drayverlar va kutubxonalarni o'z ichiga oladi. Kamchiliklari: narx (modul 250–2000 dollar oralig'ida), boshqa chekka chiplarga nisbatan yuqori quvvat, va Arm'da ba'zi Python paketlarini qurish qiyinligi.</a:t>
            </a:r>
          </a:p>
          <a:p/>
          <a:p>
            <a:r>
              <a:t>Google Edge TPU (Coral mahsulot oilasi) — mutlaqo boshqa falsafa: faqat INT8, faqat TensorFlow Lite formatidagi va maxsus kompilyator (edgetpu_compiler) orqali o'tkazilgan modellar; 4 TOPS (INT8) unumdorlik atigi ~2 Vt (0,5 Vt/TOPS) iste'molda; USB stik, M.2/PCIe modul yoki Dev Board ko'rinishida. Edge TPU sistolik massiv (systolic array) arxitekturasida qurilgan: ma'lumot massiv bo'ylab oqadi, har bir element ko'paytirish-qo'shish bajaradi va natijani qo'shnisiga uzatadi — xotiraga murojaat minimal, energiya samaradorligi maksimal (M4 va M5 mavzularidagi ma'lumot harakati tamoyilining amaliy ifodasi). Cheklovlar: faqat qo'llab-quvvatlanadigan operatsiyalar TPU'da bajariladi, qolganlari CPU'ga qaytadi (va grafda birinchi qo'llab-quvvatlanmagan operatsiyadan keyingi barchasi CPU'da qoladi); model parametrlari uchun ~8 MB chip ichi keshi bor, kattaroq modellar og'irliklarni oqim bilan yuklaydi va sekinlashadi; FP16 yoki dinamik shakllar yo'q. Shuni ham qayd etish kerakki, Coral qatori so'nggi yillarda sekin yangilanmoqda, shuning uchun yangi loyihalarda muqobil NPU'lar (Hailo-8, Qualcomm, Rockchip NPU, Intel NPU) ham ko'rib chiqiladi.</a:t>
            </a:r>
          </a:p>
          <a:p/>
          <a:p>
            <a:r>
              <a:t>Mobil telefonlarda NPU — Apple Neural Engine, Qualcomm Hexagon, Samsung/Google tensor bloklari — o'nlab TOPS beradi; ularga kirish Core ML, Android NNAPI (hozir asta-sekin LiteRT delegatlari va vendor SDK'lar bilan almashtirilmoqda), Qualcomm QNN orqali amalga oshiriladi.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Chekka qurilma uchun model tayyorlash odatda uch bosqichdan iborat. Birinchi — formatga o'tkazish: PyTorch → ONNX (torch.onnx.export) → ONNX Runtime (Jetson'da CUDA/TensorRT execution provider bilan) yoki TensorRT dvigateli; TensorFlow/Keras → TensorFlow Lite (2024 yildan boshlab LiteRT nomi bilan) → Edge TPU kompilyatori yoki TFLM. Ikkinchi — kvantlash (quantization): FP32 og'irliklarni INT8'ga (ba'zan FP16'ga) o'tkazish, bu modelni 4 marta kichraytiradi va INT8 tezlatkichlarni ishlatish imkonini beradi; o'qitishdan keyingi statik kvantlash (post-training static quantization) uchun 100–500 ta vakillik namuna (calibration dataset) kerak, aniqlik yo'qotilishi odatda 0,5–2 foiz punkt; qiyin holatlarda kvantlashni hisobga olgan o'qitish (quantization-aware training, QAT) qo'llaniladi. Uchinchi — delegat yoki execution provider tanlash: tflite'da GPU delegate, NNAPI/QNN delegate, Edge TPU delegate; ONNX Runtime'da CPU, CUDA, TensorRT, OpenVINO, QNN provayderlari. Delegat grafning qaysi qismini qaysi apparatda bajarishni hal qiladi.</a:t>
            </a:r>
          </a:p>
          <a:p/>
          <a:p>
            <a:r>
              <a:t>M8 mavzusida kvantlash va boshqa siqish usullari nazariy jihatdan chuqurroq ko'riladi; bu yerda ular chekka joylash kontekstida amaliy vosita sifatida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buyumlari (IoT) tizimlarida chekka intellekt uch qatlamli arxitekturada ishlaydi: qurilmalar (sensorlar, kameralar, kontrollerlar) → shlyuz yoki chekka server (ma'lumot yig'ish, oldingi filtrlash, mahalliy inferens, vaqtincha saqlash) → bulut (uzoq muddatli saqlash, tahlil, model o'qitish, boshqaruv). Aloqa protokollari: MQTT (yengil publish/subscribe, tarmoq uzilishiga chidamli), CoAP, AMQP, sanoatda OPC UA va Modbus. Chekka qurilma natijalarni MQTT mavzulariga chop etadi, bulut esa buyruqlar va yangilanishlarni qaytaradi.</a:t>
            </a:r>
          </a:p>
          <a:p/>
          <a:p>
            <a:r>
              <a:t>Model yangilash (OTA — over-the-air update) Edge AI'ning muhim tarkibiy qismi: model kuzatilgan ma'lumotda eskiradi (drift), yangi sinflar kerak bo'ladi, xatolar tuzatiladi. OTA tizimi versiyalash, imzolangan paketlar, bosqichma-bosqich tarqatish (canary) va muvaffaqiyatsizlikda avtomatik orqaga qaytishni ta'minlashi kerak. Bu MLOps (M12) va xavfsizlik (M9) mavzulari bilan kesishadi. Federativ o'qitish (federated learning) — qurilmalar xom ma'lumotni yubormasdan, mahalliy gradientlarni yoki model yangilanishlarini bulutga yuboradi — maxfiylik talab qilinadigan IoT tizimlarida ishlatiladi.</a:t>
            </a:r>
          </a:p>
          <a:p/>
          <a:p>
            <a:r>
              <a:t>Bulut va chekka o'rtasidagi tanlovni quyidagi jadval umumlashtiradi: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buyumlari (IoT) tizimlarida chekka intellekt uch qatlamli arxitekturada ishlaydi: qurilmalar (sensorlar, kameralar, kontrollerlar) → shlyuz yoki chekka server (ma'lumot yig'ish, oldingi filtrlash, mahalliy inferens, vaqtincha saqlash) → bulut (uzoq muddatli saqlash, tahlil, model o'qitish, boshqaruv). Aloqa protokollari: MQTT (yengil publish/subscribe, tarmoq uzilishiga chidamli), CoAP, AMQP, sanoatda OPC UA va Modbus. Chekka qurilma natijalarni MQTT mavzulariga chop etadi, bulut esa buyruqlar va yangilanishlarni qaytaradi.</a:t>
            </a:r>
          </a:p>
          <a:p/>
          <a:p>
            <a:r>
              <a:t>Model yangilash (OTA — over-the-air update) Edge AI'ning muhim tarkibiy qismi: model kuzatilgan ma'lumotda eskiradi (drift), yangi sinflar kerak bo'ladi, xatolar tuzatiladi. OTA tizimi versiyalash, imzolangan paketlar, bosqichma-bosqich tarqatish (canary) va muvaffaqiyatsizlikda avtomatik orqaga qaytishni ta'minlashi kerak. Bu MLOps (M12) va xavfsizlik (M9) mavzulari bilan kesishadi. Federativ o'qitish (federated learning) — qurilmalar xom ma'lumotni yubormasdan, mahalliy gradientlarni yoki model yangilanishlarini bulutga yuboradi — maxfiylik talab qilinadigan IoT tizimlarida ishlatiladi.</a:t>
            </a:r>
          </a:p>
          <a:p/>
          <a:p>
            <a:r>
              <a:t>Bulut va chekka o'rtasidagi tanlovni quyidagi jadval umumlashtiradi: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6900000" y="14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00000" y="195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900000" y="1950000"/>
            <a:ext cx="1633333" cy="241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00000" y="1950000"/>
            <a:ext cx="1633333" cy="33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900000"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00000" y="3400000"/>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00000"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0000"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00000" y="1466666"/>
            <a:ext cx="1633333"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900000" y="2433333"/>
            <a:ext cx="1633333"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900000" y="340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900000" y="43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900000" y="48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33333" y="1466666"/>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533333" y="1466666"/>
            <a:ext cx="1633333" cy="38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33333" y="2433333"/>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33333"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33333" y="3400000"/>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533333"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533333"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533333" y="5333333"/>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166666" y="1466666"/>
            <a:ext cx="1633334"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166666" y="1466666"/>
            <a:ext cx="1633334"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166666" y="2433333"/>
            <a:ext cx="1633334"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0166666" y="195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66666" y="3400000"/>
            <a:ext cx="1633334"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166666" y="340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166666" y="3400000"/>
            <a:ext cx="1633334"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166666" y="43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166666" y="3400000"/>
            <a:ext cx="1633334"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8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438333" y="13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438333" y="23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438333" y="3305000"/>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438333" y="4271666"/>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438333" y="5238333"/>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071666" y="1371666"/>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071666" y="2338333"/>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071666" y="330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0071666" y="42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071666" y="52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7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7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7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700000" y="1350000"/>
            <a:ext cx="3600000" cy="3600000"/>
          </a:xfrm>
          <a:prstGeom prst="ellipse">
            <a:avLst/>
          </a:prstGeom>
          <a:noFill/>
          <a:ln w="381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550000" y="1200000"/>
            <a:ext cx="3900000" cy="3900000"/>
          </a:xfrm>
          <a:prstGeom prst="ellipse">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2c5fd702c6f21dc6.jpg"/>
          <p:cNvPicPr>
            <a:picLocks noChangeAspect="1"/>
          </p:cNvPicPr>
          <p:nvPr/>
        </p:nvPicPr>
        <p:blipFill>
          <a:blip r:embed="rId2"/>
          <a:srcRect l="12188" r="12188"/>
          <a:stretch>
            <a:fillRect/>
          </a:stretch>
        </p:blipFill>
        <p:spPr>
          <a:xfrm>
            <a:off x="7850000" y="1500000"/>
            <a:ext cx="3300000" cy="3300000"/>
          </a:xfrm>
          <a:prstGeom prst="ellipse">
            <a:avLst/>
          </a:prstGeom>
          <a:ln w="19050">
            <a:solidFill>
              <a:srgbClr val="22D3EE"/>
            </a:solidFill>
          </a:ln>
        </p:spPr>
      </p:pic>
      <p:sp>
        <p:nvSpPr>
          <p:cNvPr id="64" name="TextBox 63"/>
          <p:cNvSpPr txBox="1"/>
          <p:nvPr/>
        </p:nvSpPr>
        <p:spPr>
          <a:xfrm>
            <a:off x="6900000" y="6350000"/>
            <a:ext cx="5000000" cy="260000"/>
          </a:xfrm>
          <a:prstGeom prst="rect">
            <a:avLst/>
          </a:prstGeom>
          <a:noFill/>
        </p:spPr>
        <p:txBody>
          <a:bodyPr wrap="square" anchor="t" lIns="50800" rIns="50800">
            <a:spAutoFit/>
          </a:bodyPr>
          <a:lstStyle/>
          <a:p>
            <a:pPr algn="r"/>
            <a:r>
              <a:rPr sz="800" b="0">
                <a:solidFill>
                  <a:srgbClr val="707EAA"/>
                </a:solidFill>
                <a:latin typeface="Segoe UI"/>
              </a:rPr>
              <a:t>Rasm: Auledas · Wikimedia Commons · CC BY 4.0</a:t>
            </a:r>
          </a:p>
        </p:txBody>
      </p:sp>
      <p:sp>
        <p:nvSpPr>
          <p:cNvPr id="65" name="Rounded Rectangle 64"/>
          <p:cNvSpPr/>
          <p:nvPr/>
        </p:nvSpPr>
        <p:spPr>
          <a:xfrm>
            <a:off x="700000" y="1250000"/>
            <a:ext cx="3400000" cy="400000"/>
          </a:xfrm>
          <a:prstGeom prst="round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2D3EE"/>
                </a:solidFill>
                <a:latin typeface="Segoe UI"/>
              </a:rPr>
              <a:t>MA'RUZA · M6 · 2 soat</a:t>
            </a:r>
          </a:p>
        </p:txBody>
      </p:sp>
      <p:sp>
        <p:nvSpPr>
          <p:cNvPr id="66" name="TextBox 65"/>
          <p:cNvSpPr txBox="1"/>
          <p:nvPr/>
        </p:nvSpPr>
        <p:spPr>
          <a:xfrm>
            <a:off x="700000" y="650000"/>
            <a:ext cx="6400000" cy="500000"/>
          </a:xfrm>
          <a:prstGeom prst="rect">
            <a:avLst/>
          </a:prstGeom>
          <a:noFill/>
        </p:spPr>
        <p:txBody>
          <a:bodyPr wrap="square" anchor="t" lIns="50800" rIns="50800">
            <a:spAutoFit/>
          </a:bodyPr>
          <a:lstStyle/>
          <a:p>
            <a:pPr algn="l"/>
            <a:r>
              <a:rPr sz="1400" b="0">
                <a:solidFill>
                  <a:srgbClr val="AEBBD9"/>
                </a:solidFill>
                <a:latin typeface="Segoe UI"/>
              </a:rPr>
              <a:t>Sun'iy intellektga asoslangan kompyuter tizimlari muhandisligi</a:t>
            </a:r>
          </a:p>
        </p:txBody>
      </p:sp>
      <p:sp>
        <p:nvSpPr>
          <p:cNvPr id="67" name="TextBox 66"/>
          <p:cNvSpPr txBox="1"/>
          <p:nvPr/>
        </p:nvSpPr>
        <p:spPr>
          <a:xfrm>
            <a:off x="700000" y="1850000"/>
            <a:ext cx="6400000" cy="2700000"/>
          </a:xfrm>
          <a:prstGeom prst="rect">
            <a:avLst/>
          </a:prstGeom>
          <a:noFill/>
        </p:spPr>
        <p:txBody>
          <a:bodyPr wrap="square" anchor="t" lIns="50800" rIns="50800">
            <a:spAutoFit/>
          </a:bodyPr>
          <a:lstStyle/>
          <a:p>
            <a:pPr algn="l"/>
            <a:r>
              <a:rPr sz="3600" b="1">
                <a:solidFill>
                  <a:srgbClr val="E8EEFA"/>
                </a:solidFill>
                <a:latin typeface="Segoe UI"/>
              </a:rPr>
              <a:t>Edge AI va intellektual o'rnatilgan kompyuter tizimlari</a:t>
            </a:r>
          </a:p>
        </p:txBody>
      </p:sp>
      <p:sp>
        <p:nvSpPr>
          <p:cNvPr id="68" name="Rectangle 67"/>
          <p:cNvSpPr/>
          <p:nvPr/>
        </p:nvSpPr>
        <p:spPr>
          <a:xfrm>
            <a:off x="760000" y="4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00000" y="4850000"/>
            <a:ext cx="6400000" cy="1200000"/>
          </a:xfrm>
          <a:prstGeom prst="rect">
            <a:avLst/>
          </a:prstGeom>
          <a:noFill/>
        </p:spPr>
        <p:txBody>
          <a:bodyPr wrap="square" anchor="t" lIns="50800" rIns="50800">
            <a:spAutoFit/>
          </a:bodyPr>
          <a:lstStyle/>
          <a:p>
            <a:pPr algn="l"/>
            <a:r>
              <a:rPr sz="1400" b="0">
                <a:solidFill>
                  <a:srgbClr val="AEBBD9"/>
                </a:solidFill>
                <a:latin typeface="Segoe UI"/>
              </a:rPr>
              <a:t>O‘qituvchi: S.Iskandarova, t.f.f.d. (PhD), dotsent</a:t>
            </a:r>
          </a:p>
          <a:p>
            <a:pPr algn="l"/>
            <a:r>
              <a:rPr sz="1400" b="0">
                <a:solidFill>
                  <a:srgbClr val="AEBBD9"/>
                </a:solidFill>
                <a:latin typeface="Segoe UI"/>
              </a:rPr>
              <a:t>2026-2027 o‘quv yili</a:t>
            </a:r>
          </a:p>
          <a:p>
            <a:pPr algn="l"/>
            <a:r>
              <a:rPr sz="1400" b="0">
                <a:solidFill>
                  <a:srgbClr val="AEBBD9"/>
                </a:solidFill>
                <a:latin typeface="Segoe U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0"/>
                            </p:stCondLst>
                            <p:childTnLst>
                              <p:par>
                                <p:cTn id="228" presetID="10" presetClass="entr" presetSubtype="0"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fade">
                                      <p:cBhvr>
                                        <p:cTn id="230" dur="550"/>
                                        <p:tgtEl>
                                          <p:spTgt spid="59"/>
                                        </p:tgtEl>
                                      </p:cBhvr>
                                    </p:animEffect>
                                  </p:childTnLst>
                                </p:cTn>
                              </p:par>
                            </p:childTnLst>
                          </p:cTn>
                        </p:par>
                        <p:par>
                          <p:cTn id="231" fill="hold">
                            <p:stCondLst>
                              <p:cond delay="0"/>
                            </p:stCondLst>
                            <p:childTnLst>
                              <p:par>
                                <p:cTn id="232" presetID="10" presetClass="entr" presetSubtype="0" fill="hold" grpId="0" nodeType="afterEffect">
                                  <p:stCondLst>
                                    <p:cond delay="0"/>
                                  </p:stCondLst>
                                  <p:childTnLst>
                                    <p:set>
                                      <p:cBhvr>
                                        <p:cTn id="233" dur="1" fill="hold">
                                          <p:stCondLst>
                                            <p:cond delay="0"/>
                                          </p:stCondLst>
                                        </p:cTn>
                                        <p:tgtEl>
                                          <p:spTgt spid="60"/>
                                        </p:tgtEl>
                                        <p:attrNameLst>
                                          <p:attrName>style.visibility</p:attrName>
                                        </p:attrNameLst>
                                      </p:cBhvr>
                                      <p:to>
                                        <p:strVal val="visible"/>
                                      </p:to>
                                    </p:set>
                                    <p:animEffect transition="in" filter="fade">
                                      <p:cBhvr>
                                        <p:cTn id="234" dur="550"/>
                                        <p:tgtEl>
                                          <p:spTgt spid="60"/>
                                        </p:tgtEl>
                                      </p:cBhvr>
                                    </p:animEffect>
                                  </p:childTnLst>
                                </p:cTn>
                              </p:par>
                            </p:childTnLst>
                          </p:cTn>
                        </p:par>
                        <p:par>
                          <p:cTn id="235" fill="hold">
                            <p:stCondLst>
                              <p:cond delay="200"/>
                            </p:stCondLst>
                            <p:childTnLst>
                              <p:par>
                                <p:cTn id="236" presetID="53" presetClass="entr" presetSubtype="16" fill="hold" grpId="0" nodeType="afterEffect">
                                  <p:stCondLst>
                                    <p:cond delay="0"/>
                                  </p:stCondLst>
                                  <p:childTnLst>
                                    <p:set>
                                      <p:cBhvr>
                                        <p:cTn id="237" dur="1" fill="hold">
                                          <p:stCondLst>
                                            <p:cond delay="0"/>
                                          </p:stCondLst>
                                        </p:cTn>
                                        <p:tgtEl>
                                          <p:spTgt spid="62"/>
                                        </p:tgtEl>
                                        <p:attrNameLst>
                                          <p:attrName>style.visibility</p:attrName>
                                        </p:attrNameLst>
                                      </p:cBhvr>
                                      <p:to>
                                        <p:strVal val="visible"/>
                                      </p:to>
                                    </p:set>
                                    <p:animEffect transition="in" filter="fade">
                                      <p:cBhvr>
                                        <p:cTn id="238" dur="550"/>
                                        <p:tgtEl>
                                          <p:spTgt spid="62"/>
                                        </p:tgtEl>
                                      </p:cBhvr>
                                    </p:animEffect>
                                    <p:anim calcmode="lin" valueType="num">
                                      <p:cBhvr additive="base">
                                        <p:cTn id="239" dur="550" fill="hold"/>
                                        <p:tgtEl>
                                          <p:spTgt spid="62"/>
                                        </p:tgtEl>
                                        <p:attrNameLst>
                                          <p:attrName>ppt_w</p:attrName>
                                        </p:attrNameLst>
                                      </p:cBhvr>
                                      <p:tavLst>
                                        <p:tav tm="0">
                                          <p:val>
                                            <p:strVal val="0"/>
                                          </p:val>
                                        </p:tav>
                                        <p:tav tm="100000">
                                          <p:val>
                                            <p:strVal val="#ppt_w"/>
                                          </p:val>
                                        </p:tav>
                                      </p:tavLst>
                                    </p:anim>
                                    <p:anim calcmode="lin" valueType="num">
                                      <p:cBhvr additive="base">
                                        <p:cTn id="240" dur="550" fill="hold"/>
                                        <p:tgtEl>
                                          <p:spTgt spid="62"/>
                                        </p:tgtEl>
                                        <p:attrNameLst>
                                          <p:attrName>ppt_h</p:attrName>
                                        </p:attrNameLst>
                                      </p:cBhvr>
                                      <p:tavLst>
                                        <p:tav tm="0">
                                          <p:val>
                                            <p:strVal val="0"/>
                                          </p:val>
                                        </p:tav>
                                        <p:tav tm="100000">
                                          <p:val>
                                            <p:strVal val="#ppt_h"/>
                                          </p:val>
                                        </p:tav>
                                      </p:tavLst>
                                    </p:anim>
                                  </p:childTnLst>
                                </p:cTn>
                              </p:par>
                            </p:childTnLst>
                          </p:cTn>
                        </p:par>
                        <p:par>
                          <p:cTn id="241" fill="hold">
                            <p:stCondLst>
                              <p:cond delay="200"/>
                            </p:stCondLst>
                            <p:childTnLst>
                              <p:par>
                                <p:cTn id="242" presetID="53" presetClass="entr" presetSubtype="16" fill="hold" grpId="0" nodeType="afterEffect">
                                  <p:stCondLst>
                                    <p:cond delay="0"/>
                                  </p:stCondLst>
                                  <p:childTnLst>
                                    <p:set>
                                      <p:cBhvr>
                                        <p:cTn id="243" dur="1" fill="hold">
                                          <p:stCondLst>
                                            <p:cond delay="0"/>
                                          </p:stCondLst>
                                        </p:cTn>
                                        <p:tgtEl>
                                          <p:spTgt spid="61"/>
                                        </p:tgtEl>
                                        <p:attrNameLst>
                                          <p:attrName>style.visibility</p:attrName>
                                        </p:attrNameLst>
                                      </p:cBhvr>
                                      <p:to>
                                        <p:strVal val="visible"/>
                                      </p:to>
                                    </p:set>
                                    <p:animEffect transition="in" filter="fade">
                                      <p:cBhvr>
                                        <p:cTn id="244" dur="550"/>
                                        <p:tgtEl>
                                          <p:spTgt spid="61"/>
                                        </p:tgtEl>
                                      </p:cBhvr>
                                    </p:animEffect>
                                    <p:anim calcmode="lin" valueType="num">
                                      <p:cBhvr additive="base">
                                        <p:cTn id="245" dur="550" fill="hold"/>
                                        <p:tgtEl>
                                          <p:spTgt spid="61"/>
                                        </p:tgtEl>
                                        <p:attrNameLst>
                                          <p:attrName>ppt_w</p:attrName>
                                        </p:attrNameLst>
                                      </p:cBhvr>
                                      <p:tavLst>
                                        <p:tav tm="0">
                                          <p:val>
                                            <p:strVal val="0"/>
                                          </p:val>
                                        </p:tav>
                                        <p:tav tm="100000">
                                          <p:val>
                                            <p:strVal val="#ppt_w"/>
                                          </p:val>
                                        </p:tav>
                                      </p:tavLst>
                                    </p:anim>
                                    <p:anim calcmode="lin" valueType="num">
                                      <p:cBhvr additive="base">
                                        <p:cTn id="246" dur="550" fill="hold"/>
                                        <p:tgtEl>
                                          <p:spTgt spid="61"/>
                                        </p:tgtEl>
                                        <p:attrNameLst>
                                          <p:attrName>ppt_h</p:attrName>
                                        </p:attrNameLst>
                                      </p:cBhvr>
                                      <p:tavLst>
                                        <p:tav tm="0">
                                          <p:val>
                                            <p:strVal val="0"/>
                                          </p:val>
                                        </p:tav>
                                        <p:tav tm="100000">
                                          <p:val>
                                            <p:strVal val="#ppt_h"/>
                                          </p:val>
                                        </p:tav>
                                      </p:tavLst>
                                    </p:anim>
                                  </p:childTnLst>
                                </p:cTn>
                              </p:par>
                            </p:childTnLst>
                          </p:cTn>
                        </p:par>
                        <p:par>
                          <p:cTn id="247" fill="hold">
                            <p:stCondLst>
                              <p:cond delay="200"/>
                            </p:stCondLst>
                            <p:childTnLst>
                              <p:par>
                                <p:cTn id="248" presetID="53" presetClass="entr" presetSubtype="16" fill="hold" grpId="0" nodeType="afterEffect">
                                  <p:stCondLst>
                                    <p:cond delay="0"/>
                                  </p:stCondLst>
                                  <p:childTnLst>
                                    <p:set>
                                      <p:cBhvr>
                                        <p:cTn id="249" dur="1" fill="hold">
                                          <p:stCondLst>
                                            <p:cond delay="0"/>
                                          </p:stCondLst>
                                        </p:cTn>
                                        <p:tgtEl>
                                          <p:spTgt spid="63"/>
                                        </p:tgtEl>
                                        <p:attrNameLst>
                                          <p:attrName>style.visibility</p:attrName>
                                        </p:attrNameLst>
                                      </p:cBhvr>
                                      <p:to>
                                        <p:strVal val="visible"/>
                                      </p:to>
                                    </p:set>
                                    <p:animEffect transition="in" filter="fade">
                                      <p:cBhvr>
                                        <p:cTn id="250" dur="550"/>
                                        <p:tgtEl>
                                          <p:spTgt spid="63"/>
                                        </p:tgtEl>
                                      </p:cBhvr>
                                    </p:animEffect>
                                    <p:anim calcmode="lin" valueType="num">
                                      <p:cBhvr additive="base">
                                        <p:cTn id="251" dur="550" fill="hold"/>
                                        <p:tgtEl>
                                          <p:spTgt spid="63"/>
                                        </p:tgtEl>
                                        <p:attrNameLst>
                                          <p:attrName>ppt_w</p:attrName>
                                        </p:attrNameLst>
                                      </p:cBhvr>
                                      <p:tavLst>
                                        <p:tav tm="0">
                                          <p:val>
                                            <p:strVal val="0"/>
                                          </p:val>
                                        </p:tav>
                                        <p:tav tm="100000">
                                          <p:val>
                                            <p:strVal val="#ppt_w"/>
                                          </p:val>
                                        </p:tav>
                                      </p:tavLst>
                                    </p:anim>
                                    <p:anim calcmode="lin" valueType="num">
                                      <p:cBhvr additive="base">
                                        <p:cTn id="252" dur="550" fill="hold"/>
                                        <p:tgtEl>
                                          <p:spTgt spid="63"/>
                                        </p:tgtEl>
                                        <p:attrNameLst>
                                          <p:attrName>ppt_h</p:attrName>
                                        </p:attrNameLst>
                                      </p:cBhvr>
                                      <p:tavLst>
                                        <p:tav tm="0">
                                          <p:val>
                                            <p:strVal val="0"/>
                                          </p:val>
                                        </p:tav>
                                        <p:tav tm="100000">
                                          <p:val>
                                            <p:strVal val="#ppt_h"/>
                                          </p:val>
                                        </p:tav>
                                      </p:tavLst>
                                    </p:anim>
                                  </p:childTnLst>
                                </p:cTn>
                              </p:par>
                            </p:childTnLst>
                          </p:cTn>
                        </p:par>
                        <p:par>
                          <p:cTn id="253" fill="hold">
                            <p:stCondLst>
                              <p:cond delay="200"/>
                            </p:stCondLst>
                            <p:childTnLst>
                              <p:par>
                                <p:cTn id="254" presetID="10" presetClass="entr" presetSubtype="0" fill="hold" grpId="0" nodeType="afterEffect">
                                  <p:stCondLst>
                                    <p:cond delay="0"/>
                                  </p:stCondLst>
                                  <p:childTnLst>
                                    <p:set>
                                      <p:cBhvr>
                                        <p:cTn id="255" dur="1" fill="hold">
                                          <p:stCondLst>
                                            <p:cond delay="0"/>
                                          </p:stCondLst>
                                        </p:cTn>
                                        <p:tgtEl>
                                          <p:spTgt spid="64"/>
                                        </p:tgtEl>
                                        <p:attrNameLst>
                                          <p:attrName>style.visibility</p:attrName>
                                        </p:attrNameLst>
                                      </p:cBhvr>
                                      <p:to>
                                        <p:strVal val="visible"/>
                                      </p:to>
                                    </p:set>
                                    <p:animEffect transition="in" filter="fade">
                                      <p:cBhvr>
                                        <p:cTn id="256" dur="550"/>
                                        <p:tgtEl>
                                          <p:spTgt spid="64"/>
                                        </p:tgtEl>
                                      </p:cBhvr>
                                    </p:animEffect>
                                  </p:childTnLst>
                                </p:cTn>
                              </p:par>
                            </p:childTnLst>
                          </p:cTn>
                        </p:par>
                        <p:par>
                          <p:cTn id="257" fill="hold">
                            <p:stCondLst>
                              <p:cond delay="350"/>
                            </p:stCondLst>
                            <p:childTnLst>
                              <p:par>
                                <p:cTn id="258" presetID="10" presetClass="entr" presetSubtype="0" fill="hold" grpId="0" nodeType="afterEffect">
                                  <p:stCondLst>
                                    <p:cond delay="0"/>
                                  </p:stCondLst>
                                  <p:childTnLst>
                                    <p:set>
                                      <p:cBhvr>
                                        <p:cTn id="259" dur="1" fill="hold">
                                          <p:stCondLst>
                                            <p:cond delay="0"/>
                                          </p:stCondLst>
                                        </p:cTn>
                                        <p:tgtEl>
                                          <p:spTgt spid="66"/>
                                        </p:tgtEl>
                                        <p:attrNameLst>
                                          <p:attrName>style.visibility</p:attrName>
                                        </p:attrNameLst>
                                      </p:cBhvr>
                                      <p:to>
                                        <p:strVal val="visible"/>
                                      </p:to>
                                    </p:set>
                                    <p:animEffect transition="in" filter="fade">
                                      <p:cBhvr>
                                        <p:cTn id="260" dur="550"/>
                                        <p:tgtEl>
                                          <p:spTgt spid="66"/>
                                        </p:tgtEl>
                                      </p:cBhvr>
                                    </p:animEffect>
                                  </p:childTnLst>
                                </p:cTn>
                              </p:par>
                            </p:childTnLst>
                          </p:cTn>
                        </p:par>
                        <p:par>
                          <p:cTn id="261" fill="hold">
                            <p:stCondLst>
                              <p:cond delay="500"/>
                            </p:stCondLst>
                            <p:childTnLst>
                              <p:par>
                                <p:cTn id="262" presetID="2" presetClass="entr" presetSubtype="8" fill="hold" grpId="0" nodeType="afterEffect">
                                  <p:stCondLst>
                                    <p:cond delay="0"/>
                                  </p:stCondLst>
                                  <p:childTnLst>
                                    <p:set>
                                      <p:cBhvr>
                                        <p:cTn id="263" dur="1" fill="hold">
                                          <p:stCondLst>
                                            <p:cond delay="0"/>
                                          </p:stCondLst>
                                        </p:cTn>
                                        <p:tgtEl>
                                          <p:spTgt spid="65"/>
                                        </p:tgtEl>
                                        <p:attrNameLst>
                                          <p:attrName>style.visibility</p:attrName>
                                        </p:attrNameLst>
                                      </p:cBhvr>
                                      <p:to>
                                        <p:strVal val="visible"/>
                                      </p:to>
                                    </p:set>
                                    <p:anim calcmode="lin" valueType="num">
                                      <p:cBhvr additive="base">
                                        <p:cTn id="265" dur="550" fill="hold"/>
                                        <p:tgtEl>
                                          <p:spTgt spid="65"/>
                                        </p:tgtEl>
                                        <p:attrNameLst>
                                          <p:attrName>ppt_x</p:attrName>
                                        </p:attrNameLst>
                                      </p:cBhvr>
                                      <p:tavLst>
                                        <p:tav tm="0">
                                          <p:val>
                                            <p:strVal val="0-#ppt_w/2"/>
                                          </p:val>
                                        </p:tav>
                                        <p:tav tm="100000">
                                          <p:val>
                                            <p:strVal val="#ppt_x"/>
                                          </p:val>
                                        </p:tav>
                                      </p:tavLst>
                                    </p:anim>
                                    <p:anim calcmode="lin" valueType="num">
                                      <p:cBhvr additive="base">
                                        <p:cTn id="266" dur="550" fill="hold"/>
                                        <p:tgtEl>
                                          <p:spTgt spid="65"/>
                                        </p:tgtEl>
                                        <p:attrNameLst>
                                          <p:attrName>ppt_y</p:attrName>
                                        </p:attrNameLst>
                                      </p:cBhvr>
                                      <p:tavLst>
                                        <p:tav tm="0">
                                          <p:val>
                                            <p:strVal val="#ppt_y"/>
                                          </p:val>
                                        </p:tav>
                                        <p:tav tm="100000">
                                          <p:val>
                                            <p:strVal val="#ppt_y"/>
                                          </p:val>
                                        </p:tav>
                                      </p:tavLst>
                                    </p:anim>
                                  </p:childTnLst>
                                </p:cTn>
                              </p:par>
                            </p:childTnLst>
                          </p:cTn>
                        </p:par>
                        <p:par>
                          <p:cTn id="267" fill="hold">
                            <p:stCondLst>
                              <p:cond delay="650"/>
                            </p:stCondLst>
                            <p:childTnLst>
                              <p:par>
                                <p:cTn id="268" presetID="42" presetClass="entr" presetSubtype="0" fill="hold" grpId="0" nodeType="afterEffect">
                                  <p:stCondLst>
                                    <p:cond delay="0"/>
                                  </p:stCondLst>
                                  <p:childTnLst>
                                    <p:set>
                                      <p:cBhvr>
                                        <p:cTn id="269" dur="1" fill="hold">
                                          <p:stCondLst>
                                            <p:cond delay="0"/>
                                          </p:stCondLst>
                                        </p:cTn>
                                        <p:tgtEl>
                                          <p:spTgt spid="67"/>
                                        </p:tgtEl>
                                        <p:attrNameLst>
                                          <p:attrName>style.visibility</p:attrName>
                                        </p:attrNameLst>
                                      </p:cBhvr>
                                      <p:to>
                                        <p:strVal val="visible"/>
                                      </p:to>
                                    </p:set>
                                    <p:animEffect transition="in" filter="fade">
                                      <p:cBhvr>
                                        <p:cTn id="270" dur="550"/>
                                        <p:tgtEl>
                                          <p:spTgt spid="67"/>
                                        </p:tgtEl>
                                      </p:cBhvr>
                                    </p:animEffect>
                                    <p:anim calcmode="lin" valueType="num">
                                      <p:cBhvr additive="base">
                                        <p:cTn id="271" dur="550" fill="hold"/>
                                        <p:tgtEl>
                                          <p:spTgt spid="67"/>
                                        </p:tgtEl>
                                        <p:attrNameLst>
                                          <p:attrName>ppt_x</p:attrName>
                                        </p:attrNameLst>
                                      </p:cBhvr>
                                      <p:tavLst>
                                        <p:tav tm="0">
                                          <p:val>
                                            <p:strVal val="#ppt_x"/>
                                          </p:val>
                                        </p:tav>
                                        <p:tav tm="100000">
                                          <p:val>
                                            <p:strVal val="#ppt_x"/>
                                          </p:val>
                                        </p:tav>
                                      </p:tavLst>
                                    </p:anim>
                                    <p:anim calcmode="lin" valueType="num">
                                      <p:cBhvr additive="base">
                                        <p:cTn id="272" dur="550" fill="hold"/>
                                        <p:tgtEl>
                                          <p:spTgt spid="67"/>
                                        </p:tgtEl>
                                        <p:attrNameLst>
                                          <p:attrName>ppt_y</p:attrName>
                                        </p:attrNameLst>
                                      </p:cBhvr>
                                      <p:tavLst>
                                        <p:tav tm="0">
                                          <p:val>
                                            <p:strVal val="#ppt_y+.08"/>
                                          </p:val>
                                        </p:tav>
                                        <p:tav tm="100000">
                                          <p:val>
                                            <p:strVal val="#ppt_y"/>
                                          </p:val>
                                        </p:tav>
                                      </p:tavLst>
                                    </p:anim>
                                  </p:childTnLst>
                                </p:cTn>
                              </p:par>
                            </p:childTnLst>
                          </p:cTn>
                        </p:par>
                        <p:par>
                          <p:cTn id="273" fill="hold">
                            <p:stCondLst>
                              <p:cond delay="800"/>
                            </p:stCondLst>
                            <p:childTnLst>
                              <p:par>
                                <p:cTn id="274" presetID="22" presetClass="entr" presetSubtype="8" fill="hold" grpId="0" nodeType="afterEffect">
                                  <p:stCondLst>
                                    <p:cond delay="0"/>
                                  </p:stCondLst>
                                  <p:childTnLst>
                                    <p:set>
                                      <p:cBhvr>
                                        <p:cTn id="275" dur="1" fill="hold">
                                          <p:stCondLst>
                                            <p:cond delay="0"/>
                                          </p:stCondLst>
                                        </p:cTn>
                                        <p:tgtEl>
                                          <p:spTgt spid="68"/>
                                        </p:tgtEl>
                                        <p:attrNameLst>
                                          <p:attrName>style.visibility</p:attrName>
                                        </p:attrNameLst>
                                      </p:cBhvr>
                                      <p:to>
                                        <p:strVal val="visible"/>
                                      </p:to>
                                    </p:set>
                                    <p:animEffect transition="in" filter="wipe(left)">
                                      <p:cBhvr>
                                        <p:cTn id="277" dur="800"/>
                                        <p:tgtEl>
                                          <p:spTgt spid="68"/>
                                        </p:tgtEl>
                                      </p:cBhvr>
                                    </p:animEffect>
                                  </p:childTnLst>
                                </p:cTn>
                              </p:par>
                            </p:childTnLst>
                          </p:cTn>
                        </p:par>
                        <p:par>
                          <p:cTn id="278" fill="hold">
                            <p:stCondLst>
                              <p:cond delay="950"/>
                            </p:stCondLst>
                            <p:childTnLst>
                              <p:par>
                                <p:cTn id="279" presetID="10" presetClass="entr" presetSubtype="0" fill="hold" grpId="0" nodeType="afterEffect">
                                  <p:stCondLst>
                                    <p:cond delay="0"/>
                                  </p:stCondLst>
                                  <p:childTnLst>
                                    <p:set>
                                      <p:cBhvr>
                                        <p:cTn id="280" dur="1" fill="hold">
                                          <p:stCondLst>
                                            <p:cond delay="0"/>
                                          </p:stCondLst>
                                        </p:cTn>
                                        <p:tgtEl>
                                          <p:spTgt spid="69"/>
                                        </p:tgtEl>
                                        <p:attrNameLst>
                                          <p:attrName>style.visibility</p:attrName>
                                        </p:attrNameLst>
                                      </p:cBhvr>
                                      <p:to>
                                        <p:strVal val="visible"/>
                                      </p:to>
                                    </p:set>
                                    <p:animEffect transition="in" filter="fade">
                                      <p:cBhvr>
                                        <p:cTn id="281" dur="5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2" grpId="0" animBg="1"/>
      <p:bldP spid="61" grpId="0" animBg="1"/>
      <p:bldP spid="64" grpId="0" animBg="1"/>
      <p:bldP spid="66" grpId="0" animBg="1"/>
      <p:bldP spid="65" grpId="0" animBg="1"/>
      <p:bldP spid="67" grpId="0" animBg="1"/>
      <p:bldP spid="68" grpId="0" animBg="1"/>
      <p:bldP spid="69"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MA’RUZA REJASI</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Reja</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a:t>
            </a:r>
          </a:p>
        </p:txBody>
      </p:sp>
      <p:sp>
        <p:nvSpPr>
          <p:cNvPr id="22" name="Rounded Rectangle 21"/>
          <p:cNvSpPr/>
          <p:nvPr/>
        </p:nvSpPr>
        <p:spPr>
          <a:xfrm>
            <a:off x="550000" y="195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2035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60000" y="2035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5" name="TextBox 24"/>
          <p:cNvSpPr txBox="1"/>
          <p:nvPr/>
        </p:nvSpPr>
        <p:spPr>
          <a:xfrm>
            <a:off x="1300000" y="1995000"/>
            <a:ext cx="10250000" cy="440000"/>
          </a:xfrm>
          <a:prstGeom prst="rect">
            <a:avLst/>
          </a:prstGeom>
          <a:noFill/>
        </p:spPr>
        <p:txBody>
          <a:bodyPr wrap="square" anchor="ctr">
            <a:spAutoFit/>
          </a:bodyPr>
          <a:lstStyle/>
          <a:p>
            <a:r>
              <a:rPr sz="1600" b="0">
                <a:solidFill>
                  <a:srgbClr val="E8EEFA"/>
                </a:solidFill>
                <a:latin typeface="Segoe UI"/>
              </a:rPr>
              <a:t>Edge AI konsepsiyasi va hisoblash darajalari</a:t>
            </a:r>
          </a:p>
        </p:txBody>
      </p:sp>
      <p:sp>
        <p:nvSpPr>
          <p:cNvPr id="26" name="Rounded Rectangle 25"/>
          <p:cNvSpPr/>
          <p:nvPr/>
        </p:nvSpPr>
        <p:spPr>
          <a:xfrm>
            <a:off x="550000" y="258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2665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2665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29" name="TextBox 28"/>
          <p:cNvSpPr txBox="1"/>
          <p:nvPr/>
        </p:nvSpPr>
        <p:spPr>
          <a:xfrm>
            <a:off x="1300000" y="2625000"/>
            <a:ext cx="10250000" cy="440000"/>
          </a:xfrm>
          <a:prstGeom prst="rect">
            <a:avLst/>
          </a:prstGeom>
          <a:noFill/>
        </p:spPr>
        <p:txBody>
          <a:bodyPr wrap="square" anchor="ctr">
            <a:spAutoFit/>
          </a:bodyPr>
          <a:lstStyle/>
          <a:p>
            <a:r>
              <a:rPr sz="1600" b="0">
                <a:solidFill>
                  <a:srgbClr val="E8EEFA"/>
                </a:solidFill>
                <a:latin typeface="Segoe UI"/>
              </a:rPr>
              <a:t>Embedded AI tizimlari va real vaqt talablari</a:t>
            </a:r>
          </a:p>
        </p:txBody>
      </p:sp>
      <p:sp>
        <p:nvSpPr>
          <p:cNvPr id="30" name="Rounded Rectangle 29"/>
          <p:cNvSpPr/>
          <p:nvPr/>
        </p:nvSpPr>
        <p:spPr>
          <a:xfrm>
            <a:off x="550000" y="321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3295000"/>
            <a:ext cx="50000" cy="36000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3295000"/>
            <a:ext cx="360000" cy="36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3" name="TextBox 32"/>
          <p:cNvSpPr txBox="1"/>
          <p:nvPr/>
        </p:nvSpPr>
        <p:spPr>
          <a:xfrm>
            <a:off x="1300000" y="3255000"/>
            <a:ext cx="10250000" cy="440000"/>
          </a:xfrm>
          <a:prstGeom prst="rect">
            <a:avLst/>
          </a:prstGeom>
          <a:noFill/>
        </p:spPr>
        <p:txBody>
          <a:bodyPr wrap="square" anchor="ctr">
            <a:spAutoFit/>
          </a:bodyPr>
          <a:lstStyle/>
          <a:p>
            <a:r>
              <a:rPr sz="1600" b="0">
                <a:solidFill>
                  <a:srgbClr val="E8EEFA"/>
                </a:solidFill>
                <a:latin typeface="Segoe UI"/>
              </a:rPr>
              <a:t>TinyML texnologiyalari</a:t>
            </a:r>
          </a:p>
        </p:txBody>
      </p:sp>
      <p:sp>
        <p:nvSpPr>
          <p:cNvPr id="34" name="Rounded Rectangle 33"/>
          <p:cNvSpPr/>
          <p:nvPr/>
        </p:nvSpPr>
        <p:spPr>
          <a:xfrm>
            <a:off x="550000" y="384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360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3925000"/>
            <a:ext cx="360000" cy="36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7" name="TextBox 36"/>
          <p:cNvSpPr txBox="1"/>
          <p:nvPr/>
        </p:nvSpPr>
        <p:spPr>
          <a:xfrm>
            <a:off x="1300000" y="3885000"/>
            <a:ext cx="10250000" cy="440000"/>
          </a:xfrm>
          <a:prstGeom prst="rect">
            <a:avLst/>
          </a:prstGeom>
          <a:noFill/>
        </p:spPr>
        <p:txBody>
          <a:bodyPr wrap="square" anchor="ctr">
            <a:spAutoFit/>
          </a:bodyPr>
          <a:lstStyle/>
          <a:p>
            <a:r>
              <a:rPr sz="1600" b="0">
                <a:solidFill>
                  <a:srgbClr val="E8EEFA"/>
                </a:solidFill>
                <a:latin typeface="Segoe UI"/>
              </a:rPr>
              <a:t>NVIDIA Jetson va Google Edge TPU platformalari</a:t>
            </a:r>
          </a:p>
        </p:txBody>
      </p:sp>
      <p:sp>
        <p:nvSpPr>
          <p:cNvPr id="38" name="Rounded Rectangle 37"/>
          <p:cNvSpPr/>
          <p:nvPr/>
        </p:nvSpPr>
        <p:spPr>
          <a:xfrm>
            <a:off x="550000" y="447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0000" y="4555000"/>
            <a:ext cx="50000" cy="36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60000" y="4555000"/>
            <a:ext cx="360000" cy="36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41" name="TextBox 40"/>
          <p:cNvSpPr txBox="1"/>
          <p:nvPr/>
        </p:nvSpPr>
        <p:spPr>
          <a:xfrm>
            <a:off x="1300000" y="4515000"/>
            <a:ext cx="10250000" cy="440000"/>
          </a:xfrm>
          <a:prstGeom prst="rect">
            <a:avLst/>
          </a:prstGeom>
          <a:noFill/>
        </p:spPr>
        <p:txBody>
          <a:bodyPr wrap="square" anchor="ctr">
            <a:spAutoFit/>
          </a:bodyPr>
          <a:lstStyle/>
          <a:p>
            <a:r>
              <a:rPr sz="1600" b="0">
                <a:solidFill>
                  <a:srgbClr val="E8EEFA"/>
                </a:solidFill>
                <a:latin typeface="Segoe UI"/>
              </a:rPr>
              <a:t>Dasturiy vositalar zanjiri: konvertatsiya, kvantlash, delegat</a:t>
            </a:r>
          </a:p>
        </p:txBody>
      </p:sp>
      <p:sp>
        <p:nvSpPr>
          <p:cNvPr id="42" name="Rounded Rectangle 41"/>
          <p:cNvSpPr/>
          <p:nvPr/>
        </p:nvSpPr>
        <p:spPr>
          <a:xfrm>
            <a:off x="550000" y="5105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50000" y="5185000"/>
            <a:ext cx="50000" cy="36000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60000" y="5185000"/>
            <a:ext cx="360000" cy="360000"/>
          </a:xfrm>
          <a:prstGeom prst="ellipse">
            <a:avLst/>
          </a:prstGeom>
          <a:noFill/>
          <a:ln w="254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60A5FA"/>
                </a:solidFill>
                <a:latin typeface="Segoe UI"/>
              </a:rPr>
              <a:t>06</a:t>
            </a:r>
          </a:p>
        </p:txBody>
      </p:sp>
      <p:sp>
        <p:nvSpPr>
          <p:cNvPr id="45" name="TextBox 44"/>
          <p:cNvSpPr txBox="1"/>
          <p:nvPr/>
        </p:nvSpPr>
        <p:spPr>
          <a:xfrm>
            <a:off x="1300000" y="5145000"/>
            <a:ext cx="10250000" cy="440000"/>
          </a:xfrm>
          <a:prstGeom prst="rect">
            <a:avLst/>
          </a:prstGeom>
          <a:noFill/>
        </p:spPr>
        <p:txBody>
          <a:bodyPr wrap="square" anchor="ctr">
            <a:spAutoFit/>
          </a:bodyPr>
          <a:lstStyle/>
          <a:p>
            <a:r>
              <a:rPr sz="1600" b="0">
                <a:solidFill>
                  <a:srgbClr val="E8EEFA"/>
                </a:solidFill>
                <a:latin typeface="Segoe UI"/>
              </a:rPr>
              <a:t>IoT va Edge AI integratsiyasi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ppt_x</p:attrName>
                                        </p:attrNameLst>
                                      </p:cBhvr>
                                      <p:tavLst>
                                        <p:tav tm="0">
                                          <p:val>
                                            <p:strVal val="#ppt_x"/>
                                          </p:val>
                                        </p:tav>
                                        <p:tav tm="100000">
                                          <p:val>
                                            <p:strVal val="#ppt_x"/>
                                          </p:val>
                                        </p:tav>
                                      </p:tavLst>
                                    </p:anim>
                                    <p:anim calcmode="lin" valueType="num">
                                      <p:cBhvr additive="base">
                                        <p:cTn id="17" dur="550" fill="hold"/>
                                        <p:tgtEl>
                                          <p:spTgt spid="22"/>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ppt_x</p:attrName>
                                        </p:attrNameLst>
                                      </p:cBhvr>
                                      <p:tavLst>
                                        <p:tav tm="0">
                                          <p:val>
                                            <p:strVal val="#ppt_x"/>
                                          </p:val>
                                        </p:tav>
                                        <p:tav tm="100000">
                                          <p:val>
                                            <p:strVal val="#ppt_x"/>
                                          </p:val>
                                        </p:tav>
                                      </p:tavLst>
                                    </p:anim>
                                    <p:anim calcmode="lin" valueType="num">
                                      <p:cBhvr additive="base">
                                        <p:cTn id="23" dur="550" fill="hold"/>
                                        <p:tgtEl>
                                          <p:spTgt spid="23"/>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50"/>
                                        <p:tgtEl>
                                          <p:spTgt spid="24"/>
                                        </p:tgtEl>
                                      </p:cBhvr>
                                    </p:animEffect>
                                    <p:anim calcmode="lin" valueType="num">
                                      <p:cBhvr additive="base">
                                        <p:cTn id="28" dur="550" fill="hold"/>
                                        <p:tgtEl>
                                          <p:spTgt spid="24"/>
                                        </p:tgtEl>
                                        <p:attrNameLst>
                                          <p:attrName>ppt_w</p:attrName>
                                        </p:attrNameLst>
                                      </p:cBhvr>
                                      <p:tavLst>
                                        <p:tav tm="0">
                                          <p:val>
                                            <p:strVal val="0"/>
                                          </p:val>
                                        </p:tav>
                                        <p:tav tm="100000">
                                          <p:val>
                                            <p:strVal val="#ppt_w"/>
                                          </p:val>
                                        </p:tav>
                                      </p:tavLst>
                                    </p:anim>
                                    <p:anim calcmode="lin" valueType="num">
                                      <p:cBhvr additive="base">
                                        <p:cTn id="29" dur="550" fill="hold"/>
                                        <p:tgtEl>
                                          <p:spTgt spid="24"/>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50"/>
                                        <p:tgtEl>
                                          <p:spTgt spid="25"/>
                                        </p:tgtEl>
                                      </p:cBhvr>
                                    </p:animEffect>
                                    <p:anim calcmode="lin" valueType="num">
                                      <p:cBhvr additive="base">
                                        <p:cTn id="34" dur="550" fill="hold"/>
                                        <p:tgtEl>
                                          <p:spTgt spid="25"/>
                                        </p:tgtEl>
                                        <p:attrNameLst>
                                          <p:attrName>ppt_x</p:attrName>
                                        </p:attrNameLst>
                                      </p:cBhvr>
                                      <p:tavLst>
                                        <p:tav tm="0">
                                          <p:val>
                                            <p:strVal val="#ppt_x"/>
                                          </p:val>
                                        </p:tav>
                                        <p:tav tm="100000">
                                          <p:val>
                                            <p:strVal val="#ppt_x"/>
                                          </p:val>
                                        </p:tav>
                                      </p:tavLst>
                                    </p:anim>
                                    <p:anim calcmode="lin" valueType="num">
                                      <p:cBhvr additive="base">
                                        <p:cTn id="35" dur="550" fill="hold"/>
                                        <p:tgtEl>
                                          <p:spTgt spid="25"/>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50"/>
                                        <p:tgtEl>
                                          <p:spTgt spid="26"/>
                                        </p:tgtEl>
                                      </p:cBhvr>
                                    </p:animEffect>
                                    <p:anim calcmode="lin" valueType="num">
                                      <p:cBhvr additive="base">
                                        <p:cTn id="40" dur="550" fill="hold"/>
                                        <p:tgtEl>
                                          <p:spTgt spid="26"/>
                                        </p:tgtEl>
                                        <p:attrNameLst>
                                          <p:attrName>ppt_x</p:attrName>
                                        </p:attrNameLst>
                                      </p:cBhvr>
                                      <p:tavLst>
                                        <p:tav tm="0">
                                          <p:val>
                                            <p:strVal val="#ppt_x"/>
                                          </p:val>
                                        </p:tav>
                                        <p:tav tm="100000">
                                          <p:val>
                                            <p:strVal val="#ppt_x"/>
                                          </p:val>
                                        </p:tav>
                                      </p:tavLst>
                                    </p:anim>
                                    <p:anim calcmode="lin" valueType="num">
                                      <p:cBhvr additive="base">
                                        <p:cTn id="41" dur="550" fill="hold"/>
                                        <p:tgtEl>
                                          <p:spTgt spid="26"/>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50"/>
                                        <p:tgtEl>
                                          <p:spTgt spid="27"/>
                                        </p:tgtEl>
                                      </p:cBhvr>
                                    </p:animEffect>
                                    <p:anim calcmode="lin" valueType="num">
                                      <p:cBhvr additive="base">
                                        <p:cTn id="46" dur="550" fill="hold"/>
                                        <p:tgtEl>
                                          <p:spTgt spid="27"/>
                                        </p:tgtEl>
                                        <p:attrNameLst>
                                          <p:attrName>ppt_x</p:attrName>
                                        </p:attrNameLst>
                                      </p:cBhvr>
                                      <p:tavLst>
                                        <p:tav tm="0">
                                          <p:val>
                                            <p:strVal val="#ppt_x"/>
                                          </p:val>
                                        </p:tav>
                                        <p:tav tm="100000">
                                          <p:val>
                                            <p:strVal val="#ppt_x"/>
                                          </p:val>
                                        </p:tav>
                                      </p:tavLst>
                                    </p:anim>
                                    <p:anim calcmode="lin" valueType="num">
                                      <p:cBhvr additive="base">
                                        <p:cTn id="47" dur="550" fill="hold"/>
                                        <p:tgtEl>
                                          <p:spTgt spid="27"/>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50"/>
                                        <p:tgtEl>
                                          <p:spTgt spid="28"/>
                                        </p:tgtEl>
                                      </p:cBhvr>
                                    </p:animEffect>
                                    <p:anim calcmode="lin" valueType="num">
                                      <p:cBhvr additive="base">
                                        <p:cTn id="52" dur="550" fill="hold"/>
                                        <p:tgtEl>
                                          <p:spTgt spid="28"/>
                                        </p:tgtEl>
                                        <p:attrNameLst>
                                          <p:attrName>ppt_w</p:attrName>
                                        </p:attrNameLst>
                                      </p:cBhvr>
                                      <p:tavLst>
                                        <p:tav tm="0">
                                          <p:val>
                                            <p:strVal val="0"/>
                                          </p:val>
                                        </p:tav>
                                        <p:tav tm="100000">
                                          <p:val>
                                            <p:strVal val="#ppt_w"/>
                                          </p:val>
                                        </p:tav>
                                      </p:tavLst>
                                    </p:anim>
                                    <p:anim calcmode="lin" valueType="num">
                                      <p:cBhvr additive="base">
                                        <p:cTn id="53" dur="550" fill="hold"/>
                                        <p:tgtEl>
                                          <p:spTgt spid="28"/>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50"/>
                                        <p:tgtEl>
                                          <p:spTgt spid="29"/>
                                        </p:tgtEl>
                                      </p:cBhvr>
                                    </p:animEffect>
                                    <p:anim calcmode="lin" valueType="num">
                                      <p:cBhvr additive="base">
                                        <p:cTn id="58" dur="550" fill="hold"/>
                                        <p:tgtEl>
                                          <p:spTgt spid="29"/>
                                        </p:tgtEl>
                                        <p:attrNameLst>
                                          <p:attrName>ppt_x</p:attrName>
                                        </p:attrNameLst>
                                      </p:cBhvr>
                                      <p:tavLst>
                                        <p:tav tm="0">
                                          <p:val>
                                            <p:strVal val="#ppt_x"/>
                                          </p:val>
                                        </p:tav>
                                        <p:tav tm="100000">
                                          <p:val>
                                            <p:strVal val="#ppt_x"/>
                                          </p:val>
                                        </p:tav>
                                      </p:tavLst>
                                    </p:anim>
                                    <p:anim calcmode="lin" valueType="num">
                                      <p:cBhvr additive="base">
                                        <p:cTn id="59" dur="550" fill="hold"/>
                                        <p:tgtEl>
                                          <p:spTgt spid="29"/>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50"/>
                                        <p:tgtEl>
                                          <p:spTgt spid="30"/>
                                        </p:tgtEl>
                                      </p:cBhvr>
                                    </p:animEffect>
                                    <p:anim calcmode="lin" valueType="num">
                                      <p:cBhvr additive="base">
                                        <p:cTn id="64" dur="550" fill="hold"/>
                                        <p:tgtEl>
                                          <p:spTgt spid="30"/>
                                        </p:tgtEl>
                                        <p:attrNameLst>
                                          <p:attrName>ppt_x</p:attrName>
                                        </p:attrNameLst>
                                      </p:cBhvr>
                                      <p:tavLst>
                                        <p:tav tm="0">
                                          <p:val>
                                            <p:strVal val="#ppt_x"/>
                                          </p:val>
                                        </p:tav>
                                        <p:tav tm="100000">
                                          <p:val>
                                            <p:strVal val="#ppt_x"/>
                                          </p:val>
                                        </p:tav>
                                      </p:tavLst>
                                    </p:anim>
                                    <p:anim calcmode="lin" valueType="num">
                                      <p:cBhvr additive="base">
                                        <p:cTn id="65" dur="550" fill="hold"/>
                                        <p:tgtEl>
                                          <p:spTgt spid="30"/>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550"/>
                                        <p:tgtEl>
                                          <p:spTgt spid="31"/>
                                        </p:tgtEl>
                                      </p:cBhvr>
                                    </p:animEffect>
                                    <p:anim calcmode="lin" valueType="num">
                                      <p:cBhvr additive="base">
                                        <p:cTn id="70" dur="550" fill="hold"/>
                                        <p:tgtEl>
                                          <p:spTgt spid="31"/>
                                        </p:tgtEl>
                                        <p:attrNameLst>
                                          <p:attrName>ppt_x</p:attrName>
                                        </p:attrNameLst>
                                      </p:cBhvr>
                                      <p:tavLst>
                                        <p:tav tm="0">
                                          <p:val>
                                            <p:strVal val="#ppt_x"/>
                                          </p:val>
                                        </p:tav>
                                        <p:tav tm="100000">
                                          <p:val>
                                            <p:strVal val="#ppt_x"/>
                                          </p:val>
                                        </p:tav>
                                      </p:tavLst>
                                    </p:anim>
                                    <p:anim calcmode="lin" valueType="num">
                                      <p:cBhvr additive="base">
                                        <p:cTn id="71" dur="550" fill="hold"/>
                                        <p:tgtEl>
                                          <p:spTgt spid="31"/>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550"/>
                                        <p:tgtEl>
                                          <p:spTgt spid="32"/>
                                        </p:tgtEl>
                                      </p:cBhvr>
                                    </p:animEffect>
                                    <p:anim calcmode="lin" valueType="num">
                                      <p:cBhvr additive="base">
                                        <p:cTn id="76" dur="550" fill="hold"/>
                                        <p:tgtEl>
                                          <p:spTgt spid="32"/>
                                        </p:tgtEl>
                                        <p:attrNameLst>
                                          <p:attrName>ppt_w</p:attrName>
                                        </p:attrNameLst>
                                      </p:cBhvr>
                                      <p:tavLst>
                                        <p:tav tm="0">
                                          <p:val>
                                            <p:strVal val="0"/>
                                          </p:val>
                                        </p:tav>
                                        <p:tav tm="100000">
                                          <p:val>
                                            <p:strVal val="#ppt_w"/>
                                          </p:val>
                                        </p:tav>
                                      </p:tavLst>
                                    </p:anim>
                                    <p:anim calcmode="lin" valueType="num">
                                      <p:cBhvr additive="base">
                                        <p:cTn id="77" dur="550" fill="hold"/>
                                        <p:tgtEl>
                                          <p:spTgt spid="32"/>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50"/>
                                        <p:tgtEl>
                                          <p:spTgt spid="33"/>
                                        </p:tgtEl>
                                      </p:cBhvr>
                                    </p:animEffect>
                                    <p:anim calcmode="lin" valueType="num">
                                      <p:cBhvr additive="base">
                                        <p:cTn id="82" dur="550" fill="hold"/>
                                        <p:tgtEl>
                                          <p:spTgt spid="33"/>
                                        </p:tgtEl>
                                        <p:attrNameLst>
                                          <p:attrName>ppt_x</p:attrName>
                                        </p:attrNameLst>
                                      </p:cBhvr>
                                      <p:tavLst>
                                        <p:tav tm="0">
                                          <p:val>
                                            <p:strVal val="#ppt_x"/>
                                          </p:val>
                                        </p:tav>
                                        <p:tav tm="100000">
                                          <p:val>
                                            <p:strVal val="#ppt_x"/>
                                          </p:val>
                                        </p:tav>
                                      </p:tavLst>
                                    </p:anim>
                                    <p:anim calcmode="lin" valueType="num">
                                      <p:cBhvr additive="base">
                                        <p:cTn id="83" dur="550" fill="hold"/>
                                        <p:tgtEl>
                                          <p:spTgt spid="33"/>
                                        </p:tgtEl>
                                        <p:attrNameLst>
                                          <p:attrName>ppt_y</p:attrName>
                                        </p:attrNameLst>
                                      </p:cBhvr>
                                      <p:tavLst>
                                        <p:tav tm="0">
                                          <p:val>
                                            <p:strVal val="#ppt_y+.08"/>
                                          </p:val>
                                        </p:tav>
                                        <p:tav tm="100000">
                                          <p:val>
                                            <p:strVal val="#ppt_y"/>
                                          </p:val>
                                        </p:tav>
                                      </p:tavLst>
                                    </p:anim>
                                  </p:childTnLst>
                                </p:cTn>
                              </p:par>
                            </p:childTnLst>
                          </p:cTn>
                        </p:par>
                        <p:par>
                          <p:cTn id="84" fill="hold">
                            <p:stCondLst>
                              <p:cond delay="800"/>
                            </p:stCondLst>
                            <p:childTnLst>
                              <p:par>
                                <p:cTn id="85" presetID="42" presetClass="entr" presetSubtype="0" fill="hold" grpId="0" nodeType="after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50"/>
                                        <p:tgtEl>
                                          <p:spTgt spid="34"/>
                                        </p:tgtEl>
                                      </p:cBhvr>
                                    </p:animEffect>
                                    <p:anim calcmode="lin" valueType="num">
                                      <p:cBhvr additive="base">
                                        <p:cTn id="88" dur="550" fill="hold"/>
                                        <p:tgtEl>
                                          <p:spTgt spid="34"/>
                                        </p:tgtEl>
                                        <p:attrNameLst>
                                          <p:attrName>ppt_x</p:attrName>
                                        </p:attrNameLst>
                                      </p:cBhvr>
                                      <p:tavLst>
                                        <p:tav tm="0">
                                          <p:val>
                                            <p:strVal val="#ppt_x"/>
                                          </p:val>
                                        </p:tav>
                                        <p:tav tm="100000">
                                          <p:val>
                                            <p:strVal val="#ppt_x"/>
                                          </p:val>
                                        </p:tav>
                                      </p:tavLst>
                                    </p:anim>
                                    <p:anim calcmode="lin" valueType="num">
                                      <p:cBhvr additive="base">
                                        <p:cTn id="89" dur="550" fill="hold"/>
                                        <p:tgtEl>
                                          <p:spTgt spid="34"/>
                                        </p:tgtEl>
                                        <p:attrNameLst>
                                          <p:attrName>ppt_y</p:attrName>
                                        </p:attrNameLst>
                                      </p:cBhvr>
                                      <p:tavLst>
                                        <p:tav tm="0">
                                          <p:val>
                                            <p:strVal val="#ppt_y+.08"/>
                                          </p:val>
                                        </p:tav>
                                        <p:tav tm="100000">
                                          <p:val>
                                            <p:strVal val="#ppt_y"/>
                                          </p:val>
                                        </p:tav>
                                      </p:tavLst>
                                    </p:anim>
                                  </p:childTnLst>
                                </p:cTn>
                              </p:par>
                            </p:childTnLst>
                          </p:cTn>
                        </p:par>
                        <p:par>
                          <p:cTn id="90" fill="hold">
                            <p:stCondLst>
                              <p:cond delay="800"/>
                            </p:stCondLst>
                            <p:childTnLst>
                              <p:par>
                                <p:cTn id="91" presetID="42" presetClass="entr" presetSubtype="0" fill="hold" grpId="0" nodeType="after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550"/>
                                        <p:tgtEl>
                                          <p:spTgt spid="35"/>
                                        </p:tgtEl>
                                      </p:cBhvr>
                                    </p:animEffect>
                                    <p:anim calcmode="lin" valueType="num">
                                      <p:cBhvr additive="base">
                                        <p:cTn id="94" dur="550" fill="hold"/>
                                        <p:tgtEl>
                                          <p:spTgt spid="35"/>
                                        </p:tgtEl>
                                        <p:attrNameLst>
                                          <p:attrName>ppt_x</p:attrName>
                                        </p:attrNameLst>
                                      </p:cBhvr>
                                      <p:tavLst>
                                        <p:tav tm="0">
                                          <p:val>
                                            <p:strVal val="#ppt_x"/>
                                          </p:val>
                                        </p:tav>
                                        <p:tav tm="100000">
                                          <p:val>
                                            <p:strVal val="#ppt_x"/>
                                          </p:val>
                                        </p:tav>
                                      </p:tavLst>
                                    </p:anim>
                                    <p:anim calcmode="lin" valueType="num">
                                      <p:cBhvr additive="base">
                                        <p:cTn id="95" dur="550" fill="hold"/>
                                        <p:tgtEl>
                                          <p:spTgt spid="35"/>
                                        </p:tgtEl>
                                        <p:attrNameLst>
                                          <p:attrName>ppt_y</p:attrName>
                                        </p:attrNameLst>
                                      </p:cBhvr>
                                      <p:tavLst>
                                        <p:tav tm="0">
                                          <p:val>
                                            <p:strVal val="#ppt_y+.08"/>
                                          </p:val>
                                        </p:tav>
                                        <p:tav tm="100000">
                                          <p:val>
                                            <p:strVal val="#ppt_y"/>
                                          </p:val>
                                        </p:tav>
                                      </p:tavLst>
                                    </p:anim>
                                  </p:childTnLst>
                                </p:cTn>
                              </p:par>
                            </p:childTnLst>
                          </p:cTn>
                        </p:par>
                        <p:par>
                          <p:cTn id="96" fill="hold">
                            <p:stCondLst>
                              <p:cond delay="800"/>
                            </p:stCondLst>
                            <p:childTnLst>
                              <p:par>
                                <p:cTn id="97" presetID="53" presetClass="entr" presetSubtype="16" fill="hold" grpId="0" nodeType="after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550"/>
                                        <p:tgtEl>
                                          <p:spTgt spid="36"/>
                                        </p:tgtEl>
                                      </p:cBhvr>
                                    </p:animEffect>
                                    <p:anim calcmode="lin" valueType="num">
                                      <p:cBhvr additive="base">
                                        <p:cTn id="100" dur="550" fill="hold"/>
                                        <p:tgtEl>
                                          <p:spTgt spid="36"/>
                                        </p:tgtEl>
                                        <p:attrNameLst>
                                          <p:attrName>ppt_w</p:attrName>
                                        </p:attrNameLst>
                                      </p:cBhvr>
                                      <p:tavLst>
                                        <p:tav tm="0">
                                          <p:val>
                                            <p:strVal val="0"/>
                                          </p:val>
                                        </p:tav>
                                        <p:tav tm="100000">
                                          <p:val>
                                            <p:strVal val="#ppt_w"/>
                                          </p:val>
                                        </p:tav>
                                      </p:tavLst>
                                    </p:anim>
                                    <p:anim calcmode="lin" valueType="num">
                                      <p:cBhvr additive="base">
                                        <p:cTn id="101" dur="550" fill="hold"/>
                                        <p:tgtEl>
                                          <p:spTgt spid="36"/>
                                        </p:tgtEl>
                                        <p:attrNameLst>
                                          <p:attrName>ppt_h</p:attrName>
                                        </p:attrNameLst>
                                      </p:cBhvr>
                                      <p:tavLst>
                                        <p:tav tm="0">
                                          <p:val>
                                            <p:strVal val="0"/>
                                          </p:val>
                                        </p:tav>
                                        <p:tav tm="100000">
                                          <p:val>
                                            <p:strVal val="#ppt_h"/>
                                          </p:val>
                                        </p:tav>
                                      </p:tavLst>
                                    </p:anim>
                                  </p:childTnLst>
                                </p:cTn>
                              </p:par>
                            </p:childTnLst>
                          </p:cTn>
                        </p:par>
                        <p:par>
                          <p:cTn id="102" fill="hold">
                            <p:stCondLst>
                              <p:cond delay="800"/>
                            </p:stCondLst>
                            <p:childTnLst>
                              <p:par>
                                <p:cTn id="103" presetID="42" presetClass="entr" presetSubtype="0" fill="hold" grpId="0" nodeType="after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550"/>
                                        <p:tgtEl>
                                          <p:spTgt spid="37"/>
                                        </p:tgtEl>
                                      </p:cBhvr>
                                    </p:animEffect>
                                    <p:anim calcmode="lin" valueType="num">
                                      <p:cBhvr additive="base">
                                        <p:cTn id="106" dur="550" fill="hold"/>
                                        <p:tgtEl>
                                          <p:spTgt spid="37"/>
                                        </p:tgtEl>
                                        <p:attrNameLst>
                                          <p:attrName>ppt_x</p:attrName>
                                        </p:attrNameLst>
                                      </p:cBhvr>
                                      <p:tavLst>
                                        <p:tav tm="0">
                                          <p:val>
                                            <p:strVal val="#ppt_x"/>
                                          </p:val>
                                        </p:tav>
                                        <p:tav tm="100000">
                                          <p:val>
                                            <p:strVal val="#ppt_x"/>
                                          </p:val>
                                        </p:tav>
                                      </p:tavLst>
                                    </p:anim>
                                    <p:anim calcmode="lin" valueType="num">
                                      <p:cBhvr additive="base">
                                        <p:cTn id="107" dur="550" fill="hold"/>
                                        <p:tgtEl>
                                          <p:spTgt spid="37"/>
                                        </p:tgtEl>
                                        <p:attrNameLst>
                                          <p:attrName>ppt_y</p:attrName>
                                        </p:attrNameLst>
                                      </p:cBhvr>
                                      <p:tavLst>
                                        <p:tav tm="0">
                                          <p:val>
                                            <p:strVal val="#ppt_y+.08"/>
                                          </p:val>
                                        </p:tav>
                                        <p:tav tm="100000">
                                          <p:val>
                                            <p:strVal val="#ppt_y"/>
                                          </p:val>
                                        </p:tav>
                                      </p:tavLst>
                                    </p:anim>
                                  </p:childTnLst>
                                </p:cTn>
                              </p:par>
                            </p:childTnLst>
                          </p:cTn>
                        </p:par>
                        <p:par>
                          <p:cTn id="108" fill="hold">
                            <p:stCondLst>
                              <p:cond delay="1000"/>
                            </p:stCondLst>
                            <p:childTnLst>
                              <p:par>
                                <p:cTn id="109" presetID="42" presetClass="entr" presetSubtype="0" fill="hold" grpId="0" nodeType="after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50"/>
                                        <p:tgtEl>
                                          <p:spTgt spid="38"/>
                                        </p:tgtEl>
                                      </p:cBhvr>
                                    </p:animEffect>
                                    <p:anim calcmode="lin" valueType="num">
                                      <p:cBhvr additive="base">
                                        <p:cTn id="112" dur="550" fill="hold"/>
                                        <p:tgtEl>
                                          <p:spTgt spid="38"/>
                                        </p:tgtEl>
                                        <p:attrNameLst>
                                          <p:attrName>ppt_x</p:attrName>
                                        </p:attrNameLst>
                                      </p:cBhvr>
                                      <p:tavLst>
                                        <p:tav tm="0">
                                          <p:val>
                                            <p:strVal val="#ppt_x"/>
                                          </p:val>
                                        </p:tav>
                                        <p:tav tm="100000">
                                          <p:val>
                                            <p:strVal val="#ppt_x"/>
                                          </p:val>
                                        </p:tav>
                                      </p:tavLst>
                                    </p:anim>
                                    <p:anim calcmode="lin" valueType="num">
                                      <p:cBhvr additive="base">
                                        <p:cTn id="113" dur="550" fill="hold"/>
                                        <p:tgtEl>
                                          <p:spTgt spid="38"/>
                                        </p:tgtEl>
                                        <p:attrNameLst>
                                          <p:attrName>ppt_y</p:attrName>
                                        </p:attrNameLst>
                                      </p:cBhvr>
                                      <p:tavLst>
                                        <p:tav tm="0">
                                          <p:val>
                                            <p:strVal val="#ppt_y+.08"/>
                                          </p:val>
                                        </p:tav>
                                        <p:tav tm="100000">
                                          <p:val>
                                            <p:strVal val="#ppt_y"/>
                                          </p:val>
                                        </p:tav>
                                      </p:tavLst>
                                    </p:anim>
                                  </p:childTnLst>
                                </p:cTn>
                              </p:par>
                            </p:childTnLst>
                          </p:cTn>
                        </p:par>
                        <p:par>
                          <p:cTn id="114" fill="hold">
                            <p:stCondLst>
                              <p:cond delay="1000"/>
                            </p:stCondLst>
                            <p:childTnLst>
                              <p:par>
                                <p:cTn id="115" presetID="42" presetClass="entr" presetSubtype="0" fill="hold" grpId="0" nodeType="after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550"/>
                                        <p:tgtEl>
                                          <p:spTgt spid="39"/>
                                        </p:tgtEl>
                                      </p:cBhvr>
                                    </p:animEffect>
                                    <p:anim calcmode="lin" valueType="num">
                                      <p:cBhvr additive="base">
                                        <p:cTn id="118" dur="550" fill="hold"/>
                                        <p:tgtEl>
                                          <p:spTgt spid="39"/>
                                        </p:tgtEl>
                                        <p:attrNameLst>
                                          <p:attrName>ppt_x</p:attrName>
                                        </p:attrNameLst>
                                      </p:cBhvr>
                                      <p:tavLst>
                                        <p:tav tm="0">
                                          <p:val>
                                            <p:strVal val="#ppt_x"/>
                                          </p:val>
                                        </p:tav>
                                        <p:tav tm="100000">
                                          <p:val>
                                            <p:strVal val="#ppt_x"/>
                                          </p:val>
                                        </p:tav>
                                      </p:tavLst>
                                    </p:anim>
                                    <p:anim calcmode="lin" valueType="num">
                                      <p:cBhvr additive="base">
                                        <p:cTn id="119" dur="550" fill="hold"/>
                                        <p:tgtEl>
                                          <p:spTgt spid="39"/>
                                        </p:tgtEl>
                                        <p:attrNameLst>
                                          <p:attrName>ppt_y</p:attrName>
                                        </p:attrNameLst>
                                      </p:cBhvr>
                                      <p:tavLst>
                                        <p:tav tm="0">
                                          <p:val>
                                            <p:strVal val="#ppt_y+.08"/>
                                          </p:val>
                                        </p:tav>
                                        <p:tav tm="100000">
                                          <p:val>
                                            <p:strVal val="#ppt_y"/>
                                          </p:val>
                                        </p:tav>
                                      </p:tavLst>
                                    </p:anim>
                                  </p:childTnLst>
                                </p:cTn>
                              </p:par>
                            </p:childTnLst>
                          </p:cTn>
                        </p:par>
                        <p:par>
                          <p:cTn id="120" fill="hold">
                            <p:stCondLst>
                              <p:cond delay="1000"/>
                            </p:stCondLst>
                            <p:childTnLst>
                              <p:par>
                                <p:cTn id="121" presetID="53" presetClass="entr" presetSubtype="16" fill="hold" grpId="0" nodeType="after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50"/>
                                        <p:tgtEl>
                                          <p:spTgt spid="40"/>
                                        </p:tgtEl>
                                      </p:cBhvr>
                                    </p:animEffect>
                                    <p:anim calcmode="lin" valueType="num">
                                      <p:cBhvr additive="base">
                                        <p:cTn id="124" dur="550" fill="hold"/>
                                        <p:tgtEl>
                                          <p:spTgt spid="40"/>
                                        </p:tgtEl>
                                        <p:attrNameLst>
                                          <p:attrName>ppt_w</p:attrName>
                                        </p:attrNameLst>
                                      </p:cBhvr>
                                      <p:tavLst>
                                        <p:tav tm="0">
                                          <p:val>
                                            <p:strVal val="0"/>
                                          </p:val>
                                        </p:tav>
                                        <p:tav tm="100000">
                                          <p:val>
                                            <p:strVal val="#ppt_w"/>
                                          </p:val>
                                        </p:tav>
                                      </p:tavLst>
                                    </p:anim>
                                    <p:anim calcmode="lin" valueType="num">
                                      <p:cBhvr additive="base">
                                        <p:cTn id="125" dur="550" fill="hold"/>
                                        <p:tgtEl>
                                          <p:spTgt spid="40"/>
                                        </p:tgtEl>
                                        <p:attrNameLst>
                                          <p:attrName>ppt_h</p:attrName>
                                        </p:attrNameLst>
                                      </p:cBhvr>
                                      <p:tavLst>
                                        <p:tav tm="0">
                                          <p:val>
                                            <p:strVal val="0"/>
                                          </p:val>
                                        </p:tav>
                                        <p:tav tm="100000">
                                          <p:val>
                                            <p:strVal val="#ppt_h"/>
                                          </p:val>
                                        </p:tav>
                                      </p:tavLst>
                                    </p:anim>
                                  </p:childTnLst>
                                </p:cTn>
                              </p:par>
                            </p:childTnLst>
                          </p:cTn>
                        </p:par>
                        <p:par>
                          <p:cTn id="126" fill="hold">
                            <p:stCondLst>
                              <p:cond delay="1000"/>
                            </p:stCondLst>
                            <p:childTnLst>
                              <p:par>
                                <p:cTn id="127" presetID="42" presetClass="entr" presetSubtype="0" fill="hold" grpId="0" nodeType="after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550"/>
                                        <p:tgtEl>
                                          <p:spTgt spid="41"/>
                                        </p:tgtEl>
                                      </p:cBhvr>
                                    </p:animEffect>
                                    <p:anim calcmode="lin" valueType="num">
                                      <p:cBhvr additive="base">
                                        <p:cTn id="130" dur="550" fill="hold"/>
                                        <p:tgtEl>
                                          <p:spTgt spid="41"/>
                                        </p:tgtEl>
                                        <p:attrNameLst>
                                          <p:attrName>ppt_x</p:attrName>
                                        </p:attrNameLst>
                                      </p:cBhvr>
                                      <p:tavLst>
                                        <p:tav tm="0">
                                          <p:val>
                                            <p:strVal val="#ppt_x"/>
                                          </p:val>
                                        </p:tav>
                                        <p:tav tm="100000">
                                          <p:val>
                                            <p:strVal val="#ppt_x"/>
                                          </p:val>
                                        </p:tav>
                                      </p:tavLst>
                                    </p:anim>
                                    <p:anim calcmode="lin" valueType="num">
                                      <p:cBhvr additive="base">
                                        <p:cTn id="131" dur="550" fill="hold"/>
                                        <p:tgtEl>
                                          <p:spTgt spid="41"/>
                                        </p:tgtEl>
                                        <p:attrNameLst>
                                          <p:attrName>ppt_y</p:attrName>
                                        </p:attrNameLst>
                                      </p:cBhvr>
                                      <p:tavLst>
                                        <p:tav tm="0">
                                          <p:val>
                                            <p:strVal val="#ppt_y+.08"/>
                                          </p:val>
                                        </p:tav>
                                        <p:tav tm="100000">
                                          <p:val>
                                            <p:strVal val="#ppt_y"/>
                                          </p:val>
                                        </p:tav>
                                      </p:tavLst>
                                    </p:anim>
                                  </p:childTnLst>
                                </p:cTn>
                              </p:par>
                            </p:childTnLst>
                          </p:cTn>
                        </p:par>
                        <p:par>
                          <p:cTn id="132" fill="hold">
                            <p:stCondLst>
                              <p:cond delay="1200"/>
                            </p:stCondLst>
                            <p:childTnLst>
                              <p:par>
                                <p:cTn id="133" presetID="42" presetClass="entr" presetSubtype="0" fill="hold" grpId="0" nodeType="afterEffect">
                                  <p:stCondLst>
                                    <p:cond delay="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5" dur="550"/>
                                        <p:tgtEl>
                                          <p:spTgt spid="42"/>
                                        </p:tgtEl>
                                      </p:cBhvr>
                                    </p:animEffect>
                                    <p:anim calcmode="lin" valueType="num">
                                      <p:cBhvr additive="base">
                                        <p:cTn id="136" dur="550" fill="hold"/>
                                        <p:tgtEl>
                                          <p:spTgt spid="42"/>
                                        </p:tgtEl>
                                        <p:attrNameLst>
                                          <p:attrName>ppt_x</p:attrName>
                                        </p:attrNameLst>
                                      </p:cBhvr>
                                      <p:tavLst>
                                        <p:tav tm="0">
                                          <p:val>
                                            <p:strVal val="#ppt_x"/>
                                          </p:val>
                                        </p:tav>
                                        <p:tav tm="100000">
                                          <p:val>
                                            <p:strVal val="#ppt_x"/>
                                          </p:val>
                                        </p:tav>
                                      </p:tavLst>
                                    </p:anim>
                                    <p:anim calcmode="lin" valueType="num">
                                      <p:cBhvr additive="base">
                                        <p:cTn id="137" dur="550" fill="hold"/>
                                        <p:tgtEl>
                                          <p:spTgt spid="42"/>
                                        </p:tgtEl>
                                        <p:attrNameLst>
                                          <p:attrName>ppt_y</p:attrName>
                                        </p:attrNameLst>
                                      </p:cBhvr>
                                      <p:tavLst>
                                        <p:tav tm="0">
                                          <p:val>
                                            <p:strVal val="#ppt_y+.08"/>
                                          </p:val>
                                        </p:tav>
                                        <p:tav tm="100000">
                                          <p:val>
                                            <p:strVal val="#ppt_y"/>
                                          </p:val>
                                        </p:tav>
                                      </p:tavLst>
                                    </p:anim>
                                  </p:childTnLst>
                                </p:cTn>
                              </p:par>
                            </p:childTnLst>
                          </p:cTn>
                        </p:par>
                        <p:par>
                          <p:cTn id="138" fill="hold">
                            <p:stCondLst>
                              <p:cond delay="1200"/>
                            </p:stCondLst>
                            <p:childTnLst>
                              <p:par>
                                <p:cTn id="139" presetID="42" presetClass="entr" presetSubtype="0" fill="hold" grpId="0" nodeType="afterEffect">
                                  <p:stCondLst>
                                    <p:cond delay="0"/>
                                  </p:stCondLst>
                                  <p:childTnLst>
                                    <p:set>
                                      <p:cBhvr>
                                        <p:cTn id="140" dur="1" fill="hold">
                                          <p:stCondLst>
                                            <p:cond delay="0"/>
                                          </p:stCondLst>
                                        </p:cTn>
                                        <p:tgtEl>
                                          <p:spTgt spid="43"/>
                                        </p:tgtEl>
                                        <p:attrNameLst>
                                          <p:attrName>style.visibility</p:attrName>
                                        </p:attrNameLst>
                                      </p:cBhvr>
                                      <p:to>
                                        <p:strVal val="visible"/>
                                      </p:to>
                                    </p:set>
                                    <p:animEffect transition="in" filter="fade">
                                      <p:cBhvr>
                                        <p:cTn id="141" dur="550"/>
                                        <p:tgtEl>
                                          <p:spTgt spid="43"/>
                                        </p:tgtEl>
                                      </p:cBhvr>
                                    </p:animEffect>
                                    <p:anim calcmode="lin" valueType="num">
                                      <p:cBhvr additive="base">
                                        <p:cTn id="142" dur="550" fill="hold"/>
                                        <p:tgtEl>
                                          <p:spTgt spid="43"/>
                                        </p:tgtEl>
                                        <p:attrNameLst>
                                          <p:attrName>ppt_x</p:attrName>
                                        </p:attrNameLst>
                                      </p:cBhvr>
                                      <p:tavLst>
                                        <p:tav tm="0">
                                          <p:val>
                                            <p:strVal val="#ppt_x"/>
                                          </p:val>
                                        </p:tav>
                                        <p:tav tm="100000">
                                          <p:val>
                                            <p:strVal val="#ppt_x"/>
                                          </p:val>
                                        </p:tav>
                                      </p:tavLst>
                                    </p:anim>
                                    <p:anim calcmode="lin" valueType="num">
                                      <p:cBhvr additive="base">
                                        <p:cTn id="143" dur="550" fill="hold"/>
                                        <p:tgtEl>
                                          <p:spTgt spid="43"/>
                                        </p:tgtEl>
                                        <p:attrNameLst>
                                          <p:attrName>ppt_y</p:attrName>
                                        </p:attrNameLst>
                                      </p:cBhvr>
                                      <p:tavLst>
                                        <p:tav tm="0">
                                          <p:val>
                                            <p:strVal val="#ppt_y+.08"/>
                                          </p:val>
                                        </p:tav>
                                        <p:tav tm="100000">
                                          <p:val>
                                            <p:strVal val="#ppt_y"/>
                                          </p:val>
                                        </p:tav>
                                      </p:tavLst>
                                    </p:anim>
                                  </p:childTnLst>
                                </p:cTn>
                              </p:par>
                            </p:childTnLst>
                          </p:cTn>
                        </p:par>
                        <p:par>
                          <p:cTn id="144" fill="hold">
                            <p:stCondLst>
                              <p:cond delay="1200"/>
                            </p:stCondLst>
                            <p:childTnLst>
                              <p:par>
                                <p:cTn id="145" presetID="53" presetClass="entr" presetSubtype="16" fill="hold" grpId="0" nodeType="afterEffect">
                                  <p:stCondLst>
                                    <p:cond delay="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7" dur="550"/>
                                        <p:tgtEl>
                                          <p:spTgt spid="44"/>
                                        </p:tgtEl>
                                      </p:cBhvr>
                                    </p:animEffect>
                                    <p:anim calcmode="lin" valueType="num">
                                      <p:cBhvr additive="base">
                                        <p:cTn id="148" dur="550" fill="hold"/>
                                        <p:tgtEl>
                                          <p:spTgt spid="44"/>
                                        </p:tgtEl>
                                        <p:attrNameLst>
                                          <p:attrName>ppt_w</p:attrName>
                                        </p:attrNameLst>
                                      </p:cBhvr>
                                      <p:tavLst>
                                        <p:tav tm="0">
                                          <p:val>
                                            <p:strVal val="0"/>
                                          </p:val>
                                        </p:tav>
                                        <p:tav tm="100000">
                                          <p:val>
                                            <p:strVal val="#ppt_w"/>
                                          </p:val>
                                        </p:tav>
                                      </p:tavLst>
                                    </p:anim>
                                    <p:anim calcmode="lin" valueType="num">
                                      <p:cBhvr additive="base">
                                        <p:cTn id="149" dur="550" fill="hold"/>
                                        <p:tgtEl>
                                          <p:spTgt spid="44"/>
                                        </p:tgtEl>
                                        <p:attrNameLst>
                                          <p:attrName>ppt_h</p:attrName>
                                        </p:attrNameLst>
                                      </p:cBhvr>
                                      <p:tavLst>
                                        <p:tav tm="0">
                                          <p:val>
                                            <p:strVal val="0"/>
                                          </p:val>
                                        </p:tav>
                                        <p:tav tm="100000">
                                          <p:val>
                                            <p:strVal val="#ppt_h"/>
                                          </p:val>
                                        </p:tav>
                                      </p:tavLst>
                                    </p:anim>
                                  </p:childTnLst>
                                </p:cTn>
                              </p:par>
                            </p:childTnLst>
                          </p:cTn>
                        </p:par>
                        <p:par>
                          <p:cTn id="150" fill="hold">
                            <p:stCondLst>
                              <p:cond delay="1200"/>
                            </p:stCondLst>
                            <p:childTnLst>
                              <p:par>
                                <p:cTn id="151" presetID="42" presetClass="entr" presetSubtype="0" fill="hold" grpId="0" nodeType="afterEffect">
                                  <p:stCondLst>
                                    <p:cond delay="0"/>
                                  </p:stCondLst>
                                  <p:childTnLst>
                                    <p:set>
                                      <p:cBhvr>
                                        <p:cTn id="152" dur="1" fill="hold">
                                          <p:stCondLst>
                                            <p:cond delay="0"/>
                                          </p:stCondLst>
                                        </p:cTn>
                                        <p:tgtEl>
                                          <p:spTgt spid="45"/>
                                        </p:tgtEl>
                                        <p:attrNameLst>
                                          <p:attrName>style.visibility</p:attrName>
                                        </p:attrNameLst>
                                      </p:cBhvr>
                                      <p:to>
                                        <p:strVal val="visible"/>
                                      </p:to>
                                    </p:set>
                                    <p:animEffect transition="in" filter="fade">
                                      <p:cBhvr>
                                        <p:cTn id="153" dur="550"/>
                                        <p:tgtEl>
                                          <p:spTgt spid="45"/>
                                        </p:tgtEl>
                                      </p:cBhvr>
                                    </p:animEffect>
                                    <p:anim calcmode="lin" valueType="num">
                                      <p:cBhvr additive="base">
                                        <p:cTn id="154" dur="550" fill="hold"/>
                                        <p:tgtEl>
                                          <p:spTgt spid="45"/>
                                        </p:tgtEl>
                                        <p:attrNameLst>
                                          <p:attrName>ppt_x</p:attrName>
                                        </p:attrNameLst>
                                      </p:cBhvr>
                                      <p:tavLst>
                                        <p:tav tm="0">
                                          <p:val>
                                            <p:strVal val="#ppt_x"/>
                                          </p:val>
                                        </p:tav>
                                        <p:tav tm="100000">
                                          <p:val>
                                            <p:strVal val="#ppt_x"/>
                                          </p:val>
                                        </p:tav>
                                      </p:tavLst>
                                    </p:anim>
                                    <p:anim calcmode="lin" valueType="num">
                                      <p:cBhvr additive="base">
                                        <p:cTn id="155" dur="550" fill="hold"/>
                                        <p:tgtEl>
                                          <p:spTgt spid="4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8ef86809f26bc20c.jpg"/>
          <p:cNvPicPr>
            <a:picLocks noChangeAspect="1"/>
          </p:cNvPicPr>
          <p:nvPr/>
        </p:nvPicPr>
        <p:blipFill>
          <a:blip r:embed="rId2"/>
          <a:srcRect l="14156" r="14156"/>
          <a:stretch>
            <a:fillRect/>
          </a:stretch>
        </p:blipFill>
        <p:spPr>
          <a:xfrm>
            <a:off x="6300000" y="800000"/>
            <a:ext cx="5300000" cy="4950000"/>
          </a:xfrm>
          <a:prstGeom prst="roundRect">
            <a:avLst/>
          </a:prstGeom>
          <a:ln w="19050">
            <a:solidFill>
              <a:srgbClr val="22D3EE"/>
            </a:solidFill>
          </a:ln>
        </p:spPr>
      </p:pic>
      <p:sp>
        <p:nvSpPr>
          <p:cNvPr id="40" name="TextBox 39"/>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Cody Logan · Wikimedia Commons · CC BY-SA 4.0</a:t>
            </a:r>
          </a:p>
        </p:txBody>
      </p:sp>
      <p:sp>
        <p:nvSpPr>
          <p:cNvPr id="41" name="TextBox 40"/>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01</a:t>
            </a:r>
          </a:p>
        </p:txBody>
      </p:sp>
      <p:sp>
        <p:nvSpPr>
          <p:cNvPr id="42" name="TextBox 41"/>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3" name="TextBox 42"/>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Edge AI konsepsiyasi va hisoblash darajalari</a:t>
            </a:r>
          </a:p>
        </p:txBody>
      </p:sp>
      <p:sp>
        <p:nvSpPr>
          <p:cNvPr id="44" name="Rectangle 43"/>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150"/>
                            </p:stCondLst>
                            <p:childTnLst>
                              <p:par>
                                <p:cTn id="144" presetID="53" presetClass="entr" presetSubtype="16"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anim calcmode="lin" valueType="num">
                                      <p:cBhvr additive="base">
                                        <p:cTn id="147" dur="550" fill="hold"/>
                                        <p:tgtEl>
                                          <p:spTgt spid="38"/>
                                        </p:tgtEl>
                                        <p:attrNameLst>
                                          <p:attrName>ppt_w</p:attrName>
                                        </p:attrNameLst>
                                      </p:cBhvr>
                                      <p:tavLst>
                                        <p:tav tm="0">
                                          <p:val>
                                            <p:strVal val="0"/>
                                          </p:val>
                                        </p:tav>
                                        <p:tav tm="100000">
                                          <p:val>
                                            <p:strVal val="#ppt_w"/>
                                          </p:val>
                                        </p:tav>
                                      </p:tavLst>
                                    </p:anim>
                                    <p:anim calcmode="lin" valueType="num">
                                      <p:cBhvr additive="base">
                                        <p:cTn id="148" dur="550" fill="hold"/>
                                        <p:tgtEl>
                                          <p:spTgt spid="38"/>
                                        </p:tgtEl>
                                        <p:attrNameLst>
                                          <p:attrName>ppt_h</p:attrName>
                                        </p:attrNameLst>
                                      </p:cBhvr>
                                      <p:tavLst>
                                        <p:tav tm="0">
                                          <p:val>
                                            <p:strVal val="0"/>
                                          </p:val>
                                        </p:tav>
                                        <p:tav tm="100000">
                                          <p:val>
                                            <p:strVal val="#ppt_h"/>
                                          </p:val>
                                        </p:tav>
                                      </p:tavLst>
                                    </p:anim>
                                  </p:childTnLst>
                                </p:cTn>
                              </p:par>
                            </p:childTnLst>
                          </p:cTn>
                        </p:par>
                        <p:par>
                          <p:cTn id="149" fill="hold">
                            <p:stCondLst>
                              <p:cond delay="150"/>
                            </p:stCondLst>
                            <p:childTnLst>
                              <p:par>
                                <p:cTn id="150" presetID="53" presetClass="entr" presetSubtype="16" fill="hold" grpId="0" nodeType="afterEffect">
                                  <p:stCondLst>
                                    <p:cond delay="0"/>
                                  </p:stCondLst>
                                  <p:childTnLst>
                                    <p:set>
                                      <p:cBhvr>
                                        <p:cTn id="151" dur="1" fill="hold">
                                          <p:stCondLst>
                                            <p:cond delay="0"/>
                                          </p:stCondLst>
                                        </p:cTn>
                                        <p:tgtEl>
                                          <p:spTgt spid="39"/>
                                        </p:tgtEl>
                                        <p:attrNameLst>
                                          <p:attrName>style.visibility</p:attrName>
                                        </p:attrNameLst>
                                      </p:cBhvr>
                                      <p:to>
                                        <p:strVal val="visible"/>
                                      </p:to>
                                    </p:set>
                                    <p:animEffect transition="in" filter="fade">
                                      <p:cBhvr>
                                        <p:cTn id="152" dur="550"/>
                                        <p:tgtEl>
                                          <p:spTgt spid="39"/>
                                        </p:tgtEl>
                                      </p:cBhvr>
                                    </p:animEffect>
                                    <p:anim calcmode="lin" valueType="num">
                                      <p:cBhvr additive="base">
                                        <p:cTn id="153" dur="550" fill="hold"/>
                                        <p:tgtEl>
                                          <p:spTgt spid="39"/>
                                        </p:tgtEl>
                                        <p:attrNameLst>
                                          <p:attrName>ppt_w</p:attrName>
                                        </p:attrNameLst>
                                      </p:cBhvr>
                                      <p:tavLst>
                                        <p:tav tm="0">
                                          <p:val>
                                            <p:strVal val="0"/>
                                          </p:val>
                                        </p:tav>
                                        <p:tav tm="100000">
                                          <p:val>
                                            <p:strVal val="#ppt_w"/>
                                          </p:val>
                                        </p:tav>
                                      </p:tavLst>
                                    </p:anim>
                                    <p:anim calcmode="lin" valueType="num">
                                      <p:cBhvr additive="base">
                                        <p:cTn id="154" dur="550" fill="hold"/>
                                        <p:tgtEl>
                                          <p:spTgt spid="39"/>
                                        </p:tgtEl>
                                        <p:attrNameLst>
                                          <p:attrName>ppt_h</p:attrName>
                                        </p:attrNameLst>
                                      </p:cBhvr>
                                      <p:tavLst>
                                        <p:tav tm="0">
                                          <p:val>
                                            <p:strVal val="0"/>
                                          </p:val>
                                        </p:tav>
                                        <p:tav tm="100000">
                                          <p:val>
                                            <p:strVal val="#ppt_h"/>
                                          </p:val>
                                        </p:tav>
                                      </p:tavLst>
                                    </p:anim>
                                  </p:childTnLst>
                                </p:cTn>
                              </p:par>
                            </p:childTnLst>
                          </p:cTn>
                        </p:par>
                        <p:par>
                          <p:cTn id="155" fill="hold">
                            <p:stCondLst>
                              <p:cond delay="150"/>
                            </p:stCondLst>
                            <p:childTnLst>
                              <p:par>
                                <p:cTn id="156" presetID="10" presetClass="entr" presetSubtype="0" fill="hold" grpId="0" nodeType="afterEffect">
                                  <p:stCondLst>
                                    <p:cond delay="0"/>
                                  </p:stCondLst>
                                  <p:childTnLst>
                                    <p:set>
                                      <p:cBhvr>
                                        <p:cTn id="157" dur="1" fill="hold">
                                          <p:stCondLst>
                                            <p:cond delay="0"/>
                                          </p:stCondLst>
                                        </p:cTn>
                                        <p:tgtEl>
                                          <p:spTgt spid="40"/>
                                        </p:tgtEl>
                                        <p:attrNameLst>
                                          <p:attrName>style.visibility</p:attrName>
                                        </p:attrNameLst>
                                      </p:cBhvr>
                                      <p:to>
                                        <p:strVal val="visible"/>
                                      </p:to>
                                    </p:set>
                                    <p:animEffect transition="in" filter="fade">
                                      <p:cBhvr>
                                        <p:cTn id="158" dur="550"/>
                                        <p:tgtEl>
                                          <p:spTgt spid="40"/>
                                        </p:tgtEl>
                                      </p:cBhvr>
                                    </p:animEffect>
                                  </p:childTnLst>
                                </p:cTn>
                              </p:par>
                            </p:childTnLst>
                          </p:cTn>
                        </p:par>
                        <p:par>
                          <p:cTn id="159" fill="hold">
                            <p:stCondLst>
                              <p:cond delay="350"/>
                            </p:stCondLst>
                            <p:childTnLst>
                              <p:par>
                                <p:cTn id="160" presetID="53" presetClass="entr" presetSubtype="16"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anim calcmode="lin" valueType="num">
                                      <p:cBhvr additive="base">
                                        <p:cTn id="163" dur="550" fill="hold"/>
                                        <p:tgtEl>
                                          <p:spTgt spid="41"/>
                                        </p:tgtEl>
                                        <p:attrNameLst>
                                          <p:attrName>ppt_w</p:attrName>
                                        </p:attrNameLst>
                                      </p:cBhvr>
                                      <p:tavLst>
                                        <p:tav tm="0">
                                          <p:val>
                                            <p:strVal val="0"/>
                                          </p:val>
                                        </p:tav>
                                        <p:tav tm="100000">
                                          <p:val>
                                            <p:strVal val="#ppt_w"/>
                                          </p:val>
                                        </p:tav>
                                      </p:tavLst>
                                    </p:anim>
                                    <p:anim calcmode="lin" valueType="num">
                                      <p:cBhvr additive="base">
                                        <p:cTn id="164" dur="550" fill="hold"/>
                                        <p:tgtEl>
                                          <p:spTgt spid="41"/>
                                        </p:tgtEl>
                                        <p:attrNameLst>
                                          <p:attrName>ppt_h</p:attrName>
                                        </p:attrNameLst>
                                      </p:cBhvr>
                                      <p:tavLst>
                                        <p:tav tm="0">
                                          <p:val>
                                            <p:strVal val="0"/>
                                          </p:val>
                                        </p:tav>
                                        <p:tav tm="100000">
                                          <p:val>
                                            <p:strVal val="#ppt_h"/>
                                          </p:val>
                                        </p:tav>
                                      </p:tavLst>
                                    </p:anim>
                                  </p:childTnLst>
                                </p:cTn>
                              </p:par>
                            </p:childTnLst>
                          </p:cTn>
                        </p:par>
                        <p:par>
                          <p:cTn id="165" fill="hold">
                            <p:stCondLst>
                              <p:cond delay="450"/>
                            </p:stCondLst>
                            <p:childTnLst>
                              <p:par>
                                <p:cTn id="166" presetID="10" presetClass="entr" presetSubtype="0" fill="hold" grpId="0" nodeType="afterEffect">
                                  <p:stCondLst>
                                    <p:cond delay="0"/>
                                  </p:stCondLst>
                                  <p:childTnLst>
                                    <p:set>
                                      <p:cBhvr>
                                        <p:cTn id="167" dur="1" fill="hold">
                                          <p:stCondLst>
                                            <p:cond delay="0"/>
                                          </p:stCondLst>
                                        </p:cTn>
                                        <p:tgtEl>
                                          <p:spTgt spid="42"/>
                                        </p:tgtEl>
                                        <p:attrNameLst>
                                          <p:attrName>style.visibility</p:attrName>
                                        </p:attrNameLst>
                                      </p:cBhvr>
                                      <p:to>
                                        <p:strVal val="visible"/>
                                      </p:to>
                                    </p:set>
                                    <p:animEffect transition="in" filter="fade">
                                      <p:cBhvr>
                                        <p:cTn id="168" dur="550"/>
                                        <p:tgtEl>
                                          <p:spTgt spid="42"/>
                                        </p:tgtEl>
                                      </p:cBhvr>
                                    </p:animEffect>
                                  </p:childTnLst>
                                </p:cTn>
                              </p:par>
                            </p:childTnLst>
                          </p:cTn>
                        </p:par>
                        <p:par>
                          <p:cTn id="169" fill="hold">
                            <p:stCondLst>
                              <p:cond delay="550"/>
                            </p:stCondLst>
                            <p:childTnLst>
                              <p:par>
                                <p:cTn id="170" presetID="2" presetClass="entr" presetSubtype="8"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additive="base">
                                        <p:cTn id="173" dur="550" fill="hold"/>
                                        <p:tgtEl>
                                          <p:spTgt spid="43"/>
                                        </p:tgtEl>
                                        <p:attrNameLst>
                                          <p:attrName>ppt_x</p:attrName>
                                        </p:attrNameLst>
                                      </p:cBhvr>
                                      <p:tavLst>
                                        <p:tav tm="0">
                                          <p:val>
                                            <p:strVal val="0-#ppt_w/2"/>
                                          </p:val>
                                        </p:tav>
                                        <p:tav tm="100000">
                                          <p:val>
                                            <p:strVal val="#ppt_x"/>
                                          </p:val>
                                        </p:tav>
                                      </p:tavLst>
                                    </p:anim>
                                    <p:anim calcmode="lin" valueType="num">
                                      <p:cBhvr additive="base">
                                        <p:cTn id="174" dur="550" fill="hold"/>
                                        <p:tgtEl>
                                          <p:spTgt spid="43"/>
                                        </p:tgtEl>
                                        <p:attrNameLst>
                                          <p:attrName>ppt_y</p:attrName>
                                        </p:attrNameLst>
                                      </p:cBhvr>
                                      <p:tavLst>
                                        <p:tav tm="0">
                                          <p:val>
                                            <p:strVal val="#ppt_y"/>
                                          </p:val>
                                        </p:tav>
                                        <p:tav tm="100000">
                                          <p:val>
                                            <p:strVal val="#ppt_y"/>
                                          </p:val>
                                        </p:tav>
                                      </p:tavLst>
                                    </p:anim>
                                  </p:childTnLst>
                                </p:cTn>
                              </p:par>
                            </p:childTnLst>
                          </p:cTn>
                        </p:par>
                        <p:par>
                          <p:cTn id="175" fill="hold">
                            <p:stCondLst>
                              <p:cond delay="650"/>
                            </p:stCondLst>
                            <p:childTnLst>
                              <p:par>
                                <p:cTn id="176" presetID="22" presetClass="entr" presetSubtype="8" fill="hold" grpId="0" nodeType="afterEffect">
                                  <p:stCondLst>
                                    <p:cond delay="0"/>
                                  </p:stCondLst>
                                  <p:childTnLst>
                                    <p:set>
                                      <p:cBhvr>
                                        <p:cTn id="177" dur="1" fill="hold">
                                          <p:stCondLst>
                                            <p:cond delay="0"/>
                                          </p:stCondLst>
                                        </p:cTn>
                                        <p:tgtEl>
                                          <p:spTgt spid="44"/>
                                        </p:tgtEl>
                                        <p:attrNameLst>
                                          <p:attrName>style.visibility</p:attrName>
                                        </p:attrNameLst>
                                      </p:cBhvr>
                                      <p:to>
                                        <p:strVal val="visible"/>
                                      </p:to>
                                    </p:set>
                                    <p:animEffect transition="in" filter="wipe(left)">
                                      <p:cBhvr>
                                        <p:cTn id="179" dur="8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40" grpId="0" animBg="1"/>
      <p:bldP spid="41" grpId="0" animBg="1"/>
      <p:bldP spid="42" grpId="0" animBg="1"/>
      <p:bldP spid="43" grpId="0" animBg="1"/>
      <p:bldP spid="44"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Edge AI konsepsiyasi va hisoblash darajalari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460b1c4521cd96c5.jpg"/>
          <p:cNvPicPr>
            <a:picLocks noChangeAspect="1"/>
          </p:cNvPicPr>
          <p:nvPr/>
        </p:nvPicPr>
        <p:blipFill>
          <a:blip r:embed="rId2"/>
          <a:srcRect l="18248" r="18248"/>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Ragesoss · Wikimedia Commons · CC BY-SA 3.0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762128"/>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842128"/>
            <a:ext cx="50000" cy="181287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548564"/>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3" name="TextBox 32"/>
          <p:cNvSpPr txBox="1"/>
          <p:nvPr/>
        </p:nvSpPr>
        <p:spPr>
          <a:xfrm>
            <a:off x="1300000" y="1802128"/>
            <a:ext cx="5900000" cy="1892872"/>
          </a:xfrm>
          <a:prstGeom prst="rect">
            <a:avLst/>
          </a:prstGeom>
          <a:noFill/>
        </p:spPr>
        <p:txBody>
          <a:bodyPr wrap="square" anchor="ctr">
            <a:spAutoFit/>
          </a:bodyPr>
          <a:lstStyle/>
          <a:p>
            <a:r>
              <a:rPr sz="1500" b="1">
                <a:solidFill>
                  <a:srgbClr val="E8EEFA"/>
                </a:solidFill>
                <a:latin typeface="Segoe UI"/>
              </a:rPr>
              <a:t>Zamonaviy intellektual tizimlarda hisoblash bir nechta darajaga taqsimlanadi.</a:t>
            </a:r>
          </a:p>
          <a:p>
            <a:pPr>
              <a:spcBef>
                <a:spcPts val="400"/>
              </a:spcBef>
            </a:pPr>
            <a:r>
              <a:rPr sz="1400">
                <a:solidFill>
                  <a:srgbClr val="AEBBD9"/>
                </a:solidFill>
                <a:latin typeface="Segoe UI"/>
              </a:rPr>
              <a:t>Bulut (cloud) — model o'qitish, katta modellar, tarixiy tahlil. Tuman yoki chekka server (fog / edge server) — zavod, kasalxona yoki telekom bazaviy stansiyasidagi kichik server (masalan, bir nechta L4 yoki Jetson AGX Orin bilan), o'nlab kameralarni qayta ishlaydi.</a:t>
            </a:r>
          </a:p>
        </p:txBody>
      </p:sp>
      <p:sp>
        <p:nvSpPr>
          <p:cNvPr id="34" name="Rounded Rectangle 33"/>
          <p:cNvSpPr/>
          <p:nvPr/>
        </p:nvSpPr>
        <p:spPr>
          <a:xfrm>
            <a:off x="550000" y="3845000"/>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1812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63143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7" name="TextBox 36"/>
          <p:cNvSpPr txBox="1"/>
          <p:nvPr/>
        </p:nvSpPr>
        <p:spPr>
          <a:xfrm>
            <a:off x="1300000" y="3885000"/>
            <a:ext cx="5900000" cy="1892872"/>
          </a:xfrm>
          <a:prstGeom prst="rect">
            <a:avLst/>
          </a:prstGeom>
          <a:noFill/>
        </p:spPr>
        <p:txBody>
          <a:bodyPr wrap="square" anchor="ctr">
            <a:spAutoFit/>
          </a:bodyPr>
          <a:lstStyle/>
          <a:p>
            <a:r>
              <a:rPr sz="1500" b="1">
                <a:solidFill>
                  <a:srgbClr val="E8EEFA"/>
                </a:solidFill>
                <a:latin typeface="Segoe UI"/>
              </a:rPr>
              <a:t>Edge AI konsepsiyasining asosiy tamoyili — ma'lumotni emas, qarorni uzatish.</a:t>
            </a:r>
          </a:p>
          <a:p>
            <a:pPr>
              <a:spcBef>
                <a:spcPts val="400"/>
              </a:spcBef>
            </a:pPr>
            <a:r>
              <a:rPr sz="1400">
                <a:solidFill>
                  <a:srgbClr val="AEBBD9"/>
                </a:solidFill>
                <a:latin typeface="Segoe UI"/>
              </a:rPr>
              <a:t>Kamera xom videoni emas, «konveyerda nuqsonli mahsulot №4471» degan hodisani yuboradi; bu uzatish hajmini ming martalab kamaytiradi va qaror kechikishini millisekundlar darajasiga tushiradi.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Edge AI konsepsiyasi va hisoblash darajalari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a:t>
            </a:r>
          </a:p>
        </p:txBody>
      </p:sp>
      <p:graphicFrame>
        <p:nvGraphicFramePr>
          <p:cNvPr id="23" name="Table 22"/>
          <p:cNvGraphicFramePr>
            <a:graphicFrameLocks noGrp="1"/>
          </p:cNvGraphicFramePr>
          <p:nvPr/>
        </p:nvGraphicFramePr>
        <p:xfrm>
          <a:off x="550000" y="1400000"/>
          <a:ext cx="11100000" cy="2600000"/>
        </p:xfrm>
        <a:graphic>
          <a:graphicData uri="http://schemas.openxmlformats.org/drawingml/2006/table">
            <a:tbl>
              <a:tblPr firstRow="1" bandRow="1">
                <a:tableStyleId>{5C22544A-7EE6-4342-B048-85BDC9FD1C3A}</a:tableStyleId>
              </a:tblPr>
              <a:tblGrid>
                <a:gridCol w="1850000"/>
                <a:gridCol w="1850000"/>
                <a:gridCol w="1850000"/>
                <a:gridCol w="1850000"/>
                <a:gridCol w="1850000"/>
                <a:gridCol w="1850000"/>
              </a:tblGrid>
              <a:tr h="520000">
                <a:tc>
                  <a:txBody>
                    <a:bodyPr/>
                    <a:lstStyle/>
                    <a:p>
                      <a:r>
                        <a:rPr sz="1400" b="1">
                          <a:solidFill>
                            <a:srgbClr val="22D3EE"/>
                          </a:solidFill>
                          <a:latin typeface="Segoe UI"/>
                        </a:rPr>
                        <a:t>Daraja</a:t>
                      </a:r>
                    </a:p>
                  </a:txBody>
                  <a:tcPr>
                    <a:solidFill>
                      <a:srgbClr val="1C2755"/>
                    </a:solidFill>
                  </a:tcPr>
                </a:tc>
                <a:tc>
                  <a:txBody>
                    <a:bodyPr/>
                    <a:lstStyle/>
                    <a:p>
                      <a:r>
                        <a:rPr sz="1400" b="1">
                          <a:solidFill>
                            <a:srgbClr val="22D3EE"/>
                          </a:solidFill>
                          <a:latin typeface="Segoe UI"/>
                        </a:rPr>
                        <a:t>Tipik apparat</a:t>
                      </a:r>
                    </a:p>
                  </a:txBody>
                  <a:tcPr>
                    <a:solidFill>
                      <a:srgbClr val="1C2755"/>
                    </a:solidFill>
                  </a:tcPr>
                </a:tc>
                <a:tc>
                  <a:txBody>
                    <a:bodyPr/>
                    <a:lstStyle/>
                    <a:p>
                      <a:r>
                        <a:rPr sz="1400" b="1">
                          <a:solidFill>
                            <a:srgbClr val="22D3EE"/>
                          </a:solidFill>
                          <a:latin typeface="Segoe UI"/>
                        </a:rPr>
                        <a:t>Quvvat</a:t>
                      </a:r>
                    </a:p>
                  </a:txBody>
                  <a:tcPr>
                    <a:solidFill>
                      <a:srgbClr val="1C2755"/>
                    </a:solidFill>
                  </a:tcPr>
                </a:tc>
                <a:tc>
                  <a:txBody>
                    <a:bodyPr/>
                    <a:lstStyle/>
                    <a:p>
                      <a:r>
                        <a:rPr sz="1400" b="1">
                          <a:solidFill>
                            <a:srgbClr val="22D3EE"/>
                          </a:solidFill>
                          <a:latin typeface="Segoe UI"/>
                        </a:rPr>
                        <a:t>Xotira</a:t>
                      </a:r>
                    </a:p>
                  </a:txBody>
                  <a:tcPr>
                    <a:solidFill>
                      <a:srgbClr val="1C2755"/>
                    </a:solidFill>
                  </a:tcPr>
                </a:tc>
                <a:tc>
                  <a:txBody>
                    <a:bodyPr/>
                    <a:lstStyle/>
                    <a:p>
                      <a:r>
                        <a:rPr sz="1400" b="1">
                          <a:solidFill>
                            <a:srgbClr val="22D3EE"/>
                          </a:solidFill>
                          <a:latin typeface="Segoe UI"/>
                        </a:rPr>
                        <a:t>Tipik model</a:t>
                      </a:r>
                    </a:p>
                  </a:txBody>
                  <a:tcPr>
                    <a:solidFill>
                      <a:srgbClr val="1C2755"/>
                    </a:solidFill>
                  </a:tcPr>
                </a:tc>
                <a:tc>
                  <a:txBody>
                    <a:bodyPr/>
                    <a:lstStyle/>
                    <a:p>
                      <a:r>
                        <a:rPr sz="1400" b="1">
                          <a:solidFill>
                            <a:srgbClr val="22D3EE"/>
                          </a:solidFill>
                          <a:latin typeface="Segoe UI"/>
                        </a:rPr>
                        <a:t>Kechikish maqsadi</a:t>
                      </a:r>
                    </a:p>
                  </a:txBody>
                  <a:tcPr>
                    <a:solidFill>
                      <a:srgbClr val="1C2755"/>
                    </a:solidFill>
                  </a:tcPr>
                </a:tc>
              </a:tr>
              <a:tr h="520000">
                <a:tc>
                  <a:txBody>
                    <a:bodyPr/>
                    <a:lstStyle/>
                    <a:p>
                      <a:r>
                        <a:rPr sz="1400" b="0">
                          <a:solidFill>
                            <a:srgbClr val="E8EEFA"/>
                          </a:solidFill>
                          <a:latin typeface="Segoe UI"/>
                        </a:rPr>
                        <a:t>Bulut</a:t>
                      </a:r>
                    </a:p>
                  </a:txBody>
                  <a:tcPr>
                    <a:solidFill>
                      <a:srgbClr val="111834"/>
                    </a:solidFill>
                  </a:tcPr>
                </a:tc>
                <a:tc>
                  <a:txBody>
                    <a:bodyPr/>
                    <a:lstStyle/>
                    <a:p>
                      <a:r>
                        <a:rPr sz="1400" b="0">
                          <a:solidFill>
                            <a:srgbClr val="E8EEFA"/>
                          </a:solidFill>
                          <a:latin typeface="Segoe UI"/>
                        </a:rPr>
                        <a:t>H100/B200 serverlar</a:t>
                      </a:r>
                    </a:p>
                  </a:txBody>
                  <a:tcPr>
                    <a:solidFill>
                      <a:srgbClr val="111834"/>
                    </a:solidFill>
                  </a:tcPr>
                </a:tc>
                <a:tc>
                  <a:txBody>
                    <a:bodyPr/>
                    <a:lstStyle/>
                    <a:p>
                      <a:r>
                        <a:rPr sz="1400" b="0">
                          <a:solidFill>
                            <a:srgbClr val="E8EEFA"/>
                          </a:solidFill>
                          <a:latin typeface="Segoe UI"/>
                        </a:rPr>
                        <a:t>kVt'lar</a:t>
                      </a:r>
                    </a:p>
                  </a:txBody>
                  <a:tcPr>
                    <a:solidFill>
                      <a:srgbClr val="111834"/>
                    </a:solidFill>
                  </a:tcPr>
                </a:tc>
                <a:tc>
                  <a:txBody>
                    <a:bodyPr/>
                    <a:lstStyle/>
                    <a:p>
                      <a:r>
                        <a:rPr sz="1400" b="0">
                          <a:solidFill>
                            <a:srgbClr val="E8EEFA"/>
                          </a:solidFill>
                          <a:latin typeface="Segoe UI"/>
                        </a:rPr>
                        <a:t>80 GB+ / GPU</a:t>
                      </a:r>
                    </a:p>
                  </a:txBody>
                  <a:tcPr>
                    <a:solidFill>
                      <a:srgbClr val="111834"/>
                    </a:solidFill>
                  </a:tcPr>
                </a:tc>
                <a:tc>
                  <a:txBody>
                    <a:bodyPr/>
                    <a:lstStyle/>
                    <a:p>
                      <a:r>
                        <a:rPr sz="1400" b="0">
                          <a:solidFill>
                            <a:srgbClr val="E8EEFA"/>
                          </a:solidFill>
                          <a:latin typeface="Segoe UI"/>
                        </a:rPr>
                        <a:t>LLM, diffuziya, o'qitish</a:t>
                      </a:r>
                    </a:p>
                  </a:txBody>
                  <a:tcPr>
                    <a:solidFill>
                      <a:srgbClr val="111834"/>
                    </a:solidFill>
                  </a:tcPr>
                </a:tc>
                <a:tc>
                  <a:txBody>
                    <a:bodyPr/>
                    <a:lstStyle/>
                    <a:p>
                      <a:r>
                        <a:rPr sz="1400" b="0">
                          <a:solidFill>
                            <a:srgbClr val="E8EEFA"/>
                          </a:solidFill>
                          <a:latin typeface="Segoe UI"/>
                        </a:rPr>
                        <a:t>100 ms – s</a:t>
                      </a:r>
                    </a:p>
                  </a:txBody>
                  <a:tcPr>
                    <a:solidFill>
                      <a:srgbClr val="111834"/>
                    </a:solidFill>
                  </a:tcPr>
                </a:tc>
              </a:tr>
              <a:tr h="520000">
                <a:tc>
                  <a:txBody>
                    <a:bodyPr/>
                    <a:lstStyle/>
                    <a:p>
                      <a:r>
                        <a:rPr sz="1400" b="0">
                          <a:solidFill>
                            <a:srgbClr val="E8EEFA"/>
                          </a:solidFill>
                          <a:latin typeface="Segoe UI"/>
                        </a:rPr>
                        <a:t>Chekka server</a:t>
                      </a:r>
                    </a:p>
                  </a:txBody>
                  <a:tcPr>
                    <a:solidFill>
                      <a:srgbClr val="161F40"/>
                    </a:solidFill>
                  </a:tcPr>
                </a:tc>
                <a:tc>
                  <a:txBody>
                    <a:bodyPr/>
                    <a:lstStyle/>
                    <a:p>
                      <a:r>
                        <a:rPr sz="1400" b="0">
                          <a:solidFill>
                            <a:srgbClr val="E8EEFA"/>
                          </a:solidFill>
                          <a:latin typeface="Segoe UI"/>
                        </a:rPr>
                        <a:t>L4, AGX Orin, Xeon-D</a:t>
                      </a:r>
                    </a:p>
                  </a:txBody>
                  <a:tcPr>
                    <a:solidFill>
                      <a:srgbClr val="161F40"/>
                    </a:solidFill>
                  </a:tcPr>
                </a:tc>
                <a:tc>
                  <a:txBody>
                    <a:bodyPr/>
                    <a:lstStyle/>
                    <a:p>
                      <a:r>
                        <a:rPr sz="1400" b="0">
                          <a:solidFill>
                            <a:srgbClr val="E8EEFA"/>
                          </a:solidFill>
                          <a:latin typeface="Segoe UI"/>
                        </a:rPr>
                        <a:t>50–300 Vt</a:t>
                      </a:r>
                    </a:p>
                  </a:txBody>
                  <a:tcPr>
                    <a:solidFill>
                      <a:srgbClr val="161F40"/>
                    </a:solidFill>
                  </a:tcPr>
                </a:tc>
                <a:tc>
                  <a:txBody>
                    <a:bodyPr/>
                    <a:lstStyle/>
                    <a:p>
                      <a:r>
                        <a:rPr sz="1400" b="0">
                          <a:solidFill>
                            <a:srgbClr val="E8EEFA"/>
                          </a:solidFill>
                          <a:latin typeface="Segoe UI"/>
                        </a:rPr>
                        <a:t>16–64 GB</a:t>
                      </a:r>
                    </a:p>
                  </a:txBody>
                  <a:tcPr>
                    <a:solidFill>
                      <a:srgbClr val="161F40"/>
                    </a:solidFill>
                  </a:tcPr>
                </a:tc>
                <a:tc>
                  <a:txBody>
                    <a:bodyPr/>
                    <a:lstStyle/>
                    <a:p>
                      <a:r>
                        <a:rPr sz="1400" b="0">
                          <a:solidFill>
                            <a:srgbClr val="E8EEFA"/>
                          </a:solidFill>
                          <a:latin typeface="Segoe UI"/>
                        </a:rPr>
                        <a:t>YOLO, segmentatsiya, kichik LLM</a:t>
                      </a:r>
                    </a:p>
                  </a:txBody>
                  <a:tcPr>
                    <a:solidFill>
                      <a:srgbClr val="161F40"/>
                    </a:solidFill>
                  </a:tcPr>
                </a:tc>
                <a:tc>
                  <a:txBody>
                    <a:bodyPr/>
                    <a:lstStyle/>
                    <a:p>
                      <a:r>
                        <a:rPr sz="1400" b="0">
                          <a:solidFill>
                            <a:srgbClr val="E8EEFA"/>
                          </a:solidFill>
                          <a:latin typeface="Segoe UI"/>
                        </a:rPr>
                        <a:t>10–50 ms</a:t>
                      </a:r>
                    </a:p>
                  </a:txBody>
                  <a:tcPr>
                    <a:solidFill>
                      <a:srgbClr val="161F40"/>
                    </a:solidFill>
                  </a:tcPr>
                </a:tc>
              </a:tr>
              <a:tr h="520000">
                <a:tc>
                  <a:txBody>
                    <a:bodyPr/>
                    <a:lstStyle/>
                    <a:p>
                      <a:r>
                        <a:rPr sz="1400" b="0">
                          <a:solidFill>
                            <a:srgbClr val="E8EEFA"/>
                          </a:solidFill>
                          <a:latin typeface="Segoe UI"/>
                        </a:rPr>
                        <a:t>Qurilma chekkasi</a:t>
                      </a:r>
                    </a:p>
                  </a:txBody>
                  <a:tcPr>
                    <a:solidFill>
                      <a:srgbClr val="111834"/>
                    </a:solidFill>
                  </a:tcPr>
                </a:tc>
                <a:tc>
                  <a:txBody>
                    <a:bodyPr/>
                    <a:lstStyle/>
                    <a:p>
                      <a:r>
                        <a:rPr sz="1400" b="0">
                          <a:solidFill>
                            <a:srgbClr val="E8EEFA"/>
                          </a:solidFill>
                          <a:latin typeface="Segoe UI"/>
                        </a:rPr>
                        <a:t>Orin Nano/NX, Coral, telefon NPU</a:t>
                      </a:r>
                    </a:p>
                  </a:txBody>
                  <a:tcPr>
                    <a:solidFill>
                      <a:srgbClr val="111834"/>
                    </a:solidFill>
                  </a:tcPr>
                </a:tc>
                <a:tc>
                  <a:txBody>
                    <a:bodyPr/>
                    <a:lstStyle/>
                    <a:p>
                      <a:r>
                        <a:rPr sz="1400" b="0">
                          <a:solidFill>
                            <a:srgbClr val="E8EEFA"/>
                          </a:solidFill>
                          <a:latin typeface="Segoe UI"/>
                        </a:rPr>
                        <a:t>2–25 Vt</a:t>
                      </a:r>
                    </a:p>
                  </a:txBody>
                  <a:tcPr>
                    <a:solidFill>
                      <a:srgbClr val="111834"/>
                    </a:solidFill>
                  </a:tcPr>
                </a:tc>
                <a:tc>
                  <a:txBody>
                    <a:bodyPr/>
                    <a:lstStyle/>
                    <a:p>
                      <a:r>
                        <a:rPr sz="1400" b="0">
                          <a:solidFill>
                            <a:srgbClr val="E8EEFA"/>
                          </a:solidFill>
                          <a:latin typeface="Segoe UI"/>
                        </a:rPr>
                        <a:t>1–16 GB</a:t>
                      </a:r>
                    </a:p>
                  </a:txBody>
                  <a:tcPr>
                    <a:solidFill>
                      <a:srgbClr val="111834"/>
                    </a:solidFill>
                  </a:tcPr>
                </a:tc>
                <a:tc>
                  <a:txBody>
                    <a:bodyPr/>
                    <a:lstStyle/>
                    <a:p>
                      <a:r>
                        <a:rPr sz="1400" b="0">
                          <a:solidFill>
                            <a:srgbClr val="E8EEFA"/>
                          </a:solidFill>
                          <a:latin typeface="Segoe UI"/>
                        </a:rPr>
                        <a:t>MobileNet, YOLO-nano, ASR</a:t>
                      </a:r>
                    </a:p>
                  </a:txBody>
                  <a:tcPr>
                    <a:solidFill>
                      <a:srgbClr val="111834"/>
                    </a:solidFill>
                  </a:tcPr>
                </a:tc>
                <a:tc>
                  <a:txBody>
                    <a:bodyPr/>
                    <a:lstStyle/>
                    <a:p>
                      <a:r>
                        <a:rPr sz="1400" b="0">
                          <a:solidFill>
                            <a:srgbClr val="E8EEFA"/>
                          </a:solidFill>
                          <a:latin typeface="Segoe UI"/>
                        </a:rPr>
                        <a:t>5–30 ms</a:t>
                      </a:r>
                    </a:p>
                  </a:txBody>
                  <a:tcPr>
                    <a:solidFill>
                      <a:srgbClr val="111834"/>
                    </a:solidFill>
                  </a:tcPr>
                </a:tc>
              </a:tr>
              <a:tr h="520000">
                <a:tc>
                  <a:txBody>
                    <a:bodyPr/>
                    <a:lstStyle/>
                    <a:p>
                      <a:r>
                        <a:rPr sz="1400" b="0">
                          <a:solidFill>
                            <a:srgbClr val="E8EEFA"/>
                          </a:solidFill>
                          <a:latin typeface="Segoe UI"/>
                        </a:rPr>
                        <a:t>TinyML</a:t>
                      </a:r>
                    </a:p>
                  </a:txBody>
                  <a:tcPr>
                    <a:solidFill>
                      <a:srgbClr val="161F40"/>
                    </a:solidFill>
                  </a:tcPr>
                </a:tc>
                <a:tc>
                  <a:txBody>
                    <a:bodyPr/>
                    <a:lstStyle/>
                    <a:p>
                      <a:r>
                        <a:rPr sz="1400" b="0">
                          <a:solidFill>
                            <a:srgbClr val="E8EEFA"/>
                          </a:solidFill>
                          <a:latin typeface="Segoe UI"/>
                        </a:rPr>
                        <a:t>Cortex-M4/M7/M55, ESP32-S3</a:t>
                      </a:r>
                    </a:p>
                  </a:txBody>
                  <a:tcPr>
                    <a:solidFill>
                      <a:srgbClr val="161F40"/>
                    </a:solidFill>
                  </a:tcPr>
                </a:tc>
                <a:tc>
                  <a:txBody>
                    <a:bodyPr/>
                    <a:lstStyle/>
                    <a:p>
                      <a:r>
                        <a:rPr sz="1400" b="0">
                          <a:solidFill>
                            <a:srgbClr val="E8EEFA"/>
                          </a:solidFill>
                          <a:latin typeface="Segoe UI"/>
                        </a:rPr>
                        <a:t>1–100 mVt</a:t>
                      </a:r>
                    </a:p>
                  </a:txBody>
                  <a:tcPr>
                    <a:solidFill>
                      <a:srgbClr val="161F40"/>
                    </a:solidFill>
                  </a:tcPr>
                </a:tc>
                <a:tc>
                  <a:txBody>
                    <a:bodyPr/>
                    <a:lstStyle/>
                    <a:p>
                      <a:r>
                        <a:rPr sz="1400" b="0">
                          <a:solidFill>
                            <a:srgbClr val="E8EEFA"/>
                          </a:solidFill>
                          <a:latin typeface="Segoe UI"/>
                        </a:rPr>
                        <a:t>64 KB – 2 MB SRAM</a:t>
                      </a:r>
                    </a:p>
                  </a:txBody>
                  <a:tcPr>
                    <a:solidFill>
                      <a:srgbClr val="161F40"/>
                    </a:solidFill>
                  </a:tcPr>
                </a:tc>
                <a:tc>
                  <a:txBody>
                    <a:bodyPr/>
                    <a:lstStyle/>
                    <a:p>
                      <a:r>
                        <a:rPr sz="1400" b="0">
                          <a:solidFill>
                            <a:srgbClr val="E8EEFA"/>
                          </a:solidFill>
                          <a:latin typeface="Segoe UI"/>
                        </a:rPr>
                        <a:t>kalit so'z, anomaliya, imo-ishora</a:t>
                      </a:r>
                    </a:p>
                  </a:txBody>
                  <a:tcPr>
                    <a:solidFill>
                      <a:srgbClr val="161F40"/>
                    </a:solidFill>
                  </a:tcPr>
                </a:tc>
                <a:tc>
                  <a:txBody>
                    <a:bodyPr/>
                    <a:lstStyle/>
                    <a:p>
                      <a:r>
                        <a:rPr sz="1400" b="0">
                          <a:solidFill>
                            <a:srgbClr val="E8EEFA"/>
                          </a:solidFill>
                          <a:latin typeface="Segoe UI"/>
                        </a:rPr>
                        <a:t>10–100 ms</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6" dur="8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d1825445339c4dd8.jpg"/>
          <p:cNvPicPr>
            <a:picLocks noChangeAspect="1"/>
          </p:cNvPicPr>
          <p:nvPr/>
        </p:nvPicPr>
        <p:blipFill>
          <a:blip r:embed="rId2"/>
          <a:srcRect t="3265" b="3265"/>
          <a:stretch>
            <a:fillRect/>
          </a:stretch>
        </p:blipFill>
        <p:spPr>
          <a:xfrm>
            <a:off x="6300000" y="800000"/>
            <a:ext cx="5300000" cy="4950000"/>
          </a:xfrm>
          <a:prstGeom prst="roundRect">
            <a:avLst/>
          </a:prstGeom>
          <a:ln w="19050">
            <a:solidFill>
              <a:srgbClr val="22D3EE"/>
            </a:solidFill>
          </a:ln>
        </p:spPr>
      </p:pic>
      <p:sp>
        <p:nvSpPr>
          <p:cNvPr id="43" name="TextBox 42"/>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Ordercrazy · Wikimedia Commons · CC0</a:t>
            </a:r>
          </a:p>
        </p:txBody>
      </p:sp>
      <p:sp>
        <p:nvSpPr>
          <p:cNvPr id="44" name="TextBox 43"/>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02</a:t>
            </a:r>
          </a:p>
        </p:txBody>
      </p:sp>
      <p:sp>
        <p:nvSpPr>
          <p:cNvPr id="45" name="TextBox 44"/>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6" name="TextBox 45"/>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Embedded AI tizimlari va real vaqt talablari</a:t>
            </a:r>
          </a:p>
        </p:txBody>
      </p:sp>
      <p:sp>
        <p:nvSpPr>
          <p:cNvPr id="47" name="Rectangle 46"/>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9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150"/>
                            </p:stCondLst>
                            <p:childTnLst>
                              <p:par>
                                <p:cTn id="156" presetID="53" presetClass="entr" presetSubtype="16"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anim calcmode="lin" valueType="num">
                                      <p:cBhvr additive="base">
                                        <p:cTn id="159" dur="550" fill="hold"/>
                                        <p:tgtEl>
                                          <p:spTgt spid="41"/>
                                        </p:tgtEl>
                                        <p:attrNameLst>
                                          <p:attrName>ppt_w</p:attrName>
                                        </p:attrNameLst>
                                      </p:cBhvr>
                                      <p:tavLst>
                                        <p:tav tm="0">
                                          <p:val>
                                            <p:strVal val="0"/>
                                          </p:val>
                                        </p:tav>
                                        <p:tav tm="100000">
                                          <p:val>
                                            <p:strVal val="#ppt_w"/>
                                          </p:val>
                                        </p:tav>
                                      </p:tavLst>
                                    </p:anim>
                                    <p:anim calcmode="lin" valueType="num">
                                      <p:cBhvr additive="base">
                                        <p:cTn id="160" dur="550" fill="hold"/>
                                        <p:tgtEl>
                                          <p:spTgt spid="41"/>
                                        </p:tgtEl>
                                        <p:attrNameLst>
                                          <p:attrName>ppt_h</p:attrName>
                                        </p:attrNameLst>
                                      </p:cBhvr>
                                      <p:tavLst>
                                        <p:tav tm="0">
                                          <p:val>
                                            <p:strVal val="0"/>
                                          </p:val>
                                        </p:tav>
                                        <p:tav tm="100000">
                                          <p:val>
                                            <p:strVal val="#ppt_h"/>
                                          </p:val>
                                        </p:tav>
                                      </p:tavLst>
                                    </p:anim>
                                  </p:childTnLst>
                                </p:cTn>
                              </p:par>
                            </p:childTnLst>
                          </p:cTn>
                        </p:par>
                        <p:par>
                          <p:cTn id="161" fill="hold">
                            <p:stCondLst>
                              <p:cond delay="150"/>
                            </p:stCondLst>
                            <p:childTnLst>
                              <p:par>
                                <p:cTn id="162" presetID="53" presetClass="entr" presetSubtype="16" fill="hold" grpId="0" nodeType="afterEffect">
                                  <p:stCondLst>
                                    <p:cond delay="0"/>
                                  </p:stCondLst>
                                  <p:childTnLst>
                                    <p:set>
                                      <p:cBhvr>
                                        <p:cTn id="163" dur="1" fill="hold">
                                          <p:stCondLst>
                                            <p:cond delay="0"/>
                                          </p:stCondLst>
                                        </p:cTn>
                                        <p:tgtEl>
                                          <p:spTgt spid="42"/>
                                        </p:tgtEl>
                                        <p:attrNameLst>
                                          <p:attrName>style.visibility</p:attrName>
                                        </p:attrNameLst>
                                      </p:cBhvr>
                                      <p:to>
                                        <p:strVal val="visible"/>
                                      </p:to>
                                    </p:set>
                                    <p:animEffect transition="in" filter="fade">
                                      <p:cBhvr>
                                        <p:cTn id="164" dur="550"/>
                                        <p:tgtEl>
                                          <p:spTgt spid="42"/>
                                        </p:tgtEl>
                                      </p:cBhvr>
                                    </p:animEffect>
                                    <p:anim calcmode="lin" valueType="num">
                                      <p:cBhvr additive="base">
                                        <p:cTn id="165" dur="550" fill="hold"/>
                                        <p:tgtEl>
                                          <p:spTgt spid="42"/>
                                        </p:tgtEl>
                                        <p:attrNameLst>
                                          <p:attrName>ppt_w</p:attrName>
                                        </p:attrNameLst>
                                      </p:cBhvr>
                                      <p:tavLst>
                                        <p:tav tm="0">
                                          <p:val>
                                            <p:strVal val="0"/>
                                          </p:val>
                                        </p:tav>
                                        <p:tav tm="100000">
                                          <p:val>
                                            <p:strVal val="#ppt_w"/>
                                          </p:val>
                                        </p:tav>
                                      </p:tavLst>
                                    </p:anim>
                                    <p:anim calcmode="lin" valueType="num">
                                      <p:cBhvr additive="base">
                                        <p:cTn id="166" dur="550" fill="hold"/>
                                        <p:tgtEl>
                                          <p:spTgt spid="42"/>
                                        </p:tgtEl>
                                        <p:attrNameLst>
                                          <p:attrName>ppt_h</p:attrName>
                                        </p:attrNameLst>
                                      </p:cBhvr>
                                      <p:tavLst>
                                        <p:tav tm="0">
                                          <p:val>
                                            <p:strVal val="0"/>
                                          </p:val>
                                        </p:tav>
                                        <p:tav tm="100000">
                                          <p:val>
                                            <p:strVal val="#ppt_h"/>
                                          </p:val>
                                        </p:tav>
                                      </p:tavLst>
                                    </p:anim>
                                  </p:childTnLst>
                                </p:cTn>
                              </p:par>
                            </p:childTnLst>
                          </p:cTn>
                        </p:par>
                        <p:par>
                          <p:cTn id="167" fill="hold">
                            <p:stCondLst>
                              <p:cond delay="150"/>
                            </p:stCondLst>
                            <p:childTnLst>
                              <p:par>
                                <p:cTn id="168" presetID="10" presetClass="entr" presetSubtype="0" fill="hold" grpId="0" nodeType="afterEffect">
                                  <p:stCondLst>
                                    <p:cond delay="0"/>
                                  </p:stCondLst>
                                  <p:childTnLst>
                                    <p:set>
                                      <p:cBhvr>
                                        <p:cTn id="169" dur="1" fill="hold">
                                          <p:stCondLst>
                                            <p:cond delay="0"/>
                                          </p:stCondLst>
                                        </p:cTn>
                                        <p:tgtEl>
                                          <p:spTgt spid="43"/>
                                        </p:tgtEl>
                                        <p:attrNameLst>
                                          <p:attrName>style.visibility</p:attrName>
                                        </p:attrNameLst>
                                      </p:cBhvr>
                                      <p:to>
                                        <p:strVal val="visible"/>
                                      </p:to>
                                    </p:set>
                                    <p:animEffect transition="in" filter="fade">
                                      <p:cBhvr>
                                        <p:cTn id="170" dur="550"/>
                                        <p:tgtEl>
                                          <p:spTgt spid="43"/>
                                        </p:tgtEl>
                                      </p:cBhvr>
                                    </p:animEffect>
                                  </p:childTnLst>
                                </p:cTn>
                              </p:par>
                            </p:childTnLst>
                          </p:cTn>
                        </p:par>
                        <p:par>
                          <p:cTn id="171" fill="hold">
                            <p:stCondLst>
                              <p:cond delay="350"/>
                            </p:stCondLst>
                            <p:childTnLst>
                              <p:par>
                                <p:cTn id="172" presetID="53" presetClass="entr" presetSubtype="16" fill="hold" grpId="0" nodeType="afterEffect">
                                  <p:stCondLst>
                                    <p:cond delay="0"/>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550"/>
                                        <p:tgtEl>
                                          <p:spTgt spid="44"/>
                                        </p:tgtEl>
                                      </p:cBhvr>
                                    </p:animEffect>
                                    <p:anim calcmode="lin" valueType="num">
                                      <p:cBhvr additive="base">
                                        <p:cTn id="175" dur="550" fill="hold"/>
                                        <p:tgtEl>
                                          <p:spTgt spid="44"/>
                                        </p:tgtEl>
                                        <p:attrNameLst>
                                          <p:attrName>ppt_w</p:attrName>
                                        </p:attrNameLst>
                                      </p:cBhvr>
                                      <p:tavLst>
                                        <p:tav tm="0">
                                          <p:val>
                                            <p:strVal val="0"/>
                                          </p:val>
                                        </p:tav>
                                        <p:tav tm="100000">
                                          <p:val>
                                            <p:strVal val="#ppt_w"/>
                                          </p:val>
                                        </p:tav>
                                      </p:tavLst>
                                    </p:anim>
                                    <p:anim calcmode="lin" valueType="num">
                                      <p:cBhvr additive="base">
                                        <p:cTn id="176" dur="550" fill="hold"/>
                                        <p:tgtEl>
                                          <p:spTgt spid="44"/>
                                        </p:tgtEl>
                                        <p:attrNameLst>
                                          <p:attrName>ppt_h</p:attrName>
                                        </p:attrNameLst>
                                      </p:cBhvr>
                                      <p:tavLst>
                                        <p:tav tm="0">
                                          <p:val>
                                            <p:strVal val="0"/>
                                          </p:val>
                                        </p:tav>
                                        <p:tav tm="100000">
                                          <p:val>
                                            <p:strVal val="#ppt_h"/>
                                          </p:val>
                                        </p:tav>
                                      </p:tavLst>
                                    </p:anim>
                                  </p:childTnLst>
                                </p:cTn>
                              </p:par>
                            </p:childTnLst>
                          </p:cTn>
                        </p:par>
                        <p:par>
                          <p:cTn id="177" fill="hold">
                            <p:stCondLst>
                              <p:cond delay="450"/>
                            </p:stCondLst>
                            <p:childTnLst>
                              <p:par>
                                <p:cTn id="178" presetID="10" presetClass="entr" presetSubtype="0" fill="hold" grpId="0" nodeType="afterEffect">
                                  <p:stCondLst>
                                    <p:cond delay="0"/>
                                  </p:stCondLst>
                                  <p:childTnLst>
                                    <p:set>
                                      <p:cBhvr>
                                        <p:cTn id="179" dur="1" fill="hold">
                                          <p:stCondLst>
                                            <p:cond delay="0"/>
                                          </p:stCondLst>
                                        </p:cTn>
                                        <p:tgtEl>
                                          <p:spTgt spid="45"/>
                                        </p:tgtEl>
                                        <p:attrNameLst>
                                          <p:attrName>style.visibility</p:attrName>
                                        </p:attrNameLst>
                                      </p:cBhvr>
                                      <p:to>
                                        <p:strVal val="visible"/>
                                      </p:to>
                                    </p:set>
                                    <p:animEffect transition="in" filter="fade">
                                      <p:cBhvr>
                                        <p:cTn id="180" dur="550"/>
                                        <p:tgtEl>
                                          <p:spTgt spid="45"/>
                                        </p:tgtEl>
                                      </p:cBhvr>
                                    </p:animEffect>
                                  </p:childTnLst>
                                </p:cTn>
                              </p:par>
                            </p:childTnLst>
                          </p:cTn>
                        </p:par>
                        <p:par>
                          <p:cTn id="181" fill="hold">
                            <p:stCondLst>
                              <p:cond delay="550"/>
                            </p:stCondLst>
                            <p:childTnLst>
                              <p:par>
                                <p:cTn id="182" presetID="2" presetClass="entr" presetSubtype="8" fill="hold" grpId="0" nodeType="afterEffect">
                                  <p:stCondLst>
                                    <p:cond delay="0"/>
                                  </p:stCondLst>
                                  <p:childTnLst>
                                    <p:set>
                                      <p:cBhvr>
                                        <p:cTn id="183" dur="1" fill="hold">
                                          <p:stCondLst>
                                            <p:cond delay="0"/>
                                          </p:stCondLst>
                                        </p:cTn>
                                        <p:tgtEl>
                                          <p:spTgt spid="46"/>
                                        </p:tgtEl>
                                        <p:attrNameLst>
                                          <p:attrName>style.visibility</p:attrName>
                                        </p:attrNameLst>
                                      </p:cBhvr>
                                      <p:to>
                                        <p:strVal val="visible"/>
                                      </p:to>
                                    </p:set>
                                    <p:anim calcmode="lin" valueType="num">
                                      <p:cBhvr additive="base">
                                        <p:cTn id="185" dur="550" fill="hold"/>
                                        <p:tgtEl>
                                          <p:spTgt spid="46"/>
                                        </p:tgtEl>
                                        <p:attrNameLst>
                                          <p:attrName>ppt_x</p:attrName>
                                        </p:attrNameLst>
                                      </p:cBhvr>
                                      <p:tavLst>
                                        <p:tav tm="0">
                                          <p:val>
                                            <p:strVal val="0-#ppt_w/2"/>
                                          </p:val>
                                        </p:tav>
                                        <p:tav tm="100000">
                                          <p:val>
                                            <p:strVal val="#ppt_x"/>
                                          </p:val>
                                        </p:tav>
                                      </p:tavLst>
                                    </p:anim>
                                    <p:anim calcmode="lin" valueType="num">
                                      <p:cBhvr additive="base">
                                        <p:cTn id="186" dur="550" fill="hold"/>
                                        <p:tgtEl>
                                          <p:spTgt spid="46"/>
                                        </p:tgtEl>
                                        <p:attrNameLst>
                                          <p:attrName>ppt_y</p:attrName>
                                        </p:attrNameLst>
                                      </p:cBhvr>
                                      <p:tavLst>
                                        <p:tav tm="0">
                                          <p:val>
                                            <p:strVal val="#ppt_y"/>
                                          </p:val>
                                        </p:tav>
                                        <p:tav tm="100000">
                                          <p:val>
                                            <p:strVal val="#ppt_y"/>
                                          </p:val>
                                        </p:tav>
                                      </p:tavLst>
                                    </p:anim>
                                  </p:childTnLst>
                                </p:cTn>
                              </p:par>
                            </p:childTnLst>
                          </p:cTn>
                        </p:par>
                        <p:par>
                          <p:cTn id="187" fill="hold">
                            <p:stCondLst>
                              <p:cond delay="650"/>
                            </p:stCondLst>
                            <p:childTnLst>
                              <p:par>
                                <p:cTn id="188" presetID="22" presetClass="entr" presetSubtype="8" fill="hold" grpId="0" nodeType="afterEffect">
                                  <p:stCondLst>
                                    <p:cond delay="0"/>
                                  </p:stCondLst>
                                  <p:childTnLst>
                                    <p:set>
                                      <p:cBhvr>
                                        <p:cTn id="189" dur="1" fill="hold">
                                          <p:stCondLst>
                                            <p:cond delay="0"/>
                                          </p:stCondLst>
                                        </p:cTn>
                                        <p:tgtEl>
                                          <p:spTgt spid="47"/>
                                        </p:tgtEl>
                                        <p:attrNameLst>
                                          <p:attrName>style.visibility</p:attrName>
                                        </p:attrNameLst>
                                      </p:cBhvr>
                                      <p:to>
                                        <p:strVal val="visible"/>
                                      </p:to>
                                    </p:set>
                                    <p:animEffect transition="in" filter="wipe(left)">
                                      <p:cBhvr>
                                        <p:cTn id="191" dur="8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3" grpId="0" animBg="1"/>
      <p:bldP spid="44" grpId="0" animBg="1"/>
      <p:bldP spid="45" grpId="0" animBg="1"/>
      <p:bldP spid="46" grpId="0" animBg="1"/>
      <p:bldP spid="47"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Embedded AI tizimlari va real vaqt talablari</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7</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517e6a4b4bf3deb7.jpg"/>
          <p:cNvPicPr>
            <a:picLocks noChangeAspect="1"/>
          </p:cNvPicPr>
          <p:nvPr/>
        </p:nvPicPr>
        <p:blipFill>
          <a:blip r:embed="rId2"/>
          <a:srcRect l="21523" r="21523"/>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TreyDanger · Wikimedia Commons · CC BY 2.0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2497992"/>
            <a:ext cx="50000" cy="258401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9" name="TextBox 28"/>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O'rnatilgan tizim (embedded system) — muayyan funksiyani bajarish uchun qurilma ichiga joylashtirilgan ixtisoslashgan kompyuter.</a:t>
            </a:r>
          </a:p>
          <a:p>
            <a:pPr>
              <a:spcBef>
                <a:spcPts val="400"/>
              </a:spcBef>
            </a:pPr>
            <a:r>
              <a:rPr sz="1600">
                <a:solidFill>
                  <a:srgbClr val="AEBBD9"/>
                </a:solidFill>
                <a:latin typeface="Segoe UI"/>
              </a:rPr>
              <a:t>Unga sun'iy intellekt qo'shilganda «Embedded AI» yoki «intellektual o'rnatilgan tizim» paydo bo'ladi. Oddiy o'rnatilgan tizimdan farqi — xulq-atvor qoidalar bilan emas, ma'lumotdan o'rganilgan model bilan belgilanadi, bu esa tekshirish (verification) va ishonchlilik masalalarini murakkablashtiradi.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Embedded AI tizimlari va real vaqt talablari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8</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e2ce123b9a0f5e6f.jpg"/>
          <p:cNvPicPr>
            <a:picLocks noChangeAspect="1"/>
          </p:cNvPicPr>
          <p:nvPr/>
        </p:nvPicPr>
        <p:blipFill>
          <a:blip r:embed="rId2"/>
          <a:srcRect t="6303" b="6303"/>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Ubahnverleih · Wikimedia Commons · CC0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1996824"/>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076824"/>
            <a:ext cx="50000" cy="15781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665912"/>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2036824"/>
            <a:ext cx="5900000" cy="1658176"/>
          </a:xfrm>
          <a:prstGeom prst="rect">
            <a:avLst/>
          </a:prstGeom>
          <a:noFill/>
        </p:spPr>
        <p:txBody>
          <a:bodyPr wrap="square" anchor="ctr">
            <a:spAutoFit/>
          </a:bodyPr>
          <a:lstStyle/>
          <a:p>
            <a:r>
              <a:rPr sz="1500" b="1">
                <a:solidFill>
                  <a:srgbClr val="E8EEFA"/>
                </a:solidFill>
                <a:latin typeface="Segoe UI"/>
              </a:rPr>
              <a:t>Real vaqt rejimida ishlash (real-time) atamasi «tez» degani emas, balki «belgilangan muddat ichida kafolatlangan» deganidir.</a:t>
            </a:r>
          </a:p>
          <a:p>
            <a:pPr>
              <a:spcBef>
                <a:spcPts val="400"/>
              </a:spcBef>
            </a:pPr>
            <a:r>
              <a:rPr sz="1400">
                <a:solidFill>
                  <a:srgbClr val="AEBBD9"/>
                </a:solidFill>
                <a:latin typeface="Segoe UI"/>
              </a:rPr>
              <a:t>Qattiq real vaqt (hard real-time) tizimlarda muddatni o'tkazib yuborish — tizim nosozligi (avtomobil tormozi, tibbiy qurilma); yumshoq real vaqt (soft real-time) tizimlarda — sifat pasayishi (video kadr tushib qolishi).</a:t>
            </a:r>
          </a:p>
        </p:txBody>
      </p:sp>
      <p:sp>
        <p:nvSpPr>
          <p:cNvPr id="33" name="Rounded Rectangle 32"/>
          <p:cNvSpPr/>
          <p:nvPr/>
        </p:nvSpPr>
        <p:spPr>
          <a:xfrm>
            <a:off x="550000" y="3845000"/>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925000"/>
            <a:ext cx="50000" cy="157817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514088"/>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6" name="TextBox 35"/>
          <p:cNvSpPr txBox="1"/>
          <p:nvPr/>
        </p:nvSpPr>
        <p:spPr>
          <a:xfrm>
            <a:off x="1300000" y="3885000"/>
            <a:ext cx="5900000" cy="1658176"/>
          </a:xfrm>
          <a:prstGeom prst="rect">
            <a:avLst/>
          </a:prstGeom>
          <a:noFill/>
        </p:spPr>
        <p:txBody>
          <a:bodyPr wrap="square" anchor="ctr">
            <a:spAutoFit/>
          </a:bodyPr>
          <a:lstStyle/>
          <a:p>
            <a:r>
              <a:rPr sz="1500" b="1">
                <a:solidFill>
                  <a:srgbClr val="E8EEFA"/>
                </a:solidFill>
                <a:latin typeface="Segoe UI"/>
              </a:rPr>
              <a:t>Quvur (pipeline) nuqtai nazaridan inferens — kamera → dekodlash → oldindan qayta ishlash (o'lcham o'zgartirish, normalizatsiya) → model → keyingi qayta ishlash (NMS, kuzatish) → qaror.</a:t>
            </a:r>
          </a:p>
          <a:p>
            <a:pPr>
              <a:spcBef>
                <a:spcPts val="400"/>
              </a:spcBef>
            </a:pPr>
            <a:r>
              <a:rPr sz="1400">
                <a:solidFill>
                  <a:srgbClr val="AEBBD9"/>
                </a:solidFill>
                <a:latin typeface="Segoe UI"/>
              </a:rPr>
              <a:t>Ko'pincha modelning o'zi quvur vaqtining yarmidan kamini oladi; qolgani JPEG dekodlash, rang fazosi konvertatsiyasi va CPU–GPU nusxalashga ketadi.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393d9621b5e98991.jpg"/>
          <p:cNvPicPr>
            <a:picLocks noChangeAspect="1"/>
          </p:cNvPicPr>
          <p:nvPr/>
        </p:nvPicPr>
        <p:blipFill>
          <a:blip r:embed="rId2"/>
          <a:srcRect l="24278" r="24278"/>
          <a:stretch>
            <a:fillRect/>
          </a:stretch>
        </p:blipFill>
        <p:spPr>
          <a:xfrm>
            <a:off x="6300000" y="800000"/>
            <a:ext cx="5300000" cy="4950000"/>
          </a:xfrm>
          <a:prstGeom prst="roundRect">
            <a:avLst/>
          </a:prstGeom>
          <a:ln w="19050">
            <a:solidFill>
              <a:srgbClr val="22D3EE"/>
            </a:solidFill>
          </a:ln>
        </p:spPr>
      </p:pic>
      <p:sp>
        <p:nvSpPr>
          <p:cNvPr id="41" name="TextBox 40"/>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Retired electrician · Wikimedia Commons · CC0</a:t>
            </a:r>
          </a:p>
        </p:txBody>
      </p:sp>
      <p:sp>
        <p:nvSpPr>
          <p:cNvPr id="42" name="TextBox 41"/>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03</a:t>
            </a:r>
          </a:p>
        </p:txBody>
      </p:sp>
      <p:sp>
        <p:nvSpPr>
          <p:cNvPr id="43" name="TextBox 42"/>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4" name="TextBox 43"/>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TinyML texnologiyalari</a:t>
            </a:r>
          </a:p>
        </p:txBody>
      </p:sp>
      <p:sp>
        <p:nvSpPr>
          <p:cNvPr id="45" name="Rectangle 44"/>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150"/>
                            </p:stCondLst>
                            <p:childTnLst>
                              <p:par>
                                <p:cTn id="148" presetID="53" presetClass="entr" presetSubtype="16"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anim calcmode="lin" valueType="num">
                                      <p:cBhvr additive="base">
                                        <p:cTn id="151" dur="550" fill="hold"/>
                                        <p:tgtEl>
                                          <p:spTgt spid="39"/>
                                        </p:tgtEl>
                                        <p:attrNameLst>
                                          <p:attrName>ppt_w</p:attrName>
                                        </p:attrNameLst>
                                      </p:cBhvr>
                                      <p:tavLst>
                                        <p:tav tm="0">
                                          <p:val>
                                            <p:strVal val="0"/>
                                          </p:val>
                                        </p:tav>
                                        <p:tav tm="100000">
                                          <p:val>
                                            <p:strVal val="#ppt_w"/>
                                          </p:val>
                                        </p:tav>
                                      </p:tavLst>
                                    </p:anim>
                                    <p:anim calcmode="lin" valueType="num">
                                      <p:cBhvr additive="base">
                                        <p:cTn id="152" dur="550" fill="hold"/>
                                        <p:tgtEl>
                                          <p:spTgt spid="39"/>
                                        </p:tgtEl>
                                        <p:attrNameLst>
                                          <p:attrName>ppt_h</p:attrName>
                                        </p:attrNameLst>
                                      </p:cBhvr>
                                      <p:tavLst>
                                        <p:tav tm="0">
                                          <p:val>
                                            <p:strVal val="0"/>
                                          </p:val>
                                        </p:tav>
                                        <p:tav tm="100000">
                                          <p:val>
                                            <p:strVal val="#ppt_h"/>
                                          </p:val>
                                        </p:tav>
                                      </p:tavLst>
                                    </p:anim>
                                  </p:childTnLst>
                                </p:cTn>
                              </p:par>
                            </p:childTnLst>
                          </p:cTn>
                        </p:par>
                        <p:par>
                          <p:cTn id="153" fill="hold">
                            <p:stCondLst>
                              <p:cond delay="150"/>
                            </p:stCondLst>
                            <p:childTnLst>
                              <p:par>
                                <p:cTn id="154" presetID="53" presetClass="entr" presetSubtype="16" fill="hold" grpId="0" nodeType="after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fade">
                                      <p:cBhvr>
                                        <p:cTn id="156" dur="550"/>
                                        <p:tgtEl>
                                          <p:spTgt spid="40"/>
                                        </p:tgtEl>
                                      </p:cBhvr>
                                    </p:animEffect>
                                    <p:anim calcmode="lin" valueType="num">
                                      <p:cBhvr additive="base">
                                        <p:cTn id="157" dur="550" fill="hold"/>
                                        <p:tgtEl>
                                          <p:spTgt spid="40"/>
                                        </p:tgtEl>
                                        <p:attrNameLst>
                                          <p:attrName>ppt_w</p:attrName>
                                        </p:attrNameLst>
                                      </p:cBhvr>
                                      <p:tavLst>
                                        <p:tav tm="0">
                                          <p:val>
                                            <p:strVal val="0"/>
                                          </p:val>
                                        </p:tav>
                                        <p:tav tm="100000">
                                          <p:val>
                                            <p:strVal val="#ppt_w"/>
                                          </p:val>
                                        </p:tav>
                                      </p:tavLst>
                                    </p:anim>
                                    <p:anim calcmode="lin" valueType="num">
                                      <p:cBhvr additive="base">
                                        <p:cTn id="158" dur="550" fill="hold"/>
                                        <p:tgtEl>
                                          <p:spTgt spid="40"/>
                                        </p:tgtEl>
                                        <p:attrNameLst>
                                          <p:attrName>ppt_h</p:attrName>
                                        </p:attrNameLst>
                                      </p:cBhvr>
                                      <p:tavLst>
                                        <p:tav tm="0">
                                          <p:val>
                                            <p:strVal val="0"/>
                                          </p:val>
                                        </p:tav>
                                        <p:tav tm="100000">
                                          <p:val>
                                            <p:strVal val="#ppt_h"/>
                                          </p:val>
                                        </p:tav>
                                      </p:tavLst>
                                    </p:anim>
                                  </p:childTnLst>
                                </p:cTn>
                              </p:par>
                            </p:childTnLst>
                          </p:cTn>
                        </p:par>
                        <p:par>
                          <p:cTn id="159" fill="hold">
                            <p:stCondLst>
                              <p:cond delay="150"/>
                            </p:stCondLst>
                            <p:childTnLst>
                              <p:par>
                                <p:cTn id="160" presetID="10" presetClass="entr" presetSubtype="0"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childTnLst>
                                </p:cTn>
                              </p:par>
                            </p:childTnLst>
                          </p:cTn>
                        </p:par>
                        <p:par>
                          <p:cTn id="163" fill="hold">
                            <p:stCondLst>
                              <p:cond delay="350"/>
                            </p:stCondLst>
                            <p:childTnLst>
                              <p:par>
                                <p:cTn id="164" presetID="53" presetClass="entr" presetSubtype="16"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anim calcmode="lin" valueType="num">
                                      <p:cBhvr additive="base">
                                        <p:cTn id="167" dur="550" fill="hold"/>
                                        <p:tgtEl>
                                          <p:spTgt spid="42"/>
                                        </p:tgtEl>
                                        <p:attrNameLst>
                                          <p:attrName>ppt_w</p:attrName>
                                        </p:attrNameLst>
                                      </p:cBhvr>
                                      <p:tavLst>
                                        <p:tav tm="0">
                                          <p:val>
                                            <p:strVal val="0"/>
                                          </p:val>
                                        </p:tav>
                                        <p:tav tm="100000">
                                          <p:val>
                                            <p:strVal val="#ppt_w"/>
                                          </p:val>
                                        </p:tav>
                                      </p:tavLst>
                                    </p:anim>
                                    <p:anim calcmode="lin" valueType="num">
                                      <p:cBhvr additive="base">
                                        <p:cTn id="168" dur="550" fill="hold"/>
                                        <p:tgtEl>
                                          <p:spTgt spid="42"/>
                                        </p:tgtEl>
                                        <p:attrNameLst>
                                          <p:attrName>ppt_h</p:attrName>
                                        </p:attrNameLst>
                                      </p:cBhvr>
                                      <p:tavLst>
                                        <p:tav tm="0">
                                          <p:val>
                                            <p:strVal val="0"/>
                                          </p:val>
                                        </p:tav>
                                        <p:tav tm="100000">
                                          <p:val>
                                            <p:strVal val="#ppt_h"/>
                                          </p:val>
                                        </p:tav>
                                      </p:tavLst>
                                    </p:anim>
                                  </p:childTnLst>
                                </p:cTn>
                              </p:par>
                            </p:childTnLst>
                          </p:cTn>
                        </p:par>
                        <p:par>
                          <p:cTn id="169" fill="hold">
                            <p:stCondLst>
                              <p:cond delay="450"/>
                            </p:stCondLst>
                            <p:childTnLst>
                              <p:par>
                                <p:cTn id="170" presetID="10" presetClass="entr" presetSubtype="0"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50"/>
                                        <p:tgtEl>
                                          <p:spTgt spid="43"/>
                                        </p:tgtEl>
                                      </p:cBhvr>
                                    </p:animEffect>
                                  </p:childTnLst>
                                </p:cTn>
                              </p:par>
                            </p:childTnLst>
                          </p:cTn>
                        </p:par>
                        <p:par>
                          <p:cTn id="173" fill="hold">
                            <p:stCondLst>
                              <p:cond delay="550"/>
                            </p:stCondLst>
                            <p:childTnLst>
                              <p:par>
                                <p:cTn id="174" presetID="2" presetClass="entr" presetSubtype="8"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7" dur="550" fill="hold"/>
                                        <p:tgtEl>
                                          <p:spTgt spid="44"/>
                                        </p:tgtEl>
                                        <p:attrNameLst>
                                          <p:attrName>ppt_x</p:attrName>
                                        </p:attrNameLst>
                                      </p:cBhvr>
                                      <p:tavLst>
                                        <p:tav tm="0">
                                          <p:val>
                                            <p:strVal val="0-#ppt_w/2"/>
                                          </p:val>
                                        </p:tav>
                                        <p:tav tm="100000">
                                          <p:val>
                                            <p:strVal val="#ppt_x"/>
                                          </p:val>
                                        </p:tav>
                                      </p:tavLst>
                                    </p:anim>
                                    <p:anim calcmode="lin" valueType="num">
                                      <p:cBhvr additive="base">
                                        <p:cTn id="178" dur="550" fill="hold"/>
                                        <p:tgtEl>
                                          <p:spTgt spid="44"/>
                                        </p:tgtEl>
                                        <p:attrNameLst>
                                          <p:attrName>ppt_y</p:attrName>
                                        </p:attrNameLst>
                                      </p:cBhvr>
                                      <p:tavLst>
                                        <p:tav tm="0">
                                          <p:val>
                                            <p:strVal val="#ppt_y"/>
                                          </p:val>
                                        </p:tav>
                                        <p:tav tm="100000">
                                          <p:val>
                                            <p:strVal val="#ppt_y"/>
                                          </p:val>
                                        </p:tav>
                                      </p:tavLst>
                                    </p:anim>
                                  </p:childTnLst>
                                </p:cTn>
                              </p:par>
                            </p:childTnLst>
                          </p:cTn>
                        </p:par>
                        <p:par>
                          <p:cTn id="179" fill="hold">
                            <p:stCondLst>
                              <p:cond delay="650"/>
                            </p:stCondLst>
                            <p:childTnLst>
                              <p:par>
                                <p:cTn id="180" presetID="22" presetClass="entr" presetSubtype="8" fill="hold" grpId="0" nodeType="afterEffect">
                                  <p:stCondLst>
                                    <p:cond delay="0"/>
                                  </p:stCondLst>
                                  <p:childTnLst>
                                    <p:set>
                                      <p:cBhvr>
                                        <p:cTn id="181" dur="1" fill="hold">
                                          <p:stCondLst>
                                            <p:cond delay="0"/>
                                          </p:stCondLst>
                                        </p:cTn>
                                        <p:tgtEl>
                                          <p:spTgt spid="45"/>
                                        </p:tgtEl>
                                        <p:attrNameLst>
                                          <p:attrName>style.visibility</p:attrName>
                                        </p:attrNameLst>
                                      </p:cBhvr>
                                      <p:to>
                                        <p:strVal val="visible"/>
                                      </p:to>
                                    </p:set>
                                    <p:animEffect transition="in" filter="wipe(left)">
                                      <p:cBhvr>
                                        <p:cTn id="183" dur="8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45"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TinyML texnologiyalari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10</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e46e04a5f39832b3.jpg"/>
          <p:cNvPicPr>
            <a:picLocks noChangeAspect="1"/>
          </p:cNvPicPr>
          <p:nvPr/>
        </p:nvPicPr>
        <p:blipFill>
          <a:blip r:embed="rId2"/>
          <a:srcRect l="18322" r="18322"/>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Gareth Halfacree from Bradford, UK · Wikimedia Commons · CC BY-SA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879476"/>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959476"/>
            <a:ext cx="50000" cy="169552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607238"/>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1919476"/>
            <a:ext cx="5900000" cy="1775524"/>
          </a:xfrm>
          <a:prstGeom prst="rect">
            <a:avLst/>
          </a:prstGeom>
          <a:noFill/>
        </p:spPr>
        <p:txBody>
          <a:bodyPr wrap="square" anchor="ctr">
            <a:spAutoFit/>
          </a:bodyPr>
          <a:lstStyle/>
          <a:p>
            <a:r>
              <a:rPr sz="1400" b="1">
                <a:solidFill>
                  <a:srgbClr val="E8EEFA"/>
                </a:solidFill>
                <a:latin typeface="Segoe UI"/>
              </a:rPr>
              <a:t>TinyML — mashinali o'qitish modellarini milliVatt darajasidagi quvvat bilan ishlaydigan mikrokontrollerlarda bajarish yo'nalishi.</a:t>
            </a:r>
          </a:p>
          <a:p>
            <a:pPr>
              <a:spcBef>
                <a:spcPts val="400"/>
              </a:spcBef>
            </a:pPr>
            <a:r>
              <a:rPr sz="1300">
                <a:solidFill>
                  <a:srgbClr val="AEBBD9"/>
                </a:solidFill>
                <a:latin typeface="Segoe UI"/>
              </a:rPr>
              <a:t>Tipik maqsad qurilma: Arm Cortex-M4F, 80–200 MHz, 256 KB flesh, 64–320 KB SRAM, suzuvchi nuqtali blok bor, lekin kesh va operatsion tizim deyarli yo'q.</a:t>
            </a:r>
          </a:p>
        </p:txBody>
      </p:sp>
      <p:sp>
        <p:nvSpPr>
          <p:cNvPr id="31" name="Rounded Rectangle 30"/>
          <p:cNvSpPr/>
          <p:nvPr/>
        </p:nvSpPr>
        <p:spPr>
          <a:xfrm>
            <a:off x="550000" y="3845000"/>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169552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572762"/>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885000"/>
            <a:ext cx="5900000" cy="1775524"/>
          </a:xfrm>
          <a:prstGeom prst="rect">
            <a:avLst/>
          </a:prstGeom>
          <a:noFill/>
        </p:spPr>
        <p:txBody>
          <a:bodyPr wrap="square" anchor="ctr">
            <a:spAutoFit/>
          </a:bodyPr>
          <a:lstStyle/>
          <a:p>
            <a:r>
              <a:rPr sz="1400" b="1">
                <a:solidFill>
                  <a:srgbClr val="E8EEFA"/>
                </a:solidFill>
                <a:latin typeface="Segoe UI"/>
              </a:rPr>
              <a:t>TinyML'ning texnik asoslari: modellar o'nlab–yuzlab kilobayt (masalan, kalit so'z aniqlovchi DS-CNN ~20–50 KB, odam aniqlash uchun MobileNet-v1 0,25x ~250–300 KB INT8); barcha og'irliklar INT8'ga kvantlangan, hisoblash butun sonli arifmetikada; xotira statik…</a:t>
            </a:r>
          </a:p>
          <a:p>
            <a:pPr>
              <a:spcBef>
                <a:spcPts val="400"/>
              </a:spcBef>
            </a:pPr>
            <a:r>
              <a:rPr sz="1300">
                <a:solidFill>
                  <a:srgbClr val="AEBBD9"/>
                </a:solidFill>
                <a:latin typeface="Segoe UI"/>
              </a:rPr>
              <a:t>Arm Ethos-U55/U65 microNPU'lari Cortex-M55 bilan birga INT8 konvolyutsiyani apparat darajasida tezlashtirib, bir xil quvvatda o'nlab marta ko'proq amal bajaradi.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TinyML texnologiyalari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11</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1377a23cf8d1bd11.jpg"/>
          <p:cNvPicPr>
            <a:picLocks noChangeAspect="1"/>
          </p:cNvPicPr>
          <p:nvPr/>
        </p:nvPicPr>
        <p:blipFill>
          <a:blip r:embed="rId2"/>
          <a:srcRect l="16051" r="16051"/>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Lucasbosch · Wikimedia Commons · CC BY-SA 3.0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3088552"/>
            <a:ext cx="6750000" cy="140289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3168552"/>
            <a:ext cx="50000" cy="124289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1" name="TextBox 30"/>
          <p:cNvSpPr txBox="1"/>
          <p:nvPr/>
        </p:nvSpPr>
        <p:spPr>
          <a:xfrm>
            <a:off x="1300000" y="3128552"/>
            <a:ext cx="5900000" cy="1322896"/>
          </a:xfrm>
          <a:prstGeom prst="rect">
            <a:avLst/>
          </a:prstGeom>
          <a:noFill/>
        </p:spPr>
        <p:txBody>
          <a:bodyPr wrap="square" anchor="ctr">
            <a:spAutoFit/>
          </a:bodyPr>
          <a:lstStyle/>
          <a:p>
            <a:r>
              <a:rPr sz="1600" b="0">
                <a:solidFill>
                  <a:srgbClr val="E8EEFA"/>
                </a:solidFill>
                <a:latin typeface="Segoe UI"/>
              </a:rPr>
              <a:t>TinyML loyihasida muhandis quyidagi balansni ushlab turadi: model aniqligi, flesh hajmi (model + kod), SRAM (arena + aktivatsiyalar), inferens vaqti (davomiylik va chastota orqali energiya) va batareya umri.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2808f516f552dd95.jpg"/>
          <p:cNvPicPr>
            <a:picLocks noChangeAspect="1"/>
          </p:cNvPicPr>
          <p:nvPr/>
        </p:nvPicPr>
        <p:blipFill>
          <a:blip r:embed="rId2"/>
          <a:srcRect l="19886" r="19886"/>
          <a:stretch>
            <a:fillRect/>
          </a:stretch>
        </p:blipFill>
        <p:spPr>
          <a:xfrm>
            <a:off x="6300000" y="800000"/>
            <a:ext cx="5300000" cy="4950000"/>
          </a:xfrm>
          <a:prstGeom prst="roundRect">
            <a:avLst/>
          </a:prstGeom>
          <a:ln w="19050">
            <a:solidFill>
              <a:srgbClr val="22D3EE"/>
            </a:solidFill>
          </a:ln>
        </p:spPr>
      </p:pic>
      <p:sp>
        <p:nvSpPr>
          <p:cNvPr id="46" name="TextBox 45"/>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Thomas Amberg · Wikimedia Commons · CC BY-SA 2.0</a:t>
            </a:r>
          </a:p>
        </p:txBody>
      </p:sp>
      <p:sp>
        <p:nvSpPr>
          <p:cNvPr id="47" name="TextBox 46"/>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04</a:t>
            </a:r>
          </a:p>
        </p:txBody>
      </p:sp>
      <p:sp>
        <p:nvSpPr>
          <p:cNvPr id="48" name="TextBox 47"/>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9" name="TextBox 48"/>
          <p:cNvSpPr txBox="1"/>
          <p:nvPr/>
        </p:nvSpPr>
        <p:spPr>
          <a:xfrm>
            <a:off x="600000" y="2650000"/>
            <a:ext cx="5400000" cy="1800000"/>
          </a:xfrm>
          <a:prstGeom prst="rect">
            <a:avLst/>
          </a:prstGeom>
          <a:noFill/>
        </p:spPr>
        <p:txBody>
          <a:bodyPr wrap="square" anchor="t" lIns="50800" rIns="50800">
            <a:spAutoFit/>
          </a:bodyPr>
          <a:lstStyle/>
          <a:p>
            <a:pPr algn="l"/>
            <a:r>
              <a:rPr sz="2600" b="1">
                <a:solidFill>
                  <a:srgbClr val="E8EEFA"/>
                </a:solidFill>
                <a:latin typeface="Segoe UI"/>
              </a:rPr>
              <a:t>NVIDIA Jetson va Google Edge TPU platformalari</a:t>
            </a:r>
          </a:p>
        </p:txBody>
      </p:sp>
      <p:sp>
        <p:nvSpPr>
          <p:cNvPr id="50" name="Rectangle 49"/>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0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150"/>
                            </p:stCondLst>
                            <p:childTnLst>
                              <p:par>
                                <p:cTn id="168" presetID="53" presetClass="entr" presetSubtype="16"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anim calcmode="lin" valueType="num">
                                      <p:cBhvr additive="base">
                                        <p:cTn id="171" dur="550" fill="hold"/>
                                        <p:tgtEl>
                                          <p:spTgt spid="44"/>
                                        </p:tgtEl>
                                        <p:attrNameLst>
                                          <p:attrName>ppt_w</p:attrName>
                                        </p:attrNameLst>
                                      </p:cBhvr>
                                      <p:tavLst>
                                        <p:tav tm="0">
                                          <p:val>
                                            <p:strVal val="0"/>
                                          </p:val>
                                        </p:tav>
                                        <p:tav tm="100000">
                                          <p:val>
                                            <p:strVal val="#ppt_w"/>
                                          </p:val>
                                        </p:tav>
                                      </p:tavLst>
                                    </p:anim>
                                    <p:anim calcmode="lin" valueType="num">
                                      <p:cBhvr additive="base">
                                        <p:cTn id="172" dur="550" fill="hold"/>
                                        <p:tgtEl>
                                          <p:spTgt spid="44"/>
                                        </p:tgtEl>
                                        <p:attrNameLst>
                                          <p:attrName>ppt_h</p:attrName>
                                        </p:attrNameLst>
                                      </p:cBhvr>
                                      <p:tavLst>
                                        <p:tav tm="0">
                                          <p:val>
                                            <p:strVal val="0"/>
                                          </p:val>
                                        </p:tav>
                                        <p:tav tm="100000">
                                          <p:val>
                                            <p:strVal val="#ppt_h"/>
                                          </p:val>
                                        </p:tav>
                                      </p:tavLst>
                                    </p:anim>
                                  </p:childTnLst>
                                </p:cTn>
                              </p:par>
                            </p:childTnLst>
                          </p:cTn>
                        </p:par>
                        <p:par>
                          <p:cTn id="173" fill="hold">
                            <p:stCondLst>
                              <p:cond delay="150"/>
                            </p:stCondLst>
                            <p:childTnLst>
                              <p:par>
                                <p:cTn id="174" presetID="53" presetClass="entr" presetSubtype="16" fill="hold" grpId="0" nodeType="afterEffect">
                                  <p:stCondLst>
                                    <p:cond delay="0"/>
                                  </p:stCondLst>
                                  <p:childTnLst>
                                    <p:set>
                                      <p:cBhvr>
                                        <p:cTn id="175" dur="1" fill="hold">
                                          <p:stCondLst>
                                            <p:cond delay="0"/>
                                          </p:stCondLst>
                                        </p:cTn>
                                        <p:tgtEl>
                                          <p:spTgt spid="45"/>
                                        </p:tgtEl>
                                        <p:attrNameLst>
                                          <p:attrName>style.visibility</p:attrName>
                                        </p:attrNameLst>
                                      </p:cBhvr>
                                      <p:to>
                                        <p:strVal val="visible"/>
                                      </p:to>
                                    </p:set>
                                    <p:animEffect transition="in" filter="fade">
                                      <p:cBhvr>
                                        <p:cTn id="176" dur="550"/>
                                        <p:tgtEl>
                                          <p:spTgt spid="45"/>
                                        </p:tgtEl>
                                      </p:cBhvr>
                                    </p:animEffect>
                                    <p:anim calcmode="lin" valueType="num">
                                      <p:cBhvr additive="base">
                                        <p:cTn id="177" dur="550" fill="hold"/>
                                        <p:tgtEl>
                                          <p:spTgt spid="45"/>
                                        </p:tgtEl>
                                        <p:attrNameLst>
                                          <p:attrName>ppt_w</p:attrName>
                                        </p:attrNameLst>
                                      </p:cBhvr>
                                      <p:tavLst>
                                        <p:tav tm="0">
                                          <p:val>
                                            <p:strVal val="0"/>
                                          </p:val>
                                        </p:tav>
                                        <p:tav tm="100000">
                                          <p:val>
                                            <p:strVal val="#ppt_w"/>
                                          </p:val>
                                        </p:tav>
                                      </p:tavLst>
                                    </p:anim>
                                    <p:anim calcmode="lin" valueType="num">
                                      <p:cBhvr additive="base">
                                        <p:cTn id="178" dur="550" fill="hold"/>
                                        <p:tgtEl>
                                          <p:spTgt spid="45"/>
                                        </p:tgtEl>
                                        <p:attrNameLst>
                                          <p:attrName>ppt_h</p:attrName>
                                        </p:attrNameLst>
                                      </p:cBhvr>
                                      <p:tavLst>
                                        <p:tav tm="0">
                                          <p:val>
                                            <p:strVal val="0"/>
                                          </p:val>
                                        </p:tav>
                                        <p:tav tm="100000">
                                          <p:val>
                                            <p:strVal val="#ppt_h"/>
                                          </p:val>
                                        </p:tav>
                                      </p:tavLst>
                                    </p:anim>
                                  </p:childTnLst>
                                </p:cTn>
                              </p:par>
                            </p:childTnLst>
                          </p:cTn>
                        </p:par>
                        <p:par>
                          <p:cTn id="179" fill="hold">
                            <p:stCondLst>
                              <p:cond delay="150"/>
                            </p:stCondLst>
                            <p:childTnLst>
                              <p:par>
                                <p:cTn id="180" presetID="10" presetClass="entr" presetSubtype="0" fill="hold" grpId="0" nodeType="afterEffect">
                                  <p:stCondLst>
                                    <p:cond delay="0"/>
                                  </p:stCondLst>
                                  <p:childTnLst>
                                    <p:set>
                                      <p:cBhvr>
                                        <p:cTn id="181" dur="1" fill="hold">
                                          <p:stCondLst>
                                            <p:cond delay="0"/>
                                          </p:stCondLst>
                                        </p:cTn>
                                        <p:tgtEl>
                                          <p:spTgt spid="46"/>
                                        </p:tgtEl>
                                        <p:attrNameLst>
                                          <p:attrName>style.visibility</p:attrName>
                                        </p:attrNameLst>
                                      </p:cBhvr>
                                      <p:to>
                                        <p:strVal val="visible"/>
                                      </p:to>
                                    </p:set>
                                    <p:animEffect transition="in" filter="fade">
                                      <p:cBhvr>
                                        <p:cTn id="182" dur="550"/>
                                        <p:tgtEl>
                                          <p:spTgt spid="46"/>
                                        </p:tgtEl>
                                      </p:cBhvr>
                                    </p:animEffect>
                                  </p:childTnLst>
                                </p:cTn>
                              </p:par>
                            </p:childTnLst>
                          </p:cTn>
                        </p:par>
                        <p:par>
                          <p:cTn id="183" fill="hold">
                            <p:stCondLst>
                              <p:cond delay="350"/>
                            </p:stCondLst>
                            <p:childTnLst>
                              <p:par>
                                <p:cTn id="184" presetID="53" presetClass="entr" presetSubtype="16" fill="hold" grpId="0" nodeType="afterEffect">
                                  <p:stCondLst>
                                    <p:cond delay="0"/>
                                  </p:stCondLst>
                                  <p:childTnLst>
                                    <p:set>
                                      <p:cBhvr>
                                        <p:cTn id="185" dur="1" fill="hold">
                                          <p:stCondLst>
                                            <p:cond delay="0"/>
                                          </p:stCondLst>
                                        </p:cTn>
                                        <p:tgtEl>
                                          <p:spTgt spid="47"/>
                                        </p:tgtEl>
                                        <p:attrNameLst>
                                          <p:attrName>style.visibility</p:attrName>
                                        </p:attrNameLst>
                                      </p:cBhvr>
                                      <p:to>
                                        <p:strVal val="visible"/>
                                      </p:to>
                                    </p:set>
                                    <p:animEffect transition="in" filter="fade">
                                      <p:cBhvr>
                                        <p:cTn id="186" dur="550"/>
                                        <p:tgtEl>
                                          <p:spTgt spid="47"/>
                                        </p:tgtEl>
                                      </p:cBhvr>
                                    </p:animEffect>
                                    <p:anim calcmode="lin" valueType="num">
                                      <p:cBhvr additive="base">
                                        <p:cTn id="187" dur="550" fill="hold"/>
                                        <p:tgtEl>
                                          <p:spTgt spid="47"/>
                                        </p:tgtEl>
                                        <p:attrNameLst>
                                          <p:attrName>ppt_w</p:attrName>
                                        </p:attrNameLst>
                                      </p:cBhvr>
                                      <p:tavLst>
                                        <p:tav tm="0">
                                          <p:val>
                                            <p:strVal val="0"/>
                                          </p:val>
                                        </p:tav>
                                        <p:tav tm="100000">
                                          <p:val>
                                            <p:strVal val="#ppt_w"/>
                                          </p:val>
                                        </p:tav>
                                      </p:tavLst>
                                    </p:anim>
                                    <p:anim calcmode="lin" valueType="num">
                                      <p:cBhvr additive="base">
                                        <p:cTn id="188" dur="550" fill="hold"/>
                                        <p:tgtEl>
                                          <p:spTgt spid="47"/>
                                        </p:tgtEl>
                                        <p:attrNameLst>
                                          <p:attrName>ppt_h</p:attrName>
                                        </p:attrNameLst>
                                      </p:cBhvr>
                                      <p:tavLst>
                                        <p:tav tm="0">
                                          <p:val>
                                            <p:strVal val="0"/>
                                          </p:val>
                                        </p:tav>
                                        <p:tav tm="100000">
                                          <p:val>
                                            <p:strVal val="#ppt_h"/>
                                          </p:val>
                                        </p:tav>
                                      </p:tavLst>
                                    </p:anim>
                                  </p:childTnLst>
                                </p:cTn>
                              </p:par>
                            </p:childTnLst>
                          </p:cTn>
                        </p:par>
                        <p:par>
                          <p:cTn id="189" fill="hold">
                            <p:stCondLst>
                              <p:cond delay="450"/>
                            </p:stCondLst>
                            <p:childTnLst>
                              <p:par>
                                <p:cTn id="190" presetID="10" presetClass="entr" presetSubtype="0" fill="hold" grpId="0" nodeType="afterEffect">
                                  <p:stCondLst>
                                    <p:cond delay="0"/>
                                  </p:stCondLst>
                                  <p:childTnLst>
                                    <p:set>
                                      <p:cBhvr>
                                        <p:cTn id="191" dur="1" fill="hold">
                                          <p:stCondLst>
                                            <p:cond delay="0"/>
                                          </p:stCondLst>
                                        </p:cTn>
                                        <p:tgtEl>
                                          <p:spTgt spid="48"/>
                                        </p:tgtEl>
                                        <p:attrNameLst>
                                          <p:attrName>style.visibility</p:attrName>
                                        </p:attrNameLst>
                                      </p:cBhvr>
                                      <p:to>
                                        <p:strVal val="visible"/>
                                      </p:to>
                                    </p:set>
                                    <p:animEffect transition="in" filter="fade">
                                      <p:cBhvr>
                                        <p:cTn id="192" dur="550"/>
                                        <p:tgtEl>
                                          <p:spTgt spid="48"/>
                                        </p:tgtEl>
                                      </p:cBhvr>
                                    </p:animEffect>
                                  </p:childTnLst>
                                </p:cTn>
                              </p:par>
                            </p:childTnLst>
                          </p:cTn>
                        </p:par>
                        <p:par>
                          <p:cTn id="193" fill="hold">
                            <p:stCondLst>
                              <p:cond delay="550"/>
                            </p:stCondLst>
                            <p:childTnLst>
                              <p:par>
                                <p:cTn id="194" presetID="2" presetClass="entr" presetSubtype="8" fill="hold" grpId="0" nodeType="afterEffect">
                                  <p:stCondLst>
                                    <p:cond delay="0"/>
                                  </p:stCondLst>
                                  <p:childTnLst>
                                    <p:set>
                                      <p:cBhvr>
                                        <p:cTn id="195" dur="1" fill="hold">
                                          <p:stCondLst>
                                            <p:cond delay="0"/>
                                          </p:stCondLst>
                                        </p:cTn>
                                        <p:tgtEl>
                                          <p:spTgt spid="49"/>
                                        </p:tgtEl>
                                        <p:attrNameLst>
                                          <p:attrName>style.visibility</p:attrName>
                                        </p:attrNameLst>
                                      </p:cBhvr>
                                      <p:to>
                                        <p:strVal val="visible"/>
                                      </p:to>
                                    </p:set>
                                    <p:anim calcmode="lin" valueType="num">
                                      <p:cBhvr additive="base">
                                        <p:cTn id="197" dur="550" fill="hold"/>
                                        <p:tgtEl>
                                          <p:spTgt spid="49"/>
                                        </p:tgtEl>
                                        <p:attrNameLst>
                                          <p:attrName>ppt_x</p:attrName>
                                        </p:attrNameLst>
                                      </p:cBhvr>
                                      <p:tavLst>
                                        <p:tav tm="0">
                                          <p:val>
                                            <p:strVal val="0-#ppt_w/2"/>
                                          </p:val>
                                        </p:tav>
                                        <p:tav tm="100000">
                                          <p:val>
                                            <p:strVal val="#ppt_x"/>
                                          </p:val>
                                        </p:tav>
                                      </p:tavLst>
                                    </p:anim>
                                    <p:anim calcmode="lin" valueType="num">
                                      <p:cBhvr additive="base">
                                        <p:cTn id="198" dur="550" fill="hold"/>
                                        <p:tgtEl>
                                          <p:spTgt spid="49"/>
                                        </p:tgtEl>
                                        <p:attrNameLst>
                                          <p:attrName>ppt_y</p:attrName>
                                        </p:attrNameLst>
                                      </p:cBhvr>
                                      <p:tavLst>
                                        <p:tav tm="0">
                                          <p:val>
                                            <p:strVal val="#ppt_y"/>
                                          </p:val>
                                        </p:tav>
                                        <p:tav tm="100000">
                                          <p:val>
                                            <p:strVal val="#ppt_y"/>
                                          </p:val>
                                        </p:tav>
                                      </p:tavLst>
                                    </p:anim>
                                  </p:childTnLst>
                                </p:cTn>
                              </p:par>
                            </p:childTnLst>
                          </p:cTn>
                        </p:par>
                        <p:par>
                          <p:cTn id="199" fill="hold">
                            <p:stCondLst>
                              <p:cond delay="650"/>
                            </p:stCondLst>
                            <p:childTnLst>
                              <p:par>
                                <p:cTn id="200" presetID="22" presetClass="entr" presetSubtype="8" fill="hold" grpId="0" nodeType="afterEffect">
                                  <p:stCondLst>
                                    <p:cond delay="0"/>
                                  </p:stCondLst>
                                  <p:childTnLst>
                                    <p:set>
                                      <p:cBhvr>
                                        <p:cTn id="201" dur="1" fill="hold">
                                          <p:stCondLst>
                                            <p:cond delay="0"/>
                                          </p:stCondLst>
                                        </p:cTn>
                                        <p:tgtEl>
                                          <p:spTgt spid="50"/>
                                        </p:tgtEl>
                                        <p:attrNameLst>
                                          <p:attrName>style.visibility</p:attrName>
                                        </p:attrNameLst>
                                      </p:cBhvr>
                                      <p:to>
                                        <p:strVal val="visible"/>
                                      </p:to>
                                    </p:set>
                                    <p:animEffect transition="in" filter="wipe(left)">
                                      <p:cBhvr>
                                        <p:cTn id="203" dur="8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NVIDIA Jetson va Google Edge TPU platformalari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13</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61e220ee68f56061.jpg"/>
          <p:cNvPicPr>
            <a:picLocks noChangeAspect="1"/>
          </p:cNvPicPr>
          <p:nvPr/>
        </p:nvPicPr>
        <p:blipFill>
          <a:blip r:embed="rId2"/>
          <a:srcRect l="18255" r="18255"/>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Natalia Sokal · Wikimedia Commons · CC BY 3.0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1762128"/>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1842128"/>
            <a:ext cx="50000" cy="181287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2548564"/>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1802128"/>
            <a:ext cx="5900000" cy="1892872"/>
          </a:xfrm>
          <a:prstGeom prst="rect">
            <a:avLst/>
          </a:prstGeom>
          <a:noFill/>
        </p:spPr>
        <p:txBody>
          <a:bodyPr wrap="square" anchor="ctr">
            <a:spAutoFit/>
          </a:bodyPr>
          <a:lstStyle/>
          <a:p>
            <a:r>
              <a:rPr sz="1500" b="1">
                <a:solidFill>
                  <a:srgbClr val="E8EEFA"/>
                </a:solidFill>
                <a:latin typeface="Segoe UI"/>
              </a:rPr>
              <a:t>NVIDIA Jetson — Arm protsessor, Ampere arxitekturali GPU (Tensor Core bilan), apparat video kodek va ixtiyoriy DLA (Deep Learning Accelerator) bloklarini bitta modulda birlashtirgan tizim-modul (system-on-module).</a:t>
            </a:r>
          </a:p>
          <a:p>
            <a:pPr>
              <a:spcBef>
                <a:spcPts val="400"/>
              </a:spcBef>
            </a:pPr>
            <a:r>
              <a:rPr sz="1400">
                <a:solidFill>
                  <a:srgbClr val="AEBBD9"/>
                </a:solidFill>
                <a:latin typeface="Segoe UI"/>
              </a:rPr>
              <a:t>Orin avlodi ko'rsatkichlari (zich INT8, Tensor Core, ishlab chiqaruvchi ma'lumotlari, taxminiy):</a:t>
            </a:r>
          </a:p>
        </p:txBody>
      </p:sp>
      <p:sp>
        <p:nvSpPr>
          <p:cNvPr id="32" name="Rounded Rectangle 31"/>
          <p:cNvSpPr/>
          <p:nvPr/>
        </p:nvSpPr>
        <p:spPr>
          <a:xfrm>
            <a:off x="550000" y="3845000"/>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0000" y="3925000"/>
            <a:ext cx="50000" cy="1812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0000" y="463143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5" name="TextBox 34"/>
          <p:cNvSpPr txBox="1"/>
          <p:nvPr/>
        </p:nvSpPr>
        <p:spPr>
          <a:xfrm>
            <a:off x="1300000" y="3885000"/>
            <a:ext cx="5900000" cy="1892872"/>
          </a:xfrm>
          <a:prstGeom prst="rect">
            <a:avLst/>
          </a:prstGeom>
          <a:noFill/>
        </p:spPr>
        <p:txBody>
          <a:bodyPr wrap="square" anchor="ctr">
            <a:spAutoFit/>
          </a:bodyPr>
          <a:lstStyle/>
          <a:p>
            <a:r>
              <a:rPr sz="1500" b="1">
                <a:solidFill>
                  <a:srgbClr val="E8EEFA"/>
                </a:solidFill>
                <a:latin typeface="Segoe UI"/>
              </a:rPr>
              <a:t>Jetson'ning asosiy afzalligi — to'liq CUDA ekotizimi: ma'lumot markazida ishlatiladigan PyTorch, TensorRT, cuDNN, DeepStream, Triton Inference Server bevosita ishlaydi, shuning uchun bulutdan chekkaga ko'chish nisbatan oson.</a:t>
            </a:r>
          </a:p>
          <a:p>
            <a:pPr>
              <a:spcBef>
                <a:spcPts val="400"/>
              </a:spcBef>
            </a:pPr>
            <a:r>
              <a:rPr sz="1400">
                <a:solidFill>
                  <a:srgbClr val="AEBBD9"/>
                </a:solidFill>
                <a:latin typeface="Segoe UI"/>
              </a:rPr>
              <a:t>DLA bloklari esa INT8/FP16 konvolyutsion tarmoqlarni GPU'dan kamroq quvvat bilan bajaradi va GPU'ni boshqa vazifalarga bo'shatadi.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fade">
                                      <p:cBhvr>
                                        <p:cTn id="59" dur="550"/>
                                        <p:tgtEl>
                                          <p:spTgt spid="32"/>
                                        </p:tgtEl>
                                      </p:cBhvr>
                                    </p:animEffect>
                                    <p:anim calcmode="lin" valueType="num">
                                      <p:cBhvr additive="base">
                                        <p:cTn id="60" dur="550" fill="hold"/>
                                        <p:tgtEl>
                                          <p:spTgt spid="32"/>
                                        </p:tgtEl>
                                        <p:attrNameLst>
                                          <p:attrName>ppt_x</p:attrName>
                                        </p:attrNameLst>
                                      </p:cBhvr>
                                      <p:tavLst>
                                        <p:tav tm="0">
                                          <p:val>
                                            <p:strVal val="#ppt_x"/>
                                          </p:val>
                                        </p:tav>
                                        <p:tav tm="100000">
                                          <p:val>
                                            <p:strVal val="#ppt_x"/>
                                          </p:val>
                                        </p:tav>
                                      </p:tavLst>
                                    </p:anim>
                                    <p:anim calcmode="lin" valueType="num">
                                      <p:cBhvr additive="base">
                                        <p:cTn id="61" dur="550" fill="hold"/>
                                        <p:tgtEl>
                                          <p:spTgt spid="32"/>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50"/>
                                        <p:tgtEl>
                                          <p:spTgt spid="33"/>
                                        </p:tgtEl>
                                      </p:cBhvr>
                                    </p:animEffect>
                                    <p:anim calcmode="lin" valueType="num">
                                      <p:cBhvr additive="base">
                                        <p:cTn id="66" dur="550" fill="hold"/>
                                        <p:tgtEl>
                                          <p:spTgt spid="33"/>
                                        </p:tgtEl>
                                        <p:attrNameLst>
                                          <p:attrName>ppt_x</p:attrName>
                                        </p:attrNameLst>
                                      </p:cBhvr>
                                      <p:tavLst>
                                        <p:tav tm="0">
                                          <p:val>
                                            <p:strVal val="#ppt_x"/>
                                          </p:val>
                                        </p:tav>
                                        <p:tav tm="100000">
                                          <p:val>
                                            <p:strVal val="#ppt_x"/>
                                          </p:val>
                                        </p:tav>
                                      </p:tavLst>
                                    </p:anim>
                                    <p:anim calcmode="lin" valueType="num">
                                      <p:cBhvr additive="base">
                                        <p:cTn id="67" dur="550" fill="hold"/>
                                        <p:tgtEl>
                                          <p:spTgt spid="33"/>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50"/>
                                        <p:tgtEl>
                                          <p:spTgt spid="34"/>
                                        </p:tgtEl>
                                      </p:cBhvr>
                                    </p:animEffect>
                                    <p:anim calcmode="lin" valueType="num">
                                      <p:cBhvr additive="base">
                                        <p:cTn id="72" dur="550" fill="hold"/>
                                        <p:tgtEl>
                                          <p:spTgt spid="34"/>
                                        </p:tgtEl>
                                        <p:attrNameLst>
                                          <p:attrName>ppt_w</p:attrName>
                                        </p:attrNameLst>
                                      </p:cBhvr>
                                      <p:tavLst>
                                        <p:tav tm="0">
                                          <p:val>
                                            <p:strVal val="0"/>
                                          </p:val>
                                        </p:tav>
                                        <p:tav tm="100000">
                                          <p:val>
                                            <p:strVal val="#ppt_w"/>
                                          </p:val>
                                        </p:tav>
                                      </p:tavLst>
                                    </p:anim>
                                    <p:anim calcmode="lin" valueType="num">
                                      <p:cBhvr additive="base">
                                        <p:cTn id="73" dur="550" fill="hold"/>
                                        <p:tgtEl>
                                          <p:spTgt spid="34"/>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50"/>
                                        <p:tgtEl>
                                          <p:spTgt spid="35"/>
                                        </p:tgtEl>
                                      </p:cBhvr>
                                    </p:animEffect>
                                    <p:anim calcmode="lin" valueType="num">
                                      <p:cBhvr additive="base">
                                        <p:cTn id="78" dur="550" fill="hold"/>
                                        <p:tgtEl>
                                          <p:spTgt spid="35"/>
                                        </p:tgtEl>
                                        <p:attrNameLst>
                                          <p:attrName>ppt_x</p:attrName>
                                        </p:attrNameLst>
                                      </p:cBhvr>
                                      <p:tavLst>
                                        <p:tav tm="0">
                                          <p:val>
                                            <p:strVal val="#ppt_x"/>
                                          </p:val>
                                        </p:tav>
                                        <p:tav tm="100000">
                                          <p:val>
                                            <p:strVal val="#ppt_x"/>
                                          </p:val>
                                        </p:tav>
                                      </p:tavLst>
                                    </p:anim>
                                    <p:anim calcmode="lin" valueType="num">
                                      <p:cBhvr additive="base">
                                        <p:cTn id="79" dur="550" fill="hold"/>
                                        <p:tgtEl>
                                          <p:spTgt spid="3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NVIDIA Jetson va Google Edge TPU platformalari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14</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460b1c4521cd96c5.jpg"/>
          <p:cNvPicPr>
            <a:picLocks noChangeAspect="1"/>
          </p:cNvPicPr>
          <p:nvPr/>
        </p:nvPicPr>
        <p:blipFill>
          <a:blip r:embed="rId2"/>
          <a:srcRect l="18248" r="18248"/>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Ragesoss · Wikimedia Commons · CC BY-SA 3.0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23152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311520"/>
            <a:ext cx="50000" cy="134348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78326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2" name="TextBox 31"/>
          <p:cNvSpPr txBox="1"/>
          <p:nvPr/>
        </p:nvSpPr>
        <p:spPr>
          <a:xfrm>
            <a:off x="1300000" y="2271520"/>
            <a:ext cx="5900000" cy="1423480"/>
          </a:xfrm>
          <a:prstGeom prst="rect">
            <a:avLst/>
          </a:prstGeom>
          <a:noFill/>
        </p:spPr>
        <p:txBody>
          <a:bodyPr wrap="square" anchor="ctr">
            <a:spAutoFit/>
          </a:bodyPr>
          <a:lstStyle/>
          <a:p>
            <a:r>
              <a:rPr sz="1400" b="0">
                <a:solidFill>
                  <a:srgbClr val="E8EEFA"/>
                </a:solidFill>
                <a:latin typeface="Segoe UI"/>
              </a:rPr>
              <a:t>Google Edge TPU (Coral mahsulot oilasi) — mutlaqo boshqa falsafa: faqat INT8, faqat TensorFlow Lite formatidagi va maxsus kompilyator (edgetpu_compiler) orqali o'tkazilgan modellar; 4 TOPS (INT8) unumdorlik atigi ~2 Vt (0,5 Vt/TOPS) iste'molda; USB stik…</a:t>
            </a:r>
          </a:p>
        </p:txBody>
      </p:sp>
      <p:sp>
        <p:nvSpPr>
          <p:cNvPr id="33" name="Rounded Rectangle 32"/>
          <p:cNvSpPr/>
          <p:nvPr/>
        </p:nvSpPr>
        <p:spPr>
          <a:xfrm>
            <a:off x="550000" y="3845000"/>
            <a:ext cx="6750000" cy="150348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925000"/>
            <a:ext cx="50000" cy="134348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39674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6" name="TextBox 35"/>
          <p:cNvSpPr txBox="1"/>
          <p:nvPr/>
        </p:nvSpPr>
        <p:spPr>
          <a:xfrm>
            <a:off x="1300000" y="3885000"/>
            <a:ext cx="5900000" cy="1423480"/>
          </a:xfrm>
          <a:prstGeom prst="rect">
            <a:avLst/>
          </a:prstGeom>
          <a:noFill/>
        </p:spPr>
        <p:txBody>
          <a:bodyPr wrap="square" anchor="ctr">
            <a:spAutoFit/>
          </a:bodyPr>
          <a:lstStyle/>
          <a:p>
            <a:r>
              <a:rPr sz="1400" b="0">
                <a:solidFill>
                  <a:srgbClr val="E8EEFA"/>
                </a:solidFill>
                <a:latin typeface="Segoe UI"/>
              </a:rPr>
              <a:t>Mobil telefonlarda NPU — Apple Neural Engine, Qualcomm Hexagon, Samsung/Google tensor bloklari — o'nlab TOPS beradi; ularga kirish Core ML, Android NNAPI (hozir asta-sekin LiteRT delegatlari va vendor SDK'lar bilan almashtirilmoqda), Qualcomm QNN orqali…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NVIDIA Jetson va Google Edge TPU platformalari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15</a:t>
            </a:r>
          </a:p>
        </p:txBody>
      </p:sp>
      <p:graphicFrame>
        <p:nvGraphicFramePr>
          <p:cNvPr id="24" name="Table 23"/>
          <p:cNvGraphicFramePr>
            <a:graphicFrameLocks noGrp="1"/>
          </p:cNvGraphicFramePr>
          <p:nvPr/>
        </p:nvGraphicFramePr>
        <p:xfrm>
          <a:off x="550000" y="1400000"/>
          <a:ext cx="11100000" cy="2080000"/>
        </p:xfrm>
        <a:graphic>
          <a:graphicData uri="http://schemas.openxmlformats.org/drawingml/2006/table">
            <a:tbl>
              <a:tblPr firstRow="1" bandRow="1">
                <a:tableStyleId>{5C22544A-7EE6-4342-B048-85BDC9FD1C3A}</a:tableStyleId>
              </a:tblPr>
              <a:tblGrid>
                <a:gridCol w="1850000"/>
                <a:gridCol w="1850000"/>
                <a:gridCol w="1850000"/>
                <a:gridCol w="1850000"/>
                <a:gridCol w="1850000"/>
                <a:gridCol w="1850000"/>
              </a:tblGrid>
              <a:tr h="520000">
                <a:tc>
                  <a:txBody>
                    <a:bodyPr/>
                    <a:lstStyle/>
                    <a:p>
                      <a:r>
                        <a:rPr sz="1400" b="1">
                          <a:solidFill>
                            <a:srgbClr val="22D3EE"/>
                          </a:solidFill>
                          <a:latin typeface="Segoe UI"/>
                        </a:rPr>
                        <a:t>Modul</a:t>
                      </a:r>
                    </a:p>
                  </a:txBody>
                  <a:tcPr>
                    <a:solidFill>
                      <a:srgbClr val="1C2755"/>
                    </a:solidFill>
                  </a:tcPr>
                </a:tc>
                <a:tc>
                  <a:txBody>
                    <a:bodyPr/>
                    <a:lstStyle/>
                    <a:p>
                      <a:r>
                        <a:rPr sz="1400" b="1">
                          <a:solidFill>
                            <a:srgbClr val="22D3EE"/>
                          </a:solidFill>
                          <a:latin typeface="Segoe UI"/>
                        </a:rPr>
                        <a:t>GPU (CUDA yadro / Tensor Core)</a:t>
                      </a:r>
                    </a:p>
                  </a:txBody>
                  <a:tcPr>
                    <a:solidFill>
                      <a:srgbClr val="1C2755"/>
                    </a:solidFill>
                  </a:tcPr>
                </a:tc>
                <a:tc>
                  <a:txBody>
                    <a:bodyPr/>
                    <a:lstStyle/>
                    <a:p>
                      <a:r>
                        <a:rPr sz="1400" b="1">
                          <a:solidFill>
                            <a:srgbClr val="22D3EE"/>
                          </a:solidFill>
                          <a:latin typeface="Segoe UI"/>
                        </a:rPr>
                        <a:t>CPU</a:t>
                      </a:r>
                    </a:p>
                  </a:txBody>
                  <a:tcPr>
                    <a:solidFill>
                      <a:srgbClr val="1C2755"/>
                    </a:solidFill>
                  </a:tcPr>
                </a:tc>
                <a:tc>
                  <a:txBody>
                    <a:bodyPr/>
                    <a:lstStyle/>
                    <a:p>
                      <a:r>
                        <a:rPr sz="1400" b="1">
                          <a:solidFill>
                            <a:srgbClr val="22D3EE"/>
                          </a:solidFill>
                          <a:latin typeface="Segoe UI"/>
                        </a:rPr>
                        <a:t>Xotira</a:t>
                      </a:r>
                    </a:p>
                  </a:txBody>
                  <a:tcPr>
                    <a:solidFill>
                      <a:srgbClr val="1C2755"/>
                    </a:solidFill>
                  </a:tcPr>
                </a:tc>
                <a:tc>
                  <a:txBody>
                    <a:bodyPr/>
                    <a:lstStyle/>
                    <a:p>
                      <a:r>
                        <a:rPr sz="1400" b="1">
                          <a:solidFill>
                            <a:srgbClr val="22D3EE"/>
                          </a:solidFill>
                          <a:latin typeface="Segoe UI"/>
                        </a:rPr>
                        <a:t>INT8 unumdorlik</a:t>
                      </a:r>
                    </a:p>
                  </a:txBody>
                  <a:tcPr>
                    <a:solidFill>
                      <a:srgbClr val="1C2755"/>
                    </a:solidFill>
                  </a:tcPr>
                </a:tc>
                <a:tc>
                  <a:txBody>
                    <a:bodyPr/>
                    <a:lstStyle/>
                    <a:p>
                      <a:r>
                        <a:rPr sz="1400" b="1">
                          <a:solidFill>
                            <a:srgbClr val="22D3EE"/>
                          </a:solidFill>
                          <a:latin typeface="Segoe UI"/>
                        </a:rPr>
                        <a:t>Quvvat rejimlari</a:t>
                      </a:r>
                    </a:p>
                  </a:txBody>
                  <a:tcPr>
                    <a:solidFill>
                      <a:srgbClr val="1C2755"/>
                    </a:solidFill>
                  </a:tcPr>
                </a:tc>
              </a:tr>
              <a:tr h="520000">
                <a:tc>
                  <a:txBody>
                    <a:bodyPr/>
                    <a:lstStyle/>
                    <a:p>
                      <a:r>
                        <a:rPr sz="1400" b="0">
                          <a:solidFill>
                            <a:srgbClr val="E8EEFA"/>
                          </a:solidFill>
                          <a:latin typeface="Segoe UI"/>
                        </a:rPr>
                        <a:t>Jetson Orin Nano 8GB</a:t>
                      </a:r>
                    </a:p>
                  </a:txBody>
                  <a:tcPr>
                    <a:solidFill>
                      <a:srgbClr val="111834"/>
                    </a:solidFill>
                  </a:tcPr>
                </a:tc>
                <a:tc>
                  <a:txBody>
                    <a:bodyPr/>
                    <a:lstStyle/>
                    <a:p>
                      <a:r>
                        <a:rPr sz="1400" b="0">
                          <a:solidFill>
                            <a:srgbClr val="E8EEFA"/>
                          </a:solidFill>
                          <a:latin typeface="Segoe UI"/>
                        </a:rPr>
                        <a:t>1024 / 32</a:t>
                      </a:r>
                    </a:p>
                  </a:txBody>
                  <a:tcPr>
                    <a:solidFill>
                      <a:srgbClr val="111834"/>
                    </a:solidFill>
                  </a:tcPr>
                </a:tc>
                <a:tc>
                  <a:txBody>
                    <a:bodyPr/>
                    <a:lstStyle/>
                    <a:p>
                      <a:r>
                        <a:rPr sz="1400" b="0">
                          <a:solidFill>
                            <a:srgbClr val="E8EEFA"/>
                          </a:solidFill>
                          <a:latin typeface="Segoe UI"/>
                        </a:rPr>
                        <a:t>6× Cortex-A78AE</a:t>
                      </a:r>
                    </a:p>
                  </a:txBody>
                  <a:tcPr>
                    <a:solidFill>
                      <a:srgbClr val="111834"/>
                    </a:solidFill>
                  </a:tcPr>
                </a:tc>
                <a:tc>
                  <a:txBody>
                    <a:bodyPr/>
                    <a:lstStyle/>
                    <a:p>
                      <a:r>
                        <a:rPr sz="1400" b="0">
                          <a:solidFill>
                            <a:srgbClr val="E8EEFA"/>
                          </a:solidFill>
                          <a:latin typeface="Segoe UI"/>
                        </a:rPr>
                        <a:t>8 GB LPDDR5, 68 GB/s (Super: 102 GB/s)</a:t>
                      </a:r>
                    </a:p>
                  </a:txBody>
                  <a:tcPr>
                    <a:solidFill>
                      <a:srgbClr val="111834"/>
                    </a:solidFill>
                  </a:tcPr>
                </a:tc>
                <a:tc>
                  <a:txBody>
                    <a:bodyPr/>
                    <a:lstStyle/>
                    <a:p>
                      <a:r>
                        <a:rPr sz="1400" b="0">
                          <a:solidFill>
                            <a:srgbClr val="E8EEFA"/>
                          </a:solidFill>
                          <a:latin typeface="Segoe UI"/>
                        </a:rPr>
                        <a:t>~40 TOPS (Super: ~67 TOPS)</a:t>
                      </a:r>
                    </a:p>
                  </a:txBody>
                  <a:tcPr>
                    <a:solidFill>
                      <a:srgbClr val="111834"/>
                    </a:solidFill>
                  </a:tcPr>
                </a:tc>
                <a:tc>
                  <a:txBody>
                    <a:bodyPr/>
                    <a:lstStyle/>
                    <a:p>
                      <a:r>
                        <a:rPr sz="1400" b="0">
                          <a:solidFill>
                            <a:srgbClr val="E8EEFA"/>
                          </a:solidFill>
                          <a:latin typeface="Segoe UI"/>
                        </a:rPr>
                        <a:t>7–15 Vt (Super: 25 Vt)</a:t>
                      </a:r>
                    </a:p>
                  </a:txBody>
                  <a:tcPr>
                    <a:solidFill>
                      <a:srgbClr val="111834"/>
                    </a:solidFill>
                  </a:tcPr>
                </a:tc>
              </a:tr>
              <a:tr h="520000">
                <a:tc>
                  <a:txBody>
                    <a:bodyPr/>
                    <a:lstStyle/>
                    <a:p>
                      <a:r>
                        <a:rPr sz="1400" b="0">
                          <a:solidFill>
                            <a:srgbClr val="E8EEFA"/>
                          </a:solidFill>
                          <a:latin typeface="Segoe UI"/>
                        </a:rPr>
                        <a:t>Jetson Orin NX 16GB</a:t>
                      </a:r>
                    </a:p>
                  </a:txBody>
                  <a:tcPr>
                    <a:solidFill>
                      <a:srgbClr val="161F40"/>
                    </a:solidFill>
                  </a:tcPr>
                </a:tc>
                <a:tc>
                  <a:txBody>
                    <a:bodyPr/>
                    <a:lstStyle/>
                    <a:p>
                      <a:r>
                        <a:rPr sz="1400" b="0">
                          <a:solidFill>
                            <a:srgbClr val="E8EEFA"/>
                          </a:solidFill>
                          <a:latin typeface="Segoe UI"/>
                        </a:rPr>
                        <a:t>1024 / 32 + 2 DLA</a:t>
                      </a:r>
                    </a:p>
                  </a:txBody>
                  <a:tcPr>
                    <a:solidFill>
                      <a:srgbClr val="161F40"/>
                    </a:solidFill>
                  </a:tcPr>
                </a:tc>
                <a:tc>
                  <a:txBody>
                    <a:bodyPr/>
                    <a:lstStyle/>
                    <a:p>
                      <a:r>
                        <a:rPr sz="1400" b="0">
                          <a:solidFill>
                            <a:srgbClr val="E8EEFA"/>
                          </a:solidFill>
                          <a:latin typeface="Segoe UI"/>
                        </a:rPr>
                        <a:t>8× Cortex-A78AE</a:t>
                      </a:r>
                    </a:p>
                  </a:txBody>
                  <a:tcPr>
                    <a:solidFill>
                      <a:srgbClr val="161F40"/>
                    </a:solidFill>
                  </a:tcPr>
                </a:tc>
                <a:tc>
                  <a:txBody>
                    <a:bodyPr/>
                    <a:lstStyle/>
                    <a:p>
                      <a:r>
                        <a:rPr sz="1400" b="0">
                          <a:solidFill>
                            <a:srgbClr val="E8EEFA"/>
                          </a:solidFill>
                          <a:latin typeface="Segoe UI"/>
                        </a:rPr>
                        <a:t>16 GB, 102 GB/s</a:t>
                      </a:r>
                    </a:p>
                  </a:txBody>
                  <a:tcPr>
                    <a:solidFill>
                      <a:srgbClr val="161F40"/>
                    </a:solidFill>
                  </a:tcPr>
                </a:tc>
                <a:tc>
                  <a:txBody>
                    <a:bodyPr/>
                    <a:lstStyle/>
                    <a:p>
                      <a:r>
                        <a:rPr sz="1400" b="0">
                          <a:solidFill>
                            <a:srgbClr val="E8EEFA"/>
                          </a:solidFill>
                          <a:latin typeface="Segoe UI"/>
                        </a:rPr>
                        <a:t>~100 TOPS (Super: ~157)</a:t>
                      </a:r>
                    </a:p>
                  </a:txBody>
                  <a:tcPr>
                    <a:solidFill>
                      <a:srgbClr val="161F40"/>
                    </a:solidFill>
                  </a:tcPr>
                </a:tc>
                <a:tc>
                  <a:txBody>
                    <a:bodyPr/>
                    <a:lstStyle/>
                    <a:p>
                      <a:r>
                        <a:rPr sz="1400" b="0">
                          <a:solidFill>
                            <a:srgbClr val="E8EEFA"/>
                          </a:solidFill>
                          <a:latin typeface="Segoe UI"/>
                        </a:rPr>
                        <a:t>10–25 Vt (Super: 40 Vt)</a:t>
                      </a:r>
                    </a:p>
                  </a:txBody>
                  <a:tcPr>
                    <a:solidFill>
                      <a:srgbClr val="161F40"/>
                    </a:solidFill>
                  </a:tcPr>
                </a:tc>
              </a:tr>
              <a:tr h="520000">
                <a:tc>
                  <a:txBody>
                    <a:bodyPr/>
                    <a:lstStyle/>
                    <a:p>
                      <a:r>
                        <a:rPr sz="1400" b="0">
                          <a:solidFill>
                            <a:srgbClr val="E8EEFA"/>
                          </a:solidFill>
                          <a:latin typeface="Segoe UI"/>
                        </a:rPr>
                        <a:t>Jetson AGX Orin 64GB</a:t>
                      </a:r>
                    </a:p>
                  </a:txBody>
                  <a:tcPr>
                    <a:solidFill>
                      <a:srgbClr val="111834"/>
                    </a:solidFill>
                  </a:tcPr>
                </a:tc>
                <a:tc>
                  <a:txBody>
                    <a:bodyPr/>
                    <a:lstStyle/>
                    <a:p>
                      <a:r>
                        <a:rPr sz="1400" b="0">
                          <a:solidFill>
                            <a:srgbClr val="E8EEFA"/>
                          </a:solidFill>
                          <a:latin typeface="Segoe UI"/>
                        </a:rPr>
                        <a:t>2048 / 64 + 2 DLA</a:t>
                      </a:r>
                    </a:p>
                  </a:txBody>
                  <a:tcPr>
                    <a:solidFill>
                      <a:srgbClr val="111834"/>
                    </a:solidFill>
                  </a:tcPr>
                </a:tc>
                <a:tc>
                  <a:txBody>
                    <a:bodyPr/>
                    <a:lstStyle/>
                    <a:p>
                      <a:r>
                        <a:rPr sz="1400" b="0">
                          <a:solidFill>
                            <a:srgbClr val="E8EEFA"/>
                          </a:solidFill>
                          <a:latin typeface="Segoe UI"/>
                        </a:rPr>
                        <a:t>12× Cortex-A78AE</a:t>
                      </a:r>
                    </a:p>
                  </a:txBody>
                  <a:tcPr>
                    <a:solidFill>
                      <a:srgbClr val="111834"/>
                    </a:solidFill>
                  </a:tcPr>
                </a:tc>
                <a:tc>
                  <a:txBody>
                    <a:bodyPr/>
                    <a:lstStyle/>
                    <a:p>
                      <a:r>
                        <a:rPr sz="1400" b="0">
                          <a:solidFill>
                            <a:srgbClr val="E8EEFA"/>
                          </a:solidFill>
                          <a:latin typeface="Segoe UI"/>
                        </a:rPr>
                        <a:t>64 GB, 204,8 GB/s</a:t>
                      </a:r>
                    </a:p>
                  </a:txBody>
                  <a:tcPr>
                    <a:solidFill>
                      <a:srgbClr val="111834"/>
                    </a:solidFill>
                  </a:tcPr>
                </a:tc>
                <a:tc>
                  <a:txBody>
                    <a:bodyPr/>
                    <a:lstStyle/>
                    <a:p>
                      <a:r>
                        <a:rPr sz="1400" b="0">
                          <a:solidFill>
                            <a:srgbClr val="E8EEFA"/>
                          </a:solidFill>
                          <a:latin typeface="Segoe UI"/>
                        </a:rPr>
                        <a:t>~275 TOPS</a:t>
                      </a:r>
                    </a:p>
                  </a:txBody>
                  <a:tcPr>
                    <a:solidFill>
                      <a:srgbClr val="111834"/>
                    </a:solidFill>
                  </a:tcPr>
                </a:tc>
                <a:tc>
                  <a:txBody>
                    <a:bodyPr/>
                    <a:lstStyle/>
                    <a:p>
                      <a:r>
                        <a:rPr sz="1400" b="0">
                          <a:solidFill>
                            <a:srgbClr val="E8EEFA"/>
                          </a:solidFill>
                          <a:latin typeface="Segoe UI"/>
                        </a:rPr>
                        <a:t>15–60 Vt</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6" dur="8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4b5bd977528652ec.jpg"/>
          <p:cNvPicPr>
            <a:picLocks noChangeAspect="1"/>
          </p:cNvPicPr>
          <p:nvPr/>
        </p:nvPicPr>
        <p:blipFill>
          <a:blip r:embed="rId2"/>
          <a:srcRect l="9848" r="9848"/>
          <a:stretch>
            <a:fillRect/>
          </a:stretch>
        </p:blipFill>
        <p:spPr>
          <a:xfrm>
            <a:off x="6300000" y="800000"/>
            <a:ext cx="5300000" cy="4950000"/>
          </a:xfrm>
          <a:prstGeom prst="roundRect">
            <a:avLst/>
          </a:prstGeom>
          <a:ln w="19050">
            <a:solidFill>
              <a:srgbClr val="22D3EE"/>
            </a:solidFill>
          </a:ln>
        </p:spPr>
      </p:pic>
      <p:sp>
        <p:nvSpPr>
          <p:cNvPr id="39" name="TextBox 38"/>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Acabashi · Wikimedia Commons · CC BY-SA 4.0</a:t>
            </a:r>
          </a:p>
        </p:txBody>
      </p:sp>
      <p:sp>
        <p:nvSpPr>
          <p:cNvPr id="40" name="TextBox 39"/>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05</a:t>
            </a:r>
          </a:p>
        </p:txBody>
      </p:sp>
      <p:sp>
        <p:nvSpPr>
          <p:cNvPr id="41" name="TextBox 40"/>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2" name="TextBox 41"/>
          <p:cNvSpPr txBox="1"/>
          <p:nvPr/>
        </p:nvSpPr>
        <p:spPr>
          <a:xfrm>
            <a:off x="600000" y="2650000"/>
            <a:ext cx="5400000" cy="1800000"/>
          </a:xfrm>
          <a:prstGeom prst="rect">
            <a:avLst/>
          </a:prstGeom>
          <a:noFill/>
        </p:spPr>
        <p:txBody>
          <a:bodyPr wrap="square" anchor="t" lIns="50800" rIns="50800">
            <a:spAutoFit/>
          </a:bodyPr>
          <a:lstStyle/>
          <a:p>
            <a:pPr algn="l"/>
            <a:r>
              <a:rPr sz="2600" b="1">
                <a:solidFill>
                  <a:srgbClr val="E8EEFA"/>
                </a:solidFill>
                <a:latin typeface="Segoe UI"/>
              </a:rPr>
              <a:t>Dasturiy vositalar zanjiri: konvertatsiya, kvantlash, delegat</a:t>
            </a:r>
          </a:p>
        </p:txBody>
      </p:sp>
      <p:sp>
        <p:nvSpPr>
          <p:cNvPr id="43" name="Rectangle 42"/>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7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150"/>
                            </p:stCondLst>
                            <p:childTnLst>
                              <p:par>
                                <p:cTn id="140" presetID="53" presetClass="entr" presetSubtype="16"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anim calcmode="lin" valueType="num">
                                      <p:cBhvr additive="base">
                                        <p:cTn id="143" dur="550" fill="hold"/>
                                        <p:tgtEl>
                                          <p:spTgt spid="37"/>
                                        </p:tgtEl>
                                        <p:attrNameLst>
                                          <p:attrName>ppt_w</p:attrName>
                                        </p:attrNameLst>
                                      </p:cBhvr>
                                      <p:tavLst>
                                        <p:tav tm="0">
                                          <p:val>
                                            <p:strVal val="0"/>
                                          </p:val>
                                        </p:tav>
                                        <p:tav tm="100000">
                                          <p:val>
                                            <p:strVal val="#ppt_w"/>
                                          </p:val>
                                        </p:tav>
                                      </p:tavLst>
                                    </p:anim>
                                    <p:anim calcmode="lin" valueType="num">
                                      <p:cBhvr additive="base">
                                        <p:cTn id="144" dur="550" fill="hold"/>
                                        <p:tgtEl>
                                          <p:spTgt spid="37"/>
                                        </p:tgtEl>
                                        <p:attrNameLst>
                                          <p:attrName>ppt_h</p:attrName>
                                        </p:attrNameLst>
                                      </p:cBhvr>
                                      <p:tavLst>
                                        <p:tav tm="0">
                                          <p:val>
                                            <p:strVal val="0"/>
                                          </p:val>
                                        </p:tav>
                                        <p:tav tm="100000">
                                          <p:val>
                                            <p:strVal val="#ppt_h"/>
                                          </p:val>
                                        </p:tav>
                                      </p:tavLst>
                                    </p:anim>
                                  </p:childTnLst>
                                </p:cTn>
                              </p:par>
                            </p:childTnLst>
                          </p:cTn>
                        </p:par>
                        <p:par>
                          <p:cTn id="145" fill="hold">
                            <p:stCondLst>
                              <p:cond delay="150"/>
                            </p:stCondLst>
                            <p:childTnLst>
                              <p:par>
                                <p:cTn id="146" presetID="53" presetClass="entr" presetSubtype="16" fill="hold" grpId="0" nodeType="afterEffect">
                                  <p:stCondLst>
                                    <p:cond delay="0"/>
                                  </p:stCondLst>
                                  <p:childTnLst>
                                    <p:set>
                                      <p:cBhvr>
                                        <p:cTn id="147" dur="1" fill="hold">
                                          <p:stCondLst>
                                            <p:cond delay="0"/>
                                          </p:stCondLst>
                                        </p:cTn>
                                        <p:tgtEl>
                                          <p:spTgt spid="38"/>
                                        </p:tgtEl>
                                        <p:attrNameLst>
                                          <p:attrName>style.visibility</p:attrName>
                                        </p:attrNameLst>
                                      </p:cBhvr>
                                      <p:to>
                                        <p:strVal val="visible"/>
                                      </p:to>
                                    </p:set>
                                    <p:animEffect transition="in" filter="fade">
                                      <p:cBhvr>
                                        <p:cTn id="148" dur="550"/>
                                        <p:tgtEl>
                                          <p:spTgt spid="38"/>
                                        </p:tgtEl>
                                      </p:cBhvr>
                                    </p:animEffect>
                                    <p:anim calcmode="lin" valueType="num">
                                      <p:cBhvr additive="base">
                                        <p:cTn id="149" dur="550" fill="hold"/>
                                        <p:tgtEl>
                                          <p:spTgt spid="38"/>
                                        </p:tgtEl>
                                        <p:attrNameLst>
                                          <p:attrName>ppt_w</p:attrName>
                                        </p:attrNameLst>
                                      </p:cBhvr>
                                      <p:tavLst>
                                        <p:tav tm="0">
                                          <p:val>
                                            <p:strVal val="0"/>
                                          </p:val>
                                        </p:tav>
                                        <p:tav tm="100000">
                                          <p:val>
                                            <p:strVal val="#ppt_w"/>
                                          </p:val>
                                        </p:tav>
                                      </p:tavLst>
                                    </p:anim>
                                    <p:anim calcmode="lin" valueType="num">
                                      <p:cBhvr additive="base">
                                        <p:cTn id="150" dur="550" fill="hold"/>
                                        <p:tgtEl>
                                          <p:spTgt spid="38"/>
                                        </p:tgtEl>
                                        <p:attrNameLst>
                                          <p:attrName>ppt_h</p:attrName>
                                        </p:attrNameLst>
                                      </p:cBhvr>
                                      <p:tavLst>
                                        <p:tav tm="0">
                                          <p:val>
                                            <p:strVal val="0"/>
                                          </p:val>
                                        </p:tav>
                                        <p:tav tm="100000">
                                          <p:val>
                                            <p:strVal val="#ppt_h"/>
                                          </p:val>
                                        </p:tav>
                                      </p:tavLst>
                                    </p:anim>
                                  </p:childTnLst>
                                </p:cTn>
                              </p:par>
                            </p:childTnLst>
                          </p:cTn>
                        </p:par>
                        <p:par>
                          <p:cTn id="151" fill="hold">
                            <p:stCondLst>
                              <p:cond delay="150"/>
                            </p:stCondLst>
                            <p:childTnLst>
                              <p:par>
                                <p:cTn id="152" presetID="10" presetClass="entr" presetSubtype="0" fill="hold" grpId="0" nodeType="afterEffect">
                                  <p:stCondLst>
                                    <p:cond delay="0"/>
                                  </p:stCondLst>
                                  <p:childTnLst>
                                    <p:set>
                                      <p:cBhvr>
                                        <p:cTn id="153" dur="1" fill="hold">
                                          <p:stCondLst>
                                            <p:cond delay="0"/>
                                          </p:stCondLst>
                                        </p:cTn>
                                        <p:tgtEl>
                                          <p:spTgt spid="39"/>
                                        </p:tgtEl>
                                        <p:attrNameLst>
                                          <p:attrName>style.visibility</p:attrName>
                                        </p:attrNameLst>
                                      </p:cBhvr>
                                      <p:to>
                                        <p:strVal val="visible"/>
                                      </p:to>
                                    </p:set>
                                    <p:animEffect transition="in" filter="fade">
                                      <p:cBhvr>
                                        <p:cTn id="154" dur="550"/>
                                        <p:tgtEl>
                                          <p:spTgt spid="39"/>
                                        </p:tgtEl>
                                      </p:cBhvr>
                                    </p:animEffect>
                                  </p:childTnLst>
                                </p:cTn>
                              </p:par>
                            </p:childTnLst>
                          </p:cTn>
                        </p:par>
                        <p:par>
                          <p:cTn id="155" fill="hold">
                            <p:stCondLst>
                              <p:cond delay="350"/>
                            </p:stCondLst>
                            <p:childTnLst>
                              <p:par>
                                <p:cTn id="156" presetID="53" presetClass="entr" presetSubtype="16" fill="hold" grpId="0" nodeType="afterEffect">
                                  <p:stCondLst>
                                    <p:cond delay="0"/>
                                  </p:stCondLst>
                                  <p:childTnLst>
                                    <p:set>
                                      <p:cBhvr>
                                        <p:cTn id="157" dur="1" fill="hold">
                                          <p:stCondLst>
                                            <p:cond delay="0"/>
                                          </p:stCondLst>
                                        </p:cTn>
                                        <p:tgtEl>
                                          <p:spTgt spid="40"/>
                                        </p:tgtEl>
                                        <p:attrNameLst>
                                          <p:attrName>style.visibility</p:attrName>
                                        </p:attrNameLst>
                                      </p:cBhvr>
                                      <p:to>
                                        <p:strVal val="visible"/>
                                      </p:to>
                                    </p:set>
                                    <p:animEffect transition="in" filter="fade">
                                      <p:cBhvr>
                                        <p:cTn id="158" dur="550"/>
                                        <p:tgtEl>
                                          <p:spTgt spid="40"/>
                                        </p:tgtEl>
                                      </p:cBhvr>
                                    </p:animEffect>
                                    <p:anim calcmode="lin" valueType="num">
                                      <p:cBhvr additive="base">
                                        <p:cTn id="159" dur="550" fill="hold"/>
                                        <p:tgtEl>
                                          <p:spTgt spid="40"/>
                                        </p:tgtEl>
                                        <p:attrNameLst>
                                          <p:attrName>ppt_w</p:attrName>
                                        </p:attrNameLst>
                                      </p:cBhvr>
                                      <p:tavLst>
                                        <p:tav tm="0">
                                          <p:val>
                                            <p:strVal val="0"/>
                                          </p:val>
                                        </p:tav>
                                        <p:tav tm="100000">
                                          <p:val>
                                            <p:strVal val="#ppt_w"/>
                                          </p:val>
                                        </p:tav>
                                      </p:tavLst>
                                    </p:anim>
                                    <p:anim calcmode="lin" valueType="num">
                                      <p:cBhvr additive="base">
                                        <p:cTn id="160" dur="550" fill="hold"/>
                                        <p:tgtEl>
                                          <p:spTgt spid="40"/>
                                        </p:tgtEl>
                                        <p:attrNameLst>
                                          <p:attrName>ppt_h</p:attrName>
                                        </p:attrNameLst>
                                      </p:cBhvr>
                                      <p:tavLst>
                                        <p:tav tm="0">
                                          <p:val>
                                            <p:strVal val="0"/>
                                          </p:val>
                                        </p:tav>
                                        <p:tav tm="100000">
                                          <p:val>
                                            <p:strVal val="#ppt_h"/>
                                          </p:val>
                                        </p:tav>
                                      </p:tavLst>
                                    </p:anim>
                                  </p:childTnLst>
                                </p:cTn>
                              </p:par>
                            </p:childTnLst>
                          </p:cTn>
                        </p:par>
                        <p:par>
                          <p:cTn id="161" fill="hold">
                            <p:stCondLst>
                              <p:cond delay="450"/>
                            </p:stCondLst>
                            <p:childTnLst>
                              <p:par>
                                <p:cTn id="162" presetID="10" presetClass="entr" presetSubtype="0" fill="hold" grpId="0" nodeType="afterEffect">
                                  <p:stCondLst>
                                    <p:cond delay="0"/>
                                  </p:stCondLst>
                                  <p:childTnLst>
                                    <p:set>
                                      <p:cBhvr>
                                        <p:cTn id="163" dur="1" fill="hold">
                                          <p:stCondLst>
                                            <p:cond delay="0"/>
                                          </p:stCondLst>
                                        </p:cTn>
                                        <p:tgtEl>
                                          <p:spTgt spid="41"/>
                                        </p:tgtEl>
                                        <p:attrNameLst>
                                          <p:attrName>style.visibility</p:attrName>
                                        </p:attrNameLst>
                                      </p:cBhvr>
                                      <p:to>
                                        <p:strVal val="visible"/>
                                      </p:to>
                                    </p:set>
                                    <p:animEffect transition="in" filter="fade">
                                      <p:cBhvr>
                                        <p:cTn id="164" dur="550"/>
                                        <p:tgtEl>
                                          <p:spTgt spid="41"/>
                                        </p:tgtEl>
                                      </p:cBhvr>
                                    </p:animEffect>
                                  </p:childTnLst>
                                </p:cTn>
                              </p:par>
                            </p:childTnLst>
                          </p:cTn>
                        </p:par>
                        <p:par>
                          <p:cTn id="165" fill="hold">
                            <p:stCondLst>
                              <p:cond delay="550"/>
                            </p:stCondLst>
                            <p:childTnLst>
                              <p:par>
                                <p:cTn id="166" presetID="2" presetClass="entr" presetSubtype="8" fill="hold" grpId="0" nodeType="afterEffect">
                                  <p:stCondLst>
                                    <p:cond delay="0"/>
                                  </p:stCondLst>
                                  <p:childTnLst>
                                    <p:set>
                                      <p:cBhvr>
                                        <p:cTn id="167" dur="1" fill="hold">
                                          <p:stCondLst>
                                            <p:cond delay="0"/>
                                          </p:stCondLst>
                                        </p:cTn>
                                        <p:tgtEl>
                                          <p:spTgt spid="42"/>
                                        </p:tgtEl>
                                        <p:attrNameLst>
                                          <p:attrName>style.visibility</p:attrName>
                                        </p:attrNameLst>
                                      </p:cBhvr>
                                      <p:to>
                                        <p:strVal val="visible"/>
                                      </p:to>
                                    </p:set>
                                    <p:anim calcmode="lin" valueType="num">
                                      <p:cBhvr additive="base">
                                        <p:cTn id="169" dur="550" fill="hold"/>
                                        <p:tgtEl>
                                          <p:spTgt spid="42"/>
                                        </p:tgtEl>
                                        <p:attrNameLst>
                                          <p:attrName>ppt_x</p:attrName>
                                        </p:attrNameLst>
                                      </p:cBhvr>
                                      <p:tavLst>
                                        <p:tav tm="0">
                                          <p:val>
                                            <p:strVal val="0-#ppt_w/2"/>
                                          </p:val>
                                        </p:tav>
                                        <p:tav tm="100000">
                                          <p:val>
                                            <p:strVal val="#ppt_x"/>
                                          </p:val>
                                        </p:tav>
                                      </p:tavLst>
                                    </p:anim>
                                    <p:anim calcmode="lin" valueType="num">
                                      <p:cBhvr additive="base">
                                        <p:cTn id="170" dur="550" fill="hold"/>
                                        <p:tgtEl>
                                          <p:spTgt spid="42"/>
                                        </p:tgtEl>
                                        <p:attrNameLst>
                                          <p:attrName>ppt_y</p:attrName>
                                        </p:attrNameLst>
                                      </p:cBhvr>
                                      <p:tavLst>
                                        <p:tav tm="0">
                                          <p:val>
                                            <p:strVal val="#ppt_y"/>
                                          </p:val>
                                        </p:tav>
                                        <p:tav tm="100000">
                                          <p:val>
                                            <p:strVal val="#ppt_y"/>
                                          </p:val>
                                        </p:tav>
                                      </p:tavLst>
                                    </p:anim>
                                  </p:childTnLst>
                                </p:cTn>
                              </p:par>
                            </p:childTnLst>
                          </p:cTn>
                        </p:par>
                        <p:par>
                          <p:cTn id="171" fill="hold">
                            <p:stCondLst>
                              <p:cond delay="650"/>
                            </p:stCondLst>
                            <p:childTnLst>
                              <p:par>
                                <p:cTn id="172" presetID="22" presetClass="entr" presetSubtype="8" fill="hold" grpId="0" nodeType="afterEffect">
                                  <p:stCondLst>
                                    <p:cond delay="0"/>
                                  </p:stCondLst>
                                  <p:childTnLst>
                                    <p:set>
                                      <p:cBhvr>
                                        <p:cTn id="173" dur="1" fill="hold">
                                          <p:stCondLst>
                                            <p:cond delay="0"/>
                                          </p:stCondLst>
                                        </p:cTn>
                                        <p:tgtEl>
                                          <p:spTgt spid="43"/>
                                        </p:tgtEl>
                                        <p:attrNameLst>
                                          <p:attrName>style.visibility</p:attrName>
                                        </p:attrNameLst>
                                      </p:cBhvr>
                                      <p:to>
                                        <p:strVal val="visible"/>
                                      </p:to>
                                    </p:set>
                                    <p:animEffect transition="in" filter="wipe(left)">
                                      <p:cBhvr>
                                        <p:cTn id="175"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Dasturiy vositalar zanjiri: konvertatsiya, kvantlash, delegat</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17</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517e6a4b4bf3deb7.jpg"/>
          <p:cNvPicPr>
            <a:picLocks noChangeAspect="1"/>
          </p:cNvPicPr>
          <p:nvPr/>
        </p:nvPicPr>
        <p:blipFill>
          <a:blip r:embed="rId2"/>
          <a:srcRect l="21523" r="21523"/>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TreyDanger · Wikimedia Commons · CC BY 2.0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1762128"/>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1842128"/>
            <a:ext cx="50000" cy="181287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2548564"/>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9" name="TextBox 28"/>
          <p:cNvSpPr txBox="1"/>
          <p:nvPr/>
        </p:nvSpPr>
        <p:spPr>
          <a:xfrm>
            <a:off x="1300000" y="1802128"/>
            <a:ext cx="5900000" cy="1892872"/>
          </a:xfrm>
          <a:prstGeom prst="rect">
            <a:avLst/>
          </a:prstGeom>
          <a:noFill/>
        </p:spPr>
        <p:txBody>
          <a:bodyPr wrap="square" anchor="ctr">
            <a:spAutoFit/>
          </a:bodyPr>
          <a:lstStyle/>
          <a:p>
            <a:r>
              <a:rPr sz="1500" b="1">
                <a:solidFill>
                  <a:srgbClr val="E8EEFA"/>
                </a:solidFill>
                <a:latin typeface="Segoe UI"/>
              </a:rPr>
              <a:t>Chekka qurilma uchun model tayyorlash odatda uch bosqichdan iborat.</a:t>
            </a:r>
          </a:p>
          <a:p>
            <a:pPr>
              <a:spcBef>
                <a:spcPts val="400"/>
              </a:spcBef>
            </a:pPr>
            <a:r>
              <a:rPr sz="1400">
                <a:solidFill>
                  <a:srgbClr val="AEBBD9"/>
                </a:solidFill>
                <a:latin typeface="Segoe UI"/>
              </a:rPr>
              <a:t>Birinchi — formatga o'tkazish: PyTorch → ONNX (torch.onnx.export) → ONNX Runtime (Jetson'da CUDA/TensorRT execution provider bilan) yoki TensorRT dvigateli; TensorFlow/Keras → TensorFlow Lite (2024 yildan boshlab LiteRT nomi bilan) → Edge TPU kompilyatori yoki TFLM.</a:t>
            </a:r>
          </a:p>
        </p:txBody>
      </p:sp>
      <p:sp>
        <p:nvSpPr>
          <p:cNvPr id="30" name="Rounded Rectangle 29"/>
          <p:cNvSpPr/>
          <p:nvPr/>
        </p:nvSpPr>
        <p:spPr>
          <a:xfrm>
            <a:off x="550000" y="3845000"/>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3925000"/>
            <a:ext cx="50000" cy="1812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463143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3885000"/>
            <a:ext cx="5900000" cy="1892872"/>
          </a:xfrm>
          <a:prstGeom prst="rect">
            <a:avLst/>
          </a:prstGeom>
          <a:noFill/>
        </p:spPr>
        <p:txBody>
          <a:bodyPr wrap="square" anchor="ctr">
            <a:spAutoFit/>
          </a:bodyPr>
          <a:lstStyle/>
          <a:p>
            <a:r>
              <a:rPr sz="1400" b="0">
                <a:solidFill>
                  <a:srgbClr val="E8EEFA"/>
                </a:solidFill>
                <a:latin typeface="Segoe UI"/>
              </a:rPr>
              <a:t>M8 mavzusida kvantlash va boshqa siqish usullari nazariy jihatdan chuqurroq ko'riladi; bu yerda ular chekka joylash kontekstida amaliy vosita sifatida ishlatiladi.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50"/>
                                        <p:tgtEl>
                                          <p:spTgt spid="30"/>
                                        </p:tgtEl>
                                      </p:cBhvr>
                                    </p:animEffect>
                                    <p:anim calcmode="lin" valueType="num">
                                      <p:cBhvr additive="base">
                                        <p:cTn id="60" dur="550" fill="hold"/>
                                        <p:tgtEl>
                                          <p:spTgt spid="30"/>
                                        </p:tgtEl>
                                        <p:attrNameLst>
                                          <p:attrName>ppt_x</p:attrName>
                                        </p:attrNameLst>
                                      </p:cBhvr>
                                      <p:tavLst>
                                        <p:tav tm="0">
                                          <p:val>
                                            <p:strVal val="#ppt_x"/>
                                          </p:val>
                                        </p:tav>
                                        <p:tav tm="100000">
                                          <p:val>
                                            <p:strVal val="#ppt_x"/>
                                          </p:val>
                                        </p:tav>
                                      </p:tavLst>
                                    </p:anim>
                                    <p:anim calcmode="lin" valueType="num">
                                      <p:cBhvr additive="base">
                                        <p:cTn id="61" dur="550" fill="hold"/>
                                        <p:tgtEl>
                                          <p:spTgt spid="30"/>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50"/>
                                        <p:tgtEl>
                                          <p:spTgt spid="31"/>
                                        </p:tgtEl>
                                      </p:cBhvr>
                                    </p:animEffect>
                                    <p:anim calcmode="lin" valueType="num">
                                      <p:cBhvr additive="base">
                                        <p:cTn id="66" dur="550" fill="hold"/>
                                        <p:tgtEl>
                                          <p:spTgt spid="31"/>
                                        </p:tgtEl>
                                        <p:attrNameLst>
                                          <p:attrName>ppt_x</p:attrName>
                                        </p:attrNameLst>
                                      </p:cBhvr>
                                      <p:tavLst>
                                        <p:tav tm="0">
                                          <p:val>
                                            <p:strVal val="#ppt_x"/>
                                          </p:val>
                                        </p:tav>
                                        <p:tav tm="100000">
                                          <p:val>
                                            <p:strVal val="#ppt_x"/>
                                          </p:val>
                                        </p:tav>
                                      </p:tavLst>
                                    </p:anim>
                                    <p:anim calcmode="lin" valueType="num">
                                      <p:cBhvr additive="base">
                                        <p:cTn id="67" dur="550" fill="hold"/>
                                        <p:tgtEl>
                                          <p:spTgt spid="31"/>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50"/>
                                        <p:tgtEl>
                                          <p:spTgt spid="32"/>
                                        </p:tgtEl>
                                      </p:cBhvr>
                                    </p:animEffect>
                                    <p:anim calcmode="lin" valueType="num">
                                      <p:cBhvr additive="base">
                                        <p:cTn id="72" dur="550" fill="hold"/>
                                        <p:tgtEl>
                                          <p:spTgt spid="32"/>
                                        </p:tgtEl>
                                        <p:attrNameLst>
                                          <p:attrName>ppt_w</p:attrName>
                                        </p:attrNameLst>
                                      </p:cBhvr>
                                      <p:tavLst>
                                        <p:tav tm="0">
                                          <p:val>
                                            <p:strVal val="0"/>
                                          </p:val>
                                        </p:tav>
                                        <p:tav tm="100000">
                                          <p:val>
                                            <p:strVal val="#ppt_w"/>
                                          </p:val>
                                        </p:tav>
                                      </p:tavLst>
                                    </p:anim>
                                    <p:anim calcmode="lin" valueType="num">
                                      <p:cBhvr additive="base">
                                        <p:cTn id="73" dur="550" fill="hold"/>
                                        <p:tgtEl>
                                          <p:spTgt spid="32"/>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550"/>
                                        <p:tgtEl>
                                          <p:spTgt spid="33"/>
                                        </p:tgtEl>
                                      </p:cBhvr>
                                    </p:animEffect>
                                    <p:anim calcmode="lin" valueType="num">
                                      <p:cBhvr additive="base">
                                        <p:cTn id="78" dur="550" fill="hold"/>
                                        <p:tgtEl>
                                          <p:spTgt spid="33"/>
                                        </p:tgtEl>
                                        <p:attrNameLst>
                                          <p:attrName>ppt_x</p:attrName>
                                        </p:attrNameLst>
                                      </p:cBhvr>
                                      <p:tavLst>
                                        <p:tav tm="0">
                                          <p:val>
                                            <p:strVal val="#ppt_x"/>
                                          </p:val>
                                        </p:tav>
                                        <p:tav tm="100000">
                                          <p:val>
                                            <p:strVal val="#ppt_x"/>
                                          </p:val>
                                        </p:tav>
                                      </p:tavLst>
                                    </p:anim>
                                    <p:anim calcmode="lin" valueType="num">
                                      <p:cBhvr additive="base">
                                        <p:cTn id="79"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32d9bd8fb074cc5e.jpg"/>
          <p:cNvPicPr>
            <a:picLocks noChangeAspect="1"/>
          </p:cNvPicPr>
          <p:nvPr/>
        </p:nvPicPr>
        <p:blipFill>
          <a:blip r:embed="rId2"/>
          <a:srcRect l="15641" r="15641"/>
          <a:stretch>
            <a:fillRect/>
          </a:stretch>
        </p:blipFill>
        <p:spPr>
          <a:xfrm>
            <a:off x="6300000" y="800000"/>
            <a:ext cx="5300000" cy="4950000"/>
          </a:xfrm>
          <a:prstGeom prst="roundRect">
            <a:avLst/>
          </a:prstGeom>
          <a:ln w="19050">
            <a:solidFill>
              <a:srgbClr val="22D3EE"/>
            </a:solidFill>
          </a:ln>
        </p:spPr>
      </p:pic>
      <p:sp>
        <p:nvSpPr>
          <p:cNvPr id="39" name="TextBox 38"/>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iSys.PL · Wikimedia Commons · Attribution</a:t>
            </a:r>
          </a:p>
        </p:txBody>
      </p:sp>
      <p:sp>
        <p:nvSpPr>
          <p:cNvPr id="40" name="TextBox 39"/>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06</a:t>
            </a:r>
          </a:p>
        </p:txBody>
      </p:sp>
      <p:sp>
        <p:nvSpPr>
          <p:cNvPr id="41" name="TextBox 40"/>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2" name="TextBox 41"/>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IoT va Edge AI integratsiyasi</a:t>
            </a:r>
          </a:p>
        </p:txBody>
      </p:sp>
      <p:sp>
        <p:nvSpPr>
          <p:cNvPr id="43" name="Rectangle 42"/>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7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150"/>
                            </p:stCondLst>
                            <p:childTnLst>
                              <p:par>
                                <p:cTn id="140" presetID="53" presetClass="entr" presetSubtype="16"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anim calcmode="lin" valueType="num">
                                      <p:cBhvr additive="base">
                                        <p:cTn id="143" dur="550" fill="hold"/>
                                        <p:tgtEl>
                                          <p:spTgt spid="37"/>
                                        </p:tgtEl>
                                        <p:attrNameLst>
                                          <p:attrName>ppt_w</p:attrName>
                                        </p:attrNameLst>
                                      </p:cBhvr>
                                      <p:tavLst>
                                        <p:tav tm="0">
                                          <p:val>
                                            <p:strVal val="0"/>
                                          </p:val>
                                        </p:tav>
                                        <p:tav tm="100000">
                                          <p:val>
                                            <p:strVal val="#ppt_w"/>
                                          </p:val>
                                        </p:tav>
                                      </p:tavLst>
                                    </p:anim>
                                    <p:anim calcmode="lin" valueType="num">
                                      <p:cBhvr additive="base">
                                        <p:cTn id="144" dur="550" fill="hold"/>
                                        <p:tgtEl>
                                          <p:spTgt spid="37"/>
                                        </p:tgtEl>
                                        <p:attrNameLst>
                                          <p:attrName>ppt_h</p:attrName>
                                        </p:attrNameLst>
                                      </p:cBhvr>
                                      <p:tavLst>
                                        <p:tav tm="0">
                                          <p:val>
                                            <p:strVal val="0"/>
                                          </p:val>
                                        </p:tav>
                                        <p:tav tm="100000">
                                          <p:val>
                                            <p:strVal val="#ppt_h"/>
                                          </p:val>
                                        </p:tav>
                                      </p:tavLst>
                                    </p:anim>
                                  </p:childTnLst>
                                </p:cTn>
                              </p:par>
                            </p:childTnLst>
                          </p:cTn>
                        </p:par>
                        <p:par>
                          <p:cTn id="145" fill="hold">
                            <p:stCondLst>
                              <p:cond delay="150"/>
                            </p:stCondLst>
                            <p:childTnLst>
                              <p:par>
                                <p:cTn id="146" presetID="53" presetClass="entr" presetSubtype="16" fill="hold" grpId="0" nodeType="afterEffect">
                                  <p:stCondLst>
                                    <p:cond delay="0"/>
                                  </p:stCondLst>
                                  <p:childTnLst>
                                    <p:set>
                                      <p:cBhvr>
                                        <p:cTn id="147" dur="1" fill="hold">
                                          <p:stCondLst>
                                            <p:cond delay="0"/>
                                          </p:stCondLst>
                                        </p:cTn>
                                        <p:tgtEl>
                                          <p:spTgt spid="38"/>
                                        </p:tgtEl>
                                        <p:attrNameLst>
                                          <p:attrName>style.visibility</p:attrName>
                                        </p:attrNameLst>
                                      </p:cBhvr>
                                      <p:to>
                                        <p:strVal val="visible"/>
                                      </p:to>
                                    </p:set>
                                    <p:animEffect transition="in" filter="fade">
                                      <p:cBhvr>
                                        <p:cTn id="148" dur="550"/>
                                        <p:tgtEl>
                                          <p:spTgt spid="38"/>
                                        </p:tgtEl>
                                      </p:cBhvr>
                                    </p:animEffect>
                                    <p:anim calcmode="lin" valueType="num">
                                      <p:cBhvr additive="base">
                                        <p:cTn id="149" dur="550" fill="hold"/>
                                        <p:tgtEl>
                                          <p:spTgt spid="38"/>
                                        </p:tgtEl>
                                        <p:attrNameLst>
                                          <p:attrName>ppt_w</p:attrName>
                                        </p:attrNameLst>
                                      </p:cBhvr>
                                      <p:tavLst>
                                        <p:tav tm="0">
                                          <p:val>
                                            <p:strVal val="0"/>
                                          </p:val>
                                        </p:tav>
                                        <p:tav tm="100000">
                                          <p:val>
                                            <p:strVal val="#ppt_w"/>
                                          </p:val>
                                        </p:tav>
                                      </p:tavLst>
                                    </p:anim>
                                    <p:anim calcmode="lin" valueType="num">
                                      <p:cBhvr additive="base">
                                        <p:cTn id="150" dur="550" fill="hold"/>
                                        <p:tgtEl>
                                          <p:spTgt spid="38"/>
                                        </p:tgtEl>
                                        <p:attrNameLst>
                                          <p:attrName>ppt_h</p:attrName>
                                        </p:attrNameLst>
                                      </p:cBhvr>
                                      <p:tavLst>
                                        <p:tav tm="0">
                                          <p:val>
                                            <p:strVal val="0"/>
                                          </p:val>
                                        </p:tav>
                                        <p:tav tm="100000">
                                          <p:val>
                                            <p:strVal val="#ppt_h"/>
                                          </p:val>
                                        </p:tav>
                                      </p:tavLst>
                                    </p:anim>
                                  </p:childTnLst>
                                </p:cTn>
                              </p:par>
                            </p:childTnLst>
                          </p:cTn>
                        </p:par>
                        <p:par>
                          <p:cTn id="151" fill="hold">
                            <p:stCondLst>
                              <p:cond delay="150"/>
                            </p:stCondLst>
                            <p:childTnLst>
                              <p:par>
                                <p:cTn id="152" presetID="10" presetClass="entr" presetSubtype="0" fill="hold" grpId="0" nodeType="afterEffect">
                                  <p:stCondLst>
                                    <p:cond delay="0"/>
                                  </p:stCondLst>
                                  <p:childTnLst>
                                    <p:set>
                                      <p:cBhvr>
                                        <p:cTn id="153" dur="1" fill="hold">
                                          <p:stCondLst>
                                            <p:cond delay="0"/>
                                          </p:stCondLst>
                                        </p:cTn>
                                        <p:tgtEl>
                                          <p:spTgt spid="39"/>
                                        </p:tgtEl>
                                        <p:attrNameLst>
                                          <p:attrName>style.visibility</p:attrName>
                                        </p:attrNameLst>
                                      </p:cBhvr>
                                      <p:to>
                                        <p:strVal val="visible"/>
                                      </p:to>
                                    </p:set>
                                    <p:animEffect transition="in" filter="fade">
                                      <p:cBhvr>
                                        <p:cTn id="154" dur="550"/>
                                        <p:tgtEl>
                                          <p:spTgt spid="39"/>
                                        </p:tgtEl>
                                      </p:cBhvr>
                                    </p:animEffect>
                                  </p:childTnLst>
                                </p:cTn>
                              </p:par>
                            </p:childTnLst>
                          </p:cTn>
                        </p:par>
                        <p:par>
                          <p:cTn id="155" fill="hold">
                            <p:stCondLst>
                              <p:cond delay="350"/>
                            </p:stCondLst>
                            <p:childTnLst>
                              <p:par>
                                <p:cTn id="156" presetID="53" presetClass="entr" presetSubtype="16" fill="hold" grpId="0" nodeType="afterEffect">
                                  <p:stCondLst>
                                    <p:cond delay="0"/>
                                  </p:stCondLst>
                                  <p:childTnLst>
                                    <p:set>
                                      <p:cBhvr>
                                        <p:cTn id="157" dur="1" fill="hold">
                                          <p:stCondLst>
                                            <p:cond delay="0"/>
                                          </p:stCondLst>
                                        </p:cTn>
                                        <p:tgtEl>
                                          <p:spTgt spid="40"/>
                                        </p:tgtEl>
                                        <p:attrNameLst>
                                          <p:attrName>style.visibility</p:attrName>
                                        </p:attrNameLst>
                                      </p:cBhvr>
                                      <p:to>
                                        <p:strVal val="visible"/>
                                      </p:to>
                                    </p:set>
                                    <p:animEffect transition="in" filter="fade">
                                      <p:cBhvr>
                                        <p:cTn id="158" dur="550"/>
                                        <p:tgtEl>
                                          <p:spTgt spid="40"/>
                                        </p:tgtEl>
                                      </p:cBhvr>
                                    </p:animEffect>
                                    <p:anim calcmode="lin" valueType="num">
                                      <p:cBhvr additive="base">
                                        <p:cTn id="159" dur="550" fill="hold"/>
                                        <p:tgtEl>
                                          <p:spTgt spid="40"/>
                                        </p:tgtEl>
                                        <p:attrNameLst>
                                          <p:attrName>ppt_w</p:attrName>
                                        </p:attrNameLst>
                                      </p:cBhvr>
                                      <p:tavLst>
                                        <p:tav tm="0">
                                          <p:val>
                                            <p:strVal val="0"/>
                                          </p:val>
                                        </p:tav>
                                        <p:tav tm="100000">
                                          <p:val>
                                            <p:strVal val="#ppt_w"/>
                                          </p:val>
                                        </p:tav>
                                      </p:tavLst>
                                    </p:anim>
                                    <p:anim calcmode="lin" valueType="num">
                                      <p:cBhvr additive="base">
                                        <p:cTn id="160" dur="550" fill="hold"/>
                                        <p:tgtEl>
                                          <p:spTgt spid="40"/>
                                        </p:tgtEl>
                                        <p:attrNameLst>
                                          <p:attrName>ppt_h</p:attrName>
                                        </p:attrNameLst>
                                      </p:cBhvr>
                                      <p:tavLst>
                                        <p:tav tm="0">
                                          <p:val>
                                            <p:strVal val="0"/>
                                          </p:val>
                                        </p:tav>
                                        <p:tav tm="100000">
                                          <p:val>
                                            <p:strVal val="#ppt_h"/>
                                          </p:val>
                                        </p:tav>
                                      </p:tavLst>
                                    </p:anim>
                                  </p:childTnLst>
                                </p:cTn>
                              </p:par>
                            </p:childTnLst>
                          </p:cTn>
                        </p:par>
                        <p:par>
                          <p:cTn id="161" fill="hold">
                            <p:stCondLst>
                              <p:cond delay="450"/>
                            </p:stCondLst>
                            <p:childTnLst>
                              <p:par>
                                <p:cTn id="162" presetID="10" presetClass="entr" presetSubtype="0" fill="hold" grpId="0" nodeType="afterEffect">
                                  <p:stCondLst>
                                    <p:cond delay="0"/>
                                  </p:stCondLst>
                                  <p:childTnLst>
                                    <p:set>
                                      <p:cBhvr>
                                        <p:cTn id="163" dur="1" fill="hold">
                                          <p:stCondLst>
                                            <p:cond delay="0"/>
                                          </p:stCondLst>
                                        </p:cTn>
                                        <p:tgtEl>
                                          <p:spTgt spid="41"/>
                                        </p:tgtEl>
                                        <p:attrNameLst>
                                          <p:attrName>style.visibility</p:attrName>
                                        </p:attrNameLst>
                                      </p:cBhvr>
                                      <p:to>
                                        <p:strVal val="visible"/>
                                      </p:to>
                                    </p:set>
                                    <p:animEffect transition="in" filter="fade">
                                      <p:cBhvr>
                                        <p:cTn id="164" dur="550"/>
                                        <p:tgtEl>
                                          <p:spTgt spid="41"/>
                                        </p:tgtEl>
                                      </p:cBhvr>
                                    </p:animEffect>
                                  </p:childTnLst>
                                </p:cTn>
                              </p:par>
                            </p:childTnLst>
                          </p:cTn>
                        </p:par>
                        <p:par>
                          <p:cTn id="165" fill="hold">
                            <p:stCondLst>
                              <p:cond delay="550"/>
                            </p:stCondLst>
                            <p:childTnLst>
                              <p:par>
                                <p:cTn id="166" presetID="2" presetClass="entr" presetSubtype="8" fill="hold" grpId="0" nodeType="afterEffect">
                                  <p:stCondLst>
                                    <p:cond delay="0"/>
                                  </p:stCondLst>
                                  <p:childTnLst>
                                    <p:set>
                                      <p:cBhvr>
                                        <p:cTn id="167" dur="1" fill="hold">
                                          <p:stCondLst>
                                            <p:cond delay="0"/>
                                          </p:stCondLst>
                                        </p:cTn>
                                        <p:tgtEl>
                                          <p:spTgt spid="42"/>
                                        </p:tgtEl>
                                        <p:attrNameLst>
                                          <p:attrName>style.visibility</p:attrName>
                                        </p:attrNameLst>
                                      </p:cBhvr>
                                      <p:to>
                                        <p:strVal val="visible"/>
                                      </p:to>
                                    </p:set>
                                    <p:anim calcmode="lin" valueType="num">
                                      <p:cBhvr additive="base">
                                        <p:cTn id="169" dur="550" fill="hold"/>
                                        <p:tgtEl>
                                          <p:spTgt spid="42"/>
                                        </p:tgtEl>
                                        <p:attrNameLst>
                                          <p:attrName>ppt_x</p:attrName>
                                        </p:attrNameLst>
                                      </p:cBhvr>
                                      <p:tavLst>
                                        <p:tav tm="0">
                                          <p:val>
                                            <p:strVal val="0-#ppt_w/2"/>
                                          </p:val>
                                        </p:tav>
                                        <p:tav tm="100000">
                                          <p:val>
                                            <p:strVal val="#ppt_x"/>
                                          </p:val>
                                        </p:tav>
                                      </p:tavLst>
                                    </p:anim>
                                    <p:anim calcmode="lin" valueType="num">
                                      <p:cBhvr additive="base">
                                        <p:cTn id="170" dur="550" fill="hold"/>
                                        <p:tgtEl>
                                          <p:spTgt spid="42"/>
                                        </p:tgtEl>
                                        <p:attrNameLst>
                                          <p:attrName>ppt_y</p:attrName>
                                        </p:attrNameLst>
                                      </p:cBhvr>
                                      <p:tavLst>
                                        <p:tav tm="0">
                                          <p:val>
                                            <p:strVal val="#ppt_y"/>
                                          </p:val>
                                        </p:tav>
                                        <p:tav tm="100000">
                                          <p:val>
                                            <p:strVal val="#ppt_y"/>
                                          </p:val>
                                        </p:tav>
                                      </p:tavLst>
                                    </p:anim>
                                  </p:childTnLst>
                                </p:cTn>
                              </p:par>
                            </p:childTnLst>
                          </p:cTn>
                        </p:par>
                        <p:par>
                          <p:cTn id="171" fill="hold">
                            <p:stCondLst>
                              <p:cond delay="650"/>
                            </p:stCondLst>
                            <p:childTnLst>
                              <p:par>
                                <p:cTn id="172" presetID="22" presetClass="entr" presetSubtype="8" fill="hold" grpId="0" nodeType="afterEffect">
                                  <p:stCondLst>
                                    <p:cond delay="0"/>
                                  </p:stCondLst>
                                  <p:childTnLst>
                                    <p:set>
                                      <p:cBhvr>
                                        <p:cTn id="173" dur="1" fill="hold">
                                          <p:stCondLst>
                                            <p:cond delay="0"/>
                                          </p:stCondLst>
                                        </p:cTn>
                                        <p:tgtEl>
                                          <p:spTgt spid="43"/>
                                        </p:tgtEl>
                                        <p:attrNameLst>
                                          <p:attrName>style.visibility</p:attrName>
                                        </p:attrNameLst>
                                      </p:cBhvr>
                                      <p:to>
                                        <p:strVal val="visible"/>
                                      </p:to>
                                    </p:set>
                                    <p:animEffect transition="in" filter="wipe(left)">
                                      <p:cBhvr>
                                        <p:cTn id="175"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6-REJA</a:t>
            </a:r>
          </a:p>
        </p:txBody>
      </p:sp>
      <p:sp>
        <p:nvSpPr>
          <p:cNvPr id="23" name="TextBox 22"/>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IoT va Edge AI integratsiyasi</a:t>
            </a:r>
          </a:p>
        </p:txBody>
      </p:sp>
      <p:sp>
        <p:nvSpPr>
          <p:cNvPr id="24" name="Rectangle 23"/>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6" name="Rounded Rectangle 25"/>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19</a:t>
            </a:r>
          </a:p>
        </p:txBody>
      </p:sp>
      <p:sp>
        <p:nvSpPr>
          <p:cNvPr id="27" name="Rounded Rectangle 26"/>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e2ce123b9a0f5e6f.jpg"/>
          <p:cNvPicPr>
            <a:picLocks noChangeAspect="1"/>
          </p:cNvPicPr>
          <p:nvPr/>
        </p:nvPicPr>
        <p:blipFill>
          <a:blip r:embed="rId2"/>
          <a:srcRect t="6303" b="6303"/>
          <a:stretch>
            <a:fillRect/>
          </a:stretch>
        </p:blipFill>
        <p:spPr>
          <a:xfrm>
            <a:off x="7620000" y="1430000"/>
            <a:ext cx="4050000" cy="4250000"/>
          </a:xfrm>
          <a:prstGeom prst="roundRect">
            <a:avLst/>
          </a:prstGeom>
          <a:ln w="19050">
            <a:solidFill>
              <a:srgbClr val="22D3EE"/>
            </a:solidFill>
          </a:ln>
        </p:spPr>
      </p:pic>
      <p:sp>
        <p:nvSpPr>
          <p:cNvPr id="29" name="TextBox 28"/>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Ubahnverleih · Wikimedia Commons · CC0</a:t>
            </a:r>
          </a:p>
        </p:txBody>
      </p:sp>
      <p:sp>
        <p:nvSpPr>
          <p:cNvPr id="30" name="Rounded Rectangle 29"/>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1" name="Rounded Rectangle 30"/>
          <p:cNvSpPr/>
          <p:nvPr/>
        </p:nvSpPr>
        <p:spPr>
          <a:xfrm>
            <a:off x="550000" y="2552104"/>
            <a:ext cx="6750000" cy="247579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2632104"/>
            <a:ext cx="50000" cy="23157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4" name="TextBox 33"/>
          <p:cNvSpPr txBox="1"/>
          <p:nvPr/>
        </p:nvSpPr>
        <p:spPr>
          <a:xfrm>
            <a:off x="1300000" y="2592104"/>
            <a:ext cx="5900000" cy="2395792"/>
          </a:xfrm>
          <a:prstGeom prst="rect">
            <a:avLst/>
          </a:prstGeom>
          <a:noFill/>
        </p:spPr>
        <p:txBody>
          <a:bodyPr wrap="square" anchor="ctr">
            <a:spAutoFit/>
          </a:bodyPr>
          <a:lstStyle/>
          <a:p>
            <a:r>
              <a:rPr sz="1700" b="1">
                <a:solidFill>
                  <a:srgbClr val="E8EEFA"/>
                </a:solidFill>
                <a:latin typeface="Segoe UI"/>
              </a:rPr>
              <a:t>Internet buyumlari (IoT) tizimlarida chekka intellekt uch qatlamli arxitekturada ishlaydi: qurilmalar (sensorlar, kameralar, kontrollerlar) → shlyuz yoki chekka server (ma'lumot yig'ish, oldingi filtrlash, mahalliy inferens, vaqtincha saqlash) → bulut (uzoq…</a:t>
            </a:r>
          </a:p>
          <a:p>
            <a:pPr>
              <a:spcBef>
                <a:spcPts val="400"/>
              </a:spcBef>
            </a:pPr>
            <a:r>
              <a:rPr sz="1600">
                <a:solidFill>
                  <a:srgbClr val="AEBBD9"/>
                </a:solidFill>
                <a:latin typeface="Segoe UI"/>
              </a:rPr>
              <a:t>Aloqa protokollari: MQTT (yengil publish/subscribe, tarmoq uzilishiga chidamli), CoAP, AMQP, sanoatda OPC UA va Modbus.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550"/>
                                        <p:tgtEl>
                                          <p:spTgt spid="2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1" dur="800"/>
                                        <p:tgtEl>
                                          <p:spTgt spid="24"/>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50"/>
                                        <p:tgtEl>
                                          <p:spTgt spid="27"/>
                                        </p:tgtEl>
                                      </p:cBhvr>
                                    </p:animEffect>
                                    <p:anim calcmode="lin" valueType="num">
                                      <p:cBhvr additive="base">
                                        <p:cTn id="16" dur="550" fill="hold"/>
                                        <p:tgtEl>
                                          <p:spTgt spid="27"/>
                                        </p:tgtEl>
                                        <p:attrNameLst>
                                          <p:attrName>ppt_w</p:attrName>
                                        </p:attrNameLst>
                                      </p:cBhvr>
                                      <p:tavLst>
                                        <p:tav tm="0">
                                          <p:val>
                                            <p:strVal val="0"/>
                                          </p:val>
                                        </p:tav>
                                        <p:tav tm="100000">
                                          <p:val>
                                            <p:strVal val="#ppt_w"/>
                                          </p:val>
                                        </p:tav>
                                      </p:tavLst>
                                    </p:anim>
                                    <p:anim calcmode="lin" valueType="num">
                                      <p:cBhvr additive="base">
                                        <p:cTn id="17" dur="550" fill="hold"/>
                                        <p:tgtEl>
                                          <p:spTgt spid="27"/>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50"/>
                                        <p:tgtEl>
                                          <p:spTgt spid="28"/>
                                        </p:tgtEl>
                                      </p:cBhvr>
                                    </p:animEffect>
                                    <p:anim calcmode="lin" valueType="num">
                                      <p:cBhvr additive="base">
                                        <p:cTn id="22" dur="550" fill="hold"/>
                                        <p:tgtEl>
                                          <p:spTgt spid="28"/>
                                        </p:tgtEl>
                                        <p:attrNameLst>
                                          <p:attrName>ppt_w</p:attrName>
                                        </p:attrNameLst>
                                      </p:cBhvr>
                                      <p:tavLst>
                                        <p:tav tm="0">
                                          <p:val>
                                            <p:strVal val="0"/>
                                          </p:val>
                                        </p:tav>
                                        <p:tav tm="100000">
                                          <p:val>
                                            <p:strVal val="#ppt_w"/>
                                          </p:val>
                                        </p:tav>
                                      </p:tavLst>
                                    </p:anim>
                                    <p:anim calcmode="lin" valueType="num">
                                      <p:cBhvr additive="base">
                                        <p:cTn id="23" dur="550" fill="hold"/>
                                        <p:tgtEl>
                                          <p:spTgt spid="28"/>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50"/>
                                        <p:tgtEl>
                                          <p:spTgt spid="30"/>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50"/>
                                        <p:tgtEl>
                                          <p:spTgt spid="29"/>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50"/>
                                        <p:tgtEl>
                                          <p:spTgt spid="31"/>
                                        </p:tgtEl>
                                      </p:cBhvr>
                                    </p:animEffect>
                                    <p:anim calcmode="lin" valueType="num">
                                      <p:cBhvr additive="base">
                                        <p:cTn id="36" dur="550" fill="hold"/>
                                        <p:tgtEl>
                                          <p:spTgt spid="31"/>
                                        </p:tgtEl>
                                        <p:attrNameLst>
                                          <p:attrName>ppt_x</p:attrName>
                                        </p:attrNameLst>
                                      </p:cBhvr>
                                      <p:tavLst>
                                        <p:tav tm="0">
                                          <p:val>
                                            <p:strVal val="#ppt_x"/>
                                          </p:val>
                                        </p:tav>
                                        <p:tav tm="100000">
                                          <p:val>
                                            <p:strVal val="#ppt_x"/>
                                          </p:val>
                                        </p:tav>
                                      </p:tavLst>
                                    </p:anim>
                                    <p:anim calcmode="lin" valueType="num">
                                      <p:cBhvr additive="base">
                                        <p:cTn id="37" dur="550" fill="hold"/>
                                        <p:tgtEl>
                                          <p:spTgt spid="31"/>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550"/>
                                        <p:tgtEl>
                                          <p:spTgt spid="32"/>
                                        </p:tgtEl>
                                      </p:cBhvr>
                                    </p:animEffect>
                                    <p:anim calcmode="lin" valueType="num">
                                      <p:cBhvr additive="base">
                                        <p:cTn id="42" dur="550" fill="hold"/>
                                        <p:tgtEl>
                                          <p:spTgt spid="32"/>
                                        </p:tgtEl>
                                        <p:attrNameLst>
                                          <p:attrName>ppt_x</p:attrName>
                                        </p:attrNameLst>
                                      </p:cBhvr>
                                      <p:tavLst>
                                        <p:tav tm="0">
                                          <p:val>
                                            <p:strVal val="#ppt_x"/>
                                          </p:val>
                                        </p:tav>
                                        <p:tav tm="100000">
                                          <p:val>
                                            <p:strVal val="#ppt_x"/>
                                          </p:val>
                                        </p:tav>
                                      </p:tavLst>
                                    </p:anim>
                                    <p:anim calcmode="lin" valueType="num">
                                      <p:cBhvr additive="base">
                                        <p:cTn id="43" dur="550" fill="hold"/>
                                        <p:tgtEl>
                                          <p:spTgt spid="32"/>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50"/>
                                        <p:tgtEl>
                                          <p:spTgt spid="33"/>
                                        </p:tgtEl>
                                      </p:cBhvr>
                                    </p:animEffect>
                                    <p:anim calcmode="lin" valueType="num">
                                      <p:cBhvr additive="base">
                                        <p:cTn id="48" dur="550" fill="hold"/>
                                        <p:tgtEl>
                                          <p:spTgt spid="33"/>
                                        </p:tgtEl>
                                        <p:attrNameLst>
                                          <p:attrName>ppt_w</p:attrName>
                                        </p:attrNameLst>
                                      </p:cBhvr>
                                      <p:tavLst>
                                        <p:tav tm="0">
                                          <p:val>
                                            <p:strVal val="0"/>
                                          </p:val>
                                        </p:tav>
                                        <p:tav tm="100000">
                                          <p:val>
                                            <p:strVal val="#ppt_w"/>
                                          </p:val>
                                        </p:tav>
                                      </p:tavLst>
                                    </p:anim>
                                    <p:anim calcmode="lin" valueType="num">
                                      <p:cBhvr additive="base">
                                        <p:cTn id="49" dur="550" fill="hold"/>
                                        <p:tgtEl>
                                          <p:spTgt spid="33"/>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50"/>
                                        <p:tgtEl>
                                          <p:spTgt spid="34"/>
                                        </p:tgtEl>
                                      </p:cBhvr>
                                    </p:animEffect>
                                    <p:anim calcmode="lin" valueType="num">
                                      <p:cBhvr additive="base">
                                        <p:cTn id="54" dur="550" fill="hold"/>
                                        <p:tgtEl>
                                          <p:spTgt spid="34"/>
                                        </p:tgtEl>
                                        <p:attrNameLst>
                                          <p:attrName>ppt_x</p:attrName>
                                        </p:attrNameLst>
                                      </p:cBhvr>
                                      <p:tavLst>
                                        <p:tav tm="0">
                                          <p:val>
                                            <p:strVal val="#ppt_x"/>
                                          </p:val>
                                        </p:tav>
                                        <p:tav tm="100000">
                                          <p:val>
                                            <p:strVal val="#ppt_x"/>
                                          </p:val>
                                        </p:tav>
                                      </p:tavLst>
                                    </p:anim>
                                    <p:anim calcmode="lin" valueType="num">
                                      <p:cBhvr additive="base">
                                        <p:cTn id="55"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30" grpId="0" animBg="1"/>
      <p:bldP spid="29" grpId="0" animBg="1"/>
      <p:bldP spid="31" grpId="0" animBg="1"/>
      <p:bldP spid="32" grpId="0" animBg="1"/>
      <p:bldP spid="33" grpId="0" animBg="1"/>
      <p:bldP spid="34"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6-REJA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IoT va Edge AI integratsiyasi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20</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e46e04a5f39832b3.jpg"/>
          <p:cNvPicPr>
            <a:picLocks noChangeAspect="1"/>
          </p:cNvPicPr>
          <p:nvPr/>
        </p:nvPicPr>
        <p:blipFill>
          <a:blip r:embed="rId2"/>
          <a:srcRect l="18322" r="18322"/>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Gareth Halfacree from Bradford, UK · Wikimedia Commons · CC BY-SA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762128"/>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842128"/>
            <a:ext cx="50000" cy="1812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54856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0" name="TextBox 29"/>
          <p:cNvSpPr txBox="1"/>
          <p:nvPr/>
        </p:nvSpPr>
        <p:spPr>
          <a:xfrm>
            <a:off x="1300000" y="1802128"/>
            <a:ext cx="5900000" cy="1892872"/>
          </a:xfrm>
          <a:prstGeom prst="rect">
            <a:avLst/>
          </a:prstGeom>
          <a:noFill/>
        </p:spPr>
        <p:txBody>
          <a:bodyPr wrap="square" anchor="ctr">
            <a:spAutoFit/>
          </a:bodyPr>
          <a:lstStyle/>
          <a:p>
            <a:r>
              <a:rPr sz="1500" b="1">
                <a:solidFill>
                  <a:srgbClr val="E8EEFA"/>
                </a:solidFill>
                <a:latin typeface="Segoe UI"/>
              </a:rPr>
              <a:t>Model yangilash (OTA — over-the-air update) Edge AI'ning muhim tarkibiy qismi: model kuzatilgan ma'lumotda eskiradi (drift), yangi sinflar kerak bo'ladi, xatolar tuzatiladi.</a:t>
            </a:r>
          </a:p>
          <a:p>
            <a:pPr>
              <a:spcBef>
                <a:spcPts val="400"/>
              </a:spcBef>
            </a:pPr>
            <a:r>
              <a:rPr sz="1400">
                <a:solidFill>
                  <a:srgbClr val="AEBBD9"/>
                </a:solidFill>
                <a:latin typeface="Segoe UI"/>
              </a:rPr>
              <a:t>OTA tizimi versiyalash, imzolangan paketlar, bosqichma-bosqich tarqatish (canary) va muvaffaqiyatsizlikda avtomatik orqaga qaytishni ta'minlashi kerak. Bu MLOps (M12) va xavfsizlik (M9) mavzulari bilan kesishadi.</a:t>
            </a:r>
          </a:p>
        </p:txBody>
      </p:sp>
      <p:sp>
        <p:nvSpPr>
          <p:cNvPr id="31" name="Rounded Rectangle 30"/>
          <p:cNvSpPr/>
          <p:nvPr/>
        </p:nvSpPr>
        <p:spPr>
          <a:xfrm>
            <a:off x="550000" y="3845000"/>
            <a:ext cx="6750000" cy="19728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181287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631436"/>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4" name="TextBox 33"/>
          <p:cNvSpPr txBox="1"/>
          <p:nvPr/>
        </p:nvSpPr>
        <p:spPr>
          <a:xfrm>
            <a:off x="1300000" y="3885000"/>
            <a:ext cx="5900000" cy="1892872"/>
          </a:xfrm>
          <a:prstGeom prst="rect">
            <a:avLst/>
          </a:prstGeom>
          <a:noFill/>
        </p:spPr>
        <p:txBody>
          <a:bodyPr wrap="square" anchor="ctr">
            <a:spAutoFit/>
          </a:bodyPr>
          <a:lstStyle/>
          <a:p>
            <a:r>
              <a:rPr sz="1400" b="0">
                <a:solidFill>
                  <a:srgbClr val="E8EEFA"/>
                </a:solidFill>
                <a:latin typeface="Segoe UI"/>
              </a:rPr>
              <a:t>Bulut va chekka o'rtasidagi tanlovni quyidagi jadval umumlashtiradi: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6-REJA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IoT va Edge AI integratsiyasi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M6 · Edge AI va intellektual o'rnatilgan kompyuter tizimlari</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21</a:t>
            </a:r>
          </a:p>
        </p:txBody>
      </p:sp>
      <p:graphicFrame>
        <p:nvGraphicFramePr>
          <p:cNvPr id="25" name="Table 24"/>
          <p:cNvGraphicFramePr>
            <a:graphicFrameLocks noGrp="1"/>
          </p:cNvGraphicFramePr>
          <p:nvPr/>
        </p:nvGraphicFramePr>
        <p:xfrm>
          <a:off x="550000" y="1400000"/>
          <a:ext cx="11100000" cy="4160000"/>
        </p:xfrm>
        <a:graphic>
          <a:graphicData uri="http://schemas.openxmlformats.org/drawingml/2006/table">
            <a:tbl>
              <a:tblPr firstRow="1" bandRow="1">
                <a:tableStyleId>{5C22544A-7EE6-4342-B048-85BDC9FD1C3A}</a:tableStyleId>
              </a:tblPr>
              <a:tblGrid>
                <a:gridCol w="3700000"/>
                <a:gridCol w="3700000"/>
                <a:gridCol w="3700000"/>
              </a:tblGrid>
              <a:tr h="520000">
                <a:tc>
                  <a:txBody>
                    <a:bodyPr/>
                    <a:lstStyle/>
                    <a:p>
                      <a:r>
                        <a:rPr sz="1400" b="1">
                          <a:solidFill>
                            <a:srgbClr val="22D3EE"/>
                          </a:solidFill>
                          <a:latin typeface="Segoe UI"/>
                        </a:rPr>
                        <a:t>Mezon</a:t>
                      </a:r>
                    </a:p>
                  </a:txBody>
                  <a:tcPr>
                    <a:solidFill>
                      <a:srgbClr val="1C2755"/>
                    </a:solidFill>
                  </a:tcPr>
                </a:tc>
                <a:tc>
                  <a:txBody>
                    <a:bodyPr/>
                    <a:lstStyle/>
                    <a:p>
                      <a:r>
                        <a:rPr sz="1400" b="1">
                          <a:solidFill>
                            <a:srgbClr val="22D3EE"/>
                          </a:solidFill>
                          <a:latin typeface="Segoe UI"/>
                        </a:rPr>
                        <a:t>Bulut inferens</a:t>
                      </a:r>
                    </a:p>
                  </a:txBody>
                  <a:tcPr>
                    <a:solidFill>
                      <a:srgbClr val="1C2755"/>
                    </a:solidFill>
                  </a:tcPr>
                </a:tc>
                <a:tc>
                  <a:txBody>
                    <a:bodyPr/>
                    <a:lstStyle/>
                    <a:p>
                      <a:r>
                        <a:rPr sz="1400" b="1">
                          <a:solidFill>
                            <a:srgbClr val="22D3EE"/>
                          </a:solidFill>
                          <a:latin typeface="Segoe UI"/>
                        </a:rPr>
                        <a:t>Chekka inferens</a:t>
                      </a:r>
                    </a:p>
                  </a:txBody>
                  <a:tcPr>
                    <a:solidFill>
                      <a:srgbClr val="1C2755"/>
                    </a:solidFill>
                  </a:tcPr>
                </a:tc>
              </a:tr>
              <a:tr h="520000">
                <a:tc>
                  <a:txBody>
                    <a:bodyPr/>
                    <a:lstStyle/>
                    <a:p>
                      <a:r>
                        <a:rPr sz="1400" b="0">
                          <a:solidFill>
                            <a:srgbClr val="E8EEFA"/>
                          </a:solidFill>
                          <a:latin typeface="Segoe UI"/>
                        </a:rPr>
                        <a:t>Kechikish</a:t>
                      </a:r>
                    </a:p>
                  </a:txBody>
                  <a:tcPr>
                    <a:solidFill>
                      <a:srgbClr val="111834"/>
                    </a:solidFill>
                  </a:tcPr>
                </a:tc>
                <a:tc>
                  <a:txBody>
                    <a:bodyPr/>
                    <a:lstStyle/>
                    <a:p>
                      <a:r>
                        <a:rPr sz="1400" b="0">
                          <a:solidFill>
                            <a:srgbClr val="E8EEFA"/>
                          </a:solidFill>
                          <a:latin typeface="Segoe UI"/>
                        </a:rPr>
                        <a:t>50–500 ms (tarmoqqa bog'liq)</a:t>
                      </a:r>
                    </a:p>
                  </a:txBody>
                  <a:tcPr>
                    <a:solidFill>
                      <a:srgbClr val="111834"/>
                    </a:solidFill>
                  </a:tcPr>
                </a:tc>
                <a:tc>
                  <a:txBody>
                    <a:bodyPr/>
                    <a:lstStyle/>
                    <a:p>
                      <a:r>
                        <a:rPr sz="1400" b="0">
                          <a:solidFill>
                            <a:srgbClr val="E8EEFA"/>
                          </a:solidFill>
                          <a:latin typeface="Segoe UI"/>
                        </a:rPr>
                        <a:t>5–50 ms, bashoratli</a:t>
                      </a:r>
                    </a:p>
                  </a:txBody>
                  <a:tcPr>
                    <a:solidFill>
                      <a:srgbClr val="111834"/>
                    </a:solidFill>
                  </a:tcPr>
                </a:tc>
              </a:tr>
              <a:tr h="520000">
                <a:tc>
                  <a:txBody>
                    <a:bodyPr/>
                    <a:lstStyle/>
                    <a:p>
                      <a:r>
                        <a:rPr sz="1400" b="0">
                          <a:solidFill>
                            <a:srgbClr val="E8EEFA"/>
                          </a:solidFill>
                          <a:latin typeface="Segoe UI"/>
                        </a:rPr>
                        <a:t>Model hajmi</a:t>
                      </a:r>
                    </a:p>
                  </a:txBody>
                  <a:tcPr>
                    <a:solidFill>
                      <a:srgbClr val="161F40"/>
                    </a:solidFill>
                  </a:tcPr>
                </a:tc>
                <a:tc>
                  <a:txBody>
                    <a:bodyPr/>
                    <a:lstStyle/>
                    <a:p>
                      <a:r>
                        <a:rPr sz="1400" b="0">
                          <a:solidFill>
                            <a:srgbClr val="E8EEFA"/>
                          </a:solidFill>
                          <a:latin typeface="Segoe UI"/>
                        </a:rPr>
                        <a:t>cheklanmagan</a:t>
                      </a:r>
                    </a:p>
                  </a:txBody>
                  <a:tcPr>
                    <a:solidFill>
                      <a:srgbClr val="161F40"/>
                    </a:solidFill>
                  </a:tcPr>
                </a:tc>
                <a:tc>
                  <a:txBody>
                    <a:bodyPr/>
                    <a:lstStyle/>
                    <a:p>
                      <a:r>
                        <a:rPr sz="1400" b="0">
                          <a:solidFill>
                            <a:srgbClr val="E8EEFA"/>
                          </a:solidFill>
                          <a:latin typeface="Segoe UI"/>
                        </a:rPr>
                        <a:t>odatda 1–500 MB, TinyML'da KB'lar</a:t>
                      </a:r>
                    </a:p>
                  </a:txBody>
                  <a:tcPr>
                    <a:solidFill>
                      <a:srgbClr val="161F40"/>
                    </a:solidFill>
                  </a:tcPr>
                </a:tc>
              </a:tr>
              <a:tr h="520000">
                <a:tc>
                  <a:txBody>
                    <a:bodyPr/>
                    <a:lstStyle/>
                    <a:p>
                      <a:r>
                        <a:rPr sz="1400" b="0">
                          <a:solidFill>
                            <a:srgbClr val="E8EEFA"/>
                          </a:solidFill>
                          <a:latin typeface="Segoe UI"/>
                        </a:rPr>
                        <a:t>Yangilash</a:t>
                      </a:r>
                    </a:p>
                  </a:txBody>
                  <a:tcPr>
                    <a:solidFill>
                      <a:srgbClr val="111834"/>
                    </a:solidFill>
                  </a:tcPr>
                </a:tc>
                <a:tc>
                  <a:txBody>
                    <a:bodyPr/>
                    <a:lstStyle/>
                    <a:p>
                      <a:r>
                        <a:rPr sz="1400" b="0">
                          <a:solidFill>
                            <a:srgbClr val="E8EEFA"/>
                          </a:solidFill>
                          <a:latin typeface="Segoe UI"/>
                        </a:rPr>
                        <a:t>markazlashgan, oson</a:t>
                      </a:r>
                    </a:p>
                  </a:txBody>
                  <a:tcPr>
                    <a:solidFill>
                      <a:srgbClr val="111834"/>
                    </a:solidFill>
                  </a:tcPr>
                </a:tc>
                <a:tc>
                  <a:txBody>
                    <a:bodyPr/>
                    <a:lstStyle/>
                    <a:p>
                      <a:r>
                        <a:rPr sz="1400" b="0">
                          <a:solidFill>
                            <a:srgbClr val="E8EEFA"/>
                          </a:solidFill>
                          <a:latin typeface="Segoe UI"/>
                        </a:rPr>
                        <a:t>OTA tizimi talab qiladi</a:t>
                      </a:r>
                    </a:p>
                  </a:txBody>
                  <a:tcPr>
                    <a:solidFill>
                      <a:srgbClr val="111834"/>
                    </a:solidFill>
                  </a:tcPr>
                </a:tc>
              </a:tr>
              <a:tr h="520000">
                <a:tc>
                  <a:txBody>
                    <a:bodyPr/>
                    <a:lstStyle/>
                    <a:p>
                      <a:r>
                        <a:rPr sz="1400" b="0">
                          <a:solidFill>
                            <a:srgbClr val="E8EEFA"/>
                          </a:solidFill>
                          <a:latin typeface="Segoe UI"/>
                        </a:rPr>
                        <a:t>Narx</a:t>
                      </a:r>
                    </a:p>
                  </a:txBody>
                  <a:tcPr>
                    <a:solidFill>
                      <a:srgbClr val="161F40"/>
                    </a:solidFill>
                  </a:tcPr>
                </a:tc>
                <a:tc>
                  <a:txBody>
                    <a:bodyPr/>
                    <a:lstStyle/>
                    <a:p>
                      <a:r>
                        <a:rPr sz="1400" b="0">
                          <a:solidFill>
                            <a:srgbClr val="E8EEFA"/>
                          </a:solidFill>
                          <a:latin typeface="Segoe UI"/>
                        </a:rPr>
                        <a:t>so'rov hajmiga proporsional</a:t>
                      </a:r>
                    </a:p>
                  </a:txBody>
                  <a:tcPr>
                    <a:solidFill>
                      <a:srgbClr val="161F40"/>
                    </a:solidFill>
                  </a:tcPr>
                </a:tc>
                <a:tc>
                  <a:txBody>
                    <a:bodyPr/>
                    <a:lstStyle/>
                    <a:p>
                      <a:r>
                        <a:rPr sz="1400" b="0">
                          <a:solidFill>
                            <a:srgbClr val="E8EEFA"/>
                          </a:solidFill>
                          <a:latin typeface="Segoe UI"/>
                        </a:rPr>
                        <a:t>bir martalik apparat + texnik xizmat</a:t>
                      </a:r>
                    </a:p>
                  </a:txBody>
                  <a:tcPr>
                    <a:solidFill>
                      <a:srgbClr val="161F40"/>
                    </a:solidFill>
                  </a:tcPr>
                </a:tc>
              </a:tr>
              <a:tr h="520000">
                <a:tc>
                  <a:txBody>
                    <a:bodyPr/>
                    <a:lstStyle/>
                    <a:p>
                      <a:r>
                        <a:rPr sz="1400" b="0">
                          <a:solidFill>
                            <a:srgbClr val="E8EEFA"/>
                          </a:solidFill>
                          <a:latin typeface="Segoe UI"/>
                        </a:rPr>
                        <a:t>Maxfiylik</a:t>
                      </a:r>
                    </a:p>
                  </a:txBody>
                  <a:tcPr>
                    <a:solidFill>
                      <a:srgbClr val="111834"/>
                    </a:solidFill>
                  </a:tcPr>
                </a:tc>
                <a:tc>
                  <a:txBody>
                    <a:bodyPr/>
                    <a:lstStyle/>
                    <a:p>
                      <a:r>
                        <a:rPr sz="1400" b="0">
                          <a:solidFill>
                            <a:srgbClr val="E8EEFA"/>
                          </a:solidFill>
                          <a:latin typeface="Segoe UI"/>
                        </a:rPr>
                        <a:t>ma'lumot qurilmadan chiqadi</a:t>
                      </a:r>
                    </a:p>
                  </a:txBody>
                  <a:tcPr>
                    <a:solidFill>
                      <a:srgbClr val="111834"/>
                    </a:solidFill>
                  </a:tcPr>
                </a:tc>
                <a:tc>
                  <a:txBody>
                    <a:bodyPr/>
                    <a:lstStyle/>
                    <a:p>
                      <a:r>
                        <a:rPr sz="1400" b="0">
                          <a:solidFill>
                            <a:srgbClr val="E8EEFA"/>
                          </a:solidFill>
                          <a:latin typeface="Segoe UI"/>
                        </a:rPr>
                        <a:t>ma'lumot joyida qoladi</a:t>
                      </a:r>
                    </a:p>
                  </a:txBody>
                  <a:tcPr>
                    <a:solidFill>
                      <a:srgbClr val="111834"/>
                    </a:solidFill>
                  </a:tcPr>
                </a:tc>
              </a:tr>
              <a:tr h="520000">
                <a:tc>
                  <a:txBody>
                    <a:bodyPr/>
                    <a:lstStyle/>
                    <a:p>
                      <a:r>
                        <a:rPr sz="1400" b="0">
                          <a:solidFill>
                            <a:srgbClr val="E8EEFA"/>
                          </a:solidFill>
                          <a:latin typeface="Segoe UI"/>
                        </a:rPr>
                        <a:t>Oflayn ishlash</a:t>
                      </a:r>
                    </a:p>
                  </a:txBody>
                  <a:tcPr>
                    <a:solidFill>
                      <a:srgbClr val="161F40"/>
                    </a:solidFill>
                  </a:tcPr>
                </a:tc>
                <a:tc>
                  <a:txBody>
                    <a:bodyPr/>
                    <a:lstStyle/>
                    <a:p>
                      <a:r>
                        <a:rPr sz="1400" b="0">
                          <a:solidFill>
                            <a:srgbClr val="E8EEFA"/>
                          </a:solidFill>
                          <a:latin typeface="Segoe UI"/>
                        </a:rPr>
                        <a:t>yo'q</a:t>
                      </a:r>
                    </a:p>
                  </a:txBody>
                  <a:tcPr>
                    <a:solidFill>
                      <a:srgbClr val="161F40"/>
                    </a:solidFill>
                  </a:tcPr>
                </a:tc>
                <a:tc>
                  <a:txBody>
                    <a:bodyPr/>
                    <a:lstStyle/>
                    <a:p>
                      <a:r>
                        <a:rPr sz="1400" b="0">
                          <a:solidFill>
                            <a:srgbClr val="E8EEFA"/>
                          </a:solidFill>
                          <a:latin typeface="Segoe UI"/>
                        </a:rPr>
                        <a:t>ha</a:t>
                      </a:r>
                    </a:p>
                  </a:txBody>
                  <a:tcPr>
                    <a:solidFill>
                      <a:srgbClr val="161F40"/>
                    </a:solidFill>
                  </a:tcPr>
                </a:tc>
              </a:tr>
              <a:tr h="520000">
                <a:tc>
                  <a:txBody>
                    <a:bodyPr/>
                    <a:lstStyle/>
                    <a:p>
                      <a:r>
                        <a:rPr sz="1400" b="0">
                          <a:solidFill>
                            <a:srgbClr val="E8EEFA"/>
                          </a:solidFill>
                          <a:latin typeface="Segoe UI"/>
                        </a:rPr>
                        <a:t>Energiya (qurilma)</a:t>
                      </a:r>
                    </a:p>
                  </a:txBody>
                  <a:tcPr>
                    <a:solidFill>
                      <a:srgbClr val="111834"/>
                    </a:solidFill>
                  </a:tcPr>
                </a:tc>
                <a:tc>
                  <a:txBody>
                    <a:bodyPr/>
                    <a:lstStyle/>
                    <a:p>
                      <a:r>
                        <a:rPr sz="1400" b="0">
                          <a:solidFill>
                            <a:srgbClr val="E8EEFA"/>
                          </a:solidFill>
                          <a:latin typeface="Segoe UI"/>
                        </a:rPr>
                        <a:t>radio uzatish</a:t>
                      </a:r>
                    </a:p>
                  </a:txBody>
                  <a:tcPr>
                    <a:solidFill>
                      <a:srgbClr val="111834"/>
                    </a:solidFill>
                  </a:tcPr>
                </a:tc>
                <a:tc>
                  <a:txBody>
                    <a:bodyPr/>
                    <a:lstStyle/>
                    <a:p>
                      <a:r>
                        <a:rPr sz="1400" b="0">
                          <a:solidFill>
                            <a:srgbClr val="E8EEFA"/>
                          </a:solidFill>
                          <a:latin typeface="Segoe UI"/>
                        </a:rPr>
                        <a:t>hisoblash</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6" dur="8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80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00000" y="9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0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0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0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0000" y="1300000"/>
            <a:ext cx="2650000" cy="2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00000" y="766666"/>
            <a:ext cx="2650000" cy="9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0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00000" y="15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0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450000" y="728571"/>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0000" y="766666"/>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5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450000" y="766666"/>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450000" y="728571"/>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45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45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450000" y="957142"/>
            <a:ext cx="2650000" cy="34285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450000" y="1185714"/>
            <a:ext cx="2650000" cy="11428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450000" y="1300000"/>
            <a:ext cx="2650000" cy="11428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5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45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5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45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5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450000" y="728571"/>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5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450000" y="1414285"/>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00000" y="728571"/>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100000" y="728571"/>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0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00000" y="728571"/>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00000" y="957142"/>
            <a:ext cx="2650000" cy="34285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0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10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100000" y="1185714"/>
            <a:ext cx="2650000" cy="11428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00000" y="1185714"/>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0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10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6100000" y="1300000"/>
            <a:ext cx="2650000" cy="11428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0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00000" y="1414285"/>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10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10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100000" y="1566666"/>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10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100000" y="1300000"/>
            <a:ext cx="2650000" cy="57142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10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10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75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75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750000" y="9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750000" y="1033333"/>
            <a:ext cx="2650000" cy="6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75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75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75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75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750000" y="1300000"/>
            <a:ext cx="2650000" cy="2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750000" y="15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75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75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75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7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3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3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3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3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3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030000" y="658571"/>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030000" y="887142"/>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030000" y="1115714"/>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030000" y="1344285"/>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030000" y="1572857"/>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030000" y="1801428"/>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6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6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6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86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86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13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13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3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0000" y="2500000"/>
            <a:ext cx="10800000" cy="1100000"/>
          </a:xfrm>
          <a:prstGeom prst="rect">
            <a:avLst/>
          </a:prstGeom>
          <a:noFill/>
        </p:spPr>
        <p:txBody>
          <a:bodyPr wrap="square" anchor="t" lIns="50800" rIns="50800">
            <a:spAutoFit/>
          </a:bodyPr>
          <a:lstStyle/>
          <a:p>
            <a:pPr algn="ctr"/>
            <a:r>
              <a:rPr sz="4400" b="1">
                <a:solidFill>
                  <a:srgbClr val="E8EEFA"/>
                </a:solidFill>
                <a:latin typeface="Segoe UI"/>
              </a:rPr>
              <a:t>E’tiboringiz uchun rahmat!</a:t>
            </a:r>
          </a:p>
        </p:txBody>
      </p:sp>
      <p:sp>
        <p:nvSpPr>
          <p:cNvPr id="90" name="Rectangle 89"/>
          <p:cNvSpPr/>
          <p:nvPr/>
        </p:nvSpPr>
        <p:spPr>
          <a:xfrm>
            <a:off x="4800000" y="3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0000" y="3850000"/>
            <a:ext cx="10800000" cy="500000"/>
          </a:xfrm>
          <a:prstGeom prst="rect">
            <a:avLst/>
          </a:prstGeom>
          <a:noFill/>
        </p:spPr>
        <p:txBody>
          <a:bodyPr wrap="square" anchor="t" lIns="50800" rIns="50800">
            <a:spAutoFit/>
          </a:bodyPr>
          <a:lstStyle/>
          <a:p>
            <a:pPr algn="ctr"/>
            <a:r>
              <a:rPr sz="2600" b="1">
                <a:solidFill>
                  <a:srgbClr val="22D3EE"/>
                </a:solidFill>
                <a:latin typeface="Segoe UI"/>
              </a:rPr>
              <a:t>Savollar?</a:t>
            </a:r>
          </a:p>
        </p:txBody>
      </p:sp>
      <p:sp>
        <p:nvSpPr>
          <p:cNvPr id="92" name="TextBox 91"/>
          <p:cNvSpPr txBox="1"/>
          <p:nvPr/>
        </p:nvSpPr>
        <p:spPr>
          <a:xfrm>
            <a:off x="1200000" y="4800000"/>
            <a:ext cx="9800000" cy="800000"/>
          </a:xfrm>
          <a:prstGeom prst="rect">
            <a:avLst/>
          </a:prstGeom>
          <a:noFill/>
        </p:spPr>
        <p:txBody>
          <a:bodyPr wrap="square" anchor="t" lIns="50800" rIns="50800">
            <a:spAutoFit/>
          </a:bodyPr>
          <a:lstStyle/>
          <a:p>
            <a:pPr algn="ctr"/>
            <a:r>
              <a:rPr sz="1400" b="0">
                <a:solidFill>
                  <a:srgbClr val="AEBBD9"/>
                </a:solidFill>
                <a:latin typeface="Segoe UI"/>
              </a:rPr>
              <a:t>Mavzu matni va materiallar: https://aiscan.airi.uz/ktm/#/c/mis2104/mavzu/M6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0"/>
                            </p:stCondLst>
                            <p:childTnLst>
                              <p:par>
                                <p:cTn id="228" presetID="10" presetClass="entr" presetSubtype="0"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fade">
                                      <p:cBhvr>
                                        <p:cTn id="230" dur="550"/>
                                        <p:tgtEl>
                                          <p:spTgt spid="59"/>
                                        </p:tgtEl>
                                      </p:cBhvr>
                                    </p:animEffect>
                                  </p:childTnLst>
                                </p:cTn>
                              </p:par>
                            </p:childTnLst>
                          </p:cTn>
                        </p:par>
                        <p:par>
                          <p:cTn id="231" fill="hold">
                            <p:stCondLst>
                              <p:cond delay="0"/>
                            </p:stCondLst>
                            <p:childTnLst>
                              <p:par>
                                <p:cTn id="232" presetID="10" presetClass="entr" presetSubtype="0" fill="hold" grpId="0" nodeType="afterEffect">
                                  <p:stCondLst>
                                    <p:cond delay="0"/>
                                  </p:stCondLst>
                                  <p:childTnLst>
                                    <p:set>
                                      <p:cBhvr>
                                        <p:cTn id="233" dur="1" fill="hold">
                                          <p:stCondLst>
                                            <p:cond delay="0"/>
                                          </p:stCondLst>
                                        </p:cTn>
                                        <p:tgtEl>
                                          <p:spTgt spid="60"/>
                                        </p:tgtEl>
                                        <p:attrNameLst>
                                          <p:attrName>style.visibility</p:attrName>
                                        </p:attrNameLst>
                                      </p:cBhvr>
                                      <p:to>
                                        <p:strVal val="visible"/>
                                      </p:to>
                                    </p:set>
                                    <p:animEffect transition="in" filter="fade">
                                      <p:cBhvr>
                                        <p:cTn id="234" dur="550"/>
                                        <p:tgtEl>
                                          <p:spTgt spid="60"/>
                                        </p:tgtEl>
                                      </p:cBhvr>
                                    </p:animEffect>
                                  </p:childTnLst>
                                </p:cTn>
                              </p:par>
                            </p:childTnLst>
                          </p:cTn>
                        </p:par>
                        <p:par>
                          <p:cTn id="235" fill="hold">
                            <p:stCondLst>
                              <p:cond delay="0"/>
                            </p:stCondLst>
                            <p:childTnLst>
                              <p:par>
                                <p:cTn id="236" presetID="10" presetClass="entr" presetSubtype="0" fill="hold" grpId="0" nodeType="afterEffect">
                                  <p:stCondLst>
                                    <p:cond delay="0"/>
                                  </p:stCondLst>
                                  <p:childTnLst>
                                    <p:set>
                                      <p:cBhvr>
                                        <p:cTn id="237" dur="1" fill="hold">
                                          <p:stCondLst>
                                            <p:cond delay="0"/>
                                          </p:stCondLst>
                                        </p:cTn>
                                        <p:tgtEl>
                                          <p:spTgt spid="61"/>
                                        </p:tgtEl>
                                        <p:attrNameLst>
                                          <p:attrName>style.visibility</p:attrName>
                                        </p:attrNameLst>
                                      </p:cBhvr>
                                      <p:to>
                                        <p:strVal val="visible"/>
                                      </p:to>
                                    </p:set>
                                    <p:animEffect transition="in" filter="fade">
                                      <p:cBhvr>
                                        <p:cTn id="238" dur="550"/>
                                        <p:tgtEl>
                                          <p:spTgt spid="61"/>
                                        </p:tgtEl>
                                      </p:cBhvr>
                                    </p:animEffect>
                                  </p:childTnLst>
                                </p:cTn>
                              </p:par>
                            </p:childTnLst>
                          </p:cTn>
                        </p:par>
                        <p:par>
                          <p:cTn id="239" fill="hold">
                            <p:stCondLst>
                              <p:cond delay="0"/>
                            </p:stCondLst>
                            <p:childTnLst>
                              <p:par>
                                <p:cTn id="240" presetID="10" presetClass="entr" presetSubtype="0" fill="hold" grpId="0" nodeType="afterEffect">
                                  <p:stCondLst>
                                    <p:cond delay="0"/>
                                  </p:stCondLst>
                                  <p:childTnLst>
                                    <p:set>
                                      <p:cBhvr>
                                        <p:cTn id="241" dur="1" fill="hold">
                                          <p:stCondLst>
                                            <p:cond delay="0"/>
                                          </p:stCondLst>
                                        </p:cTn>
                                        <p:tgtEl>
                                          <p:spTgt spid="62"/>
                                        </p:tgtEl>
                                        <p:attrNameLst>
                                          <p:attrName>style.visibility</p:attrName>
                                        </p:attrNameLst>
                                      </p:cBhvr>
                                      <p:to>
                                        <p:strVal val="visible"/>
                                      </p:to>
                                    </p:set>
                                    <p:animEffect transition="in" filter="fade">
                                      <p:cBhvr>
                                        <p:cTn id="242" dur="550"/>
                                        <p:tgtEl>
                                          <p:spTgt spid="62"/>
                                        </p:tgtEl>
                                      </p:cBhvr>
                                    </p:animEffect>
                                  </p:childTnLst>
                                </p:cTn>
                              </p:par>
                            </p:childTnLst>
                          </p:cTn>
                        </p:par>
                        <p:par>
                          <p:cTn id="243" fill="hold">
                            <p:stCondLst>
                              <p:cond delay="0"/>
                            </p:stCondLst>
                            <p:childTnLst>
                              <p:par>
                                <p:cTn id="244" presetID="10" presetClass="entr" presetSubtype="0" fill="hold" grpId="0" nodeType="afterEffect">
                                  <p:stCondLst>
                                    <p:cond delay="0"/>
                                  </p:stCondLst>
                                  <p:childTnLst>
                                    <p:set>
                                      <p:cBhvr>
                                        <p:cTn id="245" dur="1" fill="hold">
                                          <p:stCondLst>
                                            <p:cond delay="0"/>
                                          </p:stCondLst>
                                        </p:cTn>
                                        <p:tgtEl>
                                          <p:spTgt spid="63"/>
                                        </p:tgtEl>
                                        <p:attrNameLst>
                                          <p:attrName>style.visibility</p:attrName>
                                        </p:attrNameLst>
                                      </p:cBhvr>
                                      <p:to>
                                        <p:strVal val="visible"/>
                                      </p:to>
                                    </p:set>
                                    <p:animEffect transition="in" filter="fade">
                                      <p:cBhvr>
                                        <p:cTn id="246" dur="550"/>
                                        <p:tgtEl>
                                          <p:spTgt spid="63"/>
                                        </p:tgtEl>
                                      </p:cBhvr>
                                    </p:animEffect>
                                  </p:childTnLst>
                                </p:cTn>
                              </p:par>
                            </p:childTnLst>
                          </p:cTn>
                        </p:par>
                        <p:par>
                          <p:cTn id="247" fill="hold">
                            <p:stCondLst>
                              <p:cond delay="0"/>
                            </p:stCondLst>
                            <p:childTnLst>
                              <p:par>
                                <p:cTn id="248" presetID="10" presetClass="entr" presetSubtype="0" fill="hold" grpId="0" nodeType="afterEffect">
                                  <p:stCondLst>
                                    <p:cond delay="0"/>
                                  </p:stCondLst>
                                  <p:childTnLst>
                                    <p:set>
                                      <p:cBhvr>
                                        <p:cTn id="249" dur="1" fill="hold">
                                          <p:stCondLst>
                                            <p:cond delay="0"/>
                                          </p:stCondLst>
                                        </p:cTn>
                                        <p:tgtEl>
                                          <p:spTgt spid="64"/>
                                        </p:tgtEl>
                                        <p:attrNameLst>
                                          <p:attrName>style.visibility</p:attrName>
                                        </p:attrNameLst>
                                      </p:cBhvr>
                                      <p:to>
                                        <p:strVal val="visible"/>
                                      </p:to>
                                    </p:set>
                                    <p:animEffect transition="in" filter="fade">
                                      <p:cBhvr>
                                        <p:cTn id="250" dur="550"/>
                                        <p:tgtEl>
                                          <p:spTgt spid="64"/>
                                        </p:tgtEl>
                                      </p:cBhvr>
                                    </p:animEffect>
                                  </p:childTnLst>
                                </p:cTn>
                              </p:par>
                            </p:childTnLst>
                          </p:cTn>
                        </p:par>
                        <p:par>
                          <p:cTn id="251" fill="hold">
                            <p:stCondLst>
                              <p:cond delay="0"/>
                            </p:stCondLst>
                            <p:childTnLst>
                              <p:par>
                                <p:cTn id="252" presetID="10" presetClass="entr" presetSubtype="0" fill="hold" grpId="0" nodeType="afterEffect">
                                  <p:stCondLst>
                                    <p:cond delay="0"/>
                                  </p:stCondLst>
                                  <p:childTnLst>
                                    <p:set>
                                      <p:cBhvr>
                                        <p:cTn id="253" dur="1" fill="hold">
                                          <p:stCondLst>
                                            <p:cond delay="0"/>
                                          </p:stCondLst>
                                        </p:cTn>
                                        <p:tgtEl>
                                          <p:spTgt spid="65"/>
                                        </p:tgtEl>
                                        <p:attrNameLst>
                                          <p:attrName>style.visibility</p:attrName>
                                        </p:attrNameLst>
                                      </p:cBhvr>
                                      <p:to>
                                        <p:strVal val="visible"/>
                                      </p:to>
                                    </p:set>
                                    <p:animEffect transition="in" filter="fade">
                                      <p:cBhvr>
                                        <p:cTn id="254" dur="550"/>
                                        <p:tgtEl>
                                          <p:spTgt spid="65"/>
                                        </p:tgtEl>
                                      </p:cBhvr>
                                    </p:animEffect>
                                  </p:childTnLst>
                                </p:cTn>
                              </p:par>
                            </p:childTnLst>
                          </p:cTn>
                        </p:par>
                        <p:par>
                          <p:cTn id="255" fill="hold">
                            <p:stCondLst>
                              <p:cond delay="0"/>
                            </p:stCondLst>
                            <p:childTnLst>
                              <p:par>
                                <p:cTn id="256" presetID="10" presetClass="entr" presetSubtype="0" fill="hold" grpId="0" nodeType="afterEffect">
                                  <p:stCondLst>
                                    <p:cond delay="0"/>
                                  </p:stCondLst>
                                  <p:childTnLst>
                                    <p:set>
                                      <p:cBhvr>
                                        <p:cTn id="257" dur="1" fill="hold">
                                          <p:stCondLst>
                                            <p:cond delay="0"/>
                                          </p:stCondLst>
                                        </p:cTn>
                                        <p:tgtEl>
                                          <p:spTgt spid="66"/>
                                        </p:tgtEl>
                                        <p:attrNameLst>
                                          <p:attrName>style.visibility</p:attrName>
                                        </p:attrNameLst>
                                      </p:cBhvr>
                                      <p:to>
                                        <p:strVal val="visible"/>
                                      </p:to>
                                    </p:set>
                                    <p:animEffect transition="in" filter="fade">
                                      <p:cBhvr>
                                        <p:cTn id="258" dur="550"/>
                                        <p:tgtEl>
                                          <p:spTgt spid="66"/>
                                        </p:tgtEl>
                                      </p:cBhvr>
                                    </p:animEffect>
                                  </p:childTnLst>
                                </p:cTn>
                              </p:par>
                            </p:childTnLst>
                          </p:cTn>
                        </p:par>
                        <p:par>
                          <p:cTn id="259" fill="hold">
                            <p:stCondLst>
                              <p:cond delay="0"/>
                            </p:stCondLst>
                            <p:childTnLst>
                              <p:par>
                                <p:cTn id="260" presetID="10" presetClass="entr" presetSubtype="0" fill="hold" grpId="0" nodeType="afterEffect">
                                  <p:stCondLst>
                                    <p:cond delay="0"/>
                                  </p:stCondLst>
                                  <p:childTnLst>
                                    <p:set>
                                      <p:cBhvr>
                                        <p:cTn id="261" dur="1" fill="hold">
                                          <p:stCondLst>
                                            <p:cond delay="0"/>
                                          </p:stCondLst>
                                        </p:cTn>
                                        <p:tgtEl>
                                          <p:spTgt spid="67"/>
                                        </p:tgtEl>
                                        <p:attrNameLst>
                                          <p:attrName>style.visibility</p:attrName>
                                        </p:attrNameLst>
                                      </p:cBhvr>
                                      <p:to>
                                        <p:strVal val="visible"/>
                                      </p:to>
                                    </p:set>
                                    <p:animEffect transition="in" filter="fade">
                                      <p:cBhvr>
                                        <p:cTn id="262" dur="550"/>
                                        <p:tgtEl>
                                          <p:spTgt spid="67"/>
                                        </p:tgtEl>
                                      </p:cBhvr>
                                    </p:animEffect>
                                  </p:childTnLst>
                                </p:cTn>
                              </p:par>
                            </p:childTnLst>
                          </p:cTn>
                        </p:par>
                        <p:par>
                          <p:cTn id="263" fill="hold">
                            <p:stCondLst>
                              <p:cond delay="0"/>
                            </p:stCondLst>
                            <p:childTnLst>
                              <p:par>
                                <p:cTn id="264" presetID="10" presetClass="entr" presetSubtype="0" fill="hold" grpId="0" nodeType="afterEffect">
                                  <p:stCondLst>
                                    <p:cond delay="0"/>
                                  </p:stCondLst>
                                  <p:childTnLst>
                                    <p:set>
                                      <p:cBhvr>
                                        <p:cTn id="265" dur="1" fill="hold">
                                          <p:stCondLst>
                                            <p:cond delay="0"/>
                                          </p:stCondLst>
                                        </p:cTn>
                                        <p:tgtEl>
                                          <p:spTgt spid="68"/>
                                        </p:tgtEl>
                                        <p:attrNameLst>
                                          <p:attrName>style.visibility</p:attrName>
                                        </p:attrNameLst>
                                      </p:cBhvr>
                                      <p:to>
                                        <p:strVal val="visible"/>
                                      </p:to>
                                    </p:set>
                                    <p:animEffect transition="in" filter="fade">
                                      <p:cBhvr>
                                        <p:cTn id="266" dur="550"/>
                                        <p:tgtEl>
                                          <p:spTgt spid="68"/>
                                        </p:tgtEl>
                                      </p:cBhvr>
                                    </p:animEffect>
                                  </p:childTnLst>
                                </p:cTn>
                              </p:par>
                            </p:childTnLst>
                          </p:cTn>
                        </p:par>
                        <p:par>
                          <p:cTn id="267" fill="hold">
                            <p:stCondLst>
                              <p:cond delay="0"/>
                            </p:stCondLst>
                            <p:childTnLst>
                              <p:par>
                                <p:cTn id="268" presetID="10" presetClass="entr" presetSubtype="0" fill="hold" grpId="0" nodeType="afterEffect">
                                  <p:stCondLst>
                                    <p:cond delay="0"/>
                                  </p:stCondLst>
                                  <p:childTnLst>
                                    <p:set>
                                      <p:cBhvr>
                                        <p:cTn id="269" dur="1" fill="hold">
                                          <p:stCondLst>
                                            <p:cond delay="0"/>
                                          </p:stCondLst>
                                        </p:cTn>
                                        <p:tgtEl>
                                          <p:spTgt spid="69"/>
                                        </p:tgtEl>
                                        <p:attrNameLst>
                                          <p:attrName>style.visibility</p:attrName>
                                        </p:attrNameLst>
                                      </p:cBhvr>
                                      <p:to>
                                        <p:strVal val="visible"/>
                                      </p:to>
                                    </p:set>
                                    <p:animEffect transition="in" filter="fade">
                                      <p:cBhvr>
                                        <p:cTn id="270" dur="550"/>
                                        <p:tgtEl>
                                          <p:spTgt spid="69"/>
                                        </p:tgtEl>
                                      </p:cBhvr>
                                    </p:animEffect>
                                  </p:childTnLst>
                                </p:cTn>
                              </p:par>
                            </p:childTnLst>
                          </p:cTn>
                        </p:par>
                        <p:par>
                          <p:cTn id="271" fill="hold">
                            <p:stCondLst>
                              <p:cond delay="0"/>
                            </p:stCondLst>
                            <p:childTnLst>
                              <p:par>
                                <p:cTn id="272" presetID="10" presetClass="entr" presetSubtype="0" fill="hold" grpId="0" nodeType="afterEffect">
                                  <p:stCondLst>
                                    <p:cond delay="0"/>
                                  </p:stCondLst>
                                  <p:childTnLst>
                                    <p:set>
                                      <p:cBhvr>
                                        <p:cTn id="273" dur="1" fill="hold">
                                          <p:stCondLst>
                                            <p:cond delay="0"/>
                                          </p:stCondLst>
                                        </p:cTn>
                                        <p:tgtEl>
                                          <p:spTgt spid="70"/>
                                        </p:tgtEl>
                                        <p:attrNameLst>
                                          <p:attrName>style.visibility</p:attrName>
                                        </p:attrNameLst>
                                      </p:cBhvr>
                                      <p:to>
                                        <p:strVal val="visible"/>
                                      </p:to>
                                    </p:set>
                                    <p:animEffect transition="in" filter="fade">
                                      <p:cBhvr>
                                        <p:cTn id="274" dur="550"/>
                                        <p:tgtEl>
                                          <p:spTgt spid="70"/>
                                        </p:tgtEl>
                                      </p:cBhvr>
                                    </p:animEffect>
                                  </p:childTnLst>
                                </p:cTn>
                              </p:par>
                            </p:childTnLst>
                          </p:cTn>
                        </p:par>
                        <p:par>
                          <p:cTn id="275" fill="hold">
                            <p:stCondLst>
                              <p:cond delay="0"/>
                            </p:stCondLst>
                            <p:childTnLst>
                              <p:par>
                                <p:cTn id="276" presetID="10" presetClass="entr" presetSubtype="0" fill="hold" grpId="0" nodeType="afterEffect">
                                  <p:stCondLst>
                                    <p:cond delay="0"/>
                                  </p:stCondLst>
                                  <p:childTnLst>
                                    <p:set>
                                      <p:cBhvr>
                                        <p:cTn id="277" dur="1" fill="hold">
                                          <p:stCondLst>
                                            <p:cond delay="0"/>
                                          </p:stCondLst>
                                        </p:cTn>
                                        <p:tgtEl>
                                          <p:spTgt spid="71"/>
                                        </p:tgtEl>
                                        <p:attrNameLst>
                                          <p:attrName>style.visibility</p:attrName>
                                        </p:attrNameLst>
                                      </p:cBhvr>
                                      <p:to>
                                        <p:strVal val="visible"/>
                                      </p:to>
                                    </p:set>
                                    <p:animEffect transition="in" filter="fade">
                                      <p:cBhvr>
                                        <p:cTn id="278" dur="550"/>
                                        <p:tgtEl>
                                          <p:spTgt spid="71"/>
                                        </p:tgtEl>
                                      </p:cBhvr>
                                    </p:animEffect>
                                  </p:childTnLst>
                                </p:cTn>
                              </p:par>
                            </p:childTnLst>
                          </p:cTn>
                        </p:par>
                        <p:par>
                          <p:cTn id="279" fill="hold">
                            <p:stCondLst>
                              <p:cond delay="0"/>
                            </p:stCondLst>
                            <p:childTnLst>
                              <p:par>
                                <p:cTn id="280" presetID="10" presetClass="entr" presetSubtype="0" fill="hold" grpId="0" nodeType="afterEffect">
                                  <p:stCondLst>
                                    <p:cond delay="0"/>
                                  </p:stCondLst>
                                  <p:childTnLst>
                                    <p:set>
                                      <p:cBhvr>
                                        <p:cTn id="281" dur="1" fill="hold">
                                          <p:stCondLst>
                                            <p:cond delay="0"/>
                                          </p:stCondLst>
                                        </p:cTn>
                                        <p:tgtEl>
                                          <p:spTgt spid="72"/>
                                        </p:tgtEl>
                                        <p:attrNameLst>
                                          <p:attrName>style.visibility</p:attrName>
                                        </p:attrNameLst>
                                      </p:cBhvr>
                                      <p:to>
                                        <p:strVal val="visible"/>
                                      </p:to>
                                    </p:set>
                                    <p:animEffect transition="in" filter="fade">
                                      <p:cBhvr>
                                        <p:cTn id="282" dur="550"/>
                                        <p:tgtEl>
                                          <p:spTgt spid="72"/>
                                        </p:tgtEl>
                                      </p:cBhvr>
                                    </p:animEffect>
                                  </p:childTnLst>
                                </p:cTn>
                              </p:par>
                            </p:childTnLst>
                          </p:cTn>
                        </p:par>
                        <p:par>
                          <p:cTn id="283" fill="hold">
                            <p:stCondLst>
                              <p:cond delay="0"/>
                            </p:stCondLst>
                            <p:childTnLst>
                              <p:par>
                                <p:cTn id="284" presetID="10" presetClass="entr" presetSubtype="0" fill="hold" grpId="0" nodeType="afterEffect">
                                  <p:stCondLst>
                                    <p:cond delay="0"/>
                                  </p:stCondLst>
                                  <p:childTnLst>
                                    <p:set>
                                      <p:cBhvr>
                                        <p:cTn id="285" dur="1" fill="hold">
                                          <p:stCondLst>
                                            <p:cond delay="0"/>
                                          </p:stCondLst>
                                        </p:cTn>
                                        <p:tgtEl>
                                          <p:spTgt spid="73"/>
                                        </p:tgtEl>
                                        <p:attrNameLst>
                                          <p:attrName>style.visibility</p:attrName>
                                        </p:attrNameLst>
                                      </p:cBhvr>
                                      <p:to>
                                        <p:strVal val="visible"/>
                                      </p:to>
                                    </p:set>
                                    <p:animEffect transition="in" filter="fade">
                                      <p:cBhvr>
                                        <p:cTn id="286" dur="550"/>
                                        <p:tgtEl>
                                          <p:spTgt spid="73"/>
                                        </p:tgtEl>
                                      </p:cBhvr>
                                    </p:animEffect>
                                  </p:childTnLst>
                                </p:cTn>
                              </p:par>
                            </p:childTnLst>
                          </p:cTn>
                        </p:par>
                        <p:par>
                          <p:cTn id="287" fill="hold">
                            <p:stCondLst>
                              <p:cond delay="0"/>
                            </p:stCondLst>
                            <p:childTnLst>
                              <p:par>
                                <p:cTn id="288" presetID="10" presetClass="entr" presetSubtype="0" fill="hold" grpId="0" nodeType="afterEffect">
                                  <p:stCondLst>
                                    <p:cond delay="0"/>
                                  </p:stCondLst>
                                  <p:childTnLst>
                                    <p:set>
                                      <p:cBhvr>
                                        <p:cTn id="289" dur="1" fill="hold">
                                          <p:stCondLst>
                                            <p:cond delay="0"/>
                                          </p:stCondLst>
                                        </p:cTn>
                                        <p:tgtEl>
                                          <p:spTgt spid="74"/>
                                        </p:tgtEl>
                                        <p:attrNameLst>
                                          <p:attrName>style.visibility</p:attrName>
                                        </p:attrNameLst>
                                      </p:cBhvr>
                                      <p:to>
                                        <p:strVal val="visible"/>
                                      </p:to>
                                    </p:set>
                                    <p:animEffect transition="in" filter="fade">
                                      <p:cBhvr>
                                        <p:cTn id="290" dur="550"/>
                                        <p:tgtEl>
                                          <p:spTgt spid="74"/>
                                        </p:tgtEl>
                                      </p:cBhvr>
                                    </p:animEffect>
                                  </p:childTnLst>
                                </p:cTn>
                              </p:par>
                            </p:childTnLst>
                          </p:cTn>
                        </p:par>
                        <p:par>
                          <p:cTn id="291" fill="hold">
                            <p:stCondLst>
                              <p:cond delay="0"/>
                            </p:stCondLst>
                            <p:childTnLst>
                              <p:par>
                                <p:cTn id="292" presetID="10" presetClass="entr" presetSubtype="0" fill="hold" grpId="0" nodeType="afterEffect">
                                  <p:stCondLst>
                                    <p:cond delay="0"/>
                                  </p:stCondLst>
                                  <p:childTnLst>
                                    <p:set>
                                      <p:cBhvr>
                                        <p:cTn id="293" dur="1" fill="hold">
                                          <p:stCondLst>
                                            <p:cond delay="0"/>
                                          </p:stCondLst>
                                        </p:cTn>
                                        <p:tgtEl>
                                          <p:spTgt spid="75"/>
                                        </p:tgtEl>
                                        <p:attrNameLst>
                                          <p:attrName>style.visibility</p:attrName>
                                        </p:attrNameLst>
                                      </p:cBhvr>
                                      <p:to>
                                        <p:strVal val="visible"/>
                                      </p:to>
                                    </p:set>
                                    <p:animEffect transition="in" filter="fade">
                                      <p:cBhvr>
                                        <p:cTn id="294" dur="550"/>
                                        <p:tgtEl>
                                          <p:spTgt spid="75"/>
                                        </p:tgtEl>
                                      </p:cBhvr>
                                    </p:animEffect>
                                  </p:childTnLst>
                                </p:cTn>
                              </p:par>
                            </p:childTnLst>
                          </p:cTn>
                        </p:par>
                        <p:par>
                          <p:cTn id="295" fill="hold">
                            <p:stCondLst>
                              <p:cond delay="0"/>
                            </p:stCondLst>
                            <p:childTnLst>
                              <p:par>
                                <p:cTn id="296" presetID="10" presetClass="entr" presetSubtype="0" fill="hold" grpId="0" nodeType="afterEffect">
                                  <p:stCondLst>
                                    <p:cond delay="0"/>
                                  </p:stCondLst>
                                  <p:childTnLst>
                                    <p:set>
                                      <p:cBhvr>
                                        <p:cTn id="297" dur="1" fill="hold">
                                          <p:stCondLst>
                                            <p:cond delay="0"/>
                                          </p:stCondLst>
                                        </p:cTn>
                                        <p:tgtEl>
                                          <p:spTgt spid="76"/>
                                        </p:tgtEl>
                                        <p:attrNameLst>
                                          <p:attrName>style.visibility</p:attrName>
                                        </p:attrNameLst>
                                      </p:cBhvr>
                                      <p:to>
                                        <p:strVal val="visible"/>
                                      </p:to>
                                    </p:set>
                                    <p:animEffect transition="in" filter="fade">
                                      <p:cBhvr>
                                        <p:cTn id="298" dur="550"/>
                                        <p:tgtEl>
                                          <p:spTgt spid="76"/>
                                        </p:tgtEl>
                                      </p:cBhvr>
                                    </p:animEffect>
                                  </p:childTnLst>
                                </p:cTn>
                              </p:par>
                            </p:childTnLst>
                          </p:cTn>
                        </p:par>
                        <p:par>
                          <p:cTn id="299" fill="hold">
                            <p:stCondLst>
                              <p:cond delay="0"/>
                            </p:stCondLst>
                            <p:childTnLst>
                              <p:par>
                                <p:cTn id="300" presetID="10" presetClass="entr" presetSubtype="0" fill="hold" grpId="0" nodeType="afterEffect">
                                  <p:stCondLst>
                                    <p:cond delay="0"/>
                                  </p:stCondLst>
                                  <p:childTnLst>
                                    <p:set>
                                      <p:cBhvr>
                                        <p:cTn id="301" dur="1" fill="hold">
                                          <p:stCondLst>
                                            <p:cond delay="0"/>
                                          </p:stCondLst>
                                        </p:cTn>
                                        <p:tgtEl>
                                          <p:spTgt spid="77"/>
                                        </p:tgtEl>
                                        <p:attrNameLst>
                                          <p:attrName>style.visibility</p:attrName>
                                        </p:attrNameLst>
                                      </p:cBhvr>
                                      <p:to>
                                        <p:strVal val="visible"/>
                                      </p:to>
                                    </p:set>
                                    <p:animEffect transition="in" filter="fade">
                                      <p:cBhvr>
                                        <p:cTn id="302" dur="550"/>
                                        <p:tgtEl>
                                          <p:spTgt spid="77"/>
                                        </p:tgtEl>
                                      </p:cBhvr>
                                    </p:animEffect>
                                  </p:childTnLst>
                                </p:cTn>
                              </p:par>
                            </p:childTnLst>
                          </p:cTn>
                        </p:par>
                        <p:par>
                          <p:cTn id="303" fill="hold">
                            <p:stCondLst>
                              <p:cond delay="0"/>
                            </p:stCondLst>
                            <p:childTnLst>
                              <p:par>
                                <p:cTn id="304" presetID="10" presetClass="entr" presetSubtype="0" fill="hold" grpId="0" nodeType="afterEffect">
                                  <p:stCondLst>
                                    <p:cond delay="0"/>
                                  </p:stCondLst>
                                  <p:childTnLst>
                                    <p:set>
                                      <p:cBhvr>
                                        <p:cTn id="305" dur="1" fill="hold">
                                          <p:stCondLst>
                                            <p:cond delay="0"/>
                                          </p:stCondLst>
                                        </p:cTn>
                                        <p:tgtEl>
                                          <p:spTgt spid="78"/>
                                        </p:tgtEl>
                                        <p:attrNameLst>
                                          <p:attrName>style.visibility</p:attrName>
                                        </p:attrNameLst>
                                      </p:cBhvr>
                                      <p:to>
                                        <p:strVal val="visible"/>
                                      </p:to>
                                    </p:set>
                                    <p:animEffect transition="in" filter="fade">
                                      <p:cBhvr>
                                        <p:cTn id="306" dur="550"/>
                                        <p:tgtEl>
                                          <p:spTgt spid="78"/>
                                        </p:tgtEl>
                                      </p:cBhvr>
                                    </p:animEffect>
                                  </p:childTnLst>
                                </p:cTn>
                              </p:par>
                            </p:childTnLst>
                          </p:cTn>
                        </p:par>
                        <p:par>
                          <p:cTn id="307" fill="hold">
                            <p:stCondLst>
                              <p:cond delay="0"/>
                            </p:stCondLst>
                            <p:childTnLst>
                              <p:par>
                                <p:cTn id="308" presetID="10" presetClass="entr" presetSubtype="0" fill="hold" grpId="0" nodeType="afterEffect">
                                  <p:stCondLst>
                                    <p:cond delay="0"/>
                                  </p:stCondLst>
                                  <p:childTnLst>
                                    <p:set>
                                      <p:cBhvr>
                                        <p:cTn id="309" dur="1" fill="hold">
                                          <p:stCondLst>
                                            <p:cond delay="0"/>
                                          </p:stCondLst>
                                        </p:cTn>
                                        <p:tgtEl>
                                          <p:spTgt spid="79"/>
                                        </p:tgtEl>
                                        <p:attrNameLst>
                                          <p:attrName>style.visibility</p:attrName>
                                        </p:attrNameLst>
                                      </p:cBhvr>
                                      <p:to>
                                        <p:strVal val="visible"/>
                                      </p:to>
                                    </p:set>
                                    <p:animEffect transition="in" filter="fade">
                                      <p:cBhvr>
                                        <p:cTn id="310" dur="550"/>
                                        <p:tgtEl>
                                          <p:spTgt spid="79"/>
                                        </p:tgtEl>
                                      </p:cBhvr>
                                    </p:animEffect>
                                  </p:childTnLst>
                                </p:cTn>
                              </p:par>
                            </p:childTnLst>
                          </p:cTn>
                        </p:par>
                        <p:par>
                          <p:cTn id="311" fill="hold">
                            <p:stCondLst>
                              <p:cond delay="0"/>
                            </p:stCondLst>
                            <p:childTnLst>
                              <p:par>
                                <p:cTn id="312" presetID="10" presetClass="entr" presetSubtype="0" fill="hold" grpId="0" nodeType="afterEffect">
                                  <p:stCondLst>
                                    <p:cond delay="0"/>
                                  </p:stCondLst>
                                  <p:childTnLst>
                                    <p:set>
                                      <p:cBhvr>
                                        <p:cTn id="313" dur="1" fill="hold">
                                          <p:stCondLst>
                                            <p:cond delay="0"/>
                                          </p:stCondLst>
                                        </p:cTn>
                                        <p:tgtEl>
                                          <p:spTgt spid="80"/>
                                        </p:tgtEl>
                                        <p:attrNameLst>
                                          <p:attrName>style.visibility</p:attrName>
                                        </p:attrNameLst>
                                      </p:cBhvr>
                                      <p:to>
                                        <p:strVal val="visible"/>
                                      </p:to>
                                    </p:set>
                                    <p:animEffect transition="in" filter="fade">
                                      <p:cBhvr>
                                        <p:cTn id="314" dur="550"/>
                                        <p:tgtEl>
                                          <p:spTgt spid="80"/>
                                        </p:tgtEl>
                                      </p:cBhvr>
                                    </p:animEffect>
                                  </p:childTnLst>
                                </p:cTn>
                              </p:par>
                            </p:childTnLst>
                          </p:cTn>
                        </p:par>
                        <p:par>
                          <p:cTn id="315" fill="hold">
                            <p:stCondLst>
                              <p:cond delay="0"/>
                            </p:stCondLst>
                            <p:childTnLst>
                              <p:par>
                                <p:cTn id="316" presetID="10" presetClass="entr" presetSubtype="0" fill="hold" grpId="0" nodeType="afterEffect">
                                  <p:stCondLst>
                                    <p:cond delay="0"/>
                                  </p:stCondLst>
                                  <p:childTnLst>
                                    <p:set>
                                      <p:cBhvr>
                                        <p:cTn id="317" dur="1" fill="hold">
                                          <p:stCondLst>
                                            <p:cond delay="0"/>
                                          </p:stCondLst>
                                        </p:cTn>
                                        <p:tgtEl>
                                          <p:spTgt spid="81"/>
                                        </p:tgtEl>
                                        <p:attrNameLst>
                                          <p:attrName>style.visibility</p:attrName>
                                        </p:attrNameLst>
                                      </p:cBhvr>
                                      <p:to>
                                        <p:strVal val="visible"/>
                                      </p:to>
                                    </p:set>
                                    <p:animEffect transition="in" filter="fade">
                                      <p:cBhvr>
                                        <p:cTn id="318" dur="550"/>
                                        <p:tgtEl>
                                          <p:spTgt spid="81"/>
                                        </p:tgtEl>
                                      </p:cBhvr>
                                    </p:animEffect>
                                  </p:childTnLst>
                                </p:cTn>
                              </p:par>
                            </p:childTnLst>
                          </p:cTn>
                        </p:par>
                        <p:par>
                          <p:cTn id="319" fill="hold">
                            <p:stCondLst>
                              <p:cond delay="0"/>
                            </p:stCondLst>
                            <p:childTnLst>
                              <p:par>
                                <p:cTn id="320" presetID="10" presetClass="entr" presetSubtype="0" fill="hold" grpId="0" nodeType="afterEffect">
                                  <p:stCondLst>
                                    <p:cond delay="0"/>
                                  </p:stCondLst>
                                  <p:childTnLst>
                                    <p:set>
                                      <p:cBhvr>
                                        <p:cTn id="321" dur="1" fill="hold">
                                          <p:stCondLst>
                                            <p:cond delay="0"/>
                                          </p:stCondLst>
                                        </p:cTn>
                                        <p:tgtEl>
                                          <p:spTgt spid="82"/>
                                        </p:tgtEl>
                                        <p:attrNameLst>
                                          <p:attrName>style.visibility</p:attrName>
                                        </p:attrNameLst>
                                      </p:cBhvr>
                                      <p:to>
                                        <p:strVal val="visible"/>
                                      </p:to>
                                    </p:set>
                                    <p:animEffect transition="in" filter="fade">
                                      <p:cBhvr>
                                        <p:cTn id="322" dur="550"/>
                                        <p:tgtEl>
                                          <p:spTgt spid="82"/>
                                        </p:tgtEl>
                                      </p:cBhvr>
                                    </p:animEffect>
                                  </p:childTnLst>
                                </p:cTn>
                              </p:par>
                            </p:childTnLst>
                          </p:cTn>
                        </p:par>
                        <p:par>
                          <p:cTn id="323" fill="hold">
                            <p:stCondLst>
                              <p:cond delay="0"/>
                            </p:stCondLst>
                            <p:childTnLst>
                              <p:par>
                                <p:cTn id="324" presetID="10" presetClass="entr" presetSubtype="0" fill="hold" grpId="0" nodeType="afterEffect">
                                  <p:stCondLst>
                                    <p:cond delay="0"/>
                                  </p:stCondLst>
                                  <p:childTnLst>
                                    <p:set>
                                      <p:cBhvr>
                                        <p:cTn id="325" dur="1" fill="hold">
                                          <p:stCondLst>
                                            <p:cond delay="0"/>
                                          </p:stCondLst>
                                        </p:cTn>
                                        <p:tgtEl>
                                          <p:spTgt spid="83"/>
                                        </p:tgtEl>
                                        <p:attrNameLst>
                                          <p:attrName>style.visibility</p:attrName>
                                        </p:attrNameLst>
                                      </p:cBhvr>
                                      <p:to>
                                        <p:strVal val="visible"/>
                                      </p:to>
                                    </p:set>
                                    <p:animEffect transition="in" filter="fade">
                                      <p:cBhvr>
                                        <p:cTn id="326" dur="550"/>
                                        <p:tgtEl>
                                          <p:spTgt spid="83"/>
                                        </p:tgtEl>
                                      </p:cBhvr>
                                    </p:animEffect>
                                  </p:childTnLst>
                                </p:cTn>
                              </p:par>
                            </p:childTnLst>
                          </p:cTn>
                        </p:par>
                        <p:par>
                          <p:cTn id="327" fill="hold">
                            <p:stCondLst>
                              <p:cond delay="0"/>
                            </p:stCondLst>
                            <p:childTnLst>
                              <p:par>
                                <p:cTn id="328" presetID="10" presetClass="entr" presetSubtype="0" fill="hold" grpId="0" nodeType="afterEffect">
                                  <p:stCondLst>
                                    <p:cond delay="0"/>
                                  </p:stCondLst>
                                  <p:childTnLst>
                                    <p:set>
                                      <p:cBhvr>
                                        <p:cTn id="329" dur="1" fill="hold">
                                          <p:stCondLst>
                                            <p:cond delay="0"/>
                                          </p:stCondLst>
                                        </p:cTn>
                                        <p:tgtEl>
                                          <p:spTgt spid="84"/>
                                        </p:tgtEl>
                                        <p:attrNameLst>
                                          <p:attrName>style.visibility</p:attrName>
                                        </p:attrNameLst>
                                      </p:cBhvr>
                                      <p:to>
                                        <p:strVal val="visible"/>
                                      </p:to>
                                    </p:set>
                                    <p:animEffect transition="in" filter="fade">
                                      <p:cBhvr>
                                        <p:cTn id="330" dur="550"/>
                                        <p:tgtEl>
                                          <p:spTgt spid="84"/>
                                        </p:tgtEl>
                                      </p:cBhvr>
                                    </p:animEffect>
                                  </p:childTnLst>
                                </p:cTn>
                              </p:par>
                            </p:childTnLst>
                          </p:cTn>
                        </p:par>
                        <p:par>
                          <p:cTn id="331" fill="hold">
                            <p:stCondLst>
                              <p:cond delay="0"/>
                            </p:stCondLst>
                            <p:childTnLst>
                              <p:par>
                                <p:cTn id="332" presetID="10" presetClass="entr" presetSubtype="0" fill="hold" grpId="0" nodeType="afterEffect">
                                  <p:stCondLst>
                                    <p:cond delay="0"/>
                                  </p:stCondLst>
                                  <p:childTnLst>
                                    <p:set>
                                      <p:cBhvr>
                                        <p:cTn id="333" dur="1" fill="hold">
                                          <p:stCondLst>
                                            <p:cond delay="0"/>
                                          </p:stCondLst>
                                        </p:cTn>
                                        <p:tgtEl>
                                          <p:spTgt spid="85"/>
                                        </p:tgtEl>
                                        <p:attrNameLst>
                                          <p:attrName>style.visibility</p:attrName>
                                        </p:attrNameLst>
                                      </p:cBhvr>
                                      <p:to>
                                        <p:strVal val="visible"/>
                                      </p:to>
                                    </p:set>
                                    <p:animEffect transition="in" filter="fade">
                                      <p:cBhvr>
                                        <p:cTn id="334" dur="550"/>
                                        <p:tgtEl>
                                          <p:spTgt spid="85"/>
                                        </p:tgtEl>
                                      </p:cBhvr>
                                    </p:animEffect>
                                  </p:childTnLst>
                                </p:cTn>
                              </p:par>
                            </p:childTnLst>
                          </p:cTn>
                        </p:par>
                        <p:par>
                          <p:cTn id="335" fill="hold">
                            <p:stCondLst>
                              <p:cond delay="0"/>
                            </p:stCondLst>
                            <p:childTnLst>
                              <p:par>
                                <p:cTn id="336" presetID="10" presetClass="entr" presetSubtype="0" fill="hold" grpId="0" nodeType="afterEffect">
                                  <p:stCondLst>
                                    <p:cond delay="0"/>
                                  </p:stCondLst>
                                  <p:childTnLst>
                                    <p:set>
                                      <p:cBhvr>
                                        <p:cTn id="337" dur="1" fill="hold">
                                          <p:stCondLst>
                                            <p:cond delay="0"/>
                                          </p:stCondLst>
                                        </p:cTn>
                                        <p:tgtEl>
                                          <p:spTgt spid="86"/>
                                        </p:tgtEl>
                                        <p:attrNameLst>
                                          <p:attrName>style.visibility</p:attrName>
                                        </p:attrNameLst>
                                      </p:cBhvr>
                                      <p:to>
                                        <p:strVal val="visible"/>
                                      </p:to>
                                    </p:set>
                                    <p:animEffect transition="in" filter="fade">
                                      <p:cBhvr>
                                        <p:cTn id="338" dur="550"/>
                                        <p:tgtEl>
                                          <p:spTgt spid="86"/>
                                        </p:tgtEl>
                                      </p:cBhvr>
                                    </p:animEffect>
                                  </p:childTnLst>
                                </p:cTn>
                              </p:par>
                            </p:childTnLst>
                          </p:cTn>
                        </p:par>
                        <p:par>
                          <p:cTn id="339" fill="hold">
                            <p:stCondLst>
                              <p:cond delay="0"/>
                            </p:stCondLst>
                            <p:childTnLst>
                              <p:par>
                                <p:cTn id="340" presetID="10" presetClass="entr" presetSubtype="0" fill="hold" grpId="0" nodeType="afterEffect">
                                  <p:stCondLst>
                                    <p:cond delay="0"/>
                                  </p:stCondLst>
                                  <p:childTnLst>
                                    <p:set>
                                      <p:cBhvr>
                                        <p:cTn id="341" dur="1" fill="hold">
                                          <p:stCondLst>
                                            <p:cond delay="0"/>
                                          </p:stCondLst>
                                        </p:cTn>
                                        <p:tgtEl>
                                          <p:spTgt spid="87"/>
                                        </p:tgtEl>
                                        <p:attrNameLst>
                                          <p:attrName>style.visibility</p:attrName>
                                        </p:attrNameLst>
                                      </p:cBhvr>
                                      <p:to>
                                        <p:strVal val="visible"/>
                                      </p:to>
                                    </p:set>
                                    <p:animEffect transition="in" filter="fade">
                                      <p:cBhvr>
                                        <p:cTn id="342" dur="550"/>
                                        <p:tgtEl>
                                          <p:spTgt spid="87"/>
                                        </p:tgtEl>
                                      </p:cBhvr>
                                    </p:animEffect>
                                  </p:childTnLst>
                                </p:cTn>
                              </p:par>
                            </p:childTnLst>
                          </p:cTn>
                        </p:par>
                        <p:par>
                          <p:cTn id="343" fill="hold">
                            <p:stCondLst>
                              <p:cond delay="0"/>
                            </p:stCondLst>
                            <p:childTnLst>
                              <p:par>
                                <p:cTn id="344" presetID="10" presetClass="entr" presetSubtype="0" fill="hold" grpId="0" nodeType="afterEffect">
                                  <p:stCondLst>
                                    <p:cond delay="0"/>
                                  </p:stCondLst>
                                  <p:childTnLst>
                                    <p:set>
                                      <p:cBhvr>
                                        <p:cTn id="345" dur="1" fill="hold">
                                          <p:stCondLst>
                                            <p:cond delay="0"/>
                                          </p:stCondLst>
                                        </p:cTn>
                                        <p:tgtEl>
                                          <p:spTgt spid="88"/>
                                        </p:tgtEl>
                                        <p:attrNameLst>
                                          <p:attrName>style.visibility</p:attrName>
                                        </p:attrNameLst>
                                      </p:cBhvr>
                                      <p:to>
                                        <p:strVal val="visible"/>
                                      </p:to>
                                    </p:set>
                                    <p:animEffect transition="in" filter="fade">
                                      <p:cBhvr>
                                        <p:cTn id="346" dur="550"/>
                                        <p:tgtEl>
                                          <p:spTgt spid="88"/>
                                        </p:tgtEl>
                                      </p:cBhvr>
                                    </p:animEffect>
                                  </p:childTnLst>
                                </p:cTn>
                              </p:par>
                            </p:childTnLst>
                          </p:cTn>
                        </p:par>
                        <p:par>
                          <p:cTn id="347" fill="hold">
                            <p:stCondLst>
                              <p:cond delay="200"/>
                            </p:stCondLst>
                            <p:childTnLst>
                              <p:par>
                                <p:cTn id="348" presetID="53" presetClass="entr" presetSubtype="16" fill="hold" grpId="0" nodeType="afterEffect">
                                  <p:stCondLst>
                                    <p:cond delay="0"/>
                                  </p:stCondLst>
                                  <p:childTnLst>
                                    <p:set>
                                      <p:cBhvr>
                                        <p:cTn id="349" dur="1" fill="hold">
                                          <p:stCondLst>
                                            <p:cond delay="0"/>
                                          </p:stCondLst>
                                        </p:cTn>
                                        <p:tgtEl>
                                          <p:spTgt spid="89"/>
                                        </p:tgtEl>
                                        <p:attrNameLst>
                                          <p:attrName>style.visibility</p:attrName>
                                        </p:attrNameLst>
                                      </p:cBhvr>
                                      <p:to>
                                        <p:strVal val="visible"/>
                                      </p:to>
                                    </p:set>
                                    <p:animEffect transition="in" filter="fade">
                                      <p:cBhvr>
                                        <p:cTn id="350" dur="550"/>
                                        <p:tgtEl>
                                          <p:spTgt spid="89"/>
                                        </p:tgtEl>
                                      </p:cBhvr>
                                    </p:animEffect>
                                    <p:anim calcmode="lin" valueType="num">
                                      <p:cBhvr additive="base">
                                        <p:cTn id="351" dur="550" fill="hold"/>
                                        <p:tgtEl>
                                          <p:spTgt spid="89"/>
                                        </p:tgtEl>
                                        <p:attrNameLst>
                                          <p:attrName>ppt_w</p:attrName>
                                        </p:attrNameLst>
                                      </p:cBhvr>
                                      <p:tavLst>
                                        <p:tav tm="0">
                                          <p:val>
                                            <p:strVal val="0"/>
                                          </p:val>
                                        </p:tav>
                                        <p:tav tm="100000">
                                          <p:val>
                                            <p:strVal val="#ppt_w"/>
                                          </p:val>
                                        </p:tav>
                                      </p:tavLst>
                                    </p:anim>
                                    <p:anim calcmode="lin" valueType="num">
                                      <p:cBhvr additive="base">
                                        <p:cTn id="352" dur="550" fill="hold"/>
                                        <p:tgtEl>
                                          <p:spTgt spid="89"/>
                                        </p:tgtEl>
                                        <p:attrNameLst>
                                          <p:attrName>ppt_h</p:attrName>
                                        </p:attrNameLst>
                                      </p:cBhvr>
                                      <p:tavLst>
                                        <p:tav tm="0">
                                          <p:val>
                                            <p:strVal val="0"/>
                                          </p:val>
                                        </p:tav>
                                        <p:tav tm="100000">
                                          <p:val>
                                            <p:strVal val="#ppt_h"/>
                                          </p:val>
                                        </p:tav>
                                      </p:tavLst>
                                    </p:anim>
                                  </p:childTnLst>
                                </p:cTn>
                              </p:par>
                            </p:childTnLst>
                          </p:cTn>
                        </p:par>
                        <p:par>
                          <p:cTn id="353" fill="hold">
                            <p:stCondLst>
                              <p:cond delay="350"/>
                            </p:stCondLst>
                            <p:childTnLst>
                              <p:par>
                                <p:cTn id="354" presetID="22" presetClass="entr" presetSubtype="8" fill="hold" grpId="0" nodeType="afterEffect">
                                  <p:stCondLst>
                                    <p:cond delay="0"/>
                                  </p:stCondLst>
                                  <p:childTnLst>
                                    <p:set>
                                      <p:cBhvr>
                                        <p:cTn id="355" dur="1" fill="hold">
                                          <p:stCondLst>
                                            <p:cond delay="0"/>
                                          </p:stCondLst>
                                        </p:cTn>
                                        <p:tgtEl>
                                          <p:spTgt spid="90"/>
                                        </p:tgtEl>
                                        <p:attrNameLst>
                                          <p:attrName>style.visibility</p:attrName>
                                        </p:attrNameLst>
                                      </p:cBhvr>
                                      <p:to>
                                        <p:strVal val="visible"/>
                                      </p:to>
                                    </p:set>
                                    <p:animEffect transition="in" filter="wipe(left)">
                                      <p:cBhvr>
                                        <p:cTn id="357" dur="800"/>
                                        <p:tgtEl>
                                          <p:spTgt spid="90"/>
                                        </p:tgtEl>
                                      </p:cBhvr>
                                    </p:animEffect>
                                  </p:childTnLst>
                                </p:cTn>
                              </p:par>
                            </p:childTnLst>
                          </p:cTn>
                        </p:par>
                        <p:par>
                          <p:cTn id="358" fill="hold">
                            <p:stCondLst>
                              <p:cond delay="500"/>
                            </p:stCondLst>
                            <p:childTnLst>
                              <p:par>
                                <p:cTn id="359" presetID="42" presetClass="entr" presetSubtype="0" fill="hold" grpId="0" nodeType="afterEffect">
                                  <p:stCondLst>
                                    <p:cond delay="0"/>
                                  </p:stCondLst>
                                  <p:childTnLst>
                                    <p:set>
                                      <p:cBhvr>
                                        <p:cTn id="360" dur="1" fill="hold">
                                          <p:stCondLst>
                                            <p:cond delay="0"/>
                                          </p:stCondLst>
                                        </p:cTn>
                                        <p:tgtEl>
                                          <p:spTgt spid="91"/>
                                        </p:tgtEl>
                                        <p:attrNameLst>
                                          <p:attrName>style.visibility</p:attrName>
                                        </p:attrNameLst>
                                      </p:cBhvr>
                                      <p:to>
                                        <p:strVal val="visible"/>
                                      </p:to>
                                    </p:set>
                                    <p:animEffect transition="in" filter="fade">
                                      <p:cBhvr>
                                        <p:cTn id="361" dur="550"/>
                                        <p:tgtEl>
                                          <p:spTgt spid="91"/>
                                        </p:tgtEl>
                                      </p:cBhvr>
                                    </p:animEffect>
                                    <p:anim calcmode="lin" valueType="num">
                                      <p:cBhvr additive="base">
                                        <p:cTn id="362" dur="550" fill="hold"/>
                                        <p:tgtEl>
                                          <p:spTgt spid="91"/>
                                        </p:tgtEl>
                                        <p:attrNameLst>
                                          <p:attrName>ppt_x</p:attrName>
                                        </p:attrNameLst>
                                      </p:cBhvr>
                                      <p:tavLst>
                                        <p:tav tm="0">
                                          <p:val>
                                            <p:strVal val="#ppt_x"/>
                                          </p:val>
                                        </p:tav>
                                        <p:tav tm="100000">
                                          <p:val>
                                            <p:strVal val="#ppt_x"/>
                                          </p:val>
                                        </p:tav>
                                      </p:tavLst>
                                    </p:anim>
                                    <p:anim calcmode="lin" valueType="num">
                                      <p:cBhvr additive="base">
                                        <p:cTn id="363" dur="550" fill="hold"/>
                                        <p:tgtEl>
                                          <p:spTgt spid="91"/>
                                        </p:tgtEl>
                                        <p:attrNameLst>
                                          <p:attrName>ppt_y</p:attrName>
                                        </p:attrNameLst>
                                      </p:cBhvr>
                                      <p:tavLst>
                                        <p:tav tm="0">
                                          <p:val>
                                            <p:strVal val="#ppt_y+.08"/>
                                          </p:val>
                                        </p:tav>
                                        <p:tav tm="100000">
                                          <p:val>
                                            <p:strVal val="#ppt_y"/>
                                          </p:val>
                                        </p:tav>
                                      </p:tavLst>
                                    </p:anim>
                                  </p:childTnLst>
                                </p:cTn>
                              </p:par>
                            </p:childTnLst>
                          </p:cTn>
                        </p:par>
                        <p:par>
                          <p:cTn id="364" fill="hold">
                            <p:stCondLst>
                              <p:cond delay="650"/>
                            </p:stCondLst>
                            <p:childTnLst>
                              <p:par>
                                <p:cTn id="365" presetID="10" presetClass="entr" presetSubtype="0" fill="hold" grpId="0" nodeType="afterEffect">
                                  <p:stCondLst>
                                    <p:cond delay="0"/>
                                  </p:stCondLst>
                                  <p:childTnLst>
                                    <p:set>
                                      <p:cBhvr>
                                        <p:cTn id="366" dur="1" fill="hold">
                                          <p:stCondLst>
                                            <p:cond delay="0"/>
                                          </p:stCondLst>
                                        </p:cTn>
                                        <p:tgtEl>
                                          <p:spTgt spid="92"/>
                                        </p:tgtEl>
                                        <p:attrNameLst>
                                          <p:attrName>style.visibility</p:attrName>
                                        </p:attrNameLst>
                                      </p:cBhvr>
                                      <p:to>
                                        <p:strVal val="visible"/>
                                      </p:to>
                                    </p:set>
                                    <p:animEffect transition="in" filter="fade">
                                      <p:cBhvr>
                                        <p:cTn id="367" dur="55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
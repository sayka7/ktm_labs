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intellektual tizimlarda hisoblash bir nechta darajaga taqsimlanadi. 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 Nihoyat, sensor chekkasi (TinyML) — batareyali mikrokontrollerda, sensor yonida bajariladigan juda kichik modellar.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intellektual tizimlarda hisoblash bir nechta darajaga taqsimlanadi. 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 Nihoyat, sensor chekkasi (TinyML) — batareyali mikrokontrollerda, sensor yonida bajariladigan juda kichik modellar.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konsepsiyasining asosiy tamoyili — ma'lumotni emas, qarorni uzatish. 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 Uchinchi tamoyil — avtonomlik: tarmoq yo'q bo'lsa ham asosiy funksiya ishlashi shart.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konsepsiyasining asosiy tamoyili — ma'lumotni emas, qarorni uzatish. 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 Uchinchi tamoyil — avtonomlik: tarmoq yo'q bo'lsa ham asosiy funksiya ishlashi shart.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O'rnatilgan tizim (embedded system) — muayyan funksiyani bajarish uchun qurilma ichiga joylashtirilgan ixtisoslashgan kompyuter. 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O'rnatilgan tizim (embedded system) — muayyan funksiyani bajarish uchun qurilma ichiga joylashtirilgan ixtisoslashgan kompyuter. 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vaqt rejimida ishlash (real-time) atamasi «tez» degani emas, balki «belgilangan muddat ichida kafolatlangan» deganidir. 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 GPU'da ishlaydigan modellarning kechikishi odatda deterministik emas: xotira ajratish, kernel kompilyatsiyasi, operatsion tizimning boshqa jarayonlari ta'sir qiladi. Shu sababli real vaqt tizimlarda quyidagi amaliyotlar qo'llaniladi: barcha xotirani ishga tushirishda oldindan ajratish, birinchi inferensni «isitish», modelni TensorRT yoki tflite'da oldindan kompilyatsiya qilish, inferens ipini yuqori ustuvorlikka va alohida yadroga bog'lash, Jetson'da nvpmodel va jetson_clocks bilan chastotalarni qotirish, zarur bo'lsa Linux'da PREEMPT_RT yadro yoki alohida real vaqt operatsion tizimi (Zephyr, FreeRTOS) ishlatish.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vaqt rejimida ishlash (real-time) atamasi «tez» degani emas, balki «belgilangan muddat ichida kafolatlangan» deganidir. 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 GPU'da ishlaydigan modellarning kechikishi odatda deterministik emas: xotira ajratish, kernel kompilyatsiyasi, operatsion tizimning boshqa jarayonlari ta'sir qiladi. Shu sababli real vaqt tizimlarda quyidagi amaliyotlar qo'llaniladi: barcha xotirani ishga tushirishda oldindan ajratish, birinchi inferensni «isitish», modelni TensorRT yoki tflite'da oldindan kompilyatsiya qilish, inferens ipini yuqori ustuvorlikka va alohida yadroga bog'lash, Jetson'da nvpmodel va jetson_clocks bilan chastotalarni qotirish, zarur bo'lsa Linux'da PREEMPT_RT yadro yoki alohida real vaqt operatsion tizimi (Zephyr, FreeRTOS) ishlatish.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Quvur (pipeline) nuqtai nazaridan inferens — kamera → dekodlash → oldindan qayta ishlash (o'lcham o'zgartirish, normalizatsiya) → model → keyingi qayta ishlash (NMS, kuzatish) → qaror. Ko'pincha modelning o'zi quvur vaqtining yarmidan kamini oladi; qolgani JPEG dekodlash, rang fazosi konvertatsiyasi va CPU–GPU nusxalashga ketadi. Jetson'da bu bosqichlar NVDEC apparat dekoderi, VIC (Video Image Compositor) va DeepStream SDK orqali GPU'ga yuklanadi, shunda CPU bo'shab qoladi.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 mashinali o'qitish modellarini milliVatt darajasidagi quvvat bilan ishlaydigan mikrokontrollerlarda bajarish yo'nalishi. Tipik maqsad qurilma: Arm Cortex-M4F, 80–200 MHz, 256 KB flesh, 64–320 KB SRAM, suzuvchi nuqtali blok bor, lekin kesh va operatsion tizim deyarli yo'q. Bunday qurilma yillab bitta tangasimon batareyada ishlashi mumkin, shuning uchun TinyML «doim yoqiq» (always-on) vazifalar uchun ideal: kalit so'zni aniqlash («Hey Siri» uslubida), sensor orqali uskuna tebranishida anomaliyani sezish, akselerometr bilan harakat turini aniqlash, kichik kamerada odam bor-yo'qligini aniqlash.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 mashinali o'qitish modellarini milliVatt darajasidagi quvvat bilan ishlaydigan mikrokontrollerlarda bajarish yo'nalishi. Tipik maqsad qurilma: Arm Cortex-M4F, 80–200 MHz, 256 KB flesh, 64–320 KB SRAM, suzuvchi nuqtali blok bor, lekin kesh va operatsion tizim deyarli yo'q. Bunday qurilma yillab bitta tangasimon batareyada ishlashi mumkin, shuning uchun TinyML «doim yoqiq» (always-on) vazifalar uchun ideal: kalit so'zni aniqlash («Hey Siri» uslubida), sensor orqali uskuna tebranishida anomaliyani sezish, akselerometr bilan harakat turini aniqlash, kichik kamerada odam bor-yo'qligini aniqlash.</a:t>
            </a:r>
          </a:p>
          <a:p/>
          <a:p>
            <a:r>
              <a:t>TinyML'ning texnik asoslari: modellar o'nlab–yuzlab kilobayt (masalan, kalit so'z aniqlovchi DS-CNN ~20–50 KB, odam aniqlash uchun MobileNet-v1 0,25x ~250–300 KB INT8); barcha og'irliklar INT8'ga kvantlangan, hisoblash butun sonli arifmetikada; xotira statik — dinamik ajratish yo'q, «tensor arena» deb ataladigan bitta bufer oldindan ajratiladi; dasturiy stek — TensorFlow Lite for Microcontrollers (TFLM), Arm CMSIS-NN kernellari (Cortex-M'ning SIMD ko'rsatmalaridan foydalanadi), Edge Impulse kabi platformalar. Arm Ethos-U55/U65 microNPU'lari Cortex-M55 bilan birga INT8 konvolyutsiyani apparat darajasida tezlashtirib, bir xil quvvatda o'nlab marta ko'proq amal bajaradi.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loyihasida muhandis quyidagi balansni ushlab turadi: model aniqligi, flesh hajmi (model + kod), SRAM (arena + aktivatsiyalar), inferens vaqti (davomiylik va chastota orqali energiya) va batareya umri. Masalan, 1 mJ/inferens sarflaydigan model sekundiga bir marta ishlasa, 1000 mAh (≈ 3,7 Vt·soat ≈ 13 kJ) batareya nazariy jihatdan yillarcha yetadi; lekin radio uzatish ko'pincha inferensdan ko'proq energiya oladi, shuning uchun «qarorni uzatish» tamoyili bu yerda ham ishlaydi.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Edge TPU (Coral mahsulot oilasi) — mutlaqo boshqa falsafa: faqat INT8, faqat TensorFlow Lite formatidagi va maxsus kompilyator (edgetpu_compiler) orqali o'tkazilgan modellar; 4 TOPS (INT8) unumdorlik atigi ~2 Vt (0,5 Vt/TOPS) iste'molda; USB stik, M.2/PCIe modul yoki Dev Board ko'rinishida. Edge TPU sistolik massiv (systolic array) arxitekturasida qurilgan: ma'lumot massiv bo'ylab oqadi, har bir element ko'paytirish-qo'shish bajaradi va natijani qo'shnisiga uzatadi — xotiraga murojaat minimal, energiya samaradorligi maksimal (M4 va M5 mavzularidagi ma'lumot harakati tamoyilining amaliy ifodasi). Cheklovlar: faqat qo'llab-quvvatlanadigan operatsiyalar TPU'da bajariladi, qolganlari CPU'ga qaytadi (va grafda birinchi qo'llab-quvvatlanmagan operatsiyadan keyingi barchasi CPU'da qoladi); model parametrlari uchun ~8 MB chip ichi keshi bor, kattaroq modellar og'irliklarni oqim bilan yuklaydi va sekinlashadi; FP16 yoki dinamik shakllar yo'q. Shuni ham qayd etish kerakki, Coral qatori so'nggi yillarda sekin yangilanmoqda, shuning uchun yangi loyihalarda muqobil NPU'lar (Hailo-8, Qualcomm, Rockchip NPU, Intel NPU) ham ko'rib chiqiladi.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 telefonlarda NPU — Apple Neural Engine, Qualcomm Hexagon, Samsung/Google tensor bloklari — o'nlab TOPS beradi; ularga kirish Core ML, Android NNAPI (hozir asta-sekin LiteRT delegatlari va vendor SDK'lar bilan almashtirilmoqda), Qualcomm QNN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M8 mavzusida kvantlash va boshqa siqish usullari nazariy jihatdan chuqurroq ko'riladi; bu yerda ular chekka joylash kontekstida amaliy vosita sifatida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buyumlari (IoT) tizimlarida chekka intellekt uch qatlamli arxitekturada ishlaydi: qurilmalar (sensorlar, kameralar, kontrollerlar) → shlyuz yoki chekka server (ma'lumot yig'ish, oldingi filtrlash, mahalliy inferens, vaqtincha saqlash) → bulut (uzoq muddatli saqlash, tahlil, model o'qitish, boshqaruv). Aloqa protokollari: MQTT (yengil publish/subscribe, tarmoq uzilishiga chidamli), CoAP, AMQP, sanoatda OPC UA va Modbus. Chekka qurilma natijalarni MQTT mavzulariga chop etadi, bulut esa buyruqlar va yangilanishlarni qaytaradi.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buyumlari (IoT) tizimlarida chekka intellekt uch qatlamli arxitekturada ishlaydi: qurilmalar (sensorlar, kameralar, kontrollerlar) → shlyuz yoki chekka server (ma'lumot yig'ish, oldingi filtrlash, mahalliy inferens, vaqtincha saqlash) → bulut (uzoq muddatli saqlash, tahlil, model o'qitish, boshqaruv). Aloqa protokollari: MQTT (yengil publish/subscribe, tarmoq uzilishiga chidamli), CoAP, AMQP, sanoatda OPC UA va Modbus. Chekka qurilma natijalarni MQTT mavzulariga chop etadi, bulut esa buyruqlar va yangilanishlarni qaytaradi.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yangilash (OTA — over-the-air update) Edge AI'ning muhim tarkibiy qismi: model kuzatilgan ma'lumotda eskiradi (drift), yangi sinflar kerak bo'ladi, xatolar tuzatiladi. OTA tizimi versiyalash, imzolangan paketlar, bosqichma-bosqich tarqatish (canary) va muvaffaqiyatsizlikda avtomatik orqaga qaytishni ta'minlashi kerak. Bu MLOps (M12) va xavfsizlik (M9) mavzulari bilan kesishadi. Federativ o'qitish (federated learning) — qurilmalar xom ma'lumotni yubormasdan, mahalliy gradientlarni yoki model yangilanishlarini bulutga yuboradi — maxfiylik talab qilinadigan IoT tizimlarida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va chekka o'rtasidagi tanlovni quyidagi jadval umumlashtiradi: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2c5fd702c6f21dc6.jpg"/>
          <p:cNvPicPr>
            <a:picLocks noChangeAspect="1"/>
          </p:cNvPicPr>
          <p:nvPr/>
        </p:nvPicPr>
        <p:blipFill>
          <a:blip r:embed="rId2"/>
          <a:srcRect l="12188" r="12188"/>
          <a:stretch>
            <a:fillRect/>
          </a:stretch>
        </p:blipFill>
        <p:spPr>
          <a:xfrm>
            <a:off x="7850000" y="1500000"/>
            <a:ext cx="3300000" cy="3300000"/>
          </a:xfrm>
          <a:prstGeom prst="ellipse">
            <a:avLst/>
          </a:prstGeom>
          <a:ln w="19050">
            <a:solidFill>
              <a:srgbClr val="22D3EE"/>
            </a:solidFill>
          </a:ln>
        </p:spPr>
      </p:pic>
      <p:sp>
        <p:nvSpPr>
          <p:cNvPr id="64" name="TextBox 63"/>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Auledas · Wikimedia Commons · CC BY 4.0</a:t>
            </a:r>
          </a:p>
        </p:txBody>
      </p:sp>
      <p:sp>
        <p:nvSpPr>
          <p:cNvPr id="65" name="Rounded Rectangle 64"/>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M6 · 2 soat</a:t>
            </a:r>
          </a:p>
        </p:txBody>
      </p:sp>
      <p:sp>
        <p:nvSpPr>
          <p:cNvPr id="66" name="TextBox 65"/>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7" name="TextBox 66"/>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Edge AI va intellektual o'rnatilgan kompyuter tizimlari</a:t>
            </a:r>
          </a:p>
        </p:txBody>
      </p:sp>
      <p:sp>
        <p:nvSpPr>
          <p:cNvPr id="68" name="Rectangle 67"/>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200"/>
                            </p:stCondLst>
                            <p:childTnLst>
                              <p:par>
                                <p:cTn id="236" presetID="53" presetClass="entr" presetSubtype="16" fill="hold" grpId="0" nodeType="afterEffect">
                                  <p:stCondLst>
                                    <p:cond delay="0"/>
                                  </p:stCondLst>
                                  <p:childTnLst>
                                    <p:set>
                                      <p:cBhvr>
                                        <p:cTn id="237" dur="1" fill="hold">
                                          <p:stCondLst>
                                            <p:cond delay="0"/>
                                          </p:stCondLst>
                                        </p:cTn>
                                        <p:tgtEl>
                                          <p:spTgt spid="62"/>
                                        </p:tgtEl>
                                        <p:attrNameLst>
                                          <p:attrName>style.visibility</p:attrName>
                                        </p:attrNameLst>
                                      </p:cBhvr>
                                      <p:to>
                                        <p:strVal val="visible"/>
                                      </p:to>
                                    </p:set>
                                    <p:animEffect transition="in" filter="fade">
                                      <p:cBhvr>
                                        <p:cTn id="238" dur="550"/>
                                        <p:tgtEl>
                                          <p:spTgt spid="62"/>
                                        </p:tgtEl>
                                      </p:cBhvr>
                                    </p:animEffect>
                                    <p:anim calcmode="lin" valueType="num">
                                      <p:cBhvr additive="base">
                                        <p:cTn id="239" dur="550" fill="hold"/>
                                        <p:tgtEl>
                                          <p:spTgt spid="62"/>
                                        </p:tgtEl>
                                        <p:attrNameLst>
                                          <p:attrName>ppt_w</p:attrName>
                                        </p:attrNameLst>
                                      </p:cBhvr>
                                      <p:tavLst>
                                        <p:tav tm="0">
                                          <p:val>
                                            <p:strVal val="0"/>
                                          </p:val>
                                        </p:tav>
                                        <p:tav tm="100000">
                                          <p:val>
                                            <p:strVal val="#ppt_w"/>
                                          </p:val>
                                        </p:tav>
                                      </p:tavLst>
                                    </p:anim>
                                    <p:anim calcmode="lin" valueType="num">
                                      <p:cBhvr additive="base">
                                        <p:cTn id="240" dur="550" fill="hold"/>
                                        <p:tgtEl>
                                          <p:spTgt spid="62"/>
                                        </p:tgtEl>
                                        <p:attrNameLst>
                                          <p:attrName>ppt_h</p:attrName>
                                        </p:attrNameLst>
                                      </p:cBhvr>
                                      <p:tavLst>
                                        <p:tav tm="0">
                                          <p:val>
                                            <p:strVal val="0"/>
                                          </p:val>
                                        </p:tav>
                                        <p:tav tm="100000">
                                          <p:val>
                                            <p:strVal val="#ppt_h"/>
                                          </p:val>
                                        </p:tav>
                                      </p:tavLst>
                                    </p:anim>
                                  </p:childTnLst>
                                </p:cTn>
                              </p:par>
                            </p:childTnLst>
                          </p:cTn>
                        </p:par>
                        <p:par>
                          <p:cTn id="241" fill="hold">
                            <p:stCondLst>
                              <p:cond delay="200"/>
                            </p:stCondLst>
                            <p:childTnLst>
                              <p:par>
                                <p:cTn id="242" presetID="53" presetClass="entr" presetSubtype="16" fill="hold" grpId="0" nodeType="afterEffect">
                                  <p:stCondLst>
                                    <p:cond delay="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550"/>
                                        <p:tgtEl>
                                          <p:spTgt spid="61"/>
                                        </p:tgtEl>
                                      </p:cBhvr>
                                    </p:animEffect>
                                    <p:anim calcmode="lin" valueType="num">
                                      <p:cBhvr additive="base">
                                        <p:cTn id="245" dur="550" fill="hold"/>
                                        <p:tgtEl>
                                          <p:spTgt spid="61"/>
                                        </p:tgtEl>
                                        <p:attrNameLst>
                                          <p:attrName>ppt_w</p:attrName>
                                        </p:attrNameLst>
                                      </p:cBhvr>
                                      <p:tavLst>
                                        <p:tav tm="0">
                                          <p:val>
                                            <p:strVal val="0"/>
                                          </p:val>
                                        </p:tav>
                                        <p:tav tm="100000">
                                          <p:val>
                                            <p:strVal val="#ppt_w"/>
                                          </p:val>
                                        </p:tav>
                                      </p:tavLst>
                                    </p:anim>
                                    <p:anim calcmode="lin" valueType="num">
                                      <p:cBhvr additive="base">
                                        <p:cTn id="246" dur="550" fill="hold"/>
                                        <p:tgtEl>
                                          <p:spTgt spid="61"/>
                                        </p:tgtEl>
                                        <p:attrNameLst>
                                          <p:attrName>ppt_h</p:attrName>
                                        </p:attrNameLst>
                                      </p:cBhvr>
                                      <p:tavLst>
                                        <p:tav tm="0">
                                          <p:val>
                                            <p:strVal val="0"/>
                                          </p:val>
                                        </p:tav>
                                        <p:tav tm="100000">
                                          <p:val>
                                            <p:strVal val="#ppt_h"/>
                                          </p:val>
                                        </p:tav>
                                      </p:tavLst>
                                    </p:anim>
                                  </p:childTnLst>
                                </p:cTn>
                              </p:par>
                            </p:childTnLst>
                          </p:cTn>
                        </p:par>
                        <p:par>
                          <p:cTn id="247" fill="hold">
                            <p:stCondLst>
                              <p:cond delay="200"/>
                            </p:stCondLst>
                            <p:childTnLst>
                              <p:par>
                                <p:cTn id="248" presetID="53" presetClass="entr" presetSubtype="16" fill="hold" grpId="0" nodeType="afterEffect">
                                  <p:stCondLst>
                                    <p:cond delay="0"/>
                                  </p:stCondLst>
                                  <p:childTnLst>
                                    <p:set>
                                      <p:cBhvr>
                                        <p:cTn id="249" dur="1" fill="hold">
                                          <p:stCondLst>
                                            <p:cond delay="0"/>
                                          </p:stCondLst>
                                        </p:cTn>
                                        <p:tgtEl>
                                          <p:spTgt spid="63"/>
                                        </p:tgtEl>
                                        <p:attrNameLst>
                                          <p:attrName>style.visibility</p:attrName>
                                        </p:attrNameLst>
                                      </p:cBhvr>
                                      <p:to>
                                        <p:strVal val="visible"/>
                                      </p:to>
                                    </p:set>
                                    <p:animEffect transition="in" filter="fade">
                                      <p:cBhvr>
                                        <p:cTn id="250" dur="550"/>
                                        <p:tgtEl>
                                          <p:spTgt spid="63"/>
                                        </p:tgtEl>
                                      </p:cBhvr>
                                    </p:animEffect>
                                    <p:anim calcmode="lin" valueType="num">
                                      <p:cBhvr additive="base">
                                        <p:cTn id="251" dur="550" fill="hold"/>
                                        <p:tgtEl>
                                          <p:spTgt spid="63"/>
                                        </p:tgtEl>
                                        <p:attrNameLst>
                                          <p:attrName>ppt_w</p:attrName>
                                        </p:attrNameLst>
                                      </p:cBhvr>
                                      <p:tavLst>
                                        <p:tav tm="0">
                                          <p:val>
                                            <p:strVal val="0"/>
                                          </p:val>
                                        </p:tav>
                                        <p:tav tm="100000">
                                          <p:val>
                                            <p:strVal val="#ppt_w"/>
                                          </p:val>
                                        </p:tav>
                                      </p:tavLst>
                                    </p:anim>
                                    <p:anim calcmode="lin" valueType="num">
                                      <p:cBhvr additive="base">
                                        <p:cTn id="252" dur="550" fill="hold"/>
                                        <p:tgtEl>
                                          <p:spTgt spid="63"/>
                                        </p:tgtEl>
                                        <p:attrNameLst>
                                          <p:attrName>ppt_h</p:attrName>
                                        </p:attrNameLst>
                                      </p:cBhvr>
                                      <p:tavLst>
                                        <p:tav tm="0">
                                          <p:val>
                                            <p:strVal val="0"/>
                                          </p:val>
                                        </p:tav>
                                        <p:tav tm="100000">
                                          <p:val>
                                            <p:strVal val="#ppt_h"/>
                                          </p:val>
                                        </p:tav>
                                      </p:tavLst>
                                    </p:anim>
                                  </p:childTnLst>
                                </p:cTn>
                              </p:par>
                            </p:childTnLst>
                          </p:cTn>
                        </p:par>
                        <p:par>
                          <p:cTn id="253" fill="hold">
                            <p:stCondLst>
                              <p:cond delay="200"/>
                            </p:stCondLst>
                            <p:childTnLst>
                              <p:par>
                                <p:cTn id="254" presetID="10" presetClass="entr" presetSubtype="0" fill="hold" grpId="0" nodeType="afterEffect">
                                  <p:stCondLst>
                                    <p:cond delay="0"/>
                                  </p:stCondLst>
                                  <p:childTnLst>
                                    <p:set>
                                      <p:cBhvr>
                                        <p:cTn id="255" dur="1" fill="hold">
                                          <p:stCondLst>
                                            <p:cond delay="0"/>
                                          </p:stCondLst>
                                        </p:cTn>
                                        <p:tgtEl>
                                          <p:spTgt spid="64"/>
                                        </p:tgtEl>
                                        <p:attrNameLst>
                                          <p:attrName>style.visibility</p:attrName>
                                        </p:attrNameLst>
                                      </p:cBhvr>
                                      <p:to>
                                        <p:strVal val="visible"/>
                                      </p:to>
                                    </p:set>
                                    <p:animEffect transition="in" filter="fade">
                                      <p:cBhvr>
                                        <p:cTn id="256" dur="550"/>
                                        <p:tgtEl>
                                          <p:spTgt spid="64"/>
                                        </p:tgtEl>
                                      </p:cBhvr>
                                    </p:animEffect>
                                  </p:childTnLst>
                                </p:cTn>
                              </p:par>
                            </p:childTnLst>
                          </p:cTn>
                        </p:par>
                        <p:par>
                          <p:cTn id="257" fill="hold">
                            <p:stCondLst>
                              <p:cond delay="350"/>
                            </p:stCondLst>
                            <p:childTnLst>
                              <p:par>
                                <p:cTn id="258" presetID="10" presetClass="entr" presetSubtype="0" fill="hold" grpId="0" nodeType="afterEffect">
                                  <p:stCondLst>
                                    <p:cond delay="0"/>
                                  </p:stCondLst>
                                  <p:childTnLst>
                                    <p:set>
                                      <p:cBhvr>
                                        <p:cTn id="259" dur="1" fill="hold">
                                          <p:stCondLst>
                                            <p:cond delay="0"/>
                                          </p:stCondLst>
                                        </p:cTn>
                                        <p:tgtEl>
                                          <p:spTgt spid="66"/>
                                        </p:tgtEl>
                                        <p:attrNameLst>
                                          <p:attrName>style.visibility</p:attrName>
                                        </p:attrNameLst>
                                      </p:cBhvr>
                                      <p:to>
                                        <p:strVal val="visible"/>
                                      </p:to>
                                    </p:set>
                                    <p:animEffect transition="in" filter="fade">
                                      <p:cBhvr>
                                        <p:cTn id="260" dur="550"/>
                                        <p:tgtEl>
                                          <p:spTgt spid="66"/>
                                        </p:tgtEl>
                                      </p:cBhvr>
                                    </p:animEffect>
                                  </p:childTnLst>
                                </p:cTn>
                              </p:par>
                            </p:childTnLst>
                          </p:cTn>
                        </p:par>
                        <p:par>
                          <p:cTn id="261" fill="hold">
                            <p:stCondLst>
                              <p:cond delay="500"/>
                            </p:stCondLst>
                            <p:childTnLst>
                              <p:par>
                                <p:cTn id="262" presetID="2" presetClass="entr" presetSubtype="8" fill="hold" grpId="0" nodeType="afterEffect">
                                  <p:stCondLst>
                                    <p:cond delay="0"/>
                                  </p:stCondLst>
                                  <p:childTnLst>
                                    <p:set>
                                      <p:cBhvr>
                                        <p:cTn id="263" dur="1" fill="hold">
                                          <p:stCondLst>
                                            <p:cond delay="0"/>
                                          </p:stCondLst>
                                        </p:cTn>
                                        <p:tgtEl>
                                          <p:spTgt spid="65"/>
                                        </p:tgtEl>
                                        <p:attrNameLst>
                                          <p:attrName>style.visibility</p:attrName>
                                        </p:attrNameLst>
                                      </p:cBhvr>
                                      <p:to>
                                        <p:strVal val="visible"/>
                                      </p:to>
                                    </p:set>
                                    <p:anim calcmode="lin" valueType="num">
                                      <p:cBhvr additive="base">
                                        <p:cTn id="265" dur="550" fill="hold"/>
                                        <p:tgtEl>
                                          <p:spTgt spid="65"/>
                                        </p:tgtEl>
                                        <p:attrNameLst>
                                          <p:attrName>ppt_x</p:attrName>
                                        </p:attrNameLst>
                                      </p:cBhvr>
                                      <p:tavLst>
                                        <p:tav tm="0">
                                          <p:val>
                                            <p:strVal val="0-#ppt_w/2"/>
                                          </p:val>
                                        </p:tav>
                                        <p:tav tm="100000">
                                          <p:val>
                                            <p:strVal val="#ppt_x"/>
                                          </p:val>
                                        </p:tav>
                                      </p:tavLst>
                                    </p:anim>
                                    <p:anim calcmode="lin" valueType="num">
                                      <p:cBhvr additive="base">
                                        <p:cTn id="266" dur="550" fill="hold"/>
                                        <p:tgtEl>
                                          <p:spTgt spid="65"/>
                                        </p:tgtEl>
                                        <p:attrNameLst>
                                          <p:attrName>ppt_y</p:attrName>
                                        </p:attrNameLst>
                                      </p:cBhvr>
                                      <p:tavLst>
                                        <p:tav tm="0">
                                          <p:val>
                                            <p:strVal val="#ppt_y"/>
                                          </p:val>
                                        </p:tav>
                                        <p:tav tm="100000">
                                          <p:val>
                                            <p:strVal val="#ppt_y"/>
                                          </p:val>
                                        </p:tav>
                                      </p:tavLst>
                                    </p:anim>
                                  </p:childTnLst>
                                </p:cTn>
                              </p:par>
                            </p:childTnLst>
                          </p:cTn>
                        </p:par>
                        <p:par>
                          <p:cTn id="267" fill="hold">
                            <p:stCondLst>
                              <p:cond delay="650"/>
                            </p:stCondLst>
                            <p:childTnLst>
                              <p:par>
                                <p:cTn id="268" presetID="42" presetClass="entr" presetSubtype="0" fill="hold" grpId="0" nodeType="afterEffect">
                                  <p:stCondLst>
                                    <p:cond delay="0"/>
                                  </p:stCondLst>
                                  <p:childTnLst>
                                    <p:set>
                                      <p:cBhvr>
                                        <p:cTn id="269" dur="1" fill="hold">
                                          <p:stCondLst>
                                            <p:cond delay="0"/>
                                          </p:stCondLst>
                                        </p:cTn>
                                        <p:tgtEl>
                                          <p:spTgt spid="67"/>
                                        </p:tgtEl>
                                        <p:attrNameLst>
                                          <p:attrName>style.visibility</p:attrName>
                                        </p:attrNameLst>
                                      </p:cBhvr>
                                      <p:to>
                                        <p:strVal val="visible"/>
                                      </p:to>
                                    </p:set>
                                    <p:animEffect transition="in" filter="fade">
                                      <p:cBhvr>
                                        <p:cTn id="270" dur="550"/>
                                        <p:tgtEl>
                                          <p:spTgt spid="67"/>
                                        </p:tgtEl>
                                      </p:cBhvr>
                                    </p:animEffect>
                                    <p:anim calcmode="lin" valueType="num">
                                      <p:cBhvr additive="base">
                                        <p:cTn id="271" dur="550" fill="hold"/>
                                        <p:tgtEl>
                                          <p:spTgt spid="67"/>
                                        </p:tgtEl>
                                        <p:attrNameLst>
                                          <p:attrName>ppt_x</p:attrName>
                                        </p:attrNameLst>
                                      </p:cBhvr>
                                      <p:tavLst>
                                        <p:tav tm="0">
                                          <p:val>
                                            <p:strVal val="#ppt_x"/>
                                          </p:val>
                                        </p:tav>
                                        <p:tav tm="100000">
                                          <p:val>
                                            <p:strVal val="#ppt_x"/>
                                          </p:val>
                                        </p:tav>
                                      </p:tavLst>
                                    </p:anim>
                                    <p:anim calcmode="lin" valueType="num">
                                      <p:cBhvr additive="base">
                                        <p:cTn id="272" dur="550" fill="hold"/>
                                        <p:tgtEl>
                                          <p:spTgt spid="67"/>
                                        </p:tgtEl>
                                        <p:attrNameLst>
                                          <p:attrName>ppt_y</p:attrName>
                                        </p:attrNameLst>
                                      </p:cBhvr>
                                      <p:tavLst>
                                        <p:tav tm="0">
                                          <p:val>
                                            <p:strVal val="#ppt_y+.08"/>
                                          </p:val>
                                        </p:tav>
                                        <p:tav tm="100000">
                                          <p:val>
                                            <p:strVal val="#ppt_y"/>
                                          </p:val>
                                        </p:tav>
                                      </p:tavLst>
                                    </p:anim>
                                  </p:childTnLst>
                                </p:cTn>
                              </p:par>
                            </p:childTnLst>
                          </p:cTn>
                        </p:par>
                        <p:par>
                          <p:cTn id="273" fill="hold">
                            <p:stCondLst>
                              <p:cond delay="800"/>
                            </p:stCondLst>
                            <p:childTnLst>
                              <p:par>
                                <p:cTn id="274" presetID="22" presetClass="entr" presetSubtype="8" fill="hold" grpId="0" nodeType="afterEffect">
                                  <p:stCondLst>
                                    <p:cond delay="0"/>
                                  </p:stCondLst>
                                  <p:childTnLst>
                                    <p:set>
                                      <p:cBhvr>
                                        <p:cTn id="275" dur="1" fill="hold">
                                          <p:stCondLst>
                                            <p:cond delay="0"/>
                                          </p:stCondLst>
                                        </p:cTn>
                                        <p:tgtEl>
                                          <p:spTgt spid="68"/>
                                        </p:tgtEl>
                                        <p:attrNameLst>
                                          <p:attrName>style.visibility</p:attrName>
                                        </p:attrNameLst>
                                      </p:cBhvr>
                                      <p:to>
                                        <p:strVal val="visible"/>
                                      </p:to>
                                    </p:set>
                                    <p:animEffect transition="in" filter="wipe(left)">
                                      <p:cBhvr>
                                        <p:cTn id="277" dur="800"/>
                                        <p:tgtEl>
                                          <p:spTgt spid="68"/>
                                        </p:tgtEl>
                                      </p:cBhvr>
                                    </p:animEffect>
                                  </p:childTnLst>
                                </p:cTn>
                              </p:par>
                            </p:childTnLst>
                          </p:cTn>
                        </p:par>
                        <p:par>
                          <p:cTn id="278" fill="hold">
                            <p:stCondLst>
                              <p:cond delay="950"/>
                            </p:stCondLst>
                            <p:childTnLst>
                              <p:par>
                                <p:cTn id="279" presetID="10" presetClass="entr" presetSubtype="0" fill="hold" grpId="0" nodeType="afterEffect">
                                  <p:stCondLst>
                                    <p:cond delay="0"/>
                                  </p:stCondLst>
                                  <p:childTnLst>
                                    <p:set>
                                      <p:cBhvr>
                                        <p:cTn id="280" dur="1" fill="hold">
                                          <p:stCondLst>
                                            <p:cond delay="0"/>
                                          </p:stCondLst>
                                        </p:cTn>
                                        <p:tgtEl>
                                          <p:spTgt spid="69"/>
                                        </p:tgtEl>
                                        <p:attrNameLst>
                                          <p:attrName>style.visibility</p:attrName>
                                        </p:attrNameLst>
                                      </p:cBhvr>
                                      <p:to>
                                        <p:strVal val="visible"/>
                                      </p:to>
                                    </p:set>
                                    <p:animEffect transition="in" filter="fade">
                                      <p:cBhvr>
                                        <p:cTn id="281" dur="5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2" grpId="0" animBg="1"/>
      <p:bldP spid="61" grpId="0" animBg="1"/>
      <p:bldP spid="64" grpId="0" animBg="1"/>
      <p:bldP spid="66" grpId="0" animBg="1"/>
      <p:bldP spid="65" grpId="0" animBg="1"/>
      <p:bldP spid="67" grpId="0" animBg="1"/>
      <p:bldP spid="68" grpId="0" animBg="1"/>
      <p:bldP spid="69"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2" name="Rounded Rectangle 21"/>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Edge AI konsepsiyasi va hisoblash darajalari</a:t>
            </a:r>
          </a:p>
        </p:txBody>
      </p:sp>
      <p:sp>
        <p:nvSpPr>
          <p:cNvPr id="26" name="Rounded Rectangle 25"/>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Embedded AI tizimlari va real vaqt talablari</a:t>
            </a:r>
          </a:p>
        </p:txBody>
      </p:sp>
      <p:sp>
        <p:nvSpPr>
          <p:cNvPr id="30" name="Rounded Rectangle 29"/>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TinyML texnologiyalari</a:t>
            </a:r>
          </a:p>
        </p:txBody>
      </p:sp>
      <p:sp>
        <p:nvSpPr>
          <p:cNvPr id="34" name="Rounded Rectangle 33"/>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NVIDIA Jetson va Google Edge TPU platformalari</a:t>
            </a:r>
          </a:p>
        </p:txBody>
      </p:sp>
      <p:sp>
        <p:nvSpPr>
          <p:cNvPr id="38" name="Rounded Rectangle 37"/>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1" name="TextBox 40"/>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Dasturiy vositalar zanjiri: konvertatsiya, kvantlash, delegat</a:t>
            </a:r>
          </a:p>
        </p:txBody>
      </p:sp>
      <p:sp>
        <p:nvSpPr>
          <p:cNvPr id="42" name="Rounded Rectangle 41"/>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5" name="TextBox 44"/>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IoT va Edge AI integratsiyasi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550"/>
                                        <p:tgtEl>
                                          <p:spTgt spid="34"/>
                                        </p:tgtEl>
                                      </p:cBhvr>
                                    </p:animEffect>
                                    <p:anim calcmode="lin" valueType="num">
                                      <p:cBhvr additive="base">
                                        <p:cTn id="88" dur="550" fill="hold"/>
                                        <p:tgtEl>
                                          <p:spTgt spid="34"/>
                                        </p:tgtEl>
                                        <p:attrNameLst>
                                          <p:attrName>ppt_x</p:attrName>
                                        </p:attrNameLst>
                                      </p:cBhvr>
                                      <p:tavLst>
                                        <p:tav tm="0">
                                          <p:val>
                                            <p:strVal val="#ppt_x"/>
                                          </p:val>
                                        </p:tav>
                                        <p:tav tm="100000">
                                          <p:val>
                                            <p:strVal val="#ppt_x"/>
                                          </p:val>
                                        </p:tav>
                                      </p:tavLst>
                                    </p:anim>
                                    <p:anim calcmode="lin" valueType="num">
                                      <p:cBhvr additive="base">
                                        <p:cTn id="89" dur="550" fill="hold"/>
                                        <p:tgtEl>
                                          <p:spTgt spid="34"/>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550"/>
                                        <p:tgtEl>
                                          <p:spTgt spid="35"/>
                                        </p:tgtEl>
                                      </p:cBhvr>
                                    </p:animEffect>
                                    <p:anim calcmode="lin" valueType="num">
                                      <p:cBhvr additive="base">
                                        <p:cTn id="94" dur="550" fill="hold"/>
                                        <p:tgtEl>
                                          <p:spTgt spid="35"/>
                                        </p:tgtEl>
                                        <p:attrNameLst>
                                          <p:attrName>ppt_x</p:attrName>
                                        </p:attrNameLst>
                                      </p:cBhvr>
                                      <p:tavLst>
                                        <p:tav tm="0">
                                          <p:val>
                                            <p:strVal val="#ppt_x"/>
                                          </p:val>
                                        </p:tav>
                                        <p:tav tm="100000">
                                          <p:val>
                                            <p:strVal val="#ppt_x"/>
                                          </p:val>
                                        </p:tav>
                                      </p:tavLst>
                                    </p:anim>
                                    <p:anim calcmode="lin" valueType="num">
                                      <p:cBhvr additive="base">
                                        <p:cTn id="95" dur="550" fill="hold"/>
                                        <p:tgtEl>
                                          <p:spTgt spid="35"/>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550"/>
                                        <p:tgtEl>
                                          <p:spTgt spid="36"/>
                                        </p:tgtEl>
                                      </p:cBhvr>
                                    </p:animEffect>
                                    <p:anim calcmode="lin" valueType="num">
                                      <p:cBhvr additive="base">
                                        <p:cTn id="100" dur="550" fill="hold"/>
                                        <p:tgtEl>
                                          <p:spTgt spid="36"/>
                                        </p:tgtEl>
                                        <p:attrNameLst>
                                          <p:attrName>ppt_w</p:attrName>
                                        </p:attrNameLst>
                                      </p:cBhvr>
                                      <p:tavLst>
                                        <p:tav tm="0">
                                          <p:val>
                                            <p:strVal val="0"/>
                                          </p:val>
                                        </p:tav>
                                        <p:tav tm="100000">
                                          <p:val>
                                            <p:strVal val="#ppt_w"/>
                                          </p:val>
                                        </p:tav>
                                      </p:tavLst>
                                    </p:anim>
                                    <p:anim calcmode="lin" valueType="num">
                                      <p:cBhvr additive="base">
                                        <p:cTn id="101" dur="550" fill="hold"/>
                                        <p:tgtEl>
                                          <p:spTgt spid="36"/>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50"/>
                                        <p:tgtEl>
                                          <p:spTgt spid="37"/>
                                        </p:tgtEl>
                                      </p:cBhvr>
                                    </p:animEffect>
                                    <p:anim calcmode="lin" valueType="num">
                                      <p:cBhvr additive="base">
                                        <p:cTn id="106" dur="550" fill="hold"/>
                                        <p:tgtEl>
                                          <p:spTgt spid="37"/>
                                        </p:tgtEl>
                                        <p:attrNameLst>
                                          <p:attrName>ppt_x</p:attrName>
                                        </p:attrNameLst>
                                      </p:cBhvr>
                                      <p:tavLst>
                                        <p:tav tm="0">
                                          <p:val>
                                            <p:strVal val="#ppt_x"/>
                                          </p:val>
                                        </p:tav>
                                        <p:tav tm="100000">
                                          <p:val>
                                            <p:strVal val="#ppt_x"/>
                                          </p:val>
                                        </p:tav>
                                      </p:tavLst>
                                    </p:anim>
                                    <p:anim calcmode="lin" valueType="num">
                                      <p:cBhvr additive="base">
                                        <p:cTn id="107" dur="550" fill="hold"/>
                                        <p:tgtEl>
                                          <p:spTgt spid="37"/>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50"/>
                                        <p:tgtEl>
                                          <p:spTgt spid="38"/>
                                        </p:tgtEl>
                                      </p:cBhvr>
                                    </p:animEffect>
                                    <p:anim calcmode="lin" valueType="num">
                                      <p:cBhvr additive="base">
                                        <p:cTn id="112" dur="550" fill="hold"/>
                                        <p:tgtEl>
                                          <p:spTgt spid="38"/>
                                        </p:tgtEl>
                                        <p:attrNameLst>
                                          <p:attrName>ppt_x</p:attrName>
                                        </p:attrNameLst>
                                      </p:cBhvr>
                                      <p:tavLst>
                                        <p:tav tm="0">
                                          <p:val>
                                            <p:strVal val="#ppt_x"/>
                                          </p:val>
                                        </p:tav>
                                        <p:tav tm="100000">
                                          <p:val>
                                            <p:strVal val="#ppt_x"/>
                                          </p:val>
                                        </p:tav>
                                      </p:tavLst>
                                    </p:anim>
                                    <p:anim calcmode="lin" valueType="num">
                                      <p:cBhvr additive="base">
                                        <p:cTn id="113" dur="550" fill="hold"/>
                                        <p:tgtEl>
                                          <p:spTgt spid="38"/>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50"/>
                                        <p:tgtEl>
                                          <p:spTgt spid="39"/>
                                        </p:tgtEl>
                                      </p:cBhvr>
                                    </p:animEffect>
                                    <p:anim calcmode="lin" valueType="num">
                                      <p:cBhvr additive="base">
                                        <p:cTn id="118" dur="550" fill="hold"/>
                                        <p:tgtEl>
                                          <p:spTgt spid="39"/>
                                        </p:tgtEl>
                                        <p:attrNameLst>
                                          <p:attrName>ppt_x</p:attrName>
                                        </p:attrNameLst>
                                      </p:cBhvr>
                                      <p:tavLst>
                                        <p:tav tm="0">
                                          <p:val>
                                            <p:strVal val="#ppt_x"/>
                                          </p:val>
                                        </p:tav>
                                        <p:tav tm="100000">
                                          <p:val>
                                            <p:strVal val="#ppt_x"/>
                                          </p:val>
                                        </p:tav>
                                      </p:tavLst>
                                    </p:anim>
                                    <p:anim calcmode="lin" valueType="num">
                                      <p:cBhvr additive="base">
                                        <p:cTn id="119" dur="550" fill="hold"/>
                                        <p:tgtEl>
                                          <p:spTgt spid="39"/>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3" dur="550"/>
                                        <p:tgtEl>
                                          <p:spTgt spid="40"/>
                                        </p:tgtEl>
                                      </p:cBhvr>
                                    </p:animEffect>
                                    <p:anim calcmode="lin" valueType="num">
                                      <p:cBhvr additive="base">
                                        <p:cTn id="124" dur="550" fill="hold"/>
                                        <p:tgtEl>
                                          <p:spTgt spid="40"/>
                                        </p:tgtEl>
                                        <p:attrNameLst>
                                          <p:attrName>ppt_w</p:attrName>
                                        </p:attrNameLst>
                                      </p:cBhvr>
                                      <p:tavLst>
                                        <p:tav tm="0">
                                          <p:val>
                                            <p:strVal val="0"/>
                                          </p:val>
                                        </p:tav>
                                        <p:tav tm="100000">
                                          <p:val>
                                            <p:strVal val="#ppt_w"/>
                                          </p:val>
                                        </p:tav>
                                      </p:tavLst>
                                    </p:anim>
                                    <p:anim calcmode="lin" valueType="num">
                                      <p:cBhvr additive="base">
                                        <p:cTn id="125" dur="550" fill="hold"/>
                                        <p:tgtEl>
                                          <p:spTgt spid="40"/>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550"/>
                                        <p:tgtEl>
                                          <p:spTgt spid="41"/>
                                        </p:tgtEl>
                                      </p:cBhvr>
                                    </p:animEffect>
                                    <p:anim calcmode="lin" valueType="num">
                                      <p:cBhvr additive="base">
                                        <p:cTn id="130" dur="550" fill="hold"/>
                                        <p:tgtEl>
                                          <p:spTgt spid="41"/>
                                        </p:tgtEl>
                                        <p:attrNameLst>
                                          <p:attrName>ppt_x</p:attrName>
                                        </p:attrNameLst>
                                      </p:cBhvr>
                                      <p:tavLst>
                                        <p:tav tm="0">
                                          <p:val>
                                            <p:strVal val="#ppt_x"/>
                                          </p:val>
                                        </p:tav>
                                        <p:tav tm="100000">
                                          <p:val>
                                            <p:strVal val="#ppt_x"/>
                                          </p:val>
                                        </p:tav>
                                      </p:tavLst>
                                    </p:anim>
                                    <p:anim calcmode="lin" valueType="num">
                                      <p:cBhvr additive="base">
                                        <p:cTn id="131" dur="550" fill="hold"/>
                                        <p:tgtEl>
                                          <p:spTgt spid="41"/>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2"/>
                                        </p:tgtEl>
                                        <p:attrNameLst>
                                          <p:attrName>style.visibility</p:attrName>
                                        </p:attrNameLst>
                                      </p:cBhvr>
                                      <p:to>
                                        <p:strVal val="visible"/>
                                      </p:to>
                                    </p:set>
                                    <p:animEffect transition="in" filter="fade">
                                      <p:cBhvr>
                                        <p:cTn id="135" dur="550"/>
                                        <p:tgtEl>
                                          <p:spTgt spid="42"/>
                                        </p:tgtEl>
                                      </p:cBhvr>
                                    </p:animEffect>
                                    <p:anim calcmode="lin" valueType="num">
                                      <p:cBhvr additive="base">
                                        <p:cTn id="136" dur="550" fill="hold"/>
                                        <p:tgtEl>
                                          <p:spTgt spid="42"/>
                                        </p:tgtEl>
                                        <p:attrNameLst>
                                          <p:attrName>ppt_x</p:attrName>
                                        </p:attrNameLst>
                                      </p:cBhvr>
                                      <p:tavLst>
                                        <p:tav tm="0">
                                          <p:val>
                                            <p:strVal val="#ppt_x"/>
                                          </p:val>
                                        </p:tav>
                                        <p:tav tm="100000">
                                          <p:val>
                                            <p:strVal val="#ppt_x"/>
                                          </p:val>
                                        </p:tav>
                                      </p:tavLst>
                                    </p:anim>
                                    <p:anim calcmode="lin" valueType="num">
                                      <p:cBhvr additive="base">
                                        <p:cTn id="137" dur="550" fill="hold"/>
                                        <p:tgtEl>
                                          <p:spTgt spid="42"/>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3"/>
                                        </p:tgtEl>
                                        <p:attrNameLst>
                                          <p:attrName>style.visibility</p:attrName>
                                        </p:attrNameLst>
                                      </p:cBhvr>
                                      <p:to>
                                        <p:strVal val="visible"/>
                                      </p:to>
                                    </p:set>
                                    <p:animEffect transition="in" filter="fade">
                                      <p:cBhvr>
                                        <p:cTn id="141" dur="550"/>
                                        <p:tgtEl>
                                          <p:spTgt spid="43"/>
                                        </p:tgtEl>
                                      </p:cBhvr>
                                    </p:animEffect>
                                    <p:anim calcmode="lin" valueType="num">
                                      <p:cBhvr additive="base">
                                        <p:cTn id="142" dur="550" fill="hold"/>
                                        <p:tgtEl>
                                          <p:spTgt spid="43"/>
                                        </p:tgtEl>
                                        <p:attrNameLst>
                                          <p:attrName>ppt_x</p:attrName>
                                        </p:attrNameLst>
                                      </p:cBhvr>
                                      <p:tavLst>
                                        <p:tav tm="0">
                                          <p:val>
                                            <p:strVal val="#ppt_x"/>
                                          </p:val>
                                        </p:tav>
                                        <p:tav tm="100000">
                                          <p:val>
                                            <p:strVal val="#ppt_x"/>
                                          </p:val>
                                        </p:tav>
                                      </p:tavLst>
                                    </p:anim>
                                    <p:anim calcmode="lin" valueType="num">
                                      <p:cBhvr additive="base">
                                        <p:cTn id="143" dur="550" fill="hold"/>
                                        <p:tgtEl>
                                          <p:spTgt spid="43"/>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4"/>
                                        </p:tgtEl>
                                        <p:attrNameLst>
                                          <p:attrName>style.visibility</p:attrName>
                                        </p:attrNameLst>
                                      </p:cBhvr>
                                      <p:to>
                                        <p:strVal val="visible"/>
                                      </p:to>
                                    </p:set>
                                    <p:animEffect transition="in" filter="fade">
                                      <p:cBhvr>
                                        <p:cTn id="147" dur="550"/>
                                        <p:tgtEl>
                                          <p:spTgt spid="44"/>
                                        </p:tgtEl>
                                      </p:cBhvr>
                                    </p:animEffect>
                                    <p:anim calcmode="lin" valueType="num">
                                      <p:cBhvr additive="base">
                                        <p:cTn id="148" dur="550" fill="hold"/>
                                        <p:tgtEl>
                                          <p:spTgt spid="44"/>
                                        </p:tgtEl>
                                        <p:attrNameLst>
                                          <p:attrName>ppt_w</p:attrName>
                                        </p:attrNameLst>
                                      </p:cBhvr>
                                      <p:tavLst>
                                        <p:tav tm="0">
                                          <p:val>
                                            <p:strVal val="0"/>
                                          </p:val>
                                        </p:tav>
                                        <p:tav tm="100000">
                                          <p:val>
                                            <p:strVal val="#ppt_w"/>
                                          </p:val>
                                        </p:tav>
                                      </p:tavLst>
                                    </p:anim>
                                    <p:anim calcmode="lin" valueType="num">
                                      <p:cBhvr additive="base">
                                        <p:cTn id="149" dur="550" fill="hold"/>
                                        <p:tgtEl>
                                          <p:spTgt spid="44"/>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5"/>
                                        </p:tgtEl>
                                        <p:attrNameLst>
                                          <p:attrName>style.visibility</p:attrName>
                                        </p:attrNameLst>
                                      </p:cBhvr>
                                      <p:to>
                                        <p:strVal val="visible"/>
                                      </p:to>
                                    </p:set>
                                    <p:animEffect transition="in" filter="fade">
                                      <p:cBhvr>
                                        <p:cTn id="153" dur="550"/>
                                        <p:tgtEl>
                                          <p:spTgt spid="45"/>
                                        </p:tgtEl>
                                      </p:cBhvr>
                                    </p:animEffect>
                                    <p:anim calcmode="lin" valueType="num">
                                      <p:cBhvr additive="base">
                                        <p:cTn id="154" dur="550" fill="hold"/>
                                        <p:tgtEl>
                                          <p:spTgt spid="45"/>
                                        </p:tgtEl>
                                        <p:attrNameLst>
                                          <p:attrName>ppt_x</p:attrName>
                                        </p:attrNameLst>
                                      </p:cBhvr>
                                      <p:tavLst>
                                        <p:tav tm="0">
                                          <p:val>
                                            <p:strVal val="#ppt_x"/>
                                          </p:val>
                                        </p:tav>
                                        <p:tav tm="100000">
                                          <p:val>
                                            <p:strVal val="#ppt_x"/>
                                          </p:val>
                                        </p:tav>
                                      </p:tavLst>
                                    </p:anim>
                                    <p:anim calcmode="lin" valueType="num">
                                      <p:cBhvr additive="base">
                                        <p:cTn id="155"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8ef86809f26bc20c.jpg"/>
          <p:cNvPicPr>
            <a:picLocks noChangeAspect="1"/>
          </p:cNvPicPr>
          <p:nvPr/>
        </p:nvPicPr>
        <p:blipFill>
          <a:blip r:embed="rId2"/>
          <a:srcRect l="14156" r="14156"/>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Cody Logan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Edge AI konsepsiyasi va hisoblash darajalari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Edge AI konsepsiyasi va hisoblash darajalari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Zamonaviy intellektual tizimlarda hisoblash bir nechta darajaga taqsimlanadi.</a:t>
            </a:r>
          </a:p>
          <a:p>
            <a:pPr>
              <a:spcBef>
                <a:spcPts val="400"/>
              </a:spcBef>
            </a:pPr>
            <a:r>
              <a:rPr sz="1600">
                <a:solidFill>
                  <a:srgbClr val="AEBBD9"/>
                </a:solidFill>
                <a:latin typeface="Segoe UI"/>
              </a:rPr>
              <a:t>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Edge AI konsepsiyasi va hisoblash darajalari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517e6a4b4bf3deb7.jpg"/>
          <p:cNvPicPr>
            <a:picLocks noChangeAspect="1"/>
          </p:cNvPicPr>
          <p:nvPr/>
        </p:nvPicPr>
        <p:blipFill>
          <a:blip r:embed="rId2"/>
          <a:srcRect l="21523" r="2152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TreyDanger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Edge AI konsepsiyasining asosiy tamoyili — ma'lumotni emas, qarorni uzatish.</a:t>
            </a:r>
          </a:p>
          <a:p>
            <a:pPr>
              <a:spcBef>
                <a:spcPts val="400"/>
              </a:spcBef>
            </a:pPr>
            <a:r>
              <a:rPr sz="1400">
                <a:solidFill>
                  <a:srgbClr val="AEBBD9"/>
                </a:solidFill>
                <a:latin typeface="Segoe UI"/>
              </a:rPr>
              <a:t>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Edge AI konsepsiyasi va hisoblash darajalari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graphicFrame>
        <p:nvGraphicFramePr>
          <p:cNvPr id="26" name="Table 25"/>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Daraja</a:t>
                      </a:r>
                    </a:p>
                  </a:txBody>
                  <a:tcPr>
                    <a:solidFill>
                      <a:srgbClr val="1C2755"/>
                    </a:solidFill>
                  </a:tcPr>
                </a:tc>
                <a:tc>
                  <a:txBody>
                    <a:bodyPr/>
                    <a:lstStyle/>
                    <a:p>
                      <a:r>
                        <a:rPr sz="1400" b="1">
                          <a:solidFill>
                            <a:srgbClr val="22D3EE"/>
                          </a:solidFill>
                          <a:latin typeface="Segoe UI"/>
                        </a:rPr>
                        <a:t>Tipik apparat</a:t>
                      </a:r>
                    </a:p>
                  </a:txBody>
                  <a:tcPr>
                    <a:solidFill>
                      <a:srgbClr val="1C2755"/>
                    </a:solidFill>
                  </a:tcPr>
                </a:tc>
                <a:tc>
                  <a:txBody>
                    <a:bodyPr/>
                    <a:lstStyle/>
                    <a:p>
                      <a:r>
                        <a:rPr sz="1400" b="1">
                          <a:solidFill>
                            <a:srgbClr val="22D3EE"/>
                          </a:solidFill>
                          <a:latin typeface="Segoe UI"/>
                        </a:rPr>
                        <a:t>Quvvat</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Tipik model</a:t>
                      </a:r>
                    </a:p>
                  </a:txBody>
                  <a:tcPr>
                    <a:solidFill>
                      <a:srgbClr val="1C2755"/>
                    </a:solidFill>
                  </a:tcPr>
                </a:tc>
                <a:tc>
                  <a:txBody>
                    <a:bodyPr/>
                    <a:lstStyle/>
                    <a:p>
                      <a:r>
                        <a:rPr sz="1400" b="1">
                          <a:solidFill>
                            <a:srgbClr val="22D3EE"/>
                          </a:solidFill>
                          <a:latin typeface="Segoe UI"/>
                        </a:rPr>
                        <a:t>Kechikish maqsadi</a:t>
                      </a:r>
                    </a:p>
                  </a:txBody>
                  <a:tcPr>
                    <a:solidFill>
                      <a:srgbClr val="1C2755"/>
                    </a:solidFill>
                  </a:tcPr>
                </a:tc>
              </a:tr>
              <a:tr h="520000">
                <a:tc>
                  <a:txBody>
                    <a:bodyPr/>
                    <a:lstStyle/>
                    <a:p>
                      <a:r>
                        <a:rPr sz="1400" b="0">
                          <a:solidFill>
                            <a:srgbClr val="E8EEFA"/>
                          </a:solidFill>
                          <a:latin typeface="Segoe UI"/>
                        </a:rPr>
                        <a:t>Bulut</a:t>
                      </a:r>
                    </a:p>
                  </a:txBody>
                  <a:tcPr>
                    <a:solidFill>
                      <a:srgbClr val="111834"/>
                    </a:solidFill>
                  </a:tcPr>
                </a:tc>
                <a:tc>
                  <a:txBody>
                    <a:bodyPr/>
                    <a:lstStyle/>
                    <a:p>
                      <a:r>
                        <a:rPr sz="1400" b="0">
                          <a:solidFill>
                            <a:srgbClr val="E8EEFA"/>
                          </a:solidFill>
                          <a:latin typeface="Segoe UI"/>
                        </a:rPr>
                        <a:t>H100/B200 serverlar</a:t>
                      </a:r>
                    </a:p>
                  </a:txBody>
                  <a:tcPr>
                    <a:solidFill>
                      <a:srgbClr val="111834"/>
                    </a:solidFill>
                  </a:tcPr>
                </a:tc>
                <a:tc>
                  <a:txBody>
                    <a:bodyPr/>
                    <a:lstStyle/>
                    <a:p>
                      <a:r>
                        <a:rPr sz="1400" b="0">
                          <a:solidFill>
                            <a:srgbClr val="E8EEFA"/>
                          </a:solidFill>
                          <a:latin typeface="Segoe UI"/>
                        </a:rPr>
                        <a:t>kVt'lar</a:t>
                      </a:r>
                    </a:p>
                  </a:txBody>
                  <a:tcPr>
                    <a:solidFill>
                      <a:srgbClr val="111834"/>
                    </a:solidFill>
                  </a:tcPr>
                </a:tc>
                <a:tc>
                  <a:txBody>
                    <a:bodyPr/>
                    <a:lstStyle/>
                    <a:p>
                      <a:r>
                        <a:rPr sz="1400" b="0">
                          <a:solidFill>
                            <a:srgbClr val="E8EEFA"/>
                          </a:solidFill>
                          <a:latin typeface="Segoe UI"/>
                        </a:rPr>
                        <a:t>80 GB+ / GPU</a:t>
                      </a:r>
                    </a:p>
                  </a:txBody>
                  <a:tcPr>
                    <a:solidFill>
                      <a:srgbClr val="111834"/>
                    </a:solidFill>
                  </a:tcPr>
                </a:tc>
                <a:tc>
                  <a:txBody>
                    <a:bodyPr/>
                    <a:lstStyle/>
                    <a:p>
                      <a:r>
                        <a:rPr sz="1400" b="0">
                          <a:solidFill>
                            <a:srgbClr val="E8EEFA"/>
                          </a:solidFill>
                          <a:latin typeface="Segoe UI"/>
                        </a:rPr>
                        <a:t>LLM, diffuziya, o'qitish</a:t>
                      </a:r>
                    </a:p>
                  </a:txBody>
                  <a:tcPr>
                    <a:solidFill>
                      <a:srgbClr val="111834"/>
                    </a:solidFill>
                  </a:tcPr>
                </a:tc>
                <a:tc>
                  <a:txBody>
                    <a:bodyPr/>
                    <a:lstStyle/>
                    <a:p>
                      <a:r>
                        <a:rPr sz="1400" b="0">
                          <a:solidFill>
                            <a:srgbClr val="E8EEFA"/>
                          </a:solidFill>
                          <a:latin typeface="Segoe UI"/>
                        </a:rPr>
                        <a:t>100 ms – s</a:t>
                      </a:r>
                    </a:p>
                  </a:txBody>
                  <a:tcPr>
                    <a:solidFill>
                      <a:srgbClr val="111834"/>
                    </a:solidFill>
                  </a:tcPr>
                </a:tc>
              </a:tr>
              <a:tr h="520000">
                <a:tc>
                  <a:txBody>
                    <a:bodyPr/>
                    <a:lstStyle/>
                    <a:p>
                      <a:r>
                        <a:rPr sz="1400" b="0">
                          <a:solidFill>
                            <a:srgbClr val="E8EEFA"/>
                          </a:solidFill>
                          <a:latin typeface="Segoe UI"/>
                        </a:rPr>
                        <a:t>Chekka server</a:t>
                      </a:r>
                    </a:p>
                  </a:txBody>
                  <a:tcPr>
                    <a:solidFill>
                      <a:srgbClr val="161F40"/>
                    </a:solidFill>
                  </a:tcPr>
                </a:tc>
                <a:tc>
                  <a:txBody>
                    <a:bodyPr/>
                    <a:lstStyle/>
                    <a:p>
                      <a:r>
                        <a:rPr sz="1400" b="0">
                          <a:solidFill>
                            <a:srgbClr val="E8EEFA"/>
                          </a:solidFill>
                          <a:latin typeface="Segoe UI"/>
                        </a:rPr>
                        <a:t>L4, AGX Orin, Xeon-D</a:t>
                      </a:r>
                    </a:p>
                  </a:txBody>
                  <a:tcPr>
                    <a:solidFill>
                      <a:srgbClr val="161F40"/>
                    </a:solidFill>
                  </a:tcPr>
                </a:tc>
                <a:tc>
                  <a:txBody>
                    <a:bodyPr/>
                    <a:lstStyle/>
                    <a:p>
                      <a:r>
                        <a:rPr sz="1400" b="0">
                          <a:solidFill>
                            <a:srgbClr val="E8EEFA"/>
                          </a:solidFill>
                          <a:latin typeface="Segoe UI"/>
                        </a:rPr>
                        <a:t>50–300 Vt</a:t>
                      </a:r>
                    </a:p>
                  </a:txBody>
                  <a:tcPr>
                    <a:solidFill>
                      <a:srgbClr val="161F40"/>
                    </a:solidFill>
                  </a:tcPr>
                </a:tc>
                <a:tc>
                  <a:txBody>
                    <a:bodyPr/>
                    <a:lstStyle/>
                    <a:p>
                      <a:r>
                        <a:rPr sz="1400" b="0">
                          <a:solidFill>
                            <a:srgbClr val="E8EEFA"/>
                          </a:solidFill>
                          <a:latin typeface="Segoe UI"/>
                        </a:rPr>
                        <a:t>16–64 GB</a:t>
                      </a:r>
                    </a:p>
                  </a:txBody>
                  <a:tcPr>
                    <a:solidFill>
                      <a:srgbClr val="161F40"/>
                    </a:solidFill>
                  </a:tcPr>
                </a:tc>
                <a:tc>
                  <a:txBody>
                    <a:bodyPr/>
                    <a:lstStyle/>
                    <a:p>
                      <a:r>
                        <a:rPr sz="1400" b="0">
                          <a:solidFill>
                            <a:srgbClr val="E8EEFA"/>
                          </a:solidFill>
                          <a:latin typeface="Segoe UI"/>
                        </a:rPr>
                        <a:t>YOLO, segmentatsiya, kichik LLM</a:t>
                      </a:r>
                    </a:p>
                  </a:txBody>
                  <a:tcPr>
                    <a:solidFill>
                      <a:srgbClr val="161F40"/>
                    </a:solidFill>
                  </a:tcPr>
                </a:tc>
                <a:tc>
                  <a:txBody>
                    <a:bodyPr/>
                    <a:lstStyle/>
                    <a:p>
                      <a:r>
                        <a:rPr sz="1400" b="0">
                          <a:solidFill>
                            <a:srgbClr val="E8EEFA"/>
                          </a:solidFill>
                          <a:latin typeface="Segoe UI"/>
                        </a:rPr>
                        <a:t>10–50 ms</a:t>
                      </a:r>
                    </a:p>
                  </a:txBody>
                  <a:tcPr>
                    <a:solidFill>
                      <a:srgbClr val="161F40"/>
                    </a:solidFill>
                  </a:tcPr>
                </a:tc>
              </a:tr>
              <a:tr h="520000">
                <a:tc>
                  <a:txBody>
                    <a:bodyPr/>
                    <a:lstStyle/>
                    <a:p>
                      <a:r>
                        <a:rPr sz="1400" b="0">
                          <a:solidFill>
                            <a:srgbClr val="E8EEFA"/>
                          </a:solidFill>
                          <a:latin typeface="Segoe UI"/>
                        </a:rPr>
                        <a:t>Qurilma chekkasi</a:t>
                      </a:r>
                    </a:p>
                  </a:txBody>
                  <a:tcPr>
                    <a:solidFill>
                      <a:srgbClr val="111834"/>
                    </a:solidFill>
                  </a:tcPr>
                </a:tc>
                <a:tc>
                  <a:txBody>
                    <a:bodyPr/>
                    <a:lstStyle/>
                    <a:p>
                      <a:r>
                        <a:rPr sz="1400" b="0">
                          <a:solidFill>
                            <a:srgbClr val="E8EEFA"/>
                          </a:solidFill>
                          <a:latin typeface="Segoe UI"/>
                        </a:rPr>
                        <a:t>Orin Nano/NX, Coral, telefon NPU</a:t>
                      </a:r>
                    </a:p>
                  </a:txBody>
                  <a:tcPr>
                    <a:solidFill>
                      <a:srgbClr val="111834"/>
                    </a:solidFill>
                  </a:tcPr>
                </a:tc>
                <a:tc>
                  <a:txBody>
                    <a:bodyPr/>
                    <a:lstStyle/>
                    <a:p>
                      <a:r>
                        <a:rPr sz="1400" b="0">
                          <a:solidFill>
                            <a:srgbClr val="E8EEFA"/>
                          </a:solidFill>
                          <a:latin typeface="Segoe UI"/>
                        </a:rPr>
                        <a:t>2–25 Vt</a:t>
                      </a:r>
                    </a:p>
                  </a:txBody>
                  <a:tcPr>
                    <a:solidFill>
                      <a:srgbClr val="111834"/>
                    </a:solidFill>
                  </a:tcPr>
                </a:tc>
                <a:tc>
                  <a:txBody>
                    <a:bodyPr/>
                    <a:lstStyle/>
                    <a:p>
                      <a:r>
                        <a:rPr sz="1400" b="0">
                          <a:solidFill>
                            <a:srgbClr val="E8EEFA"/>
                          </a:solidFill>
                          <a:latin typeface="Segoe UI"/>
                        </a:rPr>
                        <a:t>1–16 GB</a:t>
                      </a:r>
                    </a:p>
                  </a:txBody>
                  <a:tcPr>
                    <a:solidFill>
                      <a:srgbClr val="111834"/>
                    </a:solidFill>
                  </a:tcPr>
                </a:tc>
                <a:tc>
                  <a:txBody>
                    <a:bodyPr/>
                    <a:lstStyle/>
                    <a:p>
                      <a:r>
                        <a:rPr sz="1400" b="0">
                          <a:solidFill>
                            <a:srgbClr val="E8EEFA"/>
                          </a:solidFill>
                          <a:latin typeface="Segoe UI"/>
                        </a:rPr>
                        <a:t>MobileNet, YOLO-nano, ASR</a:t>
                      </a:r>
                    </a:p>
                  </a:txBody>
                  <a:tcPr>
                    <a:solidFill>
                      <a:srgbClr val="111834"/>
                    </a:solidFill>
                  </a:tcPr>
                </a:tc>
                <a:tc>
                  <a:txBody>
                    <a:bodyPr/>
                    <a:lstStyle/>
                    <a:p>
                      <a:r>
                        <a:rPr sz="1400" b="0">
                          <a:solidFill>
                            <a:srgbClr val="E8EEFA"/>
                          </a:solidFill>
                          <a:latin typeface="Segoe UI"/>
                        </a:rPr>
                        <a:t>5–30 ms</a:t>
                      </a:r>
                    </a:p>
                  </a:txBody>
                  <a:tcPr>
                    <a:solidFill>
                      <a:srgbClr val="111834"/>
                    </a:solidFill>
                  </a:tcPr>
                </a:tc>
              </a:tr>
              <a:tr h="520000">
                <a:tc>
                  <a:txBody>
                    <a:bodyPr/>
                    <a:lstStyle/>
                    <a:p>
                      <a:r>
                        <a:rPr sz="1400" b="0">
                          <a:solidFill>
                            <a:srgbClr val="E8EEFA"/>
                          </a:solidFill>
                          <a:latin typeface="Segoe UI"/>
                        </a:rPr>
                        <a:t>TinyML</a:t>
                      </a:r>
                    </a:p>
                  </a:txBody>
                  <a:tcPr>
                    <a:solidFill>
                      <a:srgbClr val="161F40"/>
                    </a:solidFill>
                  </a:tcPr>
                </a:tc>
                <a:tc>
                  <a:txBody>
                    <a:bodyPr/>
                    <a:lstStyle/>
                    <a:p>
                      <a:r>
                        <a:rPr sz="1400" b="0">
                          <a:solidFill>
                            <a:srgbClr val="E8EEFA"/>
                          </a:solidFill>
                          <a:latin typeface="Segoe UI"/>
                        </a:rPr>
                        <a:t>Cortex-M4/M7/M55, ESP32-S3</a:t>
                      </a:r>
                    </a:p>
                  </a:txBody>
                  <a:tcPr>
                    <a:solidFill>
                      <a:srgbClr val="161F40"/>
                    </a:solidFill>
                  </a:tcPr>
                </a:tc>
                <a:tc>
                  <a:txBody>
                    <a:bodyPr/>
                    <a:lstStyle/>
                    <a:p>
                      <a:r>
                        <a:rPr sz="1400" b="0">
                          <a:solidFill>
                            <a:srgbClr val="E8EEFA"/>
                          </a:solidFill>
                          <a:latin typeface="Segoe UI"/>
                        </a:rPr>
                        <a:t>1–100 mVt</a:t>
                      </a:r>
                    </a:p>
                  </a:txBody>
                  <a:tcPr>
                    <a:solidFill>
                      <a:srgbClr val="161F40"/>
                    </a:solidFill>
                  </a:tcPr>
                </a:tc>
                <a:tc>
                  <a:txBody>
                    <a:bodyPr/>
                    <a:lstStyle/>
                    <a:p>
                      <a:r>
                        <a:rPr sz="1400" b="0">
                          <a:solidFill>
                            <a:srgbClr val="E8EEFA"/>
                          </a:solidFill>
                          <a:latin typeface="Segoe UI"/>
                        </a:rPr>
                        <a:t>64 KB – 2 MB SRAM</a:t>
                      </a:r>
                    </a:p>
                  </a:txBody>
                  <a:tcPr>
                    <a:solidFill>
                      <a:srgbClr val="161F40"/>
                    </a:solidFill>
                  </a:tcPr>
                </a:tc>
                <a:tc>
                  <a:txBody>
                    <a:bodyPr/>
                    <a:lstStyle/>
                    <a:p>
                      <a:r>
                        <a:rPr sz="1400" b="0">
                          <a:solidFill>
                            <a:srgbClr val="E8EEFA"/>
                          </a:solidFill>
                          <a:latin typeface="Segoe UI"/>
                        </a:rPr>
                        <a:t>kalit so'z, anomaliya, imo-ishora</a:t>
                      </a:r>
                    </a:p>
                  </a:txBody>
                  <a:tcPr>
                    <a:solidFill>
                      <a:srgbClr val="161F40"/>
                    </a:solidFill>
                  </a:tcPr>
                </a:tc>
                <a:tc>
                  <a:txBody>
                    <a:bodyPr/>
                    <a:lstStyle/>
                    <a:p>
                      <a:r>
                        <a:rPr sz="1400" b="0">
                          <a:solidFill>
                            <a:srgbClr val="E8EEFA"/>
                          </a:solidFill>
                          <a:latin typeface="Segoe UI"/>
                        </a:rPr>
                        <a:t>10–100 ms</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d1825445339c4dd8.jpg"/>
          <p:cNvPicPr>
            <a:picLocks noChangeAspect="1"/>
          </p:cNvPicPr>
          <p:nvPr/>
        </p:nvPicPr>
        <p:blipFill>
          <a:blip r:embed="rId2"/>
          <a:srcRect t="3265" b="3265"/>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Embedded AI tizimlari va real vaqt talablari</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Embedded AI tizimlari va real vaqt talablari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O'rnatilgan tizim (embedded system) — muayyan funksiyani bajarish uchun qurilma ichiga joylashtirilgan ixtisoslashgan kompyuter.</a:t>
            </a:r>
          </a:p>
          <a:p>
            <a:pPr>
              <a:spcBef>
                <a:spcPts val="400"/>
              </a:spcBef>
            </a:pPr>
            <a:r>
              <a:rPr sz="1600">
                <a:solidFill>
                  <a:srgbClr val="AEBBD9"/>
                </a:solidFill>
                <a:latin typeface="Segoe UI"/>
              </a:rPr>
              <a:t>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Embedded AI tizimlari va real vaqt talablari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46e04a5f39832b3.jpg"/>
          <p:cNvPicPr>
            <a:picLocks noChangeAspect="1"/>
          </p:cNvPicPr>
          <p:nvPr/>
        </p:nvPicPr>
        <p:blipFill>
          <a:blip r:embed="rId2"/>
          <a:srcRect l="18322" r="1832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Gareth Halfacree from Bradford, UK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Real vaqt rejimida ishlash (real-time) atamasi «tez» degani emas, balki «belgilangan muddat ichida kafolatlangan» deganidir.</a:t>
            </a:r>
          </a:p>
          <a:p>
            <a:pPr>
              <a:spcBef>
                <a:spcPts val="400"/>
              </a:spcBef>
            </a:pPr>
            <a:r>
              <a:rPr sz="1400">
                <a:solidFill>
                  <a:srgbClr val="AEBBD9"/>
                </a:solidFill>
                <a:latin typeface="Segoe UI"/>
              </a:rPr>
              <a:t>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Embedded AI tizimlari va real vaqt talablari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377a23cf8d1bd11.jpg"/>
          <p:cNvPicPr>
            <a:picLocks noChangeAspect="1"/>
          </p:cNvPicPr>
          <p:nvPr/>
        </p:nvPicPr>
        <p:blipFill>
          <a:blip r:embed="rId2"/>
          <a:srcRect l="16051" r="1605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168552"/>
            <a:ext cx="50000" cy="124289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GPU'da ishlaydigan modellarning kechikishi odatda deterministik emas: xotira ajratish, kernel kompilyatsiyasi, operatsion tizimning boshqa jarayonlari ta'sir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Embedded AI tizimlari va real vaqt talablari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Quvur (pipeline) nuqtai nazaridan inferens — kamera → dekodlash → oldindan qayta ishlash (o'lcham o'zgartirish, normalizatsiya) → model → keyingi qayta ishlash (NMS, kuzatish) → qaror.</a:t>
            </a:r>
          </a:p>
          <a:p>
            <a:pPr>
              <a:spcBef>
                <a:spcPts val="400"/>
              </a:spcBef>
            </a:pPr>
            <a:r>
              <a:rPr sz="1400">
                <a:solidFill>
                  <a:srgbClr val="AEBBD9"/>
                </a:solidFill>
                <a:latin typeface="Segoe UI"/>
              </a:rPr>
              <a:t>Ko'pincha modelning o'zi quvur vaqtining yarmidan kamini oladi; qolgani JPEG dekodlash, rang fazosi konvertatsiyasi va CPU–GPU nusxalashga ketadi. Jetson'da bu bosqichlar NVDEC apparat dekoderi, VIC (Video Image Compositor) va DeepStream SDK orqali GPU'ga yuklanadi, shunda CPU bo'shab qoladi.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393d9621b5e98991.jpg"/>
          <p:cNvPicPr>
            <a:picLocks noChangeAspect="1"/>
          </p:cNvPicPr>
          <p:nvPr/>
        </p:nvPicPr>
        <p:blipFill>
          <a:blip r:embed="rId2"/>
          <a:srcRect l="24278" r="2427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Retired electrician · Wikimedia Commons · CC0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TinyML texnologiyalari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TinyML texnologiyalari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TinyML — mashinali o'qitish modellarini milliVatt darajasidagi quvvat bilan ishlaydigan mikrokontrollerlarda bajarish yo'nalishi.</a:t>
            </a:r>
          </a:p>
          <a:p>
            <a:pPr>
              <a:spcBef>
                <a:spcPts val="400"/>
              </a:spcBef>
            </a:pPr>
            <a:r>
              <a:rPr sz="1300">
                <a:solidFill>
                  <a:srgbClr val="AEBBD9"/>
                </a:solidFill>
                <a:latin typeface="Segoe UI"/>
              </a:rPr>
              <a:t>Tipik maqsad qurilma: Arm Cortex-M4F, 80–200 MHz, 256 KB flesh, 64–320 KB SRAM, suzuvchi nuqtali blok bor, lekin kesh va operatsion tizim deyarli yo'q.</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TinyML'ning texnik asoslari: modellar o'nlab–yuzlab kilobayt (masalan, kalit so'z aniqlovchi DS-CNN ~20–50 KB, odam aniqlash uchun MobileNet-v1 0,25x ~250–300 KB INT8); barcha og'irliklar INT8'ga kvantlangan, hisoblash butun sonli arifmetikada; xotira statik…</a:t>
            </a:r>
          </a:p>
          <a:p>
            <a:pPr>
              <a:spcBef>
                <a:spcPts val="400"/>
              </a:spcBef>
            </a:pPr>
            <a:r>
              <a:rPr sz="1300">
                <a:solidFill>
                  <a:srgbClr val="AEBBD9"/>
                </a:solidFill>
                <a:latin typeface="Segoe UI"/>
              </a:rPr>
              <a:t>Arm Ethos-U55/U65 microNPU'lari Cortex-M55 bilan birga INT8 konvolyutsiyani apparat darajasida tezlashtirib, bir xil quvvatda o'nlab marta ko'proq amal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TinyML texnologiyalari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517e6a4b4bf3deb7.jpg"/>
          <p:cNvPicPr>
            <a:picLocks noChangeAspect="1"/>
          </p:cNvPicPr>
          <p:nvPr/>
        </p:nvPicPr>
        <p:blipFill>
          <a:blip r:embed="rId2"/>
          <a:srcRect l="21523" r="21523"/>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TreyDanger · Wikimedia Commons · CC BY 2.0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TinyML loyihasida muhandis quyidagi balansni ushlab turadi: model aniqligi, flesh hajmi (model + kod), SRAM (arena + aktivatsiyalar), inferens vaqti (davomiylik va chastota orqali energiya) va batareya umri.</a:t>
            </a:r>
          </a:p>
          <a:p>
            <a:pPr>
              <a:spcBef>
                <a:spcPts val="400"/>
              </a:spcBef>
            </a:pPr>
            <a:r>
              <a:rPr sz="1400">
                <a:solidFill>
                  <a:srgbClr val="AEBBD9"/>
                </a:solidFill>
                <a:latin typeface="Segoe UI"/>
              </a:rPr>
              <a:t>Masalan, 1 mJ/inferens sarflaydigan model sekundiga bir marta ishlasa, 1000 mAh (≈ 3,7 Vt·soat ≈ 13 kJ) batareya nazariy jihatdan yillarcha yetadi; lekin radio uzatish ko'pincha inferensdan ko'proq energiya oladi, shuning uchun «qarorni uzatish» tamoyili bu yerda ham ishlaydi.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2808f516f552dd95.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Thomas Amberg · Wikimedia Commons · CC BY-SA 2.0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NVIDIA Jetson va Google Edge TPU platformalari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NVIDIA Jetson va Google Edge TPU platformalari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NVIDIA Jetson — Arm protsessor, Ampere arxitekturali GPU (Tensor Core bilan), apparat video kodek va ixtiyoriy DLA (Deep Learning Accelerator) bloklarini bitta modulda birlashtirgan tizim-modul (system-on-module).</a:t>
            </a:r>
          </a:p>
          <a:p>
            <a:pPr>
              <a:spcBef>
                <a:spcPts val="400"/>
              </a:spcBef>
            </a:pPr>
            <a:r>
              <a:rPr sz="1300">
                <a:solidFill>
                  <a:srgbClr val="AEBBD9"/>
                </a:solidFill>
                <a:latin typeface="Segoe UI"/>
              </a:rPr>
              <a:t>Orin avlodi ko'rsatkichlari (zich INT8, Tensor Core, ishlab chiqaruvchi ma'lumotlari, taxminiy):</a:t>
            </a:r>
          </a:p>
        </p:txBody>
      </p:sp>
      <p:sp>
        <p:nvSpPr>
          <p:cNvPr id="29" name="Rounded Rectangle 28"/>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Jetson'ning asosiy afzalligi — to'liq CUDA ekotizimi: ma'lumot markazida ishlatiladigan PyTorch, TensorRT, cuDNN, DeepStream, Triton Inference Server bevosita ishlaydi, shuning uchun bulutdan chekkaga ko'chish nisbatan oson.</a:t>
            </a:r>
          </a:p>
          <a:p>
            <a:pPr>
              <a:spcBef>
                <a:spcPts val="400"/>
              </a:spcBef>
            </a:pPr>
            <a:r>
              <a:rPr sz="1300">
                <a:solidFill>
                  <a:srgbClr val="AEBBD9"/>
                </a:solidFill>
                <a:latin typeface="Segoe UI"/>
              </a:rPr>
              <a:t>DLA bloklari esa INT8/FP16 konvolyutsion tarmoqlarni GPU'dan kamroq quvvat bilan bajaradi va GPU'ni boshqa vazifalarga bo'shatadi. JetPack SDK (Ubuntu asosida) barcha drayverlar va kutubxonalarni o'z ichiga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NVIDIA Jetson va Google Edge TPU platformalari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e46e04a5f39832b3.jpg"/>
          <p:cNvPicPr>
            <a:picLocks noChangeAspect="1"/>
          </p:cNvPicPr>
          <p:nvPr/>
        </p:nvPicPr>
        <p:blipFill>
          <a:blip r:embed="rId2"/>
          <a:srcRect l="18322" r="18322"/>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Gareth Halfacree from Bradford, UK · Wikimedia Commons · CC BY-SA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31152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7832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271520"/>
            <a:ext cx="5900000" cy="1423480"/>
          </a:xfrm>
          <a:prstGeom prst="rect">
            <a:avLst/>
          </a:prstGeom>
          <a:noFill/>
        </p:spPr>
        <p:txBody>
          <a:bodyPr wrap="square" anchor="ctr">
            <a:spAutoFit/>
          </a:bodyPr>
          <a:lstStyle/>
          <a:p>
            <a:r>
              <a:rPr sz="1400" b="0">
                <a:solidFill>
                  <a:srgbClr val="E8EEFA"/>
                </a:solidFill>
                <a:latin typeface="Segoe UI"/>
              </a:rPr>
              <a:t>Google Edge TPU (Coral mahsulot oilasi) — mutlaqo boshqa falsafa: faqat INT8, faqat TensorFlow Lite formatidagi va maxsus kompilyator (edgetpu_compiler) orqali o'tkazilgan modellar; 4 TOPS (INT8) unumdorlik atigi ~2 Vt (0,5 Vt/TOPS) iste'molda; USB stik…</a:t>
            </a:r>
          </a:p>
        </p:txBody>
      </p:sp>
      <p:sp>
        <p:nvSpPr>
          <p:cNvPr id="34" name="Rounded Rectangle 33"/>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39674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3885000"/>
            <a:ext cx="5900000" cy="1423480"/>
          </a:xfrm>
          <a:prstGeom prst="rect">
            <a:avLst/>
          </a:prstGeom>
          <a:noFill/>
        </p:spPr>
        <p:txBody>
          <a:bodyPr wrap="square" anchor="ctr">
            <a:spAutoFit/>
          </a:bodyPr>
          <a:lstStyle/>
          <a:p>
            <a:r>
              <a:rPr sz="1400" b="0">
                <a:solidFill>
                  <a:srgbClr val="E8EEFA"/>
                </a:solidFill>
                <a:latin typeface="Segoe UI"/>
              </a:rPr>
              <a:t>Edge TPU sistolik massiv (systolic array) arxitekturasida qurilgan: ma'lumot massiv bo'ylab oqadi, har bir element ko'paytirish-qo'shish bajaradi va natijani qo'shnisiga uzatadi — xotiraga murojaat minimal, energiya samaradorligi maksimal (M4 va M5…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NVIDIA Jetson va Google Edge TPU platformalari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1377a23cf8d1bd11.jpg"/>
          <p:cNvPicPr>
            <a:picLocks noChangeAspect="1"/>
          </p:cNvPicPr>
          <p:nvPr/>
        </p:nvPicPr>
        <p:blipFill>
          <a:blip r:embed="rId2"/>
          <a:srcRect l="16051" r="16051"/>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900328"/>
            <a:ext cx="50000" cy="17793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9" name="TextBox 28"/>
          <p:cNvSpPr txBox="1"/>
          <p:nvPr/>
        </p:nvSpPr>
        <p:spPr>
          <a:xfrm>
            <a:off x="1300000" y="2860328"/>
            <a:ext cx="5900000" cy="1859344"/>
          </a:xfrm>
          <a:prstGeom prst="rect">
            <a:avLst/>
          </a:prstGeom>
          <a:noFill/>
        </p:spPr>
        <p:txBody>
          <a:bodyPr wrap="square" anchor="ctr">
            <a:spAutoFit/>
          </a:bodyPr>
          <a:lstStyle/>
          <a:p>
            <a:r>
              <a:rPr sz="1600" b="0">
                <a:solidFill>
                  <a:srgbClr val="E8EEFA"/>
                </a:solidFill>
                <a:latin typeface="Segoe UI"/>
              </a:rPr>
              <a:t>Mobil telefonlarda NPU — Apple Neural Engine, Qualcomm Hexagon, Samsung/Google tensor bloklari — o'nlab TOPS beradi; ularga kirish Core ML, Android NNAPI (hozir asta-sekin LiteRT delegatlari va vendor SDK'lar bilan almashtirilmoqda), Qualcomm QNN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NVIDIA Jetson va Google Edge TPU platformalari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2" name="Table 21"/>
          <p:cNvGraphicFramePr>
            <a:graphicFrameLocks noGrp="1"/>
          </p:cNvGraphicFramePr>
          <p:nvPr/>
        </p:nvGraphicFramePr>
        <p:xfrm>
          <a:off x="550000" y="1400000"/>
          <a:ext cx="11100000" cy="20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Modul</a:t>
                      </a:r>
                    </a:p>
                  </a:txBody>
                  <a:tcPr>
                    <a:solidFill>
                      <a:srgbClr val="1C2755"/>
                    </a:solidFill>
                  </a:tcPr>
                </a:tc>
                <a:tc>
                  <a:txBody>
                    <a:bodyPr/>
                    <a:lstStyle/>
                    <a:p>
                      <a:r>
                        <a:rPr sz="1400" b="1">
                          <a:solidFill>
                            <a:srgbClr val="22D3EE"/>
                          </a:solidFill>
                          <a:latin typeface="Segoe UI"/>
                        </a:rPr>
                        <a:t>GPU (CUDA yadro / Tensor Core)</a:t>
                      </a:r>
                    </a:p>
                  </a:txBody>
                  <a:tcPr>
                    <a:solidFill>
                      <a:srgbClr val="1C2755"/>
                    </a:solidFill>
                  </a:tcPr>
                </a:tc>
                <a:tc>
                  <a:txBody>
                    <a:bodyPr/>
                    <a:lstStyle/>
                    <a:p>
                      <a:r>
                        <a:rPr sz="1400" b="1">
                          <a:solidFill>
                            <a:srgbClr val="22D3EE"/>
                          </a:solidFill>
                          <a:latin typeface="Segoe UI"/>
                        </a:rPr>
                        <a:t>CPU</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INT8 unumdorlik</a:t>
                      </a:r>
                    </a:p>
                  </a:txBody>
                  <a:tcPr>
                    <a:solidFill>
                      <a:srgbClr val="1C2755"/>
                    </a:solidFill>
                  </a:tcPr>
                </a:tc>
                <a:tc>
                  <a:txBody>
                    <a:bodyPr/>
                    <a:lstStyle/>
                    <a:p>
                      <a:r>
                        <a:rPr sz="1400" b="1">
                          <a:solidFill>
                            <a:srgbClr val="22D3EE"/>
                          </a:solidFill>
                          <a:latin typeface="Segoe UI"/>
                        </a:rPr>
                        <a:t>Quvvat rejimlari</a:t>
                      </a:r>
                    </a:p>
                  </a:txBody>
                  <a:tcPr>
                    <a:solidFill>
                      <a:srgbClr val="1C2755"/>
                    </a:solidFill>
                  </a:tcPr>
                </a:tc>
              </a:tr>
              <a:tr h="520000">
                <a:tc>
                  <a:txBody>
                    <a:bodyPr/>
                    <a:lstStyle/>
                    <a:p>
                      <a:r>
                        <a:rPr sz="1400" b="0">
                          <a:solidFill>
                            <a:srgbClr val="E8EEFA"/>
                          </a:solidFill>
                          <a:latin typeface="Segoe UI"/>
                        </a:rPr>
                        <a:t>Jetson Orin Nano 8GB</a:t>
                      </a:r>
                    </a:p>
                  </a:txBody>
                  <a:tcPr>
                    <a:solidFill>
                      <a:srgbClr val="111834"/>
                    </a:solidFill>
                  </a:tcPr>
                </a:tc>
                <a:tc>
                  <a:txBody>
                    <a:bodyPr/>
                    <a:lstStyle/>
                    <a:p>
                      <a:r>
                        <a:rPr sz="1400" b="0">
                          <a:solidFill>
                            <a:srgbClr val="E8EEFA"/>
                          </a:solidFill>
                          <a:latin typeface="Segoe UI"/>
                        </a:rPr>
                        <a:t>1024 / 32</a:t>
                      </a:r>
                    </a:p>
                  </a:txBody>
                  <a:tcPr>
                    <a:solidFill>
                      <a:srgbClr val="111834"/>
                    </a:solidFill>
                  </a:tcPr>
                </a:tc>
                <a:tc>
                  <a:txBody>
                    <a:bodyPr/>
                    <a:lstStyle/>
                    <a:p>
                      <a:r>
                        <a:rPr sz="1400" b="0">
                          <a:solidFill>
                            <a:srgbClr val="E8EEFA"/>
                          </a:solidFill>
                          <a:latin typeface="Segoe UI"/>
                        </a:rPr>
                        <a:t>6× Cortex-A78AE</a:t>
                      </a:r>
                    </a:p>
                  </a:txBody>
                  <a:tcPr>
                    <a:solidFill>
                      <a:srgbClr val="111834"/>
                    </a:solidFill>
                  </a:tcPr>
                </a:tc>
                <a:tc>
                  <a:txBody>
                    <a:bodyPr/>
                    <a:lstStyle/>
                    <a:p>
                      <a:r>
                        <a:rPr sz="1400" b="0">
                          <a:solidFill>
                            <a:srgbClr val="E8EEFA"/>
                          </a:solidFill>
                          <a:latin typeface="Segoe UI"/>
                        </a:rPr>
                        <a:t>8 GB LPDDR5, 68 GB/s (Super: 102 GB/s)</a:t>
                      </a:r>
                    </a:p>
                  </a:txBody>
                  <a:tcPr>
                    <a:solidFill>
                      <a:srgbClr val="111834"/>
                    </a:solidFill>
                  </a:tcPr>
                </a:tc>
                <a:tc>
                  <a:txBody>
                    <a:bodyPr/>
                    <a:lstStyle/>
                    <a:p>
                      <a:r>
                        <a:rPr sz="1400" b="0">
                          <a:solidFill>
                            <a:srgbClr val="E8EEFA"/>
                          </a:solidFill>
                          <a:latin typeface="Segoe UI"/>
                        </a:rPr>
                        <a:t>~40 TOPS (Super: ~67 TOPS)</a:t>
                      </a:r>
                    </a:p>
                  </a:txBody>
                  <a:tcPr>
                    <a:solidFill>
                      <a:srgbClr val="111834"/>
                    </a:solidFill>
                  </a:tcPr>
                </a:tc>
                <a:tc>
                  <a:txBody>
                    <a:bodyPr/>
                    <a:lstStyle/>
                    <a:p>
                      <a:r>
                        <a:rPr sz="1400" b="0">
                          <a:solidFill>
                            <a:srgbClr val="E8EEFA"/>
                          </a:solidFill>
                          <a:latin typeface="Segoe UI"/>
                        </a:rPr>
                        <a:t>7–15 Vt (Super: 25 Vt)</a:t>
                      </a:r>
                    </a:p>
                  </a:txBody>
                  <a:tcPr>
                    <a:solidFill>
                      <a:srgbClr val="111834"/>
                    </a:solidFill>
                  </a:tcPr>
                </a:tc>
              </a:tr>
              <a:tr h="520000">
                <a:tc>
                  <a:txBody>
                    <a:bodyPr/>
                    <a:lstStyle/>
                    <a:p>
                      <a:r>
                        <a:rPr sz="1400" b="0">
                          <a:solidFill>
                            <a:srgbClr val="E8EEFA"/>
                          </a:solidFill>
                          <a:latin typeface="Segoe UI"/>
                        </a:rPr>
                        <a:t>Jetson Orin NX 16GB</a:t>
                      </a:r>
                    </a:p>
                  </a:txBody>
                  <a:tcPr>
                    <a:solidFill>
                      <a:srgbClr val="161F40"/>
                    </a:solidFill>
                  </a:tcPr>
                </a:tc>
                <a:tc>
                  <a:txBody>
                    <a:bodyPr/>
                    <a:lstStyle/>
                    <a:p>
                      <a:r>
                        <a:rPr sz="1400" b="0">
                          <a:solidFill>
                            <a:srgbClr val="E8EEFA"/>
                          </a:solidFill>
                          <a:latin typeface="Segoe UI"/>
                        </a:rPr>
                        <a:t>1024 / 32 + 2 DLA</a:t>
                      </a:r>
                    </a:p>
                  </a:txBody>
                  <a:tcPr>
                    <a:solidFill>
                      <a:srgbClr val="161F40"/>
                    </a:solidFill>
                  </a:tcPr>
                </a:tc>
                <a:tc>
                  <a:txBody>
                    <a:bodyPr/>
                    <a:lstStyle/>
                    <a:p>
                      <a:r>
                        <a:rPr sz="1400" b="0">
                          <a:solidFill>
                            <a:srgbClr val="E8EEFA"/>
                          </a:solidFill>
                          <a:latin typeface="Segoe UI"/>
                        </a:rPr>
                        <a:t>8× Cortex-A78AE</a:t>
                      </a:r>
                    </a:p>
                  </a:txBody>
                  <a:tcPr>
                    <a:solidFill>
                      <a:srgbClr val="161F40"/>
                    </a:solidFill>
                  </a:tcPr>
                </a:tc>
                <a:tc>
                  <a:txBody>
                    <a:bodyPr/>
                    <a:lstStyle/>
                    <a:p>
                      <a:r>
                        <a:rPr sz="1400" b="0">
                          <a:solidFill>
                            <a:srgbClr val="E8EEFA"/>
                          </a:solidFill>
                          <a:latin typeface="Segoe UI"/>
                        </a:rPr>
                        <a:t>16 GB, 102 GB/s</a:t>
                      </a:r>
                    </a:p>
                  </a:txBody>
                  <a:tcPr>
                    <a:solidFill>
                      <a:srgbClr val="161F40"/>
                    </a:solidFill>
                  </a:tcPr>
                </a:tc>
                <a:tc>
                  <a:txBody>
                    <a:bodyPr/>
                    <a:lstStyle/>
                    <a:p>
                      <a:r>
                        <a:rPr sz="1400" b="0">
                          <a:solidFill>
                            <a:srgbClr val="E8EEFA"/>
                          </a:solidFill>
                          <a:latin typeface="Segoe UI"/>
                        </a:rPr>
                        <a:t>~100 TOPS (Super: ~157)</a:t>
                      </a:r>
                    </a:p>
                  </a:txBody>
                  <a:tcPr>
                    <a:solidFill>
                      <a:srgbClr val="161F40"/>
                    </a:solidFill>
                  </a:tcPr>
                </a:tc>
                <a:tc>
                  <a:txBody>
                    <a:bodyPr/>
                    <a:lstStyle/>
                    <a:p>
                      <a:r>
                        <a:rPr sz="1400" b="0">
                          <a:solidFill>
                            <a:srgbClr val="E8EEFA"/>
                          </a:solidFill>
                          <a:latin typeface="Segoe UI"/>
                        </a:rPr>
                        <a:t>10–25 Vt (Super: 40 Vt)</a:t>
                      </a:r>
                    </a:p>
                  </a:txBody>
                  <a:tcPr>
                    <a:solidFill>
                      <a:srgbClr val="161F40"/>
                    </a:solidFill>
                  </a:tcPr>
                </a:tc>
              </a:tr>
              <a:tr h="520000">
                <a:tc>
                  <a:txBody>
                    <a:bodyPr/>
                    <a:lstStyle/>
                    <a:p>
                      <a:r>
                        <a:rPr sz="1400" b="0">
                          <a:solidFill>
                            <a:srgbClr val="E8EEFA"/>
                          </a:solidFill>
                          <a:latin typeface="Segoe UI"/>
                        </a:rPr>
                        <a:t>Jetson AGX Orin 64GB</a:t>
                      </a:r>
                    </a:p>
                  </a:txBody>
                  <a:tcPr>
                    <a:solidFill>
                      <a:srgbClr val="111834"/>
                    </a:solidFill>
                  </a:tcPr>
                </a:tc>
                <a:tc>
                  <a:txBody>
                    <a:bodyPr/>
                    <a:lstStyle/>
                    <a:p>
                      <a:r>
                        <a:rPr sz="1400" b="0">
                          <a:solidFill>
                            <a:srgbClr val="E8EEFA"/>
                          </a:solidFill>
                          <a:latin typeface="Segoe UI"/>
                        </a:rPr>
                        <a:t>2048 / 64 + 2 DLA</a:t>
                      </a:r>
                    </a:p>
                  </a:txBody>
                  <a:tcPr>
                    <a:solidFill>
                      <a:srgbClr val="111834"/>
                    </a:solidFill>
                  </a:tcPr>
                </a:tc>
                <a:tc>
                  <a:txBody>
                    <a:bodyPr/>
                    <a:lstStyle/>
                    <a:p>
                      <a:r>
                        <a:rPr sz="1400" b="0">
                          <a:solidFill>
                            <a:srgbClr val="E8EEFA"/>
                          </a:solidFill>
                          <a:latin typeface="Segoe UI"/>
                        </a:rPr>
                        <a:t>12× Cortex-A78AE</a:t>
                      </a:r>
                    </a:p>
                  </a:txBody>
                  <a:tcPr>
                    <a:solidFill>
                      <a:srgbClr val="111834"/>
                    </a:solidFill>
                  </a:tcPr>
                </a:tc>
                <a:tc>
                  <a:txBody>
                    <a:bodyPr/>
                    <a:lstStyle/>
                    <a:p>
                      <a:r>
                        <a:rPr sz="1400" b="0">
                          <a:solidFill>
                            <a:srgbClr val="E8EEFA"/>
                          </a:solidFill>
                          <a:latin typeface="Segoe UI"/>
                        </a:rPr>
                        <a:t>64 GB, 204,8 GB/s</a:t>
                      </a:r>
                    </a:p>
                  </a:txBody>
                  <a:tcPr>
                    <a:solidFill>
                      <a:srgbClr val="111834"/>
                    </a:solidFill>
                  </a:tcPr>
                </a:tc>
                <a:tc>
                  <a:txBody>
                    <a:bodyPr/>
                    <a:lstStyle/>
                    <a:p>
                      <a:r>
                        <a:rPr sz="1400" b="0">
                          <a:solidFill>
                            <a:srgbClr val="E8EEFA"/>
                          </a:solidFill>
                          <a:latin typeface="Segoe UI"/>
                        </a:rPr>
                        <a:t>~275 TOPS</a:t>
                      </a:r>
                    </a:p>
                  </a:txBody>
                  <a:tcPr>
                    <a:solidFill>
                      <a:srgbClr val="111834"/>
                    </a:solidFill>
                  </a:tcPr>
                </a:tc>
                <a:tc>
                  <a:txBody>
                    <a:bodyPr/>
                    <a:lstStyle/>
                    <a:p>
                      <a:r>
                        <a:rPr sz="1400" b="0">
                          <a:solidFill>
                            <a:srgbClr val="E8EEFA"/>
                          </a:solidFill>
                          <a:latin typeface="Segoe UI"/>
                        </a:rPr>
                        <a:t>15–60 Vt</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4b5bd977528652ec.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Acabashi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Dasturiy vositalar zanjiri: konvertatsiya, kvantlash, delegat</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Dasturiy vositalar zanjiri: konvertatsiya, kvantlash, delegat</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Chekka qurilma uchun model tayyorlash odatda uch bosqichdan iborat.</a:t>
            </a:r>
          </a:p>
          <a:p>
            <a:pPr>
              <a:spcBef>
                <a:spcPts val="400"/>
              </a:spcBef>
            </a:pPr>
            <a:r>
              <a:rPr sz="1600">
                <a:solidFill>
                  <a:srgbClr val="AEBBD9"/>
                </a:solidFill>
                <a:latin typeface="Segoe UI"/>
              </a:rPr>
              <a:t>Birinchi — formatga o'tkazish: PyTorch → ONNX (torch.onnx.export) → ONNX Runtime (Jetson'da CUDA/TensorRT execution provider bilan) yoki TensorRT dvigateli; TensorFlow/Keras → TensorFlow Lite (2024 yildan boshlab LiteRT nomi bilan) → Edge TPU kompilyatori yoki TFLM.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Dasturiy vositalar zanjiri: konvertatsiya, kvantlash, delegat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Ikkinchi — kvantlash (quantization): FP32 og'irliklarni INT8'ga (ba'zan FP16'ga) o'tkazish, bu modelni 4 marta kichraytiradi va INT8 tezlatkichlarni ishlatish imkonini beradi; o'qitishdan keyingi statik kvantlash (post-training static quantization) uchun…</a:t>
            </a:r>
          </a:p>
          <a:p>
            <a:pPr>
              <a:spcBef>
                <a:spcPts val="400"/>
              </a:spcBef>
            </a:pPr>
            <a:r>
              <a:rPr sz="1400">
                <a:solidFill>
                  <a:srgbClr val="AEBBD9"/>
                </a:solidFill>
                <a:latin typeface="Segoe UI"/>
              </a:rPr>
              <a:t>Uchinchi — delegat yoki execution provider tanlash: tflite'da GPU delegate, NNAPI/QNN delegate, Edge TPU delegate; ONNX Runtime'da CPU, CUDA, TensorRT, OpenVINO, QNN provayderlari. Delegat grafning qaysi qismini qaysi apparatda bajarishni hal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Dasturiy vositalar zanjiri: konvertatsiya, kvantlash, delegat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17e6a4b4bf3deb7.jpg"/>
          <p:cNvPicPr>
            <a:picLocks noChangeAspect="1"/>
          </p:cNvPicPr>
          <p:nvPr/>
        </p:nvPicPr>
        <p:blipFill>
          <a:blip r:embed="rId2"/>
          <a:srcRect l="21523" r="2152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TreyDanger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168552"/>
            <a:ext cx="50000" cy="124289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M8 mavzusida kvantlash va boshqa siqish usullari nazariy jihatdan chuqurroq ko'riladi; bu yerda ular chekka joylash kontekstida amaliy vosita sifatida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32d9bd8fb074cc5e.jpg"/>
          <p:cNvPicPr>
            <a:picLocks noChangeAspect="1"/>
          </p:cNvPicPr>
          <p:nvPr/>
        </p:nvPicPr>
        <p:blipFill>
          <a:blip r:embed="rId2"/>
          <a:srcRect l="15641" r="15641"/>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iSys.PL · Wikimedia Commons · Attribution</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IoT va Edge AI integratsiyasi</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IoT va Edge AI integratsiyasi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Internet buyumlari (IoT) tizimlarida chekka intellekt uch qatlamli arxitekturada ishlaydi: qurilmalar (sensorlar, kameralar, kontrollerlar) → shlyuz yoki chekka server (ma'lumot yig'ish, oldingi filtrlash, mahalliy inferens, vaqtincha saqlash) → bulut (uzoq…</a:t>
            </a:r>
          </a:p>
          <a:p>
            <a:pPr>
              <a:spcBef>
                <a:spcPts val="400"/>
              </a:spcBef>
            </a:pPr>
            <a:r>
              <a:rPr sz="1400">
                <a:solidFill>
                  <a:srgbClr val="AEBBD9"/>
                </a:solidFill>
                <a:latin typeface="Segoe UI"/>
              </a:rPr>
              <a:t>Aloqa protokollari: MQTT (yengil publish/subscribe, tarmoq uzilishiga chidamli), CoAP, AMQP, sanoatda OPC UA va Modbus. Chekka qurilma natijalarni MQTT mavzulariga chop etadi, bulut esa buyruqlar va yangilanishlarni qaytaradi.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IoT va Edge AI integratsiyasi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46e04a5f39832b3.jpg"/>
          <p:cNvPicPr>
            <a:picLocks noChangeAspect="1"/>
          </p:cNvPicPr>
          <p:nvPr/>
        </p:nvPicPr>
        <p:blipFill>
          <a:blip r:embed="rId2"/>
          <a:srcRect l="18322" r="18322"/>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Gareth Halfacree from Bradford, UK · Wikimedia Commons · CC BY-SA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Model yangilash (OTA — over-the-air update) Edge AI'ning muhim tarkibiy qismi: model kuzatilgan ma'lumotda eskiradi (drift), yangi sinflar kerak bo'ladi, xatolar tuzatiladi.</a:t>
            </a:r>
          </a:p>
          <a:p>
            <a:pPr>
              <a:spcBef>
                <a:spcPts val="400"/>
              </a:spcBef>
            </a:pPr>
            <a:r>
              <a:rPr sz="1600">
                <a:solidFill>
                  <a:srgbClr val="AEBBD9"/>
                </a:solidFill>
                <a:latin typeface="Segoe UI"/>
              </a:rPr>
              <a:t>OTA tizimi versiyalash, imzolangan paketlar, bosqichma-bosqich tarqatish (canary) va muvaffaqiyatsizlikda avtomatik orqaga qaytishni ta'minlashi kerak. Bu MLOps (M12) va xavfsizlik (M9) mavzulari bilan kesishadi.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IoT va Edge AI integratsiyasi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M6 · Edge AI va intellektual o'rnatilgan kompyuter tizimlari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graphicFrame>
        <p:nvGraphicFramePr>
          <p:cNvPr id="23" name="Table 22"/>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400" b="1">
                          <a:solidFill>
                            <a:srgbClr val="22D3EE"/>
                          </a:solidFill>
                          <a:latin typeface="Segoe UI"/>
                        </a:rPr>
                        <a:t>Mezon</a:t>
                      </a:r>
                    </a:p>
                  </a:txBody>
                  <a:tcPr>
                    <a:solidFill>
                      <a:srgbClr val="1C2755"/>
                    </a:solidFill>
                  </a:tcPr>
                </a:tc>
                <a:tc>
                  <a:txBody>
                    <a:bodyPr/>
                    <a:lstStyle/>
                    <a:p>
                      <a:r>
                        <a:rPr sz="1400" b="1">
                          <a:solidFill>
                            <a:srgbClr val="22D3EE"/>
                          </a:solidFill>
                          <a:latin typeface="Segoe UI"/>
                        </a:rPr>
                        <a:t>Bulut inferens</a:t>
                      </a:r>
                    </a:p>
                  </a:txBody>
                  <a:tcPr>
                    <a:solidFill>
                      <a:srgbClr val="1C2755"/>
                    </a:solidFill>
                  </a:tcPr>
                </a:tc>
                <a:tc>
                  <a:txBody>
                    <a:bodyPr/>
                    <a:lstStyle/>
                    <a:p>
                      <a:r>
                        <a:rPr sz="1400" b="1">
                          <a:solidFill>
                            <a:srgbClr val="22D3EE"/>
                          </a:solidFill>
                          <a:latin typeface="Segoe UI"/>
                        </a:rPr>
                        <a:t>Chekka inferens</a:t>
                      </a:r>
                    </a:p>
                  </a:txBody>
                  <a:tcPr>
                    <a:solidFill>
                      <a:srgbClr val="1C2755"/>
                    </a:solidFill>
                  </a:tcPr>
                </a:tc>
              </a:tr>
              <a:tr h="520000">
                <a:tc>
                  <a:txBody>
                    <a:bodyPr/>
                    <a:lstStyle/>
                    <a:p>
                      <a:r>
                        <a:rPr sz="1400" b="0">
                          <a:solidFill>
                            <a:srgbClr val="E8EEFA"/>
                          </a:solidFill>
                          <a:latin typeface="Segoe UI"/>
                        </a:rPr>
                        <a:t>Kechikish</a:t>
                      </a:r>
                    </a:p>
                  </a:txBody>
                  <a:tcPr>
                    <a:solidFill>
                      <a:srgbClr val="111834"/>
                    </a:solidFill>
                  </a:tcPr>
                </a:tc>
                <a:tc>
                  <a:txBody>
                    <a:bodyPr/>
                    <a:lstStyle/>
                    <a:p>
                      <a:r>
                        <a:rPr sz="1400" b="0">
                          <a:solidFill>
                            <a:srgbClr val="E8EEFA"/>
                          </a:solidFill>
                          <a:latin typeface="Segoe UI"/>
                        </a:rPr>
                        <a:t>50–500 ms (tarmoqqa bog'liq)</a:t>
                      </a:r>
                    </a:p>
                  </a:txBody>
                  <a:tcPr>
                    <a:solidFill>
                      <a:srgbClr val="111834"/>
                    </a:solidFill>
                  </a:tcPr>
                </a:tc>
                <a:tc>
                  <a:txBody>
                    <a:bodyPr/>
                    <a:lstStyle/>
                    <a:p>
                      <a:r>
                        <a:rPr sz="1400" b="0">
                          <a:solidFill>
                            <a:srgbClr val="E8EEFA"/>
                          </a:solidFill>
                          <a:latin typeface="Segoe UI"/>
                        </a:rPr>
                        <a:t>5–50 ms, bashoratli</a:t>
                      </a:r>
                    </a:p>
                  </a:txBody>
                  <a:tcPr>
                    <a:solidFill>
                      <a:srgbClr val="111834"/>
                    </a:solidFill>
                  </a:tcPr>
                </a:tc>
              </a:tr>
              <a:tr h="520000">
                <a:tc>
                  <a:txBody>
                    <a:bodyPr/>
                    <a:lstStyle/>
                    <a:p>
                      <a:r>
                        <a:rPr sz="1400" b="0">
                          <a:solidFill>
                            <a:srgbClr val="E8EEFA"/>
                          </a:solidFill>
                          <a:latin typeface="Segoe UI"/>
                        </a:rPr>
                        <a:t>Model hajmi</a:t>
                      </a:r>
                    </a:p>
                  </a:txBody>
                  <a:tcPr>
                    <a:solidFill>
                      <a:srgbClr val="161F40"/>
                    </a:solidFill>
                  </a:tcPr>
                </a:tc>
                <a:tc>
                  <a:txBody>
                    <a:bodyPr/>
                    <a:lstStyle/>
                    <a:p>
                      <a:r>
                        <a:rPr sz="1400" b="0">
                          <a:solidFill>
                            <a:srgbClr val="E8EEFA"/>
                          </a:solidFill>
                          <a:latin typeface="Segoe UI"/>
                        </a:rPr>
                        <a:t>cheklanmagan</a:t>
                      </a:r>
                    </a:p>
                  </a:txBody>
                  <a:tcPr>
                    <a:solidFill>
                      <a:srgbClr val="161F40"/>
                    </a:solidFill>
                  </a:tcPr>
                </a:tc>
                <a:tc>
                  <a:txBody>
                    <a:bodyPr/>
                    <a:lstStyle/>
                    <a:p>
                      <a:r>
                        <a:rPr sz="1400" b="0">
                          <a:solidFill>
                            <a:srgbClr val="E8EEFA"/>
                          </a:solidFill>
                          <a:latin typeface="Segoe UI"/>
                        </a:rPr>
                        <a:t>odatda 1–500 MB, TinyML'da KB'lar</a:t>
                      </a:r>
                    </a:p>
                  </a:txBody>
                  <a:tcPr>
                    <a:solidFill>
                      <a:srgbClr val="161F40"/>
                    </a:solidFill>
                  </a:tcPr>
                </a:tc>
              </a:tr>
              <a:tr h="520000">
                <a:tc>
                  <a:txBody>
                    <a:bodyPr/>
                    <a:lstStyle/>
                    <a:p>
                      <a:r>
                        <a:rPr sz="1400" b="0">
                          <a:solidFill>
                            <a:srgbClr val="E8EEFA"/>
                          </a:solidFill>
                          <a:latin typeface="Segoe UI"/>
                        </a:rPr>
                        <a:t>Yangilash</a:t>
                      </a:r>
                    </a:p>
                  </a:txBody>
                  <a:tcPr>
                    <a:solidFill>
                      <a:srgbClr val="111834"/>
                    </a:solidFill>
                  </a:tcPr>
                </a:tc>
                <a:tc>
                  <a:txBody>
                    <a:bodyPr/>
                    <a:lstStyle/>
                    <a:p>
                      <a:r>
                        <a:rPr sz="1400" b="0">
                          <a:solidFill>
                            <a:srgbClr val="E8EEFA"/>
                          </a:solidFill>
                          <a:latin typeface="Segoe UI"/>
                        </a:rPr>
                        <a:t>markazlashgan, oson</a:t>
                      </a:r>
                    </a:p>
                  </a:txBody>
                  <a:tcPr>
                    <a:solidFill>
                      <a:srgbClr val="111834"/>
                    </a:solidFill>
                  </a:tcPr>
                </a:tc>
                <a:tc>
                  <a:txBody>
                    <a:bodyPr/>
                    <a:lstStyle/>
                    <a:p>
                      <a:r>
                        <a:rPr sz="1400" b="0">
                          <a:solidFill>
                            <a:srgbClr val="E8EEFA"/>
                          </a:solidFill>
                          <a:latin typeface="Segoe UI"/>
                        </a:rPr>
                        <a:t>OTA tizimi talab qiladi</a:t>
                      </a:r>
                    </a:p>
                  </a:txBody>
                  <a:tcPr>
                    <a:solidFill>
                      <a:srgbClr val="111834"/>
                    </a:solidFill>
                  </a:tcPr>
                </a:tc>
              </a:tr>
              <a:tr h="520000">
                <a:tc>
                  <a:txBody>
                    <a:bodyPr/>
                    <a:lstStyle/>
                    <a:p>
                      <a:r>
                        <a:rPr sz="1400" b="0">
                          <a:solidFill>
                            <a:srgbClr val="E8EEFA"/>
                          </a:solidFill>
                          <a:latin typeface="Segoe UI"/>
                        </a:rPr>
                        <a:t>Narx</a:t>
                      </a:r>
                    </a:p>
                  </a:txBody>
                  <a:tcPr>
                    <a:solidFill>
                      <a:srgbClr val="161F40"/>
                    </a:solidFill>
                  </a:tcPr>
                </a:tc>
                <a:tc>
                  <a:txBody>
                    <a:bodyPr/>
                    <a:lstStyle/>
                    <a:p>
                      <a:r>
                        <a:rPr sz="1400" b="0">
                          <a:solidFill>
                            <a:srgbClr val="E8EEFA"/>
                          </a:solidFill>
                          <a:latin typeface="Segoe UI"/>
                        </a:rPr>
                        <a:t>so'rov hajmiga proporsional</a:t>
                      </a:r>
                    </a:p>
                  </a:txBody>
                  <a:tcPr>
                    <a:solidFill>
                      <a:srgbClr val="161F40"/>
                    </a:solidFill>
                  </a:tcPr>
                </a:tc>
                <a:tc>
                  <a:txBody>
                    <a:bodyPr/>
                    <a:lstStyle/>
                    <a:p>
                      <a:r>
                        <a:rPr sz="1400" b="0">
                          <a:solidFill>
                            <a:srgbClr val="E8EEFA"/>
                          </a:solidFill>
                          <a:latin typeface="Segoe UI"/>
                        </a:rPr>
                        <a:t>bir martalik apparat + texnik xizmat</a:t>
                      </a:r>
                    </a:p>
                  </a:txBody>
                  <a:tcPr>
                    <a:solidFill>
                      <a:srgbClr val="161F40"/>
                    </a:solidFill>
                  </a:tcPr>
                </a:tc>
              </a:tr>
              <a:tr h="520000">
                <a:tc>
                  <a:txBody>
                    <a:bodyPr/>
                    <a:lstStyle/>
                    <a:p>
                      <a:r>
                        <a:rPr sz="1400" b="0">
                          <a:solidFill>
                            <a:srgbClr val="E8EEFA"/>
                          </a:solidFill>
                          <a:latin typeface="Segoe UI"/>
                        </a:rPr>
                        <a:t>Maxfiylik</a:t>
                      </a:r>
                    </a:p>
                  </a:txBody>
                  <a:tcPr>
                    <a:solidFill>
                      <a:srgbClr val="111834"/>
                    </a:solidFill>
                  </a:tcPr>
                </a:tc>
                <a:tc>
                  <a:txBody>
                    <a:bodyPr/>
                    <a:lstStyle/>
                    <a:p>
                      <a:r>
                        <a:rPr sz="1400" b="0">
                          <a:solidFill>
                            <a:srgbClr val="E8EEFA"/>
                          </a:solidFill>
                          <a:latin typeface="Segoe UI"/>
                        </a:rPr>
                        <a:t>ma'lumot qurilmadan chiqadi</a:t>
                      </a:r>
                    </a:p>
                  </a:txBody>
                  <a:tcPr>
                    <a:solidFill>
                      <a:srgbClr val="111834"/>
                    </a:solidFill>
                  </a:tcPr>
                </a:tc>
                <a:tc>
                  <a:txBody>
                    <a:bodyPr/>
                    <a:lstStyle/>
                    <a:p>
                      <a:r>
                        <a:rPr sz="1400" b="0">
                          <a:solidFill>
                            <a:srgbClr val="E8EEFA"/>
                          </a:solidFill>
                          <a:latin typeface="Segoe UI"/>
                        </a:rPr>
                        <a:t>ma'lumot joyida qoladi</a:t>
                      </a:r>
                    </a:p>
                  </a:txBody>
                  <a:tcPr>
                    <a:solidFill>
                      <a:srgbClr val="111834"/>
                    </a:solidFill>
                  </a:tcPr>
                </a:tc>
              </a:tr>
              <a:tr h="520000">
                <a:tc>
                  <a:txBody>
                    <a:bodyPr/>
                    <a:lstStyle/>
                    <a:p>
                      <a:r>
                        <a:rPr sz="1400" b="0">
                          <a:solidFill>
                            <a:srgbClr val="E8EEFA"/>
                          </a:solidFill>
                          <a:latin typeface="Segoe UI"/>
                        </a:rPr>
                        <a:t>Oflayn ishlash</a:t>
                      </a:r>
                    </a:p>
                  </a:txBody>
                  <a:tcPr>
                    <a:solidFill>
                      <a:srgbClr val="161F40"/>
                    </a:solidFill>
                  </a:tcPr>
                </a:tc>
                <a:tc>
                  <a:txBody>
                    <a:bodyPr/>
                    <a:lstStyle/>
                    <a:p>
                      <a:r>
                        <a:rPr sz="1400" b="0">
                          <a:solidFill>
                            <a:srgbClr val="E8EEFA"/>
                          </a:solidFill>
                          <a:latin typeface="Segoe UI"/>
                        </a:rPr>
                        <a:t>yo'q</a:t>
                      </a:r>
                    </a:p>
                  </a:txBody>
                  <a:tcPr>
                    <a:solidFill>
                      <a:srgbClr val="161F40"/>
                    </a:solidFill>
                  </a:tcPr>
                </a:tc>
                <a:tc>
                  <a:txBody>
                    <a:bodyPr/>
                    <a:lstStyle/>
                    <a:p>
                      <a:r>
                        <a:rPr sz="1400" b="0">
                          <a:solidFill>
                            <a:srgbClr val="E8EEFA"/>
                          </a:solidFill>
                          <a:latin typeface="Segoe UI"/>
                        </a:rPr>
                        <a:t>ha</a:t>
                      </a:r>
                    </a:p>
                  </a:txBody>
                  <a:tcPr>
                    <a:solidFill>
                      <a:srgbClr val="161F40"/>
                    </a:solidFill>
                  </a:tcPr>
                </a:tc>
              </a:tr>
              <a:tr h="520000">
                <a:tc>
                  <a:txBody>
                    <a:bodyPr/>
                    <a:lstStyle/>
                    <a:p>
                      <a:r>
                        <a:rPr sz="1400" b="0">
                          <a:solidFill>
                            <a:srgbClr val="E8EEFA"/>
                          </a:solidFill>
                          <a:latin typeface="Segoe UI"/>
                        </a:rPr>
                        <a:t>Energiya (qurilma)</a:t>
                      </a:r>
                    </a:p>
                  </a:txBody>
                  <a:tcPr>
                    <a:solidFill>
                      <a:srgbClr val="111834"/>
                    </a:solidFill>
                  </a:tcPr>
                </a:tc>
                <a:tc>
                  <a:txBody>
                    <a:bodyPr/>
                    <a:lstStyle/>
                    <a:p>
                      <a:r>
                        <a:rPr sz="1400" b="0">
                          <a:solidFill>
                            <a:srgbClr val="E8EEFA"/>
                          </a:solidFill>
                          <a:latin typeface="Segoe UI"/>
                        </a:rPr>
                        <a:t>radio uzatish</a:t>
                      </a:r>
                    </a:p>
                  </a:txBody>
                  <a:tcPr>
                    <a:solidFill>
                      <a:srgbClr val="111834"/>
                    </a:solidFill>
                  </a:tcPr>
                </a:tc>
                <a:tc>
                  <a:txBody>
                    <a:bodyPr/>
                    <a:lstStyle/>
                    <a:p>
                      <a:r>
                        <a:rPr sz="1400" b="0">
                          <a:solidFill>
                            <a:srgbClr val="E8EEFA"/>
                          </a:solidFill>
                          <a:latin typeface="Segoe UI"/>
                        </a:rPr>
                        <a:t>hisoblash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6" name="Rectangle 95"/>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8" name="TextBox 97"/>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200"/>
                            </p:stCondLst>
                            <p:childTnLst>
                              <p:par>
                                <p:cTn id="372" presetID="53" presetClass="entr" presetSubtype="16"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anim calcmode="lin" valueType="num">
                                      <p:cBhvr additive="base">
                                        <p:cTn id="375" dur="550" fill="hold"/>
                                        <p:tgtEl>
                                          <p:spTgt spid="95"/>
                                        </p:tgtEl>
                                        <p:attrNameLst>
                                          <p:attrName>ppt_w</p:attrName>
                                        </p:attrNameLst>
                                      </p:cBhvr>
                                      <p:tavLst>
                                        <p:tav tm="0">
                                          <p:val>
                                            <p:strVal val="0"/>
                                          </p:val>
                                        </p:tav>
                                        <p:tav tm="100000">
                                          <p:val>
                                            <p:strVal val="#ppt_w"/>
                                          </p:val>
                                        </p:tav>
                                      </p:tavLst>
                                    </p:anim>
                                    <p:anim calcmode="lin" valueType="num">
                                      <p:cBhvr additive="base">
                                        <p:cTn id="376" dur="550" fill="hold"/>
                                        <p:tgtEl>
                                          <p:spTgt spid="95"/>
                                        </p:tgtEl>
                                        <p:attrNameLst>
                                          <p:attrName>ppt_h</p:attrName>
                                        </p:attrNameLst>
                                      </p:cBhvr>
                                      <p:tavLst>
                                        <p:tav tm="0">
                                          <p:val>
                                            <p:strVal val="0"/>
                                          </p:val>
                                        </p:tav>
                                        <p:tav tm="100000">
                                          <p:val>
                                            <p:strVal val="#ppt_h"/>
                                          </p:val>
                                        </p:tav>
                                      </p:tavLst>
                                    </p:anim>
                                  </p:childTnLst>
                                </p:cTn>
                              </p:par>
                            </p:childTnLst>
                          </p:cTn>
                        </p:par>
                        <p:par>
                          <p:cTn id="377" fill="hold">
                            <p:stCondLst>
                              <p:cond delay="350"/>
                            </p:stCondLst>
                            <p:childTnLst>
                              <p:par>
                                <p:cTn id="378" presetID="22" presetClass="entr" presetSubtype="8" fill="hold" grpId="0" nodeType="afterEffect">
                                  <p:stCondLst>
                                    <p:cond delay="0"/>
                                  </p:stCondLst>
                                  <p:childTnLst>
                                    <p:set>
                                      <p:cBhvr>
                                        <p:cTn id="379" dur="1" fill="hold">
                                          <p:stCondLst>
                                            <p:cond delay="0"/>
                                          </p:stCondLst>
                                        </p:cTn>
                                        <p:tgtEl>
                                          <p:spTgt spid="96"/>
                                        </p:tgtEl>
                                        <p:attrNameLst>
                                          <p:attrName>style.visibility</p:attrName>
                                        </p:attrNameLst>
                                      </p:cBhvr>
                                      <p:to>
                                        <p:strVal val="visible"/>
                                      </p:to>
                                    </p:set>
                                    <p:animEffect transition="in" filter="wipe(left)">
                                      <p:cBhvr>
                                        <p:cTn id="381" dur="800"/>
                                        <p:tgtEl>
                                          <p:spTgt spid="96"/>
                                        </p:tgtEl>
                                      </p:cBhvr>
                                    </p:animEffect>
                                  </p:childTnLst>
                                </p:cTn>
                              </p:par>
                            </p:childTnLst>
                          </p:cTn>
                        </p:par>
                        <p:par>
                          <p:cTn id="382" fill="hold">
                            <p:stCondLst>
                              <p:cond delay="500"/>
                            </p:stCondLst>
                            <p:childTnLst>
                              <p:par>
                                <p:cTn id="383" presetID="42" presetClass="entr" presetSubtype="0" fill="hold" grpId="0" nodeType="afterEffect">
                                  <p:stCondLst>
                                    <p:cond delay="0"/>
                                  </p:stCondLst>
                                  <p:childTnLst>
                                    <p:set>
                                      <p:cBhvr>
                                        <p:cTn id="384" dur="1" fill="hold">
                                          <p:stCondLst>
                                            <p:cond delay="0"/>
                                          </p:stCondLst>
                                        </p:cTn>
                                        <p:tgtEl>
                                          <p:spTgt spid="97"/>
                                        </p:tgtEl>
                                        <p:attrNameLst>
                                          <p:attrName>style.visibility</p:attrName>
                                        </p:attrNameLst>
                                      </p:cBhvr>
                                      <p:to>
                                        <p:strVal val="visible"/>
                                      </p:to>
                                    </p:set>
                                    <p:animEffect transition="in" filter="fade">
                                      <p:cBhvr>
                                        <p:cTn id="385" dur="550"/>
                                        <p:tgtEl>
                                          <p:spTgt spid="97"/>
                                        </p:tgtEl>
                                      </p:cBhvr>
                                    </p:animEffect>
                                    <p:anim calcmode="lin" valueType="num">
                                      <p:cBhvr additive="base">
                                        <p:cTn id="386" dur="550" fill="hold"/>
                                        <p:tgtEl>
                                          <p:spTgt spid="97"/>
                                        </p:tgtEl>
                                        <p:attrNameLst>
                                          <p:attrName>ppt_x</p:attrName>
                                        </p:attrNameLst>
                                      </p:cBhvr>
                                      <p:tavLst>
                                        <p:tav tm="0">
                                          <p:val>
                                            <p:strVal val="#ppt_x"/>
                                          </p:val>
                                        </p:tav>
                                        <p:tav tm="100000">
                                          <p:val>
                                            <p:strVal val="#ppt_x"/>
                                          </p:val>
                                        </p:tav>
                                      </p:tavLst>
                                    </p:anim>
                                    <p:anim calcmode="lin" valueType="num">
                                      <p:cBhvr additive="base">
                                        <p:cTn id="387" dur="550" fill="hold"/>
                                        <p:tgtEl>
                                          <p:spTgt spid="97"/>
                                        </p:tgtEl>
                                        <p:attrNameLst>
                                          <p:attrName>ppt_y</p:attrName>
                                        </p:attrNameLst>
                                      </p:cBhvr>
                                      <p:tavLst>
                                        <p:tav tm="0">
                                          <p:val>
                                            <p:strVal val="#ppt_y+.08"/>
                                          </p:val>
                                        </p:tav>
                                        <p:tav tm="100000">
                                          <p:val>
                                            <p:strVal val="#ppt_y"/>
                                          </p:val>
                                        </p:tav>
                                      </p:tavLst>
                                    </p:anim>
                                  </p:childTnLst>
                                </p:cTn>
                              </p:par>
                            </p:childTnLst>
                          </p:cTn>
                        </p:par>
                        <p:par>
                          <p:cTn id="388" fill="hold">
                            <p:stCondLst>
                              <p:cond delay="650"/>
                            </p:stCondLst>
                            <p:childTnLst>
                              <p:par>
                                <p:cTn id="389" presetID="10" presetClass="entr" presetSubtype="0" fill="hold" grpId="0" nodeType="afterEffect">
                                  <p:stCondLst>
                                    <p:cond delay="0"/>
                                  </p:stCondLst>
                                  <p:childTnLst>
                                    <p:set>
                                      <p:cBhvr>
                                        <p:cTn id="390" dur="1" fill="hold">
                                          <p:stCondLst>
                                            <p:cond delay="0"/>
                                          </p:stCondLst>
                                        </p:cTn>
                                        <p:tgtEl>
                                          <p:spTgt spid="98"/>
                                        </p:tgtEl>
                                        <p:attrNameLst>
                                          <p:attrName>style.visibility</p:attrName>
                                        </p:attrNameLst>
                                      </p:cBhvr>
                                      <p:to>
                                        <p:strVal val="visible"/>
                                      </p:to>
                                    </p:set>
                                    <p:animEffect transition="in" filter="fade">
                                      <p:cBhvr>
                                        <p:cTn id="391" dur="55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
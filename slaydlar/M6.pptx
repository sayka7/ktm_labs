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hisoblashini bulutdan ma'lumot manbaiga yaqin joyga, ya'ni chekka qurilmalarga ko'chirish (Edge AI) g'oyasini, uning texnik va iqtisodiy sabablarini, apparat platformalarini va dasturiy vositalar zanjirini tushuntirish hamda magistrantga chekka qurilmada modelni joylash va o'lchash ko'nikmasini berishdir. Mavzuni o'zlashtirgan talaba:</a:t>
            </a:r>
          </a:p>
          <a:p/>
          <a:p>
            <a:r>
              <a:t>Edge AI, o'rnatilgan sun'iy intellekt (Embedded AI) va TinyML tushunchalarini bir-biridan ajrata oladi, har birining resurs chegaralarini (quvvat, xotira, kechikish) raqamlarda ifodalay oladi va qaysi vazifa qaysi darajaga mosligini asoslay oladi.</a:t>
            </a:r>
          </a:p>
          <a:p/>
          <a:p>
            <a:r>
              <a:t>NVIDIA Jetson (Orin Nano, Orin NX, AGX Orin), Google Edge TPU (Coral), mikrokontrollerlar (Arm Cortex-M, ESP32) va mobil NPU'larning arxitekturaviy farqlarini, qo'llab-quvvatlanadigan formatlarni va o'lchov ko'rsatkichlarini taqqoslay oladi.</a:t>
            </a:r>
          </a:p>
          <a:p/>
          <a:p>
            <a:r>
              <a:t>O'qitilgan modelni TensorFlow Lite (LiteRT) yoki ONNX Runtime orqali chekka qurilmaga tayyorlash — konvertatsiya, kvantlash, delegat tanlash — jarayonini amalda bajara oladi.</a:t>
            </a:r>
          </a:p>
          <a:p/>
          <a:p>
            <a:r>
              <a:t>Real vaqt talablarini (qattiq va yumshoq deadline) va ular inferens quvurini loyihalashga qanday ta'sir qilishini tushuntira oladi.</a:t>
            </a:r>
          </a:p>
          <a:p/>
          <a:p>
            <a:r>
              <a:t>IoT va Edge AI integratsiyasida ma'lumot oqimi, model yangilash (OTA) va bulut bilan hamkorlik arxitekturalarini loyihalay oladi.</a:t>
            </a:r>
          </a:p>
          <a:p/>
          <a:p>
            <a:r>
              <a:t>Mavzu fanning TN1 (AI tizimlari arxitekturasi), TN3 (geterogen platformalarda joylash) va TN5 (unumdorlik va energiya samaradorligini baholash) natijalariga xizmat qiladi; A4 amaliy mashg'uloti (Jetson yoki Edge TPU'da inferens) va 2-mustaqil ta'lim topshirig'i uchun nazariy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hisoblashini bulutdan ma'lumot manbaiga yaqin joyga, ya'ni chekka qurilmalarga ko'chirish (Edge AI) g'oyasini, uning texnik va iqtisodiy sabablarini, apparat platformalarini va dasturiy vositalar zanjirini tushuntirish hamda magistrantga chekka qurilmada modelni joylash va o'lchash ko'nikmasini berishdir. Mavzuni o'zlashtirgan talaba:</a:t>
            </a:r>
          </a:p>
          <a:p/>
          <a:p>
            <a:r>
              <a:t>Edge AI, o'rnatilgan sun'iy intellekt (Embedded AI) va TinyML tushunchalarini bir-biridan ajrata oladi, har birining resurs chegaralarini (quvvat, xotira, kechikish) raqamlarda ifodalay oladi va qaysi vazifa qaysi darajaga mosligini asoslay oladi.</a:t>
            </a:r>
          </a:p>
          <a:p/>
          <a:p>
            <a:r>
              <a:t>NVIDIA Jetson (Orin Nano, Orin NX, AGX Orin), Google Edge TPU (Coral), mikrokontrollerlar (Arm Cortex-M, ESP32) va mobil NPU'larning arxitekturaviy farqlarini, qo'llab-quvvatlanadigan formatlarni va o'lchov ko'rsatkichlarini taqqoslay oladi.</a:t>
            </a:r>
          </a:p>
          <a:p/>
          <a:p>
            <a:r>
              <a:t>O'qitilgan modelni TensorFlow Lite (LiteRT) yoki ONNX Runtime orqali chekka qurilmaga tayyorlash — konvertatsiya, kvantlash, delegat tanlash — jarayonini amalda bajara oladi.</a:t>
            </a:r>
          </a:p>
          <a:p/>
          <a:p>
            <a:r>
              <a:t>Real vaqt talablarini (qattiq va yumshoq deadline) va ular inferens quvurini loyihalashga qanday ta'sir qilishini tushuntira oladi.</a:t>
            </a:r>
          </a:p>
          <a:p/>
          <a:p>
            <a:r>
              <a:t>IoT va Edge AI integratsiyasida ma'lumot oqimi, model yangilash (OTA) va bulut bilan hamkorlik arxitekturalarini loyihalay oladi.</a:t>
            </a:r>
          </a:p>
          <a:p/>
          <a:p>
            <a:r>
              <a:t>Mavzu fanning TN1 (AI tizimlari arxitekturasi), TN3 (geterogen platformalarda joylash) va TN5 (unumdorlik va energiya samaradorligini baholash) natijalariga xizmat qiladi; A4 amaliy mashg'uloti (Jetson yoki Edge TPU'da inferens) va 2-mustaqil ta'lim topshirig'i uchun nazariy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modellari dastlab ma'lumot markazlarida, kuchli GPU'larda ishlar edi: kamera yoki sensor ma'lumotni bulutga yuboradi, u yerda model ishlaydi, natija qaytib keladi. Bu sxema ko'p holatlarda to'g'ri, lekin to'rtta jiddiy cheklovga ega. Birinchisi — kechikish (latency): avtomobil tormozlash qarorini yoki sanoat robotining to'xtash signalini bulutdan kutishi mumkin emas; 4G/5G tarmoqdagi o'rtacha aylanish vaqti (round-trip) 20–100 ms, tarmoq band bo'lganda esa sekundlargacha cho'zilishi mumkin. Ikkinchisi — o'tkazuvchanlik va narx: bitta 1080p kamera soatiga bir necha gigabayt video hosil qiladi; minglab kameraning xom oqimini bulutga uzatish texnik va iqtisodiy jihatdan oqilona emas. Uchinchisi — maxfiylik va qonunchilik: tibbiy, biometrik yoki shaxsiy ma'lumotlarni qurilmadan chiqarmaslik talab qilinadigan holatlar ko'p. To'rtinchisi — ishonchlilik: tarmoq uzilganda qurilma ishlashda davom etishi kerak.</a:t>
            </a:r>
          </a:p>
          <a:p/>
          <a:p>
            <a:r>
              <a:t>Shu to'rt sabab Edge AI deb ataladigan yondashuvni tug'dirdi: model inferensini ma'lumot paydo bo'ladigan joyga iloji boricha yaqin — kamera ichida, zavod shlyuzida, telefonda, hatto batareyali sensorning mikrokontrollerida — bajarish. Sanoat kontekstida bu yo'nalish juda keng: zavodlarda mahsulot nuqsonlarini konveyerda aniqlash, qishloq xo'jaligida dron orqali o'simlik kasalliklarini tanish, shahar transportida yo'lovchi oqimini sanash, tibbiyotda portativ ultratovush qurilmalarida tasvirni tahlil qilish, telefon kamerasida real vaqtda fon ajratish — bularning barchasi chekka inferens misollari. O'zbekiston kontekstida ham bu dolzarb: qishloq xo'jaligi monitoringi, chorva sanash, yo'l harakati nazorati kabi vazifalar ko'pincha barqaror internet bo'lmagan joylarda bajariladi.</a:t>
            </a:r>
          </a:p>
          <a:p/>
          <a:p>
            <a:r>
              <a:t>Edge AI muhandisi uchun markaziy qiyinchilik — resurs chegarasi. Ma'lumot markazidagi H100 700 Vt iste'mol qiladi va 80 GB xotiraga ega; Jetson Orin Nano 7–15 Vt va 8 GB; Coral Edge TPU 2 Vt; Cortex-M mikrokontroller esa milliVattlar va bir necha yuz kilobayt. Demak, bulut uchun o'qitilgan model chekkaga «shundayligicha» ko'chmaydi — uni siqish, kvantlash, qayta tuzish va apparatga moslash kerak. Bu ma'ruza aynan shu zanjirni yoritadi.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a:p/>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a:p/>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a:p/>
          <a:p>
            <a:r>
              <a:t>Quvur (pipeline) nuqtai nazaridan inferens — kamera → dekodlash → oldindan qayta ishlash (o'lcham o'zgartirish, normalizatsiya) → model → keyingi qayta ishlash (NMS, kuzatish) → qaror. 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a:p/>
          <a:p>
            <a:r>
              <a:t>TinyML'ning texnik asoslari: modellar o'nlab–yuzlab kilobayt (masalan, kalit so'z aniqlovchi DS-CNN ~20–50 KB, odam aniqlash uchun MobileNet-v1 0,25x ~250–300 KB INT8); barcha og'irliklar INT8'ga kvantlangan, hisoblash butun sonli arifmetikada; xotira statik — dinamik ajratish yo'q, «tensor arena» deb ataladigan bitta bufer oldindan ajratiladi; dasturiy stek — TensorFlow Lite for Microcontrollers (TFLM), Arm CMSIS-NN kernellari (Cortex-M'ning SIMD ko'rsatmalaridan foydalanadi), Edge Impulse kabi platformalar. Arm Ethos-U55/U65 microNPU'lari Cortex-M55 bilan birga INT8 konvolyutsiyani apparat darajasida tezlashtirib, bir xil quvvatda o'nlab marta ko'proq amal bajaradi.</a:t>
            </a:r>
          </a:p>
          <a:p/>
          <a:p>
            <a:r>
              <a:t>TinyML loyihasida muhandis quyidagi balansni ushlab turadi: model aniqligi, flesh hajmi (model + kod), SRAM (arena + aktivatsiyalar), inferens vaqti (davomiylik va chastota orqali energiya) va batareya umri. 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a:p/>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a:p/>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a:p/>
          <a:p>
            <a:r>
              <a:t>M8 mavzusida kvantlash va boshqa siqish usullari nazariy jihatdan chuqurroq ko'riladi; bu yerda ular chekka joylash kontekstida amaliy vosita sifatida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a:p/>
          <a:p>
            <a:r>
              <a:t>Model yangilash (OTA — over-the-air update) Edge AI'ning muhim tarkibiy qismi: model kuzatilgan ma'lumotda eskiradi (drift), yangi sinflar kerak bo'ladi, xatolar tuzatiladi. OTA tizimi versiyalash, imzolangan paketlar, bosqichma-bosqich tarqatish (canary) va muvaffaqiyatsizlikda avtomatik orqaga qaytishni ta'minlashi kerak. Bu MLOps (M12) va xavfsizlik (M9) mavzulari bilan kesishadi. Federativ o'qitish (federated learning) — qurilmalar xom ma'lumotni yubormasdan, mahalliy gradientlarni yoki model yangilanishlarini bulutga yuboradi — maxfiylik talab qilinadigan IoT tizimlarida ishlatiladi.</a:t>
            </a:r>
          </a:p>
          <a:p/>
          <a:p>
            <a:r>
              <a:t>Bulut va chekka o'rtasidagi tanlovni quyidagi jadval umumlashtiradi: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rasm tasniflash modelini (MobileNetV2, ImageNet) chekka qurilma uchun tayyorlaymiz: TensorFlow Lite'ga konvertatsiya, INT8 kvantlash, x86 va Jetson'da o'lchash, ONNX Runtime bilan taqqoslash va Jetson'da quvvatni kuzatish. Kodlar Python 3.10, TensorFlow 2.15+ va ONNX Runtime 1.17+ muhitida tekshirilgan tuzilmaga ega; Jetson qismi JetPack 6 bilan Orin Nano uchun yozilgan. Barcha raqamlar taxminiy va qurilmaga qarab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Keras modeli avval SavedModel grafiga eksport qilindi, keyin TFLite konverteri uni FlatBuffer formatidagi .tflite fayliga aylantirdi. Bu bosqichda hech qanday kvantlash yo'q — og'irliklar FP32 (3,5 mln parametr × 4 bayt ≈ 14 MB). TFLite grafi tarjimon (interpreter) tomonidan statik tahlil qilinadigan, dinamik Python mantiqsiz formatdir — bu chekka qurilma uchun zarur shart.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representative_dataset konverterga har bir aktivatsiya tensorining real qiymat diapazonini ko'rsatadi; shu diapazon asosida har tensor uchun masshtab (scale) va nol nuqta (zero point) hisoblanadi: q = round(x / scale) + zero_point. TFLITE_BUILTINS_INT8 to'liq butun sonli graf talab qiladi — agar biror operatsiya INT8'da qo'llab-quvvatlanmasa, konvertatsiya xato beradi (bu Edge TPU uchun aynan kerakli xatti-harakat). Hajm 4 marta kichraydi. Agar kalibrlash to'plami vakillik qilmasa (masalan, faqat bitta sinf rasmlari), diapazonlar noto'g'ri bo'lib, aniqlik keskin tushadi — bu eng ko'p uchraydigan xato.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tarjimon har bir rasm uchun ishga tushirildi va vaqt alohida o'lchandi; median va p99 — real vaqt tizimlari uchun o'rtachadan muhimroq ko'rsatkichlar. Taxminiy natija (4 yadroli x86 noutbuk, XNNPACK delegati avtomatik yoqilgan): FP32 — top-1 ≈ 0,713, median ≈ 12 ms; INT8 — top-1 ≈ 0,705, median ≈ 6 ms, p99 ≈ 8 ms. Aniqlik yo'qotilishi ~0,8 foiz punkt, tezlik 2 baravar. x86'da INT8 yutuq VNNI ko'rsatmalari borligiga bog'liq; Arm Cortex-A'da (dot-product ko'rsatmalari bilan) yutuq odatda 2–3 baravar.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PyTorch modeli ONNX grafiga eksport qilindi — bu freymvorkdan mustaqil oraliq format (ONNX, [10]). ONNX Runtime'da provayderlar ro'yxati ustuvorlik tartibini belgilaydi: TensorRT qo'llab-quvvatlagan qism tugunlarni oladi, qolgani CUDA'ga, undan qolgani CPU'ga tushadi. trt_engine_cache_enable birinchi ishga tushirishda qurilgan dvigatelni diskka saqlaydi — aks holda har ishga tushirishda 30–120 soniya kompilyatsiya ketadi (chekka qurilmada bu xizmat boshlanishini juda kechiktiradi). Taxminiy natija: x86 CPU ORT FP32 ≈ 10 ms; Jetson Orin Nano CUDA FP32 ≈ 6–8 ms, TensorRT FP16 ≈ 2–3 ms, TensorRT INT8 (kalibrlash bilan) ≈ 1,5–2 ms (batch=1). Orin Nano'da MobileNetV2 shunchalik kichikki, kernel ishga tushirish yuki sezilarli — batch=8'da throughput sekundiga 1500–2500 rasmga yetadi.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nvpmodel CPU/GPU yadro soni va chastota chegaralarini belgilaydi; jetson_clocks dinamik chastota boshqaruvini o'chirib, o'lchovni barqaror qiladi (ishlab chiqarishda esa issiqlik va energiya uchun dinamik rejim qoldiriladi). tegrastats ichki quvvat sensorlaridan o'qiydi. Taxminiy natija: Orin Nano 15 Vt rejimida MobileNetV2 TensorRT INT8 inferensida modul ~9–11 Vt iste'mol qiladi, sekundiga ~500 rasm (batch=1) → ~20 mJ/rasm; 7 Vt rejimida ~5–6 Vt va ~300 rasm/s → ~18 mJ/rasm. Energiya/rasm ko'rsatkichi past quvvat rejimida ko'pincha yaxshiroq — bu batareyali qurilmalar uchun muhim xulosa. Taqqoslash uchun Coral Edge TPU'da MobileNetV2 INT8 ≈ 2,5–3 ms/rasm, ~2 Vt → ~6 mJ/rasm; Cortex-M7 (480 MHz) da esa MobileNetV2 to'liq o'lchamda sig'maydi — 0,25x kichraytirilgan varianti ~600–800 ms 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kompilyator INT8 grafni Edge TPU ko'rsatmalariga aylantiradi va -s bilan har operatsiya qayerda bajarilishini ko'rsatadi. Agar graf o'rtasida qo'llab-quvvatlanmagan operatsiya bo'lsa, undan keyingi barcha operatsiyalar CPU'da qoladi — shuning uchun modelni loyihalashda Edge TPU qo'llab-quvvatlaydigan operatsiyalar ro'yxatiga qarab turish kerak. To'liq butun sonli kirish/chiqish (2-qadamdagi uint8) aynan shu bosqich uchun zarur edi.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Misoldan bir nechta muhandislik xulosalari kelib chiqadi. Birinchidan, INT8 kvantlash 4 baravar kichik model va 2–3 baravar tezlik evaziga odatda bir foiz punktdan kam aniqlik yo'qotadi — bu deyarli har doim foydali savdo, lekin faqat kalibrlash to'plami sifatli bo'lganda. Ikkinchidan, bir xil model turli apparatda o'nlab marta farq qiluvchi kechikish beradi: Cortex-M7'da yuzlab millisekund, x86 CPU'da ~6 ms, Orin Nano TensorRT'da ~2 ms, Edge TPU'da ~3 ms. Lekin energiya/rasm bo'yicha tartib boshqacha: Edge TPU eng tejamkor, Jetson o'rtada, umumiy maqsadli CPU eng isrofgar. Demak, «eng tez» va «eng samarali» har doim bir xil qurilma emas — tanlov vazifa talablariga bog'liq.</a:t>
            </a:r>
          </a:p>
          <a:p/>
          <a:p>
            <a:r>
              <a:t>Uchinchidan, kichik modellarda kernel ishga tushirish va ma'lumot uzatish yuki modelning o'zidan katta bo'lishi mumkin; shuning uchun batch=1 kechikish va throughput ko'rsatkichlari alohida tahlil qilinishi kerak. Real vaqt kamera quvuri uchun batch=1 kechikish muhim; oflayn video arxivini qayta ishlash uchun esa throughput.</a:t>
            </a:r>
          </a:p>
          <a:p/>
          <a:p>
            <a:r>
              <a:t>To'rtinchidan, quvvat rejimi tanlovi energiya samaradorligiga nochiziqli ta'sir qiladi: past rejimda tezlik kamayadi, lekin energiya/inferens ko'pincha yaxshilanadi, chunki statik iste'mol (leakage) va boshqa komponentlar hissasi nisbatan kamayadi. Shuning uchun batareyali tizimlarda «eng yuqori chastota» emas, «talabni qondiradigan eng past chastota» qoidasi ishlaydi.</a:t>
            </a:r>
          </a:p>
          <a:p/>
          <a:p>
            <a:r>
              <a:t>Cheklovlar: barcha o'lchovlar sintetik yoki kichik validatsiya to'plamida; real kamera quvurida dekodlash va oldindan qayta ishlash ham qo'shiladi (Jetson'da buni DeepStream yoki GStreamer nvvidconv bilan GPU'ga ko'chirish mumkin). ImageNet aniqligi real sanoat ma'lumotidagi aniqlik bilan bir xil emas — kvantlash ta'siri maqsadli to'plamda qayta baholanishi shart. Muqobil yondashuvlar: TensorRT'ni bevosita (trtexec) ishlatish — ORT'dan ko'ra ko'proq nazorat; OpenVINO — Intel chekka qurilmalari (CPU, iGPU, NPU) uchun; Apache TVM yoki IREE — kompilyator asosidagi, apparatdan mustaqil yondashuv; QAT — kvantlash yo'qotishi katta bo'lgan modellar (masalan, kichik detektorlar, transformerlar) uchun.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modelini o'zgartirmasdan chekkaga joylashga urinish. 100 MB'lik FP32 detektor Orin Nano'da ishlaydi, lekin 8 GB xotiraning katta qismini oladi va sekin bo'ladi. Avval mos arxitektura (MobileNet, EfficientNet-Lite, YOLO-nano uslubidagi), keyin kvantlash va kompilyatsiya.</a:t>
            </a:r>
          </a:p>
          <a:p/>
          <a:p>
            <a:r>
              <a:t>Kalibrlash to'plamini noto'g'ri tanlash. Bitta sinf, sintetik yoki normalizatsiya qilinmagan rasmlar diapazonlarni buzadi. Validatsiya to'plamidan 200–500 ta tasodifiy, oldindan qayta ishlangan namuna oling va kvantlashdan keyin aniqlikni maqsadli to'plamda qayta o'lchang.</a:t>
            </a:r>
          </a:p>
          <a:p/>
          <a:p>
            <a:r>
              <a:t>TensorRT dvigatelini keshlamaslik. Har ishga tushirishda qayta qurish chekka qurilmada daqiqalar oladi va xizmat ishga tushishini kechiktiradi. Dvigatel keshini yoqing yoki trtexec --saveEngine bilan oldindan quring; dvigatel JetPack/TensorRT versiyasi va GPU'ga bog'liq ekanini unutmang.</a:t>
            </a:r>
          </a:p>
          <a:p/>
          <a:p>
            <a:r>
              <a:t>O'rtacha kechikishga qarab real vaqt kafolatini e'lon qilish. p99 va maksimal qiymatni o'lchang; jetson_clocks yoqilmagan holatda chastota o'zgarishi, issiqlik cheklovi (thermal throttling) va boshqa jarayonlar sakrashlarga sabab bo'ladi. Issiqlik rejimini uzoq (30+ daqiqa) sinovda tekshiring.</a:t>
            </a:r>
          </a:p>
          <a:p/>
          <a:p>
            <a:r>
              <a:t>Xotirani inferens vaqtida ajratish. Har kadr uchun yangi tensor yaratish fragmentatsiya va kechikish sakrashlariga olib keladi. Buferlarni bir marta ajrating va qayta ishlating (ORT'da IOBinding, TensorRT'da oldindan ajratilgan qurilma buferlari).</a:t>
            </a:r>
          </a:p>
          <a:p/>
          <a:p>
            <a:r>
              <a:t>Edge TPU'da qo'llab-quvvatlanmagan operatsiyalarni e'tiborsiz qoldirish. Kompilyator hisobotidagi «CPU» qatorlari — butun oxirgi qism CPU'da degani. Modelni loyihalashda qo'llab-quvvatlanadigan operatsiyalar ro'yxatiga rioya qiling.</a:t>
            </a:r>
          </a:p>
          <a:p/>
          <a:p>
            <a:r>
              <a:t>Oldindan qayta ishlashni unutish. JPEG dekodlash va o'lcham o'zgartirish CPU'da ko'pincha modelning o'zidan ko'proq vaqt oladi. Jetson'da NVDEC/VIC, GStreamer nvvidconv, DeepStream ishlating; kirish o'lchamini kamera o'lchamiga moslang.</a:t>
            </a:r>
          </a:p>
          <a:p/>
          <a:p>
            <a:r>
              <a:t>OTA va versiyalashni keyinga qoldirish. Yuzlab qurilmaga tarqatilgan modelni qo'lda yangilab bo'lmaydi. Birinchi kundanoq model versiyasi, imzo, bosqichma-bosqich tarqatish va orqaga qaytish mexanizmini rejalashtiring.</a:t>
            </a:r>
          </a:p>
          <a:p/>
          <a:p>
            <a:r>
              <a:t>Quvvatni emas, faqat tezlikni o'lchash. Batareyali va passiv sovutiladigan qurilmalarda energiya/inferens va issiqlik — asosiy ko'rsatkichlar. tegrastats, INA sensorlari yoki tashqi quvvat o'lchagich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modelini o'zgartirmasdan chekkaga joylashga urinish. 100 MB'lik FP32 detektor Orin Nano'da ishlaydi, lekin 8 GB xotiraning katta qismini oladi va sekin bo'ladi. Avval mos arxitektura (MobileNet, EfficientNet-Lite, YOLO-nano uslubidagi), keyin kvantlash va kompilyatsiya.</a:t>
            </a:r>
          </a:p>
          <a:p/>
          <a:p>
            <a:r>
              <a:t>Kalibrlash to'plamini noto'g'ri tanlash. Bitta sinf, sintetik yoki normalizatsiya qilinmagan rasmlar diapazonlarni buzadi. Validatsiya to'plamidan 200–500 ta tasodifiy, oldindan qayta ishlangan namuna oling va kvantlashdan keyin aniqlikni maqsadli to'plamda qayta o'lchang.</a:t>
            </a:r>
          </a:p>
          <a:p/>
          <a:p>
            <a:r>
              <a:t>TensorRT dvigatelini keshlamaslik. Har ishga tushirishda qayta qurish chekka qurilmada daqiqalar oladi va xizmat ishga tushishini kechiktiradi. Dvigatel keshini yoqing yoki trtexec --saveEngine bilan oldindan quring; dvigatel JetPack/TensorRT versiyasi va GPU'ga bog'liq ekanini unutmang.</a:t>
            </a:r>
          </a:p>
          <a:p/>
          <a:p>
            <a:r>
              <a:t>O'rtacha kechikishga qarab real vaqt kafolatini e'lon qilish. p99 va maksimal qiymatni o'lchang; jetson_clocks yoqilmagan holatda chastota o'zgarishi, issiqlik cheklovi (thermal throttling) va boshqa jarayonlar sakrashlarga sabab bo'ladi. Issiqlik rejimini uzoq (30+ daqiqa) sinovda tekshiring.</a:t>
            </a:r>
          </a:p>
          <a:p/>
          <a:p>
            <a:r>
              <a:t>Xotirani inferens vaqtida ajratish. Har kadr uchun yangi tensor yaratish fragmentatsiya va kechikish sakrashlariga olib keladi. Buferlarni bir marta ajrating va qayta ishlating (ORT'da IOBinding, TensorRT'da oldindan ajratilgan qurilma buferlari).</a:t>
            </a:r>
          </a:p>
          <a:p/>
          <a:p>
            <a:r>
              <a:t>Edge TPU'da qo'llab-quvvatlanmagan operatsiyalarni e'tiborsiz qoldirish. Kompilyator hisobotidagi «CPU» qatorlari — butun oxirgi qism CPU'da degani. Modelni loyihalashda qo'llab-quvvatlanadigan operatsiyalar ro'yxatiga rioya qiling.</a:t>
            </a:r>
          </a:p>
          <a:p/>
          <a:p>
            <a:r>
              <a:t>Oldindan qayta ishlashni unutish. JPEG dekodlash va o'lcham o'zgartirish CPU'da ko'pincha modelning o'zidan ko'proq vaqt oladi. Jetson'da NVDEC/VIC, GStreamer nvvidconv, DeepStream ishlating; kirish o'lchamini kamera o'lchamiga moslang.</a:t>
            </a:r>
          </a:p>
          <a:p/>
          <a:p>
            <a:r>
              <a:t>OTA va versiyalashni keyinga qoldirish. Yuzlab qurilmaga tarqatilgan modelni qo'lda yangilab bo'lmaydi. Birinchi kundanoq model versiyasi, imzo, bosqichma-bosqich tarqatish va orqaga qaytish mexanizmini rejalashtiring.</a:t>
            </a:r>
          </a:p>
          <a:p/>
          <a:p>
            <a:r>
              <a:t>Quvvatni emas, faqat tezlikni o'lchash. Batareyali va passiv sovutiladigan qurilmalarda energiya/inferens va issiqlik — asosiy ko'rsatkichlar. tegrastats, INA sensorlari yoki tashqi quvvat o'lchagich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holatlarda chekka inferens bulutdan yomonroq tanlov bo'ladi? Kechikish, narx, xavfsizlik va boshqaruv murakkabligi nuqtai nazaridan kamida uchta misol keltiring va asoslang.</a:t>
            </a:r>
          </a:p>
          <a:p/>
          <a:p>
            <a:r>
              <a:t>Edge TPU'ning sistolik massiv arxitekturasi nima uchun GPU'dan bir necha marta yuqori energiya samaradorligi (TOPS/Vt) beradi, lekin moslashuvchanligi past? M5 dagi ma'lumot harakati tamoyili bilan bog'lang.</a:t>
            </a:r>
          </a:p>
          <a:p/>
          <a:p>
            <a:r>
              <a:t>INT8 statik kvantlashda kalibrlash to'plami qanday rol o'ynaydi? Agar kalibrlash faqat kunduzgi rasmlar bilan bajarilib, qurilma kechasi ham ishlasa, nima bo'lishi mumkin va buni qanday aniqlaysiz?</a:t>
            </a:r>
          </a:p>
          <a:p/>
          <a:p>
            <a:r>
              <a:t>Qattiq va yumshoq real vaqt tizimlari uchun inferens quvuri loyihalashda qanday farqli talablar qo'yiladi? GPU asosidagi tizim qattiq real vaqt kafolatini bera oladimi? Nega?</a:t>
            </a:r>
          </a:p>
          <a:p/>
          <a:p>
            <a:r>
              <a:t>Jetson Orin Nano'da 7 Vt rejimi 15 Vt rejimiga qaraganda energiya/rasm bo'yicha nega yaxshiroq bo'lishi mumkin? Bu qoidaning chegarasi qayerda?</a:t>
            </a:r>
          </a:p>
          <a:p/>
          <a:p>
            <a:r>
              <a:t>TinyML qurilmasida 256 KB SRAM bor. MobileNetV2 (to'liq o'lcham) nima uchun sig'maydi — og'irliklar tufaylimi yoki aktivatsiyalar tufaylimi? Qaysi arxitektura o'zgarishlari yordam beradi?</a:t>
            </a:r>
          </a:p>
          <a:p/>
          <a:p>
            <a:r>
              <a:t>ONNX Runtime'da provayderlar ro'yxatining tartibi natijaga qanday ta'sir qiladi? Agar graf TensorRT, CUDA va CPU o'rtasida bo'linsa, qanday yashirin xarajat paydo bo'ladi?</a:t>
            </a:r>
          </a:p>
          <a:p/>
          <a:p>
            <a:r>
              <a:t>Zavodda 200 ta kamera bor, har biri sekundiga 10 kadr tahlil qilishi kerak. Chekka server (AGX Orin yoki L4) va har kamerada alohida Orin Nano variantlarini narx, kechikish, texnik xizmat va yangilash nuqtai nazaridan taqqoslang.</a:t>
            </a:r>
          </a:p>
          <a:p/>
          <a:p>
            <a:r>
              <a:t>Federativ o'qitish IoT tizimlarida qanday muammoni hal qiladi va qanday yangi muammolarni keltirib chiqaradi (aloqa, geterogenlik, xavfsizlik)?</a:t>
            </a:r>
          </a:p>
          <a:p/>
          <a:p>
            <a:r>
              <a:t>Model drift chekka qurilmada qanday aniqlanadi, agar haqiqiy javoblar (labels) qurilmada mavjud bo'lmasa?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holatlarda chekka inferens bulutdan yomonroq tanlov bo'ladi? Kechikish, narx, xavfsizlik va boshqaruv murakkabligi nuqtai nazaridan kamida uchta misol keltiring va asoslang.</a:t>
            </a:r>
          </a:p>
          <a:p/>
          <a:p>
            <a:r>
              <a:t>Edge TPU'ning sistolik massiv arxitekturasi nima uchun GPU'dan bir necha marta yuqori energiya samaradorligi (TOPS/Vt) beradi, lekin moslashuvchanligi past? M5 dagi ma'lumot harakati tamoyili bilan bog'lang.</a:t>
            </a:r>
          </a:p>
          <a:p/>
          <a:p>
            <a:r>
              <a:t>INT8 statik kvantlashda kalibrlash to'plami qanday rol o'ynaydi? Agar kalibrlash faqat kunduzgi rasmlar bilan bajarilib, qurilma kechasi ham ishlasa, nima bo'lishi mumkin va buni qanday aniqlaysiz?</a:t>
            </a:r>
          </a:p>
          <a:p/>
          <a:p>
            <a:r>
              <a:t>Qattiq va yumshoq real vaqt tizimlari uchun inferens quvuri loyihalashda qanday farqli talablar qo'yiladi? GPU asosidagi tizim qattiq real vaqt kafolatini bera oladimi? Nega?</a:t>
            </a:r>
          </a:p>
          <a:p/>
          <a:p>
            <a:r>
              <a:t>Jetson Orin Nano'da 7 Vt rejimi 15 Vt rejimiga qaraganda energiya/rasm bo'yicha nega yaxshiroq bo'lishi mumkin? Bu qoidaning chegarasi qayerda?</a:t>
            </a:r>
          </a:p>
          <a:p/>
          <a:p>
            <a:r>
              <a:t>TinyML qurilmasida 256 KB SRAM bor. MobileNetV2 (to'liq o'lcham) nima uchun sig'maydi — og'irliklar tufaylimi yoki aktivatsiyalar tufaylimi? Qaysi arxitektura o'zgarishlari yordam beradi?</a:t>
            </a:r>
          </a:p>
          <a:p/>
          <a:p>
            <a:r>
              <a:t>ONNX Runtime'da provayderlar ro'yxatining tartibi natijaga qanday ta'sir qiladi? Agar graf TensorRT, CUDA va CPU o'rtasida bo'linsa, qanday yashirin xarajat paydo bo'ladi?</a:t>
            </a:r>
          </a:p>
          <a:p/>
          <a:p>
            <a:r>
              <a:t>Zavodda 200 ta kamera bor, har biri sekundiga 10 kadr tahlil qilishi kerak. Chekka server (AGX Orin yoki L4) va har kamerada alohida Orin Nano variantlarini narx, kechikish, texnik xizmat va yangilash nuqtai nazaridan taqqoslang.</a:t>
            </a:r>
          </a:p>
          <a:p/>
          <a:p>
            <a:r>
              <a:t>Federativ o'qitish IoT tizimlarida qanday muammoni hal qiladi va qanday yangi muammolarni keltirib chiqaradi (aloqa, geterogenlik, xavfsizlik)?</a:t>
            </a:r>
          </a:p>
          <a:p/>
          <a:p>
            <a:r>
              <a:t>Model drift chekka qurilmada qanday aniqlanadi, agar haqiqiy javoblar (labels) qurilmada mavjud bo'lmasa?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A4 va 2-mustaqil ta'lim topshirig'iga bog'langan). Chekka joylash hisoboti. O'zingiz tanlagan kichik modelni (tasniflash yoki detektsiya) TensorFlow Lite yoki ONNX Runtime orqali kamida ikkita maqsadli muhitda (masalan, x86 CPU va Jetson/Raspberry Pi/Android telefon; Jetson bo'lmasa — CPU'da ikki xil ip soni va ikki xil format) FP32 va INT8 variantlarida o'lchang: hajm, top-1 yoki mAP, median va p99 kechikish, throughput, imkon bo'lsa energiya/inferens. Natijalarni jadvalda taqdim eting, qaysi variant qaysi vazifa uchun mos ekanini asoslang.</a:t>
            </a:r>
          </a:p>
          <a:p/>
          <a:p>
            <a:r>
              <a:t>Baholash mezoni: konvertatsiya va kvantlash to'g'ri bajarilgan, kalibrlash to'plami asoslangan (25 %); o'lchov metodikasi — isitish, takror, p99, taxminiylik ko'rsatilgan (25 %); taqqoslash jadvali va tahlil (30 %); cheklovlar va tavsiyalar (20 %).</a:t>
            </a:r>
          </a:p>
          <a:p/>
          <a:p>
            <a:r>
              <a:t>Topshiriq 2 (juftlikda). Edge AI tizim loyihasi. O'zbekiston sharoitidagi aniq vazifa (masalan, chorva sanash, paxta dalasida zararkunanda aniqlash, yo'l harakati hisoblash) uchun uch qatlamli (qurilma–shlyuz–bulut) Edge AI arxitekturasini loyihalang: apparat tanlovi va asoslash (quvvat, narx, muhit), model va format, aloqa protokoli, OTA yangilash sxemasi, oflayn rejim xulqi, kutilgan kechikish va energiya byudjeti. Mezon: talablar tahlili (25 %), apparat/dastur tanlovining asosliligi (35 %), arxitektura sxemasi va ma'lumot oqimi (25 %), xavf va cheklovlar (15 %).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(Domain-Specific Architectures), TPU va Edge TPU misoli.</a:t>
            </a:r>
          </a:p>
          <a:p/>
          <a:p>
            <a:r>
              <a:t>[2] Kneusel, R. T. Artificial Intelligence Engineering: A Practical Guide for AI Applications. No Starch Press, 2023. — modelni joylash va cheklangan muhitlar bo'yicha boblar.</a:t>
            </a:r>
          </a:p>
          <a:p/>
          <a:p>
            <a:r>
              <a:t>[4] Sze, V., Chen, Y.-H., Yang, T.-J., &amp; Emer, J. S. Efficient Processing of Deep Neural Networks: A Tutorial and Survey. Morgan &amp; Claypool Publishers, 2020. — energiya samarali inferens va kvantlash.</a:t>
            </a:r>
          </a:p>
          <a:p/>
          <a:p>
            <a:r>
              <a:t>[6] NVIDIA Developer Portal — Jetson Orin hujjatlari, JetPack SDK, TensorRT va DeepStream qo'llanmalari, https://developer.nvidia.com</a:t>
            </a:r>
          </a:p>
          <a:p/>
          <a:p>
            <a:r>
              <a:t>[8] TensorFlow rasmiy hujjatlari — TensorFlow Lite / LiteRT: Post-training quantization, Delegates, TensorFlow Lite for Microcontrollers, https://www.tensorflow.org</a:t>
            </a:r>
          </a:p>
          <a:p/>
          <a:p>
            <a:r>
              <a:t>[10] ONNX rasmiy sayti va ONNX Runtime hujjatlari — Execution Providers (CUDA, TensorRT), https://onnx.ai</a:t>
            </a:r>
          </a:p>
          <a:p/>
          <a:p>
            <a:r>
              <a:t>Warden, P., &amp; Situnayake, D. TinyML: Machine Learning with TensorFlow Lite on Arduino and Ultra-Low-Power Microcontrollers. O'Reilly Media, 2019.</a:t>
            </a:r>
          </a:p>
          <a:p/>
          <a:p>
            <a:r>
              <a:t>Jacob, B., Kligys, S., Chen, B., et al. Quantization and Training of Neural Networks for Efficient Integer-Arithmetic-Only Inference. CVPR 2018.</a:t>
            </a:r>
          </a:p>
          <a:p/>
          <a:p>
            <a:r>
              <a:t>Google Coral hujjatlari — Edge TPU Compiler va qo'llab-quvvatlanadigan operatsiyalar ro'yxati, https://coral.ai/docs/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(Domain-Specific Architectures), TPU va Edge TPU misoli.</a:t>
            </a:r>
          </a:p>
          <a:p/>
          <a:p>
            <a:r>
              <a:t>[2] Kneusel, R. T. Artificial Intelligence Engineering: A Practical Guide for AI Applications. No Starch Press, 2023. — modelni joylash va cheklangan muhitlar bo'yicha boblar.</a:t>
            </a:r>
          </a:p>
          <a:p/>
          <a:p>
            <a:r>
              <a:t>[4] Sze, V., Chen, Y.-H., Yang, T.-J., &amp; Emer, J. S. Efficient Processing of Deep Neural Networks: A Tutorial and Survey. Morgan &amp; Claypool Publishers, 2020. — energiya samarali inferens va kvantlash.</a:t>
            </a:r>
          </a:p>
          <a:p/>
          <a:p>
            <a:r>
              <a:t>[6] NVIDIA Developer Portal — Jetson Orin hujjatlari, JetPack SDK, TensorRT va DeepStream qo'llanmalari, https://developer.nvidia.com</a:t>
            </a:r>
          </a:p>
          <a:p/>
          <a:p>
            <a:r>
              <a:t>[8] TensorFlow rasmiy hujjatlari — TensorFlow Lite / LiteRT: Post-training quantization, Delegates, TensorFlow Lite for Microcontrollers, https://www.tensorflow.org</a:t>
            </a:r>
          </a:p>
          <a:p/>
          <a:p>
            <a:r>
              <a:t>[10] ONNX rasmiy sayti va ONNX Runtime hujjatlari — Execution Providers (CUDA, TensorRT), https://onnx.ai</a:t>
            </a:r>
          </a:p>
          <a:p/>
          <a:p>
            <a:r>
              <a:t>Warden, P., &amp; Situnayake, D. TinyML: Machine Learning with TensorFlow Lite on Arduino and Ultra-Low-Power Microcontrollers. O'Reilly Media, 2019.</a:t>
            </a:r>
          </a:p>
          <a:p/>
          <a:p>
            <a:r>
              <a:t>Jacob, B., Kligys, S., Chen, B., et al. Quantization and Training of Neural Networks for Efficient Integer-Arithmetic-Only Inference. CVPR 2018.</a:t>
            </a:r>
          </a:p>
          <a:p/>
          <a:p>
            <a:r>
              <a:t>Google Coral hujjatlari — Edge TPU Compiler va qo'llab-quvvatlanadigan operatsiyalar ro'yxati, https://coral.ai/docs/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M6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Edge AI va intellektual o'rnatilgan kompyuter tizimlari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Ma'ruzaning maqsadi — sun'iy intellekt hisoblashini bulutdan ma'lumot manbaiga yaqin joyga, ya'ni chekka qurilmalarga ko'chirish (Edge AI) g'oyasini, uning texnik va iqtisodiy sabablarini,…</a:t>
            </a:r>
          </a:p>
          <a:p>
            <a:pPr>
              <a:spcAft>
                <a:spcPts val="900"/>
              </a:spcAft>
            </a:pPr>
            <a:r>
              <a:rPr sz="1600" b="1">
                <a:solidFill>
                  <a:srgbClr val="0F8B8D"/>
                </a:solidFill>
              </a:rPr>
              <a:t>▪  </a:t>
            </a:r>
            <a:r>
              <a:rPr sz="1600">
                <a:solidFill>
                  <a:srgbClr val="1B2430"/>
                </a:solidFill>
                <a:latin typeface="Calibri"/>
              </a:rPr>
              <a:t>Edge AI, o'rnatilgan sun'iy intellekt (Embedded AI) va TinyML tushunchalarini bir-biridan ajrata oladi, har birining resurs chegaralarini (quvvat, xotira, kechikish) raqamlarda ifodalay…</a:t>
            </a:r>
          </a:p>
          <a:p>
            <a:pPr>
              <a:spcAft>
                <a:spcPts val="900"/>
              </a:spcAft>
            </a:pPr>
            <a:r>
              <a:rPr sz="1600" b="1">
                <a:solidFill>
                  <a:srgbClr val="0F8B8D"/>
                </a:solidFill>
              </a:rPr>
              <a:t>▪  </a:t>
            </a:r>
            <a:r>
              <a:rPr sz="1600">
                <a:solidFill>
                  <a:srgbClr val="1B2430"/>
                </a:solidFill>
                <a:latin typeface="Calibri"/>
              </a:rPr>
              <a:t>NVIDIA Jetson (Orin Nano, Orin NX, AGX Orin), Google Edge TPU (Coral), mikrokontrollerlar (Arm Cortex-M, ESP32) va mobil NPU'larning arxitekturaviy farqlarini, qo'llab-quvvatlanadigan…</a:t>
            </a:r>
          </a:p>
          <a:p>
            <a:pPr>
              <a:spcAft>
                <a:spcPts val="900"/>
              </a:spcAft>
            </a:pPr>
            <a:r>
              <a:rPr sz="1600" b="1">
                <a:solidFill>
                  <a:srgbClr val="0F8B8D"/>
                </a:solidFill>
              </a:rPr>
              <a:t>▪  </a:t>
            </a:r>
            <a:r>
              <a:rPr sz="1600">
                <a:solidFill>
                  <a:srgbClr val="1B2430"/>
                </a:solidFill>
                <a:latin typeface="Calibri"/>
              </a:rPr>
              <a:t>O'qitilgan modelni TensorFlow Lite (LiteRT) yoki ONNX Runtime orqali chekka qurilmaga tayyorlash — konvertatsiya, kvantlash, delegat tanlash — jarayonini amalda bajara oladi.</a:t>
            </a:r>
          </a:p>
          <a:p>
            <a:pPr>
              <a:spcAft>
                <a:spcPts val="900"/>
              </a:spcAft>
            </a:pPr>
            <a:r>
              <a:rPr sz="1600" b="1">
                <a:solidFill>
                  <a:srgbClr val="0F8B8D"/>
                </a:solidFill>
              </a:rPr>
              <a:t>▪  </a:t>
            </a:r>
            <a:r>
              <a:rPr sz="1600">
                <a:solidFill>
                  <a:srgbClr val="1B2430"/>
                </a:solidFill>
                <a:latin typeface="Calibri"/>
              </a:rPr>
              <a:t>Real vaqt talablarini (qattiq va yumshoq deadline) va ular inferens quvurini loyihalashga qanday ta'sir qilishini tushuntira oladi.</a:t>
            </a:r>
          </a:p>
          <a:p>
            <a:pPr>
              <a:spcAft>
                <a:spcPts val="900"/>
              </a:spcAft>
            </a:pPr>
            <a:r>
              <a:rPr sz="1600" b="1">
                <a:solidFill>
                  <a:srgbClr val="0F8B8D"/>
                </a:solidFill>
              </a:rPr>
              <a:t>▪  </a:t>
            </a:r>
            <a:r>
              <a:rPr sz="1600">
                <a:solidFill>
                  <a:srgbClr val="1B2430"/>
                </a:solidFill>
                <a:latin typeface="Calibri"/>
              </a:rPr>
              <a:t>IoT va Edge AI integratsiyasida ma'lumot oqimi, model yangilash (OTA) va bulut bilan hamkorlik arxitekturalarini loyihalay oladi.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TN1 (AI tizimlari arxitekturasi), TN3 (geterogen platformalarda joylash) va TN5 (unumdorlik va energiya samaradorligini baholash) natijalariga xizmat qiladi; A4 amaliy…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Sun'iy intellekt modellari dastlab ma'lumot markazlarida, kuchli GPU'larda ishlar edi: kamera yoki sensor ma'lumotni bulutga yuboradi, u yerda model ishlaydi, natija qaytib keladi. Bu sxema ko'p holatlarda to'g'ri, lekin to'rtta jiddiy cheklovga ega.</a:t>
            </a:r>
          </a:p>
          <a:p>
            <a:pPr>
              <a:spcAft>
                <a:spcPts val="900"/>
              </a:spcAft>
            </a:pPr>
            <a:r>
              <a:rPr sz="1600" b="1">
                <a:solidFill>
                  <a:srgbClr val="0F8B8D"/>
                </a:solidFill>
              </a:rPr>
              <a:t>▪  </a:t>
            </a:r>
            <a:r>
              <a:rPr sz="1600">
                <a:solidFill>
                  <a:srgbClr val="1B2430"/>
                </a:solidFill>
                <a:latin typeface="Calibri"/>
              </a:rPr>
              <a:t>Shu to'rt sabab Edge AI deb ataladigan yondashuvni tug'dirdi: model inferensini ma'lumot paydo bo'ladigan joyga iloji boricha yaqin — kamera ichida, zavod shlyuzida, telefonda, hatto batareyali sensorning mikrokontrollerida — bajarish. Sanoat kontekstida bu…</a:t>
            </a:r>
          </a:p>
          <a:p>
            <a:pPr>
              <a:spcAft>
                <a:spcPts val="900"/>
              </a:spcAft>
            </a:pPr>
            <a:r>
              <a:rPr sz="1600" b="1">
                <a:solidFill>
                  <a:srgbClr val="0F8B8D"/>
                </a:solidFill>
              </a:rPr>
              <a:t>▪  </a:t>
            </a:r>
            <a:r>
              <a:rPr sz="1600">
                <a:solidFill>
                  <a:srgbClr val="1B2430"/>
                </a:solidFill>
                <a:latin typeface="Calibri"/>
              </a:rPr>
              <a:t>Edge AI muhandisi uchun markaziy qiyinchilik — resurs chegarasi. Ma'lumot markazidagi H100 700 Vt iste'mol qiladi va 80 GB xotiraga ega; Jetson Orin Nano 7–15 Vt va 8 GB; Coral Edge TPU 2 Vt; Cortex-M mikrokontroller esa milliVattlar va bir necha yuz kilobayt.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Zamonaviy intellektual tizimlarda hisoblash bir nechta darajaga taqsimlanadi. Bulut (cloud) — model o'qitish, katta modellar, tarixiy tahlil.</a:t>
            </a:r>
          </a:p>
          <a:p>
            <a:pPr>
              <a:spcAft>
                <a:spcPts val="900"/>
              </a:spcAft>
            </a:pPr>
            <a:r>
              <a:rPr sz="2000" b="1">
                <a:solidFill>
                  <a:srgbClr val="0F8B8D"/>
                </a:solidFill>
              </a:rPr>
              <a:t>▪  </a:t>
            </a:r>
            <a:r>
              <a:rPr sz="2000">
                <a:solidFill>
                  <a:srgbClr val="1B2430"/>
                </a:solidFill>
                <a:latin typeface="Calibri"/>
              </a:rPr>
              <a:t>Edge AI konsepsiyasining asosiy tamoyili — ma'lumotni emas, qarorni uzatish. Kamera xom videoni emas, «konveyerda nuqsonli mahsulot №4471» degan hodisani yuboradi; bu uzatish hajmini ming martalab kamaytiradi va qaror kechikishini millisekundlar darajasiga…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Tipik apparat</a:t>
                      </a:r>
                    </a:p>
                  </a:txBody>
                  <a:tcPr>
                    <a:solidFill>
                      <a:srgbClr val="2D5C8F"/>
                    </a:solidFill>
                  </a:tcPr>
                </a:tc>
                <a:tc>
                  <a:txBody>
                    <a:bodyPr/>
                    <a:lstStyle/>
                    <a:p>
                      <a:r>
                        <a:rPr sz="1400" b="1">
                          <a:solidFill>
                            <a:srgbClr val="FFFFFF"/>
                          </a:solidFill>
                          <a:latin typeface="Calibri"/>
                        </a:rPr>
                        <a:t>Quvvat</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Tipik model</a:t>
                      </a:r>
                    </a:p>
                  </a:txBody>
                  <a:tcPr>
                    <a:solidFill>
                      <a:srgbClr val="2D5C8F"/>
                    </a:solidFill>
                  </a:tcPr>
                </a:tc>
                <a:tc>
                  <a:txBody>
                    <a:bodyPr/>
                    <a:lstStyle/>
                    <a:p>
                      <a:r>
                        <a:rPr sz="1400" b="1">
                          <a:solidFill>
                            <a:srgbClr val="FFFFFF"/>
                          </a:solidFill>
                          <a:latin typeface="Calibri"/>
                        </a:rPr>
                        <a:t>Kechikish maqsadi</a:t>
                      </a:r>
                    </a:p>
                  </a:txBody>
                  <a:tcPr>
                    <a:solidFill>
                      <a:srgbClr val="2D5C8F"/>
                    </a:solidFill>
                  </a:tcPr>
                </a:tc>
              </a:tr>
              <a:tr h="520000">
                <a:tc>
                  <a:txBody>
                    <a:bodyPr/>
                    <a:lstStyle/>
                    <a:p>
                      <a:r>
                        <a:rPr sz="1400" b="0">
                          <a:solidFill>
                            <a:srgbClr val="1B2430"/>
                          </a:solidFill>
                          <a:latin typeface="Calibri"/>
                        </a:rPr>
                        <a:t>Bulut</a:t>
                      </a:r>
                    </a:p>
                  </a:txBody>
                  <a:tcPr>
                    <a:solidFill>
                      <a:srgbClr val="F1F4F8"/>
                    </a:solidFill>
                  </a:tcPr>
                </a:tc>
                <a:tc>
                  <a:txBody>
                    <a:bodyPr/>
                    <a:lstStyle/>
                    <a:p>
                      <a:r>
                        <a:rPr sz="1400" b="0">
                          <a:solidFill>
                            <a:srgbClr val="1B2430"/>
                          </a:solidFill>
                          <a:latin typeface="Calibri"/>
                        </a:rPr>
                        <a:t>H100/B200 serverlar</a:t>
                      </a:r>
                    </a:p>
                  </a:txBody>
                  <a:tcPr>
                    <a:solidFill>
                      <a:srgbClr val="F1F4F8"/>
                    </a:solidFill>
                  </a:tcPr>
                </a:tc>
                <a:tc>
                  <a:txBody>
                    <a:bodyPr/>
                    <a:lstStyle/>
                    <a:p>
                      <a:r>
                        <a:rPr sz="1400" b="0">
                          <a:solidFill>
                            <a:srgbClr val="1B2430"/>
                          </a:solidFill>
                          <a:latin typeface="Calibri"/>
                        </a:rPr>
                        <a:t>kVt'lar</a:t>
                      </a:r>
                    </a:p>
                  </a:txBody>
                  <a:tcPr>
                    <a:solidFill>
                      <a:srgbClr val="F1F4F8"/>
                    </a:solidFill>
                  </a:tcPr>
                </a:tc>
                <a:tc>
                  <a:txBody>
                    <a:bodyPr/>
                    <a:lstStyle/>
                    <a:p>
                      <a:r>
                        <a:rPr sz="1400" b="0">
                          <a:solidFill>
                            <a:srgbClr val="1B2430"/>
                          </a:solidFill>
                          <a:latin typeface="Calibri"/>
                        </a:rPr>
                        <a:t>80 GB+ / GPU</a:t>
                      </a:r>
                    </a:p>
                  </a:txBody>
                  <a:tcPr>
                    <a:solidFill>
                      <a:srgbClr val="F1F4F8"/>
                    </a:solidFill>
                  </a:tcPr>
                </a:tc>
                <a:tc>
                  <a:txBody>
                    <a:bodyPr/>
                    <a:lstStyle/>
                    <a:p>
                      <a:r>
                        <a:rPr sz="1400" b="0">
                          <a:solidFill>
                            <a:srgbClr val="1B2430"/>
                          </a:solidFill>
                          <a:latin typeface="Calibri"/>
                        </a:rPr>
                        <a:t>LLM, diffuziya, o'qitish</a:t>
                      </a:r>
                    </a:p>
                  </a:txBody>
                  <a:tcPr>
                    <a:solidFill>
                      <a:srgbClr val="F1F4F8"/>
                    </a:solidFill>
                  </a:tcPr>
                </a:tc>
                <a:tc>
                  <a:txBody>
                    <a:bodyPr/>
                    <a:lstStyle/>
                    <a:p>
                      <a:r>
                        <a:rPr sz="1400" b="0">
                          <a:solidFill>
                            <a:srgbClr val="1B2430"/>
                          </a:solidFill>
                          <a:latin typeface="Calibri"/>
                        </a:rPr>
                        <a:t>100 ms – s</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L4, AGX Orin, Xeon-D</a:t>
                      </a:r>
                    </a:p>
                  </a:txBody>
                  <a:tcPr>
                    <a:solidFill>
                      <a:srgbClr val="FFFFFF"/>
                    </a:solidFill>
                  </a:tcPr>
                </a:tc>
                <a:tc>
                  <a:txBody>
                    <a:bodyPr/>
                    <a:lstStyle/>
                    <a:p>
                      <a:r>
                        <a:rPr sz="1400" b="0">
                          <a:solidFill>
                            <a:srgbClr val="1B2430"/>
                          </a:solidFill>
                          <a:latin typeface="Calibri"/>
                        </a:rPr>
                        <a:t>50–300 Vt</a:t>
                      </a:r>
                    </a:p>
                  </a:txBody>
                  <a:tcPr>
                    <a:solidFill>
                      <a:srgbClr val="FFFFFF"/>
                    </a:solidFill>
                  </a:tcPr>
                </a:tc>
                <a:tc>
                  <a:txBody>
                    <a:bodyPr/>
                    <a:lstStyle/>
                    <a:p>
                      <a:r>
                        <a:rPr sz="1400" b="0">
                          <a:solidFill>
                            <a:srgbClr val="1B2430"/>
                          </a:solidFill>
                          <a:latin typeface="Calibri"/>
                        </a:rPr>
                        <a:t>16–64 GB</a:t>
                      </a:r>
                    </a:p>
                  </a:txBody>
                  <a:tcPr>
                    <a:solidFill>
                      <a:srgbClr val="FFFFFF"/>
                    </a:solidFill>
                  </a:tcPr>
                </a:tc>
                <a:tc>
                  <a:txBody>
                    <a:bodyPr/>
                    <a:lstStyle/>
                    <a:p>
                      <a:r>
                        <a:rPr sz="1400" b="0">
                          <a:solidFill>
                            <a:srgbClr val="1B2430"/>
                          </a:solidFill>
                          <a:latin typeface="Calibri"/>
                        </a:rPr>
                        <a:t>YOLO, segmentatsiya, kichik LLM</a:t>
                      </a:r>
                    </a:p>
                  </a:txBody>
                  <a:tcPr>
                    <a:solidFill>
                      <a:srgbClr val="FFFFFF"/>
                    </a:solidFill>
                  </a:tcPr>
                </a:tc>
                <a:tc>
                  <a:txBody>
                    <a:bodyPr/>
                    <a:lstStyle/>
                    <a:p>
                      <a:r>
                        <a:rPr sz="1400" b="0">
                          <a:solidFill>
                            <a:srgbClr val="1B2430"/>
                          </a:solidFill>
                          <a:latin typeface="Calibri"/>
                        </a:rPr>
                        <a:t>10–50 ms</a:t>
                      </a:r>
                    </a:p>
                  </a:txBody>
                  <a:tcPr>
                    <a:solidFill>
                      <a:srgbClr val="FFFFFF"/>
                    </a:solidFill>
                  </a:tcPr>
                </a:tc>
              </a:tr>
              <a:tr h="520000">
                <a:tc>
                  <a:txBody>
                    <a:bodyPr/>
                    <a:lstStyle/>
                    <a:p>
                      <a:r>
                        <a:rPr sz="1400" b="0">
                          <a:solidFill>
                            <a:srgbClr val="1B2430"/>
                          </a:solidFill>
                          <a:latin typeface="Calibri"/>
                        </a:rPr>
                        <a:t>Qurilma chekkasi</a:t>
                      </a:r>
                    </a:p>
                  </a:txBody>
                  <a:tcPr>
                    <a:solidFill>
                      <a:srgbClr val="F1F4F8"/>
                    </a:solidFill>
                  </a:tcPr>
                </a:tc>
                <a:tc>
                  <a:txBody>
                    <a:bodyPr/>
                    <a:lstStyle/>
                    <a:p>
                      <a:r>
                        <a:rPr sz="1400" b="0">
                          <a:solidFill>
                            <a:srgbClr val="1B2430"/>
                          </a:solidFill>
                          <a:latin typeface="Calibri"/>
                        </a:rPr>
                        <a:t>Orin Nano/NX, Coral, telefon NPU</a:t>
                      </a:r>
                    </a:p>
                  </a:txBody>
                  <a:tcPr>
                    <a:solidFill>
                      <a:srgbClr val="F1F4F8"/>
                    </a:solidFill>
                  </a:tcPr>
                </a:tc>
                <a:tc>
                  <a:txBody>
                    <a:bodyPr/>
                    <a:lstStyle/>
                    <a:p>
                      <a:r>
                        <a:rPr sz="1400" b="0">
                          <a:solidFill>
                            <a:srgbClr val="1B2430"/>
                          </a:solidFill>
                          <a:latin typeface="Calibri"/>
                        </a:rPr>
                        <a:t>2–25 Vt</a:t>
                      </a:r>
                    </a:p>
                  </a:txBody>
                  <a:tcPr>
                    <a:solidFill>
                      <a:srgbClr val="F1F4F8"/>
                    </a:solidFill>
                  </a:tcPr>
                </a:tc>
                <a:tc>
                  <a:txBody>
                    <a:bodyPr/>
                    <a:lstStyle/>
                    <a:p>
                      <a:r>
                        <a:rPr sz="1400" b="0">
                          <a:solidFill>
                            <a:srgbClr val="1B2430"/>
                          </a:solidFill>
                          <a:latin typeface="Calibri"/>
                        </a:rPr>
                        <a:t>1–16 GB</a:t>
                      </a:r>
                    </a:p>
                  </a:txBody>
                  <a:tcPr>
                    <a:solidFill>
                      <a:srgbClr val="F1F4F8"/>
                    </a:solidFill>
                  </a:tcPr>
                </a:tc>
                <a:tc>
                  <a:txBody>
                    <a:bodyPr/>
                    <a:lstStyle/>
                    <a:p>
                      <a:r>
                        <a:rPr sz="1400" b="0">
                          <a:solidFill>
                            <a:srgbClr val="1B2430"/>
                          </a:solidFill>
                          <a:latin typeface="Calibri"/>
                        </a:rPr>
                        <a:t>MobileNet, YOLO-nano, ASR</a:t>
                      </a:r>
                    </a:p>
                  </a:txBody>
                  <a:tcPr>
                    <a:solidFill>
                      <a:srgbClr val="F1F4F8"/>
                    </a:solidFill>
                  </a:tcPr>
                </a:tc>
                <a:tc>
                  <a:txBody>
                    <a:bodyPr/>
                    <a:lstStyle/>
                    <a:p>
                      <a:r>
                        <a:rPr sz="1400" b="0">
                          <a:solidFill>
                            <a:srgbClr val="1B2430"/>
                          </a:solidFill>
                          <a:latin typeface="Calibri"/>
                        </a:rPr>
                        <a:t>5–30 ms</a:t>
                      </a:r>
                    </a:p>
                  </a:txBody>
                  <a:tcPr>
                    <a:solidFill>
                      <a:srgbClr val="F1F4F8"/>
                    </a:solidFill>
                  </a:tcPr>
                </a:tc>
              </a:tr>
              <a:tr h="520000">
                <a:tc>
                  <a:txBody>
                    <a:bodyPr/>
                    <a:lstStyle/>
                    <a:p>
                      <a:r>
                        <a:rPr sz="1400" b="0">
                          <a:solidFill>
                            <a:srgbClr val="1B2430"/>
                          </a:solidFill>
                          <a:latin typeface="Calibri"/>
                        </a:rPr>
                        <a:t>TinyML</a:t>
                      </a:r>
                    </a:p>
                  </a:txBody>
                  <a:tcPr>
                    <a:solidFill>
                      <a:srgbClr val="FFFFFF"/>
                    </a:solidFill>
                  </a:tcPr>
                </a:tc>
                <a:tc>
                  <a:txBody>
                    <a:bodyPr/>
                    <a:lstStyle/>
                    <a:p>
                      <a:r>
                        <a:rPr sz="1400" b="0">
                          <a:solidFill>
                            <a:srgbClr val="1B2430"/>
                          </a:solidFill>
                          <a:latin typeface="Calibri"/>
                        </a:rPr>
                        <a:t>Cortex-M4/M7/M55, ESP32-S3</a:t>
                      </a:r>
                    </a:p>
                  </a:txBody>
                  <a:tcPr>
                    <a:solidFill>
                      <a:srgbClr val="FFFFFF"/>
                    </a:solidFill>
                  </a:tcPr>
                </a:tc>
                <a:tc>
                  <a:txBody>
                    <a:bodyPr/>
                    <a:lstStyle/>
                    <a:p>
                      <a:r>
                        <a:rPr sz="1400" b="0">
                          <a:solidFill>
                            <a:srgbClr val="1B2430"/>
                          </a:solidFill>
                          <a:latin typeface="Calibri"/>
                        </a:rPr>
                        <a:t>1–100 mVt</a:t>
                      </a:r>
                    </a:p>
                  </a:txBody>
                  <a:tcPr>
                    <a:solidFill>
                      <a:srgbClr val="FFFFFF"/>
                    </a:solidFill>
                  </a:tcPr>
                </a:tc>
                <a:tc>
                  <a:txBody>
                    <a:bodyPr/>
                    <a:lstStyle/>
                    <a:p>
                      <a:r>
                        <a:rPr sz="1400" b="0">
                          <a:solidFill>
                            <a:srgbClr val="1B2430"/>
                          </a:solidFill>
                          <a:latin typeface="Calibri"/>
                        </a:rPr>
                        <a:t>64 KB – 2 MB SRAM</a:t>
                      </a:r>
                    </a:p>
                  </a:txBody>
                  <a:tcPr>
                    <a:solidFill>
                      <a:srgbClr val="FFFFFF"/>
                    </a:solidFill>
                  </a:tcPr>
                </a:tc>
                <a:tc>
                  <a:txBody>
                    <a:bodyPr/>
                    <a:lstStyle/>
                    <a:p>
                      <a:r>
                        <a:rPr sz="1400" b="0">
                          <a:solidFill>
                            <a:srgbClr val="1B2430"/>
                          </a:solidFill>
                          <a:latin typeface="Calibri"/>
                        </a:rPr>
                        <a:t>kalit so'z, anomaliya, imo-ishora</a:t>
                      </a:r>
                    </a:p>
                  </a:txBody>
                  <a:tcPr>
                    <a:solidFill>
                      <a:srgbClr val="FFFFFF"/>
                    </a:solidFill>
                  </a:tcPr>
                </a:tc>
                <a:tc>
                  <a:txBody>
                    <a:bodyPr/>
                    <a:lstStyle/>
                    <a:p>
                      <a:r>
                        <a:rPr sz="1400" b="0">
                          <a:solidFill>
                            <a:srgbClr val="1B2430"/>
                          </a:solidFill>
                          <a:latin typeface="Calibri"/>
                        </a:rPr>
                        <a:t>10–100 ms</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Embedded AI tizimlari va real vaqt talablari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O'rnatilgan tizim (embedded system) — muayyan funksiyani bajarish uchun qurilma ichiga joylashtirilgan ixtisoslashgan kompyuter. Unga sun'iy intellekt qo'shilganda «Embedded AI» yoki «intellektual o'rnatilgan tizim» paydo bo'ladi.</a:t>
            </a:r>
          </a:p>
          <a:p>
            <a:pPr>
              <a:spcAft>
                <a:spcPts val="900"/>
              </a:spcAft>
            </a:pPr>
            <a:r>
              <a:rPr sz="1800" b="1">
                <a:solidFill>
                  <a:srgbClr val="0F8B8D"/>
                </a:solidFill>
              </a:rPr>
              <a:t>▪  </a:t>
            </a:r>
            <a:r>
              <a:rPr sz="1800">
                <a:solidFill>
                  <a:srgbClr val="1B2430"/>
                </a:solidFill>
                <a:latin typeface="Calibri"/>
              </a:rPr>
              <a:t>Real vaqt rejimida ishlash (real-time) atamasi «tez» degani emas, balki «belgilangan muddat ichida kafolatlangan» deganidir. Qattiq real vaqt (hard real-time) tizimlarda muddatni o'tkazib yuborish — tizim nosozligi (avtomobil tormozi, tibbiy qurilma); yumshoq…</a:t>
            </a:r>
          </a:p>
          <a:p>
            <a:pPr>
              <a:spcAft>
                <a:spcPts val="900"/>
              </a:spcAft>
            </a:pPr>
            <a:r>
              <a:rPr sz="1800" b="1">
                <a:solidFill>
                  <a:srgbClr val="0F8B8D"/>
                </a:solidFill>
              </a:rPr>
              <a:t>▪  </a:t>
            </a:r>
            <a:r>
              <a:rPr sz="1800">
                <a:solidFill>
                  <a:srgbClr val="1B2430"/>
                </a:solidFill>
                <a:latin typeface="Calibri"/>
              </a:rPr>
              <a:t>Quvur (pipeline) nuqtai nazaridan inferens — kamera → dekodlash → oldindan qayta ishlash (o'lcham o'zgartirish, normalizatsiya) → model → keyingi qayta ishlash (NMS, kuzatish) → qaror. Ko'pincha modelning o'zi quvur vaqtining yarmidan kamini oladi; qolgani…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TinyML texnologiyalari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TinyML — mashinali o'qitish modellarini milliVatt darajasidagi quvvat bilan ishlaydigan mikrokontrollerlarda bajarish yo'nalishi. Tipik maqsad qurilma: Arm Cortex-M4F, 80–200 MHz, 256 KB flesh, 64–320 KB SRAM, suzuvchi nuqtali blok bor, lekin kesh va…</a:t>
            </a:r>
          </a:p>
          <a:p>
            <a:pPr>
              <a:spcAft>
                <a:spcPts val="900"/>
              </a:spcAft>
            </a:pPr>
            <a:r>
              <a:rPr sz="1600" b="1">
                <a:solidFill>
                  <a:srgbClr val="0F8B8D"/>
                </a:solidFill>
              </a:rPr>
              <a:t>▪  </a:t>
            </a:r>
            <a:r>
              <a:rPr sz="1600">
                <a:solidFill>
                  <a:srgbClr val="1B2430"/>
                </a:solidFill>
                <a:latin typeface="Calibri"/>
              </a:rPr>
              <a:t>TinyML'ning texnik asoslari: modellar o'nlab–yuzlab kilobayt (masalan, kalit so'z aniqlovchi DS-CNN ~20–50 KB, odam aniqlash uchun MobileNet-v1 0,25x ~250–300 KB INT8); barcha og'irliklar INT8'ga kvantlangan, hisoblash butun sonli arifmetikada; xotira statik…</a:t>
            </a:r>
          </a:p>
          <a:p>
            <a:pPr>
              <a:spcAft>
                <a:spcPts val="900"/>
              </a:spcAft>
            </a:pPr>
            <a:r>
              <a:rPr sz="1600" b="1">
                <a:solidFill>
                  <a:srgbClr val="0F8B8D"/>
                </a:solidFill>
              </a:rPr>
              <a:t>▪  </a:t>
            </a:r>
            <a:r>
              <a:rPr sz="1600">
                <a:solidFill>
                  <a:srgbClr val="1B2430"/>
                </a:solidFill>
                <a:latin typeface="Calibri"/>
              </a:rPr>
              <a:t>TinyML loyihasida muhandis quyidagi balansni ushlab turadi: model aniqligi, flesh hajmi (model + kod), SRAM (arena + aktivatsiyalar), inferens vaqti (davomiylik va chastota orqali energiya) va batareya umri. Masalan, 1 mJ/inferens sarflaydigan model sekundiga…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NVIDIA Jetson — Arm protsessor, Ampere arxitekturali GPU (Tensor Core bilan), apparat video kodek va ixtiyoriy DLA (Deep Learning Accelerator) bloklarini bitta modulda birlashtirgan…</a:t>
            </a:r>
          </a:p>
          <a:p>
            <a:pPr>
              <a:spcAft>
                <a:spcPts val="900"/>
              </a:spcAft>
            </a:pPr>
            <a:r>
              <a:rPr sz="1800" b="1">
                <a:solidFill>
                  <a:srgbClr val="0F8B8D"/>
                </a:solidFill>
              </a:rPr>
              <a:t>▪  </a:t>
            </a:r>
            <a:r>
              <a:rPr sz="1800">
                <a:solidFill>
                  <a:srgbClr val="1B2430"/>
                </a:solidFill>
                <a:latin typeface="Calibri"/>
              </a:rPr>
              <a:t>Jetson'ning asosiy afzalligi — to'liq CUDA ekotizimi: ma'lumot markazida ishlatiladigan PyTorch, TensorRT, cuDNN, DeepStream, Triton Inference Server bevosita ishlaydi, shuning uchun…</a:t>
            </a:r>
          </a:p>
          <a:p>
            <a:pPr>
              <a:spcAft>
                <a:spcPts val="900"/>
              </a:spcAft>
            </a:pPr>
            <a:r>
              <a:rPr sz="1800" b="1">
                <a:solidFill>
                  <a:srgbClr val="0F8B8D"/>
                </a:solidFill>
              </a:rPr>
              <a:t>▪  </a:t>
            </a:r>
            <a:r>
              <a:rPr sz="1800">
                <a:solidFill>
                  <a:srgbClr val="1B2430"/>
                </a:solidFill>
                <a:latin typeface="Calibri"/>
              </a:rPr>
              <a:t>Google Edge TPU (Coral mahsulot oilasi) — mutlaqo boshqa falsafa: faqat INT8, faqat TensorFlow Lite formatidagi va maxsus kompilyator (edgetpu_compiler) orqali o'tkazilgan modellar; 4 TOPS…</a:t>
            </a:r>
          </a:p>
          <a:p>
            <a:pPr>
              <a:spcAft>
                <a:spcPts val="900"/>
              </a:spcAft>
            </a:pPr>
            <a:r>
              <a:rPr sz="1800" b="1">
                <a:solidFill>
                  <a:srgbClr val="0F8B8D"/>
                </a:solidFill>
              </a:rPr>
              <a:t>▪  </a:t>
            </a:r>
            <a:r>
              <a:rPr sz="1800">
                <a:solidFill>
                  <a:srgbClr val="1B2430"/>
                </a:solidFill>
                <a:latin typeface="Calibri"/>
              </a:rPr>
              <a:t>Mobil telefonlarda NPU — Apple Neural Engine, Qualcomm Hexagon, Samsung/Google tensor bloklari — o'nlab TOPS beradi; ularga kirish Core ML, Android NNAPI (hozir asta-sekin LiteRT…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Modul</a:t>
                      </a:r>
                    </a:p>
                  </a:txBody>
                  <a:tcPr>
                    <a:solidFill>
                      <a:srgbClr val="2D5C8F"/>
                    </a:solidFill>
                  </a:tcPr>
                </a:tc>
                <a:tc>
                  <a:txBody>
                    <a:bodyPr/>
                    <a:lstStyle/>
                    <a:p>
                      <a:r>
                        <a:rPr sz="1400" b="1">
                          <a:solidFill>
                            <a:srgbClr val="FFFFFF"/>
                          </a:solidFill>
                          <a:latin typeface="Calibri"/>
                        </a:rPr>
                        <a:t>GPU (CUDA yadro / Tensor Core)</a:t>
                      </a:r>
                    </a:p>
                  </a:txBody>
                  <a:tcPr>
                    <a:solidFill>
                      <a:srgbClr val="2D5C8F"/>
                    </a:solidFill>
                  </a:tcPr>
                </a:tc>
                <a:tc>
                  <a:txBody>
                    <a:bodyPr/>
                    <a:lstStyle/>
                    <a:p>
                      <a:r>
                        <a:rPr sz="1400" b="1">
                          <a:solidFill>
                            <a:srgbClr val="FFFFFF"/>
                          </a:solidFill>
                          <a:latin typeface="Calibri"/>
                        </a:rPr>
                        <a:t>CPU</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INT8 unumdorlik</a:t>
                      </a:r>
                    </a:p>
                  </a:txBody>
                  <a:tcPr>
                    <a:solidFill>
                      <a:srgbClr val="2D5C8F"/>
                    </a:solidFill>
                  </a:tcPr>
                </a:tc>
                <a:tc>
                  <a:txBody>
                    <a:bodyPr/>
                    <a:lstStyle/>
                    <a:p>
                      <a:r>
                        <a:rPr sz="1400" b="1">
                          <a:solidFill>
                            <a:srgbClr val="FFFFFF"/>
                          </a:solidFill>
                          <a:latin typeface="Calibri"/>
                        </a:rPr>
                        <a:t>Quvvat rejimlari</a:t>
                      </a:r>
                    </a:p>
                  </a:txBody>
                  <a:tcPr>
                    <a:solidFill>
                      <a:srgbClr val="2D5C8F"/>
                    </a:solidFill>
                  </a:tcPr>
                </a:tc>
              </a:tr>
              <a:tr h="520000">
                <a:tc>
                  <a:txBody>
                    <a:bodyPr/>
                    <a:lstStyle/>
                    <a:p>
                      <a:r>
                        <a:rPr sz="1400" b="0">
                          <a:solidFill>
                            <a:srgbClr val="1B2430"/>
                          </a:solidFill>
                          <a:latin typeface="Calibri"/>
                        </a:rPr>
                        <a:t>Jetson Orin Nano 8GB</a:t>
                      </a:r>
                    </a:p>
                  </a:txBody>
                  <a:tcPr>
                    <a:solidFill>
                      <a:srgbClr val="F1F4F8"/>
                    </a:solidFill>
                  </a:tcPr>
                </a:tc>
                <a:tc>
                  <a:txBody>
                    <a:bodyPr/>
                    <a:lstStyle/>
                    <a:p>
                      <a:r>
                        <a:rPr sz="1400" b="0">
                          <a:solidFill>
                            <a:srgbClr val="1B2430"/>
                          </a:solidFill>
                          <a:latin typeface="Calibri"/>
                        </a:rPr>
                        <a:t>1024 / 32</a:t>
                      </a:r>
                    </a:p>
                  </a:txBody>
                  <a:tcPr>
                    <a:solidFill>
                      <a:srgbClr val="F1F4F8"/>
                    </a:solidFill>
                  </a:tcPr>
                </a:tc>
                <a:tc>
                  <a:txBody>
                    <a:bodyPr/>
                    <a:lstStyle/>
                    <a:p>
                      <a:r>
                        <a:rPr sz="1400" b="0">
                          <a:solidFill>
                            <a:srgbClr val="1B2430"/>
                          </a:solidFill>
                          <a:latin typeface="Calibri"/>
                        </a:rPr>
                        <a:t>6× Cortex-A78AE</a:t>
                      </a:r>
                    </a:p>
                  </a:txBody>
                  <a:tcPr>
                    <a:solidFill>
                      <a:srgbClr val="F1F4F8"/>
                    </a:solidFill>
                  </a:tcPr>
                </a:tc>
                <a:tc>
                  <a:txBody>
                    <a:bodyPr/>
                    <a:lstStyle/>
                    <a:p>
                      <a:r>
                        <a:rPr sz="1400" b="0">
                          <a:solidFill>
                            <a:srgbClr val="1B2430"/>
                          </a:solidFill>
                          <a:latin typeface="Calibri"/>
                        </a:rPr>
                        <a:t>8 GB LPDDR5, 68 GB/s (Super: 102 GB/s)</a:t>
                      </a:r>
                    </a:p>
                  </a:txBody>
                  <a:tcPr>
                    <a:solidFill>
                      <a:srgbClr val="F1F4F8"/>
                    </a:solidFill>
                  </a:tcPr>
                </a:tc>
                <a:tc>
                  <a:txBody>
                    <a:bodyPr/>
                    <a:lstStyle/>
                    <a:p>
                      <a:r>
                        <a:rPr sz="1400" b="0">
                          <a:solidFill>
                            <a:srgbClr val="1B2430"/>
                          </a:solidFill>
                          <a:latin typeface="Calibri"/>
                        </a:rPr>
                        <a:t>~40 TOPS (Super: ~67 TOPS)</a:t>
                      </a:r>
                    </a:p>
                  </a:txBody>
                  <a:tcPr>
                    <a:solidFill>
                      <a:srgbClr val="F1F4F8"/>
                    </a:solidFill>
                  </a:tcPr>
                </a:tc>
                <a:tc>
                  <a:txBody>
                    <a:bodyPr/>
                    <a:lstStyle/>
                    <a:p>
                      <a:r>
                        <a:rPr sz="1400" b="0">
                          <a:solidFill>
                            <a:srgbClr val="1B2430"/>
                          </a:solidFill>
                          <a:latin typeface="Calibri"/>
                        </a:rPr>
                        <a:t>7–15 Vt (Super: 25 Vt)</a:t>
                      </a:r>
                    </a:p>
                  </a:txBody>
                  <a:tcPr>
                    <a:solidFill>
                      <a:srgbClr val="F1F4F8"/>
                    </a:solidFill>
                  </a:tcPr>
                </a:tc>
              </a:tr>
              <a:tr h="520000">
                <a:tc>
                  <a:txBody>
                    <a:bodyPr/>
                    <a:lstStyle/>
                    <a:p>
                      <a:r>
                        <a:rPr sz="1400" b="0">
                          <a:solidFill>
                            <a:srgbClr val="1B2430"/>
                          </a:solidFill>
                          <a:latin typeface="Calibri"/>
                        </a:rPr>
                        <a:t>Jetson Orin NX 16GB</a:t>
                      </a:r>
                    </a:p>
                  </a:txBody>
                  <a:tcPr>
                    <a:solidFill>
                      <a:srgbClr val="FFFFFF"/>
                    </a:solidFill>
                  </a:tcPr>
                </a:tc>
                <a:tc>
                  <a:txBody>
                    <a:bodyPr/>
                    <a:lstStyle/>
                    <a:p>
                      <a:r>
                        <a:rPr sz="1400" b="0">
                          <a:solidFill>
                            <a:srgbClr val="1B2430"/>
                          </a:solidFill>
                          <a:latin typeface="Calibri"/>
                        </a:rPr>
                        <a:t>1024 / 32 + 2 DLA</a:t>
                      </a:r>
                    </a:p>
                  </a:txBody>
                  <a:tcPr>
                    <a:solidFill>
                      <a:srgbClr val="FFFFFF"/>
                    </a:solidFill>
                  </a:tcPr>
                </a:tc>
                <a:tc>
                  <a:txBody>
                    <a:bodyPr/>
                    <a:lstStyle/>
                    <a:p>
                      <a:r>
                        <a:rPr sz="1400" b="0">
                          <a:solidFill>
                            <a:srgbClr val="1B2430"/>
                          </a:solidFill>
                          <a:latin typeface="Calibri"/>
                        </a:rPr>
                        <a:t>8× Cortex-A78AE</a:t>
                      </a:r>
                    </a:p>
                  </a:txBody>
                  <a:tcPr>
                    <a:solidFill>
                      <a:srgbClr val="FFFFFF"/>
                    </a:solidFill>
                  </a:tcPr>
                </a:tc>
                <a:tc>
                  <a:txBody>
                    <a:bodyPr/>
                    <a:lstStyle/>
                    <a:p>
                      <a:r>
                        <a:rPr sz="1400" b="0">
                          <a:solidFill>
                            <a:srgbClr val="1B2430"/>
                          </a:solidFill>
                          <a:latin typeface="Calibri"/>
                        </a:rPr>
                        <a:t>16 GB, 102 GB/s</a:t>
                      </a:r>
                    </a:p>
                  </a:txBody>
                  <a:tcPr>
                    <a:solidFill>
                      <a:srgbClr val="FFFFFF"/>
                    </a:solidFill>
                  </a:tcPr>
                </a:tc>
                <a:tc>
                  <a:txBody>
                    <a:bodyPr/>
                    <a:lstStyle/>
                    <a:p>
                      <a:r>
                        <a:rPr sz="1400" b="0">
                          <a:solidFill>
                            <a:srgbClr val="1B2430"/>
                          </a:solidFill>
                          <a:latin typeface="Calibri"/>
                        </a:rPr>
                        <a:t>~100 TOPS (Super: ~157)</a:t>
                      </a:r>
                    </a:p>
                  </a:txBody>
                  <a:tcPr>
                    <a:solidFill>
                      <a:srgbClr val="FFFFFF"/>
                    </a:solidFill>
                  </a:tcPr>
                </a:tc>
                <a:tc>
                  <a:txBody>
                    <a:bodyPr/>
                    <a:lstStyle/>
                    <a:p>
                      <a:r>
                        <a:rPr sz="1400" b="0">
                          <a:solidFill>
                            <a:srgbClr val="1B2430"/>
                          </a:solidFill>
                          <a:latin typeface="Calibri"/>
                        </a:rPr>
                        <a:t>10–25 Vt (Super: 40 Vt)</a:t>
                      </a:r>
                    </a:p>
                  </a:txBody>
                  <a:tcPr>
                    <a:solidFill>
                      <a:srgbClr val="FFFFFF"/>
                    </a:solidFill>
                  </a:tcPr>
                </a:tc>
              </a:tr>
              <a:tr h="520000">
                <a:tc>
                  <a:txBody>
                    <a:bodyPr/>
                    <a:lstStyle/>
                    <a:p>
                      <a:r>
                        <a:rPr sz="1400" b="0">
                          <a:solidFill>
                            <a:srgbClr val="1B2430"/>
                          </a:solidFill>
                          <a:latin typeface="Calibri"/>
                        </a:rPr>
                        <a:t>Jetson AGX Orin 64GB</a:t>
                      </a:r>
                    </a:p>
                  </a:txBody>
                  <a:tcPr>
                    <a:solidFill>
                      <a:srgbClr val="F1F4F8"/>
                    </a:solidFill>
                  </a:tcPr>
                </a:tc>
                <a:tc>
                  <a:txBody>
                    <a:bodyPr/>
                    <a:lstStyle/>
                    <a:p>
                      <a:r>
                        <a:rPr sz="1400" b="0">
                          <a:solidFill>
                            <a:srgbClr val="1B2430"/>
                          </a:solidFill>
                          <a:latin typeface="Calibri"/>
                        </a:rPr>
                        <a:t>2048 / 64 + 2 DLA</a:t>
                      </a:r>
                    </a:p>
                  </a:txBody>
                  <a:tcPr>
                    <a:solidFill>
                      <a:srgbClr val="F1F4F8"/>
                    </a:solidFill>
                  </a:tcPr>
                </a:tc>
                <a:tc>
                  <a:txBody>
                    <a:bodyPr/>
                    <a:lstStyle/>
                    <a:p>
                      <a:r>
                        <a:rPr sz="1400" b="0">
                          <a:solidFill>
                            <a:srgbClr val="1B2430"/>
                          </a:solidFill>
                          <a:latin typeface="Calibri"/>
                        </a:rPr>
                        <a:t>12× Cortex-A78AE</a:t>
                      </a:r>
                    </a:p>
                  </a:txBody>
                  <a:tcPr>
                    <a:solidFill>
                      <a:srgbClr val="F1F4F8"/>
                    </a:solidFill>
                  </a:tcPr>
                </a:tc>
                <a:tc>
                  <a:txBody>
                    <a:bodyPr/>
                    <a:lstStyle/>
                    <a:p>
                      <a:r>
                        <a:rPr sz="1400" b="0">
                          <a:solidFill>
                            <a:srgbClr val="1B2430"/>
                          </a:solidFill>
                          <a:latin typeface="Calibri"/>
                        </a:rPr>
                        <a:t>64 GB, 204,8 GB/s</a:t>
                      </a:r>
                    </a:p>
                  </a:txBody>
                  <a:tcPr>
                    <a:solidFill>
                      <a:srgbClr val="F1F4F8"/>
                    </a:solidFill>
                  </a:tcPr>
                </a:tc>
                <a:tc>
                  <a:txBody>
                    <a:bodyPr/>
                    <a:lstStyle/>
                    <a:p>
                      <a:r>
                        <a:rPr sz="1400" b="0">
                          <a:solidFill>
                            <a:srgbClr val="1B2430"/>
                          </a:solidFill>
                          <a:latin typeface="Calibri"/>
                        </a:rPr>
                        <a:t>~275 TOPS</a:t>
                      </a:r>
                    </a:p>
                  </a:txBody>
                  <a:tcPr>
                    <a:solidFill>
                      <a:srgbClr val="F1F4F8"/>
                    </a:solidFill>
                  </a:tcPr>
                </a:tc>
                <a:tc>
                  <a:txBody>
                    <a:bodyPr/>
                    <a:lstStyle/>
                    <a:p>
                      <a:r>
                        <a:rPr sz="1400" b="0">
                          <a:solidFill>
                            <a:srgbClr val="1B2430"/>
                          </a:solidFill>
                          <a:latin typeface="Calibri"/>
                        </a:rPr>
                        <a:t>15–60 Vt</a:t>
                      </a:r>
                    </a:p>
                  </a:txBody>
                  <a:tcPr>
                    <a:solidFill>
                      <a:srgbClr val="F1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Dasturiy vositalar zanjiri: konvertatsiya, kvantlash, delegat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Chekka qurilma uchun model tayyorlash odatda uch bosqichdan iborat. Birinchi — formatga o'tkazish: PyTorch → ONNX (torch.onnx.export) → ONNX Runtime (Jetson'da CUDA/TensorRT execution provider bilan) yoki TensorRT dvigateli; TensorFlow/Keras → TensorFlow Lite…</a:t>
            </a:r>
          </a:p>
          <a:p>
            <a:pPr>
              <a:spcAft>
                <a:spcPts val="900"/>
              </a:spcAft>
            </a:pPr>
            <a:r>
              <a:rPr sz="2000" b="1">
                <a:solidFill>
                  <a:srgbClr val="0F8B8D"/>
                </a:solidFill>
              </a:rPr>
              <a:t>▪  </a:t>
            </a:r>
            <a:r>
              <a:rPr sz="2000">
                <a:solidFill>
                  <a:srgbClr val="1B2430"/>
                </a:solidFill>
                <a:latin typeface="Calibri"/>
              </a:rPr>
              <a:t>M8 mavzusida kvantlash va boshqa siqish usullari nazariy jihatdan chuqurroq ko'riladi; bu yerda ular chekka joylash kontekstida amaliy vosita sifatida ishlatiladi.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Internet buyumlari (IoT) tizimlarida chekka intellekt uch qatlamli arxitekturada ishlaydi: qurilmalar (sensorlar, kameralar, kontrollerlar) → shlyuz yoki chekka server (ma'lumot yig'ish, oldingi filtrlash, mahalliy inferens, vaqtincha saqlash) → bulut (uzoq…</a:t>
            </a:r>
          </a:p>
          <a:p>
            <a:pPr>
              <a:spcAft>
                <a:spcPts val="900"/>
              </a:spcAft>
            </a:pPr>
            <a:r>
              <a:rPr sz="1800" b="1">
                <a:solidFill>
                  <a:srgbClr val="0F8B8D"/>
                </a:solidFill>
              </a:rPr>
              <a:t>▪  </a:t>
            </a:r>
            <a:r>
              <a:rPr sz="1800">
                <a:solidFill>
                  <a:srgbClr val="1B2430"/>
                </a:solidFill>
                <a:latin typeface="Calibri"/>
              </a:rPr>
              <a:t>Model yangilash (OTA — over-the-air update) Edge AI'ning muhim tarkibiy qismi: model kuzatilgan ma'lumotda eskiradi (drift), yangi sinflar kerak bo'ladi, xatolar tuzatiladi. OTA tizimi versiyalash, imzolangan paketlar, bosqichma-bosqich tarqatish (canary) va…</a:t>
            </a:r>
          </a:p>
          <a:p>
            <a:pPr>
              <a:spcAft>
                <a:spcPts val="900"/>
              </a:spcAft>
            </a:pPr>
            <a:r>
              <a:rPr sz="1800" b="1">
                <a:solidFill>
                  <a:srgbClr val="0F8B8D"/>
                </a:solidFill>
              </a:rPr>
              <a:t>▪  </a:t>
            </a:r>
            <a:r>
              <a:rPr sz="1800">
                <a:solidFill>
                  <a:srgbClr val="1B2430"/>
                </a:solidFill>
                <a:latin typeface="Calibri"/>
              </a:rPr>
              <a:t>Bulut va chekka o'rtasidagi tanlovni quyidagi jadval umumlashtiradi: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Bulut inferens</a:t>
                      </a:r>
                    </a:p>
                  </a:txBody>
                  <a:tcPr>
                    <a:solidFill>
                      <a:srgbClr val="2D5C8F"/>
                    </a:solidFill>
                  </a:tcPr>
                </a:tc>
                <a:tc>
                  <a:txBody>
                    <a:bodyPr/>
                    <a:lstStyle/>
                    <a:p>
                      <a:r>
                        <a:rPr sz="1400" b="1">
                          <a:solidFill>
                            <a:srgbClr val="FFFFFF"/>
                          </a:solidFill>
                          <a:latin typeface="Calibri"/>
                        </a:rPr>
                        <a:t>Chekka inferens</a:t>
                      </a:r>
                    </a:p>
                  </a:txBody>
                  <a:tcPr>
                    <a:solidFill>
                      <a:srgbClr val="2D5C8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50–500 ms (tarmoqqa bog'liq)</a:t>
                      </a:r>
                    </a:p>
                  </a:txBody>
                  <a:tcPr>
                    <a:solidFill>
                      <a:srgbClr val="F1F4F8"/>
                    </a:solidFill>
                  </a:tcPr>
                </a:tc>
                <a:tc>
                  <a:txBody>
                    <a:bodyPr/>
                    <a:lstStyle/>
                    <a:p>
                      <a:r>
                        <a:rPr sz="1400" b="0">
                          <a:solidFill>
                            <a:srgbClr val="1B2430"/>
                          </a:solidFill>
                          <a:latin typeface="Calibri"/>
                        </a:rPr>
                        <a:t>5–50 ms, bashoratli</a:t>
                      </a:r>
                    </a:p>
                  </a:txBody>
                  <a:tcPr>
                    <a:solidFill>
                      <a:srgbClr val="F1F4F8"/>
                    </a:solidFill>
                  </a:tcPr>
                </a:tc>
              </a:tr>
              <a:tr h="520000">
                <a:tc>
                  <a:txBody>
                    <a:bodyPr/>
                    <a:lstStyle/>
                    <a:p>
                      <a:r>
                        <a:rPr sz="1400" b="0">
                          <a:solidFill>
                            <a:srgbClr val="1B2430"/>
                          </a:solidFill>
                          <a:latin typeface="Calibri"/>
                        </a:rPr>
                        <a:t>Model hajmi</a:t>
                      </a:r>
                    </a:p>
                  </a:txBody>
                  <a:tcPr>
                    <a:solidFill>
                      <a:srgbClr val="FFFFFF"/>
                    </a:solidFill>
                  </a:tcPr>
                </a:tc>
                <a:tc>
                  <a:txBody>
                    <a:bodyPr/>
                    <a:lstStyle/>
                    <a:p>
                      <a:r>
                        <a:rPr sz="1400" b="0">
                          <a:solidFill>
                            <a:srgbClr val="1B2430"/>
                          </a:solidFill>
                          <a:latin typeface="Calibri"/>
                        </a:rPr>
                        <a:t>cheklanmagan</a:t>
                      </a:r>
                    </a:p>
                  </a:txBody>
                  <a:tcPr>
                    <a:solidFill>
                      <a:srgbClr val="FFFFFF"/>
                    </a:solidFill>
                  </a:tcPr>
                </a:tc>
                <a:tc>
                  <a:txBody>
                    <a:bodyPr/>
                    <a:lstStyle/>
                    <a:p>
                      <a:r>
                        <a:rPr sz="1400" b="0">
                          <a:solidFill>
                            <a:srgbClr val="1B2430"/>
                          </a:solidFill>
                          <a:latin typeface="Calibri"/>
                        </a:rPr>
                        <a:t>odatda 1–500 MB, TinyML'da KB'lar</a:t>
                      </a:r>
                    </a:p>
                  </a:txBody>
                  <a:tcPr>
                    <a:solidFill>
                      <a:srgbClr val="FFFFFF"/>
                    </a:solidFill>
                  </a:tcPr>
                </a:tc>
              </a:tr>
              <a:tr h="520000">
                <a:tc>
                  <a:txBody>
                    <a:bodyPr/>
                    <a:lstStyle/>
                    <a:p>
                      <a:r>
                        <a:rPr sz="1400" b="0">
                          <a:solidFill>
                            <a:srgbClr val="1B2430"/>
                          </a:solidFill>
                          <a:latin typeface="Calibri"/>
                        </a:rPr>
                        <a:t>Yangilash</a:t>
                      </a:r>
                    </a:p>
                  </a:txBody>
                  <a:tcPr>
                    <a:solidFill>
                      <a:srgbClr val="F1F4F8"/>
                    </a:solidFill>
                  </a:tcPr>
                </a:tc>
                <a:tc>
                  <a:txBody>
                    <a:bodyPr/>
                    <a:lstStyle/>
                    <a:p>
                      <a:r>
                        <a:rPr sz="1400" b="0">
                          <a:solidFill>
                            <a:srgbClr val="1B2430"/>
                          </a:solidFill>
                          <a:latin typeface="Calibri"/>
                        </a:rPr>
                        <a:t>markazlashgan, oson</a:t>
                      </a:r>
                    </a:p>
                  </a:txBody>
                  <a:tcPr>
                    <a:solidFill>
                      <a:srgbClr val="F1F4F8"/>
                    </a:solidFill>
                  </a:tcPr>
                </a:tc>
                <a:tc>
                  <a:txBody>
                    <a:bodyPr/>
                    <a:lstStyle/>
                    <a:p>
                      <a:r>
                        <a:rPr sz="1400" b="0">
                          <a:solidFill>
                            <a:srgbClr val="1B2430"/>
                          </a:solidFill>
                          <a:latin typeface="Calibri"/>
                        </a:rPr>
                        <a:t>OTA tizimi talab qiladi</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so'rov hajmiga proporsional</a:t>
                      </a:r>
                    </a:p>
                  </a:txBody>
                  <a:tcPr>
                    <a:solidFill>
                      <a:srgbClr val="FFFFFF"/>
                    </a:solidFill>
                  </a:tcPr>
                </a:tc>
                <a:tc>
                  <a:txBody>
                    <a:bodyPr/>
                    <a:lstStyle/>
                    <a:p>
                      <a:r>
                        <a:rPr sz="1400" b="0">
                          <a:solidFill>
                            <a:srgbClr val="1B2430"/>
                          </a:solidFill>
                          <a:latin typeface="Calibri"/>
                        </a:rPr>
                        <a:t>bir martalik apparat + texnik xizmat</a:t>
                      </a:r>
                    </a:p>
                  </a:txBody>
                  <a:tcPr>
                    <a:solidFill>
                      <a:srgbClr val="FFFFFF"/>
                    </a:solidFill>
                  </a:tcPr>
                </a:tc>
              </a:tr>
              <a:tr h="520000">
                <a:tc>
                  <a:txBody>
                    <a:bodyPr/>
                    <a:lstStyle/>
                    <a:p>
                      <a:r>
                        <a:rPr sz="1400" b="0">
                          <a:solidFill>
                            <a:srgbClr val="1B2430"/>
                          </a:solidFill>
                          <a:latin typeface="Calibri"/>
                        </a:rPr>
                        <a:t>Maxfiylik</a:t>
                      </a:r>
                    </a:p>
                  </a:txBody>
                  <a:tcPr>
                    <a:solidFill>
                      <a:srgbClr val="F1F4F8"/>
                    </a:solidFill>
                  </a:tcPr>
                </a:tc>
                <a:tc>
                  <a:txBody>
                    <a:bodyPr/>
                    <a:lstStyle/>
                    <a:p>
                      <a:r>
                        <a:rPr sz="1400" b="0">
                          <a:solidFill>
                            <a:srgbClr val="1B2430"/>
                          </a:solidFill>
                          <a:latin typeface="Calibri"/>
                        </a:rPr>
                        <a:t>ma'lumot qurilmadan chiqadi</a:t>
                      </a:r>
                    </a:p>
                  </a:txBody>
                  <a:tcPr>
                    <a:solidFill>
                      <a:srgbClr val="F1F4F8"/>
                    </a:solidFill>
                  </a:tcPr>
                </a:tc>
                <a:tc>
                  <a:txBody>
                    <a:bodyPr/>
                    <a:lstStyle/>
                    <a:p>
                      <a:r>
                        <a:rPr sz="1400" b="0">
                          <a:solidFill>
                            <a:srgbClr val="1B2430"/>
                          </a:solidFill>
                          <a:latin typeface="Calibri"/>
                        </a:rPr>
                        <a:t>ma'lumot joyida qoladi</a:t>
                      </a:r>
                    </a:p>
                  </a:txBody>
                  <a:tcPr>
                    <a:solidFill>
                      <a:srgbClr val="F1F4F8"/>
                    </a:solidFill>
                  </a:tcPr>
                </a:tc>
              </a:tr>
              <a:tr h="520000">
                <a:tc>
                  <a:txBody>
                    <a:bodyPr/>
                    <a:lstStyle/>
                    <a:p>
                      <a:r>
                        <a:rPr sz="1400" b="0">
                          <a:solidFill>
                            <a:srgbClr val="1B2430"/>
                          </a:solidFill>
                          <a:latin typeface="Calibri"/>
                        </a:rPr>
                        <a:t>Oflayn ishlash</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ha</a:t>
                      </a:r>
                    </a:p>
                  </a:txBody>
                  <a:tcPr>
                    <a:solidFill>
                      <a:srgbClr val="FFFFFF"/>
                    </a:solidFill>
                  </a:tcPr>
                </a:tc>
              </a:tr>
              <a:tr h="520000">
                <a:tc>
                  <a:txBody>
                    <a:bodyPr/>
                    <a:lstStyle/>
                    <a:p>
                      <a:r>
                        <a:rPr sz="1400" b="0">
                          <a:solidFill>
                            <a:srgbClr val="1B2430"/>
                          </a:solidFill>
                          <a:latin typeface="Calibri"/>
                        </a:rPr>
                        <a:t>Energiya (qurilma)</a:t>
                      </a:r>
                    </a:p>
                  </a:txBody>
                  <a:tcPr>
                    <a:solidFill>
                      <a:srgbClr val="F1F4F8"/>
                    </a:solidFill>
                  </a:tcPr>
                </a:tc>
                <a:tc>
                  <a:txBody>
                    <a:bodyPr/>
                    <a:lstStyle/>
                    <a:p>
                      <a:r>
                        <a:rPr sz="1400" b="0">
                          <a:solidFill>
                            <a:srgbClr val="1B2430"/>
                          </a:solidFill>
                          <a:latin typeface="Calibri"/>
                        </a:rPr>
                        <a:t>radio uzatish</a:t>
                      </a:r>
                    </a:p>
                  </a:txBody>
                  <a:tcPr>
                    <a:solidFill>
                      <a:srgbClr val="F1F4F8"/>
                    </a:solidFill>
                  </a:tcPr>
                </a:tc>
                <a:tc>
                  <a:txBody>
                    <a:bodyPr/>
                    <a:lstStyle/>
                    <a:p>
                      <a:r>
                        <a:rPr sz="1400" b="0">
                          <a:solidFill>
                            <a:srgbClr val="1B2430"/>
                          </a:solidFill>
                          <a:latin typeface="Calibri"/>
                        </a:rPr>
                        <a:t>hisoblash</a:t>
                      </a:r>
                    </a:p>
                  </a:txBody>
                  <a:tcPr>
                    <a:solidFill>
                      <a:srgbClr val="F1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Misolda rasm tasniflash modelini (MobileNetV2, ImageNet) chekka qurilma uchun tayyorlaymiz: TensorFlow Lite'ga konvertatsiya, INT8 kvantlash, x86 va Jetson'da o'lchash, ONNX Runtime bilan taqqoslash va Jetson'da quvvatni kuzatish. Kodlar Python 3.10,…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FP32 TFLite konvertatsiya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Keras modeli avval SavedModel grafiga eksport qilindi, keyin TFLite konverteri uni FlatBuffer formatidagi .tflite fayliga aylantirdi. Bu bosqichda hech qanday kvantlash yo'q — og'irliklar FP32 (3,5 mln parametr × 4 bayt ≈ 14 MB).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FP32 TFLite konvertatsiya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tensorflow as tf, numpy as np, time, pathlib</a:t>
            </a:r>
          </a:p>
          <a:p>
            <a:r>
              <a:rPr sz="1200">
                <a:solidFill>
                  <a:srgbClr val="E2E8F0"/>
                </a:solidFill>
                <a:latin typeface="Consolas"/>
              </a:rPr>
              <a:t> </a:t>
            </a:r>
          </a:p>
          <a:p>
            <a:r>
              <a:rPr sz="1200">
                <a:solidFill>
                  <a:srgbClr val="E2E8F0"/>
                </a:solidFill>
                <a:latin typeface="Consolas"/>
              </a:rPr>
              <a:t>model = tf.keras.applications.MobileNetV2(weights="imagenet", input_shape=(224, 224, 3))</a:t>
            </a:r>
          </a:p>
          <a:p>
            <a:r>
              <a:rPr sz="1200">
                <a:solidFill>
                  <a:srgbClr val="E2E8F0"/>
                </a:solidFill>
                <a:latin typeface="Consolas"/>
              </a:rPr>
              <a:t>model.export("mnv2_saved")                       # SavedModel (Keras 3)</a:t>
            </a:r>
          </a:p>
          <a:p>
            <a:r>
              <a:rPr sz="1200">
                <a:solidFill>
                  <a:srgbClr val="E2E8F0"/>
                </a:solidFill>
                <a:latin typeface="Consolas"/>
              </a:rPr>
              <a:t> </a:t>
            </a:r>
          </a:p>
          <a:p>
            <a:r>
              <a:rPr sz="1200">
                <a:solidFill>
                  <a:srgbClr val="E2E8F0"/>
                </a:solidFill>
                <a:latin typeface="Consolas"/>
              </a:rPr>
              <a:t>conv = tf.lite.TFLiteConverter.from_saved_model("mnv2_saved")</a:t>
            </a:r>
          </a:p>
          <a:p>
            <a:r>
              <a:rPr sz="1200">
                <a:solidFill>
                  <a:srgbClr val="E2E8F0"/>
                </a:solidFill>
                <a:latin typeface="Consolas"/>
              </a:rPr>
              <a:t>tfl_fp32 = conv.convert()</a:t>
            </a:r>
          </a:p>
          <a:p>
            <a:r>
              <a:rPr sz="1200">
                <a:solidFill>
                  <a:srgbClr val="E2E8F0"/>
                </a:solidFill>
                <a:latin typeface="Consolas"/>
              </a:rPr>
              <a:t>pathlib.Path("mnv2_fp32.tflite").write_bytes(tfl_fp32)</a:t>
            </a:r>
          </a:p>
          <a:p>
            <a:r>
              <a:rPr sz="1200">
                <a:solidFill>
                  <a:srgbClr val="E2E8F0"/>
                </a:solidFill>
                <a:latin typeface="Consolas"/>
              </a:rPr>
              <a:t>print("FP32 hajmi:", len(tfl_fp32) / 1e6, "MB")   # ~14 MB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INT8 statik kvantlash kalibrlash to'plami bilan</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representative_dataset konverterga har bir aktivatsiya tensorining real qiymat diapazonini ko'rsatadi; shu diapazon asosida har tensor uchun masshtab (scale) va nol nuqta (zero point) hisoblanadi: q = round(x / scale) + zero_point.…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INT8 statik kvantlash kalibrlash to'plami bilan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def rep_data():</a:t>
            </a:r>
          </a:p>
          <a:p>
            <a:r>
              <a:rPr sz="1000">
                <a:solidFill>
                  <a:srgbClr val="7FD6D7"/>
                </a:solidFill>
                <a:latin typeface="Consolas"/>
              </a:rPr>
              <a:t>    # Haqiqiy loyihada: 200–500 ta vakillik rasm (validatsiya to'plamidan)</a:t>
            </a:r>
          </a:p>
          <a:p>
            <a:r>
              <a:rPr sz="1000">
                <a:solidFill>
                  <a:srgbClr val="E2E8F0"/>
                </a:solidFill>
                <a:latin typeface="Consolas"/>
              </a:rPr>
              <a:t>    ds = tf.keras.utils.image_dataset_from_directory(</a:t>
            </a:r>
          </a:p>
          <a:p>
            <a:r>
              <a:rPr sz="1000">
                <a:solidFill>
                  <a:srgbClr val="E2E8F0"/>
                </a:solidFill>
                <a:latin typeface="Consolas"/>
              </a:rPr>
              <a:t>        "calib_images", image_size=(224, 224), batch_size=1, labels=None)</a:t>
            </a:r>
          </a:p>
          <a:p>
            <a:r>
              <a:rPr sz="1000">
                <a:solidFill>
                  <a:srgbClr val="E2E8F0"/>
                </a:solidFill>
                <a:latin typeface="Consolas"/>
              </a:rPr>
              <a:t>    for img in ds.take(300):</a:t>
            </a:r>
          </a:p>
          <a:p>
            <a:r>
              <a:rPr sz="1000">
                <a:solidFill>
                  <a:srgbClr val="E2E8F0"/>
                </a:solidFill>
                <a:latin typeface="Consolas"/>
              </a:rPr>
              <a:t>        yield [tf.keras.applications.mobilenet_v2.preprocess_input(tf.cast(img, tf.float32))]</a:t>
            </a:r>
          </a:p>
          <a:p>
            <a:r>
              <a:rPr sz="1000">
                <a:solidFill>
                  <a:srgbClr val="E2E8F0"/>
                </a:solidFill>
                <a:latin typeface="Consolas"/>
              </a:rPr>
              <a:t> </a:t>
            </a:r>
          </a:p>
          <a:p>
            <a:r>
              <a:rPr sz="1000">
                <a:solidFill>
                  <a:srgbClr val="E2E8F0"/>
                </a:solidFill>
                <a:latin typeface="Consolas"/>
              </a:rPr>
              <a:t>conv = tf.lite.TFLiteConverter.from_saved_model("mnv2_saved")</a:t>
            </a:r>
          </a:p>
          <a:p>
            <a:r>
              <a:rPr sz="1000">
                <a:solidFill>
                  <a:srgbClr val="E2E8F0"/>
                </a:solidFill>
                <a:latin typeface="Consolas"/>
              </a:rPr>
              <a:t>conv.optimizations = [tf.lite.Optimize.DEFAULT]</a:t>
            </a:r>
          </a:p>
          <a:p>
            <a:r>
              <a:rPr sz="1000">
                <a:solidFill>
                  <a:srgbClr val="E2E8F0"/>
                </a:solidFill>
                <a:latin typeface="Consolas"/>
              </a:rPr>
              <a:t>conv.representative_dataset = rep_data</a:t>
            </a:r>
          </a:p>
          <a:p>
            <a:r>
              <a:rPr sz="1000">
                <a:solidFill>
                  <a:srgbClr val="E2E8F0"/>
                </a:solidFill>
                <a:latin typeface="Consolas"/>
              </a:rPr>
              <a:t>conv.target_spec.supported_ops = [tf.lite.OpsSet.TFLITE_BUILTINS_INT8]</a:t>
            </a:r>
          </a:p>
          <a:p>
            <a:r>
              <a:rPr sz="1000">
                <a:solidFill>
                  <a:srgbClr val="E2E8F0"/>
                </a:solidFill>
                <a:latin typeface="Consolas"/>
              </a:rPr>
              <a:t>conv.inference_input_type = tf.uint8          # Edge TPU uchun to'liq butun sonli kirish/chiqish</a:t>
            </a:r>
          </a:p>
          <a:p>
            <a:r>
              <a:rPr sz="1000">
                <a:solidFill>
                  <a:srgbClr val="E2E8F0"/>
                </a:solidFill>
                <a:latin typeface="Consolas"/>
              </a:rPr>
              <a:t>conv.inference_output_type = tf.uint8</a:t>
            </a:r>
          </a:p>
          <a:p>
            <a:r>
              <a:rPr sz="1000">
                <a:solidFill>
                  <a:srgbClr val="E2E8F0"/>
                </a:solidFill>
                <a:latin typeface="Consolas"/>
              </a:rPr>
              <a:t>tfl_int8 = conv.convert()</a:t>
            </a:r>
          </a:p>
          <a:p>
            <a:r>
              <a:rPr sz="1000">
                <a:solidFill>
                  <a:srgbClr val="E2E8F0"/>
                </a:solidFill>
                <a:latin typeface="Consolas"/>
              </a:rPr>
              <a:t>pathlib.Path("mnv2_int8.tflite").write_bytes(tfl_int8)</a:t>
            </a:r>
          </a:p>
          <a:p>
            <a:r>
              <a:rPr sz="1000">
                <a:solidFill>
                  <a:srgbClr val="E2E8F0"/>
                </a:solidFill>
                <a:latin typeface="Consolas"/>
              </a:rPr>
              <a:t>print("INT8 hajmi:", len(tfl_int8) / 1e6, "MB")   # ~3.5–4 MB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Aniqlik va tezlikni x86'da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tarjimon har bir rasm uchun ishga tushirildi va vaqt alohida o'lchandi; median va p99 — real vaqt tizimlari uchun o'rtachadan muhimroq ko'rsatkichlar. Taxminiy natija (4 yadroli x86 noutbuk, XNNPACK delegati avtomatik yoqilgan): FP32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Aniqlik va tezlikni x86'da o'lchash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def run_tflite(path, images, threads=4):</a:t>
            </a:r>
          </a:p>
          <a:p>
            <a:r>
              <a:rPr sz="1200">
                <a:solidFill>
                  <a:srgbClr val="E2E8F0"/>
                </a:solidFill>
                <a:latin typeface="Consolas"/>
              </a:rPr>
              <a:t>    itp = tf.lite.Interpreter(model_path=path, num_threads=threads)</a:t>
            </a:r>
          </a:p>
          <a:p>
            <a:r>
              <a:rPr sz="1200">
                <a:solidFill>
                  <a:srgbClr val="E2E8F0"/>
                </a:solidFill>
                <a:latin typeface="Consolas"/>
              </a:rPr>
              <a:t>    itp.allocate_tensors()</a:t>
            </a:r>
          </a:p>
          <a:p>
            <a:r>
              <a:rPr sz="1200">
                <a:solidFill>
                  <a:srgbClr val="E2E8F0"/>
                </a:solidFill>
                <a:latin typeface="Consolas"/>
              </a:rPr>
              <a:t>    inp = itp.get_input_details()[0]; out = itp.get_output_details()[0]</a:t>
            </a:r>
          </a:p>
          <a:p>
            <a:r>
              <a:rPr sz="1200">
                <a:solidFill>
                  <a:srgbClr val="E2E8F0"/>
                </a:solidFill>
                <a:latin typeface="Consolas"/>
              </a:rPr>
              <a:t>    preds, times = [], []</a:t>
            </a:r>
          </a:p>
          <a:p>
            <a:r>
              <a:rPr sz="1200">
                <a:solidFill>
                  <a:srgbClr val="E2E8F0"/>
                </a:solidFill>
                <a:latin typeface="Consolas"/>
              </a:rPr>
              <a:t>    for img in images:</a:t>
            </a:r>
          </a:p>
          <a:p>
            <a:r>
              <a:rPr sz="1200">
                <a:solidFill>
                  <a:srgbClr val="E2E8F0"/>
                </a:solidFill>
                <a:latin typeface="Consolas"/>
              </a:rPr>
              <a:t>        x = img</a:t>
            </a:r>
          </a:p>
          <a:p>
            <a:r>
              <a:rPr sz="1200">
                <a:solidFill>
                  <a:srgbClr val="E2E8F0"/>
                </a:solidFill>
                <a:latin typeface="Consolas"/>
              </a:rPr>
              <a:t>        if inp["dtype"] == np.uint8:                       # kvantlangan kirish</a:t>
            </a:r>
          </a:p>
          <a:p>
            <a:r>
              <a:rPr sz="1200">
                <a:solidFill>
                  <a:srgbClr val="E2E8F0"/>
                </a:solidFill>
                <a:latin typeface="Consolas"/>
              </a:rPr>
              <a:t>            s, z = inp["quantization"]</a:t>
            </a:r>
          </a:p>
          <a:p>
            <a:r>
              <a:rPr sz="1200">
                <a:solidFill>
                  <a:srgbClr val="E2E8F0"/>
                </a:solidFill>
                <a:latin typeface="Consolas"/>
              </a:rPr>
              <a:t>            x = np.clip(np.round(img / s + z), 0, 255).astype(np.uint8)</a:t>
            </a:r>
          </a:p>
          <a:p>
            <a:r>
              <a:rPr sz="1200">
                <a:solidFill>
                  <a:srgbClr val="E2E8F0"/>
                </a:solidFill>
                <a:latin typeface="Consolas"/>
              </a:rPr>
              <a:t>        itp.set_tensor(inp["index"], x[None])</a:t>
            </a:r>
          </a:p>
          <a:p>
            <a:r>
              <a:rPr sz="1200">
                <a:solidFill>
                  <a:srgbClr val="E2E8F0"/>
                </a:solidFill>
                <a:latin typeface="Consolas"/>
              </a:rPr>
              <a:t>        t = time.perf_counter(); itp.invoke(); times.append(time.perf_counter() - t)</a:t>
            </a:r>
          </a:p>
          <a:p>
            <a:r>
              <a:rPr sz="1200">
                <a:solidFill>
                  <a:srgbClr val="E2E8F0"/>
                </a:solidFill>
                <a:latin typeface="Consolas"/>
              </a:rPr>
              <a:t>        preds.append(int(np.argmax(itp.get_tensor(out["index"])[0])))</a:t>
            </a:r>
          </a:p>
          <a:p>
            <a:r>
              <a:rPr sz="1200">
                <a:solidFill>
                  <a:srgbClr val="E2E8F0"/>
                </a:solidFill>
                <a:latin typeface="Consolas"/>
              </a:rPr>
              <a:t>    times = np.array(times[10:]) * 1e3                      # isitishni tashlab</a:t>
            </a:r>
          </a:p>
          <a:p>
            <a:r>
              <a:rPr sz="1200">
                <a:solidFill>
                  <a:srgbClr val="E2E8F0"/>
                </a:solidFill>
                <a:latin typeface="Consolas"/>
              </a:rPr>
              <a:t>    return np.array(preds), np.median(times), np.percentile(times, 99)</a:t>
            </a:r>
          </a:p>
          <a:p>
            <a:r>
              <a:rPr sz="1200">
                <a:solidFill>
                  <a:srgbClr val="E2E8F0"/>
                </a:solidFill>
                <a:latin typeface="Consolas"/>
              </a:rPr>
              <a:t> </a:t>
            </a:r>
          </a:p>
          <a:p>
            <a:r>
              <a:rPr sz="1200">
                <a:solidFill>
                  <a:srgbClr val="7FD6D7"/>
                </a:solidFill>
                <a:latin typeface="Consolas"/>
              </a:rPr>
              <a:t># images: 1000 ta validatsiya rasmi (preprocess_input qo'llangan), labels: haqiqiy sinflar</a:t>
            </a:r>
          </a:p>
          <a:p>
            <a:r>
              <a:rPr sz="1200">
                <a:solidFill>
                  <a:srgbClr val="E2E8F0"/>
                </a:solidFill>
                <a:latin typeface="Consolas"/>
              </a:rPr>
              <a:t>for name in ("mnv2_fp32.tflite", "mnv2_int8.tflite"):</a:t>
            </a:r>
          </a:p>
          <a:p>
            <a:r>
              <a:rPr sz="1200">
                <a:solidFill>
                  <a:srgbClr val="E2E8F0"/>
                </a:solidFill>
                <a:latin typeface="Consolas"/>
              </a:rPr>
              <a:t>    p, med, p99 = run_tflite(name, images)</a:t>
            </a:r>
          </a:p>
          <a:p>
            <a:r>
              <a:rPr sz="1200">
                <a:solidFill>
                  <a:srgbClr val="E2E8F0"/>
                </a:solidFill>
                <a:latin typeface="Consolas"/>
              </a:rPr>
              <a:t>    print(f"{name}: top-1={np.mean(p == labels):.3f}  median={med:.1f} ms  p99={p99:.1f} 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ONNX Runtime bilan taqqoslash va Jetson'ga tayyorlash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PyTorch modeli ONNX grafiga eksport qilindi — bu freymvorkdan mustaqil oraliq format (ONNX, [10]). ONNX Runtime'da provayderlar ro'yxati ustuvorlik tartibini belgilaydi: TensorRT qo'llab-quvvatlagan qism tugunlarni oladi, qolgani CUDA'ga,…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ONNX Runtime bilan taqqoslash va Jetson'ga tayyorlash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onnxruntime as ort, torch, torchvision</a:t>
            </a:r>
          </a:p>
          <a:p>
            <a:r>
              <a:rPr sz="1000">
                <a:solidFill>
                  <a:srgbClr val="E2E8F0"/>
                </a:solidFill>
                <a:latin typeface="Consolas"/>
              </a:rPr>
              <a:t>m = torchvision.models.mobilenet_v2(weights="IMAGENET1K_V1").eval()</a:t>
            </a:r>
          </a:p>
          <a:p>
            <a:r>
              <a:rPr sz="1000">
                <a:solidFill>
                  <a:srgbClr val="E2E8F0"/>
                </a:solidFill>
                <a:latin typeface="Consolas"/>
              </a:rPr>
              <a:t>torch.onnx.export(m, torch.randn(1, 3, 224, 224), "mnv2.onnx",</a:t>
            </a:r>
          </a:p>
          <a:p>
            <a:r>
              <a:rPr sz="1000">
                <a:solidFill>
                  <a:srgbClr val="E2E8F0"/>
                </a:solidFill>
                <a:latin typeface="Consolas"/>
              </a:rPr>
              <a:t>                  input_names=["input"], output_names=["logits"], opset_version=17,</a:t>
            </a:r>
          </a:p>
          <a:p>
            <a:r>
              <a:rPr sz="1000">
                <a:solidFill>
                  <a:srgbClr val="E2E8F0"/>
                </a:solidFill>
                <a:latin typeface="Consolas"/>
              </a:rPr>
              <a:t>                  dynamic_axes={"input": {0: "batch"}})</a:t>
            </a:r>
          </a:p>
          <a:p>
            <a:r>
              <a:rPr sz="1000">
                <a:solidFill>
                  <a:srgbClr val="E2E8F0"/>
                </a:solidFill>
                <a:latin typeface="Consolas"/>
              </a:rPr>
              <a:t> </a:t>
            </a:r>
          </a:p>
          <a:p>
            <a:r>
              <a:rPr sz="1000">
                <a:solidFill>
                  <a:srgbClr val="7FD6D7"/>
                </a:solidFill>
                <a:latin typeface="Consolas"/>
              </a:rPr>
              <a:t># CPU</a:t>
            </a:r>
          </a:p>
          <a:p>
            <a:r>
              <a:rPr sz="1000">
                <a:solidFill>
                  <a:srgbClr val="E2E8F0"/>
                </a:solidFill>
                <a:latin typeface="Consolas"/>
              </a:rPr>
              <a:t>sess = ort.InferenceSession("mnv2.onnx", providers=["CPUExecutionProvider"])</a:t>
            </a:r>
          </a:p>
          <a:p>
            <a:r>
              <a:rPr sz="1000">
                <a:solidFill>
                  <a:srgbClr val="7FD6D7"/>
                </a:solidFill>
                <a:latin typeface="Consolas"/>
              </a:rPr>
              <a:t># Jetson'da (onnxruntime-gpu JetPack g'ildiragi o'rnatilgan bo'lsa):</a:t>
            </a:r>
          </a:p>
          <a:p>
            <a:r>
              <a:rPr sz="1000">
                <a:solidFill>
                  <a:srgbClr val="7FD6D7"/>
                </a:solidFill>
                <a:latin typeface="Consolas"/>
              </a:rPr>
              <a:t># sess = ort.InferenceSession("mnv2.onnx", providers=[</a:t>
            </a:r>
          </a:p>
          <a:p>
            <a:r>
              <a:rPr sz="1000">
                <a:solidFill>
                  <a:srgbClr val="7FD6D7"/>
                </a:solidFill>
                <a:latin typeface="Consolas"/>
              </a:rPr>
              <a:t>#     ("TensorrtExecutionProvider", {"trt_fp16_enable": True, "trt_int8_enable": False,</a:t>
            </a:r>
          </a:p>
          <a:p>
            <a:r>
              <a:rPr sz="1000">
                <a:solidFill>
                  <a:srgbClr val="7FD6D7"/>
                </a:solidFill>
                <a:latin typeface="Consolas"/>
              </a:rPr>
              <a:t>#                                   "trt_engine_cache_enable": True, "trt_engine_cache_path": "./trt_cache"}),</a:t>
            </a:r>
          </a:p>
          <a:p>
            <a:r>
              <a:rPr sz="1000">
                <a:solidFill>
                  <a:srgbClr val="7FD6D7"/>
                </a:solidFill>
                <a:latin typeface="Consolas"/>
              </a:rPr>
              <a:t>#     "CUDAExecutionProvider", "CPUExecutionProvider"])</a:t>
            </a:r>
          </a:p>
          <a:p>
            <a:r>
              <a:rPr sz="1000">
                <a:solidFill>
                  <a:srgbClr val="E2E8F0"/>
                </a:solidFill>
                <a:latin typeface="Consolas"/>
              </a:rPr>
              <a:t>x = np.random.rand(1, 3, 224, 224).astype(np.float32)</a:t>
            </a:r>
          </a:p>
          <a:p>
            <a:r>
              <a:rPr sz="1000">
                <a:solidFill>
                  <a:srgbClr val="E2E8F0"/>
                </a:solidFill>
                <a:latin typeface="Consolas"/>
              </a:rPr>
              <a:t>for _ in range(20): sess.run(None, {"input": x})          # isitish (TensorRT uchun dvigatel qurish shu yerda)</a:t>
            </a:r>
          </a:p>
          <a:p>
            <a:r>
              <a:rPr sz="1000">
                <a:solidFill>
                  <a:srgbClr val="E2E8F0"/>
                </a:solidFill>
                <a:latin typeface="Consolas"/>
              </a:rPr>
              <a:t>t = time.perf_counter()</a:t>
            </a:r>
          </a:p>
          <a:p>
            <a:r>
              <a:rPr sz="1000">
                <a:solidFill>
                  <a:srgbClr val="E2E8F0"/>
                </a:solidFill>
                <a:latin typeface="Consolas"/>
              </a:rPr>
              <a:t>for _ in range(200): sess.run(None, {"input": x})</a:t>
            </a:r>
          </a:p>
          <a:p>
            <a:r>
              <a:rPr sz="1000">
                <a:solidFill>
                  <a:srgbClr val="E2E8F0"/>
                </a:solidFill>
                <a:latin typeface="Consolas"/>
              </a:rPr>
              <a:t>print("ORT median-ish:", (time.perf_counter() - t) / 200 * 1e3, "ms")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Jetson'da quvvat rejimi va energiya o'lchovi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nvpmodel CPU/GPU yadro soni va chastota chegaralarini belgilaydi; jetson_clocks dinamik chastota boshqaruvini o'chirib, o'lchovni barqaror qiladi (ishlab chiqarishda esa issiqlik va energiya uchun dinamik rejim qoldiriladi). tegrastats…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Jetson'da quvvat rejimi va energiya o'lchovi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Quvvat rejimlari ro'yxati va tanlash (Orin Nano: 0 = 15W, 1 = 7W; Super rejimda 25W ham bor)</a:t>
            </a:r>
          </a:p>
          <a:p>
            <a:r>
              <a:rPr sz="1000">
                <a:solidFill>
                  <a:srgbClr val="E2E8F0"/>
                </a:solidFill>
                <a:latin typeface="Consolas"/>
              </a:rPr>
              <a:t>sudo nvpmodel -q</a:t>
            </a:r>
          </a:p>
          <a:p>
            <a:r>
              <a:rPr sz="1000">
                <a:solidFill>
                  <a:srgbClr val="E2E8F0"/>
                </a:solidFill>
                <a:latin typeface="Consolas"/>
              </a:rPr>
              <a:t>sudo nvpmodel -m 0</a:t>
            </a:r>
          </a:p>
          <a:p>
            <a:r>
              <a:rPr sz="1000">
                <a:solidFill>
                  <a:srgbClr val="E2E8F0"/>
                </a:solidFill>
                <a:latin typeface="Consolas"/>
              </a:rPr>
              <a:t>sudo jetson_clocks                      # chastotalarni maksimalga qotirish (o'lchov takrorlanuvchanligi uchun)</a:t>
            </a:r>
          </a:p>
          <a:p>
            <a:r>
              <a:rPr sz="1000">
                <a:solidFill>
                  <a:srgbClr val="E2E8F0"/>
                </a:solidFill>
                <a:latin typeface="Consolas"/>
              </a:rPr>
              <a:t> </a:t>
            </a:r>
          </a:p>
          <a:p>
            <a:r>
              <a:rPr sz="1000">
                <a:solidFill>
                  <a:srgbClr val="7FD6D7"/>
                </a:solidFill>
                <a:latin typeface="Consolas"/>
              </a:rPr>
              <a:t># Quvvatni kuzatish: tegra_stats yoki jtop (pip install jetson-stats)</a:t>
            </a:r>
          </a:p>
          <a:p>
            <a:r>
              <a:rPr sz="1000">
                <a:solidFill>
                  <a:srgbClr val="E2E8F0"/>
                </a:solidFill>
                <a:latin typeface="Consolas"/>
              </a:rPr>
              <a:t>sudo tegrastats --interval 500 | tee power.log &amp;</a:t>
            </a:r>
          </a:p>
          <a:p>
            <a:r>
              <a:rPr sz="1000">
                <a:solidFill>
                  <a:srgbClr val="E2E8F0"/>
                </a:solidFill>
                <a:latin typeface="Consolas"/>
              </a:rPr>
              <a:t>python3 bench_jetson.py                 # yuqoridagi ORT/TFLite bench</a:t>
            </a:r>
          </a:p>
          <a:p>
            <a:r>
              <a:rPr sz="1000">
                <a:solidFill>
                  <a:srgbClr val="E2E8F0"/>
                </a:solidFill>
                <a:latin typeface="Consolas"/>
              </a:rPr>
              <a:t>kill %1</a:t>
            </a:r>
          </a:p>
          <a:p>
            <a:r>
              <a:rPr sz="1000">
                <a:solidFill>
                  <a:srgbClr val="7FD6D7"/>
                </a:solidFill>
                <a:latin typeface="Consolas"/>
              </a:rPr>
              <a:t># power.log ichida VDD_IN yoki VDD_CPU_GPU_CV maydonlari mVt'da; o'rtachasini oling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kompilyator INT8 grafni Edge TPU ko'rsatmalariga aylantiradi va -s bilan har operatsiya qayerda bajarilishini ko'rsatadi. Agar graf o'rtasida qo'llab-quvvatlanmagan operatsiya bo'lsa, undan keyingi barcha operatsiyalar CPU'da qoladi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Debian/Ubuntu x86 xostda edgetpu_compiler o'rnatilgan bo'lsa:</a:t>
            </a:r>
          </a:p>
          <a:p>
            <a:r>
              <a:rPr sz="1000">
                <a:solidFill>
                  <a:srgbClr val="E2E8F0"/>
                </a:solidFill>
                <a:latin typeface="Consolas"/>
              </a:rPr>
              <a:t>edgetpu_compiler -s mnv2_int8.tflite</a:t>
            </a:r>
          </a:p>
          <a:p>
            <a:r>
              <a:rPr sz="1000">
                <a:solidFill>
                  <a:srgbClr val="7FD6D7"/>
                </a:solidFill>
                <a:latin typeface="Consolas"/>
              </a:rPr>
              <a:t># Chiqishda: "Number of operations that will run on Edge TPU: 65 / 65" — hammasi TPU'da</a:t>
            </a:r>
          </a:p>
          <a:p>
            <a:r>
              <a:rPr sz="1000">
                <a:solidFill>
                  <a:srgbClr val="7FD6D7"/>
                </a:solidFill>
                <a:latin typeface="Consolas"/>
              </a:rPr>
              <a:t># Agar "will run on CPU" qatorlari bo'lsa — qaysi operatsiya qo'llab-quvvatlanmaganini tekshiring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Coral qurilmasida (pycoral o'rnatilgan):</a:t>
            </a:r>
          </a:p>
          <a:p>
            <a:r>
              <a:rPr sz="1200">
                <a:solidFill>
                  <a:srgbClr val="7FD6D7"/>
                </a:solidFill>
                <a:latin typeface="Consolas"/>
              </a:rPr>
              <a:t># from pycoral.utils.edgetpu import make_interpreter</a:t>
            </a:r>
          </a:p>
          <a:p>
            <a:r>
              <a:rPr sz="1200">
                <a:solidFill>
                  <a:srgbClr val="7FD6D7"/>
                </a:solidFill>
                <a:latin typeface="Consolas"/>
              </a:rPr>
              <a:t># itp = make_interpreter("mnv2_int8_edgetpu.tflite"); itp.allocate_tensors()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Misoldan bir nechta muhandislik xulosalari kelib chiqadi.</a:t>
            </a:r>
          </a:p>
          <a:p>
            <a:pPr>
              <a:spcAft>
                <a:spcPts val="900"/>
              </a:spcAft>
            </a:pPr>
            <a:r>
              <a:rPr sz="1800" b="1">
                <a:solidFill>
                  <a:srgbClr val="0F8B8D"/>
                </a:solidFill>
              </a:rPr>
              <a:t>▪  </a:t>
            </a:r>
            <a:r>
              <a:rPr sz="1800">
                <a:solidFill>
                  <a:srgbClr val="1B2430"/>
                </a:solidFill>
                <a:latin typeface="Calibri"/>
              </a:rPr>
              <a:t>Uchinchidan, kichik modellarda kernel ishga tushirish va ma'lumot uzatish yuki modelning o'zidan katta bo'lishi mumkin; shuning uchun batch=1 kechikish va throughput ko'rsatkichlari alohida…</a:t>
            </a:r>
          </a:p>
          <a:p>
            <a:pPr>
              <a:spcAft>
                <a:spcPts val="900"/>
              </a:spcAft>
            </a:pPr>
            <a:r>
              <a:rPr sz="1800" b="1">
                <a:solidFill>
                  <a:srgbClr val="0F8B8D"/>
                </a:solidFill>
              </a:rPr>
              <a:t>▪  </a:t>
            </a:r>
            <a:r>
              <a:rPr sz="1800">
                <a:solidFill>
                  <a:srgbClr val="1B2430"/>
                </a:solidFill>
                <a:latin typeface="Calibri"/>
              </a:rPr>
              <a:t>To'rtinchidan, quvvat rejimi tanlovi energiya samaradorligiga nochiziqli ta'sir qiladi: past rejimda tezlik kamayadi, lekin energiya/inferens ko'pincha yaxshilanadi, chunki statik iste'mol…</a:t>
            </a:r>
          </a:p>
          <a:p>
            <a:pPr>
              <a:spcAft>
                <a:spcPts val="900"/>
              </a:spcAft>
            </a:pPr>
            <a:r>
              <a:rPr sz="1800" b="1">
                <a:solidFill>
                  <a:srgbClr val="0F8B8D"/>
                </a:solidFill>
              </a:rPr>
              <a:t>▪  </a:t>
            </a:r>
            <a:r>
              <a:rPr sz="1800">
                <a:solidFill>
                  <a:srgbClr val="1B2430"/>
                </a:solidFill>
                <a:latin typeface="Calibri"/>
              </a:rPr>
              <a:t>Cheklovlar: barcha o'lchovlar sintetik yoki kichik validatsiya to'plamida; real kamera quvurida dekodlash va oldindan qayta ishlash ham qo'shiladi (Jetson'da buni DeepStream yoki GStreamer…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Bulut modelini o'zgartirmasdan chekkaga joylashga urinish. 100 MB'lik FP32 detektor Orin Nano'da ishlaydi, lekin 8 GB xotiraning katta qismini oladi va sekin bo'ladi. Avval mos arxitektura…</a:t>
            </a:r>
          </a:p>
          <a:p>
            <a:pPr>
              <a:spcAft>
                <a:spcPts val="900"/>
              </a:spcAft>
            </a:pPr>
            <a:r>
              <a:rPr sz="1600" b="1">
                <a:solidFill>
                  <a:srgbClr val="0F8B8D"/>
                </a:solidFill>
              </a:rPr>
              <a:t>▪  </a:t>
            </a:r>
            <a:r>
              <a:rPr sz="1600">
                <a:solidFill>
                  <a:srgbClr val="1B2430"/>
                </a:solidFill>
                <a:latin typeface="Calibri"/>
              </a:rPr>
              <a:t>Kalibrlash to'plamini noto'g'ri tanlash. Bitta sinf, sintetik yoki normalizatsiya qilinmagan rasmlar diapazonlarni buzadi. Validatsiya to'plamidan 200–500 ta tasodifiy, oldindan qayta…</a:t>
            </a:r>
          </a:p>
          <a:p>
            <a:pPr>
              <a:spcAft>
                <a:spcPts val="900"/>
              </a:spcAft>
            </a:pPr>
            <a:r>
              <a:rPr sz="1600" b="1">
                <a:solidFill>
                  <a:srgbClr val="0F8B8D"/>
                </a:solidFill>
              </a:rPr>
              <a:t>▪  </a:t>
            </a:r>
            <a:r>
              <a:rPr sz="1600">
                <a:solidFill>
                  <a:srgbClr val="1B2430"/>
                </a:solidFill>
                <a:latin typeface="Calibri"/>
              </a:rPr>
              <a:t>TensorRT dvigatelini keshlamaslik. Har ishga tushirishda qayta qurish chekka qurilmada daqiqalar oladi va xizmat ishga tushishini kechiktiradi. Dvigatel keshini yoqing yoki trtexec…</a:t>
            </a:r>
          </a:p>
          <a:p>
            <a:pPr>
              <a:spcAft>
                <a:spcPts val="900"/>
              </a:spcAft>
            </a:pPr>
            <a:r>
              <a:rPr sz="1600" b="1">
                <a:solidFill>
                  <a:srgbClr val="0F8B8D"/>
                </a:solidFill>
              </a:rPr>
              <a:t>▪  </a:t>
            </a:r>
            <a:r>
              <a:rPr sz="1600">
                <a:solidFill>
                  <a:srgbClr val="1B2430"/>
                </a:solidFill>
                <a:latin typeface="Calibri"/>
              </a:rPr>
              <a:t>O'rtacha kechikishga qarab real vaqt kafolatini e'lon qilish. p99 va maksimal qiymatni o'lchang; jetson_clocks yoqilmagan holatda chastota o'zgarishi, issiqlik cheklovi (thermal throttling)…</a:t>
            </a:r>
          </a:p>
          <a:p>
            <a:pPr>
              <a:spcAft>
                <a:spcPts val="900"/>
              </a:spcAft>
            </a:pPr>
            <a:r>
              <a:rPr sz="1600" b="1">
                <a:solidFill>
                  <a:srgbClr val="0F8B8D"/>
                </a:solidFill>
              </a:rPr>
              <a:t>▪  </a:t>
            </a:r>
            <a:r>
              <a:rPr sz="1600">
                <a:solidFill>
                  <a:srgbClr val="1B2430"/>
                </a:solidFill>
                <a:latin typeface="Calibri"/>
              </a:rPr>
              <a:t>Xotirani inferens vaqtida ajratish. Har kadr uchun yangi tensor yaratish fragmentatsiya va kechikish sakrashlariga olib keladi. Buferlarni bir marta ajrating va qayta ishlating (ORT'da…</a:t>
            </a:r>
          </a:p>
          <a:p>
            <a:pPr>
              <a:spcAft>
                <a:spcPts val="900"/>
              </a:spcAft>
            </a:pPr>
            <a:r>
              <a:rPr sz="1600" b="1">
                <a:solidFill>
                  <a:srgbClr val="0F8B8D"/>
                </a:solidFill>
              </a:rPr>
              <a:t>▪  </a:t>
            </a:r>
            <a:r>
              <a:rPr sz="1600">
                <a:solidFill>
                  <a:srgbClr val="1B2430"/>
                </a:solidFill>
                <a:latin typeface="Calibri"/>
              </a:rPr>
              <a:t>Edge TPU'da qo'llab-quvvatlanmagan operatsiyalarni e'tiborsiz qoldirish. Kompilyator hisobotidagi «CPU» qatorlari — butun oxirgi qism CPU'da degani. Modelni loyihalashda…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Oldindan qayta ishlashni unutish. JPEG dekodlash va o'lcham o'zgartirish CPU'da ko'pincha modelning o'zidan ko'proq vaqt oladi. Jetson'da NVDEC/VIC, GStreamer nvvidconv, DeepStream…</a:t>
            </a:r>
          </a:p>
          <a:p>
            <a:pPr>
              <a:spcAft>
                <a:spcPts val="900"/>
              </a:spcAft>
            </a:pPr>
            <a:r>
              <a:rPr sz="1800" b="1">
                <a:solidFill>
                  <a:srgbClr val="0F8B8D"/>
                </a:solidFill>
              </a:rPr>
              <a:t>▪  </a:t>
            </a:r>
            <a:r>
              <a:rPr sz="1800">
                <a:solidFill>
                  <a:srgbClr val="1B2430"/>
                </a:solidFill>
                <a:latin typeface="Calibri"/>
              </a:rPr>
              <a:t>OTA va versiyalashni keyinga qoldirish. Yuzlab qurilmaga tarqatilgan modelni qo'lda yangilab bo'lmaydi. Birinchi kundanoq model versiyasi, imzo, bosqichma-bosqich tarqatish va orqaga…</a:t>
            </a:r>
          </a:p>
          <a:p>
            <a:pPr>
              <a:spcAft>
                <a:spcPts val="900"/>
              </a:spcAft>
            </a:pPr>
            <a:r>
              <a:rPr sz="1800" b="1">
                <a:solidFill>
                  <a:srgbClr val="0F8B8D"/>
                </a:solidFill>
              </a:rPr>
              <a:t>▪  </a:t>
            </a:r>
            <a:r>
              <a:rPr sz="1800">
                <a:solidFill>
                  <a:srgbClr val="1B2430"/>
                </a:solidFill>
                <a:latin typeface="Calibri"/>
              </a:rPr>
              <a:t>Quvvatni emas, faqat tezlikni o'lchash. Batareyali va passiv sovutiladigan qurilmalarda energiya/inferens va issiqlik — asosiy ko'rsatkichlar. tegrastats, INA sensorlari yoki tashqi quvvat…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Qaysi holatlarda chekka inferens bulutdan yomonroq tanlov bo'ladi? Kechikish, narx, xavfsizlik va boshqaruv murakkabligi nuqtai nazaridan kamida uchta misol keltiring va asoslang.</a:t>
            </a:r>
          </a:p>
          <a:p>
            <a:pPr>
              <a:spcAft>
                <a:spcPts val="900"/>
              </a:spcAft>
            </a:pPr>
            <a:r>
              <a:rPr sz="1600" b="1">
                <a:solidFill>
                  <a:srgbClr val="0F8B8D"/>
                </a:solidFill>
              </a:rPr>
              <a:t>▪  </a:t>
            </a:r>
            <a:r>
              <a:rPr sz="1600">
                <a:solidFill>
                  <a:srgbClr val="1B2430"/>
                </a:solidFill>
                <a:latin typeface="Calibri"/>
              </a:rPr>
              <a:t>Edge TPU'ning sistolik massiv arxitekturasi nima uchun GPU'dan bir necha marta yuqori energiya samaradorligi (TOPS/Vt) beradi, lekin moslashuvchanligi past? M5 dagi ma'lumot harakati…</a:t>
            </a:r>
          </a:p>
          <a:p>
            <a:pPr>
              <a:spcAft>
                <a:spcPts val="900"/>
              </a:spcAft>
            </a:pPr>
            <a:r>
              <a:rPr sz="1600" b="1">
                <a:solidFill>
                  <a:srgbClr val="0F8B8D"/>
                </a:solidFill>
              </a:rPr>
              <a:t>▪  </a:t>
            </a:r>
            <a:r>
              <a:rPr sz="1600">
                <a:solidFill>
                  <a:srgbClr val="1B2430"/>
                </a:solidFill>
                <a:latin typeface="Calibri"/>
              </a:rPr>
              <a:t>INT8 statik kvantlashda kalibrlash to'plami qanday rol o'ynaydi? Agar kalibrlash faqat kunduzgi rasmlar bilan bajarilib, qurilma kechasi ham ishlasa, nima bo'lishi mumkin va buni qanday…</a:t>
            </a:r>
          </a:p>
          <a:p>
            <a:pPr>
              <a:spcAft>
                <a:spcPts val="900"/>
              </a:spcAft>
            </a:pPr>
            <a:r>
              <a:rPr sz="1600" b="1">
                <a:solidFill>
                  <a:srgbClr val="0F8B8D"/>
                </a:solidFill>
              </a:rPr>
              <a:t>▪  </a:t>
            </a:r>
            <a:r>
              <a:rPr sz="1600">
                <a:solidFill>
                  <a:srgbClr val="1B2430"/>
                </a:solidFill>
                <a:latin typeface="Calibri"/>
              </a:rPr>
              <a:t>Qattiq va yumshoq real vaqt tizimlari uchun inferens quvuri loyihalashda qanday farqli talablar qo'yiladi? GPU asosidagi tizim qattiq real vaqt kafolatini bera oladimi? Nega?</a:t>
            </a:r>
          </a:p>
          <a:p>
            <a:pPr>
              <a:spcAft>
                <a:spcPts val="900"/>
              </a:spcAft>
            </a:pPr>
            <a:r>
              <a:rPr sz="1600" b="1">
                <a:solidFill>
                  <a:srgbClr val="0F8B8D"/>
                </a:solidFill>
              </a:rPr>
              <a:t>▪  </a:t>
            </a:r>
            <a:r>
              <a:rPr sz="1600">
                <a:solidFill>
                  <a:srgbClr val="1B2430"/>
                </a:solidFill>
                <a:latin typeface="Calibri"/>
              </a:rPr>
              <a:t>Jetson Orin Nano'da 7 Vt rejimi 15 Vt rejimiga qaraganda energiya/rasm bo'yicha nega yaxshiroq bo'lishi mumkin? Bu qoidaning chegarasi qayerda?</a:t>
            </a:r>
          </a:p>
          <a:p>
            <a:pPr>
              <a:spcAft>
                <a:spcPts val="900"/>
              </a:spcAft>
            </a:pPr>
            <a:r>
              <a:rPr sz="1600" b="1">
                <a:solidFill>
                  <a:srgbClr val="0F8B8D"/>
                </a:solidFill>
              </a:rPr>
              <a:t>▪  </a:t>
            </a:r>
            <a:r>
              <a:rPr sz="1600">
                <a:solidFill>
                  <a:srgbClr val="1B2430"/>
                </a:solidFill>
                <a:latin typeface="Calibri"/>
              </a:rPr>
              <a:t>TinyML qurilmasida 256 KB SRAM bor. MobileNetV2 (to'liq o'lcham) nima uchun sig'maydi — og'irliklar tufaylimi yoki aktivatsiyalar tufaylimi? Qaysi arxitektura o'zgarishlari yordam beradi?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ONNX Runtime'da provayderlar ro'yxatining tartibi natijaga qanday ta'sir qiladi? Agar graf TensorRT, CUDA va CPU o'rtasida bo'linsa, qanday yashirin xarajat paydo bo'ladi?</a:t>
            </a:r>
          </a:p>
          <a:p>
            <a:pPr>
              <a:spcAft>
                <a:spcPts val="900"/>
              </a:spcAft>
            </a:pPr>
            <a:r>
              <a:rPr sz="1800" b="1">
                <a:solidFill>
                  <a:srgbClr val="0F8B8D"/>
                </a:solidFill>
              </a:rPr>
              <a:t>▪  </a:t>
            </a:r>
            <a:r>
              <a:rPr sz="1800">
                <a:solidFill>
                  <a:srgbClr val="1B2430"/>
                </a:solidFill>
                <a:latin typeface="Calibri"/>
              </a:rPr>
              <a:t>Zavodda 200 ta kamera bor, har biri sekundiga 10 kadr tahlil qilishi kerak. Chekka server (AGX Orin yoki L4) va har kamerada alohida Orin Nano variantlarini narx, kechikish, texnik xizmat…</a:t>
            </a:r>
          </a:p>
          <a:p>
            <a:pPr>
              <a:spcAft>
                <a:spcPts val="900"/>
              </a:spcAft>
            </a:pPr>
            <a:r>
              <a:rPr sz="1800" b="1">
                <a:solidFill>
                  <a:srgbClr val="0F8B8D"/>
                </a:solidFill>
              </a:rPr>
              <a:t>▪  </a:t>
            </a:r>
            <a:r>
              <a:rPr sz="1800">
                <a:solidFill>
                  <a:srgbClr val="1B2430"/>
                </a:solidFill>
                <a:latin typeface="Calibri"/>
              </a:rPr>
              <a:t>Federativ o'qitish IoT tizimlarida qanday muammoni hal qiladi va qanday yangi muammolarni keltirib chiqaradi (aloqa, geterogenlik, xavfsizlik)?</a:t>
            </a:r>
          </a:p>
          <a:p>
            <a:pPr>
              <a:spcAft>
                <a:spcPts val="900"/>
              </a:spcAft>
            </a:pPr>
            <a:r>
              <a:rPr sz="1800" b="1">
                <a:solidFill>
                  <a:srgbClr val="0F8B8D"/>
                </a:solidFill>
              </a:rPr>
              <a:t>▪  </a:t>
            </a:r>
            <a:r>
              <a:rPr sz="1800">
                <a:solidFill>
                  <a:srgbClr val="1B2430"/>
                </a:solidFill>
                <a:latin typeface="Calibri"/>
              </a:rPr>
              <a:t>Model drift chekka qurilmada qanday aniqlanadi, agar haqiqiy javoblar (labels) qurilmada mavjud bo'lmasa?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Topshiriq 1 (individual, A4 va 2-mustaqil ta'lim topshirig'iga bog'langan). Chekka joylash hisoboti.</a:t>
            </a:r>
          </a:p>
          <a:p>
            <a:pPr>
              <a:spcAft>
                <a:spcPts val="900"/>
              </a:spcAft>
            </a:pPr>
            <a:r>
              <a:rPr sz="1800" b="1">
                <a:solidFill>
                  <a:srgbClr val="0F8B8D"/>
                </a:solidFill>
              </a:rPr>
              <a:t>▪  </a:t>
            </a:r>
            <a:r>
              <a:rPr sz="1800">
                <a:solidFill>
                  <a:srgbClr val="1B2430"/>
                </a:solidFill>
                <a:latin typeface="Calibri"/>
              </a:rPr>
              <a:t>Baholash mezoni: konvertatsiya va kvantlash to'g'ri bajarilgan, kalibrlash to'plami asoslangan (25 %); o'lchov metodikasi — isitish, takror, p99, taxminiylik ko'rsatilgan (25 %); taqqoslash…</a:t>
            </a:r>
          </a:p>
          <a:p>
            <a:pPr>
              <a:spcAft>
                <a:spcPts val="900"/>
              </a:spcAft>
            </a:pPr>
            <a:r>
              <a:rPr sz="1800" b="1">
                <a:solidFill>
                  <a:srgbClr val="0F8B8D"/>
                </a:solidFill>
              </a:rPr>
              <a:t>▪  </a:t>
            </a:r>
            <a:r>
              <a:rPr sz="1800">
                <a:solidFill>
                  <a:srgbClr val="1B2430"/>
                </a:solidFill>
                <a:latin typeface="Calibri"/>
              </a:rPr>
              <a:t>Topshiriq 2 (juftlikda). Edge AI tizim loyihasi. O'zbekiston sharoitidagi aniq vazifa (masalan, chorva sanash, paxta dalasida zararkunanda aniqlash, yo'l harakati hisoblash) uchun uch qatlamli (qurilma–shlyuz–bulut) Edge AI arxitekturasini loyihalang: apparat…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7-bob (Domain-Specific Architectures), TPU va Edge TPU misoli.</a:t>
            </a:r>
          </a:p>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modelni joylash va cheklangan muhitlar bo'yicha boblar.</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A Tutorial and Survey. Morgan &amp; Claypool Publishers, 2020. — energiya samarali inferens va…</a:t>
            </a:r>
          </a:p>
          <a:p>
            <a:pPr>
              <a:spcAft>
                <a:spcPts val="900"/>
              </a:spcAft>
            </a:pPr>
            <a:r>
              <a:rPr sz="1600" b="1">
                <a:solidFill>
                  <a:srgbClr val="0F8B8D"/>
                </a:solidFill>
              </a:rPr>
              <a:t>▪  </a:t>
            </a:r>
            <a:r>
              <a:rPr sz="1600">
                <a:solidFill>
                  <a:srgbClr val="1B2430"/>
                </a:solidFill>
                <a:latin typeface="Calibri"/>
              </a:rPr>
              <a:t>[6] NVIDIA Developer Portal — Jetson Orin hujjatlari, JetPack SDK, TensorRT va DeepStream qo'llanmalari, https://developer.nvidia.com</a:t>
            </a:r>
          </a:p>
          <a:p>
            <a:pPr>
              <a:spcAft>
                <a:spcPts val="900"/>
              </a:spcAft>
            </a:pPr>
            <a:r>
              <a:rPr sz="1600" b="1">
                <a:solidFill>
                  <a:srgbClr val="0F8B8D"/>
                </a:solidFill>
              </a:rPr>
              <a:t>▪  </a:t>
            </a:r>
            <a:r>
              <a:rPr sz="1600">
                <a:solidFill>
                  <a:srgbClr val="1B2430"/>
                </a:solidFill>
                <a:latin typeface="Calibri"/>
              </a:rPr>
              <a:t>[8] TensorFlow rasmiy hujjatlari — TensorFlow Lite / LiteRT: Post-training quantization, Delegates, TensorFlow Lite for Microcontrollers, https://www.tensorflow.org</a:t>
            </a:r>
          </a:p>
          <a:p>
            <a:pPr>
              <a:spcAft>
                <a:spcPts val="900"/>
              </a:spcAft>
            </a:pPr>
            <a:r>
              <a:rPr sz="1600" b="1">
                <a:solidFill>
                  <a:srgbClr val="0F8B8D"/>
                </a:solidFill>
              </a:rPr>
              <a:t>▪  </a:t>
            </a:r>
            <a:r>
              <a:rPr sz="1600">
                <a:solidFill>
                  <a:srgbClr val="1B2430"/>
                </a:solidFill>
                <a:latin typeface="Calibri"/>
              </a:rPr>
              <a:t>[10] ONNX rasmiy sayti va ONNX Runtime hujjatlari — Execution Providers (CUDA, TensorRT), https://onnx.ai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Warden, P., &amp; Situnayake, D. TinyML: Machine Learning with TensorFlow Lite on Arduino and Ultra-Low-Power Microcontrollers. O'Reilly Media, 2019.</a:t>
            </a:r>
          </a:p>
          <a:p>
            <a:pPr>
              <a:spcAft>
                <a:spcPts val="900"/>
              </a:spcAft>
            </a:pPr>
            <a:r>
              <a:rPr sz="2000" b="1">
                <a:solidFill>
                  <a:srgbClr val="0F8B8D"/>
                </a:solidFill>
              </a:rPr>
              <a:t>▪  </a:t>
            </a:r>
            <a:r>
              <a:rPr sz="2000">
                <a:solidFill>
                  <a:srgbClr val="1B2430"/>
                </a:solidFill>
                <a:latin typeface="Calibri"/>
              </a:rPr>
              <a:t>Jacob, B., Kligys, S., Chen, B., et al. Quantization and Training of Neural Networks for Efficient Integer-Arithmetic-Only Inference. CVPR 2018.</a:t>
            </a:r>
          </a:p>
          <a:p>
            <a:pPr>
              <a:spcAft>
                <a:spcPts val="900"/>
              </a:spcAft>
            </a:pPr>
            <a:r>
              <a:rPr sz="2000" b="1">
                <a:solidFill>
                  <a:srgbClr val="0F8B8D"/>
                </a:solidFill>
              </a:rPr>
              <a:t>▪  </a:t>
            </a:r>
            <a:r>
              <a:rPr sz="2000">
                <a:solidFill>
                  <a:srgbClr val="1B2430"/>
                </a:solidFill>
                <a:latin typeface="Calibri"/>
              </a:rPr>
              <a:t>Google Coral hujjatlari — Edge TPU Compiler va qo'llab-quvvatlanadigan operatsiyalar ro'yxati, https://coral.ai/docs/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https://aiscan.airi.uz/ktm/#/c/mis2104/mavzu/M6</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
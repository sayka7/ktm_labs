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Bulutli sun'iy intellekt infratuzilmasini besh qatlamli stek sifatida tasavvur qilish qulay. Eng pastda — fizik apparat: GPU serverlari (masalan, 8× H100 yoki B200 NVLink bilan), yuqori tezlikli tarmoq (InfiniBand NDR 400 Gb/s yoki RoCE Ethernet), parallel saqlash tizimlari (Lustre, GPFS, obyekt saqlash S3). Ikkinchi qatlam — virtualizatsiya va izolyatsiya: virtual mashinalar yoki to'g'ridan-to'g'ri konteynerlar; GPU'lar PCIe passthrough, vGPU yoki MIG (Multi-Instance GPU — bitta A100/H100'ni 7 tagacha mustaqil bo'lakka bo'lish) orqali ajratiladi. Uchinchi qatlam — orkestratsiya: Kubernetes (yoki HPC muhitlarida Slurm) resurslarni taqsimlaydi, ishlarni rejalashtiradi, nosozliklarni tiklaydi. To'rtinchi qatlam — AI platformasi: Ray, Kubeflow, MLflow, Triton Inference Server, vLLM — o'qitish, eksperiment kuzatuvi, xizmat ko'rsatish. Beshinchi qatlam — xizmat: foydalanuvchi ko'radigan API, veb-ilova, boshqa tizimlar bilan integratsiya.</a:t>
            </a:r>
          </a:p>
          <a:p/>
          <a:p>
            <a:r>
              <a:t>Xizmat modellari nuqtai nazaridan AI bulutida uchta daraja farqlanadi. IaaS (Infrastructure as a Service) — GPU'li virtual mashina ijarasi (AWS p5, GCP A3, Azure ND H100 v5 instanslari yoki ixtisoslashgan GPU bulutlari); muhandis to'liq nazoratga ega, lekin hamma narsani o'zi sozlaydi. PaaS (Platform as a Service) — boshqariladigan Kubernetes (EKS, GKE, AKS), boshqariladigan o'qitish va xizmat (SageMaker, Vertex AI, Azure ML); infratuzilma provayder zimmasida, muhandis kod va konfiguratsiyaga e'tibor qaratadi. SaaS yoki API darajasi — tayyor model API'lari (til, ko'rish, nutq modellari); eng tez, lekin eng kam nazorat va ma'lumot maxfiyligi masalalari. Tanlov loyiha bosqichiga, jamoa tajribasiga va ma'lumot talablariga bog'liq; ko'p tashkilotlar gibrid yondashuvni — o'z klasteri (on-premise) + bulut «portlash» (burst) — qo'llaydi.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Sun'iy intellekt dasturiy ta'minotining eng og'riqli muammolaridan biri — muhit mosligi: CUDA versiyasi, drayver, cuDNN, PyTorch g'ildiragi, Python paketlari o'rtasidagi bog'liqliklar. «Mening kompyuterimda ishlaydi» holati GPU dasturlarida ayniqsa ko'p uchraydi. Konteyner (container) bu muammoni dastur va uning barcha foydalanuvchi-fazo bog'liqliklarini bitta obrazga (image) o'rab, yadro (kernel) esa xost bilan umumiy bo'lgan holda hal qiladi. Virtual mashinadan farqi: alohida operatsion tizim yadrosi yo'q, shuning uchun ishga tushish millisekundlarda, qo'shimcha xarajat deyarli nol, obraz hajmi gigabaytlarda emas, yuzlab megabaytdan boshlanadi.</a:t>
            </a:r>
          </a:p>
          <a:p/>
          <a:p>
            <a:r>
              <a:t>Docker obrazi qatlamlardan (layers) iborat: Dockerfile'dagi har bir RUN, COPY buyrug'i yangi faqat-o'qish qatlami yaratadi; qatlamlar keshlanadi va obrazlar orasida umumiy bo'ladi. Shuning uchun Dockerfile tartibi muhim: kamdan-kam o'zgaradigan buyruqlar (bazaviy obraz, tizim paketlari, og'ir Python kutubxonalari) tepada, tez-tez o'zgaradigan kod pastda bo'lsa, qayta qurish tez bo'ladi. GPU'ga kirish NVIDIA Container Toolkit orqali ta'minlanadi: konteyner ichida CUDA kutubxonalari va drayver interfeysi xostdan ulanadi, docker run --gpus all bilan ishga tushiriladi. Bazaviy obraz sifatida odatda nvidia/cuda:12.x-runtime-ubuntu22.04 yoki NGC (NVIDIA GPU Cloud) katalogidagi tayyor pytorch, tritonserver obrazlari ishlatiladi; ikkinchisi katta (10+ GB), lekin barcha optimallashtirilgan kutubxonalar bilan keladi.</a:t>
            </a:r>
          </a:p>
          <a:p/>
          <a:p>
            <a:r>
              <a:t>Yaxshi inferens obrazining belgilari: ko'p bosqichli qurilish (multi-stage build) — kompilyatsiya vositalari yakuniy obrazga kirmaydi; aniq versiyalar (torch==2.4.1, ma'lum CUDA bilan); ildiz bo'lmagan foydalanuvchi; sog'liqni tekshirish (healthcheck) endpoint'i; model og'irliklari obrazga emas, tashqi hajm (volume) yoki obyekt saqlashdan yuklanadi (aks holda har model versiyasi uchun gigabaytli obraz qayta quriladi).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Kubernetes (K8s) — konteynerlarni ko'plab mashinalar (tugunlar, nodes) bo'ylab joylashtiradigan, kuzatadigan va tiklaydigan ochiq manbali tizim [9]. Uning asosiy g'oyasi — deklarativ boshqaruv: muhandis «qanday qilish»ni emas, «qanday holat bo'lishi kerak»ligini YAML manifestlarida yozadi, boshqaruvchilar (controllers) esa haqiqiy holatni istalgan holatga doimo yaqinlashtiradi. Asosiy obyektlar:</a:t>
            </a:r>
          </a:p>
          <a:p/>
          <a:p>
            <a:r>
              <a:t>GPU — Kubernetes uchun «kengaytirilgan resurs» (extended resource): NVIDIA device plugin (odatda GPU Operator orqali o'rnatiladi) har tugundagi GPU'larni nvidia.com/gpu resursi sifatida e'lon qiladi, Pod esa resources.limits: nvidia.com/gpu: 1 bilan uni so'raydi. Rejalashtiruvchi (scheduler) faqat bo'sh GPU'li tugunga Pod joylaydi. GPU bo'linmaydigan resurs (CPU kabi kasr qiymat berib bo'lmaydi), shuning uchun kichik modellar uchun MIG bo'laklari (nvidia.com/mig-1g.10gb) yoki vaqt bo'yicha ulashish (time-slicing) sozlanadi. GPU tugunlariga odatda taint qo'yiladi, shunda oddiy Pod'lar u yerga tushmaydi va qimmat resursni band qilmaydi. Taqsimlangan o'qitish uchun esa «gang scheduling» — barcha ishchilar bir vaqtda joylanishi yoki hech biri joylanmasligi — zarur; buni standart rejalashtiruvchi bilmaydi, Volcano, Kueue yoki YuniKorn kabi qo'shimcha rejalashtiruvchilar hal qiladi.</a:t>
            </a:r>
          </a:p>
          <a:p/>
          <a:p>
            <a:r>
              <a:t>Masshtablash ikki o'qda: HPA nusxa sonini o'zgartiradi (gorizontal), Cluster Autoscaler yoki Karpenter esa bulutdan yangi tugunlar so'raydi; GPU tugunining ishga tushishi 2–5 daqiqa olgani uchun masshtablash siyosati oldindan o'ylanishi kerak. Inferens uchun HPA metrikasi sifatida CPU foizi kam foyda beradi (GPU xizmati CPU'ni kam ishlatadi); to'g'ri metrika — GPU bandligi (DCGM eksporter orqali), so'rovlar navbati uzunligi yoki p99 kechikish (Prometheus + custom metrics adapter yoki KEDA orqali).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Kubernetes umumiy maqsadli orkestrator; u «ushbu 64 GPU'da PyTorch DDP o'qitishini boshla» yoki «giperparametrlarni Bayes usulida qidir» degan tushunchalarni bilmaydi. Shu bo'shliqni AI platformalari to'ldiradi.</a:t>
            </a:r>
          </a:p>
          <a:p/>
          <a:p>
            <a:r>
              <a:t>Ray — Python uchun taqsimlangan hisoblash freymvorki. Uning yadrosi ikkita primitivga tayanadi: @ray.remote funksiyalar (holatsiz vazifalar) va aktorlar (holatli ob'ektlar); ular klasterdagi istalgan tugunda bajariladi, natijalar taqsimlangan ob'ekt omborida saqlanadi. Yadro ustida kutubxonalar: Ray Data (taqsimlangan ma'lumot yuklash va oldindan qayta ishlash), Ray Train (PyTorch/TensorFlow/XGBoost uchun taqsimlangan o'qitish, DDP va FSDP'ni avtomatik sozlaydi), Ray Tune (giperparametr qidiruvi, erta to'xtatish algoritmlari bilan), Ray Serve (model xizmati, Python'da yozilgan graflar, avtomatik masshtablash, so'rovlarni to'plash), RLlib (mustahkamlovchi o'qitish). Ray'ning kuchli tomoni — bir xil Python kodi noutbukdan 1000 tugunli klastergacha o'zgarishsiz ishlaydi; geterogen resurslar (CPU'da oldindan qayta ishlash, GPU'da o'qitish) bitta quvurda birlashadi. Kubernetes'da Ray KubeRay operatori orqali ishga tushiriladi (RayCluster, RayJob, RayService obyektlari). Ray'ni OpenAI, Uber, Shopify kabi kompaniyalar katta miqyosda ishlatishi ma'lum; vLLM ham ko'p GPU'li inferensda Ray'dan foydalanadi.</a:t>
            </a:r>
          </a:p>
          <a:p/>
          <a:p>
            <a:r>
              <a:t>Kubeflow — Kubernetes'da ML ish oqimlari uchun komponentlar to'plami. Kubeflow Pipelines — quvurlarni (ma'lumot tayyorlash → o'qitish → baholash → ro'yxatga olish) DAG sifatida aniqlash, har qadam alohida konteynerda, artefaktlar kuzatuvi va takroriy ishga tushirish bilan. Training Operator — PyTorchJob, TFJob, MPIJob kabi maxsus resurslar orqali taqsimlangan o'qitishni Kubernetes'ga tushunarli qiladi (master/worker Pod'larini yaratadi, MASTER_ADDR, RANK kabi muhit o'zgaruvchilarini o'rnatadi). Katib — giperparametr qidiruvi va neyron arxitektura qidiruvi. KServe (ilgari KFServing) — serverless uslubidagi model xizmati: InferenceService resursi, nolga qadar masshtablash (scale-to-zero), kanareyka (canary) tarqatish, standart V2 inferens protokoli; orqa tomonida Triton, TorchServe, vLLM yoki o'z konteyneringiz bo'lishi mumkin. Notebooks — klasterdagi Jupyter muhitlari.</a:t>
            </a:r>
          </a:p>
          <a:p/>
          <a:p>
            <a:r>
              <a:t>Amalda ikkalasi raqobatchi emas, qatlamdosh: Kubeflow Pipelines qadamining ichida Ray klasteri ishga tushirilishi mumkin; KServe orqasida Ray Serve ishlashi mumkin.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M3 mavzusida ma'lumot, tensor va quvur parallelligi algoritmik jihatdan ko'rilgan edi; bu yerda ularning klaster darajasidagi talablari muhim. Taqsimlangan o'qitish ishi: (1) barcha ishchilar bir vaqtda joylanishi (gang scheduling); (2) ishchilar tarmoq topologiyasini hisobga olgan holda joylashishi — bitta serverdagi 8 GPU NVLink bilan, serverlar InfiniBand bilan bog'langan, shuning uchun tensor parallellik server ichida, ma'lumot parallellik serverlar orasida; (3) NCCL uchun RDMA tarmoq konteynerga uzatilishi (hostNetwork yoki SR-IOV); (4) nazorat nuqtalari tez umumiy saqlashga muntazam yozilishi — minglab GPU'da apparat nosozligi kutilgan hodisa (soatlab emas, kunlab ishlaydigan ishlarda o'rtacha nosozlik oralig'i bir necha soat bo'lishi mumkin); (5) nosozlikda avtomatik qayta boshlash va elastik masshtablash (PyTorch elastic, Ray Train bu uchun mexanizm beradi).</a:t>
            </a:r>
          </a:p>
          <a:p/>
          <a:p>
            <a:r>
              <a:t>Inferens xizmati esa boshqa talablar bilan: kechikish p99 va narx muvozanati; dinamik to'plash (dynamic batching) — bir necha millisekund ichida kelgan so'rovlarni bitta partiyaga yig'ish (Triton, Ray Serve, vLLM'da continuous batching); bir GPU'da bir nechta model (model multiplexing) yoki bitta modelning bir nechta nusxasi; issiq nusxa (warm replica) — nolga qadar masshtablashda birinchi so'rovning «sovuq start» kechikishi model yuklash tufayli o'nlab soniya bo'lishi mumkin; versiyalash va kanareyka — trafikning 5 foizini yangi versiyaga yo'naltirib, metrikalarni solishtirish; kuzatuv — kechikish taqsimoti, xatolik ulushi, GPU bandligi, token/s (LLM uchun).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Loyihalashda to'rtta savol markaziy. Birinchisi — hisoblash birligi: bitta so'rov qancha GPU-millisekund oladi? Bundan narx (so'rov boshiga) va kerakli nusxa soni kelib chiqadi. Ikkinchisi — masshtablash signali va tezligi: GPU tugun 3 daqiqada ko'tariladi, demak kutilgan yuklama o'sishi oldindan prognoz qilinishi yoki zaxira nusxa saqlanishi kerak. Uchinchisi — holat: inferens xizmati odatda holatsiz (stateless), lekin LLM suhbat sessiyalari KV-kesh, vektor bazalar, xususiyat omborlari holatli; ularni alohida qatlamga ajratish masshtablashni soddalashtiradi. To'rtinchisi — ishonchlilik va xavfsizlik: bir nechta zona (availability zone) bo'ylab taqsimlash, resurs chegaralari, tarmoq siyosatlari, sirlarni boshqarish, ma'lumot rezidentligi.</a:t>
            </a:r>
          </a:p>
          <a:p/>
          <a:p>
            <a:r>
              <a:t>Narx optimallashtirishning amaliy vositalari: spot/preemptible instanslar o'qitish va paketli inferens uchun (60–90 foiz arzon, lekin to'satdan olib qo'yilishi mumkin — nazorat nuqtalari shart); MIG va time-slicing kichik modellar uchun; avtomatik masshtablash va nolga qadar masshtablash kam ishlatiladigan xizmatlar uchun; model siqish (M8) — bir GPU'ga ko'proq so'rov; zaxiralangan sig'im (reserved capacity) barqaror yuklama uchun. Energiya va uglerod izi ham tobora loyihalash mezoniga aylanmoqda: ma'lumot markazining PUE ko'rsatkichi, mintaqa tanlovi, yuklamani energiya arzon vaqtga siljitish.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M7 · 2 soat</a:t>
            </a:r>
          </a:p>
        </p:txBody>
      </p:sp>
      <p:sp>
        <p:nvSpPr>
          <p:cNvPr id="9" name="TextBox 8"/>
          <p:cNvSpPr txBox="1"/>
          <p:nvPr/>
        </p:nvSpPr>
        <p:spPr>
          <a:xfrm>
            <a:off x="700000" y="1900000"/>
            <a:ext cx="6900000" cy="2600000"/>
          </a:xfrm>
          <a:prstGeom prst="rect">
            <a:avLst/>
          </a:prstGeom>
          <a:noFill/>
        </p:spPr>
        <p:txBody>
          <a:bodyPr wrap="square" anchor="t" lIns="50800" rIns="50800">
            <a:spAutoFit/>
          </a:bodyPr>
          <a:lstStyle/>
          <a:p>
            <a:pPr algn="l"/>
            <a:r>
              <a:rPr sz="2800" b="1">
                <a:solidFill>
                  <a:srgbClr val="FFFFFF"/>
                </a:solidFill>
                <a:latin typeface="Calibri"/>
              </a:rPr>
              <a:t>Bulutli sun'iy intellekt infratuzilmasi va taqsimlangan AI platformalari</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pic>
        <p:nvPicPr>
          <p:cNvPr id="11" name="Picture 10" descr="1d0818dfaaa8996c.jpg"/>
          <p:cNvPicPr>
            <a:picLocks noChangeAspect="1"/>
          </p:cNvPicPr>
          <p:nvPr/>
        </p:nvPicPr>
        <p:blipFill>
          <a:blip r:embed="rId2"/>
          <a:srcRect t="6854" b="6854"/>
          <a:stretch>
            <a:fillRect/>
          </a:stretch>
        </p:blipFill>
        <p:spPr>
          <a:xfrm>
            <a:off x="7900000" y="900000"/>
            <a:ext cx="3900000" cy="5050000"/>
          </a:xfrm>
          <a:prstGeom prst="rect">
            <a:avLst/>
          </a:prstGeom>
        </p:spPr>
      </p:pic>
      <p:sp>
        <p:nvSpPr>
          <p:cNvPr id="12" name="Rectangle 11"/>
          <p:cNvSpPr/>
          <p:nvPr/>
        </p:nvSpPr>
        <p:spPr>
          <a:xfrm>
            <a:off x="7900000" y="5650000"/>
            <a:ext cx="3900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0000" y="5650000"/>
            <a:ext cx="3740000" cy="300000"/>
          </a:xfrm>
          <a:prstGeom prst="rect">
            <a:avLst/>
          </a:prstGeom>
          <a:noFill/>
        </p:spPr>
        <p:txBody>
          <a:bodyPr wrap="square" anchor="ctr" lIns="50800" rIns="50800">
            <a:spAutoFit/>
          </a:bodyPr>
          <a:lstStyle/>
          <a:p>
            <a:pPr algn="l"/>
            <a:r>
              <a:rPr sz="900" b="0">
                <a:solidFill>
                  <a:srgbClr val="D7E3F4"/>
                </a:solidFill>
                <a:latin typeface="Calibri"/>
              </a:rPr>
              <a:t>Rasm: 4300streetcar · Wikimedia Commons · CC BY 4.0</a:t>
            </a:r>
          </a:p>
        </p:txBody>
      </p:sp>
      <p:sp>
        <p:nvSpPr>
          <p:cNvPr id="14" name="Rectangle 13"/>
          <p:cNvSpPr/>
          <p:nvPr/>
        </p:nvSpPr>
        <p:spPr>
          <a:xfrm>
            <a:off x="7820000" y="820000"/>
            <a:ext cx="4060000" cy="5210000"/>
          </a:xfrm>
          <a:prstGeom prst="rect">
            <a:avLst/>
          </a:prstGeom>
          <a:noFill/>
          <a:ln w="381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53" presetClass="entr" presetSubtype="16"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50"/>
                                        <p:tgtEl>
                                          <p:spTgt spid="14"/>
                                        </p:tgtEl>
                                      </p:cBhvr>
                                    </p:animEffect>
                                    <p:anim calcmode="lin" valueType="num">
                                      <p:cBhvr additive="base">
                                        <p:cTn id="25" dur="550" fill="hold"/>
                                        <p:tgtEl>
                                          <p:spTgt spid="14"/>
                                        </p:tgtEl>
                                        <p:attrNameLst>
                                          <p:attrName>ppt_w</p:attrName>
                                        </p:attrNameLst>
                                      </p:cBhvr>
                                      <p:tavLst>
                                        <p:tav tm="0">
                                          <p:val>
                                            <p:strVal val="0"/>
                                          </p:val>
                                        </p:tav>
                                        <p:tav tm="100000">
                                          <p:val>
                                            <p:strVal val="#ppt_w"/>
                                          </p:val>
                                        </p:tav>
                                      </p:tavLst>
                                    </p:anim>
                                    <p:anim calcmode="lin" valueType="num">
                                      <p:cBhvr additive="base">
                                        <p:cTn id="26" dur="550" fill="hold"/>
                                        <p:tgtEl>
                                          <p:spTgt spid="14"/>
                                        </p:tgtEl>
                                        <p:attrNameLst>
                                          <p:attrName>ppt_h</p:attrName>
                                        </p:attrNameLst>
                                      </p:cBhvr>
                                      <p:tavLst>
                                        <p:tav tm="0">
                                          <p:val>
                                            <p:strVal val="0"/>
                                          </p:val>
                                        </p:tav>
                                        <p:tav tm="100000">
                                          <p:val>
                                            <p:strVal val="#ppt_h"/>
                                          </p:val>
                                        </p:tav>
                                      </p:tavLst>
                                    </p:anim>
                                  </p:childTnLst>
                                </p:cTn>
                              </p:par>
                            </p:childTnLst>
                          </p:cTn>
                        </p:par>
                        <p:par>
                          <p:cTn id="27" fill="hold">
                            <p:stCondLst>
                              <p:cond delay="400"/>
                            </p:stCondLst>
                            <p:childTnLst>
                              <p:par>
                                <p:cTn id="28" presetID="53" presetClass="entr" presetSubtype="16"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50"/>
                                        <p:tgtEl>
                                          <p:spTgt spid="11"/>
                                        </p:tgtEl>
                                      </p:cBhvr>
                                    </p:animEffect>
                                    <p:anim calcmode="lin" valueType="num">
                                      <p:cBhvr additive="base">
                                        <p:cTn id="31" dur="550" fill="hold"/>
                                        <p:tgtEl>
                                          <p:spTgt spid="11"/>
                                        </p:tgtEl>
                                        <p:attrNameLst>
                                          <p:attrName>ppt_w</p:attrName>
                                        </p:attrNameLst>
                                      </p:cBhvr>
                                      <p:tavLst>
                                        <p:tav tm="0">
                                          <p:val>
                                            <p:strVal val="0"/>
                                          </p:val>
                                        </p:tav>
                                        <p:tav tm="100000">
                                          <p:val>
                                            <p:strVal val="#ppt_w"/>
                                          </p:val>
                                        </p:tav>
                                      </p:tavLst>
                                    </p:anim>
                                    <p:anim calcmode="lin" valueType="num">
                                      <p:cBhvr additive="base">
                                        <p:cTn id="32" dur="550" fill="hold"/>
                                        <p:tgtEl>
                                          <p:spTgt spid="11"/>
                                        </p:tgtEl>
                                        <p:attrNameLst>
                                          <p:attrName>ppt_h</p:attrName>
                                        </p:attrNameLst>
                                      </p:cBhvr>
                                      <p:tavLst>
                                        <p:tav tm="0">
                                          <p:val>
                                            <p:strVal val="0"/>
                                          </p:val>
                                        </p:tav>
                                        <p:tav tm="100000">
                                          <p:val>
                                            <p:strVal val="#ppt_h"/>
                                          </p:val>
                                        </p:tav>
                                      </p:tavLst>
                                    </p:anim>
                                  </p:childTnLst>
                                </p:cTn>
                              </p:par>
                            </p:childTnLst>
                          </p:cTn>
                        </p:par>
                        <p:par>
                          <p:cTn id="33" fill="hold">
                            <p:stCondLst>
                              <p:cond delay="4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childTnLst>
                                </p:cTn>
                              </p:par>
                            </p:childTnLst>
                          </p:cTn>
                        </p:par>
                        <p:par>
                          <p:cTn id="37" fill="hold">
                            <p:stCondLst>
                              <p:cond delay="40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50"/>
                                        <p:tgtEl>
                                          <p:spTgt spid="13"/>
                                        </p:tgtEl>
                                      </p:cBhvr>
                                    </p:animEffect>
                                  </p:childTnLst>
                                </p:cTn>
                              </p:par>
                            </p:childTnLst>
                          </p:cTn>
                        </p:par>
                        <p:par>
                          <p:cTn id="41" fill="hold">
                            <p:stCondLst>
                              <p:cond delay="50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550"/>
                                        <p:tgtEl>
                                          <p:spTgt spid="7"/>
                                        </p:tgtEl>
                                      </p:cBhvr>
                                    </p:animEffect>
                                  </p:childTnLst>
                                </p:cTn>
                              </p:par>
                            </p:childTnLst>
                          </p:cTn>
                        </p:par>
                        <p:par>
                          <p:cTn id="45" fill="hold">
                            <p:stCondLst>
                              <p:cond delay="650"/>
                            </p:stCondLst>
                            <p:childTnLst>
                              <p:par>
                                <p:cTn id="46" presetID="2" presetClass="entr" presetSubtype="8" fill="hold" grpId="0" nodeType="afterEffect">
                                  <p:stCondLst>
                                    <p:cond delay="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9" dur="550" fill="hold"/>
                                        <p:tgtEl>
                                          <p:spTgt spid="8"/>
                                        </p:tgtEl>
                                        <p:attrNameLst>
                                          <p:attrName>ppt_x</p:attrName>
                                        </p:attrNameLst>
                                      </p:cBhvr>
                                      <p:tavLst>
                                        <p:tav tm="0">
                                          <p:val>
                                            <p:strVal val="0-#ppt_w/2"/>
                                          </p:val>
                                        </p:tav>
                                        <p:tav tm="100000">
                                          <p:val>
                                            <p:strVal val="#ppt_x"/>
                                          </p:val>
                                        </p:tav>
                                      </p:tavLst>
                                    </p:anim>
                                    <p:anim calcmode="lin" valueType="num">
                                      <p:cBhvr additive="base">
                                        <p:cTn id="50" dur="550" fill="hold"/>
                                        <p:tgtEl>
                                          <p:spTgt spid="8"/>
                                        </p:tgtEl>
                                        <p:attrNameLst>
                                          <p:attrName>ppt_y</p:attrName>
                                        </p:attrNameLst>
                                      </p:cBhvr>
                                      <p:tavLst>
                                        <p:tav tm="0">
                                          <p:val>
                                            <p:strVal val="#ppt_y"/>
                                          </p:val>
                                        </p:tav>
                                        <p:tav tm="100000">
                                          <p:val>
                                            <p:strVal val="#ppt_y"/>
                                          </p:val>
                                        </p:tav>
                                      </p:tavLst>
                                    </p:anim>
                                  </p:childTnLst>
                                </p:cTn>
                              </p:par>
                            </p:childTnLst>
                          </p:cTn>
                        </p:par>
                        <p:par>
                          <p:cTn id="51" fill="hold">
                            <p:stCondLst>
                              <p:cond delay="800"/>
                            </p:stCondLst>
                            <p:childTnLst>
                              <p:par>
                                <p:cTn id="52" presetID="42" presetClass="entr" presetSubtype="0" fill="hold" grpId="0" nodeType="after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550"/>
                                        <p:tgtEl>
                                          <p:spTgt spid="9"/>
                                        </p:tgtEl>
                                      </p:cBhvr>
                                    </p:animEffect>
                                    <p:anim calcmode="lin" valueType="num">
                                      <p:cBhvr additive="base">
                                        <p:cTn id="55" dur="550" fill="hold"/>
                                        <p:tgtEl>
                                          <p:spTgt spid="9"/>
                                        </p:tgtEl>
                                        <p:attrNameLst>
                                          <p:attrName>ppt_x</p:attrName>
                                        </p:attrNameLst>
                                      </p:cBhvr>
                                      <p:tavLst>
                                        <p:tav tm="0">
                                          <p:val>
                                            <p:strVal val="#ppt_x"/>
                                          </p:val>
                                        </p:tav>
                                        <p:tav tm="100000">
                                          <p:val>
                                            <p:strVal val="#ppt_x"/>
                                          </p:val>
                                        </p:tav>
                                      </p:tavLst>
                                    </p:anim>
                                    <p:anim calcmode="lin" valueType="num">
                                      <p:cBhvr additive="base">
                                        <p:cTn id="56" dur="550" fill="hold"/>
                                        <p:tgtEl>
                                          <p:spTgt spid="9"/>
                                        </p:tgtEl>
                                        <p:attrNameLst>
                                          <p:attrName>ppt_y</p:attrName>
                                        </p:attrNameLst>
                                      </p:cBhvr>
                                      <p:tavLst>
                                        <p:tav tm="0">
                                          <p:val>
                                            <p:strVal val="#ppt_y+.08"/>
                                          </p:val>
                                        </p:tav>
                                        <p:tav tm="100000">
                                          <p:val>
                                            <p:strVal val="#ppt_y"/>
                                          </p:val>
                                        </p:tav>
                                      </p:tavLst>
                                    </p:anim>
                                  </p:childTnLst>
                                </p:cTn>
                              </p:par>
                            </p:childTnLst>
                          </p:cTn>
                        </p:par>
                        <p:par>
                          <p:cTn id="57" fill="hold">
                            <p:stCondLst>
                              <p:cond delay="950"/>
                            </p:stCondLst>
                            <p:childTnLst>
                              <p:par>
                                <p:cTn id="58" presetID="22" presetClass="entr" presetSubtype="8" fill="hold" grpId="0" nodeType="afterEffect">
                                  <p:stCondLst>
                                    <p:cond delay="0"/>
                                  </p:stCondLst>
                                  <p:childTnLst>
                                    <p:set>
                                      <p:cBhvr>
                                        <p:cTn id="59" dur="1" fill="hold">
                                          <p:stCondLst>
                                            <p:cond delay="0"/>
                                          </p:stCondLst>
                                        </p:cTn>
                                        <p:tgtEl>
                                          <p:spTgt spid="6"/>
                                        </p:tgtEl>
                                        <p:attrNameLst>
                                          <p:attrName>style.visibility</p:attrName>
                                        </p:attrNameLst>
                                      </p:cBhvr>
                                      <p:to>
                                        <p:strVal val="visible"/>
                                      </p:to>
                                    </p:set>
                                    <p:animEffect transition="in" filter="wipe(left)">
                                      <p:cBhvr>
                                        <p:cTn id="61" dur="800"/>
                                        <p:tgtEl>
                                          <p:spTgt spid="6"/>
                                        </p:tgtEl>
                                      </p:cBhvr>
                                    </p:animEffect>
                                  </p:childTnLst>
                                </p:cTn>
                              </p:par>
                            </p:childTnLst>
                          </p:cTn>
                        </p:par>
                        <p:par>
                          <p:cTn id="62" fill="hold">
                            <p:stCondLst>
                              <p:cond delay="1100"/>
                            </p:stCondLst>
                            <p:childTnLst>
                              <p:par>
                                <p:cTn id="63" presetID="10" presetClass="entr" presetSubtype="0" fill="hold" grpId="0" nodeType="after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4" grpId="0" animBg="1"/>
      <p:bldP spid="12" grpId="0" animBg="1"/>
      <p:bldP spid="13"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MA’RUZA REJASI</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94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940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010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980000"/>
            <a:ext cx="10150000" cy="440000"/>
          </a:xfrm>
          <a:prstGeom prst="rect">
            <a:avLst/>
          </a:prstGeom>
          <a:noFill/>
        </p:spPr>
        <p:txBody>
          <a:bodyPr wrap="square" anchor="ctr">
            <a:spAutoFit/>
          </a:bodyPr>
          <a:lstStyle/>
          <a:p>
            <a:r>
              <a:rPr sz="1600" b="0">
                <a:solidFill>
                  <a:srgbClr val="1B2430"/>
                </a:solidFill>
                <a:latin typeface="Calibri"/>
              </a:rPr>
              <a:t>Cloud AI arxitekturasi: qatlamlar va xizmat modellari</a:t>
            </a:r>
          </a:p>
        </p:txBody>
      </p:sp>
      <p:sp>
        <p:nvSpPr>
          <p:cNvPr id="14" name="Rounded Rectangle 13"/>
          <p:cNvSpPr/>
          <p:nvPr/>
        </p:nvSpPr>
        <p:spPr>
          <a:xfrm>
            <a:off x="550000" y="257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70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640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610000"/>
            <a:ext cx="10150000" cy="440000"/>
          </a:xfrm>
          <a:prstGeom prst="rect">
            <a:avLst/>
          </a:prstGeom>
          <a:noFill/>
        </p:spPr>
        <p:txBody>
          <a:bodyPr wrap="square" anchor="ctr">
            <a:spAutoFit/>
          </a:bodyPr>
          <a:lstStyle/>
          <a:p>
            <a:r>
              <a:rPr sz="1600" b="0">
                <a:solidFill>
                  <a:srgbClr val="1B2430"/>
                </a:solidFill>
                <a:latin typeface="Calibri"/>
              </a:rPr>
              <a:t>Docker: konteynerlar va takrorlanuvchan muhit</a:t>
            </a:r>
          </a:p>
        </p:txBody>
      </p:sp>
      <p:sp>
        <p:nvSpPr>
          <p:cNvPr id="18" name="Rounded Rectangle 17"/>
          <p:cNvSpPr/>
          <p:nvPr/>
        </p:nvSpPr>
        <p:spPr>
          <a:xfrm>
            <a:off x="550000" y="320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200000"/>
            <a:ext cx="70000" cy="52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3270000"/>
            <a:ext cx="380000" cy="38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240000"/>
            <a:ext cx="10150000" cy="440000"/>
          </a:xfrm>
          <a:prstGeom prst="rect">
            <a:avLst/>
          </a:prstGeom>
          <a:noFill/>
        </p:spPr>
        <p:txBody>
          <a:bodyPr wrap="square" anchor="ctr">
            <a:spAutoFit/>
          </a:bodyPr>
          <a:lstStyle/>
          <a:p>
            <a:r>
              <a:rPr sz="1600" b="0">
                <a:solidFill>
                  <a:srgbClr val="1B2430"/>
                </a:solidFill>
                <a:latin typeface="Calibri"/>
              </a:rPr>
              <a:t>Kubernetes: orkestratsiya va GPU rejalashtirish</a:t>
            </a:r>
          </a:p>
        </p:txBody>
      </p:sp>
      <p:sp>
        <p:nvSpPr>
          <p:cNvPr id="22" name="Rounded Rectangle 21"/>
          <p:cNvSpPr/>
          <p:nvPr/>
        </p:nvSpPr>
        <p:spPr>
          <a:xfrm>
            <a:off x="550000" y="383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3830000"/>
            <a:ext cx="70000" cy="52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3900000"/>
            <a:ext cx="380000" cy="38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3870000"/>
            <a:ext cx="10150000" cy="440000"/>
          </a:xfrm>
          <a:prstGeom prst="rect">
            <a:avLst/>
          </a:prstGeom>
          <a:noFill/>
        </p:spPr>
        <p:txBody>
          <a:bodyPr wrap="square" anchor="ctr">
            <a:spAutoFit/>
          </a:bodyPr>
          <a:lstStyle/>
          <a:p>
            <a:r>
              <a:rPr sz="1600" b="0">
                <a:solidFill>
                  <a:srgbClr val="1B2430"/>
                </a:solidFill>
                <a:latin typeface="Calibri"/>
              </a:rPr>
              <a:t>Ray va Kubeflow platformalari</a:t>
            </a:r>
          </a:p>
        </p:txBody>
      </p:sp>
      <p:sp>
        <p:nvSpPr>
          <p:cNvPr id="26" name="Rounded Rectangle 25"/>
          <p:cNvSpPr/>
          <p:nvPr/>
        </p:nvSpPr>
        <p:spPr>
          <a:xfrm>
            <a:off x="550000" y="446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4460000"/>
            <a:ext cx="70000" cy="52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80000" y="4530000"/>
            <a:ext cx="380000" cy="38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29" name="TextBox 28"/>
          <p:cNvSpPr txBox="1"/>
          <p:nvPr/>
        </p:nvSpPr>
        <p:spPr>
          <a:xfrm>
            <a:off x="1380000" y="4500000"/>
            <a:ext cx="10150000" cy="440000"/>
          </a:xfrm>
          <a:prstGeom prst="rect">
            <a:avLst/>
          </a:prstGeom>
          <a:noFill/>
        </p:spPr>
        <p:txBody>
          <a:bodyPr wrap="square" anchor="ctr">
            <a:spAutoFit/>
          </a:bodyPr>
          <a:lstStyle/>
          <a:p>
            <a:r>
              <a:rPr sz="1600" b="0">
                <a:solidFill>
                  <a:srgbClr val="1B2430"/>
                </a:solidFill>
                <a:latin typeface="Calibri"/>
              </a:rPr>
              <a:t>Taqsimlangan o'qitish va inferens jarayonlarini klasterda boshqarish</a:t>
            </a:r>
          </a:p>
        </p:txBody>
      </p:sp>
      <p:sp>
        <p:nvSpPr>
          <p:cNvPr id="30" name="Rounded Rectangle 29"/>
          <p:cNvSpPr/>
          <p:nvPr/>
        </p:nvSpPr>
        <p:spPr>
          <a:xfrm>
            <a:off x="550000" y="509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5090000"/>
            <a:ext cx="70000" cy="52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80000" y="5160000"/>
            <a:ext cx="380000" cy="38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6</a:t>
            </a:r>
          </a:p>
        </p:txBody>
      </p:sp>
      <p:sp>
        <p:nvSpPr>
          <p:cNvPr id="33" name="TextBox 32"/>
          <p:cNvSpPr txBox="1"/>
          <p:nvPr/>
        </p:nvSpPr>
        <p:spPr>
          <a:xfrm>
            <a:off x="1380000" y="5130000"/>
            <a:ext cx="10150000" cy="440000"/>
          </a:xfrm>
          <a:prstGeom prst="rect">
            <a:avLst/>
          </a:prstGeom>
          <a:noFill/>
        </p:spPr>
        <p:txBody>
          <a:bodyPr wrap="square" anchor="ctr">
            <a:spAutoFit/>
          </a:bodyPr>
          <a:lstStyle/>
          <a:p>
            <a:r>
              <a:rPr sz="1600" b="0">
                <a:solidFill>
                  <a:srgbClr val="1B2430"/>
                </a:solidFill>
                <a:latin typeface="Calibri"/>
              </a:rPr>
              <a:t>Bulutli AI xizmatlarini loyihalash tamoyillari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5f40145c34f8565.jpg"/>
          <p:cNvPicPr>
            <a:picLocks noChangeAspect="1"/>
          </p:cNvPicPr>
          <p:nvPr/>
        </p:nvPicPr>
        <p:blipFill>
          <a:blip r:embed="rId2"/>
          <a:srcRect l="21440" r="21440"/>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COSCUP · Wikimedia Commons · CC BY-SA 2.0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01</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Cloud AI arxitekturasi: qatlamlar va xizmat modellari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Cloud AI arxitekturasi: qatlamlar va xizmat modellari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10" name="Rounded Rectangle 9"/>
          <p:cNvSpPr/>
          <p:nvPr/>
        </p:nvSpPr>
        <p:spPr>
          <a:xfrm>
            <a:off x="550000" y="238416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384160"/>
            <a:ext cx="70000" cy="13358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84208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424160"/>
            <a:ext cx="10150000" cy="1255840"/>
          </a:xfrm>
          <a:prstGeom prst="rect">
            <a:avLst/>
          </a:prstGeom>
          <a:noFill/>
        </p:spPr>
        <p:txBody>
          <a:bodyPr wrap="square" anchor="ctr">
            <a:spAutoFit/>
          </a:bodyPr>
          <a:lstStyle/>
          <a:p>
            <a:r>
              <a:rPr sz="1600" b="1">
                <a:solidFill>
                  <a:srgbClr val="1F3A5F"/>
                </a:solidFill>
                <a:latin typeface="Calibri"/>
              </a:rPr>
              <a:t>Bulutli sun'iy intellekt infratuzilmasini besh qatlamli stek sifatida tasavvur qilish qulay.</a:t>
            </a:r>
          </a:p>
          <a:p>
            <a:pPr>
              <a:spcBef>
                <a:spcPts val="400"/>
              </a:spcBef>
            </a:pPr>
            <a:r>
              <a:rPr sz="1500">
                <a:solidFill>
                  <a:srgbClr val="334055"/>
                </a:solidFill>
                <a:latin typeface="Calibri"/>
              </a:rPr>
              <a:t>Eng pastda — fizik apparat: GPU serverlari (masalan, 8× H100 yoki B200 NVLink bilan), yuqori tezlikli tarmoq (InfiniBand NDR 400 Gb/s yoki RoCE Ethernet), parallel saqlash tizimlari (Lustre, GPFS, obyekt saqlash S3).</a:t>
            </a:r>
          </a:p>
        </p:txBody>
      </p:sp>
      <p:sp>
        <p:nvSpPr>
          <p:cNvPr id="14" name="Rounded Rectangle 13"/>
          <p:cNvSpPr/>
          <p:nvPr/>
        </p:nvSpPr>
        <p:spPr>
          <a:xfrm>
            <a:off x="550000" y="383000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33584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28792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255840"/>
          </a:xfrm>
          <a:prstGeom prst="rect">
            <a:avLst/>
          </a:prstGeom>
          <a:noFill/>
        </p:spPr>
        <p:txBody>
          <a:bodyPr wrap="square" anchor="ctr">
            <a:spAutoFit/>
          </a:bodyPr>
          <a:lstStyle/>
          <a:p>
            <a:r>
              <a:rPr sz="1600" b="1">
                <a:solidFill>
                  <a:srgbClr val="1F3A5F"/>
                </a:solidFill>
                <a:latin typeface="Calibri"/>
              </a:rPr>
              <a:t>Xizmat modellari nuqtai nazaridan AI bulutida uchta daraja farqlanadi.</a:t>
            </a:r>
          </a:p>
          <a:p>
            <a:pPr>
              <a:spcBef>
                <a:spcPts val="400"/>
              </a:spcBef>
            </a:pPr>
            <a:r>
              <a:rPr sz="1500">
                <a:solidFill>
                  <a:srgbClr val="334055"/>
                </a:solidFill>
                <a:latin typeface="Calibri"/>
              </a:rPr>
              <a:t>IaaS (Infrastructure as a Service) — GPU'li virtual mashina ijarasi (AWS p5, GCP A3, Azure ND H100 v5 instanslari yoki ixtisoslashgan GPU bulutlari); muhandis to'liq nazoratga ega, lekin hamma narsani o'zi sozlaydi.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883ab0c2bd6e6dc0.jpg"/>
          <p:cNvPicPr>
            <a:picLocks noChangeAspect="1"/>
          </p:cNvPicPr>
          <p:nvPr/>
        </p:nvPicPr>
        <p:blipFill>
          <a:blip r:embed="rId2"/>
          <a:srcRect l="23979" r="23979"/>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Dereckson · Wikimedia Commons · CC0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02</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Docker: konteynerlar va takrorlanuvchan muhit</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2-REJA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Docker: konteynerlar va takrorlanuvchan muhit</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6</a:t>
            </a:r>
          </a:p>
        </p:txBody>
      </p:sp>
      <p:sp>
        <p:nvSpPr>
          <p:cNvPr id="10" name="Rounded Rectangle 9"/>
          <p:cNvSpPr/>
          <p:nvPr/>
        </p:nvSpPr>
        <p:spPr>
          <a:xfrm>
            <a:off x="550000" y="1761824"/>
            <a:ext cx="11100000" cy="126878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761824"/>
            <a:ext cx="70000" cy="1268784"/>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186216"/>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801824"/>
            <a:ext cx="10150000" cy="1188784"/>
          </a:xfrm>
          <a:prstGeom prst="rect">
            <a:avLst/>
          </a:prstGeom>
          <a:noFill/>
        </p:spPr>
        <p:txBody>
          <a:bodyPr wrap="square" anchor="ctr">
            <a:spAutoFit/>
          </a:bodyPr>
          <a:lstStyle/>
          <a:p>
            <a:r>
              <a:rPr sz="1500" b="1">
                <a:solidFill>
                  <a:srgbClr val="1F3A5F"/>
                </a:solidFill>
                <a:latin typeface="Calibri"/>
              </a:rPr>
              <a:t>Sun'iy intellekt dasturiy ta'minotining eng og'riqli muammolaridan biri — muhit mosligi: CUDA versiyasi, drayver, cuDNN, PyTorch g'ildiragi, Python paketlari o'rtasidagi bog'liqliklar.</a:t>
            </a:r>
          </a:p>
          <a:p>
            <a:pPr>
              <a:spcBef>
                <a:spcPts val="400"/>
              </a:spcBef>
            </a:pPr>
            <a:r>
              <a:rPr sz="1400">
                <a:solidFill>
                  <a:srgbClr val="334055"/>
                </a:solidFill>
                <a:latin typeface="Calibri"/>
              </a:rPr>
              <a:t>«Mening kompyuterimda ishlaydi» holati GPU dasturlarida ayniqsa ko'p uchraydi.</a:t>
            </a:r>
          </a:p>
        </p:txBody>
      </p:sp>
      <p:sp>
        <p:nvSpPr>
          <p:cNvPr id="14" name="Rounded Rectangle 13"/>
          <p:cNvSpPr/>
          <p:nvPr/>
        </p:nvSpPr>
        <p:spPr>
          <a:xfrm>
            <a:off x="550000" y="3140608"/>
            <a:ext cx="11100000" cy="126878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140608"/>
            <a:ext cx="70000" cy="1268784"/>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180608"/>
            <a:ext cx="10150000" cy="1188784"/>
          </a:xfrm>
          <a:prstGeom prst="rect">
            <a:avLst/>
          </a:prstGeom>
          <a:noFill/>
        </p:spPr>
        <p:txBody>
          <a:bodyPr wrap="square" anchor="ctr">
            <a:spAutoFit/>
          </a:bodyPr>
          <a:lstStyle/>
          <a:p>
            <a:r>
              <a:rPr sz="1500" b="1">
                <a:solidFill>
                  <a:srgbClr val="1F3A5F"/>
                </a:solidFill>
                <a:latin typeface="Calibri"/>
              </a:rPr>
              <a:t>Docker obrazi qatlamlardan (layers) iborat: Dockerfile'dagi har bir RUN, COPY buyrug'i yangi faqat-o'qish qatlami yaratadi; qatlamlar keshlanadi va obrazlar orasida umumiy bo'ladi.</a:t>
            </a:r>
          </a:p>
          <a:p>
            <a:pPr>
              <a:spcBef>
                <a:spcPts val="400"/>
              </a:spcBef>
            </a:pPr>
            <a:r>
              <a:rPr sz="1400">
                <a:solidFill>
                  <a:srgbClr val="334055"/>
                </a:solidFill>
                <a:latin typeface="Calibri"/>
              </a:rPr>
              <a:t>Shuning uchun Dockerfile tartibi muhim: kamdan-kam o'zgaradigan buyruqlar (bazaviy obraz, tizim paketlari, og'ir Python kutubxonalari) tepada, tez-tez o'zgaradigan kod pastda bo'lsa, qayta qurish tez bo'ladi.</a:t>
            </a:r>
          </a:p>
        </p:txBody>
      </p:sp>
      <p:sp>
        <p:nvSpPr>
          <p:cNvPr id="18" name="Rounded Rectangle 17"/>
          <p:cNvSpPr/>
          <p:nvPr/>
        </p:nvSpPr>
        <p:spPr>
          <a:xfrm>
            <a:off x="550000" y="4519392"/>
            <a:ext cx="11100000" cy="126878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519392"/>
            <a:ext cx="70000" cy="1268784"/>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4943784"/>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559392"/>
            <a:ext cx="10150000" cy="1188784"/>
          </a:xfrm>
          <a:prstGeom prst="rect">
            <a:avLst/>
          </a:prstGeom>
          <a:noFill/>
        </p:spPr>
        <p:txBody>
          <a:bodyPr wrap="square" anchor="ctr">
            <a:spAutoFit/>
          </a:bodyPr>
          <a:lstStyle/>
          <a:p>
            <a:r>
              <a:rPr sz="1400" b="0">
                <a:solidFill>
                  <a:srgbClr val="1B2430"/>
                </a:solidFill>
                <a:latin typeface="Calibri"/>
              </a:rPr>
              <a:t>Yaxshi inferens obrazining belgilari: ko'p bosqichli qurilish (multi-stage build) — kompilyatsiya vositalari yakuniy obrazga kirmaydi; aniq versiyalar (torch==2.4.1, ma'lum CUDA bilan); ildiz bo'lmagan foydalanuvchi; sog'liqni tekshirish (healthcheck)…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964c24c4c2ffe85.jpg"/>
          <p:cNvPicPr>
            <a:picLocks noChangeAspect="1"/>
          </p:cNvPicPr>
          <p:nvPr/>
        </p:nvPicPr>
        <p:blipFill>
          <a:blip r:embed="rId2"/>
          <a:srcRect l="29965" r="29965"/>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Norbertsuter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03</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Kubernetes: orkestratsiya va GPU rejalashtirish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Kubernetes: orkestratsiya va GPU rejalashtirish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8</a:t>
            </a:r>
          </a:p>
        </p:txBody>
      </p:sp>
      <p:sp>
        <p:nvSpPr>
          <p:cNvPr id="10" name="Rounded Rectangle 9"/>
          <p:cNvSpPr/>
          <p:nvPr/>
        </p:nvSpPr>
        <p:spPr>
          <a:xfrm>
            <a:off x="550000" y="140978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409780"/>
            <a:ext cx="70000" cy="15034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9515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449780"/>
            <a:ext cx="10150000" cy="1423480"/>
          </a:xfrm>
          <a:prstGeom prst="rect">
            <a:avLst/>
          </a:prstGeom>
          <a:noFill/>
        </p:spPr>
        <p:txBody>
          <a:bodyPr wrap="square" anchor="ctr">
            <a:spAutoFit/>
          </a:bodyPr>
          <a:lstStyle/>
          <a:p>
            <a:r>
              <a:rPr sz="1500" b="1">
                <a:solidFill>
                  <a:srgbClr val="1F3A5F"/>
                </a:solidFill>
                <a:latin typeface="Calibri"/>
              </a:rPr>
              <a:t>Kubernetes (K8s) — konteynerlarni ko'plab mashinalar (tugunlar, nodes) bo'ylab joylashtiradigan, kuzatadigan va tiklaydigan ochiq manbali tizim [9].</a:t>
            </a:r>
          </a:p>
          <a:p>
            <a:pPr>
              <a:spcBef>
                <a:spcPts val="400"/>
              </a:spcBef>
            </a:pPr>
            <a:r>
              <a:rPr sz="1400">
                <a:solidFill>
                  <a:srgbClr val="334055"/>
                </a:solidFill>
                <a:latin typeface="Calibri"/>
              </a:rPr>
              <a:t>Uning asosiy g'oyasi — deklarativ boshqaruv: muhandis «qanday qilish»ni emas, «qanday holat bo'lishi kerak»ligini YAML manifestlarida yozadi, boshqaruvchilar (controllers) esa haqiqiy holatni istalgan holatga doimo yaqinlashtiradi. Asosiy obyektlar:</a:t>
            </a:r>
          </a:p>
        </p:txBody>
      </p:sp>
      <p:sp>
        <p:nvSpPr>
          <p:cNvPr id="14" name="Rounded Rectangle 13"/>
          <p:cNvSpPr/>
          <p:nvPr/>
        </p:nvSpPr>
        <p:spPr>
          <a:xfrm>
            <a:off x="550000" y="302326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023260"/>
            <a:ext cx="70000" cy="15034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63260"/>
            <a:ext cx="10150000" cy="1423480"/>
          </a:xfrm>
          <a:prstGeom prst="rect">
            <a:avLst/>
          </a:prstGeom>
          <a:noFill/>
        </p:spPr>
        <p:txBody>
          <a:bodyPr wrap="square" anchor="ctr">
            <a:spAutoFit/>
          </a:bodyPr>
          <a:lstStyle/>
          <a:p>
            <a:r>
              <a:rPr sz="1500" b="1">
                <a:solidFill>
                  <a:srgbClr val="1F3A5F"/>
                </a:solidFill>
                <a:latin typeface="Calibri"/>
              </a:rPr>
              <a:t>GPU — Kubernetes uchun «kengaytirilgan resurs» (extended resource): NVIDIA device plugin (odatda GPU Operator orqali o'rnatiladi) har tugundagi GPU'larni nvidia.com/gpu resursi sifatida e'lon qiladi, Pod esa resources.limits: nvidia.com/gpu: 1 bilan uni…</a:t>
            </a:r>
          </a:p>
          <a:p>
            <a:pPr>
              <a:spcBef>
                <a:spcPts val="400"/>
              </a:spcBef>
            </a:pPr>
            <a:r>
              <a:rPr sz="1400">
                <a:solidFill>
                  <a:srgbClr val="334055"/>
                </a:solidFill>
                <a:latin typeface="Calibri"/>
              </a:rPr>
              <a:t>Rejalashtiruvchi (scheduler) faqat bo'sh GPU'li tugunga Pod joylaydi.</a:t>
            </a:r>
          </a:p>
        </p:txBody>
      </p:sp>
      <p:sp>
        <p:nvSpPr>
          <p:cNvPr id="18" name="Rounded Rectangle 17"/>
          <p:cNvSpPr/>
          <p:nvPr/>
        </p:nvSpPr>
        <p:spPr>
          <a:xfrm>
            <a:off x="550000" y="463674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36740"/>
            <a:ext cx="70000" cy="15034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17848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676740"/>
            <a:ext cx="10150000" cy="1423480"/>
          </a:xfrm>
          <a:prstGeom prst="rect">
            <a:avLst/>
          </a:prstGeom>
          <a:noFill/>
        </p:spPr>
        <p:txBody>
          <a:bodyPr wrap="square" anchor="ctr">
            <a:spAutoFit/>
          </a:bodyPr>
          <a:lstStyle/>
          <a:p>
            <a:r>
              <a:rPr sz="1400" b="0">
                <a:solidFill>
                  <a:srgbClr val="1B2430"/>
                </a:solidFill>
                <a:latin typeface="Calibri"/>
              </a:rPr>
              <a:t>Masshtablash ikki o'qda: HPA nusxa sonini o'zgartiradi (gorizontal), Cluster Autoscaler yoki Karpenter esa bulutdan yangi tugunlar so'raydi; GPU tugunining ishga tushishi 2–5 daqiqa olgani uchun masshtablash siyosati oldindan o'ylanishi kerak.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Kubernetes: orkestratsiya va GPU rejalashtirish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000" b="1">
                          <a:solidFill>
                            <a:srgbClr val="FFFFFF"/>
                          </a:solidFill>
                          <a:latin typeface="Calibri"/>
                        </a:rPr>
                        <a:t>Obyekt</a:t>
                      </a:r>
                    </a:p>
                  </a:txBody>
                  <a:tcPr>
                    <a:solidFill>
                      <a:srgbClr val="2D5C8F"/>
                    </a:solidFill>
                  </a:tcPr>
                </a:tc>
                <a:tc>
                  <a:txBody>
                    <a:bodyPr/>
                    <a:lstStyle/>
                    <a:p>
                      <a:r>
                        <a:rPr sz="1000" b="1">
                          <a:solidFill>
                            <a:srgbClr val="FFFFFF"/>
                          </a:solidFill>
                          <a:latin typeface="Calibri"/>
                        </a:rPr>
                        <a:t>Vazifasi</a:t>
                      </a:r>
                    </a:p>
                  </a:txBody>
                  <a:tcPr>
                    <a:solidFill>
                      <a:srgbClr val="2D5C8F"/>
                    </a:solidFill>
                  </a:tcPr>
                </a:tc>
                <a:tc>
                  <a:txBody>
                    <a:bodyPr/>
                    <a:lstStyle/>
                    <a:p>
                      <a:r>
                        <a:rPr sz="1000" b="1">
                          <a:solidFill>
                            <a:srgbClr val="FFFFFF"/>
                          </a:solidFill>
                          <a:latin typeface="Calibri"/>
                        </a:rPr>
                        <a:t>AI kontekstida</a:t>
                      </a:r>
                    </a:p>
                  </a:txBody>
                  <a:tcPr>
                    <a:solidFill>
                      <a:srgbClr val="2D5C8F"/>
                    </a:solidFill>
                  </a:tcPr>
                </a:tc>
              </a:tr>
              <a:tr h="520000">
                <a:tc>
                  <a:txBody>
                    <a:bodyPr/>
                    <a:lstStyle/>
                    <a:p>
                      <a:r>
                        <a:rPr sz="1000" b="0">
                          <a:solidFill>
                            <a:srgbClr val="1B2430"/>
                          </a:solidFill>
                          <a:latin typeface="Calibri"/>
                        </a:rPr>
                        <a:t>Pod</a:t>
                      </a:r>
                    </a:p>
                  </a:txBody>
                  <a:tcPr>
                    <a:solidFill>
                      <a:srgbClr val="F1F4F8"/>
                    </a:solidFill>
                  </a:tcPr>
                </a:tc>
                <a:tc>
                  <a:txBody>
                    <a:bodyPr/>
                    <a:lstStyle/>
                    <a:p>
                      <a:r>
                        <a:rPr sz="1000" b="0">
                          <a:solidFill>
                            <a:srgbClr val="1B2430"/>
                          </a:solidFill>
                          <a:latin typeface="Calibri"/>
                        </a:rPr>
                        <a:t>bir yoki bir nechta konteynerning eng kichik joylash birligi</a:t>
                      </a:r>
                    </a:p>
                  </a:txBody>
                  <a:tcPr>
                    <a:solidFill>
                      <a:srgbClr val="F1F4F8"/>
                    </a:solidFill>
                  </a:tcPr>
                </a:tc>
                <a:tc>
                  <a:txBody>
                    <a:bodyPr/>
                    <a:lstStyle/>
                    <a:p>
                      <a:r>
                        <a:rPr sz="1000" b="0">
                          <a:solidFill>
                            <a:srgbClr val="1B2430"/>
                          </a:solidFill>
                          <a:latin typeface="Calibri"/>
                        </a:rPr>
                        <a:t>bitta inferens serveri nusxasi yoki o'qitish ishchisi</a:t>
                      </a:r>
                    </a:p>
                  </a:txBody>
                  <a:tcPr>
                    <a:solidFill>
                      <a:srgbClr val="F1F4F8"/>
                    </a:solidFill>
                  </a:tcPr>
                </a:tc>
              </a:tr>
              <a:tr h="520000">
                <a:tc>
                  <a:txBody>
                    <a:bodyPr/>
                    <a:lstStyle/>
                    <a:p>
                      <a:r>
                        <a:rPr sz="1000" b="0">
                          <a:solidFill>
                            <a:srgbClr val="1B2430"/>
                          </a:solidFill>
                          <a:latin typeface="Calibri"/>
                        </a:rPr>
                        <a:t>Deployment</a:t>
                      </a:r>
                    </a:p>
                  </a:txBody>
                  <a:tcPr>
                    <a:solidFill>
                      <a:srgbClr val="FFFFFF"/>
                    </a:solidFill>
                  </a:tcPr>
                </a:tc>
                <a:tc>
                  <a:txBody>
                    <a:bodyPr/>
                    <a:lstStyle/>
                    <a:p>
                      <a:r>
                        <a:rPr sz="1000" b="0">
                          <a:solidFill>
                            <a:srgbClr val="1B2430"/>
                          </a:solidFill>
                          <a:latin typeface="Calibri"/>
                        </a:rPr>
                        <a:t>Pod'lar to'plamini istalgan nusxa (replica) sonida ushlab turadi, yangilanishni boshqaradi</a:t>
                      </a:r>
                    </a:p>
                  </a:txBody>
                  <a:tcPr>
                    <a:solidFill>
                      <a:srgbClr val="FFFFFF"/>
                    </a:solidFill>
                  </a:tcPr>
                </a:tc>
                <a:tc>
                  <a:txBody>
                    <a:bodyPr/>
                    <a:lstStyle/>
                    <a:p>
                      <a:r>
                        <a:rPr sz="1000" b="0">
                          <a:solidFill>
                            <a:srgbClr val="1B2430"/>
                          </a:solidFill>
                          <a:latin typeface="Calibri"/>
                        </a:rPr>
                        <a:t>inferens xizmati, bosqichma-bosqich (rolling) yangilash</a:t>
                      </a:r>
                    </a:p>
                  </a:txBody>
                  <a:tcPr>
                    <a:solidFill>
                      <a:srgbClr val="FFFFFF"/>
                    </a:solidFill>
                  </a:tcPr>
                </a:tc>
              </a:tr>
              <a:tr h="520000">
                <a:tc>
                  <a:txBody>
                    <a:bodyPr/>
                    <a:lstStyle/>
                    <a:p>
                      <a:r>
                        <a:rPr sz="1000" b="0">
                          <a:solidFill>
                            <a:srgbClr val="1B2430"/>
                          </a:solidFill>
                          <a:latin typeface="Calibri"/>
                        </a:rPr>
                        <a:t>Service</a:t>
                      </a:r>
                    </a:p>
                  </a:txBody>
                  <a:tcPr>
                    <a:solidFill>
                      <a:srgbClr val="F1F4F8"/>
                    </a:solidFill>
                  </a:tcPr>
                </a:tc>
                <a:tc>
                  <a:txBody>
                    <a:bodyPr/>
                    <a:lstStyle/>
                    <a:p>
                      <a:r>
                        <a:rPr sz="1000" b="0">
                          <a:solidFill>
                            <a:srgbClr val="1B2430"/>
                          </a:solidFill>
                          <a:latin typeface="Calibri"/>
                        </a:rPr>
                        <a:t>Pod'larga barqaror tarmoq nomi va yuk taqsimlash</a:t>
                      </a:r>
                    </a:p>
                  </a:txBody>
                  <a:tcPr>
                    <a:solidFill>
                      <a:srgbClr val="F1F4F8"/>
                    </a:solidFill>
                  </a:tcPr>
                </a:tc>
                <a:tc>
                  <a:txBody>
                    <a:bodyPr/>
                    <a:lstStyle/>
                    <a:p>
                      <a:r>
                        <a:rPr sz="1000" b="0">
                          <a:solidFill>
                            <a:srgbClr val="1B2430"/>
                          </a:solidFill>
                          <a:latin typeface="Calibri"/>
                        </a:rPr>
                        <a:t>so'rovlarni nusxalar orasida taqsimlash</a:t>
                      </a:r>
                    </a:p>
                  </a:txBody>
                  <a:tcPr>
                    <a:solidFill>
                      <a:srgbClr val="F1F4F8"/>
                    </a:solidFill>
                  </a:tcPr>
                </a:tc>
              </a:tr>
              <a:tr h="520000">
                <a:tc>
                  <a:txBody>
                    <a:bodyPr/>
                    <a:lstStyle/>
                    <a:p>
                      <a:r>
                        <a:rPr sz="1000" b="0">
                          <a:solidFill>
                            <a:srgbClr val="1B2430"/>
                          </a:solidFill>
                          <a:latin typeface="Calibri"/>
                        </a:rPr>
                        <a:t>Ingress / Gateway</a:t>
                      </a:r>
                    </a:p>
                  </a:txBody>
                  <a:tcPr>
                    <a:solidFill>
                      <a:srgbClr val="FFFFFF"/>
                    </a:solidFill>
                  </a:tcPr>
                </a:tc>
                <a:tc>
                  <a:txBody>
                    <a:bodyPr/>
                    <a:lstStyle/>
                    <a:p>
                      <a:r>
                        <a:rPr sz="1000" b="0">
                          <a:solidFill>
                            <a:srgbClr val="1B2430"/>
                          </a:solidFill>
                          <a:latin typeface="Calibri"/>
                        </a:rPr>
                        <a:t>tashqi HTTP(S) kirish, marshrutlash, TLS</a:t>
                      </a:r>
                    </a:p>
                  </a:txBody>
                  <a:tcPr>
                    <a:solidFill>
                      <a:srgbClr val="FFFFFF"/>
                    </a:solidFill>
                  </a:tcPr>
                </a:tc>
                <a:tc>
                  <a:txBody>
                    <a:bodyPr/>
                    <a:lstStyle/>
                    <a:p>
                      <a:r>
                        <a:rPr sz="1000" b="0">
                          <a:solidFill>
                            <a:srgbClr val="1B2430"/>
                          </a:solidFill>
                          <a:latin typeface="Calibri"/>
                        </a:rPr>
                        <a:t>tashqi API</a:t>
                      </a:r>
                    </a:p>
                  </a:txBody>
                  <a:tcPr>
                    <a:solidFill>
                      <a:srgbClr val="FFFFFF"/>
                    </a:solidFill>
                  </a:tcPr>
                </a:tc>
              </a:tr>
              <a:tr h="520000">
                <a:tc>
                  <a:txBody>
                    <a:bodyPr/>
                    <a:lstStyle/>
                    <a:p>
                      <a:r>
                        <a:rPr sz="1000" b="0">
                          <a:solidFill>
                            <a:srgbClr val="1B2430"/>
                          </a:solidFill>
                          <a:latin typeface="Calibri"/>
                        </a:rPr>
                        <a:t>HorizontalPodAutoscaler (HPA)</a:t>
                      </a:r>
                    </a:p>
                  </a:txBody>
                  <a:tcPr>
                    <a:solidFill>
                      <a:srgbClr val="F1F4F8"/>
                    </a:solidFill>
                  </a:tcPr>
                </a:tc>
                <a:tc>
                  <a:txBody>
                    <a:bodyPr/>
                    <a:lstStyle/>
                    <a:p>
                      <a:r>
                        <a:rPr sz="1000" b="0">
                          <a:solidFill>
                            <a:srgbClr val="1B2430"/>
                          </a:solidFill>
                          <a:latin typeface="Calibri"/>
                        </a:rPr>
                        <a:t>metrikaga qarab nusxa sonini o'zgartiradi</a:t>
                      </a:r>
                    </a:p>
                  </a:txBody>
                  <a:tcPr>
                    <a:solidFill>
                      <a:srgbClr val="F1F4F8"/>
                    </a:solidFill>
                  </a:tcPr>
                </a:tc>
                <a:tc>
                  <a:txBody>
                    <a:bodyPr/>
                    <a:lstStyle/>
                    <a:p>
                      <a:r>
                        <a:rPr sz="1000" b="0">
                          <a:solidFill>
                            <a:srgbClr val="1B2430"/>
                          </a:solidFill>
                          <a:latin typeface="Calibri"/>
                        </a:rPr>
                        <a:t>CPU/GPU bandligi yoki so'rovlar navbatiga qarab masshtablash</a:t>
                      </a:r>
                    </a:p>
                  </a:txBody>
                  <a:tcPr>
                    <a:solidFill>
                      <a:srgbClr val="F1F4F8"/>
                    </a:solidFill>
                  </a:tcPr>
                </a:tc>
              </a:tr>
              <a:tr h="520000">
                <a:tc>
                  <a:txBody>
                    <a:bodyPr/>
                    <a:lstStyle/>
                    <a:p>
                      <a:r>
                        <a:rPr sz="1000" b="0">
                          <a:solidFill>
                            <a:srgbClr val="1B2430"/>
                          </a:solidFill>
                          <a:latin typeface="Calibri"/>
                        </a:rPr>
                        <a:t>Job / CronJob</a:t>
                      </a:r>
                    </a:p>
                  </a:txBody>
                  <a:tcPr>
                    <a:solidFill>
                      <a:srgbClr val="FFFFFF"/>
                    </a:solidFill>
                  </a:tcPr>
                </a:tc>
                <a:tc>
                  <a:txBody>
                    <a:bodyPr/>
                    <a:lstStyle/>
                    <a:p>
                      <a:r>
                        <a:rPr sz="1000" b="0">
                          <a:solidFill>
                            <a:srgbClr val="1B2430"/>
                          </a:solidFill>
                          <a:latin typeface="Calibri"/>
                        </a:rPr>
                        <a:t>tugaydigan ish</a:t>
                      </a:r>
                    </a:p>
                  </a:txBody>
                  <a:tcPr>
                    <a:solidFill>
                      <a:srgbClr val="FFFFFF"/>
                    </a:solidFill>
                  </a:tcPr>
                </a:tc>
                <a:tc>
                  <a:txBody>
                    <a:bodyPr/>
                    <a:lstStyle/>
                    <a:p>
                      <a:r>
                        <a:rPr sz="1000" b="0">
                          <a:solidFill>
                            <a:srgbClr val="1B2430"/>
                          </a:solidFill>
                          <a:latin typeface="Calibri"/>
                        </a:rPr>
                        <a:t>o'qitish, paketli inferens, ma'lumot tayyorlash</a:t>
                      </a:r>
                    </a:p>
                  </a:txBody>
                  <a:tcPr>
                    <a:solidFill>
                      <a:srgbClr val="FFFFFF"/>
                    </a:solidFill>
                  </a:tcPr>
                </a:tc>
              </a:tr>
              <a:tr h="520000">
                <a:tc>
                  <a:txBody>
                    <a:bodyPr/>
                    <a:lstStyle/>
                    <a:p>
                      <a:r>
                        <a:rPr sz="1000" b="0">
                          <a:solidFill>
                            <a:srgbClr val="1B2430"/>
                          </a:solidFill>
                          <a:latin typeface="Calibri"/>
                        </a:rPr>
                        <a:t>StatefulSet</a:t>
                      </a:r>
                    </a:p>
                  </a:txBody>
                  <a:tcPr>
                    <a:solidFill>
                      <a:srgbClr val="F1F4F8"/>
                    </a:solidFill>
                  </a:tcPr>
                </a:tc>
                <a:tc>
                  <a:txBody>
                    <a:bodyPr/>
                    <a:lstStyle/>
                    <a:p>
                      <a:r>
                        <a:rPr sz="1000" b="0">
                          <a:solidFill>
                            <a:srgbClr val="1B2430"/>
                          </a:solidFill>
                          <a:latin typeface="Calibri"/>
                        </a:rPr>
                        <a:t>barqaror identifikatorli Pod'lar</a:t>
                      </a:r>
                    </a:p>
                  </a:txBody>
                  <a:tcPr>
                    <a:solidFill>
                      <a:srgbClr val="F1F4F8"/>
                    </a:solidFill>
                  </a:tcPr>
                </a:tc>
                <a:tc>
                  <a:txBody>
                    <a:bodyPr/>
                    <a:lstStyle/>
                    <a:p>
                      <a:r>
                        <a:rPr sz="1000" b="0">
                          <a:solidFill>
                            <a:srgbClr val="1B2430"/>
                          </a:solidFill>
                          <a:latin typeface="Calibri"/>
                        </a:rPr>
                        <a:t>vektor bazalar, parametr serverlari</a:t>
                      </a:r>
                    </a:p>
                  </a:txBody>
                  <a:tcPr>
                    <a:solidFill>
                      <a:srgbClr val="F1F4F8"/>
                    </a:solidFill>
                  </a:tcPr>
                </a:tc>
              </a:tr>
              <a:tr h="520000">
                <a:tc>
                  <a:txBody>
                    <a:bodyPr/>
                    <a:lstStyle/>
                    <a:p>
                      <a:r>
                        <a:rPr sz="1000" b="0">
                          <a:solidFill>
                            <a:srgbClr val="1B2430"/>
                          </a:solidFill>
                          <a:latin typeface="Calibri"/>
                        </a:rPr>
                        <a:t>PersistentVolume(Claim)</a:t>
                      </a:r>
                    </a:p>
                  </a:txBody>
                  <a:tcPr>
                    <a:solidFill>
                      <a:srgbClr val="FFFFFF"/>
                    </a:solidFill>
                  </a:tcPr>
                </a:tc>
                <a:tc>
                  <a:txBody>
                    <a:bodyPr/>
                    <a:lstStyle/>
                    <a:p>
                      <a:r>
                        <a:rPr sz="1000" b="0">
                          <a:solidFill>
                            <a:srgbClr val="1B2430"/>
                          </a:solidFill>
                          <a:latin typeface="Calibri"/>
                        </a:rPr>
                        <a:t>saqlash</a:t>
                      </a:r>
                    </a:p>
                  </a:txBody>
                  <a:tcPr>
                    <a:solidFill>
                      <a:srgbClr val="FFFFFF"/>
                    </a:solidFill>
                  </a:tcPr>
                </a:tc>
                <a:tc>
                  <a:txBody>
                    <a:bodyPr/>
                    <a:lstStyle/>
                    <a:p>
                      <a:r>
                        <a:rPr sz="1000" b="0">
                          <a:solidFill>
                            <a:srgbClr val="1B2430"/>
                          </a:solidFill>
                          <a:latin typeface="Calibri"/>
                        </a:rPr>
                        <a:t>ma'lumotlar to'plami, nazorat nuqtalari</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Kubernetes: orkestratsiya va GPU rejalashtirish (davomi)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graphicFrame>
        <p:nvGraphicFramePr>
          <p:cNvPr id="10" name="Table 9"/>
          <p:cNvGraphicFramePr>
            <a:graphicFrameLocks noGrp="1"/>
          </p:cNvGraphicFramePr>
          <p:nvPr/>
        </p:nvGraphicFramePr>
        <p:xfrm>
          <a:off x="500000" y="1350000"/>
          <a:ext cx="11200000" cy="156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000" b="1">
                          <a:solidFill>
                            <a:srgbClr val="FFFFFF"/>
                          </a:solidFill>
                          <a:latin typeface="Calibri"/>
                        </a:rPr>
                        <a:t>Obyekt</a:t>
                      </a:r>
                    </a:p>
                  </a:txBody>
                  <a:tcPr>
                    <a:solidFill>
                      <a:srgbClr val="2D5C8F"/>
                    </a:solidFill>
                  </a:tcPr>
                </a:tc>
                <a:tc>
                  <a:txBody>
                    <a:bodyPr/>
                    <a:lstStyle/>
                    <a:p>
                      <a:r>
                        <a:rPr sz="1000" b="1">
                          <a:solidFill>
                            <a:srgbClr val="FFFFFF"/>
                          </a:solidFill>
                          <a:latin typeface="Calibri"/>
                        </a:rPr>
                        <a:t>Vazifasi</a:t>
                      </a:r>
                    </a:p>
                  </a:txBody>
                  <a:tcPr>
                    <a:solidFill>
                      <a:srgbClr val="2D5C8F"/>
                    </a:solidFill>
                  </a:tcPr>
                </a:tc>
                <a:tc>
                  <a:txBody>
                    <a:bodyPr/>
                    <a:lstStyle/>
                    <a:p>
                      <a:r>
                        <a:rPr sz="1000" b="1">
                          <a:solidFill>
                            <a:srgbClr val="FFFFFF"/>
                          </a:solidFill>
                          <a:latin typeface="Calibri"/>
                        </a:rPr>
                        <a:t>AI kontekstida</a:t>
                      </a:r>
                    </a:p>
                  </a:txBody>
                  <a:tcPr>
                    <a:solidFill>
                      <a:srgbClr val="2D5C8F"/>
                    </a:solidFill>
                  </a:tcPr>
                </a:tc>
              </a:tr>
              <a:tr h="520000">
                <a:tc>
                  <a:txBody>
                    <a:bodyPr/>
                    <a:lstStyle/>
                    <a:p>
                      <a:r>
                        <a:rPr sz="1000" b="0">
                          <a:solidFill>
                            <a:srgbClr val="1B2430"/>
                          </a:solidFill>
                          <a:latin typeface="Calibri"/>
                        </a:rPr>
                        <a:t>ConfigMap / Secret</a:t>
                      </a:r>
                    </a:p>
                  </a:txBody>
                  <a:tcPr>
                    <a:solidFill>
                      <a:srgbClr val="F1F4F8"/>
                    </a:solidFill>
                  </a:tcPr>
                </a:tc>
                <a:tc>
                  <a:txBody>
                    <a:bodyPr/>
                    <a:lstStyle/>
                    <a:p>
                      <a:r>
                        <a:rPr sz="1000" b="0">
                          <a:solidFill>
                            <a:srgbClr val="1B2430"/>
                          </a:solidFill>
                          <a:latin typeface="Calibri"/>
                        </a:rPr>
                        <a:t>konfiguratsiya va sirlar</a:t>
                      </a:r>
                    </a:p>
                  </a:txBody>
                  <a:tcPr>
                    <a:solidFill>
                      <a:srgbClr val="F1F4F8"/>
                    </a:solidFill>
                  </a:tcPr>
                </a:tc>
                <a:tc>
                  <a:txBody>
                    <a:bodyPr/>
                    <a:lstStyle/>
                    <a:p>
                      <a:r>
                        <a:rPr sz="1000" b="0">
                          <a:solidFill>
                            <a:srgbClr val="1B2430"/>
                          </a:solidFill>
                          <a:latin typeface="Calibri"/>
                        </a:rPr>
                        <a:t>model yo'li, API kalitlari</a:t>
                      </a:r>
                    </a:p>
                  </a:txBody>
                  <a:tcPr>
                    <a:solidFill>
                      <a:srgbClr val="F1F4F8"/>
                    </a:solidFill>
                  </a:tcPr>
                </a:tc>
              </a:tr>
              <a:tr h="520000">
                <a:tc>
                  <a:txBody>
                    <a:bodyPr/>
                    <a:lstStyle/>
                    <a:p>
                      <a:r>
                        <a:rPr sz="1000" b="0">
                          <a:solidFill>
                            <a:srgbClr val="1B2430"/>
                          </a:solidFill>
                          <a:latin typeface="Calibri"/>
                        </a:rPr>
                        <a:t>Namespace / ResourceQuota</a:t>
                      </a:r>
                    </a:p>
                  </a:txBody>
                  <a:tcPr>
                    <a:solidFill>
                      <a:srgbClr val="FFFFFF"/>
                    </a:solidFill>
                  </a:tcPr>
                </a:tc>
                <a:tc>
                  <a:txBody>
                    <a:bodyPr/>
                    <a:lstStyle/>
                    <a:p>
                      <a:r>
                        <a:rPr sz="1000" b="0">
                          <a:solidFill>
                            <a:srgbClr val="1B2430"/>
                          </a:solidFill>
                          <a:latin typeface="Calibri"/>
                        </a:rPr>
                        <a:t>mantiqiy ajratish va kvota</a:t>
                      </a:r>
                    </a:p>
                  </a:txBody>
                  <a:tcPr>
                    <a:solidFill>
                      <a:srgbClr val="FFFFFF"/>
                    </a:solidFill>
                  </a:tcPr>
                </a:tc>
                <a:tc>
                  <a:txBody>
                    <a:bodyPr/>
                    <a:lstStyle/>
                    <a:p>
                      <a:r>
                        <a:rPr sz="1000" b="0">
                          <a:solidFill>
                            <a:srgbClr val="1B2430"/>
                          </a:solidFill>
                          <a:latin typeface="Calibri"/>
                        </a:rPr>
                        <a:t>jamoalar o'rtasida GPU'ni bo'lish</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860a108d71c06200.jpg"/>
          <p:cNvPicPr>
            <a:picLocks noChangeAspect="1"/>
          </p:cNvPicPr>
          <p:nvPr/>
        </p:nvPicPr>
        <p:blipFill>
          <a:blip r:embed="rId2"/>
          <a:srcRect t="6352" b="635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Carlo Nardone from Roma, Italy · Wikimedia Commons · CC BY-SA 2.0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04</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Ray va Kubeflow platformalari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4-REJA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Ray va Kubeflow platformalari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1541824"/>
            <a:ext cx="11100000" cy="1034088"/>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541824"/>
            <a:ext cx="70000" cy="1034088"/>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848868"/>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581824"/>
            <a:ext cx="10150000" cy="954088"/>
          </a:xfrm>
          <a:prstGeom prst="rect">
            <a:avLst/>
          </a:prstGeom>
          <a:noFill/>
        </p:spPr>
        <p:txBody>
          <a:bodyPr wrap="square" anchor="ctr">
            <a:spAutoFit/>
          </a:bodyPr>
          <a:lstStyle/>
          <a:p>
            <a:r>
              <a:rPr sz="1500" b="1">
                <a:solidFill>
                  <a:srgbClr val="1F3A5F"/>
                </a:solidFill>
                <a:latin typeface="Calibri"/>
              </a:rPr>
              <a:t>Kubernetes umumiy maqsadli orkestrator; u «ushbu 64 GPU'da PyTorch DDP o'qitishini boshla» yoki «giperparametrlarni Bayes usulida qidir» degan tushunchalarni bilmaydi.</a:t>
            </a:r>
          </a:p>
          <a:p>
            <a:pPr>
              <a:spcBef>
                <a:spcPts val="400"/>
              </a:spcBef>
            </a:pPr>
            <a:r>
              <a:rPr sz="1400">
                <a:solidFill>
                  <a:srgbClr val="334055"/>
                </a:solidFill>
                <a:latin typeface="Calibri"/>
              </a:rPr>
              <a:t>Shu bo'shliqni AI platformalari to'ldiradi.</a:t>
            </a:r>
          </a:p>
        </p:txBody>
      </p:sp>
      <p:sp>
        <p:nvSpPr>
          <p:cNvPr id="14" name="Rounded Rectangle 13"/>
          <p:cNvSpPr/>
          <p:nvPr/>
        </p:nvSpPr>
        <p:spPr>
          <a:xfrm>
            <a:off x="550000" y="2685912"/>
            <a:ext cx="11100000" cy="1034088"/>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685912"/>
            <a:ext cx="70000" cy="103408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992956"/>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725912"/>
            <a:ext cx="10150000" cy="954088"/>
          </a:xfrm>
          <a:prstGeom prst="rect">
            <a:avLst/>
          </a:prstGeom>
          <a:noFill/>
        </p:spPr>
        <p:txBody>
          <a:bodyPr wrap="square" anchor="ctr">
            <a:spAutoFit/>
          </a:bodyPr>
          <a:lstStyle/>
          <a:p>
            <a:r>
              <a:rPr sz="1500" b="1">
                <a:solidFill>
                  <a:srgbClr val="1F3A5F"/>
                </a:solidFill>
                <a:latin typeface="Calibri"/>
              </a:rPr>
              <a:t>Ray — Python uchun taqsimlangan hisoblash freymvorki.</a:t>
            </a:r>
          </a:p>
          <a:p>
            <a:pPr>
              <a:spcBef>
                <a:spcPts val="400"/>
              </a:spcBef>
            </a:pPr>
            <a:r>
              <a:rPr sz="1400">
                <a:solidFill>
                  <a:srgbClr val="334055"/>
                </a:solidFill>
                <a:latin typeface="Calibri"/>
              </a:rPr>
              <a:t>Uning yadrosi ikkita primitivga tayanadi: @ray.remote funksiyalar (holatsiz vazifalar) va aktorlar (holatli ob'ektlar); ular klasterdagi istalgan tugunda bajariladi, natijalar taqsimlangan ob'ekt omborida saqlanadi.</a:t>
            </a:r>
          </a:p>
        </p:txBody>
      </p:sp>
      <p:sp>
        <p:nvSpPr>
          <p:cNvPr id="18" name="Rounded Rectangle 17"/>
          <p:cNvSpPr/>
          <p:nvPr/>
        </p:nvSpPr>
        <p:spPr>
          <a:xfrm>
            <a:off x="550000" y="3830000"/>
            <a:ext cx="11100000" cy="1034088"/>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0000"/>
            <a:ext cx="70000" cy="1034088"/>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4137044"/>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870000"/>
            <a:ext cx="10150000" cy="954088"/>
          </a:xfrm>
          <a:prstGeom prst="rect">
            <a:avLst/>
          </a:prstGeom>
          <a:noFill/>
        </p:spPr>
        <p:txBody>
          <a:bodyPr wrap="square" anchor="ctr">
            <a:spAutoFit/>
          </a:bodyPr>
          <a:lstStyle/>
          <a:p>
            <a:r>
              <a:rPr sz="1500" b="1">
                <a:solidFill>
                  <a:srgbClr val="1F3A5F"/>
                </a:solidFill>
                <a:latin typeface="Calibri"/>
              </a:rPr>
              <a:t>Kubeflow — Kubernetes'da ML ish oqimlari uchun komponentlar to'plami.</a:t>
            </a:r>
          </a:p>
          <a:p>
            <a:pPr>
              <a:spcBef>
                <a:spcPts val="400"/>
              </a:spcBef>
            </a:pPr>
            <a:r>
              <a:rPr sz="1400">
                <a:solidFill>
                  <a:srgbClr val="334055"/>
                </a:solidFill>
                <a:latin typeface="Calibri"/>
              </a:rPr>
              <a:t>Kubeflow Pipelines — quvurlarni (ma'lumot tayyorlash → o'qitish → baholash → ro'yxatga olish) DAG sifatida aniqlash, har qadam alohida konteynerda, artefaktlar kuzatuvi va takroriy ishga tushirish bilan.</a:t>
            </a:r>
          </a:p>
        </p:txBody>
      </p:sp>
      <p:sp>
        <p:nvSpPr>
          <p:cNvPr id="22" name="Rounded Rectangle 21"/>
          <p:cNvSpPr/>
          <p:nvPr/>
        </p:nvSpPr>
        <p:spPr>
          <a:xfrm>
            <a:off x="550000" y="4974088"/>
            <a:ext cx="11100000" cy="1034088"/>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974088"/>
            <a:ext cx="70000" cy="1034088"/>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5281132"/>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5014088"/>
            <a:ext cx="10150000" cy="954088"/>
          </a:xfrm>
          <a:prstGeom prst="rect">
            <a:avLst/>
          </a:prstGeom>
          <a:noFill/>
        </p:spPr>
        <p:txBody>
          <a:bodyPr wrap="square" anchor="ctr">
            <a:spAutoFit/>
          </a:bodyPr>
          <a:lstStyle/>
          <a:p>
            <a:r>
              <a:rPr sz="1400" b="0">
                <a:solidFill>
                  <a:srgbClr val="1B2430"/>
                </a:solidFill>
                <a:latin typeface="Calibri"/>
              </a:rPr>
              <a:t>Amalda ikkalasi raqobatchi emas, qatlamdosh: Kubeflow Pipelines qadamining ichida Ray klasteri ishga tushirilishi mumkin; KServe orqasida Ray Serve ishlashi mumkin.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4-REJA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Ray va Kubeflow platformalari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graphicFrame>
        <p:nvGraphicFramePr>
          <p:cNvPr id="10" name="Table 9"/>
          <p:cNvGraphicFramePr>
            <a:graphicFrameLocks noGrp="1"/>
          </p:cNvGraphicFramePr>
          <p:nvPr/>
        </p:nvGraphicFramePr>
        <p:xfrm>
          <a:off x="500000" y="1350000"/>
          <a:ext cx="11200000" cy="416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200" b="1">
                          <a:solidFill>
                            <a:srgbClr val="FFFFFF"/>
                          </a:solidFill>
                          <a:latin typeface="Calibri"/>
                        </a:rPr>
                        <a:t>Mezon</a:t>
                      </a:r>
                    </a:p>
                  </a:txBody>
                  <a:tcPr>
                    <a:solidFill>
                      <a:srgbClr val="2D5C8F"/>
                    </a:solidFill>
                  </a:tcPr>
                </a:tc>
                <a:tc>
                  <a:txBody>
                    <a:bodyPr/>
                    <a:lstStyle/>
                    <a:p>
                      <a:r>
                        <a:rPr sz="1200" b="1">
                          <a:solidFill>
                            <a:srgbClr val="FFFFFF"/>
                          </a:solidFill>
                          <a:latin typeface="Calibri"/>
                        </a:rPr>
                        <a:t>Ray</a:t>
                      </a:r>
                    </a:p>
                  </a:txBody>
                  <a:tcPr>
                    <a:solidFill>
                      <a:srgbClr val="2D5C8F"/>
                    </a:solidFill>
                  </a:tcPr>
                </a:tc>
                <a:tc>
                  <a:txBody>
                    <a:bodyPr/>
                    <a:lstStyle/>
                    <a:p>
                      <a:r>
                        <a:rPr sz="1200" b="1">
                          <a:solidFill>
                            <a:srgbClr val="FFFFFF"/>
                          </a:solidFill>
                          <a:latin typeface="Calibri"/>
                        </a:rPr>
                        <a:t>Kubeflow</a:t>
                      </a:r>
                    </a:p>
                  </a:txBody>
                  <a:tcPr>
                    <a:solidFill>
                      <a:srgbClr val="2D5C8F"/>
                    </a:solidFill>
                  </a:tcPr>
                </a:tc>
              </a:tr>
              <a:tr h="520000">
                <a:tc>
                  <a:txBody>
                    <a:bodyPr/>
                    <a:lstStyle/>
                    <a:p>
                      <a:r>
                        <a:rPr sz="1200" b="0">
                          <a:solidFill>
                            <a:srgbClr val="1B2430"/>
                          </a:solidFill>
                          <a:latin typeface="Calibri"/>
                        </a:rPr>
                        <a:t>Abstraksiya darajasi</a:t>
                      </a:r>
                    </a:p>
                  </a:txBody>
                  <a:tcPr>
                    <a:solidFill>
                      <a:srgbClr val="F1F4F8"/>
                    </a:solidFill>
                  </a:tcPr>
                </a:tc>
                <a:tc>
                  <a:txBody>
                    <a:bodyPr/>
                    <a:lstStyle/>
                    <a:p>
                      <a:r>
                        <a:rPr sz="1200" b="0">
                          <a:solidFill>
                            <a:srgbClr val="1B2430"/>
                          </a:solidFill>
                          <a:latin typeface="Calibri"/>
                        </a:rPr>
                        <a:t>Python API (vazifa, aktor)</a:t>
                      </a:r>
                    </a:p>
                  </a:txBody>
                  <a:tcPr>
                    <a:solidFill>
                      <a:srgbClr val="F1F4F8"/>
                    </a:solidFill>
                  </a:tcPr>
                </a:tc>
                <a:tc>
                  <a:txBody>
                    <a:bodyPr/>
                    <a:lstStyle/>
                    <a:p>
                      <a:r>
                        <a:rPr sz="1200" b="0">
                          <a:solidFill>
                            <a:srgbClr val="1B2430"/>
                          </a:solidFill>
                          <a:latin typeface="Calibri"/>
                        </a:rPr>
                        <a:t>Kubernetes resurslari (YAML, CRD)</a:t>
                      </a:r>
                    </a:p>
                  </a:txBody>
                  <a:tcPr>
                    <a:solidFill>
                      <a:srgbClr val="F1F4F8"/>
                    </a:solidFill>
                  </a:tcPr>
                </a:tc>
              </a:tr>
              <a:tr h="520000">
                <a:tc>
                  <a:txBody>
                    <a:bodyPr/>
                    <a:lstStyle/>
                    <a:p>
                      <a:r>
                        <a:rPr sz="1200" b="0">
                          <a:solidFill>
                            <a:srgbClr val="1B2430"/>
                          </a:solidFill>
                          <a:latin typeface="Calibri"/>
                        </a:rPr>
                        <a:t>Kirish to'sig'i</a:t>
                      </a:r>
                    </a:p>
                  </a:txBody>
                  <a:tcPr>
                    <a:solidFill>
                      <a:srgbClr val="FFFFFF"/>
                    </a:solidFill>
                  </a:tcPr>
                </a:tc>
                <a:tc>
                  <a:txBody>
                    <a:bodyPr/>
                    <a:lstStyle/>
                    <a:p>
                      <a:r>
                        <a:rPr sz="1200" b="0">
                          <a:solidFill>
                            <a:srgbClr val="1B2430"/>
                          </a:solidFill>
                          <a:latin typeface="Calibri"/>
                        </a:rPr>
                        <a:t>Python bilsa yetarli</a:t>
                      </a:r>
                    </a:p>
                  </a:txBody>
                  <a:tcPr>
                    <a:solidFill>
                      <a:srgbClr val="FFFFFF"/>
                    </a:solidFill>
                  </a:tcPr>
                </a:tc>
                <a:tc>
                  <a:txBody>
                    <a:bodyPr/>
                    <a:lstStyle/>
                    <a:p>
                      <a:r>
                        <a:rPr sz="1200" b="0">
                          <a:solidFill>
                            <a:srgbClr val="1B2430"/>
                          </a:solidFill>
                          <a:latin typeface="Calibri"/>
                        </a:rPr>
                        <a:t>K8s bilimi talab qilinadi</a:t>
                      </a:r>
                    </a:p>
                  </a:txBody>
                  <a:tcPr>
                    <a:solidFill>
                      <a:srgbClr val="FFFFFF"/>
                    </a:solidFill>
                  </a:tcPr>
                </a:tc>
              </a:tr>
              <a:tr h="520000">
                <a:tc>
                  <a:txBody>
                    <a:bodyPr/>
                    <a:lstStyle/>
                    <a:p>
                      <a:r>
                        <a:rPr sz="1200" b="0">
                          <a:solidFill>
                            <a:srgbClr val="1B2430"/>
                          </a:solidFill>
                          <a:latin typeface="Calibri"/>
                        </a:rPr>
                        <a:t>Taqsimlangan o'qitish</a:t>
                      </a:r>
                    </a:p>
                  </a:txBody>
                  <a:tcPr>
                    <a:solidFill>
                      <a:srgbClr val="F1F4F8"/>
                    </a:solidFill>
                  </a:tcPr>
                </a:tc>
                <a:tc>
                  <a:txBody>
                    <a:bodyPr/>
                    <a:lstStyle/>
                    <a:p>
                      <a:r>
                        <a:rPr sz="1200" b="0">
                          <a:solidFill>
                            <a:srgbClr val="1B2430"/>
                          </a:solidFill>
                          <a:latin typeface="Calibri"/>
                        </a:rPr>
                        <a:t>Ray Train (DDP/FSDP/DeepSpeed)</a:t>
                      </a:r>
                    </a:p>
                  </a:txBody>
                  <a:tcPr>
                    <a:solidFill>
                      <a:srgbClr val="F1F4F8"/>
                    </a:solidFill>
                  </a:tcPr>
                </a:tc>
                <a:tc>
                  <a:txBody>
                    <a:bodyPr/>
                    <a:lstStyle/>
                    <a:p>
                      <a:r>
                        <a:rPr sz="1200" b="0">
                          <a:solidFill>
                            <a:srgbClr val="1B2430"/>
                          </a:solidFill>
                          <a:latin typeface="Calibri"/>
                        </a:rPr>
                        <a:t>Training Operator (PyTorchJob)</a:t>
                      </a:r>
                    </a:p>
                  </a:txBody>
                  <a:tcPr>
                    <a:solidFill>
                      <a:srgbClr val="F1F4F8"/>
                    </a:solidFill>
                  </a:tcPr>
                </a:tc>
              </a:tr>
              <a:tr h="520000">
                <a:tc>
                  <a:txBody>
                    <a:bodyPr/>
                    <a:lstStyle/>
                    <a:p>
                      <a:r>
                        <a:rPr sz="1200" b="0">
                          <a:solidFill>
                            <a:srgbClr val="1B2430"/>
                          </a:solidFill>
                          <a:latin typeface="Calibri"/>
                        </a:rPr>
                        <a:t>Xizmat</a:t>
                      </a:r>
                    </a:p>
                  </a:txBody>
                  <a:tcPr>
                    <a:solidFill>
                      <a:srgbClr val="FFFFFF"/>
                    </a:solidFill>
                  </a:tcPr>
                </a:tc>
                <a:tc>
                  <a:txBody>
                    <a:bodyPr/>
                    <a:lstStyle/>
                    <a:p>
                      <a:r>
                        <a:rPr sz="1200" b="0">
                          <a:solidFill>
                            <a:srgbClr val="1B2430"/>
                          </a:solidFill>
                          <a:latin typeface="Calibri"/>
                        </a:rPr>
                        <a:t>Ray Serve (Python graflar)</a:t>
                      </a:r>
                    </a:p>
                  </a:txBody>
                  <a:tcPr>
                    <a:solidFill>
                      <a:srgbClr val="FFFFFF"/>
                    </a:solidFill>
                  </a:tcPr>
                </a:tc>
                <a:tc>
                  <a:txBody>
                    <a:bodyPr/>
                    <a:lstStyle/>
                    <a:p>
                      <a:r>
                        <a:rPr sz="1200" b="0">
                          <a:solidFill>
                            <a:srgbClr val="1B2430"/>
                          </a:solidFill>
                          <a:latin typeface="Calibri"/>
                        </a:rPr>
                        <a:t>KServe (deklarativ, serverless)</a:t>
                      </a:r>
                    </a:p>
                  </a:txBody>
                  <a:tcPr>
                    <a:solidFill>
                      <a:srgbClr val="FFFFFF"/>
                    </a:solidFill>
                  </a:tcPr>
                </a:tc>
              </a:tr>
              <a:tr h="520000">
                <a:tc>
                  <a:txBody>
                    <a:bodyPr/>
                    <a:lstStyle/>
                    <a:p>
                      <a:r>
                        <a:rPr sz="1200" b="0">
                          <a:solidFill>
                            <a:srgbClr val="1B2430"/>
                          </a:solidFill>
                          <a:latin typeface="Calibri"/>
                        </a:rPr>
                        <a:t>Quvurlar</a:t>
                      </a:r>
                    </a:p>
                  </a:txBody>
                  <a:tcPr>
                    <a:solidFill>
                      <a:srgbClr val="F1F4F8"/>
                    </a:solidFill>
                  </a:tcPr>
                </a:tc>
                <a:tc>
                  <a:txBody>
                    <a:bodyPr/>
                    <a:lstStyle/>
                    <a:p>
                      <a:r>
                        <a:rPr sz="1200" b="0">
                          <a:solidFill>
                            <a:srgbClr val="1B2430"/>
                          </a:solidFill>
                          <a:latin typeface="Calibri"/>
                        </a:rPr>
                        <a:t>Ray Workflows / tashqi</a:t>
                      </a:r>
                    </a:p>
                  </a:txBody>
                  <a:tcPr>
                    <a:solidFill>
                      <a:srgbClr val="F1F4F8"/>
                    </a:solidFill>
                  </a:tcPr>
                </a:tc>
                <a:tc>
                  <a:txBody>
                    <a:bodyPr/>
                    <a:lstStyle/>
                    <a:p>
                      <a:r>
                        <a:rPr sz="1200" b="0">
                          <a:solidFill>
                            <a:srgbClr val="1B2430"/>
                          </a:solidFill>
                          <a:latin typeface="Calibri"/>
                        </a:rPr>
                        <a:t>Kubeflow Pipelines (asosiy kuch)</a:t>
                      </a:r>
                    </a:p>
                  </a:txBody>
                  <a:tcPr>
                    <a:solidFill>
                      <a:srgbClr val="F1F4F8"/>
                    </a:solidFill>
                  </a:tcPr>
                </a:tc>
              </a:tr>
              <a:tr h="520000">
                <a:tc>
                  <a:txBody>
                    <a:bodyPr/>
                    <a:lstStyle/>
                    <a:p>
                      <a:r>
                        <a:rPr sz="1200" b="0">
                          <a:solidFill>
                            <a:srgbClr val="1B2430"/>
                          </a:solidFill>
                          <a:latin typeface="Calibri"/>
                        </a:rPr>
                        <a:t>Ko'p ijarachilik va kvota</a:t>
                      </a:r>
                    </a:p>
                  </a:txBody>
                  <a:tcPr>
                    <a:solidFill>
                      <a:srgbClr val="FFFFFF"/>
                    </a:solidFill>
                  </a:tcPr>
                </a:tc>
                <a:tc>
                  <a:txBody>
                    <a:bodyPr/>
                    <a:lstStyle/>
                    <a:p>
                      <a:r>
                        <a:rPr sz="1200" b="0">
                          <a:solidFill>
                            <a:srgbClr val="1B2430"/>
                          </a:solidFill>
                          <a:latin typeface="Calibri"/>
                        </a:rPr>
                        <a:t>KubeRay orqali K8s'ga tayanadi</a:t>
                      </a:r>
                    </a:p>
                  </a:txBody>
                  <a:tcPr>
                    <a:solidFill>
                      <a:srgbClr val="FFFFFF"/>
                    </a:solidFill>
                  </a:tcPr>
                </a:tc>
                <a:tc>
                  <a:txBody>
                    <a:bodyPr/>
                    <a:lstStyle/>
                    <a:p>
                      <a:r>
                        <a:rPr sz="1200" b="0">
                          <a:solidFill>
                            <a:srgbClr val="1B2430"/>
                          </a:solidFill>
                          <a:latin typeface="Calibri"/>
                        </a:rPr>
                        <a:t>K8s namespace/quota bilan tabiiy</a:t>
                      </a:r>
                    </a:p>
                  </a:txBody>
                  <a:tcPr>
                    <a:solidFill>
                      <a:srgbClr val="FFFFFF"/>
                    </a:solidFill>
                  </a:tcPr>
                </a:tc>
              </a:tr>
              <a:tr h="520000">
                <a:tc>
                  <a:txBody>
                    <a:bodyPr/>
                    <a:lstStyle/>
                    <a:p>
                      <a:r>
                        <a:rPr sz="1200" b="0">
                          <a:solidFill>
                            <a:srgbClr val="1B2430"/>
                          </a:solidFill>
                          <a:latin typeface="Calibri"/>
                        </a:rPr>
                        <a:t>Tipik foydalanuvchi</a:t>
                      </a:r>
                    </a:p>
                  </a:txBody>
                  <a:tcPr>
                    <a:solidFill>
                      <a:srgbClr val="F1F4F8"/>
                    </a:solidFill>
                  </a:tcPr>
                </a:tc>
                <a:tc>
                  <a:txBody>
                    <a:bodyPr/>
                    <a:lstStyle/>
                    <a:p>
                      <a:r>
                        <a:rPr sz="1200" b="0">
                          <a:solidFill>
                            <a:srgbClr val="1B2430"/>
                          </a:solidFill>
                          <a:latin typeface="Calibri"/>
                        </a:rPr>
                        <a:t>tadqiqot va mahsulot jamoasi, tez iteratsiya</a:t>
                      </a:r>
                    </a:p>
                  </a:txBody>
                  <a:tcPr>
                    <a:solidFill>
                      <a:srgbClr val="F1F4F8"/>
                    </a:solidFill>
                  </a:tcPr>
                </a:tc>
                <a:tc>
                  <a:txBody>
                    <a:bodyPr/>
                    <a:lstStyle/>
                    <a:p>
                      <a:r>
                        <a:rPr sz="1200" b="0">
                          <a:solidFill>
                            <a:srgbClr val="1B2430"/>
                          </a:solidFill>
                          <a:latin typeface="Calibri"/>
                        </a:rPr>
                        <a:t>platforma jamoasi, standartlashgan MLOps</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08e34ea7fcacdfdb.jpg"/>
          <p:cNvPicPr>
            <a:picLocks noChangeAspect="1"/>
          </p:cNvPicPr>
          <p:nvPr/>
        </p:nvPicPr>
        <p:blipFill>
          <a:blip r:embed="rId2"/>
          <a:srcRect l="25837" r="25837"/>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Lawrence Systems · Wikimedia Commons · CC BY 3.0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05</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Taqsimlangan o'qitish va inferens jarayonlarini klasterda boshqarish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5-REJA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Taqsimlangan o'qitish va inferens jarayonlarini klasterda boshqarish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10" name="Rounded Rectangle 9"/>
          <p:cNvSpPr/>
          <p:nvPr/>
        </p:nvSpPr>
        <p:spPr>
          <a:xfrm>
            <a:off x="550000" y="320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3200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270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3240000"/>
            <a:ext cx="10150000" cy="440000"/>
          </a:xfrm>
          <a:prstGeom prst="rect">
            <a:avLst/>
          </a:prstGeom>
          <a:noFill/>
        </p:spPr>
        <p:txBody>
          <a:bodyPr wrap="square" anchor="ctr">
            <a:spAutoFit/>
          </a:bodyPr>
          <a:lstStyle/>
          <a:p>
            <a:r>
              <a:rPr sz="1600" b="0">
                <a:solidFill>
                  <a:srgbClr val="1B2430"/>
                </a:solidFill>
                <a:latin typeface="Calibri"/>
              </a:rPr>
              <a:t>M3 mavzusida ma'lumot, tensor va quvur parallelligi algoritmik jihatdan ko'rilgan edi; bu yerda ularning klaster darajasidagi talablari muhim.</a:t>
            </a:r>
          </a:p>
        </p:txBody>
      </p:sp>
      <p:sp>
        <p:nvSpPr>
          <p:cNvPr id="14" name="Rounded Rectangle 13"/>
          <p:cNvSpPr/>
          <p:nvPr/>
        </p:nvSpPr>
        <p:spPr>
          <a:xfrm>
            <a:off x="550000" y="383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900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440000"/>
          </a:xfrm>
          <a:prstGeom prst="rect">
            <a:avLst/>
          </a:prstGeom>
          <a:noFill/>
        </p:spPr>
        <p:txBody>
          <a:bodyPr wrap="square" anchor="ctr">
            <a:spAutoFit/>
          </a:bodyPr>
          <a:lstStyle/>
          <a:p>
            <a:r>
              <a:rPr sz="1600" b="0">
                <a:solidFill>
                  <a:srgbClr val="1B2430"/>
                </a:solidFill>
                <a:latin typeface="Calibri"/>
              </a:rPr>
              <a:t>Inferens xizmati esa boshqa talablar bilan: kechikish p99 va narx muvozanati; dinamik to'plash (dynamic batching) — bir necha millisekund ichida kelgan so'rovlarni bitta partiyaga yig'ish (Triton, Ray Serve, vLLM'da continuous batching); bir GPU'da bir nechta…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1bd7624a92ff021.jpg"/>
          <p:cNvPicPr>
            <a:picLocks noChangeAspect="1"/>
          </p:cNvPicPr>
          <p:nvPr/>
        </p:nvPicPr>
        <p:blipFill>
          <a:blip r:embed="rId2"/>
          <a:srcRect l="20220" r="20220"/>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Pratik89Roy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06</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Bulutli AI xizmatlarini loyihalash tamoyillari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6-REJA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Bulutli AI xizmatlarini loyihalash tamoyillari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10" name="Rounded Rectangle 9"/>
          <p:cNvSpPr/>
          <p:nvPr/>
        </p:nvSpPr>
        <p:spPr>
          <a:xfrm>
            <a:off x="550000" y="21327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132700"/>
            <a:ext cx="70000" cy="15873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71635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172700"/>
            <a:ext cx="10150000" cy="1507300"/>
          </a:xfrm>
          <a:prstGeom prst="rect">
            <a:avLst/>
          </a:prstGeom>
          <a:noFill/>
        </p:spPr>
        <p:txBody>
          <a:bodyPr wrap="square" anchor="ctr">
            <a:spAutoFit/>
          </a:bodyPr>
          <a:lstStyle/>
          <a:p>
            <a:r>
              <a:rPr sz="1600" b="1">
                <a:solidFill>
                  <a:srgbClr val="1F3A5F"/>
                </a:solidFill>
                <a:latin typeface="Calibri"/>
              </a:rPr>
              <a:t>Loyihalashda to'rtta savol markaziy.</a:t>
            </a:r>
          </a:p>
          <a:p>
            <a:pPr>
              <a:spcBef>
                <a:spcPts val="400"/>
              </a:spcBef>
            </a:pPr>
            <a:r>
              <a:rPr sz="1500">
                <a:solidFill>
                  <a:srgbClr val="334055"/>
                </a:solidFill>
                <a:latin typeface="Calibri"/>
              </a:rPr>
              <a:t>Birinchisi — hisoblash birligi: bitta so'rov qancha GPU-millisekund oladi? Bundan narx (so'rov boshiga) va kerakli nusxa soni kelib chiqadi. Ikkinchisi — masshtablash signali va tezligi: GPU tugun 3 daqiqada ko'tariladi, demak kutilgan yuklama o'sishi oldindan prognoz qilinishi yoki zaxira nusxa saqlanishi kerak.</a:t>
            </a:r>
          </a:p>
        </p:txBody>
      </p:sp>
      <p:sp>
        <p:nvSpPr>
          <p:cNvPr id="14" name="Rounded Rectangle 13"/>
          <p:cNvSpPr/>
          <p:nvPr/>
        </p:nvSpPr>
        <p:spPr>
          <a:xfrm>
            <a:off x="550000" y="38300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5873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41365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507300"/>
          </a:xfrm>
          <a:prstGeom prst="rect">
            <a:avLst/>
          </a:prstGeom>
          <a:noFill/>
        </p:spPr>
        <p:txBody>
          <a:bodyPr wrap="square" anchor="ctr">
            <a:spAutoFit/>
          </a:bodyPr>
          <a:lstStyle/>
          <a:p>
            <a:r>
              <a:rPr sz="1600" b="1">
                <a:solidFill>
                  <a:srgbClr val="1F3A5F"/>
                </a:solidFill>
                <a:latin typeface="Calibri"/>
              </a:rPr>
              <a:t>Narx optimallashtirishning amaliy vositalari: spot/preemptible instanslar o'qitish va paketli inferens uchun (60–90 foiz arzon, lekin to'satdan olib qo'yilishi mumkin — nazorat nuqtalari shart); MIG va time-slicing kichik modellar uchun; avtomatik…</a:t>
            </a:r>
          </a:p>
          <a:p>
            <a:pPr>
              <a:spcBef>
                <a:spcPts val="400"/>
              </a:spcBef>
            </a:pPr>
            <a:r>
              <a:rPr sz="1500">
                <a:solidFill>
                  <a:srgbClr val="334055"/>
                </a:solidFill>
                <a:latin typeface="Calibri"/>
              </a:rPr>
              <a:t>Energiya va uglerod izi ham tobora loyihalash mezoniga aylanmoqda: ma'lumot markazining PUE ko'rsatkichi, mintaqa tanlovi, yuklamani energiya arzon vaqtga siljitish.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https://aiscan.airi.uz/ktm/#/c/mis2104/mavzu/M7</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
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a:p/>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a:p/>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a:p/>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a:p/>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a:p/>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a:p/>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a:p/>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a:p/>
          <a:p>
            <a:r>
              <a:t>Inferens xizmati esa boshqa talablar bilan: kechikish p99 va narx muvozanati; dinamik to'plash (dynamic batching) — bir necha millisekund ichida kelgan so'rovlarni bitta partiyaga yig'ish (Triton, Ray Serve, vLLM'da continuous batching); bir GPU'da bir nechta model (model multiplexing) yoki bitta modelning bir nechta nusxasi; issiq nusxa (warm replica) — nolga qadar masshtablashda birinchi so'rovning «sovuq start» kechikishi model yuklash tufayli o'nlab soniya bo'lishi mumkin; versiyalash va kanareyka — trafikning 5 foizini yangi versiyaga yo'naltirib, metrikalarni solishtirish; kuzatuv — kechikish taqsimoti, xatolik ulushi, GPU bandligi, token/s (LLM uchun).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a:p/>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a:p/>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1d0818dfaaa8996c.jpg"/>
          <p:cNvPicPr>
            <a:picLocks noChangeAspect="1"/>
          </p:cNvPicPr>
          <p:nvPr/>
        </p:nvPicPr>
        <p:blipFill>
          <a:blip r:embed="rId2"/>
          <a:srcRect t="16680" b="16680"/>
          <a:stretch>
            <a:fillRect/>
          </a:stretch>
        </p:blipFill>
        <p:spPr>
          <a:xfrm>
            <a:off x="7850000" y="1500000"/>
            <a:ext cx="3300000" cy="3300000"/>
          </a:xfrm>
          <a:prstGeom prst="ellipse">
            <a:avLst/>
          </a:prstGeom>
          <a:ln w="19050">
            <a:solidFill>
              <a:srgbClr val="22D3EE"/>
            </a:solidFill>
          </a:ln>
        </p:spPr>
      </p:pic>
      <p:sp>
        <p:nvSpPr>
          <p:cNvPr id="56" name="TextBox 5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4300streetcar · Wikimedia Commons · CC BY 4.0</a:t>
            </a:r>
          </a:p>
        </p:txBody>
      </p:sp>
      <p:sp>
        <p:nvSpPr>
          <p:cNvPr id="57" name="Rounded Rectangle 5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M7 · 2 soat</a:t>
            </a:r>
          </a:p>
        </p:txBody>
      </p:sp>
      <p:sp>
        <p:nvSpPr>
          <p:cNvPr id="58" name="TextBox 5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59" name="TextBox 58"/>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Bulutli sun'iy intellekt infratuzilmasi va taqsimlangan AI platformalari</a:t>
            </a:r>
          </a:p>
        </p:txBody>
      </p:sp>
      <p:sp>
        <p:nvSpPr>
          <p:cNvPr id="60" name="Rectangle 5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200"/>
                            </p:stCondLst>
                            <p:childTnLst>
                              <p:par>
                                <p:cTn id="204" presetID="53" presetClass="entr" presetSubtype="16" fill="hold" grpId="0" nodeType="afterEffect">
                                  <p:stCondLst>
                                    <p:cond delay="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550"/>
                                        <p:tgtEl>
                                          <p:spTgt spid="54"/>
                                        </p:tgtEl>
                                      </p:cBhvr>
                                    </p:animEffect>
                                    <p:anim calcmode="lin" valueType="num">
                                      <p:cBhvr additive="base">
                                        <p:cTn id="207" dur="550" fill="hold"/>
                                        <p:tgtEl>
                                          <p:spTgt spid="54"/>
                                        </p:tgtEl>
                                        <p:attrNameLst>
                                          <p:attrName>ppt_w</p:attrName>
                                        </p:attrNameLst>
                                      </p:cBhvr>
                                      <p:tavLst>
                                        <p:tav tm="0">
                                          <p:val>
                                            <p:strVal val="0"/>
                                          </p:val>
                                        </p:tav>
                                        <p:tav tm="100000">
                                          <p:val>
                                            <p:strVal val="#ppt_w"/>
                                          </p:val>
                                        </p:tav>
                                      </p:tavLst>
                                    </p:anim>
                                    <p:anim calcmode="lin" valueType="num">
                                      <p:cBhvr additive="base">
                                        <p:cTn id="208" dur="550" fill="hold"/>
                                        <p:tgtEl>
                                          <p:spTgt spid="54"/>
                                        </p:tgtEl>
                                        <p:attrNameLst>
                                          <p:attrName>ppt_h</p:attrName>
                                        </p:attrNameLst>
                                      </p:cBhvr>
                                      <p:tavLst>
                                        <p:tav tm="0">
                                          <p:val>
                                            <p:strVal val="0"/>
                                          </p:val>
                                        </p:tav>
                                        <p:tav tm="100000">
                                          <p:val>
                                            <p:strVal val="#ppt_h"/>
                                          </p:val>
                                        </p:tav>
                                      </p:tavLst>
                                    </p:anim>
                                  </p:childTnLst>
                                </p:cTn>
                              </p:par>
                            </p:childTnLst>
                          </p:cTn>
                        </p:par>
                        <p:par>
                          <p:cTn id="209" fill="hold">
                            <p:stCondLst>
                              <p:cond delay="200"/>
                            </p:stCondLst>
                            <p:childTnLst>
                              <p:par>
                                <p:cTn id="210" presetID="53" presetClass="entr" presetSubtype="16" fill="hold" grpId="0" nodeType="afterEffect">
                                  <p:stCondLst>
                                    <p:cond delay="0"/>
                                  </p:stCondLst>
                                  <p:childTnLst>
                                    <p:set>
                                      <p:cBhvr>
                                        <p:cTn id="211" dur="1" fill="hold">
                                          <p:stCondLst>
                                            <p:cond delay="0"/>
                                          </p:stCondLst>
                                        </p:cTn>
                                        <p:tgtEl>
                                          <p:spTgt spid="53"/>
                                        </p:tgtEl>
                                        <p:attrNameLst>
                                          <p:attrName>style.visibility</p:attrName>
                                        </p:attrNameLst>
                                      </p:cBhvr>
                                      <p:to>
                                        <p:strVal val="visible"/>
                                      </p:to>
                                    </p:set>
                                    <p:animEffect transition="in" filter="fade">
                                      <p:cBhvr>
                                        <p:cTn id="212" dur="550"/>
                                        <p:tgtEl>
                                          <p:spTgt spid="53"/>
                                        </p:tgtEl>
                                      </p:cBhvr>
                                    </p:animEffect>
                                    <p:anim calcmode="lin" valueType="num">
                                      <p:cBhvr additive="base">
                                        <p:cTn id="213" dur="550" fill="hold"/>
                                        <p:tgtEl>
                                          <p:spTgt spid="53"/>
                                        </p:tgtEl>
                                        <p:attrNameLst>
                                          <p:attrName>ppt_w</p:attrName>
                                        </p:attrNameLst>
                                      </p:cBhvr>
                                      <p:tavLst>
                                        <p:tav tm="0">
                                          <p:val>
                                            <p:strVal val="0"/>
                                          </p:val>
                                        </p:tav>
                                        <p:tav tm="100000">
                                          <p:val>
                                            <p:strVal val="#ppt_w"/>
                                          </p:val>
                                        </p:tav>
                                      </p:tavLst>
                                    </p:anim>
                                    <p:anim calcmode="lin" valueType="num">
                                      <p:cBhvr additive="base">
                                        <p:cTn id="214" dur="550" fill="hold"/>
                                        <p:tgtEl>
                                          <p:spTgt spid="53"/>
                                        </p:tgtEl>
                                        <p:attrNameLst>
                                          <p:attrName>ppt_h</p:attrName>
                                        </p:attrNameLst>
                                      </p:cBhvr>
                                      <p:tavLst>
                                        <p:tav tm="0">
                                          <p:val>
                                            <p:strVal val="0"/>
                                          </p:val>
                                        </p:tav>
                                        <p:tav tm="100000">
                                          <p:val>
                                            <p:strVal val="#ppt_h"/>
                                          </p:val>
                                        </p:tav>
                                      </p:tavLst>
                                    </p:anim>
                                  </p:childTnLst>
                                </p:cTn>
                              </p:par>
                            </p:childTnLst>
                          </p:cTn>
                        </p:par>
                        <p:par>
                          <p:cTn id="215" fill="hold">
                            <p:stCondLst>
                              <p:cond delay="200"/>
                            </p:stCondLst>
                            <p:childTnLst>
                              <p:par>
                                <p:cTn id="216" presetID="53" presetClass="entr" presetSubtype="16" fill="hold" grpId="0" nodeType="afterEffect">
                                  <p:stCondLst>
                                    <p:cond delay="0"/>
                                  </p:stCondLst>
                                  <p:childTnLst>
                                    <p:set>
                                      <p:cBhvr>
                                        <p:cTn id="217" dur="1" fill="hold">
                                          <p:stCondLst>
                                            <p:cond delay="0"/>
                                          </p:stCondLst>
                                        </p:cTn>
                                        <p:tgtEl>
                                          <p:spTgt spid="55"/>
                                        </p:tgtEl>
                                        <p:attrNameLst>
                                          <p:attrName>style.visibility</p:attrName>
                                        </p:attrNameLst>
                                      </p:cBhvr>
                                      <p:to>
                                        <p:strVal val="visible"/>
                                      </p:to>
                                    </p:set>
                                    <p:animEffect transition="in" filter="fade">
                                      <p:cBhvr>
                                        <p:cTn id="218" dur="550"/>
                                        <p:tgtEl>
                                          <p:spTgt spid="55"/>
                                        </p:tgtEl>
                                      </p:cBhvr>
                                    </p:animEffect>
                                    <p:anim calcmode="lin" valueType="num">
                                      <p:cBhvr additive="base">
                                        <p:cTn id="219" dur="550" fill="hold"/>
                                        <p:tgtEl>
                                          <p:spTgt spid="55"/>
                                        </p:tgtEl>
                                        <p:attrNameLst>
                                          <p:attrName>ppt_w</p:attrName>
                                        </p:attrNameLst>
                                      </p:cBhvr>
                                      <p:tavLst>
                                        <p:tav tm="0">
                                          <p:val>
                                            <p:strVal val="0"/>
                                          </p:val>
                                        </p:tav>
                                        <p:tav tm="100000">
                                          <p:val>
                                            <p:strVal val="#ppt_w"/>
                                          </p:val>
                                        </p:tav>
                                      </p:tavLst>
                                    </p:anim>
                                    <p:anim calcmode="lin" valueType="num">
                                      <p:cBhvr additive="base">
                                        <p:cTn id="220" dur="550" fill="hold"/>
                                        <p:tgtEl>
                                          <p:spTgt spid="55"/>
                                        </p:tgtEl>
                                        <p:attrNameLst>
                                          <p:attrName>ppt_h</p:attrName>
                                        </p:attrNameLst>
                                      </p:cBhvr>
                                      <p:tavLst>
                                        <p:tav tm="0">
                                          <p:val>
                                            <p:strVal val="0"/>
                                          </p:val>
                                        </p:tav>
                                        <p:tav tm="100000">
                                          <p:val>
                                            <p:strVal val="#ppt_h"/>
                                          </p:val>
                                        </p:tav>
                                      </p:tavLst>
                                    </p:anim>
                                  </p:childTnLst>
                                </p:cTn>
                              </p:par>
                            </p:childTnLst>
                          </p:cTn>
                        </p:par>
                        <p:par>
                          <p:cTn id="221" fill="hold">
                            <p:stCondLst>
                              <p:cond delay="200"/>
                            </p:stCondLst>
                            <p:childTnLst>
                              <p:par>
                                <p:cTn id="222" presetID="10" presetClass="entr" presetSubtype="0" fill="hold" grpId="0" nodeType="afterEffect">
                                  <p:stCondLst>
                                    <p:cond delay="0"/>
                                  </p:stCondLst>
                                  <p:childTnLst>
                                    <p:set>
                                      <p:cBhvr>
                                        <p:cTn id="223" dur="1" fill="hold">
                                          <p:stCondLst>
                                            <p:cond delay="0"/>
                                          </p:stCondLst>
                                        </p:cTn>
                                        <p:tgtEl>
                                          <p:spTgt spid="56"/>
                                        </p:tgtEl>
                                        <p:attrNameLst>
                                          <p:attrName>style.visibility</p:attrName>
                                        </p:attrNameLst>
                                      </p:cBhvr>
                                      <p:to>
                                        <p:strVal val="visible"/>
                                      </p:to>
                                    </p:set>
                                    <p:animEffect transition="in" filter="fade">
                                      <p:cBhvr>
                                        <p:cTn id="224" dur="550"/>
                                        <p:tgtEl>
                                          <p:spTgt spid="56"/>
                                        </p:tgtEl>
                                      </p:cBhvr>
                                    </p:animEffect>
                                  </p:childTnLst>
                                </p:cTn>
                              </p:par>
                            </p:childTnLst>
                          </p:cTn>
                        </p:par>
                        <p:par>
                          <p:cTn id="225" fill="hold">
                            <p:stCondLst>
                              <p:cond delay="350"/>
                            </p:stCondLst>
                            <p:childTnLst>
                              <p:par>
                                <p:cTn id="226" presetID="10" presetClass="entr" presetSubtype="0" fill="hold" grpId="0" nodeType="afterEffect">
                                  <p:stCondLst>
                                    <p:cond delay="0"/>
                                  </p:stCondLst>
                                  <p:childTnLst>
                                    <p:set>
                                      <p:cBhvr>
                                        <p:cTn id="227" dur="1" fill="hold">
                                          <p:stCondLst>
                                            <p:cond delay="0"/>
                                          </p:stCondLst>
                                        </p:cTn>
                                        <p:tgtEl>
                                          <p:spTgt spid="58"/>
                                        </p:tgtEl>
                                        <p:attrNameLst>
                                          <p:attrName>style.visibility</p:attrName>
                                        </p:attrNameLst>
                                      </p:cBhvr>
                                      <p:to>
                                        <p:strVal val="visible"/>
                                      </p:to>
                                    </p:set>
                                    <p:animEffect transition="in" filter="fade">
                                      <p:cBhvr>
                                        <p:cTn id="228" dur="550"/>
                                        <p:tgtEl>
                                          <p:spTgt spid="58"/>
                                        </p:tgtEl>
                                      </p:cBhvr>
                                    </p:animEffect>
                                  </p:childTnLst>
                                </p:cTn>
                              </p:par>
                            </p:childTnLst>
                          </p:cTn>
                        </p:par>
                        <p:par>
                          <p:cTn id="229" fill="hold">
                            <p:stCondLst>
                              <p:cond delay="500"/>
                            </p:stCondLst>
                            <p:childTnLst>
                              <p:par>
                                <p:cTn id="230" presetID="2" presetClass="entr" presetSubtype="8" fill="hold" grpId="0" nodeType="afterEffect">
                                  <p:stCondLst>
                                    <p:cond delay="0"/>
                                  </p:stCondLst>
                                  <p:childTnLst>
                                    <p:set>
                                      <p:cBhvr>
                                        <p:cTn id="231" dur="1" fill="hold">
                                          <p:stCondLst>
                                            <p:cond delay="0"/>
                                          </p:stCondLst>
                                        </p:cTn>
                                        <p:tgtEl>
                                          <p:spTgt spid="57"/>
                                        </p:tgtEl>
                                        <p:attrNameLst>
                                          <p:attrName>style.visibility</p:attrName>
                                        </p:attrNameLst>
                                      </p:cBhvr>
                                      <p:to>
                                        <p:strVal val="visible"/>
                                      </p:to>
                                    </p:set>
                                    <p:anim calcmode="lin" valueType="num">
                                      <p:cBhvr additive="base">
                                        <p:cTn id="233" dur="550" fill="hold"/>
                                        <p:tgtEl>
                                          <p:spTgt spid="57"/>
                                        </p:tgtEl>
                                        <p:attrNameLst>
                                          <p:attrName>ppt_x</p:attrName>
                                        </p:attrNameLst>
                                      </p:cBhvr>
                                      <p:tavLst>
                                        <p:tav tm="0">
                                          <p:val>
                                            <p:strVal val="0-#ppt_w/2"/>
                                          </p:val>
                                        </p:tav>
                                        <p:tav tm="100000">
                                          <p:val>
                                            <p:strVal val="#ppt_x"/>
                                          </p:val>
                                        </p:tav>
                                      </p:tavLst>
                                    </p:anim>
                                    <p:anim calcmode="lin" valueType="num">
                                      <p:cBhvr additive="base">
                                        <p:cTn id="234" dur="550" fill="hold"/>
                                        <p:tgtEl>
                                          <p:spTgt spid="57"/>
                                        </p:tgtEl>
                                        <p:attrNameLst>
                                          <p:attrName>ppt_y</p:attrName>
                                        </p:attrNameLst>
                                      </p:cBhvr>
                                      <p:tavLst>
                                        <p:tav tm="0">
                                          <p:val>
                                            <p:strVal val="#ppt_y"/>
                                          </p:val>
                                        </p:tav>
                                        <p:tav tm="100000">
                                          <p:val>
                                            <p:strVal val="#ppt_y"/>
                                          </p:val>
                                        </p:tav>
                                      </p:tavLst>
                                    </p:anim>
                                  </p:childTnLst>
                                </p:cTn>
                              </p:par>
                            </p:childTnLst>
                          </p:cTn>
                        </p:par>
                        <p:par>
                          <p:cTn id="235" fill="hold">
                            <p:stCondLst>
                              <p:cond delay="650"/>
                            </p:stCondLst>
                            <p:childTnLst>
                              <p:par>
                                <p:cTn id="236" presetID="42" presetClass="entr" presetSubtype="0" fill="hold" grpId="0" nodeType="after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550"/>
                                        <p:tgtEl>
                                          <p:spTgt spid="59"/>
                                        </p:tgtEl>
                                      </p:cBhvr>
                                    </p:animEffect>
                                    <p:anim calcmode="lin" valueType="num">
                                      <p:cBhvr additive="base">
                                        <p:cTn id="239" dur="550" fill="hold"/>
                                        <p:tgtEl>
                                          <p:spTgt spid="59"/>
                                        </p:tgtEl>
                                        <p:attrNameLst>
                                          <p:attrName>ppt_x</p:attrName>
                                        </p:attrNameLst>
                                      </p:cBhvr>
                                      <p:tavLst>
                                        <p:tav tm="0">
                                          <p:val>
                                            <p:strVal val="#ppt_x"/>
                                          </p:val>
                                        </p:tav>
                                        <p:tav tm="100000">
                                          <p:val>
                                            <p:strVal val="#ppt_x"/>
                                          </p:val>
                                        </p:tav>
                                      </p:tavLst>
                                    </p:anim>
                                    <p:anim calcmode="lin" valueType="num">
                                      <p:cBhvr additive="base">
                                        <p:cTn id="240" dur="550" fill="hold"/>
                                        <p:tgtEl>
                                          <p:spTgt spid="59"/>
                                        </p:tgtEl>
                                        <p:attrNameLst>
                                          <p:attrName>ppt_y</p:attrName>
                                        </p:attrNameLst>
                                      </p:cBhvr>
                                      <p:tavLst>
                                        <p:tav tm="0">
                                          <p:val>
                                            <p:strVal val="#ppt_y+.08"/>
                                          </p:val>
                                        </p:tav>
                                        <p:tav tm="100000">
                                          <p:val>
                                            <p:strVal val="#ppt_y"/>
                                          </p:val>
                                        </p:tav>
                                      </p:tavLst>
                                    </p:anim>
                                  </p:childTnLst>
                                </p:cTn>
                              </p:par>
                            </p:childTnLst>
                          </p:cTn>
                        </p:par>
                        <p:par>
                          <p:cTn id="241" fill="hold">
                            <p:stCondLst>
                              <p:cond delay="800"/>
                            </p:stCondLst>
                            <p:childTnLst>
                              <p:par>
                                <p:cTn id="242" presetID="22" presetClass="entr" presetSubtype="8" fill="hold" grpId="0" nodeType="afterEffect">
                                  <p:stCondLst>
                                    <p:cond delay="0"/>
                                  </p:stCondLst>
                                  <p:childTnLst>
                                    <p:set>
                                      <p:cBhvr>
                                        <p:cTn id="243" dur="1" fill="hold">
                                          <p:stCondLst>
                                            <p:cond delay="0"/>
                                          </p:stCondLst>
                                        </p:cTn>
                                        <p:tgtEl>
                                          <p:spTgt spid="60"/>
                                        </p:tgtEl>
                                        <p:attrNameLst>
                                          <p:attrName>style.visibility</p:attrName>
                                        </p:attrNameLst>
                                      </p:cBhvr>
                                      <p:to>
                                        <p:strVal val="visible"/>
                                      </p:to>
                                    </p:set>
                                    <p:animEffect transition="in" filter="wipe(left)">
                                      <p:cBhvr>
                                        <p:cTn id="245" dur="800"/>
                                        <p:tgtEl>
                                          <p:spTgt spid="60"/>
                                        </p:tgtEl>
                                      </p:cBhvr>
                                    </p:animEffect>
                                  </p:childTnLst>
                                </p:cTn>
                              </p:par>
                            </p:childTnLst>
                          </p:cTn>
                        </p:par>
                        <p:par>
                          <p:cTn id="246" fill="hold">
                            <p:stCondLst>
                              <p:cond delay="950"/>
                            </p:stCondLst>
                            <p:childTnLst>
                              <p:par>
                                <p:cTn id="247" presetID="10" presetClass="entr" presetSubtype="0" fill="hold" grpId="0" nodeType="afterEffect">
                                  <p:stCondLst>
                                    <p:cond delay="0"/>
                                  </p:stCondLst>
                                  <p:childTnLst>
                                    <p:set>
                                      <p:cBhvr>
                                        <p:cTn id="248" dur="1" fill="hold">
                                          <p:stCondLst>
                                            <p:cond delay="0"/>
                                          </p:stCondLst>
                                        </p:cTn>
                                        <p:tgtEl>
                                          <p:spTgt spid="61"/>
                                        </p:tgtEl>
                                        <p:attrNameLst>
                                          <p:attrName>style.visibility</p:attrName>
                                        </p:attrNameLst>
                                      </p:cBhvr>
                                      <p:to>
                                        <p:strVal val="visible"/>
                                      </p:to>
                                    </p:set>
                                    <p:animEffect transition="in" filter="fade">
                                      <p:cBhvr>
                                        <p:cTn id="249" dur="5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4" grpId="0" animBg="1"/>
      <p:bldP spid="53" grpId="0" animBg="1"/>
      <p:bldP spid="56" grpId="0" animBg="1"/>
      <p:bldP spid="58" grpId="0" animBg="1"/>
      <p:bldP spid="57" grpId="0" animBg="1"/>
      <p:bldP spid="59" grpId="0" animBg="1"/>
      <p:bldP spid="60" grpId="0" animBg="1"/>
      <p:bldP spid="6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Cloud AI arxitekturasi: qatlamlar va xizmat modellari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Docker: konteynerlar va takrorlanuvchan muhit</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Kubernetes: orkestratsiya va GPU rejalashtirish</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Ray va Kubeflow platformalari</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Taqsimlangan o'qitish va inferens jarayonlarini klasterda boshqarish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Bulutli AI xizmatlarini 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25f40145c34f8565.jpg"/>
          <p:cNvPicPr>
            <a:picLocks noChangeAspect="1"/>
          </p:cNvPicPr>
          <p:nvPr/>
        </p:nvPicPr>
        <p:blipFill>
          <a:blip r:embed="rId2"/>
          <a:srcRect l="14407" r="14407"/>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COSCUP · Wikimedia Commons · CC BY-SA 2.0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Cloud AI arxitekturasi: qatlamlar va xizmat modellari</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AI arxitekturasi: qatlamlar va xizmat modellari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Bulutli sun'iy intellekt infratuzilmasini besh qatlamli stek sifatida tasavvur qilish qulay.</a:t>
            </a:r>
          </a:p>
          <a:p>
            <a:pPr>
              <a:spcBef>
                <a:spcPts val="400"/>
              </a:spcBef>
            </a:pPr>
            <a:r>
              <a:rPr sz="1400">
                <a:solidFill>
                  <a:srgbClr val="AEBBD9"/>
                </a:solidFill>
                <a:latin typeface="Segoe UI"/>
              </a:rPr>
              <a:t>Eng pastda — fizik apparat: GPU serverlari (masalan, 8× H100 yoki B200 NVLink bilan), yuqori tezlikli tarmoq (InfiniBand NDR 400 Gb/s yoki RoCE Ethernet), parallel saqlash tizimlari (Lustre, GPFS, obyekt saqlash S3).</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Xizmat modellari nuqtai nazaridan AI bulutida uchta daraja farqlanadi.</a:t>
            </a:r>
          </a:p>
          <a:p>
            <a:pPr>
              <a:spcBef>
                <a:spcPts val="400"/>
              </a:spcBef>
            </a:pPr>
            <a:r>
              <a:rPr sz="1400">
                <a:solidFill>
                  <a:srgbClr val="AEBBD9"/>
                </a:solidFill>
                <a:latin typeface="Segoe UI"/>
              </a:rPr>
              <a:t>IaaS (Infrastructure as a Service) — GPU'li virtual mashina ijarasi (AWS p5, GCP A3, Azure ND H100 v5 instanslari yoki ixtisoslashgan GPU bulutlari); muhandis to'liq nazoratga ega, lekin hamma narsani o'zi sozlaydi.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883ab0c2bd6e6dc0.jpg"/>
          <p:cNvPicPr>
            <a:picLocks noChangeAspect="1"/>
          </p:cNvPicPr>
          <p:nvPr/>
        </p:nvPicPr>
        <p:blipFill>
          <a:blip r:embed="rId2"/>
          <a:srcRect l="17572" r="17572"/>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Dereckson · Wikimedia Commons · CC0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Docker: konteynerlar va takrorlanuvchan muhit</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Docker: konteynerlar va takrorlanuvchan muhit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Sun'iy intellekt dasturiy ta'minotining eng og'riqli muammolaridan biri — muhit mosligi: CUDA versiyasi, drayver, cuDNN, PyTorch g'ildiragi, Python paketlari o'rtasidagi bog'liqliklar.</a:t>
            </a:r>
          </a:p>
          <a:p>
            <a:pPr>
              <a:spcBef>
                <a:spcPts val="400"/>
              </a:spcBef>
            </a:pPr>
            <a:r>
              <a:rPr sz="1400">
                <a:solidFill>
                  <a:srgbClr val="AEBBD9"/>
                </a:solidFill>
                <a:latin typeface="Segoe UI"/>
              </a:rPr>
              <a:t>«Mening kompyuterimda ishlaydi» holati GPU dasturlarida ayniqsa ko'p uchraydi.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Docker obrazi qatlamlardan (layers) iborat: Dockerfile'dagi har bir RUN, COPY buyrug'i yangi faqat-o'qish qatlami yaratadi; qatlamlar keshlanadi va obrazlar orasida umumiy bo'ladi.</a:t>
            </a:r>
          </a:p>
          <a:p>
            <a:pPr>
              <a:spcBef>
                <a:spcPts val="400"/>
              </a:spcBef>
            </a:pPr>
            <a:r>
              <a:rPr sz="1400">
                <a:solidFill>
                  <a:srgbClr val="AEBBD9"/>
                </a:solidFill>
                <a:latin typeface="Segoe UI"/>
              </a:rPr>
              <a:t>Shuning uchun Dockerfile tartibi muhim: kamdan-kam o'zgaradigan buyruqlar (bazaviy obraz, tizim paketlari, og'ir Python kutubxonalari) tepada, tez-tez o'zgaradigan kod pastda bo'lsa, qayta qurish tez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Docker: konteynerlar va takrorlanuvchan muhit</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Yaxshi inferens obrazining belgilari: ko'p bosqichli qurilish (multi-stage build) — kompilyatsiya vositalari yakuniy obrazga kirmaydi; aniq versiyalar (torch==2.4.1, ma'lum CUDA bilan); ildiz bo'lmagan foydalanuvchi; sog'liqni tekshirish (healthcheck)…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d964c24c4c2ffe85.jpg"/>
          <p:cNvPicPr>
            <a:picLocks noChangeAspect="1"/>
          </p:cNvPicPr>
          <p:nvPr/>
        </p:nvPicPr>
        <p:blipFill>
          <a:blip r:embed="rId2"/>
          <a:srcRect l="25031" r="25031"/>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Norbertsuter · Wikimedia Commons · CC BY-SA 4.0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Kubernetes: orkestratsiya va GPU rejalashtirish</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Kubernetes (K8s) — konteynerlarni ko'plab mashinalar (tugunlar, nodes) bo'ylab joylashtiradigan, kuzatadigan va tiklaydigan ochiq manbali tizim [9].</a:t>
            </a:r>
          </a:p>
          <a:p>
            <a:pPr>
              <a:spcBef>
                <a:spcPts val="400"/>
              </a:spcBef>
            </a:pPr>
            <a:r>
              <a:rPr sz="1300">
                <a:solidFill>
                  <a:srgbClr val="AEBBD9"/>
                </a:solidFill>
                <a:latin typeface="Segoe UI"/>
              </a:rPr>
              <a:t>Uning asosiy g'oyasi — deklarativ boshqaruv: muhandis «qanday qilish»ni emas, «qanday holat bo'lishi kerak»ligini YAML manifestlarida yozadi, boshqaruvchilar (controllers) esa haqiqiy holatni istalgan holatga doimo yaqinlashtiradi. Asosiy obyektlar:</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GPU — Kubernetes uchun «kengaytirilgan resurs» (extended resource): NVIDIA device plugin (odatda GPU Operator orqali o'rnatiladi) har tugundagi GPU'larni nvidia.com/gpu resursi sifatida e'lon qiladi, Pod esa resources.limits: nvidia.com/gpu: 1 bilan uni…</a:t>
            </a:r>
          </a:p>
          <a:p>
            <a:pPr>
              <a:spcBef>
                <a:spcPts val="400"/>
              </a:spcBef>
            </a:pPr>
            <a:r>
              <a:rPr sz="1300">
                <a:solidFill>
                  <a:srgbClr val="AEBBD9"/>
                </a:solidFill>
                <a:latin typeface="Segoe UI"/>
              </a:rPr>
              <a:t>Rejalashtiruvchi (scheduler) faqat bo'sh GPU'li tugunga Pod joylaydi.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a6fff67169d306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Masshtablash ikki o'qda: HPA nusxa sonini o'zgartiradi (gorizontal), Cluster Autoscaler yoki Karpenter esa bulutdan yangi tugunlar so'raydi; GPU tugunining ishga tushishi 2–5 daqiqa olgani uchun masshtablash siyosati oldindan o'ylanishi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Obyekt</a:t>
                      </a:r>
                    </a:p>
                  </a:txBody>
                  <a:tcPr>
                    <a:solidFill>
                      <a:srgbClr val="1C2755"/>
                    </a:solidFill>
                  </a:tcPr>
                </a:tc>
                <a:tc>
                  <a:txBody>
                    <a:bodyPr/>
                    <a:lstStyle/>
                    <a:p>
                      <a:r>
                        <a:rPr sz="1000" b="1">
                          <a:solidFill>
                            <a:srgbClr val="22D3EE"/>
                          </a:solidFill>
                          <a:latin typeface="Segoe UI"/>
                        </a:rPr>
                        <a:t>Vazifasi</a:t>
                      </a:r>
                    </a:p>
                  </a:txBody>
                  <a:tcPr>
                    <a:solidFill>
                      <a:srgbClr val="1C2755"/>
                    </a:solidFill>
                  </a:tcPr>
                </a:tc>
                <a:tc>
                  <a:txBody>
                    <a:bodyPr/>
                    <a:lstStyle/>
                    <a:p>
                      <a:r>
                        <a:rPr sz="1000" b="1">
                          <a:solidFill>
                            <a:srgbClr val="22D3EE"/>
                          </a:solidFill>
                          <a:latin typeface="Segoe UI"/>
                        </a:rPr>
                        <a:t>AI kontekstida</a:t>
                      </a:r>
                    </a:p>
                  </a:txBody>
                  <a:tcPr>
                    <a:solidFill>
                      <a:srgbClr val="1C2755"/>
                    </a:solidFill>
                  </a:tcPr>
                </a:tc>
              </a:tr>
              <a:tr h="520000">
                <a:tc>
                  <a:txBody>
                    <a:bodyPr/>
                    <a:lstStyle/>
                    <a:p>
                      <a:r>
                        <a:rPr sz="1000" b="0">
                          <a:solidFill>
                            <a:srgbClr val="E8EEFA"/>
                          </a:solidFill>
                          <a:latin typeface="Segoe UI"/>
                        </a:rPr>
                        <a:t>Pod</a:t>
                      </a:r>
                    </a:p>
                  </a:txBody>
                  <a:tcPr>
                    <a:solidFill>
                      <a:srgbClr val="111834"/>
                    </a:solidFill>
                  </a:tcPr>
                </a:tc>
                <a:tc>
                  <a:txBody>
                    <a:bodyPr/>
                    <a:lstStyle/>
                    <a:p>
                      <a:r>
                        <a:rPr sz="1000" b="0">
                          <a:solidFill>
                            <a:srgbClr val="E8EEFA"/>
                          </a:solidFill>
                          <a:latin typeface="Segoe UI"/>
                        </a:rPr>
                        <a:t>bir yoki bir nechta konteynerning eng kichik joylash birligi</a:t>
                      </a:r>
                    </a:p>
                  </a:txBody>
                  <a:tcPr>
                    <a:solidFill>
                      <a:srgbClr val="111834"/>
                    </a:solidFill>
                  </a:tcPr>
                </a:tc>
                <a:tc>
                  <a:txBody>
                    <a:bodyPr/>
                    <a:lstStyle/>
                    <a:p>
                      <a:r>
                        <a:rPr sz="1000" b="0">
                          <a:solidFill>
                            <a:srgbClr val="E8EEFA"/>
                          </a:solidFill>
                          <a:latin typeface="Segoe UI"/>
                        </a:rPr>
                        <a:t>bitta inferens serveri nusxasi yoki o'qitish ishchisi</a:t>
                      </a:r>
                    </a:p>
                  </a:txBody>
                  <a:tcPr>
                    <a:solidFill>
                      <a:srgbClr val="111834"/>
                    </a:solidFill>
                  </a:tcPr>
                </a:tc>
              </a:tr>
              <a:tr h="520000">
                <a:tc>
                  <a:txBody>
                    <a:bodyPr/>
                    <a:lstStyle/>
                    <a:p>
                      <a:r>
                        <a:rPr sz="1000" b="0">
                          <a:solidFill>
                            <a:srgbClr val="E8EEFA"/>
                          </a:solidFill>
                          <a:latin typeface="Segoe UI"/>
                        </a:rPr>
                        <a:t>Deployment</a:t>
                      </a:r>
                    </a:p>
                  </a:txBody>
                  <a:tcPr>
                    <a:solidFill>
                      <a:srgbClr val="161F40"/>
                    </a:solidFill>
                  </a:tcPr>
                </a:tc>
                <a:tc>
                  <a:txBody>
                    <a:bodyPr/>
                    <a:lstStyle/>
                    <a:p>
                      <a:r>
                        <a:rPr sz="1000" b="0">
                          <a:solidFill>
                            <a:srgbClr val="E8EEFA"/>
                          </a:solidFill>
                          <a:latin typeface="Segoe UI"/>
                        </a:rPr>
                        <a:t>Pod'lar to'plamini istalgan nusxa (replica) sonida ushlab turadi, yangilanishni boshqaradi</a:t>
                      </a:r>
                    </a:p>
                  </a:txBody>
                  <a:tcPr>
                    <a:solidFill>
                      <a:srgbClr val="161F40"/>
                    </a:solidFill>
                  </a:tcPr>
                </a:tc>
                <a:tc>
                  <a:txBody>
                    <a:bodyPr/>
                    <a:lstStyle/>
                    <a:p>
                      <a:r>
                        <a:rPr sz="1000" b="0">
                          <a:solidFill>
                            <a:srgbClr val="E8EEFA"/>
                          </a:solidFill>
                          <a:latin typeface="Segoe UI"/>
                        </a:rPr>
                        <a:t>inferens xizmati, bosqichma-bosqich (rolling) yangilash</a:t>
                      </a:r>
                    </a:p>
                  </a:txBody>
                  <a:tcPr>
                    <a:solidFill>
                      <a:srgbClr val="161F40"/>
                    </a:solidFill>
                  </a:tcPr>
                </a:tc>
              </a:tr>
              <a:tr h="520000">
                <a:tc>
                  <a:txBody>
                    <a:bodyPr/>
                    <a:lstStyle/>
                    <a:p>
                      <a:r>
                        <a:rPr sz="1000" b="0">
                          <a:solidFill>
                            <a:srgbClr val="E8EEFA"/>
                          </a:solidFill>
                          <a:latin typeface="Segoe UI"/>
                        </a:rPr>
                        <a:t>Service</a:t>
                      </a:r>
                    </a:p>
                  </a:txBody>
                  <a:tcPr>
                    <a:solidFill>
                      <a:srgbClr val="111834"/>
                    </a:solidFill>
                  </a:tcPr>
                </a:tc>
                <a:tc>
                  <a:txBody>
                    <a:bodyPr/>
                    <a:lstStyle/>
                    <a:p>
                      <a:r>
                        <a:rPr sz="1000" b="0">
                          <a:solidFill>
                            <a:srgbClr val="E8EEFA"/>
                          </a:solidFill>
                          <a:latin typeface="Segoe UI"/>
                        </a:rPr>
                        <a:t>Pod'larga barqaror tarmoq nomi va yuk taqsimlash</a:t>
                      </a:r>
                    </a:p>
                  </a:txBody>
                  <a:tcPr>
                    <a:solidFill>
                      <a:srgbClr val="111834"/>
                    </a:solidFill>
                  </a:tcPr>
                </a:tc>
                <a:tc>
                  <a:txBody>
                    <a:bodyPr/>
                    <a:lstStyle/>
                    <a:p>
                      <a:r>
                        <a:rPr sz="1000" b="0">
                          <a:solidFill>
                            <a:srgbClr val="E8EEFA"/>
                          </a:solidFill>
                          <a:latin typeface="Segoe UI"/>
                        </a:rPr>
                        <a:t>so'rovlarni nusxalar orasida taqsimlash</a:t>
                      </a:r>
                    </a:p>
                  </a:txBody>
                  <a:tcPr>
                    <a:solidFill>
                      <a:srgbClr val="111834"/>
                    </a:solidFill>
                  </a:tcPr>
                </a:tc>
              </a:tr>
              <a:tr h="520000">
                <a:tc>
                  <a:txBody>
                    <a:bodyPr/>
                    <a:lstStyle/>
                    <a:p>
                      <a:r>
                        <a:rPr sz="1000" b="0">
                          <a:solidFill>
                            <a:srgbClr val="E8EEFA"/>
                          </a:solidFill>
                          <a:latin typeface="Segoe UI"/>
                        </a:rPr>
                        <a:t>Ingress / Gateway</a:t>
                      </a:r>
                    </a:p>
                  </a:txBody>
                  <a:tcPr>
                    <a:solidFill>
                      <a:srgbClr val="161F40"/>
                    </a:solidFill>
                  </a:tcPr>
                </a:tc>
                <a:tc>
                  <a:txBody>
                    <a:bodyPr/>
                    <a:lstStyle/>
                    <a:p>
                      <a:r>
                        <a:rPr sz="1000" b="0">
                          <a:solidFill>
                            <a:srgbClr val="E8EEFA"/>
                          </a:solidFill>
                          <a:latin typeface="Segoe UI"/>
                        </a:rPr>
                        <a:t>tashqi HTTP(S) kirish, marshrutlash, TLS</a:t>
                      </a:r>
                    </a:p>
                  </a:txBody>
                  <a:tcPr>
                    <a:solidFill>
                      <a:srgbClr val="161F40"/>
                    </a:solidFill>
                  </a:tcPr>
                </a:tc>
                <a:tc>
                  <a:txBody>
                    <a:bodyPr/>
                    <a:lstStyle/>
                    <a:p>
                      <a:r>
                        <a:rPr sz="1000" b="0">
                          <a:solidFill>
                            <a:srgbClr val="E8EEFA"/>
                          </a:solidFill>
                          <a:latin typeface="Segoe UI"/>
                        </a:rPr>
                        <a:t>tashqi API</a:t>
                      </a:r>
                    </a:p>
                  </a:txBody>
                  <a:tcPr>
                    <a:solidFill>
                      <a:srgbClr val="161F40"/>
                    </a:solidFill>
                  </a:tcPr>
                </a:tc>
              </a:tr>
              <a:tr h="520000">
                <a:tc>
                  <a:txBody>
                    <a:bodyPr/>
                    <a:lstStyle/>
                    <a:p>
                      <a:r>
                        <a:rPr sz="1000" b="0">
                          <a:solidFill>
                            <a:srgbClr val="E8EEFA"/>
                          </a:solidFill>
                          <a:latin typeface="Segoe UI"/>
                        </a:rPr>
                        <a:t>HorizontalPodAutoscaler (HPA)</a:t>
                      </a:r>
                    </a:p>
                  </a:txBody>
                  <a:tcPr>
                    <a:solidFill>
                      <a:srgbClr val="111834"/>
                    </a:solidFill>
                  </a:tcPr>
                </a:tc>
                <a:tc>
                  <a:txBody>
                    <a:bodyPr/>
                    <a:lstStyle/>
                    <a:p>
                      <a:r>
                        <a:rPr sz="1000" b="0">
                          <a:solidFill>
                            <a:srgbClr val="E8EEFA"/>
                          </a:solidFill>
                          <a:latin typeface="Segoe UI"/>
                        </a:rPr>
                        <a:t>metrikaga qarab nusxa sonini o'zgartiradi</a:t>
                      </a:r>
                    </a:p>
                  </a:txBody>
                  <a:tcPr>
                    <a:solidFill>
                      <a:srgbClr val="111834"/>
                    </a:solidFill>
                  </a:tcPr>
                </a:tc>
                <a:tc>
                  <a:txBody>
                    <a:bodyPr/>
                    <a:lstStyle/>
                    <a:p>
                      <a:r>
                        <a:rPr sz="1000" b="0">
                          <a:solidFill>
                            <a:srgbClr val="E8EEFA"/>
                          </a:solidFill>
                          <a:latin typeface="Segoe UI"/>
                        </a:rPr>
                        <a:t>CPU/GPU bandligi yoki so'rovlar navbatiga qarab masshtablash</a:t>
                      </a:r>
                    </a:p>
                  </a:txBody>
                  <a:tcPr>
                    <a:solidFill>
                      <a:srgbClr val="111834"/>
                    </a:solidFill>
                  </a:tcPr>
                </a:tc>
              </a:tr>
              <a:tr h="520000">
                <a:tc>
                  <a:txBody>
                    <a:bodyPr/>
                    <a:lstStyle/>
                    <a:p>
                      <a:r>
                        <a:rPr sz="1000" b="0">
                          <a:solidFill>
                            <a:srgbClr val="E8EEFA"/>
                          </a:solidFill>
                          <a:latin typeface="Segoe UI"/>
                        </a:rPr>
                        <a:t>Job / CronJob</a:t>
                      </a:r>
                    </a:p>
                  </a:txBody>
                  <a:tcPr>
                    <a:solidFill>
                      <a:srgbClr val="161F40"/>
                    </a:solidFill>
                  </a:tcPr>
                </a:tc>
                <a:tc>
                  <a:txBody>
                    <a:bodyPr/>
                    <a:lstStyle/>
                    <a:p>
                      <a:r>
                        <a:rPr sz="1000" b="0">
                          <a:solidFill>
                            <a:srgbClr val="E8EEFA"/>
                          </a:solidFill>
                          <a:latin typeface="Segoe UI"/>
                        </a:rPr>
                        <a:t>tugaydigan ish</a:t>
                      </a:r>
                    </a:p>
                  </a:txBody>
                  <a:tcPr>
                    <a:solidFill>
                      <a:srgbClr val="161F40"/>
                    </a:solidFill>
                  </a:tcPr>
                </a:tc>
                <a:tc>
                  <a:txBody>
                    <a:bodyPr/>
                    <a:lstStyle/>
                    <a:p>
                      <a:r>
                        <a:rPr sz="1000" b="0">
                          <a:solidFill>
                            <a:srgbClr val="E8EEFA"/>
                          </a:solidFill>
                          <a:latin typeface="Segoe UI"/>
                        </a:rPr>
                        <a:t>o'qitish, paketli inferens, ma'lumot tayyorlash</a:t>
                      </a:r>
                    </a:p>
                  </a:txBody>
                  <a:tcPr>
                    <a:solidFill>
                      <a:srgbClr val="161F40"/>
                    </a:solidFill>
                  </a:tcPr>
                </a:tc>
              </a:tr>
              <a:tr h="520000">
                <a:tc>
                  <a:txBody>
                    <a:bodyPr/>
                    <a:lstStyle/>
                    <a:p>
                      <a:r>
                        <a:rPr sz="1000" b="0">
                          <a:solidFill>
                            <a:srgbClr val="E8EEFA"/>
                          </a:solidFill>
                          <a:latin typeface="Segoe UI"/>
                        </a:rPr>
                        <a:t>StatefulSet</a:t>
                      </a:r>
                    </a:p>
                  </a:txBody>
                  <a:tcPr>
                    <a:solidFill>
                      <a:srgbClr val="111834"/>
                    </a:solidFill>
                  </a:tcPr>
                </a:tc>
                <a:tc>
                  <a:txBody>
                    <a:bodyPr/>
                    <a:lstStyle/>
                    <a:p>
                      <a:r>
                        <a:rPr sz="1000" b="0">
                          <a:solidFill>
                            <a:srgbClr val="E8EEFA"/>
                          </a:solidFill>
                          <a:latin typeface="Segoe UI"/>
                        </a:rPr>
                        <a:t>barqaror identifikatorli Pod'lar</a:t>
                      </a:r>
                    </a:p>
                  </a:txBody>
                  <a:tcPr>
                    <a:solidFill>
                      <a:srgbClr val="111834"/>
                    </a:solidFill>
                  </a:tcPr>
                </a:tc>
                <a:tc>
                  <a:txBody>
                    <a:bodyPr/>
                    <a:lstStyle/>
                    <a:p>
                      <a:r>
                        <a:rPr sz="1000" b="0">
                          <a:solidFill>
                            <a:srgbClr val="E8EEFA"/>
                          </a:solidFill>
                          <a:latin typeface="Segoe UI"/>
                        </a:rPr>
                        <a:t>vektor bazalar, parametr serverlari</a:t>
                      </a:r>
                    </a:p>
                  </a:txBody>
                  <a:tcPr>
                    <a:solidFill>
                      <a:srgbClr val="111834"/>
                    </a:solidFill>
                  </a:tcPr>
                </a:tc>
              </a:tr>
              <a:tr h="520000">
                <a:tc>
                  <a:txBody>
                    <a:bodyPr/>
                    <a:lstStyle/>
                    <a:p>
                      <a:r>
                        <a:rPr sz="1000" b="0">
                          <a:solidFill>
                            <a:srgbClr val="E8EEFA"/>
                          </a:solidFill>
                          <a:latin typeface="Segoe UI"/>
                        </a:rPr>
                        <a:t>PersistentVolume(Claim)</a:t>
                      </a:r>
                    </a:p>
                  </a:txBody>
                  <a:tcPr>
                    <a:solidFill>
                      <a:srgbClr val="161F40"/>
                    </a:solidFill>
                  </a:tcPr>
                </a:tc>
                <a:tc>
                  <a:txBody>
                    <a:bodyPr/>
                    <a:lstStyle/>
                    <a:p>
                      <a:r>
                        <a:rPr sz="1000" b="0">
                          <a:solidFill>
                            <a:srgbClr val="E8EEFA"/>
                          </a:solidFill>
                          <a:latin typeface="Segoe UI"/>
                        </a:rPr>
                        <a:t>saqlash</a:t>
                      </a:r>
                    </a:p>
                  </a:txBody>
                  <a:tcPr>
                    <a:solidFill>
                      <a:srgbClr val="161F40"/>
                    </a:solidFill>
                  </a:tcPr>
                </a:tc>
                <a:tc>
                  <a:txBody>
                    <a:bodyPr/>
                    <a:lstStyle/>
                    <a:p>
                      <a:r>
                        <a:rPr sz="1000" b="0">
                          <a:solidFill>
                            <a:srgbClr val="E8EEFA"/>
                          </a:solidFill>
                          <a:latin typeface="Segoe UI"/>
                        </a:rPr>
                        <a:t>ma'lumotlar to'plami, nazorat nuqtalari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orkestratsiya va GPU rejalashtirish (davomi)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graphicFrame>
        <p:nvGraphicFramePr>
          <p:cNvPr id="23" name="Table 22"/>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000" b="1">
                          <a:solidFill>
                            <a:srgbClr val="22D3EE"/>
                          </a:solidFill>
                          <a:latin typeface="Segoe UI"/>
                        </a:rPr>
                        <a:t>Obyekt</a:t>
                      </a:r>
                    </a:p>
                  </a:txBody>
                  <a:tcPr>
                    <a:solidFill>
                      <a:srgbClr val="1C2755"/>
                    </a:solidFill>
                  </a:tcPr>
                </a:tc>
                <a:tc>
                  <a:txBody>
                    <a:bodyPr/>
                    <a:lstStyle/>
                    <a:p>
                      <a:r>
                        <a:rPr sz="1000" b="1">
                          <a:solidFill>
                            <a:srgbClr val="22D3EE"/>
                          </a:solidFill>
                          <a:latin typeface="Segoe UI"/>
                        </a:rPr>
                        <a:t>Vazifasi</a:t>
                      </a:r>
                    </a:p>
                  </a:txBody>
                  <a:tcPr>
                    <a:solidFill>
                      <a:srgbClr val="1C2755"/>
                    </a:solidFill>
                  </a:tcPr>
                </a:tc>
                <a:tc>
                  <a:txBody>
                    <a:bodyPr/>
                    <a:lstStyle/>
                    <a:p>
                      <a:r>
                        <a:rPr sz="1000" b="1">
                          <a:solidFill>
                            <a:srgbClr val="22D3EE"/>
                          </a:solidFill>
                          <a:latin typeface="Segoe UI"/>
                        </a:rPr>
                        <a:t>AI kontekstida</a:t>
                      </a:r>
                    </a:p>
                  </a:txBody>
                  <a:tcPr>
                    <a:solidFill>
                      <a:srgbClr val="1C2755"/>
                    </a:solidFill>
                  </a:tcPr>
                </a:tc>
              </a:tr>
              <a:tr h="520000">
                <a:tc>
                  <a:txBody>
                    <a:bodyPr/>
                    <a:lstStyle/>
                    <a:p>
                      <a:r>
                        <a:rPr sz="1000" b="0">
                          <a:solidFill>
                            <a:srgbClr val="E8EEFA"/>
                          </a:solidFill>
                          <a:latin typeface="Segoe UI"/>
                        </a:rPr>
                        <a:t>ConfigMap / Secret</a:t>
                      </a:r>
                    </a:p>
                  </a:txBody>
                  <a:tcPr>
                    <a:solidFill>
                      <a:srgbClr val="111834"/>
                    </a:solidFill>
                  </a:tcPr>
                </a:tc>
                <a:tc>
                  <a:txBody>
                    <a:bodyPr/>
                    <a:lstStyle/>
                    <a:p>
                      <a:r>
                        <a:rPr sz="1000" b="0">
                          <a:solidFill>
                            <a:srgbClr val="E8EEFA"/>
                          </a:solidFill>
                          <a:latin typeface="Segoe UI"/>
                        </a:rPr>
                        <a:t>konfiguratsiya va sirlar</a:t>
                      </a:r>
                    </a:p>
                  </a:txBody>
                  <a:tcPr>
                    <a:solidFill>
                      <a:srgbClr val="111834"/>
                    </a:solidFill>
                  </a:tcPr>
                </a:tc>
                <a:tc>
                  <a:txBody>
                    <a:bodyPr/>
                    <a:lstStyle/>
                    <a:p>
                      <a:r>
                        <a:rPr sz="1000" b="0">
                          <a:solidFill>
                            <a:srgbClr val="E8EEFA"/>
                          </a:solidFill>
                          <a:latin typeface="Segoe UI"/>
                        </a:rPr>
                        <a:t>model yo'li, API kalitlari</a:t>
                      </a:r>
                    </a:p>
                  </a:txBody>
                  <a:tcPr>
                    <a:solidFill>
                      <a:srgbClr val="111834"/>
                    </a:solidFill>
                  </a:tcPr>
                </a:tc>
              </a:tr>
              <a:tr h="520000">
                <a:tc>
                  <a:txBody>
                    <a:bodyPr/>
                    <a:lstStyle/>
                    <a:p>
                      <a:r>
                        <a:rPr sz="1000" b="0">
                          <a:solidFill>
                            <a:srgbClr val="E8EEFA"/>
                          </a:solidFill>
                          <a:latin typeface="Segoe UI"/>
                        </a:rPr>
                        <a:t>Namespace / ResourceQuota</a:t>
                      </a:r>
                    </a:p>
                  </a:txBody>
                  <a:tcPr>
                    <a:solidFill>
                      <a:srgbClr val="161F40"/>
                    </a:solidFill>
                  </a:tcPr>
                </a:tc>
                <a:tc>
                  <a:txBody>
                    <a:bodyPr/>
                    <a:lstStyle/>
                    <a:p>
                      <a:r>
                        <a:rPr sz="1000" b="0">
                          <a:solidFill>
                            <a:srgbClr val="E8EEFA"/>
                          </a:solidFill>
                          <a:latin typeface="Segoe UI"/>
                        </a:rPr>
                        <a:t>mantiqiy ajratish va kvota</a:t>
                      </a:r>
                    </a:p>
                  </a:txBody>
                  <a:tcPr>
                    <a:solidFill>
                      <a:srgbClr val="161F40"/>
                    </a:solidFill>
                  </a:tcPr>
                </a:tc>
                <a:tc>
                  <a:txBody>
                    <a:bodyPr/>
                    <a:lstStyle/>
                    <a:p>
                      <a:r>
                        <a:rPr sz="1000" b="0">
                          <a:solidFill>
                            <a:srgbClr val="E8EEFA"/>
                          </a:solidFill>
                          <a:latin typeface="Segoe UI"/>
                        </a:rPr>
                        <a:t>jamoalar o'rtasida GPU'ni bo'lish</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860a108d71c06200.jpg"/>
          <p:cNvPicPr>
            <a:picLocks noChangeAspect="1"/>
          </p:cNvPicPr>
          <p:nvPr/>
        </p:nvPicPr>
        <p:blipFill>
          <a:blip r:embed="rId2"/>
          <a:srcRect t="14976" b="1497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Ray va Kubeflow platformalari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1590510"/>
            <a:ext cx="5900000" cy="1339660"/>
          </a:xfrm>
          <a:prstGeom prst="rect">
            <a:avLst/>
          </a:prstGeom>
          <a:noFill/>
        </p:spPr>
        <p:txBody>
          <a:bodyPr wrap="square" anchor="ctr">
            <a:spAutoFit/>
          </a:bodyPr>
          <a:lstStyle/>
          <a:p>
            <a:r>
              <a:rPr sz="1400" b="1">
                <a:solidFill>
                  <a:srgbClr val="E8EEFA"/>
                </a:solidFill>
                <a:latin typeface="Segoe UI"/>
              </a:rPr>
              <a:t>Kubernetes umumiy maqsadli orkestrator; u «ushbu 64 GPU'da PyTorch DDP o'qitishini boshla» yoki «giperparametrlarni Bayes usulida qidir» degan tushunchalarni bilmaydi.</a:t>
            </a:r>
          </a:p>
          <a:p>
            <a:pPr>
              <a:spcBef>
                <a:spcPts val="400"/>
              </a:spcBef>
            </a:pPr>
            <a:r>
              <a:rPr sz="1300">
                <a:solidFill>
                  <a:srgbClr val="AEBBD9"/>
                </a:solidFill>
                <a:latin typeface="Segoe UI"/>
              </a:rPr>
              <a:t>Shu bo'shliqni AI platformalari to'ldiradi.</a:t>
            </a:r>
          </a:p>
        </p:txBody>
      </p:sp>
      <p:sp>
        <p:nvSpPr>
          <p:cNvPr id="35" name="Rounded Rectangle 34"/>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120170"/>
            <a:ext cx="5900000" cy="1339660"/>
          </a:xfrm>
          <a:prstGeom prst="rect">
            <a:avLst/>
          </a:prstGeom>
          <a:noFill/>
        </p:spPr>
        <p:txBody>
          <a:bodyPr wrap="square" anchor="ctr">
            <a:spAutoFit/>
          </a:bodyPr>
          <a:lstStyle/>
          <a:p>
            <a:r>
              <a:rPr sz="1400" b="1">
                <a:solidFill>
                  <a:srgbClr val="E8EEFA"/>
                </a:solidFill>
                <a:latin typeface="Segoe UI"/>
              </a:rPr>
              <a:t>Ray — Python uchun taqsimlangan hisoblash freymvorki.</a:t>
            </a:r>
          </a:p>
          <a:p>
            <a:pPr>
              <a:spcBef>
                <a:spcPts val="400"/>
              </a:spcBef>
            </a:pPr>
            <a:r>
              <a:rPr sz="1300">
                <a:solidFill>
                  <a:srgbClr val="AEBBD9"/>
                </a:solidFill>
                <a:latin typeface="Segoe UI"/>
              </a:rPr>
              <a:t>Uning yadrosi ikkita primitivga tayanadi: @ray.remote funksiyalar (holatsiz vazifalar) va aktorlar (holatli ob'ektlar); ular klasterdagi istalgan tugunda bajariladi, natijalar taqsimlangan ob'ekt omborida saqlanadi.</a:t>
            </a:r>
          </a:p>
        </p:txBody>
      </p:sp>
      <p:sp>
        <p:nvSpPr>
          <p:cNvPr id="39" name="Rounded Rectangle 38"/>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2" name="TextBox 41"/>
          <p:cNvSpPr txBox="1"/>
          <p:nvPr/>
        </p:nvSpPr>
        <p:spPr>
          <a:xfrm>
            <a:off x="1300000" y="4649830"/>
            <a:ext cx="5900000" cy="1339660"/>
          </a:xfrm>
          <a:prstGeom prst="rect">
            <a:avLst/>
          </a:prstGeom>
          <a:noFill/>
        </p:spPr>
        <p:txBody>
          <a:bodyPr wrap="square" anchor="ctr">
            <a:spAutoFit/>
          </a:bodyPr>
          <a:lstStyle/>
          <a:p>
            <a:r>
              <a:rPr sz="1400" b="1">
                <a:solidFill>
                  <a:srgbClr val="E8EEFA"/>
                </a:solidFill>
                <a:latin typeface="Segoe UI"/>
              </a:rPr>
              <a:t>Kubeflow — Kubernetes'da ML ish oqimlari uchun komponentlar to'plami.</a:t>
            </a:r>
          </a:p>
          <a:p>
            <a:pPr>
              <a:spcBef>
                <a:spcPts val="400"/>
              </a:spcBef>
            </a:pPr>
            <a:r>
              <a:rPr sz="1300">
                <a:solidFill>
                  <a:srgbClr val="AEBBD9"/>
                </a:solidFill>
                <a:latin typeface="Segoe UI"/>
              </a:rPr>
              <a:t>Kubeflow Pipelines — quvurlarni (ma'lumot tayyorlash → o'qitish → baholash → ro'yxatga olish) DAG sifatida aniqlash, har qadam alohida konteynerda, artefaktlar kuzatuvi va takroriy ishga tushirish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9"/>
                                        </p:tgtEl>
                                        <p:attrNameLst>
                                          <p:attrName>style.visibility</p:attrName>
                                        </p:attrNameLst>
                                      </p:cBhvr>
                                      <p:to>
                                        <p:strVal val="visible"/>
                                      </p:to>
                                    </p:set>
                                    <p:animEffect transition="in" filter="fade">
                                      <p:cBhvr>
                                        <p:cTn id="83" dur="550"/>
                                        <p:tgtEl>
                                          <p:spTgt spid="39"/>
                                        </p:tgtEl>
                                      </p:cBhvr>
                                    </p:animEffect>
                                    <p:anim calcmode="lin" valueType="num">
                                      <p:cBhvr additive="base">
                                        <p:cTn id="84" dur="550" fill="hold"/>
                                        <p:tgtEl>
                                          <p:spTgt spid="39"/>
                                        </p:tgtEl>
                                        <p:attrNameLst>
                                          <p:attrName>ppt_x</p:attrName>
                                        </p:attrNameLst>
                                      </p:cBhvr>
                                      <p:tavLst>
                                        <p:tav tm="0">
                                          <p:val>
                                            <p:strVal val="#ppt_x"/>
                                          </p:val>
                                        </p:tav>
                                        <p:tav tm="100000">
                                          <p:val>
                                            <p:strVal val="#ppt_x"/>
                                          </p:val>
                                        </p:tav>
                                      </p:tavLst>
                                    </p:anim>
                                    <p:anim calcmode="lin" valueType="num">
                                      <p:cBhvr additive="base">
                                        <p:cTn id="85" dur="550" fill="hold"/>
                                        <p:tgtEl>
                                          <p:spTgt spid="39"/>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40"/>
                                        </p:tgtEl>
                                        <p:attrNameLst>
                                          <p:attrName>style.visibility</p:attrName>
                                        </p:attrNameLst>
                                      </p:cBhvr>
                                      <p:to>
                                        <p:strVal val="visible"/>
                                      </p:to>
                                    </p:set>
                                    <p:animEffect transition="in" filter="fade">
                                      <p:cBhvr>
                                        <p:cTn id="89" dur="550"/>
                                        <p:tgtEl>
                                          <p:spTgt spid="40"/>
                                        </p:tgtEl>
                                      </p:cBhvr>
                                    </p:animEffect>
                                    <p:anim calcmode="lin" valueType="num">
                                      <p:cBhvr additive="base">
                                        <p:cTn id="90" dur="550" fill="hold"/>
                                        <p:tgtEl>
                                          <p:spTgt spid="40"/>
                                        </p:tgtEl>
                                        <p:attrNameLst>
                                          <p:attrName>ppt_x</p:attrName>
                                        </p:attrNameLst>
                                      </p:cBhvr>
                                      <p:tavLst>
                                        <p:tav tm="0">
                                          <p:val>
                                            <p:strVal val="#ppt_x"/>
                                          </p:val>
                                        </p:tav>
                                        <p:tav tm="100000">
                                          <p:val>
                                            <p:strVal val="#ppt_x"/>
                                          </p:val>
                                        </p:tav>
                                      </p:tavLst>
                                    </p:anim>
                                    <p:anim calcmode="lin" valueType="num">
                                      <p:cBhvr additive="base">
                                        <p:cTn id="91" dur="550" fill="hold"/>
                                        <p:tgtEl>
                                          <p:spTgt spid="40"/>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550"/>
                                        <p:tgtEl>
                                          <p:spTgt spid="41"/>
                                        </p:tgtEl>
                                      </p:cBhvr>
                                    </p:animEffect>
                                    <p:anim calcmode="lin" valueType="num">
                                      <p:cBhvr additive="base">
                                        <p:cTn id="96" dur="550" fill="hold"/>
                                        <p:tgtEl>
                                          <p:spTgt spid="41"/>
                                        </p:tgtEl>
                                        <p:attrNameLst>
                                          <p:attrName>ppt_w</p:attrName>
                                        </p:attrNameLst>
                                      </p:cBhvr>
                                      <p:tavLst>
                                        <p:tav tm="0">
                                          <p:val>
                                            <p:strVal val="0"/>
                                          </p:val>
                                        </p:tav>
                                        <p:tav tm="100000">
                                          <p:val>
                                            <p:strVal val="#ppt_w"/>
                                          </p:val>
                                        </p:tav>
                                      </p:tavLst>
                                    </p:anim>
                                    <p:anim calcmode="lin" valueType="num">
                                      <p:cBhvr additive="base">
                                        <p:cTn id="97" dur="550" fill="hold"/>
                                        <p:tgtEl>
                                          <p:spTgt spid="41"/>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fade">
                                      <p:cBhvr>
                                        <p:cTn id="101" dur="550"/>
                                        <p:tgtEl>
                                          <p:spTgt spid="42"/>
                                        </p:tgtEl>
                                      </p:cBhvr>
                                    </p:animEffect>
                                    <p:anim calcmode="lin" valueType="num">
                                      <p:cBhvr additive="base">
                                        <p:cTn id="102" dur="550" fill="hold"/>
                                        <p:tgtEl>
                                          <p:spTgt spid="42"/>
                                        </p:tgtEl>
                                        <p:attrNameLst>
                                          <p:attrName>ppt_x</p:attrName>
                                        </p:attrNameLst>
                                      </p:cBhvr>
                                      <p:tavLst>
                                        <p:tav tm="0">
                                          <p:val>
                                            <p:strVal val="#ppt_x"/>
                                          </p:val>
                                        </p:tav>
                                        <p:tav tm="100000">
                                          <p:val>
                                            <p:strVal val="#ppt_x"/>
                                          </p:val>
                                        </p:tav>
                                      </p:tavLst>
                                    </p:anim>
                                    <p:anim calcmode="lin" valueType="num">
                                      <p:cBhvr additive="base">
                                        <p:cTn id="103" dur="550" fill="hold"/>
                                        <p:tgtEl>
                                          <p:spTgt spid="4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Amalda ikkalasi raqobatchi emas, qatlamdosh: Kubeflow Pipelines qadamining ichida Ray klasteri ishga tushirilishi mumkin; KServe orqasida Ray Serve ishlashi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Ray va Kubeflow platformalari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5" name="Table 24"/>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Ray</a:t>
                      </a:r>
                    </a:p>
                  </a:txBody>
                  <a:tcPr>
                    <a:solidFill>
                      <a:srgbClr val="1C2755"/>
                    </a:solidFill>
                  </a:tcPr>
                </a:tc>
                <a:tc>
                  <a:txBody>
                    <a:bodyPr/>
                    <a:lstStyle/>
                    <a:p>
                      <a:r>
                        <a:rPr sz="1200" b="1">
                          <a:solidFill>
                            <a:srgbClr val="22D3EE"/>
                          </a:solidFill>
                          <a:latin typeface="Segoe UI"/>
                        </a:rPr>
                        <a:t>Kubeflow</a:t>
                      </a:r>
                    </a:p>
                  </a:txBody>
                  <a:tcPr>
                    <a:solidFill>
                      <a:srgbClr val="1C2755"/>
                    </a:solidFill>
                  </a:tcPr>
                </a:tc>
              </a:tr>
              <a:tr h="520000">
                <a:tc>
                  <a:txBody>
                    <a:bodyPr/>
                    <a:lstStyle/>
                    <a:p>
                      <a:r>
                        <a:rPr sz="1200" b="0">
                          <a:solidFill>
                            <a:srgbClr val="E8EEFA"/>
                          </a:solidFill>
                          <a:latin typeface="Segoe UI"/>
                        </a:rPr>
                        <a:t>Abstraksiya darajasi</a:t>
                      </a:r>
                    </a:p>
                  </a:txBody>
                  <a:tcPr>
                    <a:solidFill>
                      <a:srgbClr val="111834"/>
                    </a:solidFill>
                  </a:tcPr>
                </a:tc>
                <a:tc>
                  <a:txBody>
                    <a:bodyPr/>
                    <a:lstStyle/>
                    <a:p>
                      <a:r>
                        <a:rPr sz="1200" b="0">
                          <a:solidFill>
                            <a:srgbClr val="E8EEFA"/>
                          </a:solidFill>
                          <a:latin typeface="Segoe UI"/>
                        </a:rPr>
                        <a:t>Python API (vazifa, aktor)</a:t>
                      </a:r>
                    </a:p>
                  </a:txBody>
                  <a:tcPr>
                    <a:solidFill>
                      <a:srgbClr val="111834"/>
                    </a:solidFill>
                  </a:tcPr>
                </a:tc>
                <a:tc>
                  <a:txBody>
                    <a:bodyPr/>
                    <a:lstStyle/>
                    <a:p>
                      <a:r>
                        <a:rPr sz="1200" b="0">
                          <a:solidFill>
                            <a:srgbClr val="E8EEFA"/>
                          </a:solidFill>
                          <a:latin typeface="Segoe UI"/>
                        </a:rPr>
                        <a:t>Kubernetes resurslari (YAML, CRD)</a:t>
                      </a:r>
                    </a:p>
                  </a:txBody>
                  <a:tcPr>
                    <a:solidFill>
                      <a:srgbClr val="111834"/>
                    </a:solidFill>
                  </a:tcPr>
                </a:tc>
              </a:tr>
              <a:tr h="520000">
                <a:tc>
                  <a:txBody>
                    <a:bodyPr/>
                    <a:lstStyle/>
                    <a:p>
                      <a:r>
                        <a:rPr sz="1200" b="0">
                          <a:solidFill>
                            <a:srgbClr val="E8EEFA"/>
                          </a:solidFill>
                          <a:latin typeface="Segoe UI"/>
                        </a:rPr>
                        <a:t>Kirish to'sig'i</a:t>
                      </a:r>
                    </a:p>
                  </a:txBody>
                  <a:tcPr>
                    <a:solidFill>
                      <a:srgbClr val="161F40"/>
                    </a:solidFill>
                  </a:tcPr>
                </a:tc>
                <a:tc>
                  <a:txBody>
                    <a:bodyPr/>
                    <a:lstStyle/>
                    <a:p>
                      <a:r>
                        <a:rPr sz="1200" b="0">
                          <a:solidFill>
                            <a:srgbClr val="E8EEFA"/>
                          </a:solidFill>
                          <a:latin typeface="Segoe UI"/>
                        </a:rPr>
                        <a:t>Python bilsa yetarli</a:t>
                      </a:r>
                    </a:p>
                  </a:txBody>
                  <a:tcPr>
                    <a:solidFill>
                      <a:srgbClr val="161F40"/>
                    </a:solidFill>
                  </a:tcPr>
                </a:tc>
                <a:tc>
                  <a:txBody>
                    <a:bodyPr/>
                    <a:lstStyle/>
                    <a:p>
                      <a:r>
                        <a:rPr sz="1200" b="0">
                          <a:solidFill>
                            <a:srgbClr val="E8EEFA"/>
                          </a:solidFill>
                          <a:latin typeface="Segoe UI"/>
                        </a:rPr>
                        <a:t>K8s bilimi talab qilinadi</a:t>
                      </a:r>
                    </a:p>
                  </a:txBody>
                  <a:tcPr>
                    <a:solidFill>
                      <a:srgbClr val="161F40"/>
                    </a:solidFill>
                  </a:tcPr>
                </a:tc>
              </a:tr>
              <a:tr h="520000">
                <a:tc>
                  <a:txBody>
                    <a:bodyPr/>
                    <a:lstStyle/>
                    <a:p>
                      <a:r>
                        <a:rPr sz="1200" b="0">
                          <a:solidFill>
                            <a:srgbClr val="E8EEFA"/>
                          </a:solidFill>
                          <a:latin typeface="Segoe UI"/>
                        </a:rPr>
                        <a:t>Taqsimlangan o'qitish</a:t>
                      </a:r>
                    </a:p>
                  </a:txBody>
                  <a:tcPr>
                    <a:solidFill>
                      <a:srgbClr val="111834"/>
                    </a:solidFill>
                  </a:tcPr>
                </a:tc>
                <a:tc>
                  <a:txBody>
                    <a:bodyPr/>
                    <a:lstStyle/>
                    <a:p>
                      <a:r>
                        <a:rPr sz="1200" b="0">
                          <a:solidFill>
                            <a:srgbClr val="E8EEFA"/>
                          </a:solidFill>
                          <a:latin typeface="Segoe UI"/>
                        </a:rPr>
                        <a:t>Ray Train (DDP/FSDP/DeepSpeed)</a:t>
                      </a:r>
                    </a:p>
                  </a:txBody>
                  <a:tcPr>
                    <a:solidFill>
                      <a:srgbClr val="111834"/>
                    </a:solidFill>
                  </a:tcPr>
                </a:tc>
                <a:tc>
                  <a:txBody>
                    <a:bodyPr/>
                    <a:lstStyle/>
                    <a:p>
                      <a:r>
                        <a:rPr sz="1200" b="0">
                          <a:solidFill>
                            <a:srgbClr val="E8EEFA"/>
                          </a:solidFill>
                          <a:latin typeface="Segoe UI"/>
                        </a:rPr>
                        <a:t>Training Operator (PyTorchJob)</a:t>
                      </a:r>
                    </a:p>
                  </a:txBody>
                  <a:tcPr>
                    <a:solidFill>
                      <a:srgbClr val="111834"/>
                    </a:solidFill>
                  </a:tcPr>
                </a:tc>
              </a:tr>
              <a:tr h="520000">
                <a:tc>
                  <a:txBody>
                    <a:bodyPr/>
                    <a:lstStyle/>
                    <a:p>
                      <a:r>
                        <a:rPr sz="1200" b="0">
                          <a:solidFill>
                            <a:srgbClr val="E8EEFA"/>
                          </a:solidFill>
                          <a:latin typeface="Segoe UI"/>
                        </a:rPr>
                        <a:t>Xizmat</a:t>
                      </a:r>
                    </a:p>
                  </a:txBody>
                  <a:tcPr>
                    <a:solidFill>
                      <a:srgbClr val="161F40"/>
                    </a:solidFill>
                  </a:tcPr>
                </a:tc>
                <a:tc>
                  <a:txBody>
                    <a:bodyPr/>
                    <a:lstStyle/>
                    <a:p>
                      <a:r>
                        <a:rPr sz="1200" b="0">
                          <a:solidFill>
                            <a:srgbClr val="E8EEFA"/>
                          </a:solidFill>
                          <a:latin typeface="Segoe UI"/>
                        </a:rPr>
                        <a:t>Ray Serve (Python graflar)</a:t>
                      </a:r>
                    </a:p>
                  </a:txBody>
                  <a:tcPr>
                    <a:solidFill>
                      <a:srgbClr val="161F40"/>
                    </a:solidFill>
                  </a:tcPr>
                </a:tc>
                <a:tc>
                  <a:txBody>
                    <a:bodyPr/>
                    <a:lstStyle/>
                    <a:p>
                      <a:r>
                        <a:rPr sz="1200" b="0">
                          <a:solidFill>
                            <a:srgbClr val="E8EEFA"/>
                          </a:solidFill>
                          <a:latin typeface="Segoe UI"/>
                        </a:rPr>
                        <a:t>KServe (deklarativ, serverless)</a:t>
                      </a:r>
                    </a:p>
                  </a:txBody>
                  <a:tcPr>
                    <a:solidFill>
                      <a:srgbClr val="161F40"/>
                    </a:solidFill>
                  </a:tcPr>
                </a:tc>
              </a:tr>
              <a:tr h="520000">
                <a:tc>
                  <a:txBody>
                    <a:bodyPr/>
                    <a:lstStyle/>
                    <a:p>
                      <a:r>
                        <a:rPr sz="1200" b="0">
                          <a:solidFill>
                            <a:srgbClr val="E8EEFA"/>
                          </a:solidFill>
                          <a:latin typeface="Segoe UI"/>
                        </a:rPr>
                        <a:t>Quvurlar</a:t>
                      </a:r>
                    </a:p>
                  </a:txBody>
                  <a:tcPr>
                    <a:solidFill>
                      <a:srgbClr val="111834"/>
                    </a:solidFill>
                  </a:tcPr>
                </a:tc>
                <a:tc>
                  <a:txBody>
                    <a:bodyPr/>
                    <a:lstStyle/>
                    <a:p>
                      <a:r>
                        <a:rPr sz="1200" b="0">
                          <a:solidFill>
                            <a:srgbClr val="E8EEFA"/>
                          </a:solidFill>
                          <a:latin typeface="Segoe UI"/>
                        </a:rPr>
                        <a:t>Ray Workflows / tashqi</a:t>
                      </a:r>
                    </a:p>
                  </a:txBody>
                  <a:tcPr>
                    <a:solidFill>
                      <a:srgbClr val="111834"/>
                    </a:solidFill>
                  </a:tcPr>
                </a:tc>
                <a:tc>
                  <a:txBody>
                    <a:bodyPr/>
                    <a:lstStyle/>
                    <a:p>
                      <a:r>
                        <a:rPr sz="1200" b="0">
                          <a:solidFill>
                            <a:srgbClr val="E8EEFA"/>
                          </a:solidFill>
                          <a:latin typeface="Segoe UI"/>
                        </a:rPr>
                        <a:t>Kubeflow Pipelines (asosiy kuch)</a:t>
                      </a:r>
                    </a:p>
                  </a:txBody>
                  <a:tcPr>
                    <a:solidFill>
                      <a:srgbClr val="111834"/>
                    </a:solidFill>
                  </a:tcPr>
                </a:tc>
              </a:tr>
              <a:tr h="520000">
                <a:tc>
                  <a:txBody>
                    <a:bodyPr/>
                    <a:lstStyle/>
                    <a:p>
                      <a:r>
                        <a:rPr sz="1200" b="0">
                          <a:solidFill>
                            <a:srgbClr val="E8EEFA"/>
                          </a:solidFill>
                          <a:latin typeface="Segoe UI"/>
                        </a:rPr>
                        <a:t>Ko'p ijarachilik va kvota</a:t>
                      </a:r>
                    </a:p>
                  </a:txBody>
                  <a:tcPr>
                    <a:solidFill>
                      <a:srgbClr val="161F40"/>
                    </a:solidFill>
                  </a:tcPr>
                </a:tc>
                <a:tc>
                  <a:txBody>
                    <a:bodyPr/>
                    <a:lstStyle/>
                    <a:p>
                      <a:r>
                        <a:rPr sz="1200" b="0">
                          <a:solidFill>
                            <a:srgbClr val="E8EEFA"/>
                          </a:solidFill>
                          <a:latin typeface="Segoe UI"/>
                        </a:rPr>
                        <a:t>KubeRay orqali K8s'ga tayanadi</a:t>
                      </a:r>
                    </a:p>
                  </a:txBody>
                  <a:tcPr>
                    <a:solidFill>
                      <a:srgbClr val="161F40"/>
                    </a:solidFill>
                  </a:tcPr>
                </a:tc>
                <a:tc>
                  <a:txBody>
                    <a:bodyPr/>
                    <a:lstStyle/>
                    <a:p>
                      <a:r>
                        <a:rPr sz="1200" b="0">
                          <a:solidFill>
                            <a:srgbClr val="E8EEFA"/>
                          </a:solidFill>
                          <a:latin typeface="Segoe UI"/>
                        </a:rPr>
                        <a:t>K8s namespace/quota bilan tabiiy</a:t>
                      </a:r>
                    </a:p>
                  </a:txBody>
                  <a:tcPr>
                    <a:solidFill>
                      <a:srgbClr val="161F40"/>
                    </a:solidFill>
                  </a:tcPr>
                </a:tc>
              </a:tr>
              <a:tr h="520000">
                <a:tc>
                  <a:txBody>
                    <a:bodyPr/>
                    <a:lstStyle/>
                    <a:p>
                      <a:r>
                        <a:rPr sz="1200" b="0">
                          <a:solidFill>
                            <a:srgbClr val="E8EEFA"/>
                          </a:solidFill>
                          <a:latin typeface="Segoe UI"/>
                        </a:rPr>
                        <a:t>Tipik foydalanuvchi</a:t>
                      </a:r>
                    </a:p>
                  </a:txBody>
                  <a:tcPr>
                    <a:solidFill>
                      <a:srgbClr val="111834"/>
                    </a:solidFill>
                  </a:tcPr>
                </a:tc>
                <a:tc>
                  <a:txBody>
                    <a:bodyPr/>
                    <a:lstStyle/>
                    <a:p>
                      <a:r>
                        <a:rPr sz="1200" b="0">
                          <a:solidFill>
                            <a:srgbClr val="E8EEFA"/>
                          </a:solidFill>
                          <a:latin typeface="Segoe UI"/>
                        </a:rPr>
                        <a:t>tadqiqot va mahsulot jamoasi, tez iteratsiya</a:t>
                      </a:r>
                    </a:p>
                  </a:txBody>
                  <a:tcPr>
                    <a:solidFill>
                      <a:srgbClr val="111834"/>
                    </a:solidFill>
                  </a:tcPr>
                </a:tc>
                <a:tc>
                  <a:txBody>
                    <a:bodyPr/>
                    <a:lstStyle/>
                    <a:p>
                      <a:r>
                        <a:rPr sz="1200" b="0">
                          <a:solidFill>
                            <a:srgbClr val="E8EEFA"/>
                          </a:solidFill>
                          <a:latin typeface="Segoe UI"/>
                        </a:rPr>
                        <a:t>platforma jamoasi, standartlashgan MLOps</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08e34ea7fcacdfdb.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Taqsimlangan o'qitish va inferens jarayonlarini klasterda boshqarish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o'qitish va inferens jarayonlarini klasterda boshqarish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M3 mavzusida ma'lumot, tensor va quvur parallelligi algoritmik jihatdan ko'rilgan edi; bu yerda ularning klaster darajasidagi talablari muhim.</a:t>
            </a:r>
          </a:p>
        </p:txBody>
      </p:sp>
      <p:sp>
        <p:nvSpPr>
          <p:cNvPr id="29" name="Rounded Rectangle 28"/>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Inferens xizmati esa boshqa talablar bilan: kechikish p99 va narx muvozanati; dinamik to'plash (dynamic batching) — bir necha millisekund ichida kelgan so'rovlarni bitta partiyaga yig'ish (Triton, Ray Serve, vLLM'da continuous batching); bir GPU'da bir nechta…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d1bd7624a92ff021.jpg"/>
          <p:cNvPicPr>
            <a:picLocks noChangeAspect="1"/>
          </p:cNvPicPr>
          <p:nvPr/>
        </p:nvPicPr>
        <p:blipFill>
          <a:blip r:embed="rId2"/>
          <a:srcRect l="12886" r="1288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Pratik89Roy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Bulutli AI xizmatlarini loyihalash tamoyillari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Bulutli AI xizmatlarini loyihalash tamoyillari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Loyihalashda to'rtta savol markaziy.</a:t>
            </a:r>
          </a:p>
          <a:p>
            <a:pPr>
              <a:spcBef>
                <a:spcPts val="400"/>
              </a:spcBef>
            </a:pPr>
            <a:r>
              <a:rPr sz="1600">
                <a:solidFill>
                  <a:srgbClr val="AEBBD9"/>
                </a:solidFill>
                <a:latin typeface="Segoe UI"/>
              </a:rPr>
              <a:t>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Bulutli AI xizmatlarini loyihalash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M7 · Bulutli sun'iy intellekt infratuzilmasi va taqsimlangan AI platformalari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Narx optimallashtirishning amaliy vositalari: spot/preemptible instanslar o'qitish va paketli inferens uchun (60–90 foiz arzon, lekin to'satdan olib qo'yilishi mumkin — nazorat nuqtalari shart); MIG va time-slicing kichik modellar uchun; avtomatik…</a:t>
            </a:r>
          </a:p>
          <a:p>
            <a:pPr>
              <a:spcBef>
                <a:spcPts val="400"/>
              </a:spcBef>
            </a:pPr>
            <a:r>
              <a:rPr sz="1600">
                <a:solidFill>
                  <a:srgbClr val="AEBBD9"/>
                </a:solidFill>
                <a:latin typeface="Segoe UI"/>
              </a:rPr>
              <a:t>Energiya va uglerod izi ham tobora loyihalash mezoniga aylanmoqda: ma'lumot markazining PUE ko'rsatkichi, mintaqa tanlovi, yuklamani energiya arzon vaqtga siljitish.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3" name="Rectangle 92"/>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5" name="TextBox 94"/>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200"/>
                            </p:stCondLst>
                            <p:childTnLst>
                              <p:par>
                                <p:cTn id="360" presetID="53" presetClass="entr" presetSubtype="16"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anim calcmode="lin" valueType="num">
                                      <p:cBhvr additive="base">
                                        <p:cTn id="363" dur="550" fill="hold"/>
                                        <p:tgtEl>
                                          <p:spTgt spid="92"/>
                                        </p:tgtEl>
                                        <p:attrNameLst>
                                          <p:attrName>ppt_w</p:attrName>
                                        </p:attrNameLst>
                                      </p:cBhvr>
                                      <p:tavLst>
                                        <p:tav tm="0">
                                          <p:val>
                                            <p:strVal val="0"/>
                                          </p:val>
                                        </p:tav>
                                        <p:tav tm="100000">
                                          <p:val>
                                            <p:strVal val="#ppt_w"/>
                                          </p:val>
                                        </p:tav>
                                      </p:tavLst>
                                    </p:anim>
                                    <p:anim calcmode="lin" valueType="num">
                                      <p:cBhvr additive="base">
                                        <p:cTn id="364" dur="550" fill="hold"/>
                                        <p:tgtEl>
                                          <p:spTgt spid="92"/>
                                        </p:tgtEl>
                                        <p:attrNameLst>
                                          <p:attrName>ppt_h</p:attrName>
                                        </p:attrNameLst>
                                      </p:cBhvr>
                                      <p:tavLst>
                                        <p:tav tm="0">
                                          <p:val>
                                            <p:strVal val="0"/>
                                          </p:val>
                                        </p:tav>
                                        <p:tav tm="100000">
                                          <p:val>
                                            <p:strVal val="#ppt_h"/>
                                          </p:val>
                                        </p:tav>
                                      </p:tavLst>
                                    </p:anim>
                                  </p:childTnLst>
                                </p:cTn>
                              </p:par>
                            </p:childTnLst>
                          </p:cTn>
                        </p:par>
                        <p:par>
                          <p:cTn id="365" fill="hold">
                            <p:stCondLst>
                              <p:cond delay="350"/>
                            </p:stCondLst>
                            <p:childTnLst>
                              <p:par>
                                <p:cTn id="366" presetID="22" presetClass="entr" presetSubtype="8" fill="hold" grpId="0" nodeType="afterEffect">
                                  <p:stCondLst>
                                    <p:cond delay="0"/>
                                  </p:stCondLst>
                                  <p:childTnLst>
                                    <p:set>
                                      <p:cBhvr>
                                        <p:cTn id="367" dur="1" fill="hold">
                                          <p:stCondLst>
                                            <p:cond delay="0"/>
                                          </p:stCondLst>
                                        </p:cTn>
                                        <p:tgtEl>
                                          <p:spTgt spid="93"/>
                                        </p:tgtEl>
                                        <p:attrNameLst>
                                          <p:attrName>style.visibility</p:attrName>
                                        </p:attrNameLst>
                                      </p:cBhvr>
                                      <p:to>
                                        <p:strVal val="visible"/>
                                      </p:to>
                                    </p:set>
                                    <p:animEffect transition="in" filter="wipe(left)">
                                      <p:cBhvr>
                                        <p:cTn id="369" dur="800"/>
                                        <p:tgtEl>
                                          <p:spTgt spid="93"/>
                                        </p:tgtEl>
                                      </p:cBhvr>
                                    </p:animEffect>
                                  </p:childTnLst>
                                </p:cTn>
                              </p:par>
                            </p:childTnLst>
                          </p:cTn>
                        </p:par>
                        <p:par>
                          <p:cTn id="370" fill="hold">
                            <p:stCondLst>
                              <p:cond delay="500"/>
                            </p:stCondLst>
                            <p:childTnLst>
                              <p:par>
                                <p:cTn id="371" presetID="42" presetClass="entr" presetSubtype="0" fill="hold" grpId="0" nodeType="afterEffect">
                                  <p:stCondLst>
                                    <p:cond delay="0"/>
                                  </p:stCondLst>
                                  <p:childTnLst>
                                    <p:set>
                                      <p:cBhvr>
                                        <p:cTn id="372" dur="1" fill="hold">
                                          <p:stCondLst>
                                            <p:cond delay="0"/>
                                          </p:stCondLst>
                                        </p:cTn>
                                        <p:tgtEl>
                                          <p:spTgt spid="94"/>
                                        </p:tgtEl>
                                        <p:attrNameLst>
                                          <p:attrName>style.visibility</p:attrName>
                                        </p:attrNameLst>
                                      </p:cBhvr>
                                      <p:to>
                                        <p:strVal val="visible"/>
                                      </p:to>
                                    </p:set>
                                    <p:animEffect transition="in" filter="fade">
                                      <p:cBhvr>
                                        <p:cTn id="373" dur="550"/>
                                        <p:tgtEl>
                                          <p:spTgt spid="94"/>
                                        </p:tgtEl>
                                      </p:cBhvr>
                                    </p:animEffect>
                                    <p:anim calcmode="lin" valueType="num">
                                      <p:cBhvr additive="base">
                                        <p:cTn id="374" dur="550" fill="hold"/>
                                        <p:tgtEl>
                                          <p:spTgt spid="94"/>
                                        </p:tgtEl>
                                        <p:attrNameLst>
                                          <p:attrName>ppt_x</p:attrName>
                                        </p:attrNameLst>
                                      </p:cBhvr>
                                      <p:tavLst>
                                        <p:tav tm="0">
                                          <p:val>
                                            <p:strVal val="#ppt_x"/>
                                          </p:val>
                                        </p:tav>
                                        <p:tav tm="100000">
                                          <p:val>
                                            <p:strVal val="#ppt_x"/>
                                          </p:val>
                                        </p:tav>
                                      </p:tavLst>
                                    </p:anim>
                                    <p:anim calcmode="lin" valueType="num">
                                      <p:cBhvr additive="base">
                                        <p:cTn id="375" dur="550" fill="hold"/>
                                        <p:tgtEl>
                                          <p:spTgt spid="94"/>
                                        </p:tgtEl>
                                        <p:attrNameLst>
                                          <p:attrName>ppt_y</p:attrName>
                                        </p:attrNameLst>
                                      </p:cBhvr>
                                      <p:tavLst>
                                        <p:tav tm="0">
                                          <p:val>
                                            <p:strVal val="#ppt_y+.08"/>
                                          </p:val>
                                        </p:tav>
                                        <p:tav tm="100000">
                                          <p:val>
                                            <p:strVal val="#ppt_y"/>
                                          </p:val>
                                        </p:tav>
                                      </p:tavLst>
                                    </p:anim>
                                  </p:childTnLst>
                                </p:cTn>
                              </p:par>
                            </p:childTnLst>
                          </p:cTn>
                        </p:par>
                        <p:par>
                          <p:cTn id="376" fill="hold">
                            <p:stCondLst>
                              <p:cond delay="650"/>
                            </p:stCondLst>
                            <p:childTnLst>
                              <p:par>
                                <p:cTn id="377" presetID="10" presetClass="entr" presetSubtype="0" fill="hold" grpId="0" nodeType="afterEffect">
                                  <p:stCondLst>
                                    <p:cond delay="0"/>
                                  </p:stCondLst>
                                  <p:childTnLst>
                                    <p:set>
                                      <p:cBhvr>
                                        <p:cTn id="378" dur="1" fill="hold">
                                          <p:stCondLst>
                                            <p:cond delay="0"/>
                                          </p:stCondLst>
                                        </p:cTn>
                                        <p:tgtEl>
                                          <p:spTgt spid="95"/>
                                        </p:tgtEl>
                                        <p:attrNameLst>
                                          <p:attrName>style.visibility</p:attrName>
                                        </p:attrNameLst>
                                      </p:cBhvr>
                                      <p:to>
                                        <p:strVal val="visible"/>
                                      </p:to>
                                    </p:set>
                                    <p:animEffect transition="in" filter="fade">
                                      <p:cBhvr>
                                        <p:cTn id="379" dur="55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
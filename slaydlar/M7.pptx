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Ma'ruzaning maqsadi — sun'iy intellekt modellarini o'qitish va xizmat ko'rsatish uchun bulutli infratuzilmaning qatlamli arxitekturasini, konteynerlash (Docker) va orkestratsiya (Kubernetes) texnologiyalarini, Ray va Kubeflow kabi taqsimlangan AI platformalarini tushuntirish hamda magistrantga inferens xizmatini konteynerlab, Kubernetes klasterida joylash va avtomatik masshtablash ko'nikmasini berishdir. Mavzuni o'zlashtirgan talaba:</a:t>
            </a:r>
          </a:p>
          <a:p/>
          <a:p>
            <a:r>
              <a:t>Cloud AI arxitekturasining qatlamlarini (apparat, virtualizatsiya/konteyner, orkestratsiya, platforma, xizmat) va IaaS/PaaS/SaaS darajalarida sun'iy intellekt xizmatlarining farqini tushuntira oladi.</a:t>
            </a:r>
          </a:p>
          <a:p/>
          <a:p>
            <a:r>
              <a:t>Docker obrazi, konteyner, registr tushunchalarini biladi, GPU'li inferens xizmati uchun Dockerfile yoza oladi va obraz hajmi hamda qatlamlar (layers) ta'sirini baholay oladi.</a:t>
            </a:r>
          </a:p>
          <a:p/>
          <a:p>
            <a:r>
              <a:t>Kubernetes'ning asosiy obyektlari (Pod, Deployment, Service, HPA, Node, Namespace) va GPU resurslarini rejalashtirish mexanizmini (device plugin, resource requests/limits, taints) tushuntira oladi, YAML manifestlarini yoza oladi.</a:t>
            </a:r>
          </a:p>
          <a:p/>
          <a:p>
            <a:r>
              <a:t>Ray (Ray Train, Ray Serve, Ray Data) va Kubeflow (Pipelines, Training Operator, KServe) platformalarining vazifasini, farqini va qachon qaysi biri mos kelishini asoslay oladi.</a:t>
            </a:r>
          </a:p>
          <a:p/>
          <a:p>
            <a:r>
              <a:t>Taqsimlangan o'qitish va inferens jarayonlarini klaster darajasida boshqarish, GPU bandligini (utilization) oshirish va bulutli AI xizmatlarini narx, ishonchlilik va kechikish talablariga mos loyihalash tamoyillarini qo'llay oladi.</a:t>
            </a:r>
          </a:p>
          <a:p/>
          <a:p>
            <a:r>
              <a:t>Mavzu fanning TN3 (taqsimlangan va bulutli AI platformalarida tizimlarni joylash), TN4 (AI infratuzilmasini loyihalash va boshqarish) va TN6 (MLOps va ekspluatatsiya) natijalariga xizmat qiladi; A4 amaliy mashg'uloti va 4-mustaqil ta'lim topshirig'i (Docker/Kubernetes bilan model joylash) uchun asosiy nazariy manba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Ma'ruzaning maqsadi — sun'iy intellekt modellarini o'qitish va xizmat ko'rsatish uchun bulutli infratuzilmaning qatlamli arxitekturasini, konteynerlash (Docker) va orkestratsiya (Kubernetes) texnologiyalarini, Ray va Kubeflow kabi taqsimlangan AI platformalarini tushuntirish hamda magistrantga inferens xizmatini konteynerlab, Kubernetes klasterida joylash va avtomatik masshtablash ko'nikmasini berishdir. Mavzuni o'zlashtirgan talaba:</a:t>
            </a:r>
          </a:p>
          <a:p/>
          <a:p>
            <a:r>
              <a:t>Cloud AI arxitekturasining qatlamlarini (apparat, virtualizatsiya/konteyner, orkestratsiya, platforma, xizmat) va IaaS/PaaS/SaaS darajalarida sun'iy intellekt xizmatlarining farqini tushuntira oladi.</a:t>
            </a:r>
          </a:p>
          <a:p/>
          <a:p>
            <a:r>
              <a:t>Docker obrazi, konteyner, registr tushunchalarini biladi, GPU'li inferens xizmati uchun Dockerfile yoza oladi va obraz hajmi hamda qatlamlar (layers) ta'sirini baholay oladi.</a:t>
            </a:r>
          </a:p>
          <a:p/>
          <a:p>
            <a:r>
              <a:t>Kubernetes'ning asosiy obyektlari (Pod, Deployment, Service, HPA, Node, Namespace) va GPU resurslarini rejalashtirish mexanizmini (device plugin, resource requests/limits, taints) tushuntira oladi, YAML manifestlarini yoza oladi.</a:t>
            </a:r>
          </a:p>
          <a:p/>
          <a:p>
            <a:r>
              <a:t>Ray (Ray Train, Ray Serve, Ray Data) va Kubeflow (Pipelines, Training Operator, KServe) platformalarining vazifasini, farqini va qachon qaysi biri mos kelishini asoslay oladi.</a:t>
            </a:r>
          </a:p>
          <a:p/>
          <a:p>
            <a:r>
              <a:t>Taqsimlangan o'qitish va inferens jarayonlarini klaster darajasida boshqarish, GPU bandligini (utilization) oshirish va bulutli AI xizmatlarini narx, ishonchlilik va kechikish talablariga mos loyihalash tamoyillarini qo'llay oladi.</a:t>
            </a:r>
          </a:p>
          <a:p/>
          <a:p>
            <a:r>
              <a:t>Mavzu fanning TN3 (taqsimlangan va bulutli AI platformalarida tizimlarni joylash), TN4 (AI infratuzilmasini loyihalash va boshqarish) va TN6 (MLOps va ekspluatatsiya) natijalariga xizmat qiladi; A4 amaliy mashg'uloti va 4-mustaqil ta'lim topshirig'i (Docker/Kubernetes bilan model joylash) uchun asosiy nazariy manba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sun'iy intellekt loyihasining hayot sikli bitta kompyuterda tugamaydi. Katta til modelini o'qitish uchun yuzlab yoki minglab GPU bir necha hafta davomida muvofiq ishlashi kerak; tavsiya tizimining inferens xizmati sutkasiga milliardlab so'rovga xizmat qilishi, kechasi yuklama pasayganda resurslarni bo'shatib, ertalab yana kengayishi kerak; tadqiqot guruhidagi o'nlab muhandis bir xil GPU klasterini adolatli bo'lishib ishlatishi kerak. Bu talablar «qaysi GPU?» savolidan «GPU'larni qanday boshqarish kerak?» savoliga o'tishni taqozo etadi. Javob — bulutli infratuzilma va uning ustidagi platforma qatlami.</a:t>
            </a:r>
          </a:p>
          <a:p/>
          <a:p>
            <a:r>
              <a:t>Sanoat amaliyotida bu masala to'g'ridan-to'g'ri iqtisodiyotga bog'liq. Bulut provayderlarida bitta H100 GPU soatiga taxminan 2–4 dollar (talab va shartnomaga qarab) turadi; 512 GPU'li o'qitish ishi bir oy davomida yuz minglab dollar sarflaydi. Agar klaster orkestratsiyasi yomon bo'lsa — GPU'lar ma'lumot kutib bo'sh turadi, muvaffaqiyatsiz ish qayta boshlanmaydi, nazorat nuqtalari (checkpoint) yo'qoladi — xarajat bir necha barobar oshadi. Sanoat hisobotlarida GPU klasterlarining o'rtacha bandligi ko'pincha 30–50 foizdan oshmasligi qayd etiladi; har bir foiz yaxshilanish katta mablag'dir. Inferens tomonida esa muammo boshqacha: so'rovlar oqimi kun davomida 5–10 baravar o'zgaradi, va xizmat ham kechikish (odatda p99 bir necha yuz millisekund) talabini, ham narx cheklovini bir vaqtda qondirishi kerak — bu avtomatik masshtablashsiz mumkin emas.</a:t>
            </a:r>
          </a:p>
          <a:p/>
          <a:p>
            <a:r>
              <a:t>Shu sababli bugungi AI tizimlari muhandisi uchun Docker va Kubernetes — ixtiyoriy «DevOps» bilimi emas, balki modelni foydalanuvchiga yetkazishning standart tili. Ray va Kubeflow esa shu tilning ustida AI'ga xos vazifalar — taqsimlangan o'qitish, giperparametr qidiruvi, quvurlar, model xizmati — uchun qurilgan platformalardir.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Bulutli sun'iy intellekt infratuzilmasini besh qatlamli stek sifatida tasavvur qilish qulay. Eng pastda — fizik apparat: GPU serverlari (masalan, 8× H100 yoki B200 NVLink bilan), yuqori tezlikli tarmoq (InfiniBand NDR 400 Gb/s yoki RoCE Ethernet), parallel saqlash tizimlari (Lustre, GPFS, obyekt saqlash S3). Ikkinchi qatlam — virtualizatsiya va izolyatsiya: virtual mashinalar yoki to'g'ridan-to'g'ri konteynerlar; GPU'lar PCIe passthrough, vGPU yoki MIG (Multi-Instance GPU — bitta A100/H100'ni 7 tagacha mustaqil bo'lakka bo'lish) orqali ajratiladi. Uchinchi qatlam — orkestratsiya: Kubernetes (yoki HPC muhitlarida Slurm) resurslarni taqsimlaydi, ishlarni rejalashtiradi, nosozliklarni tiklaydi. To'rtinchi qatlam — AI platformasi: Ray, Kubeflow, MLflow, Triton Inference Server, vLLM — o'qitish, eksperiment kuzatuvi, xizmat ko'rsatish. Beshinchi qatlam — xizmat: foydalanuvchi ko'radigan API, veb-ilova, boshqa tizimlar bilan integratsiya.</a:t>
            </a:r>
          </a:p>
          <a:p/>
          <a:p>
            <a:r>
              <a:t>Xizmat modellari nuqtai nazaridan AI bulutida uchta daraja farqlanadi. IaaS (Infrastructure as a Service) — GPU'li virtual mashina ijarasi (AWS p5, GCP A3, Azure ND H100 v5 instanslari yoki ixtisoslashgan GPU bulutlari); muhandis to'liq nazoratga ega, lekin hamma narsani o'zi sozlaydi. PaaS (Platform as a Service) — boshqariladigan Kubernetes (EKS, GKE, AKS), boshqariladigan o'qitish va xizmat (SageMaker, Vertex AI, Azure ML); infratuzilma provayder zimmasida, muhandis kod va konfiguratsiyaga e'tibor qaratadi. SaaS yoki API darajasi — tayyor model API'lari (til, ko'rish, nutq modellari); eng tez, lekin eng kam nazorat va ma'lumot maxfiyligi masalalari. Tanlov loyiha bosqichiga, jamoa tajribasiga va ma'lumot talablariga bog'liq; ko'p tashkilotlar gibrid yondashuvni — o'z klasteri (on-premise) + bulut «portlash» (burst) — qo'llaydi.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 dasturiy ta'minotining eng og'riqli muammolaridan biri — muhit mosligi: CUDA versiyasi, drayver, cuDNN, PyTorch g'ildiragi, Python paketlari o'rtasidagi bog'liqliklar. «Mening kompyuterimda ishlaydi» holati GPU dasturlarida ayniqsa ko'p uchraydi. Konteyner (container) bu muammoni dastur va uning barcha foydalanuvchi-fazo bog'liqliklarini bitta obrazga (image) o'rab, yadro (kernel) esa xost bilan umumiy bo'lgan holda hal qiladi. Virtual mashinadan farqi: alohida operatsion tizim yadrosi yo'q, shuning uchun ishga tushish millisekundlarda, qo'shimcha xarajat deyarli nol, obraz hajmi gigabaytlarda emas, yuzlab megabaytdan boshlanadi.</a:t>
            </a:r>
          </a:p>
          <a:p/>
          <a:p>
            <a:r>
              <a:t>Docker obrazi qatlamlardan (layers) iborat: Dockerfile'dagi har bir RUN, COPY buyrug'i yangi faqat-o'qish qatlami yaratadi; qatlamlar keshlanadi va obrazlar orasida umumiy bo'ladi. Shuning uchun Dockerfile tartibi muhim: kamdan-kam o'zgaradigan buyruqlar (bazaviy obraz, tizim paketlari, og'ir Python kutubxonalari) tepada, tez-tez o'zgaradigan kod pastda bo'lsa, qayta qurish tez bo'ladi. GPU'ga kirish NVIDIA Container Toolkit orqali ta'minlanadi: konteyner ichida CUDA kutubxonalari va drayver interfeysi xostdan ulanadi, docker run --gpus all bilan ishga tushiriladi. Bazaviy obraz sifatida odatda nvidia/cuda:12.x-runtime-ubuntu22.04 yoki NGC (NVIDIA GPU Cloud) katalogidagi tayyor pytorch, tritonserver obrazlari ishlatiladi; ikkinchisi katta (10+ GB), lekin barcha optimallashtirilgan kutubxonalar bilan keladi.</a:t>
            </a:r>
          </a:p>
          <a:p/>
          <a:p>
            <a:r>
              <a:t>Yaxshi inferens obrazining belgilari: ko'p bosqichli qurilish (multi-stage build) — kompilyatsiya vositalari yakuniy obrazga kirmaydi; aniq versiyalar (torch==2.4.1, ma'lum CUDA bilan); ildiz bo'lmagan foydalanuvchi; sog'liqni tekshirish (healthcheck) endpoint'i; model og'irliklari obrazga emas, tashqi hajm (volume) yoki obyekt saqlashdan yuklanadi (aks holda har model versiyasi uchun gigabaytli obraz qayta quriladi).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(K8s) — konteynerlarni ko'plab mashinalar (tugunlar, nodes) bo'ylab joylashtiradigan, kuzatadigan va tiklaydigan ochiq manbali tizim [9]. Uning asosiy g'oyasi — deklarativ boshqaruv: muhandis «qanday qilish»ni emas, «qanday holat bo'lishi kerak»ligini YAML manifestlarida yozadi, boshqaruvchilar (controllers) esa haqiqiy holatni istalgan holatga doimo yaqinlashtiradi. Asosiy obyektlar:</a:t>
            </a:r>
          </a:p>
          <a:p/>
          <a:p>
            <a:r>
              <a:t>GPU — Kubernetes uchun «kengaytirilgan resurs» (extended resource): NVIDIA device plugin (odatda GPU Operator orqali o'rnatiladi) har tugundagi GPU'larni nvidia.com/gpu resursi sifatida e'lon qiladi, Pod esa resources.limits: nvidia.com/gpu: 1 bilan uni so'raydi. Rejalashtiruvchi (scheduler) faqat bo'sh GPU'li tugunga Pod joylaydi. GPU bo'linmaydigan resurs (CPU kabi kasr qiymat berib bo'lmaydi), shuning uchun kichik modellar uchun MIG bo'laklari (nvidia.com/mig-1g.10gb) yoki vaqt bo'yicha ulashish (time-slicing) sozlanadi. GPU tugunlariga odatda taint qo'yiladi, shunda oddiy Pod'lar u yerga tushmaydi va qimmat resursni band qilmaydi. Taqsimlangan o'qitish uchun esa «gang scheduling» — barcha ishchilar bir vaqtda joylanishi yoki hech biri joylanmasligi — zarur; buni standart rejalashtiruvchi bilmaydi, Volcano, Kueue yoki YuniKorn kabi qo'shimcha rejalashtiruvchilar hal qiladi.</a:t>
            </a:r>
          </a:p>
          <a:p/>
          <a:p>
            <a:r>
              <a:t>Masshtablash ikki o'qda: HPA nusxa sonini o'zgartiradi (gorizontal), Cluster Autoscaler yoki Karpenter esa bulutdan yangi tugunlar so'raydi; GPU tugunining ishga tushishi 2–5 daqiqa olgani uchun masshtablash siyosati oldindan o'ylanishi kerak. Inferens uchun HPA metrikasi sifatida CPU foizi kam foyda beradi (GPU xizmati CPU'ni kam ishlatadi); to'g'ri metrika — GPU bandligi (DCGM eksporter orqali), so'rovlar navbati uzunligi yoki p99 kechikish (Prometheus + custom metrics adapter yoki KEDA orqali).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umumiy maqsadli orkestrator; u «ushbu 64 GPU'da PyTorch DDP o'qitishini boshla» yoki «giperparametrlarni Bayes usulida qidir» degan tushunchalarni bilmaydi. Shu bo'shliqni AI platformalari to'ldiradi.</a:t>
            </a:r>
          </a:p>
          <a:p/>
          <a:p>
            <a:r>
              <a:t>Ray — Python uchun taqsimlangan hisoblash freymvorki. Uning yadrosi ikkita primitivga tayanadi: @ray.remote funksiyalar (holatsiz vazifalar) va aktorlar (holatli ob'ektlar); ular klasterdagi istalgan tugunda bajariladi, natijalar taqsimlangan ob'ekt omborida saqlanadi. Yadro ustida kutubxonalar: Ray Data (taqsimlangan ma'lumot yuklash va oldindan qayta ishlash), Ray Train (PyTorch/TensorFlow/XGBoost uchun taqsimlangan o'qitish, DDP va FSDP'ni avtomatik sozlaydi), Ray Tune (giperparametr qidiruvi, erta to'xtatish algoritmlari bilan), Ray Serve (model xizmati, Python'da yozilgan graflar, avtomatik masshtablash, so'rovlarni to'plash), RLlib (mustahkamlovchi o'qitish). Ray'ning kuchli tomoni — bir xil Python kodi noutbukdan 1000 tugunli klastergacha o'zgarishsiz ishlaydi; geterogen resurslar (CPU'da oldindan qayta ishlash, GPU'da o'qitish) bitta quvurda birlashadi. Kubernetes'da Ray KubeRay operatori orqali ishga tushiriladi (RayCluster, RayJob, RayService obyektlari). Ray'ni OpenAI, Uber, Shopify kabi kompaniyalar katta miqyosda ishlatishi ma'lum; vLLM ham ko'p GPU'li inferensda Ray'dan foydalanadi.</a:t>
            </a:r>
          </a:p>
          <a:p/>
          <a:p>
            <a:r>
              <a:t>Kubeflow — Kubernetes'da ML ish oqimlari uchun komponentlar to'plami. Kubeflow Pipelines — quvurlarni (ma'lumot tayyorlash → o'qitish → baholash → ro'yxatga olish) DAG sifatida aniqlash, har qadam alohida konteynerda, artefaktlar kuzatuvi va takroriy ishga tushirish bilan. Training Operator — PyTorchJob, TFJob, MPIJob kabi maxsus resurslar orqali taqsimlangan o'qitishni Kubernetes'ga tushunarli qiladi (master/worker Pod'larini yaratadi, MASTER_ADDR, RANK kabi muhit o'zgaruvchilarini o'rnatadi). Katib — giperparametr qidiruvi va neyron arxitektura qidiruvi. KServe (ilgari KFServing) — serverless uslubidagi model xizmati: InferenceService resursi, nolga qadar masshtablash (scale-to-zero), kanareyka (canary) tarqatish, standart V2 inferens protokoli; orqa tomonida Triton, TorchServe, vLLM yoki o'z konteyneringiz bo'lishi mumkin. Notebooks — klasterdagi Jupyter muhitlari.</a:t>
            </a:r>
          </a:p>
          <a:p/>
          <a:p>
            <a:r>
              <a:t>Amalda ikkalasi raqobatchi emas, qatlamdosh: Kubeflow Pipelines qadamining ichida Ray klasteri ishga tushirilishi mumkin; KServe orqasida Ray Serve ishlashi mumkin.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mavzusida ma'lumot, tensor va quvur parallelligi algoritmik jihatdan ko'rilgan edi; bu yerda ularning klaster darajasidagi talablari muhim. Taqsimlangan o'qitish ishi: (1) barcha ishchilar bir vaqtda joylanishi (gang scheduling); (2) ishchilar tarmoq topologiyasini hisobga olgan holda joylashishi — bitta serverdagi 8 GPU NVLink bilan, serverlar InfiniBand bilan bog'langan, shuning uchun tensor parallellik server ichida, ma'lumot parallellik serverlar orasida; (3) NCCL uchun RDMA tarmoq konteynerga uzatilishi (hostNetwork yoki SR-IOV); (4) nazorat nuqtalari tez umumiy saqlashga muntazam yozilishi — minglab GPU'da apparat nosozligi kutilgan hodisa (soatlab emas, kunlab ishlaydigan ishlarda o'rtacha nosozlik oralig'i bir necha soat bo'lishi mumkin); (5) nosozlikda avtomatik qayta boshlash va elastik masshtablash (PyTorch elastic, Ray Train bu uchun mexanizm beradi).</a:t>
            </a:r>
          </a:p>
          <a:p/>
          <a:p>
            <a:r>
              <a:t>Inferens xizmati esa boshqa talablar bilan: kechikish p99 va narx muvozanati; dinamik to'plash (dynamic batching) — bir necha millisekund ichida kelgan so'rovlarni bitta partiyaga yig'ish (Triton, Ray Serve, vLLM'da continuous batching); bir GPU'da bir nechta model (model multiplexing) yoki bitta modelning bir nechta nusxasi; issiq nusxa (warm replica) — nolga qadar masshtablashda birinchi so'rovning «sovuq start» kechikishi model yuklash tufayli o'nlab soniya bo'lishi mumkin; versiyalash va kanareyka — trafikning 5 foizini yangi versiyaga yo'naltirib, metrikalarni solishtirish; kuzatuv — kechikish taqsimoti, xatolik ulushi, GPU bandligi, token/s (LLM uchun).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Loyihalashda to'rtta savol markaziy. Birinchisi — hisoblash birligi: bitta so'rov qancha GPU-millisekund oladi? Bundan narx (so'rov boshiga) va kerakli nusxa soni kelib chiqadi. Ikkinchisi — masshtablash signali va tezligi: GPU tugun 3 daqiqada ko'tariladi, demak kutilgan yuklama o'sishi oldindan prognoz qilinishi yoki zaxira nusxa saqlanishi kerak. Uchinchisi — holat: inferens xizmati odatda holatsiz (stateless), lekin LLM suhbat sessiyalari KV-kesh, vektor bazalar, xususiyat omborlari holatli; ularni alohida qatlamga ajratish masshtablashni soddalashtiradi. To'rtinchisi — ishonchlilik va xavfsizlik: bir nechta zona (availability zone) bo'ylab taqsimlash, resurs chegaralari, tarmoq siyosatlari, sirlarni boshqarish, ma'lumot rezidentligi.</a:t>
            </a:r>
          </a:p>
          <a:p/>
          <a:p>
            <a:r>
              <a:t>Narx optimallashtirishning amaliy vositalari: spot/preemptible instanslar o'qitish va paketli inferens uchun (60–90 foiz arzon, lekin to'satdan olib qo'yilishi mumkin — nazorat nuqtalari shart); MIG va time-slicing kichik modellar uchun; avtomatik masshtablash va nolga qadar masshtablash kam ishlatiladigan xizmatlar uchun; model siqish (M8) — bir GPU'ga ko'proq so'rov; zaxiralangan sig'im (reserved capacity) barqaror yuklama uchun. Energiya va uglerod izi ham tobora loyihalash mezoniga aylanmoqda: ma'lumot markazining PUE ko'rsatkichi, mintaqa tanlovi, yuklamani energiya arzon vaqtga siljitish.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Misolda matn tasniflash modeli (DistilBERT, sentiment) uchun FastAPI asosidagi inferens xizmatini konteynerlab, Kubernetes klasterida Deployment + Service + HPA bilan joylaymiz, yuklama berib masshtablashni kuzatamiz. Misol GPU'li klasterda ham (nvidia.com/gpu so'rovi bilan), ham o'quv maqsadida CPU'li minikube/kind klasterida ishlaydi (GPU qatorlarini izohga olib). Barcha raqamlar taxminiy.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xizmat ishga tushganda modelni bir marta yuklaydi va isitadi — Kubernetes'da bu vaqt readinessProbe orqali hisobga olinadi, shunda trafik tayyor bo'lmagan nusxaga yuborilmaydi. /healthz va /metrics endpoint'lari orkestrator va kuzatuv uchun; Prometheus formatidagi kechikish gistogrammasi keyinroq HPA uchun ham ishlatilishi mumkin. Model nomi muhit o'zgaruvchisidan olinadi — obrazni qayta qurmasdan boshqa modelga o'tish uchun.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bazaviy obraz CUDA runtime (kompilyator va sarlavha fayllarsiz, devel variantidan ~3 GB kichik). requirements.txt koddan oldin nusxalanadi — kod o'zgarganda og'ir pip install qatlami keshdan olinadi. Og'irliklar obrazga kiritildi (≈ 270 MB) — bu ishga tushishni tezlashtiradi, lekin model har o'zgarganda obraz qayta quriladi; muqobil — og'irliklarni PersistentVolume yoki S3'dan init-konteyner bilan yuklash. Yakuniy obraz hajmi taxminan 6–7 GB (asosan PyTorch + CUDA kutubxonalari); CPU'gina variant python:3.11-slim + CPU torch bilan ~1,5 GB bo'ladi. --workers 1 ataylab: bitta GPU'da bir nechta uvicorn ishchisi modelni bir necha marta yuklaydi; parallellik Kubernetes nusxalari orqali olinadi.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Deployment ikki nusxani ushlab turadi; maxUnavailable: 0 yangilanishda avval yangi Pod tayyor bo'lishini, keyin eskisini o'chirishni kafolatlaydi — xizmat uzilmaydi. requests rejalashtiruvchi uchun (tugunda joy bormi?), limits esa cgroup chegarasi; GPU uchun ikkalasi teng bo'lishi shart. Toleration GPU tugunlaridagi taint'dan o'tish uchun; nodeSelector aniq tezlatkich turini tanlaydi (CPU klasterida ikkala qatorni va nvidia.com/gpu qatorlarini olib tashlang). readinessProbe model yuklanmaguncha Pod'ni Service'dan yashiradi; livenessProbe qotib qolgan jarayonni qayta ishga tushiradi. Service ClusterIP klaster ichidagi barqaror manzil beradi; tashqi kirish Ingress orqali qo'shiladi.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HPA har 15 soniyada metrikani o'qib, kerakli = joriy × (o'lchangan / maqsad) formulasi bilan nusxa sonini hisoblaydi. behavior bo'limi tebranishni (flapping) oldini oladi: tez ko'tarilish (30 s), sekin tushish (5 daqiqa barqarorlik) — inferens xizmatlari uchun odatiy siyosat, chunki GPU Pod'ning qayta ishga tushishi qimmat. Taxminiy kuzatuv (T4 GPU, FP16, 2 ta matn/so'rov): bitta nusxa ~400–600 so'rov/s, median ~3 ms, p99 ~10 ms; 64 parallel mijoz bilan CPU bandligi (tokenizatsiya va HTTP tufayli) 60 foizdan oshadi va HPA 1–2 daqiqada 2 → 4 → 6 nusxaga ko'taradi, so'ngra kechikish barqarorlashadi; yuklama to'xtagach 5–10 daqiqada 2 nusxaga qaytadi. Agar klasterda bo'sh GPU tuguni bo'lmasa, yangi Pod'lar Pending holatida qoladi — Cluster Autoscaler yoki Karpenter kerak, tugun ko'tarilishi esa 2–5 daqiqa oladi.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kubectl set image rolling update'ni boshlaydi; rollout undo avvalgi ReplicaSet'ni qaytaradi — bu Kubernetes'ning versiyalash kuchi. Ray Serve varianti bir xil ishni Python dekoratorlari bilan ifodalaydi: autoscaling_config HPA'ga o'xshaydi, lekin metrika so'rovlar navbati — inferens uchun tabiiyroq; @serve.batch esa 5 ms ichida kelgan so'rovlarni 32 tagacha to'plab bitta GPU chaqiruviga yuboradi — bu throughput'ni 3–5 baravar oshiradi (taxminiy), ayniqsa transformer modellarida. Kubernetes'da bu KubeRay RayService resursi orqali joylanadi va Ray o'z ichida nusxalarni boshqaradi, Kubernetes esa Ray tugunlarini.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Misol bir nechta tizimli xulosani ko'rsatadi. Birinchidan, konteynerlash «mening kompyuterimda ishlaydi» muammosini hal qiladi, lekin obraz hajmi (6–7 GB) va qurish vaqti yangi xarajatga aylanadi; qatlam tartibi, runtime bazaviy obraz va og'irliklarni tashqarida saqlash bu xarajatni boshqaradi. Ikkinchidan, Kubernetes deklarativ modeli nusxalar soni, yangilanish va tiklanishni avtomatlashtiradi, lekin GPU bo'linmaydigan resurs bo'lgani uchun kichik modellar GPU'ni to'liq ishlatmaydi — misolda bitta nusxa T4'ni 20–40 foizgina band qiladi; yechimlar: dinamik to'plash (Ray Serve yoki Triton), bir GPU'da bir nechta model, MIG yoki time-slicing.</a:t>
            </a:r>
          </a:p>
          <a:p/>
          <a:p>
            <a:r>
              <a:t>Uchinchidan, HPA metrikasi tanlovi natijani belgilaydi: CPU foizi GPU xizmati uchun bilvosita signal — u tokenizatsiya yukini aks ettiradi, GPU to'yinganini emas; p99 kechikish yoki navbat uzunligi to'g'riroq. To'rtinchidan, masshtablash tezligi infratuzilma bilan chegaralangan: Pod 20–30 soniyada tayyor bo'ladi (obraz keshda bo'lsa), yangi GPU tuguni esa daqiqalarda; shuning uchun kutilgan yuklama cho'qqilari uchun zaxira nusxa yoki oldindan masshtablash (scheduled scaling) qo'llaniladi.</a:t>
            </a:r>
          </a:p>
          <a:p/>
          <a:p>
            <a:r>
              <a:t>Cheklovlar va muqobillar: FastAPI + PyTorch oddiy va tushunarli, lekin ishlab chiqarish darajasida Triton Inference Server (dinamik to'plash, bir nechta freymvork, TensorRT, model ansambllari) yoki LLM uchun vLLM/TensorRT-LLM ko'proq throughput beradi. KServe InferenceService resursi bilan bu misol 20 qatorli YAML'ga tushadi va nolga qadar masshtablash, kanareyka trafik ulushi tayyor keladi. Boshqariladigan xizmatlar (SageMaker endpoint, Vertex AI prediction) Kubernetes'ni umuman yashiradi — tez boshlash uchun qulay, lekin narx va moslashuvchanlik bo'yicha murosa. Kuzatuv (Prometheus + Grafana + DCGM) va jurnal yig'ish misolda qisqartirilgan, ammo ishlab chiqarishda majburiy — bu M12 (MLOps) mavzusida davom ettiriladi.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latest tegi va aniq bo'lmagan versiyalar. Obraz va kutubxona versiyalari qotirilmasa, bugun ishlagan tizim ertaga boshqacha quriladi. Semantik versiya teglari, requirements.txt da aniq versiyalar, obraz digest'i bilan joylash.</a:t>
            </a:r>
          </a:p>
          <a:p/>
          <a:p>
            <a:r>
              <a:t>GPU uchun requests va limits farqli yoki yo'q. nvidia.com/gpu faqat limits orqali so'raladi va ikkalasi teng bo'lishi kerak; aks holda Pod GPU'siz ishga tushadi va CPU'da sekin ishlaydi — ko'pincha hech kim sezmaydi. Ishga tushganda torch.cuda.is_available() ni jurnalga yozing.</a:t>
            </a:r>
          </a:p>
          <a:p/>
          <a:p>
            <a:r>
              <a:t>readinessProbe'siz Deployment. Model yuklanayotgan 30–60 soniya ichida Service trafik yuboradi va xatolar paydo bo'ladi. Readiness har doim, liveness ehtiyotkorlik bilan (juda qisqa muddat qayta ishga tushirish siklini keltirib chiqaradi).</a:t>
            </a:r>
          </a:p>
          <a:p/>
          <a:p>
            <a:r>
              <a:t>Bir GPU'da bir nechta uvicorn/gunicorn ishchisi. Har ishchi modelni alohida yuklaydi — xotira tugaydi, GPU kontekstlari raqobatlashadi. Bir konteyner — bir model nusxasi; parallellik Kubernetes nusxalari va to'plash orqali.</a:t>
            </a:r>
          </a:p>
          <a:p/>
          <a:p>
            <a:r>
              <a:t>CPU foiziga asoslangan HPA GPU xizmati uchun. GPU to'yingan bo'lsa ham CPU past bo'lishi mumkin va HPA masshtablamaydi. DCGM GPU bandligi, so'rov navbati (KEDA) yoki p99 kechikish bo'yicha masshtablang; scaleDown barqarorlik oynasini kamida bir necha daqiqa qiling.</a:t>
            </a:r>
          </a:p>
          <a:p/>
          <a:p>
            <a:r>
              <a:t>Og'irliklarni obrazga qotirib qo'yish. 20 GB'li LLM og'irliklari bilan obraz qurish va tortish daqiqalar oladi, model yangilanishi — qayta qurish. Og'irliklarni PVC, S3 yoki model registridan init-konteyner bilan yuklang va keshlang.</a:t>
            </a:r>
          </a:p>
          <a:p/>
          <a:p>
            <a:r>
              <a:t>Taqsimlangan o'qitishni oddiy rejalashtiruvchi bilan boshlash. 16 ishchidan 12 tasi joylanib, 4 tasi GPU kutib tursa, 12 GPU bekor turadi (deadlock ham mumkin). Volcano/Kueue bilan gang scheduling, PyTorchJob yoki RayJob ishlating.</a:t>
            </a:r>
          </a:p>
          <a:p/>
          <a:p>
            <a:r>
              <a:t>Spot instanslarda nazorat nuqtasisiz o'qitish. Instans 2 daqiqa ogohlantirish bilan olib qo'yiladi; nazorat nuqtalari muntazam va umumiy saqlashga, qayta boshlash avtomatik bo'lsin.</a:t>
            </a:r>
          </a:p>
          <a:p/>
          <a:p>
            <a:r>
              <a:t>Sirlarni obrazga yoki YAML'ga yozish. API kalitlari, registr parollari Secret obyektida (yoki tashqi sir boshqaruvchida), muhit o'zgaruvchisi sifatida ulanadi; obraz qatlamlari hammaga ko'rinadi.</a:t>
            </a:r>
          </a:p>
          <a:p/>
          <a:p>
            <a:r>
              <a:t>Kuzatuvsiz joylash. Kechikish gistogrammasi, xatolik ulushi, GPU bandligi va xotira — birinchi kundan; aks holda HPA sozlash va xatolikni topish taxminga aylanadi.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latest tegi va aniq bo'lmagan versiyalar. Obraz va kutubxona versiyalari qotirilmasa, bugun ishlagan tizim ertaga boshqacha quriladi. Semantik versiya teglari, requirements.txt da aniq versiyalar, obraz digest'i bilan joylash.</a:t>
            </a:r>
          </a:p>
          <a:p/>
          <a:p>
            <a:r>
              <a:t>GPU uchun requests va limits farqli yoki yo'q. nvidia.com/gpu faqat limits orqali so'raladi va ikkalasi teng bo'lishi kerak; aks holda Pod GPU'siz ishga tushadi va CPU'da sekin ishlaydi — ko'pincha hech kim sezmaydi. Ishga tushganda torch.cuda.is_available() ni jurnalga yozing.</a:t>
            </a:r>
          </a:p>
          <a:p/>
          <a:p>
            <a:r>
              <a:t>readinessProbe'siz Deployment. Model yuklanayotgan 30–60 soniya ichida Service trafik yuboradi va xatolar paydo bo'ladi. Readiness har doim, liveness ehtiyotkorlik bilan (juda qisqa muddat qayta ishga tushirish siklini keltirib chiqaradi).</a:t>
            </a:r>
          </a:p>
          <a:p/>
          <a:p>
            <a:r>
              <a:t>Bir GPU'da bir nechta uvicorn/gunicorn ishchisi. Har ishchi modelni alohida yuklaydi — xotira tugaydi, GPU kontekstlari raqobatlashadi. Bir konteyner — bir model nusxasi; parallellik Kubernetes nusxalari va to'plash orqali.</a:t>
            </a:r>
          </a:p>
          <a:p/>
          <a:p>
            <a:r>
              <a:t>CPU foiziga asoslangan HPA GPU xizmati uchun. GPU to'yingan bo'lsa ham CPU past bo'lishi mumkin va HPA masshtablamaydi. DCGM GPU bandligi, so'rov navbati (KEDA) yoki p99 kechikish bo'yicha masshtablang; scaleDown barqarorlik oynasini kamida bir necha daqiqa qiling.</a:t>
            </a:r>
          </a:p>
          <a:p/>
          <a:p>
            <a:r>
              <a:t>Og'irliklarni obrazga qotirib qo'yish. 20 GB'li LLM og'irliklari bilan obraz qurish va tortish daqiqalar oladi, model yangilanishi — qayta qurish. Og'irliklarni PVC, S3 yoki model registridan init-konteyner bilan yuklang va keshlang.</a:t>
            </a:r>
          </a:p>
          <a:p/>
          <a:p>
            <a:r>
              <a:t>Taqsimlangan o'qitishni oddiy rejalashtiruvchi bilan boshlash. 16 ishchidan 12 tasi joylanib, 4 tasi GPU kutib tursa, 12 GPU bekor turadi (deadlock ham mumkin). Volcano/Kueue bilan gang scheduling, PyTorchJob yoki RayJob ishlating.</a:t>
            </a:r>
          </a:p>
          <a:p/>
          <a:p>
            <a:r>
              <a:t>Spot instanslarda nazorat nuqtasisiz o'qitish. Instans 2 daqiqa ogohlantirish bilan olib qo'yiladi; nazorat nuqtalari muntazam va umumiy saqlashga, qayta boshlash avtomatik bo'lsin.</a:t>
            </a:r>
          </a:p>
          <a:p/>
          <a:p>
            <a:r>
              <a:t>Sirlarni obrazga yoki YAML'ga yozish. API kalitlari, registr parollari Secret obyektida (yoki tashqi sir boshqaruvchida), muhit o'zgaruvchisi sifatida ulanadi; obraz qatlamlari hammaga ko'rinadi.</a:t>
            </a:r>
          </a:p>
          <a:p/>
          <a:p>
            <a:r>
              <a:t>Kuzatuvsiz joylash. Kechikish gistogrammasi, xatolik ulushi, GPU bandligi va xotira — birinchi kundan; aks holda HPA sozlash va xatolikni topish taxminga aylanadi.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Konteyner va virtual mashina GPU'ga kirish nuqtai nazaridan qanday farq qiladi? NVIDIA Container Toolkit aynan nimani konteynerga «olib kiradi» va nega drayver xostda qolishi kerak?</a:t>
            </a:r>
          </a:p>
          <a:p/>
          <a:p>
            <a:r>
              <a:t>Dockerfile'da qatlamlar tartibini o'zgartirish qurish vaqtiga qanday ta'sir qiladi? Model og'irliklarini obrazga kiritish va tashqarida saqlashning afzallik-kamchiliklarini tezlik, hajm va yangilash nuqtai nazaridan solishtiring.</a:t>
            </a:r>
          </a:p>
          <a:p/>
          <a:p>
            <a:r>
              <a:t>Kubernetes'da GPU nima uchun kasr qiymat bilan so'ralmaydi? MIG, time-slicing va bir konteynerda bir nechta model yondashuvlarini izolyatsiya, bandlik va kechikish bo'yicha taqqoslang.</a:t>
            </a:r>
          </a:p>
          <a:p/>
          <a:p>
            <a:r>
              <a:t>HPA uchun CPU foizi, GPU bandligi, so'rov navbati va p99 kechikish metrikalarining har biri qanday holatda to'g'ri signal beradi va qanday holatda yanglishtiradi?</a:t>
            </a:r>
          </a:p>
          <a:p/>
          <a:p>
            <a:r>
              <a:t>Gang scheduling nima va taqsimlangan o'qitishda usiz qanday muammolar paydo bo'ladi? Standart Kubernetes rejalashtiruvchisi nega buni ta'minlamaydi?</a:t>
            </a:r>
          </a:p>
          <a:p/>
          <a:p>
            <a:r>
              <a:t>Ray Serve'dagi @serve.batch va Triton'dagi dynamic batching kechikish va throughput o'rtasidagi qanday murosani boshqaradi? batch_wait_timeout_s ni qanday tanlaysiz?</a:t>
            </a:r>
          </a:p>
          <a:p/>
          <a:p>
            <a:r>
              <a:t>Nolga qadar masshtablash (scale-to-zero) qaysi xizmatlar uchun mos va qaysilar uchun xavfli? «Sovuq start» vaqtini kamaytirish usullarini sanab, har birining narxini baholang.</a:t>
            </a:r>
          </a:p>
          <a:p/>
          <a:p>
            <a:r>
              <a:t>512 GPU'li o'qitish ishida apparat nosozliklarining kutilgan chastotasi qanday va bu nazorat nuqtalari oralig'ini qanday belgilaydi? Nazorat nuqtasi yozish vaqti va yo'qotilgan hisoblash o'rtasidagi muvozanatni muhokama qiling.</a:t>
            </a:r>
          </a:p>
          <a:p/>
          <a:p>
            <a:r>
              <a:t>Ray va Kubeflow'ni «raqobatchi» deb aytish nega noto'g'ri? Bitta tashkilotda ikkalasi qanday qatlamlashishi mumkin? Qaysi jamoa qaysi birini afzal ko'radi?</a:t>
            </a:r>
          </a:p>
          <a:p/>
          <a:p>
            <a:r>
              <a:t>Tashkilot o'z GPU klasteri va bulut o'rtasida tanlov qilmoqda: qaysi omillar (bandlik, ma'lumot rezidentligi, jamoa tajribasi, cho'qqi yuklama) qarorga ta'sir qiladi va gibrid yondashuv qachon oqilona?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Konteyner va virtual mashina GPU'ga kirish nuqtai nazaridan qanday farq qiladi? NVIDIA Container Toolkit aynan nimani konteynerga «olib kiradi» va nega drayver xostda qolishi kerak?</a:t>
            </a:r>
          </a:p>
          <a:p/>
          <a:p>
            <a:r>
              <a:t>Dockerfile'da qatlamlar tartibini o'zgartirish qurish vaqtiga qanday ta'sir qiladi? Model og'irliklarini obrazga kiritish va tashqarida saqlashning afzallik-kamchiliklarini tezlik, hajm va yangilash nuqtai nazaridan solishtiring.</a:t>
            </a:r>
          </a:p>
          <a:p/>
          <a:p>
            <a:r>
              <a:t>Kubernetes'da GPU nima uchun kasr qiymat bilan so'ralmaydi? MIG, time-slicing va bir konteynerda bir nechta model yondashuvlarini izolyatsiya, bandlik va kechikish bo'yicha taqqoslang.</a:t>
            </a:r>
          </a:p>
          <a:p/>
          <a:p>
            <a:r>
              <a:t>HPA uchun CPU foizi, GPU bandligi, so'rov navbati va p99 kechikish metrikalarining har biri qanday holatda to'g'ri signal beradi va qanday holatda yanglishtiradi?</a:t>
            </a:r>
          </a:p>
          <a:p/>
          <a:p>
            <a:r>
              <a:t>Gang scheduling nima va taqsimlangan o'qitishda usiz qanday muammolar paydo bo'ladi? Standart Kubernetes rejalashtiruvchisi nega buni ta'minlamaydi?</a:t>
            </a:r>
          </a:p>
          <a:p/>
          <a:p>
            <a:r>
              <a:t>Ray Serve'dagi @serve.batch va Triton'dagi dynamic batching kechikish va throughput o'rtasidagi qanday murosani boshqaradi? batch_wait_timeout_s ni qanday tanlaysiz?</a:t>
            </a:r>
          </a:p>
          <a:p/>
          <a:p>
            <a:r>
              <a:t>Nolga qadar masshtablash (scale-to-zero) qaysi xizmatlar uchun mos va qaysilar uchun xavfli? «Sovuq start» vaqtini kamaytirish usullarini sanab, har birining narxini baholang.</a:t>
            </a:r>
          </a:p>
          <a:p/>
          <a:p>
            <a:r>
              <a:t>512 GPU'li o'qitish ishida apparat nosozliklarining kutilgan chastotasi qanday va bu nazorat nuqtalari oralig'ini qanday belgilaydi? Nazorat nuqtasi yozish vaqti va yo'qotilgan hisoblash o'rtasidagi muvozanatni muhokama qiling.</a:t>
            </a:r>
          </a:p>
          <a:p/>
          <a:p>
            <a:r>
              <a:t>Ray va Kubeflow'ni «raqobatchi» deb aytish nega noto'g'ri? Bitta tashkilotda ikkalasi qanday qatlamlashishi mumkin? Qaysi jamoa qaysi birini afzal ko'radi?</a:t>
            </a:r>
          </a:p>
          <a:p/>
          <a:p>
            <a:r>
              <a:t>Tashkilot o'z GPU klasteri va bulut o'rtasida tanlov qilmoqda: qaysi omillar (bandlik, ma'lumot rezidentligi, jamoa tajribasi, cho'qqi yuklama) qarorga ta'sir qiladi va gibrid yondashuv qachon oqilona?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Topshiriq 1 (individual, sillabusdagi 4-mustaqil ta'lim topshirig'iga mos). Docker + Kubernetes bilan AI xizmatini joylash. O'zingiz tanlagan modelni (tasniflash, detektsiya yoki kichik til modeli) HTTP xizmati sifatida yozing, Dockerfile bilan konteynerlang (obraz hajmini va qurish vaqtini qayd eting), minikube/kind yoki mavjud klasterda Deployment + Service + HPA bilan joylang, hey yoki k6 bilan yuklama berib masshtablashni kuzating; kechikish (median, p99), throughput, nusxalar soni dinamikasi va resurs sarfini hisobotda keltiring. Qo'shimcha ball: KServe InferenceService yoki Ray Serve varianti bilan taqqoslash.</a:t>
            </a:r>
          </a:p>
          <a:p/>
          <a:p>
            <a:r>
              <a:t>Baholash mezoni: Dockerfile sifati — qatlamlar, versiyalar, ildiz bo'lmagan foydalanuvchi, healthcheck (20 %); Kubernetes manifestlari to'g'riligi — probe'lar, resurslar, HPA siyosati (30 %); yuklama sinovi va o'lchovlar (25 %); tahlil, cheklovlar va tavsiyalar (25 %).</a:t>
            </a:r>
          </a:p>
          <a:p/>
          <a:p>
            <a:r>
              <a:t>Topshiriq 2 (guruhda, 2–3 kishi). Bulutli AI xizmati arxitekturasi. Aniq biznes vazifa (masalan, 24/7 ishlaydigan hujjatlarni tasniflash API'si, kunduzi 10 baravar yuqori yuklama bilan) uchun bulutli AI arxitekturasini loyihalang: qatlamlar sxemasi, GPU turi va nusxa soni hisobi (so'rov/s va GPU-ms/so'rov asosida), masshtablash siyosati, versiyalash va kanareyka strategiyasi, kuzatuv metrikalari, oylik narx bahosi (ochiq narxlar asosida) va narxni kamaytirish takliflari. Mezon: hisoblar asosliligi (30 %), arxitektura to'liqligi (30 %), ishonchlilik va xavfsizlik choralari (20 %), taqdimot (20 %).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joylash va ekspluatatsiya boblari.</a:t>
            </a:r>
          </a:p>
          <a:p/>
          <a:p>
            <a:r>
              <a:t>[3] Amershi, S., Begel, A., Bird, C., et al. Machine Learning Engineering. MIT Press, 2025. — ML tizimlarini ishlab chiqarishga joylash va infratuzilma boblari.</a:t>
            </a:r>
          </a:p>
          <a:p/>
          <a:p>
            <a:r>
              <a:t>[6] NVIDIA Developer Portal — NVIDIA Container Toolkit, GPU Operator, Triton Inference Server hujjatlari, https://developer.nvidia.com</a:t>
            </a:r>
          </a:p>
          <a:p/>
          <a:p>
            <a:r>
              <a:t>[7] PyTorch rasmiy hujjatlari — Distributed (DDP, FSDP, torchrun elastic), https://pytorch.org</a:t>
            </a:r>
          </a:p>
          <a:p/>
          <a:p>
            <a:r>
              <a:t>[9] Kubernetes rasmiy hujjatlari — Deployments, Services, Horizontal Pod Autoscaling, Schedule GPUs, https://kubernetes.io</a:t>
            </a:r>
          </a:p>
          <a:p/>
          <a:p>
            <a:r>
              <a:t>Docker rasmiy hujjatlari — Dockerfile reference, Multi-stage builds, https://docs.docker.com</a:t>
            </a:r>
          </a:p>
          <a:p/>
          <a:p>
            <a:r>
              <a:t>Ray rasmiy hujjatlari — Ray Serve, Ray Train, KubeRay, https://docs.ray.io</a:t>
            </a:r>
          </a:p>
          <a:p/>
          <a:p>
            <a:r>
              <a:t>Kubeflow rasmiy hujjatlari — Pipelines, Training Operator, KServe, https://www.kubeflow.org/docs/</a:t>
            </a:r>
          </a:p>
          <a:p/>
          <a:p>
            <a:r>
              <a:t>Moritz, P., Nishihara, R., Wang, S., et al. Ray: A Distributed Framework for Emerging AI Applications. OSDI 2018.</a:t>
            </a:r>
          </a:p>
          <a:p/>
          <a:p>
            <a:r>
              <a:t>Burns, B., Grant, B., Oppenheimer, D., Brewer, E., &amp; Wilkes, J. Borg, Omega, and Kubernetes. Communications of the ACM, 59(5), 2016.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joylash va ekspluatatsiya boblari.</a:t>
            </a:r>
          </a:p>
          <a:p/>
          <a:p>
            <a:r>
              <a:t>[3] Amershi, S., Begel, A., Bird, C., et al. Machine Learning Engineering. MIT Press, 2025. — ML tizimlarini ishlab chiqarishga joylash va infratuzilma boblari.</a:t>
            </a:r>
          </a:p>
          <a:p/>
          <a:p>
            <a:r>
              <a:t>[6] NVIDIA Developer Portal — NVIDIA Container Toolkit, GPU Operator, Triton Inference Server hujjatlari, https://developer.nvidia.com</a:t>
            </a:r>
          </a:p>
          <a:p/>
          <a:p>
            <a:r>
              <a:t>[7] PyTorch rasmiy hujjatlari — Distributed (DDP, FSDP, torchrun elastic), https://pytorch.org</a:t>
            </a:r>
          </a:p>
          <a:p/>
          <a:p>
            <a:r>
              <a:t>[9] Kubernetes rasmiy hujjatlari — Deployments, Services, Horizontal Pod Autoscaling, Schedule GPUs, https://kubernetes.io</a:t>
            </a:r>
          </a:p>
          <a:p/>
          <a:p>
            <a:r>
              <a:t>Docker rasmiy hujjatlari — Dockerfile reference, Multi-stage builds, https://docs.docker.com</a:t>
            </a:r>
          </a:p>
          <a:p/>
          <a:p>
            <a:r>
              <a:t>Ray rasmiy hujjatlari — Ray Serve, Ray Train, KubeRay, https://docs.ray.io</a:t>
            </a:r>
          </a:p>
          <a:p/>
          <a:p>
            <a:r>
              <a:t>Kubeflow rasmiy hujjatlari — Pipelines, Training Operator, KServe, https://www.kubeflow.org/docs/</a:t>
            </a:r>
          </a:p>
          <a:p/>
          <a:p>
            <a:r>
              <a:t>Moritz, P., Nishihara, R., Wang, S., et al. Ray: A Distributed Framework for Emerging AI Applications. OSDI 2018.</a:t>
            </a:r>
          </a:p>
          <a:p/>
          <a:p>
            <a:r>
              <a:t>Burns, B., Grant, B., Oppenheimer, D., Brewer, E., &amp; Wilkes, J. Borg, Omega, and Kubernetes. Communications of the ACM, 59(5), 2016.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00000"/>
            <a:ext cx="12192000" cy="6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700000"/>
            <a:ext cx="108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5" name="TextBox 4"/>
          <p:cNvSpPr txBox="1"/>
          <p:nvPr/>
        </p:nvSpPr>
        <p:spPr>
          <a:xfrm>
            <a:off x="700000" y="1350000"/>
            <a:ext cx="10800000" cy="500000"/>
          </a:xfrm>
          <a:prstGeom prst="rect">
            <a:avLst/>
          </a:prstGeom>
          <a:noFill/>
        </p:spPr>
        <p:txBody>
          <a:bodyPr wrap="square" anchor="t" lIns="50800" rIns="50800">
            <a:spAutoFit/>
          </a:bodyPr>
          <a:lstStyle/>
          <a:p>
            <a:pPr algn="l"/>
            <a:r>
              <a:rPr sz="1600" b="1">
                <a:solidFill>
                  <a:srgbClr val="7FD6D7"/>
                </a:solidFill>
                <a:latin typeface="Calibri"/>
              </a:rPr>
              <a:t>MA'RUZA · M7 · 2 soat</a:t>
            </a:r>
          </a:p>
        </p:txBody>
      </p:sp>
      <p:sp>
        <p:nvSpPr>
          <p:cNvPr id="6" name="TextBox 5"/>
          <p:cNvSpPr txBox="1"/>
          <p:nvPr/>
        </p:nvSpPr>
        <p:spPr>
          <a:xfrm>
            <a:off x="700000" y="1950000"/>
            <a:ext cx="10800000" cy="2500000"/>
          </a:xfrm>
          <a:prstGeom prst="rect">
            <a:avLst/>
          </a:prstGeom>
          <a:noFill/>
        </p:spPr>
        <p:txBody>
          <a:bodyPr wrap="square" anchor="t" lIns="50800" rIns="50800">
            <a:spAutoFit/>
          </a:bodyPr>
          <a:lstStyle/>
          <a:p>
            <a:pPr algn="l"/>
            <a:r>
              <a:rPr sz="3800" b="1">
                <a:solidFill>
                  <a:srgbClr val="FFFFFF"/>
                </a:solidFill>
                <a:latin typeface="Calibri"/>
              </a:rPr>
              <a:t>Bulutli sun'iy intellekt infratuzilmasi va taqsimlangan AI platformalari</a:t>
            </a:r>
          </a:p>
        </p:txBody>
      </p:sp>
      <p:sp>
        <p:nvSpPr>
          <p:cNvPr id="7" name="TextBox 6"/>
          <p:cNvSpPr txBox="1"/>
          <p:nvPr/>
        </p:nvSpPr>
        <p:spPr>
          <a:xfrm>
            <a:off x="700000" y="4950000"/>
            <a:ext cx="108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Mavzuning maqsadi va o'rganish natijalari</a:t>
            </a:r>
          </a:p>
          <a:p>
            <a:pPr>
              <a:spcAft>
                <a:spcPts val="900"/>
              </a:spcAft>
            </a:pPr>
            <a:r>
              <a:rPr sz="2000" b="1">
                <a:solidFill>
                  <a:srgbClr val="0F8B8D"/>
                </a:solidFill>
              </a:rPr>
              <a:t>▪  </a:t>
            </a:r>
            <a:r>
              <a:rPr sz="2000">
                <a:solidFill>
                  <a:srgbClr val="1B2430"/>
                </a:solidFill>
                <a:latin typeface="Calibri"/>
              </a:rPr>
              <a:t>Kirish</a:t>
            </a:r>
          </a:p>
          <a:p>
            <a:pPr>
              <a:spcAft>
                <a:spcPts val="900"/>
              </a:spcAft>
            </a:pPr>
            <a:r>
              <a:rPr sz="2000" b="1">
                <a:solidFill>
                  <a:srgbClr val="0F8B8D"/>
                </a:solidFill>
              </a:rPr>
              <a:t>▪  </a:t>
            </a:r>
            <a:r>
              <a:rPr sz="2000">
                <a:solidFill>
                  <a:srgbClr val="1B2430"/>
                </a:solidFill>
                <a:latin typeface="Calibri"/>
              </a:rPr>
              <a:t>Nazariy asoslar</a:t>
            </a:r>
          </a:p>
          <a:p>
            <a:pPr>
              <a:spcAft>
                <a:spcPts val="900"/>
              </a:spcAft>
            </a:pPr>
            <a:r>
              <a:rPr sz="2000" b="1">
                <a:solidFill>
                  <a:srgbClr val="0F8B8D"/>
                </a:solidFill>
              </a:rPr>
              <a:t>▪  </a:t>
            </a:r>
            <a:r>
              <a:rPr sz="2000">
                <a:solidFill>
                  <a:srgbClr val="1B2430"/>
                </a:solidFill>
                <a:latin typeface="Calibri"/>
              </a:rPr>
              <a:t>Amaliy misol</a:t>
            </a:r>
          </a:p>
          <a:p>
            <a:pPr>
              <a:spcAft>
                <a:spcPts val="900"/>
              </a:spcAft>
            </a:pPr>
            <a:r>
              <a:rPr sz="2000" b="1">
                <a:solidFill>
                  <a:srgbClr val="0F8B8D"/>
                </a:solidFill>
              </a:rPr>
              <a:t>▪  </a:t>
            </a:r>
            <a:r>
              <a:rPr sz="2000">
                <a:solidFill>
                  <a:srgbClr val="1B2430"/>
                </a:solidFill>
                <a:latin typeface="Calibri"/>
              </a:rPr>
              <a:t>Natijalarni tahlil qilish</a:t>
            </a:r>
          </a:p>
          <a:p>
            <a:pPr>
              <a:spcAft>
                <a:spcPts val="900"/>
              </a:spcAft>
            </a:pPr>
            <a:r>
              <a:rPr sz="2000" b="1">
                <a:solidFill>
                  <a:srgbClr val="0F8B8D"/>
                </a:solidFill>
              </a:rPr>
              <a:t>▪  </a:t>
            </a:r>
            <a:r>
              <a:rPr sz="2000">
                <a:solidFill>
                  <a:srgbClr val="1B2430"/>
                </a:solidFill>
                <a:latin typeface="Calibri"/>
              </a:rPr>
              <a:t>Keng tarqalgan xatolar va amaliy tavsiyalar</a:t>
            </a:r>
          </a:p>
          <a:p>
            <a:pPr>
              <a:spcAft>
                <a:spcPts val="900"/>
              </a:spcAft>
            </a:pPr>
            <a:r>
              <a:rPr sz="2000" b="1">
                <a:solidFill>
                  <a:srgbClr val="0F8B8D"/>
                </a:solidFill>
              </a:rPr>
              <a:t>▪  </a:t>
            </a:r>
            <a:r>
              <a:rPr sz="2000">
                <a:solidFill>
                  <a:srgbClr val="1B2430"/>
                </a:solidFill>
                <a:latin typeface="Calibri"/>
              </a:rPr>
              <a:t>Nazorat savollari</a:t>
            </a:r>
          </a:p>
          <a:p>
            <a:pPr>
              <a:spcAft>
                <a:spcPts val="900"/>
              </a:spcAft>
            </a:pPr>
            <a:r>
              <a:rPr sz="2000" b="1">
                <a:solidFill>
                  <a:srgbClr val="0F8B8D"/>
                </a:solidFill>
              </a:rPr>
              <a:t>▪  </a:t>
            </a:r>
            <a:r>
              <a:rPr sz="2000">
                <a:solidFill>
                  <a:srgbClr val="1B2430"/>
                </a:solidFill>
                <a:latin typeface="Calibri"/>
              </a:rPr>
              <a:t>Mustaqil ish uchun topshiriq</a:t>
            </a:r>
          </a:p>
          <a:p>
            <a:pPr>
              <a:spcAft>
                <a:spcPts val="900"/>
              </a:spcAft>
            </a:pPr>
            <a:r>
              <a:rPr sz="2000" b="1">
                <a:solidFill>
                  <a:srgbClr val="0F8B8D"/>
                </a:solidFill>
              </a:rPr>
              <a:t>▪  </a:t>
            </a:r>
            <a:r>
              <a:rPr sz="2000">
                <a:solidFill>
                  <a:srgbClr val="1B2430"/>
                </a:solidFill>
                <a:latin typeface="Calibri"/>
              </a:rPr>
              <a:t>Foydalanilgan manbalar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Ma'ruzaning maqsadi — sun'iy intellekt modellarini o'qitish va xizmat ko'rsatish uchun bulutli infratuzilmaning qatlamli arxitekturasini, konteynerlash (Docker) va orkestratsiya…</a:t>
            </a:r>
          </a:p>
          <a:p>
            <a:pPr>
              <a:spcAft>
                <a:spcPts val="900"/>
              </a:spcAft>
            </a:pPr>
            <a:r>
              <a:rPr sz="1600" b="1">
                <a:solidFill>
                  <a:srgbClr val="0F8B8D"/>
                </a:solidFill>
              </a:rPr>
              <a:t>▪  </a:t>
            </a:r>
            <a:r>
              <a:rPr sz="1600">
                <a:solidFill>
                  <a:srgbClr val="1B2430"/>
                </a:solidFill>
                <a:latin typeface="Calibri"/>
              </a:rPr>
              <a:t>Cloud AI arxitekturasining qatlamlarini (apparat, virtualizatsiya/konteyner, orkestratsiya, platforma, xizmat) va IaaS/PaaS/SaaS darajalarida sun'iy intellekt xizmatlarining farqini…</a:t>
            </a:r>
          </a:p>
          <a:p>
            <a:pPr>
              <a:spcAft>
                <a:spcPts val="900"/>
              </a:spcAft>
            </a:pPr>
            <a:r>
              <a:rPr sz="1600" b="1">
                <a:solidFill>
                  <a:srgbClr val="0F8B8D"/>
                </a:solidFill>
              </a:rPr>
              <a:t>▪  </a:t>
            </a:r>
            <a:r>
              <a:rPr sz="1600">
                <a:solidFill>
                  <a:srgbClr val="1B2430"/>
                </a:solidFill>
                <a:latin typeface="Calibri"/>
              </a:rPr>
              <a:t>Docker obrazi, konteyner, registr tushunchalarini biladi, GPU'li inferens xizmati uchun Dockerfile yoza oladi va obraz hajmi hamda qatlamlar (layers) ta'sirini baholay oladi.</a:t>
            </a:r>
          </a:p>
          <a:p>
            <a:pPr>
              <a:spcAft>
                <a:spcPts val="900"/>
              </a:spcAft>
            </a:pPr>
            <a:r>
              <a:rPr sz="1600" b="1">
                <a:solidFill>
                  <a:srgbClr val="0F8B8D"/>
                </a:solidFill>
              </a:rPr>
              <a:t>▪  </a:t>
            </a:r>
            <a:r>
              <a:rPr sz="1600">
                <a:solidFill>
                  <a:srgbClr val="1B2430"/>
                </a:solidFill>
                <a:latin typeface="Calibri"/>
              </a:rPr>
              <a:t>Kubernetes'ning asosiy obyektlari (Pod, Deployment, Service, HPA, Node, Namespace) va GPU resurslarini rejalashtirish mexanizmini (device plugin, resource requests/limits, taints)…</a:t>
            </a:r>
          </a:p>
          <a:p>
            <a:pPr>
              <a:spcAft>
                <a:spcPts val="900"/>
              </a:spcAft>
            </a:pPr>
            <a:r>
              <a:rPr sz="1600" b="1">
                <a:solidFill>
                  <a:srgbClr val="0F8B8D"/>
                </a:solidFill>
              </a:rPr>
              <a:t>▪  </a:t>
            </a:r>
            <a:r>
              <a:rPr sz="1600">
                <a:solidFill>
                  <a:srgbClr val="1B2430"/>
                </a:solidFill>
                <a:latin typeface="Calibri"/>
              </a:rPr>
              <a:t>Ray (Ray Train, Ray Serve, Ray Data) va Kubeflow (Pipelines, Training Operator, KServe) platformalarining vazifasini, farqini va qachon qaysi biri mos kelishini asoslay oladi.</a:t>
            </a:r>
          </a:p>
          <a:p>
            <a:pPr>
              <a:spcAft>
                <a:spcPts val="900"/>
              </a:spcAft>
            </a:pPr>
            <a:r>
              <a:rPr sz="1600" b="1">
                <a:solidFill>
                  <a:srgbClr val="0F8B8D"/>
                </a:solidFill>
              </a:rPr>
              <a:t>▪  </a:t>
            </a:r>
            <a:r>
              <a:rPr sz="1600">
                <a:solidFill>
                  <a:srgbClr val="1B2430"/>
                </a:solidFill>
                <a:latin typeface="Calibri"/>
              </a:rPr>
              <a:t>Taqsimlangan o'qitish va inferens jarayonlarini klaster darajasida boshqarish, GPU bandligini (utilization) oshirish va bulutli AI xizmatlarini narx, ishonchlilik va kechikish talablariga…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Mavzu fanning TN3 (taqsimlangan va bulutli AI platformalarida tizimlarni joylash), TN4 (AI infratuzilmasini loyihalash va boshqarish) va TN6 (MLOps va ekspluatatsiya) natijalariga xizmat…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Zamonaviy sun'iy intellekt loyihasining hayot sikli bitta kompyuterda tugamaydi. Katta til modelini o'qitish uchun yuzlab yoki minglab GPU bir necha hafta davomida muvofiq ishlashi kerak; tavsiya tizimining inferens xizmati sutkasiga milliardlab so'rovga…</a:t>
            </a:r>
          </a:p>
          <a:p>
            <a:pPr>
              <a:spcAft>
                <a:spcPts val="900"/>
              </a:spcAft>
            </a:pPr>
            <a:r>
              <a:rPr sz="1800" b="1">
                <a:solidFill>
                  <a:srgbClr val="0F8B8D"/>
                </a:solidFill>
              </a:rPr>
              <a:t>▪  </a:t>
            </a:r>
            <a:r>
              <a:rPr sz="1800">
                <a:solidFill>
                  <a:srgbClr val="1B2430"/>
                </a:solidFill>
                <a:latin typeface="Calibri"/>
              </a:rPr>
              <a:t>Sanoat amaliyotida bu masala to'g'ridan-to'g'ri iqtisodiyotga bog'liq. Bulut provayderlarida bitta H100 GPU soatiga taxminan 2–4 dollar (talab va shartnomaga qarab) turadi; 512 GPU'li o'qitish ishi bir oy davomida yuz minglab dollar sarflaydi.</a:t>
            </a:r>
          </a:p>
          <a:p>
            <a:pPr>
              <a:spcAft>
                <a:spcPts val="900"/>
              </a:spcAft>
            </a:pPr>
            <a:r>
              <a:rPr sz="1800" b="1">
                <a:solidFill>
                  <a:srgbClr val="0F8B8D"/>
                </a:solidFill>
              </a:rPr>
              <a:t>▪  </a:t>
            </a:r>
            <a:r>
              <a:rPr sz="1800">
                <a:solidFill>
                  <a:srgbClr val="1B2430"/>
                </a:solidFill>
                <a:latin typeface="Calibri"/>
              </a:rPr>
              <a:t>Shu sababli bugungi AI tizimlari muhandisi uchun Docker va Kubernetes — ixtiyoriy «DevOps» bilimi emas, balki modelni foydalanuvchiga yetkazishning standart tili. Ray va Kubeflow esa shu tilning ustida AI'ga xos vazifalar — taqsimlangan o'qitish,…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Cloud AI arxitekturasi: qatlamlar va xizmat modellari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Bulutli sun'iy intellekt infratuzilmasini besh qatlamli stek sifatida tasavvur qilish qulay. Eng pastda — fizik apparat: GPU serverlari (masalan, 8× H100 yoki B200 NVLink bilan), yuqori tezlikli tarmoq (InfiniBand NDR 400 Gb/s yoki RoCE Ethernet), parallel…</a:t>
            </a:r>
          </a:p>
          <a:p>
            <a:pPr>
              <a:spcAft>
                <a:spcPts val="900"/>
              </a:spcAft>
            </a:pPr>
            <a:r>
              <a:rPr sz="2000" b="1">
                <a:solidFill>
                  <a:srgbClr val="0F8B8D"/>
                </a:solidFill>
              </a:rPr>
              <a:t>▪  </a:t>
            </a:r>
            <a:r>
              <a:rPr sz="2000">
                <a:solidFill>
                  <a:srgbClr val="1B2430"/>
                </a:solidFill>
                <a:latin typeface="Calibri"/>
              </a:rPr>
              <a:t>Xizmat modellari nuqtai nazaridan AI bulutida uchta daraja farqlanadi. IaaS (Infrastructure as a Service) — GPU'li virtual mashina ijarasi (AWS p5, GCP A3, Azure ND H100 v5 instanslari yoki ixtisoslashgan GPU bulutlari); muhandis to'liq nazoratga ega, lekin…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Docker: konteynerlar va takrorlanuvchan muhit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Sun'iy intellekt dasturiy ta'minotining eng og'riqli muammolaridan biri — muhit mosligi: CUDA versiyasi, drayver, cuDNN, PyTorch g'ildiragi, Python paketlari o'rtasidagi bog'liqliklar. «Mening kompyuterimda ishlaydi» holati GPU dasturlarida ayniqsa ko'p…</a:t>
            </a:r>
          </a:p>
          <a:p>
            <a:pPr>
              <a:spcAft>
                <a:spcPts val="900"/>
              </a:spcAft>
            </a:pPr>
            <a:r>
              <a:rPr sz="1800" b="1">
                <a:solidFill>
                  <a:srgbClr val="0F8B8D"/>
                </a:solidFill>
              </a:rPr>
              <a:t>▪  </a:t>
            </a:r>
            <a:r>
              <a:rPr sz="1800">
                <a:solidFill>
                  <a:srgbClr val="1B2430"/>
                </a:solidFill>
                <a:latin typeface="Calibri"/>
              </a:rPr>
              <a:t>Docker obrazi qatlamlardan (layers) iborat: Dockerfile'dagi har bir RUN, COPY buyrug'i yangi faqat-o'qish qatlami yaratadi; qatlamlar keshlanadi va obrazlar orasida umumiy bo'ladi. Shuning uchun Dockerfile tartibi muhim: kamdan-kam o'zgaradigan buyruqlar…</a:t>
            </a:r>
          </a:p>
          <a:p>
            <a:pPr>
              <a:spcAft>
                <a:spcPts val="900"/>
              </a:spcAft>
            </a:pPr>
            <a:r>
              <a:rPr sz="1800" b="1">
                <a:solidFill>
                  <a:srgbClr val="0F8B8D"/>
                </a:solidFill>
              </a:rPr>
              <a:t>▪  </a:t>
            </a:r>
            <a:r>
              <a:rPr sz="1800">
                <a:solidFill>
                  <a:srgbClr val="1B2430"/>
                </a:solidFill>
                <a:latin typeface="Calibri"/>
              </a:rPr>
              <a:t>Yaxshi inferens obrazining belgilari: ko'p bosqichli qurilish (multi-stage build) — kompilyatsiya vositalari yakuniy obrazga kirmaydi; aniq versiyalar (torch==2.4.1, ma'lum CUDA bilan);…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Kubernetes: orkestratsiya va GPU rejalashtirish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Kubernetes (K8s) — konteynerlarni ko'plab mashinalar (tugunlar, nodes) bo'ylab joylashtiradigan, kuzatadigan va tiklaydigan ochiq manbali tizim [9]. Uning asosiy g'oyasi — deklarativ boshqaruv: muhandis «qanday qilish»ni emas, «qanday holat bo'lishi…</a:t>
            </a:r>
          </a:p>
          <a:p>
            <a:pPr>
              <a:spcAft>
                <a:spcPts val="900"/>
              </a:spcAft>
            </a:pPr>
            <a:r>
              <a:rPr sz="1600" b="1">
                <a:solidFill>
                  <a:srgbClr val="0F8B8D"/>
                </a:solidFill>
              </a:rPr>
              <a:t>▪  </a:t>
            </a:r>
            <a:r>
              <a:rPr sz="1600">
                <a:solidFill>
                  <a:srgbClr val="1B2430"/>
                </a:solidFill>
                <a:latin typeface="Calibri"/>
              </a:rPr>
              <a:t>GPU — Kubernetes uchun «kengaytirilgan resurs» (extended resource): NVIDIA device plugin (odatda GPU Operator orqali o'rnatiladi) har tugundagi GPU'larni nvidia.com/gpu resursi sifatida e'lon qiladi, Pod esa resources.limits: nvidia.com/gpu: 1 bilan uni…</a:t>
            </a:r>
          </a:p>
          <a:p>
            <a:pPr>
              <a:spcAft>
                <a:spcPts val="900"/>
              </a:spcAft>
            </a:pPr>
            <a:r>
              <a:rPr sz="1600" b="1">
                <a:solidFill>
                  <a:srgbClr val="0F8B8D"/>
                </a:solidFill>
              </a:rPr>
              <a:t>▪  </a:t>
            </a:r>
            <a:r>
              <a:rPr sz="1600">
                <a:solidFill>
                  <a:srgbClr val="1B2430"/>
                </a:solidFill>
                <a:latin typeface="Calibri"/>
              </a:rPr>
              <a:t>Masshtablash ikki o'qda: HPA nusxa sonini o'zgartiradi (gorizontal), Cluster Autoscaler yoki Karpenter esa bulutdan yangi tugunlar so'raydi; GPU tugunining ishga tushishi 2–5 daqiqa olgani uchun masshtablash siyosati oldindan o'ylanishi kerak. Inferens uchun…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Kubernetes: orkestratsiya va GPU rejalashtirish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000" b="1">
                          <a:solidFill>
                            <a:srgbClr val="FFFFFF"/>
                          </a:solidFill>
                          <a:latin typeface="Calibri"/>
                        </a:rPr>
                        <a:t>Obyekt</a:t>
                      </a:r>
                    </a:p>
                  </a:txBody>
                  <a:tcPr>
                    <a:solidFill>
                      <a:srgbClr val="2D5C8F"/>
                    </a:solidFill>
                  </a:tcPr>
                </a:tc>
                <a:tc>
                  <a:txBody>
                    <a:bodyPr/>
                    <a:lstStyle/>
                    <a:p>
                      <a:r>
                        <a:rPr sz="1000" b="1">
                          <a:solidFill>
                            <a:srgbClr val="FFFFFF"/>
                          </a:solidFill>
                          <a:latin typeface="Calibri"/>
                        </a:rPr>
                        <a:t>Vazifasi</a:t>
                      </a:r>
                    </a:p>
                  </a:txBody>
                  <a:tcPr>
                    <a:solidFill>
                      <a:srgbClr val="2D5C8F"/>
                    </a:solidFill>
                  </a:tcPr>
                </a:tc>
                <a:tc>
                  <a:txBody>
                    <a:bodyPr/>
                    <a:lstStyle/>
                    <a:p>
                      <a:r>
                        <a:rPr sz="1000" b="1">
                          <a:solidFill>
                            <a:srgbClr val="FFFFFF"/>
                          </a:solidFill>
                          <a:latin typeface="Calibri"/>
                        </a:rPr>
                        <a:t>AI kontekstida</a:t>
                      </a:r>
                    </a:p>
                  </a:txBody>
                  <a:tcPr>
                    <a:solidFill>
                      <a:srgbClr val="2D5C8F"/>
                    </a:solidFill>
                  </a:tcPr>
                </a:tc>
              </a:tr>
              <a:tr h="520000">
                <a:tc>
                  <a:txBody>
                    <a:bodyPr/>
                    <a:lstStyle/>
                    <a:p>
                      <a:r>
                        <a:rPr sz="1000" b="0">
                          <a:solidFill>
                            <a:srgbClr val="1B2430"/>
                          </a:solidFill>
                          <a:latin typeface="Calibri"/>
                        </a:rPr>
                        <a:t>Pod</a:t>
                      </a:r>
                    </a:p>
                  </a:txBody>
                  <a:tcPr>
                    <a:solidFill>
                      <a:srgbClr val="F1F4F8"/>
                    </a:solidFill>
                  </a:tcPr>
                </a:tc>
                <a:tc>
                  <a:txBody>
                    <a:bodyPr/>
                    <a:lstStyle/>
                    <a:p>
                      <a:r>
                        <a:rPr sz="1000" b="0">
                          <a:solidFill>
                            <a:srgbClr val="1B2430"/>
                          </a:solidFill>
                          <a:latin typeface="Calibri"/>
                        </a:rPr>
                        <a:t>bir yoki bir nechta konteynerning eng kichik joylash birligi</a:t>
                      </a:r>
                    </a:p>
                  </a:txBody>
                  <a:tcPr>
                    <a:solidFill>
                      <a:srgbClr val="F1F4F8"/>
                    </a:solidFill>
                  </a:tcPr>
                </a:tc>
                <a:tc>
                  <a:txBody>
                    <a:bodyPr/>
                    <a:lstStyle/>
                    <a:p>
                      <a:r>
                        <a:rPr sz="1000" b="0">
                          <a:solidFill>
                            <a:srgbClr val="1B2430"/>
                          </a:solidFill>
                          <a:latin typeface="Calibri"/>
                        </a:rPr>
                        <a:t>bitta inferens serveri nusxasi yoki o'qitish ishchisi</a:t>
                      </a:r>
                    </a:p>
                  </a:txBody>
                  <a:tcPr>
                    <a:solidFill>
                      <a:srgbClr val="F1F4F8"/>
                    </a:solidFill>
                  </a:tcPr>
                </a:tc>
              </a:tr>
              <a:tr h="520000">
                <a:tc>
                  <a:txBody>
                    <a:bodyPr/>
                    <a:lstStyle/>
                    <a:p>
                      <a:r>
                        <a:rPr sz="1000" b="0">
                          <a:solidFill>
                            <a:srgbClr val="1B2430"/>
                          </a:solidFill>
                          <a:latin typeface="Calibri"/>
                        </a:rPr>
                        <a:t>Deployment</a:t>
                      </a:r>
                    </a:p>
                  </a:txBody>
                  <a:tcPr>
                    <a:solidFill>
                      <a:srgbClr val="FFFFFF"/>
                    </a:solidFill>
                  </a:tcPr>
                </a:tc>
                <a:tc>
                  <a:txBody>
                    <a:bodyPr/>
                    <a:lstStyle/>
                    <a:p>
                      <a:r>
                        <a:rPr sz="1000" b="0">
                          <a:solidFill>
                            <a:srgbClr val="1B2430"/>
                          </a:solidFill>
                          <a:latin typeface="Calibri"/>
                        </a:rPr>
                        <a:t>Pod'lar to'plamini istalgan nusxa (replica) sonida ushlab turadi, yangilanishni boshqaradi</a:t>
                      </a:r>
                    </a:p>
                  </a:txBody>
                  <a:tcPr>
                    <a:solidFill>
                      <a:srgbClr val="FFFFFF"/>
                    </a:solidFill>
                  </a:tcPr>
                </a:tc>
                <a:tc>
                  <a:txBody>
                    <a:bodyPr/>
                    <a:lstStyle/>
                    <a:p>
                      <a:r>
                        <a:rPr sz="1000" b="0">
                          <a:solidFill>
                            <a:srgbClr val="1B2430"/>
                          </a:solidFill>
                          <a:latin typeface="Calibri"/>
                        </a:rPr>
                        <a:t>inferens xizmati, bosqichma-bosqich (rolling) yangilash</a:t>
                      </a:r>
                    </a:p>
                  </a:txBody>
                  <a:tcPr>
                    <a:solidFill>
                      <a:srgbClr val="FFFFFF"/>
                    </a:solidFill>
                  </a:tcPr>
                </a:tc>
              </a:tr>
              <a:tr h="520000">
                <a:tc>
                  <a:txBody>
                    <a:bodyPr/>
                    <a:lstStyle/>
                    <a:p>
                      <a:r>
                        <a:rPr sz="1000" b="0">
                          <a:solidFill>
                            <a:srgbClr val="1B2430"/>
                          </a:solidFill>
                          <a:latin typeface="Calibri"/>
                        </a:rPr>
                        <a:t>Service</a:t>
                      </a:r>
                    </a:p>
                  </a:txBody>
                  <a:tcPr>
                    <a:solidFill>
                      <a:srgbClr val="F1F4F8"/>
                    </a:solidFill>
                  </a:tcPr>
                </a:tc>
                <a:tc>
                  <a:txBody>
                    <a:bodyPr/>
                    <a:lstStyle/>
                    <a:p>
                      <a:r>
                        <a:rPr sz="1000" b="0">
                          <a:solidFill>
                            <a:srgbClr val="1B2430"/>
                          </a:solidFill>
                          <a:latin typeface="Calibri"/>
                        </a:rPr>
                        <a:t>Pod'larga barqaror tarmoq nomi va yuk taqsimlash</a:t>
                      </a:r>
                    </a:p>
                  </a:txBody>
                  <a:tcPr>
                    <a:solidFill>
                      <a:srgbClr val="F1F4F8"/>
                    </a:solidFill>
                  </a:tcPr>
                </a:tc>
                <a:tc>
                  <a:txBody>
                    <a:bodyPr/>
                    <a:lstStyle/>
                    <a:p>
                      <a:r>
                        <a:rPr sz="1000" b="0">
                          <a:solidFill>
                            <a:srgbClr val="1B2430"/>
                          </a:solidFill>
                          <a:latin typeface="Calibri"/>
                        </a:rPr>
                        <a:t>so'rovlarni nusxalar orasida taqsimlash</a:t>
                      </a:r>
                    </a:p>
                  </a:txBody>
                  <a:tcPr>
                    <a:solidFill>
                      <a:srgbClr val="F1F4F8"/>
                    </a:solidFill>
                  </a:tcPr>
                </a:tc>
              </a:tr>
              <a:tr h="520000">
                <a:tc>
                  <a:txBody>
                    <a:bodyPr/>
                    <a:lstStyle/>
                    <a:p>
                      <a:r>
                        <a:rPr sz="1000" b="0">
                          <a:solidFill>
                            <a:srgbClr val="1B2430"/>
                          </a:solidFill>
                          <a:latin typeface="Calibri"/>
                        </a:rPr>
                        <a:t>Ingress / Gateway</a:t>
                      </a:r>
                    </a:p>
                  </a:txBody>
                  <a:tcPr>
                    <a:solidFill>
                      <a:srgbClr val="FFFFFF"/>
                    </a:solidFill>
                  </a:tcPr>
                </a:tc>
                <a:tc>
                  <a:txBody>
                    <a:bodyPr/>
                    <a:lstStyle/>
                    <a:p>
                      <a:r>
                        <a:rPr sz="1000" b="0">
                          <a:solidFill>
                            <a:srgbClr val="1B2430"/>
                          </a:solidFill>
                          <a:latin typeface="Calibri"/>
                        </a:rPr>
                        <a:t>tashqi HTTP(S) kirish, marshrutlash, TLS</a:t>
                      </a:r>
                    </a:p>
                  </a:txBody>
                  <a:tcPr>
                    <a:solidFill>
                      <a:srgbClr val="FFFFFF"/>
                    </a:solidFill>
                  </a:tcPr>
                </a:tc>
                <a:tc>
                  <a:txBody>
                    <a:bodyPr/>
                    <a:lstStyle/>
                    <a:p>
                      <a:r>
                        <a:rPr sz="1000" b="0">
                          <a:solidFill>
                            <a:srgbClr val="1B2430"/>
                          </a:solidFill>
                          <a:latin typeface="Calibri"/>
                        </a:rPr>
                        <a:t>tashqi API</a:t>
                      </a:r>
                    </a:p>
                  </a:txBody>
                  <a:tcPr>
                    <a:solidFill>
                      <a:srgbClr val="FFFFFF"/>
                    </a:solidFill>
                  </a:tcPr>
                </a:tc>
              </a:tr>
              <a:tr h="520000">
                <a:tc>
                  <a:txBody>
                    <a:bodyPr/>
                    <a:lstStyle/>
                    <a:p>
                      <a:r>
                        <a:rPr sz="1000" b="0">
                          <a:solidFill>
                            <a:srgbClr val="1B2430"/>
                          </a:solidFill>
                          <a:latin typeface="Calibri"/>
                        </a:rPr>
                        <a:t>HorizontalPodAutoscaler (HPA)</a:t>
                      </a:r>
                    </a:p>
                  </a:txBody>
                  <a:tcPr>
                    <a:solidFill>
                      <a:srgbClr val="F1F4F8"/>
                    </a:solidFill>
                  </a:tcPr>
                </a:tc>
                <a:tc>
                  <a:txBody>
                    <a:bodyPr/>
                    <a:lstStyle/>
                    <a:p>
                      <a:r>
                        <a:rPr sz="1000" b="0">
                          <a:solidFill>
                            <a:srgbClr val="1B2430"/>
                          </a:solidFill>
                          <a:latin typeface="Calibri"/>
                        </a:rPr>
                        <a:t>metrikaga qarab nusxa sonini o'zgartiradi</a:t>
                      </a:r>
                    </a:p>
                  </a:txBody>
                  <a:tcPr>
                    <a:solidFill>
                      <a:srgbClr val="F1F4F8"/>
                    </a:solidFill>
                  </a:tcPr>
                </a:tc>
                <a:tc>
                  <a:txBody>
                    <a:bodyPr/>
                    <a:lstStyle/>
                    <a:p>
                      <a:r>
                        <a:rPr sz="1000" b="0">
                          <a:solidFill>
                            <a:srgbClr val="1B2430"/>
                          </a:solidFill>
                          <a:latin typeface="Calibri"/>
                        </a:rPr>
                        <a:t>CPU/GPU bandligi yoki so'rovlar navbatiga qarab masshtablash</a:t>
                      </a:r>
                    </a:p>
                  </a:txBody>
                  <a:tcPr>
                    <a:solidFill>
                      <a:srgbClr val="F1F4F8"/>
                    </a:solidFill>
                  </a:tcPr>
                </a:tc>
              </a:tr>
              <a:tr h="520000">
                <a:tc>
                  <a:txBody>
                    <a:bodyPr/>
                    <a:lstStyle/>
                    <a:p>
                      <a:r>
                        <a:rPr sz="1000" b="0">
                          <a:solidFill>
                            <a:srgbClr val="1B2430"/>
                          </a:solidFill>
                          <a:latin typeface="Calibri"/>
                        </a:rPr>
                        <a:t>Job / CronJob</a:t>
                      </a:r>
                    </a:p>
                  </a:txBody>
                  <a:tcPr>
                    <a:solidFill>
                      <a:srgbClr val="FFFFFF"/>
                    </a:solidFill>
                  </a:tcPr>
                </a:tc>
                <a:tc>
                  <a:txBody>
                    <a:bodyPr/>
                    <a:lstStyle/>
                    <a:p>
                      <a:r>
                        <a:rPr sz="1000" b="0">
                          <a:solidFill>
                            <a:srgbClr val="1B2430"/>
                          </a:solidFill>
                          <a:latin typeface="Calibri"/>
                        </a:rPr>
                        <a:t>tugaydigan ish</a:t>
                      </a:r>
                    </a:p>
                  </a:txBody>
                  <a:tcPr>
                    <a:solidFill>
                      <a:srgbClr val="FFFFFF"/>
                    </a:solidFill>
                  </a:tcPr>
                </a:tc>
                <a:tc>
                  <a:txBody>
                    <a:bodyPr/>
                    <a:lstStyle/>
                    <a:p>
                      <a:r>
                        <a:rPr sz="1000" b="0">
                          <a:solidFill>
                            <a:srgbClr val="1B2430"/>
                          </a:solidFill>
                          <a:latin typeface="Calibri"/>
                        </a:rPr>
                        <a:t>o'qitish, paketli inferens, ma'lumot tayyorlash</a:t>
                      </a:r>
                    </a:p>
                  </a:txBody>
                  <a:tcPr>
                    <a:solidFill>
                      <a:srgbClr val="FFFFFF"/>
                    </a:solidFill>
                  </a:tcPr>
                </a:tc>
              </a:tr>
              <a:tr h="520000">
                <a:tc>
                  <a:txBody>
                    <a:bodyPr/>
                    <a:lstStyle/>
                    <a:p>
                      <a:r>
                        <a:rPr sz="1000" b="0">
                          <a:solidFill>
                            <a:srgbClr val="1B2430"/>
                          </a:solidFill>
                          <a:latin typeface="Calibri"/>
                        </a:rPr>
                        <a:t>StatefulSet</a:t>
                      </a:r>
                    </a:p>
                  </a:txBody>
                  <a:tcPr>
                    <a:solidFill>
                      <a:srgbClr val="F1F4F8"/>
                    </a:solidFill>
                  </a:tcPr>
                </a:tc>
                <a:tc>
                  <a:txBody>
                    <a:bodyPr/>
                    <a:lstStyle/>
                    <a:p>
                      <a:r>
                        <a:rPr sz="1000" b="0">
                          <a:solidFill>
                            <a:srgbClr val="1B2430"/>
                          </a:solidFill>
                          <a:latin typeface="Calibri"/>
                        </a:rPr>
                        <a:t>barqaror identifikatorli Pod'lar</a:t>
                      </a:r>
                    </a:p>
                  </a:txBody>
                  <a:tcPr>
                    <a:solidFill>
                      <a:srgbClr val="F1F4F8"/>
                    </a:solidFill>
                  </a:tcPr>
                </a:tc>
                <a:tc>
                  <a:txBody>
                    <a:bodyPr/>
                    <a:lstStyle/>
                    <a:p>
                      <a:r>
                        <a:rPr sz="1000" b="0">
                          <a:solidFill>
                            <a:srgbClr val="1B2430"/>
                          </a:solidFill>
                          <a:latin typeface="Calibri"/>
                        </a:rPr>
                        <a:t>vektor bazalar, parametr serverlari</a:t>
                      </a:r>
                    </a:p>
                  </a:txBody>
                  <a:tcPr>
                    <a:solidFill>
                      <a:srgbClr val="F1F4F8"/>
                    </a:solidFill>
                  </a:tcPr>
                </a:tc>
              </a:tr>
              <a:tr h="520000">
                <a:tc>
                  <a:txBody>
                    <a:bodyPr/>
                    <a:lstStyle/>
                    <a:p>
                      <a:r>
                        <a:rPr sz="1000" b="0">
                          <a:solidFill>
                            <a:srgbClr val="1B2430"/>
                          </a:solidFill>
                          <a:latin typeface="Calibri"/>
                        </a:rPr>
                        <a:t>PersistentVolume(Claim)</a:t>
                      </a:r>
                    </a:p>
                  </a:txBody>
                  <a:tcPr>
                    <a:solidFill>
                      <a:srgbClr val="FFFFFF"/>
                    </a:solidFill>
                  </a:tcPr>
                </a:tc>
                <a:tc>
                  <a:txBody>
                    <a:bodyPr/>
                    <a:lstStyle/>
                    <a:p>
                      <a:r>
                        <a:rPr sz="1000" b="0">
                          <a:solidFill>
                            <a:srgbClr val="1B2430"/>
                          </a:solidFill>
                          <a:latin typeface="Calibri"/>
                        </a:rPr>
                        <a:t>saqlash</a:t>
                      </a:r>
                    </a:p>
                  </a:txBody>
                  <a:tcPr>
                    <a:solidFill>
                      <a:srgbClr val="FFFFFF"/>
                    </a:solidFill>
                  </a:tcPr>
                </a:tc>
                <a:tc>
                  <a:txBody>
                    <a:bodyPr/>
                    <a:lstStyle/>
                    <a:p>
                      <a:r>
                        <a:rPr sz="1000" b="0">
                          <a:solidFill>
                            <a:srgbClr val="1B2430"/>
                          </a:solidFill>
                          <a:latin typeface="Calibri"/>
                        </a:rPr>
                        <a:t>ma'lumotlar to'plami, nazorat nuqtalari</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Kubernetes: orkestratsiya va GPU rejalashtirish (davomi)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156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000" b="1">
                          <a:solidFill>
                            <a:srgbClr val="FFFFFF"/>
                          </a:solidFill>
                          <a:latin typeface="Calibri"/>
                        </a:rPr>
                        <a:t>Obyekt</a:t>
                      </a:r>
                    </a:p>
                  </a:txBody>
                  <a:tcPr>
                    <a:solidFill>
                      <a:srgbClr val="2D5C8F"/>
                    </a:solidFill>
                  </a:tcPr>
                </a:tc>
                <a:tc>
                  <a:txBody>
                    <a:bodyPr/>
                    <a:lstStyle/>
                    <a:p>
                      <a:r>
                        <a:rPr sz="1000" b="1">
                          <a:solidFill>
                            <a:srgbClr val="FFFFFF"/>
                          </a:solidFill>
                          <a:latin typeface="Calibri"/>
                        </a:rPr>
                        <a:t>Vazifasi</a:t>
                      </a:r>
                    </a:p>
                  </a:txBody>
                  <a:tcPr>
                    <a:solidFill>
                      <a:srgbClr val="2D5C8F"/>
                    </a:solidFill>
                  </a:tcPr>
                </a:tc>
                <a:tc>
                  <a:txBody>
                    <a:bodyPr/>
                    <a:lstStyle/>
                    <a:p>
                      <a:r>
                        <a:rPr sz="1000" b="1">
                          <a:solidFill>
                            <a:srgbClr val="FFFFFF"/>
                          </a:solidFill>
                          <a:latin typeface="Calibri"/>
                        </a:rPr>
                        <a:t>AI kontekstida</a:t>
                      </a:r>
                    </a:p>
                  </a:txBody>
                  <a:tcPr>
                    <a:solidFill>
                      <a:srgbClr val="2D5C8F"/>
                    </a:solidFill>
                  </a:tcPr>
                </a:tc>
              </a:tr>
              <a:tr h="520000">
                <a:tc>
                  <a:txBody>
                    <a:bodyPr/>
                    <a:lstStyle/>
                    <a:p>
                      <a:r>
                        <a:rPr sz="1000" b="0">
                          <a:solidFill>
                            <a:srgbClr val="1B2430"/>
                          </a:solidFill>
                          <a:latin typeface="Calibri"/>
                        </a:rPr>
                        <a:t>ConfigMap / Secret</a:t>
                      </a:r>
                    </a:p>
                  </a:txBody>
                  <a:tcPr>
                    <a:solidFill>
                      <a:srgbClr val="F1F4F8"/>
                    </a:solidFill>
                  </a:tcPr>
                </a:tc>
                <a:tc>
                  <a:txBody>
                    <a:bodyPr/>
                    <a:lstStyle/>
                    <a:p>
                      <a:r>
                        <a:rPr sz="1000" b="0">
                          <a:solidFill>
                            <a:srgbClr val="1B2430"/>
                          </a:solidFill>
                          <a:latin typeface="Calibri"/>
                        </a:rPr>
                        <a:t>konfiguratsiya va sirlar</a:t>
                      </a:r>
                    </a:p>
                  </a:txBody>
                  <a:tcPr>
                    <a:solidFill>
                      <a:srgbClr val="F1F4F8"/>
                    </a:solidFill>
                  </a:tcPr>
                </a:tc>
                <a:tc>
                  <a:txBody>
                    <a:bodyPr/>
                    <a:lstStyle/>
                    <a:p>
                      <a:r>
                        <a:rPr sz="1000" b="0">
                          <a:solidFill>
                            <a:srgbClr val="1B2430"/>
                          </a:solidFill>
                          <a:latin typeface="Calibri"/>
                        </a:rPr>
                        <a:t>model yo'li, API kalitlari</a:t>
                      </a:r>
                    </a:p>
                  </a:txBody>
                  <a:tcPr>
                    <a:solidFill>
                      <a:srgbClr val="F1F4F8"/>
                    </a:solidFill>
                  </a:tcPr>
                </a:tc>
              </a:tr>
              <a:tr h="520000">
                <a:tc>
                  <a:txBody>
                    <a:bodyPr/>
                    <a:lstStyle/>
                    <a:p>
                      <a:r>
                        <a:rPr sz="1000" b="0">
                          <a:solidFill>
                            <a:srgbClr val="1B2430"/>
                          </a:solidFill>
                          <a:latin typeface="Calibri"/>
                        </a:rPr>
                        <a:t>Namespace / ResourceQuota</a:t>
                      </a:r>
                    </a:p>
                  </a:txBody>
                  <a:tcPr>
                    <a:solidFill>
                      <a:srgbClr val="FFFFFF"/>
                    </a:solidFill>
                  </a:tcPr>
                </a:tc>
                <a:tc>
                  <a:txBody>
                    <a:bodyPr/>
                    <a:lstStyle/>
                    <a:p>
                      <a:r>
                        <a:rPr sz="1000" b="0">
                          <a:solidFill>
                            <a:srgbClr val="1B2430"/>
                          </a:solidFill>
                          <a:latin typeface="Calibri"/>
                        </a:rPr>
                        <a:t>mantiqiy ajratish va kvota</a:t>
                      </a:r>
                    </a:p>
                  </a:txBody>
                  <a:tcPr>
                    <a:solidFill>
                      <a:srgbClr val="FFFFFF"/>
                    </a:solidFill>
                  </a:tcPr>
                </a:tc>
                <a:tc>
                  <a:txBody>
                    <a:bodyPr/>
                    <a:lstStyle/>
                    <a:p>
                      <a:r>
                        <a:rPr sz="1000" b="0">
                          <a:solidFill>
                            <a:srgbClr val="1B2430"/>
                          </a:solidFill>
                          <a:latin typeface="Calibri"/>
                        </a:rPr>
                        <a:t>jamoalar o'rtasida GPU'ni bo'lish</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Ray va Kubeflow platformalari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Kubernetes umumiy maqsadli orkestrator; u «ushbu 64 GPU'da PyTorch DDP o'qitishini boshla» yoki «giperparametrlarni Bayes usulida qidir» degan tushunchalarni bilmaydi.</a:t>
            </a:r>
          </a:p>
          <a:p>
            <a:pPr>
              <a:spcAft>
                <a:spcPts val="900"/>
              </a:spcAft>
            </a:pPr>
            <a:r>
              <a:rPr sz="2000" b="1">
                <a:solidFill>
                  <a:srgbClr val="0F8B8D"/>
                </a:solidFill>
              </a:rPr>
              <a:t>▪  </a:t>
            </a:r>
            <a:r>
              <a:rPr sz="2000">
                <a:solidFill>
                  <a:srgbClr val="1B2430"/>
                </a:solidFill>
                <a:latin typeface="Calibri"/>
              </a:rPr>
              <a:t>Ray — Python uchun taqsimlangan hisoblash freymvorki.</a:t>
            </a:r>
          </a:p>
          <a:p>
            <a:pPr>
              <a:spcAft>
                <a:spcPts val="900"/>
              </a:spcAft>
            </a:pPr>
            <a:r>
              <a:rPr sz="2000" b="1">
                <a:solidFill>
                  <a:srgbClr val="0F8B8D"/>
                </a:solidFill>
              </a:rPr>
              <a:t>▪  </a:t>
            </a:r>
            <a:r>
              <a:rPr sz="2000">
                <a:solidFill>
                  <a:srgbClr val="1B2430"/>
                </a:solidFill>
                <a:latin typeface="Calibri"/>
              </a:rPr>
              <a:t>Kubeflow — Kubernetes'da ML ish oqimlari uchun komponentlar to'plami.</a:t>
            </a:r>
          </a:p>
          <a:p>
            <a:pPr>
              <a:spcAft>
                <a:spcPts val="900"/>
              </a:spcAft>
            </a:pPr>
            <a:r>
              <a:rPr sz="2000" b="1">
                <a:solidFill>
                  <a:srgbClr val="0F8B8D"/>
                </a:solidFill>
              </a:rPr>
              <a:t>▪  </a:t>
            </a:r>
            <a:r>
              <a:rPr sz="2000">
                <a:solidFill>
                  <a:srgbClr val="1B2430"/>
                </a:solidFill>
                <a:latin typeface="Calibri"/>
              </a:rPr>
              <a:t>Amalda ikkalasi raqobatchi emas, qatlamdosh: Kubeflow Pipelines qadamining ichida Ray klasteri ishga tushirilishi mumkin; KServe orqasida Ray Serve ishlashi mumkin.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Ray va Kubeflow platformalari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Ray</a:t>
                      </a:r>
                    </a:p>
                  </a:txBody>
                  <a:tcPr>
                    <a:solidFill>
                      <a:srgbClr val="2D5C8F"/>
                    </a:solidFill>
                  </a:tcPr>
                </a:tc>
                <a:tc>
                  <a:txBody>
                    <a:bodyPr/>
                    <a:lstStyle/>
                    <a:p>
                      <a:r>
                        <a:rPr sz="1200" b="1">
                          <a:solidFill>
                            <a:srgbClr val="FFFFFF"/>
                          </a:solidFill>
                          <a:latin typeface="Calibri"/>
                        </a:rPr>
                        <a:t>Kubeflow</a:t>
                      </a:r>
                    </a:p>
                  </a:txBody>
                  <a:tcPr>
                    <a:solidFill>
                      <a:srgbClr val="2D5C8F"/>
                    </a:solidFill>
                  </a:tcPr>
                </a:tc>
              </a:tr>
              <a:tr h="520000">
                <a:tc>
                  <a:txBody>
                    <a:bodyPr/>
                    <a:lstStyle/>
                    <a:p>
                      <a:r>
                        <a:rPr sz="1200" b="0">
                          <a:solidFill>
                            <a:srgbClr val="1B2430"/>
                          </a:solidFill>
                          <a:latin typeface="Calibri"/>
                        </a:rPr>
                        <a:t>Abstraksiya darajasi</a:t>
                      </a:r>
                    </a:p>
                  </a:txBody>
                  <a:tcPr>
                    <a:solidFill>
                      <a:srgbClr val="F1F4F8"/>
                    </a:solidFill>
                  </a:tcPr>
                </a:tc>
                <a:tc>
                  <a:txBody>
                    <a:bodyPr/>
                    <a:lstStyle/>
                    <a:p>
                      <a:r>
                        <a:rPr sz="1200" b="0">
                          <a:solidFill>
                            <a:srgbClr val="1B2430"/>
                          </a:solidFill>
                          <a:latin typeface="Calibri"/>
                        </a:rPr>
                        <a:t>Python API (vazifa, aktor)</a:t>
                      </a:r>
                    </a:p>
                  </a:txBody>
                  <a:tcPr>
                    <a:solidFill>
                      <a:srgbClr val="F1F4F8"/>
                    </a:solidFill>
                  </a:tcPr>
                </a:tc>
                <a:tc>
                  <a:txBody>
                    <a:bodyPr/>
                    <a:lstStyle/>
                    <a:p>
                      <a:r>
                        <a:rPr sz="1200" b="0">
                          <a:solidFill>
                            <a:srgbClr val="1B2430"/>
                          </a:solidFill>
                          <a:latin typeface="Calibri"/>
                        </a:rPr>
                        <a:t>Kubernetes resurslari (YAML, CRD)</a:t>
                      </a:r>
                    </a:p>
                  </a:txBody>
                  <a:tcPr>
                    <a:solidFill>
                      <a:srgbClr val="F1F4F8"/>
                    </a:solidFill>
                  </a:tcPr>
                </a:tc>
              </a:tr>
              <a:tr h="520000">
                <a:tc>
                  <a:txBody>
                    <a:bodyPr/>
                    <a:lstStyle/>
                    <a:p>
                      <a:r>
                        <a:rPr sz="1200" b="0">
                          <a:solidFill>
                            <a:srgbClr val="1B2430"/>
                          </a:solidFill>
                          <a:latin typeface="Calibri"/>
                        </a:rPr>
                        <a:t>Kirish to'sig'i</a:t>
                      </a:r>
                    </a:p>
                  </a:txBody>
                  <a:tcPr>
                    <a:solidFill>
                      <a:srgbClr val="FFFFFF"/>
                    </a:solidFill>
                  </a:tcPr>
                </a:tc>
                <a:tc>
                  <a:txBody>
                    <a:bodyPr/>
                    <a:lstStyle/>
                    <a:p>
                      <a:r>
                        <a:rPr sz="1200" b="0">
                          <a:solidFill>
                            <a:srgbClr val="1B2430"/>
                          </a:solidFill>
                          <a:latin typeface="Calibri"/>
                        </a:rPr>
                        <a:t>Python bilsa yetarli</a:t>
                      </a:r>
                    </a:p>
                  </a:txBody>
                  <a:tcPr>
                    <a:solidFill>
                      <a:srgbClr val="FFFFFF"/>
                    </a:solidFill>
                  </a:tcPr>
                </a:tc>
                <a:tc>
                  <a:txBody>
                    <a:bodyPr/>
                    <a:lstStyle/>
                    <a:p>
                      <a:r>
                        <a:rPr sz="1200" b="0">
                          <a:solidFill>
                            <a:srgbClr val="1B2430"/>
                          </a:solidFill>
                          <a:latin typeface="Calibri"/>
                        </a:rPr>
                        <a:t>K8s bilimi talab qilinadi</a:t>
                      </a:r>
                    </a:p>
                  </a:txBody>
                  <a:tcPr>
                    <a:solidFill>
                      <a:srgbClr val="FFFFFF"/>
                    </a:solidFill>
                  </a:tcPr>
                </a:tc>
              </a:tr>
              <a:tr h="520000">
                <a:tc>
                  <a:txBody>
                    <a:bodyPr/>
                    <a:lstStyle/>
                    <a:p>
                      <a:r>
                        <a:rPr sz="1200" b="0">
                          <a:solidFill>
                            <a:srgbClr val="1B2430"/>
                          </a:solidFill>
                          <a:latin typeface="Calibri"/>
                        </a:rPr>
                        <a:t>Taqsimlangan o'qitish</a:t>
                      </a:r>
                    </a:p>
                  </a:txBody>
                  <a:tcPr>
                    <a:solidFill>
                      <a:srgbClr val="F1F4F8"/>
                    </a:solidFill>
                  </a:tcPr>
                </a:tc>
                <a:tc>
                  <a:txBody>
                    <a:bodyPr/>
                    <a:lstStyle/>
                    <a:p>
                      <a:r>
                        <a:rPr sz="1200" b="0">
                          <a:solidFill>
                            <a:srgbClr val="1B2430"/>
                          </a:solidFill>
                          <a:latin typeface="Calibri"/>
                        </a:rPr>
                        <a:t>Ray Train (DDP/FSDP/DeepSpeed)</a:t>
                      </a:r>
                    </a:p>
                  </a:txBody>
                  <a:tcPr>
                    <a:solidFill>
                      <a:srgbClr val="F1F4F8"/>
                    </a:solidFill>
                  </a:tcPr>
                </a:tc>
                <a:tc>
                  <a:txBody>
                    <a:bodyPr/>
                    <a:lstStyle/>
                    <a:p>
                      <a:r>
                        <a:rPr sz="1200" b="0">
                          <a:solidFill>
                            <a:srgbClr val="1B2430"/>
                          </a:solidFill>
                          <a:latin typeface="Calibri"/>
                        </a:rPr>
                        <a:t>Training Operator (PyTorchJob)</a:t>
                      </a:r>
                    </a:p>
                  </a:txBody>
                  <a:tcPr>
                    <a:solidFill>
                      <a:srgbClr val="F1F4F8"/>
                    </a:solidFill>
                  </a:tcPr>
                </a:tc>
              </a:tr>
              <a:tr h="520000">
                <a:tc>
                  <a:txBody>
                    <a:bodyPr/>
                    <a:lstStyle/>
                    <a:p>
                      <a:r>
                        <a:rPr sz="1200" b="0">
                          <a:solidFill>
                            <a:srgbClr val="1B2430"/>
                          </a:solidFill>
                          <a:latin typeface="Calibri"/>
                        </a:rPr>
                        <a:t>Xizmat</a:t>
                      </a:r>
                    </a:p>
                  </a:txBody>
                  <a:tcPr>
                    <a:solidFill>
                      <a:srgbClr val="FFFFFF"/>
                    </a:solidFill>
                  </a:tcPr>
                </a:tc>
                <a:tc>
                  <a:txBody>
                    <a:bodyPr/>
                    <a:lstStyle/>
                    <a:p>
                      <a:r>
                        <a:rPr sz="1200" b="0">
                          <a:solidFill>
                            <a:srgbClr val="1B2430"/>
                          </a:solidFill>
                          <a:latin typeface="Calibri"/>
                        </a:rPr>
                        <a:t>Ray Serve (Python graflar)</a:t>
                      </a:r>
                    </a:p>
                  </a:txBody>
                  <a:tcPr>
                    <a:solidFill>
                      <a:srgbClr val="FFFFFF"/>
                    </a:solidFill>
                  </a:tcPr>
                </a:tc>
                <a:tc>
                  <a:txBody>
                    <a:bodyPr/>
                    <a:lstStyle/>
                    <a:p>
                      <a:r>
                        <a:rPr sz="1200" b="0">
                          <a:solidFill>
                            <a:srgbClr val="1B2430"/>
                          </a:solidFill>
                          <a:latin typeface="Calibri"/>
                        </a:rPr>
                        <a:t>KServe (deklarativ, serverless)</a:t>
                      </a:r>
                    </a:p>
                  </a:txBody>
                  <a:tcPr>
                    <a:solidFill>
                      <a:srgbClr val="FFFFFF"/>
                    </a:solidFill>
                  </a:tcPr>
                </a:tc>
              </a:tr>
              <a:tr h="520000">
                <a:tc>
                  <a:txBody>
                    <a:bodyPr/>
                    <a:lstStyle/>
                    <a:p>
                      <a:r>
                        <a:rPr sz="1200" b="0">
                          <a:solidFill>
                            <a:srgbClr val="1B2430"/>
                          </a:solidFill>
                          <a:latin typeface="Calibri"/>
                        </a:rPr>
                        <a:t>Quvurlar</a:t>
                      </a:r>
                    </a:p>
                  </a:txBody>
                  <a:tcPr>
                    <a:solidFill>
                      <a:srgbClr val="F1F4F8"/>
                    </a:solidFill>
                  </a:tcPr>
                </a:tc>
                <a:tc>
                  <a:txBody>
                    <a:bodyPr/>
                    <a:lstStyle/>
                    <a:p>
                      <a:r>
                        <a:rPr sz="1200" b="0">
                          <a:solidFill>
                            <a:srgbClr val="1B2430"/>
                          </a:solidFill>
                          <a:latin typeface="Calibri"/>
                        </a:rPr>
                        <a:t>Ray Workflows / tashqi</a:t>
                      </a:r>
                    </a:p>
                  </a:txBody>
                  <a:tcPr>
                    <a:solidFill>
                      <a:srgbClr val="F1F4F8"/>
                    </a:solidFill>
                  </a:tcPr>
                </a:tc>
                <a:tc>
                  <a:txBody>
                    <a:bodyPr/>
                    <a:lstStyle/>
                    <a:p>
                      <a:r>
                        <a:rPr sz="1200" b="0">
                          <a:solidFill>
                            <a:srgbClr val="1B2430"/>
                          </a:solidFill>
                          <a:latin typeface="Calibri"/>
                        </a:rPr>
                        <a:t>Kubeflow Pipelines (asosiy kuch)</a:t>
                      </a:r>
                    </a:p>
                  </a:txBody>
                  <a:tcPr>
                    <a:solidFill>
                      <a:srgbClr val="F1F4F8"/>
                    </a:solidFill>
                  </a:tcPr>
                </a:tc>
              </a:tr>
              <a:tr h="520000">
                <a:tc>
                  <a:txBody>
                    <a:bodyPr/>
                    <a:lstStyle/>
                    <a:p>
                      <a:r>
                        <a:rPr sz="1200" b="0">
                          <a:solidFill>
                            <a:srgbClr val="1B2430"/>
                          </a:solidFill>
                          <a:latin typeface="Calibri"/>
                        </a:rPr>
                        <a:t>Ko'p ijarachilik va kvota</a:t>
                      </a:r>
                    </a:p>
                  </a:txBody>
                  <a:tcPr>
                    <a:solidFill>
                      <a:srgbClr val="FFFFFF"/>
                    </a:solidFill>
                  </a:tcPr>
                </a:tc>
                <a:tc>
                  <a:txBody>
                    <a:bodyPr/>
                    <a:lstStyle/>
                    <a:p>
                      <a:r>
                        <a:rPr sz="1200" b="0">
                          <a:solidFill>
                            <a:srgbClr val="1B2430"/>
                          </a:solidFill>
                          <a:latin typeface="Calibri"/>
                        </a:rPr>
                        <a:t>KubeRay orqali K8s'ga tayanadi</a:t>
                      </a:r>
                    </a:p>
                  </a:txBody>
                  <a:tcPr>
                    <a:solidFill>
                      <a:srgbClr val="FFFFFF"/>
                    </a:solidFill>
                  </a:tcPr>
                </a:tc>
                <a:tc>
                  <a:txBody>
                    <a:bodyPr/>
                    <a:lstStyle/>
                    <a:p>
                      <a:r>
                        <a:rPr sz="1200" b="0">
                          <a:solidFill>
                            <a:srgbClr val="1B2430"/>
                          </a:solidFill>
                          <a:latin typeface="Calibri"/>
                        </a:rPr>
                        <a:t>K8s namespace/quota bilan tabiiy</a:t>
                      </a:r>
                    </a:p>
                  </a:txBody>
                  <a:tcPr>
                    <a:solidFill>
                      <a:srgbClr val="FFFFFF"/>
                    </a:solidFill>
                  </a:tcPr>
                </a:tc>
              </a:tr>
              <a:tr h="520000">
                <a:tc>
                  <a:txBody>
                    <a:bodyPr/>
                    <a:lstStyle/>
                    <a:p>
                      <a:r>
                        <a:rPr sz="1200" b="0">
                          <a:solidFill>
                            <a:srgbClr val="1B2430"/>
                          </a:solidFill>
                          <a:latin typeface="Calibri"/>
                        </a:rPr>
                        <a:t>Tipik foydalanuvchi</a:t>
                      </a:r>
                    </a:p>
                  </a:txBody>
                  <a:tcPr>
                    <a:solidFill>
                      <a:srgbClr val="F1F4F8"/>
                    </a:solidFill>
                  </a:tcPr>
                </a:tc>
                <a:tc>
                  <a:txBody>
                    <a:bodyPr/>
                    <a:lstStyle/>
                    <a:p>
                      <a:r>
                        <a:rPr sz="1200" b="0">
                          <a:solidFill>
                            <a:srgbClr val="1B2430"/>
                          </a:solidFill>
                          <a:latin typeface="Calibri"/>
                        </a:rPr>
                        <a:t>tadqiqot va mahsulot jamoasi, tez iteratsiya</a:t>
                      </a:r>
                    </a:p>
                  </a:txBody>
                  <a:tcPr>
                    <a:solidFill>
                      <a:srgbClr val="F1F4F8"/>
                    </a:solidFill>
                  </a:tcPr>
                </a:tc>
                <a:tc>
                  <a:txBody>
                    <a:bodyPr/>
                    <a:lstStyle/>
                    <a:p>
                      <a:r>
                        <a:rPr sz="1200" b="0">
                          <a:solidFill>
                            <a:srgbClr val="1B2430"/>
                          </a:solidFill>
                          <a:latin typeface="Calibri"/>
                        </a:rPr>
                        <a:t>platforma jamoasi, standartlashgan MLOps</a:t>
                      </a:r>
                    </a:p>
                  </a:txBody>
                  <a:tcPr>
                    <a:solidFill>
                      <a:srgbClr val="F1F4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Taqsimlangan o'qitish va inferens jarayonlarini klasterda boshqarish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M3 mavzusida ma'lumot, tensor va quvur parallelligi algoritmik jihatdan ko'rilgan edi; bu yerda ularning klaster darajasidagi talablari muhim. Taqsimlangan o'qitish ishi: (1) barcha ishchilar bir vaqtda joylanishi (gang scheduling); (2) ishchilar tarmoq…</a:t>
            </a:r>
          </a:p>
          <a:p>
            <a:pPr>
              <a:spcAft>
                <a:spcPts val="900"/>
              </a:spcAft>
            </a:pPr>
            <a:r>
              <a:rPr sz="2000" b="1">
                <a:solidFill>
                  <a:srgbClr val="0F8B8D"/>
                </a:solidFill>
              </a:rPr>
              <a:t>▪  </a:t>
            </a:r>
            <a:r>
              <a:rPr sz="2000">
                <a:solidFill>
                  <a:srgbClr val="1B2430"/>
                </a:solidFill>
                <a:latin typeface="Calibri"/>
              </a:rPr>
              <a:t>Inferens xizmati esa boshqa talablar bilan: kechikish p99 va narx muvozanati; dinamik to'plash (dynamic batching) — bir necha millisekund ichida kelgan so'rovlarni bitta partiyaga yig'ish…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Bulutli AI xizmatlarini loyihalash tamoyillari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Loyihalashda to'rtta savol markaziy. Birinchisi — hisoblash birligi: bitta so'rov qancha GPU-millisekund oladi? Bundan narx (so'rov boshiga) va kerakli nusxa soni kelib chiqadi.</a:t>
            </a:r>
          </a:p>
          <a:p>
            <a:pPr>
              <a:spcAft>
                <a:spcPts val="900"/>
              </a:spcAft>
            </a:pPr>
            <a:r>
              <a:rPr sz="2000" b="1">
                <a:solidFill>
                  <a:srgbClr val="0F8B8D"/>
                </a:solidFill>
              </a:rPr>
              <a:t>▪  </a:t>
            </a:r>
            <a:r>
              <a:rPr sz="2000">
                <a:solidFill>
                  <a:srgbClr val="1B2430"/>
                </a:solidFill>
                <a:latin typeface="Calibri"/>
              </a:rPr>
              <a:t>Narx optimallashtirishning amaliy vositalari: spot/preemptible instanslar o'qitish va paketli inferens uchun (60–90 foiz arzon, lekin to'satdan olib qo'yilishi mumkin — nazorat nuqtalari shart); MIG va time-slicing kichik modellar uchun; avtomatik…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Misolda matn tasniflash modeli (DistilBERT, sentiment) uchun FastAPI asosidagi inferens xizmatini konteynerlab, Kubernetes klasterida Deployment + Service + HPA bilan joylaymiz, yuklama berib masshtablashni kuzatamiz. Misol GPU'li klasterda ham…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Inferens xizmati kodi</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xizmat ishga tushganda modelni bir marta yuklaydi va isitadi — Kubernetes'da bu vaqt readinessProbe orqali hisobga olinadi, shunda trafik tayyor bo'lmagan nusxaga yuborilmaydi. /healthz va /metrics endpoint'lari orkestrator va kuzatuv…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1-qadam. Inferens xizmati kodi — kod</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7FD6D7"/>
                </a:solidFill>
                <a:latin typeface="Consolas"/>
              </a:rPr>
              <a:t># app.py</a:t>
            </a:r>
          </a:p>
          <a:p>
            <a:r>
              <a:rPr sz="1000">
                <a:solidFill>
                  <a:srgbClr val="E2E8F0"/>
                </a:solidFill>
                <a:latin typeface="Consolas"/>
              </a:rPr>
              <a:t>import os, time, torch</a:t>
            </a:r>
          </a:p>
          <a:p>
            <a:r>
              <a:rPr sz="1000">
                <a:solidFill>
                  <a:srgbClr val="E2E8F0"/>
                </a:solidFill>
                <a:latin typeface="Consolas"/>
              </a:rPr>
              <a:t>from fastapi import FastAPI</a:t>
            </a:r>
          </a:p>
          <a:p>
            <a:r>
              <a:rPr sz="1000">
                <a:solidFill>
                  <a:srgbClr val="E2E8F0"/>
                </a:solidFill>
                <a:latin typeface="Consolas"/>
              </a:rPr>
              <a:t>from pydantic import BaseModel</a:t>
            </a:r>
          </a:p>
          <a:p>
            <a:r>
              <a:rPr sz="1000">
                <a:solidFill>
                  <a:srgbClr val="E2E8F0"/>
                </a:solidFill>
                <a:latin typeface="Consolas"/>
              </a:rPr>
              <a:t>from transformers import AutoTokenizer, AutoModelForSequenceClassification</a:t>
            </a:r>
          </a:p>
          <a:p>
            <a:r>
              <a:rPr sz="1000">
                <a:solidFill>
                  <a:srgbClr val="E2E8F0"/>
                </a:solidFill>
                <a:latin typeface="Consolas"/>
              </a:rPr>
              <a:t>from prometheus_client import Counter, Histogram, make_asgi_app</a:t>
            </a:r>
          </a:p>
          <a:p>
            <a:r>
              <a:rPr sz="1000">
                <a:solidFill>
                  <a:srgbClr val="E2E8F0"/>
                </a:solidFill>
                <a:latin typeface="Consolas"/>
              </a:rPr>
              <a:t> </a:t>
            </a:r>
          </a:p>
          <a:p>
            <a:r>
              <a:rPr sz="1000">
                <a:solidFill>
                  <a:srgbClr val="E2E8F0"/>
                </a:solidFill>
                <a:latin typeface="Consolas"/>
              </a:rPr>
              <a:t>MODEL = os.getenv("MODEL_NAME", "distilbert-base-uncased-finetuned-sst-2-english")</a:t>
            </a:r>
          </a:p>
          <a:p>
            <a:r>
              <a:rPr sz="1000">
                <a:solidFill>
                  <a:srgbClr val="E2E8F0"/>
                </a:solidFill>
                <a:latin typeface="Consolas"/>
              </a:rPr>
              <a:t>DEV = "cuda" if torch.cuda.is_available() else "cpu"</a:t>
            </a:r>
          </a:p>
          <a:p>
            <a:r>
              <a:rPr sz="1000">
                <a:solidFill>
                  <a:srgbClr val="E2E8F0"/>
                </a:solidFill>
                <a:latin typeface="Consolas"/>
              </a:rPr>
              <a:t>tok = AutoTokenizer.from_pretrained(MODEL)</a:t>
            </a:r>
          </a:p>
          <a:p>
            <a:r>
              <a:rPr sz="1000">
                <a:solidFill>
                  <a:srgbClr val="E2E8F0"/>
                </a:solidFill>
                <a:latin typeface="Consolas"/>
              </a:rPr>
              <a:t>model = AutoModelForSequenceClassification.from_pretrained(MODEL).to(DEV).eval()</a:t>
            </a:r>
          </a:p>
          <a:p>
            <a:r>
              <a:rPr sz="1000">
                <a:solidFill>
                  <a:srgbClr val="E2E8F0"/>
                </a:solidFill>
                <a:latin typeface="Consolas"/>
              </a:rPr>
              <a:t>if DEV == "cuda":</a:t>
            </a:r>
          </a:p>
          <a:p>
            <a:r>
              <a:rPr sz="1000">
                <a:solidFill>
                  <a:srgbClr val="E2E8F0"/>
                </a:solidFill>
                <a:latin typeface="Consolas"/>
              </a:rPr>
              <a:t>    model.half()</a:t>
            </a:r>
          </a:p>
          <a:p>
            <a:r>
              <a:rPr sz="1000">
                <a:solidFill>
                  <a:srgbClr val="E2E8F0"/>
                </a:solidFill>
                <a:latin typeface="Consolas"/>
              </a:rPr>
              <a:t>with torch.no_grad():                                   # isitish: birinchi so'rov sekin bo'lmasin</a:t>
            </a:r>
          </a:p>
          <a:p>
            <a:r>
              <a:rPr sz="1000">
                <a:solidFill>
                  <a:srgbClr val="E2E8F0"/>
                </a:solidFill>
                <a:latin typeface="Consolas"/>
              </a:rPr>
              <a:t>    model(**tok(["warm up"], return_tensors="pt").to(DEV))</a:t>
            </a:r>
          </a:p>
          <a:p>
            <a:r>
              <a:rPr sz="1000">
                <a:solidFill>
                  <a:srgbClr val="E2E8F0"/>
                </a:solidFill>
                <a:latin typeface="Consolas"/>
              </a:rPr>
              <a:t> </a:t>
            </a:r>
          </a:p>
          <a:p>
            <a:r>
              <a:rPr sz="1000">
                <a:solidFill>
                  <a:srgbClr val="E2E8F0"/>
                </a:solidFill>
                <a:latin typeface="Consolas"/>
              </a:rPr>
              <a:t>app = FastAPI()</a:t>
            </a:r>
          </a:p>
          <a:p>
            <a:r>
              <a:rPr sz="1000">
                <a:solidFill>
                  <a:srgbClr val="E2E8F0"/>
                </a:solidFill>
                <a:latin typeface="Consolas"/>
              </a:rPr>
              <a:t>REQS = Counter("infer_requests_total", "So'rovlar soni")</a:t>
            </a:r>
          </a:p>
          <a:p>
            <a:r>
              <a:rPr sz="1000">
                <a:solidFill>
                  <a:srgbClr val="E2E8F0"/>
                </a:solidFill>
                <a:latin typeface="Consolas"/>
              </a:rPr>
              <a:t>LAT = Histogram("infer_latency_seconds", "Kechikish", buckets=(.005,.01,.025,.05,.1,.25,.5,1))</a:t>
            </a:r>
          </a:p>
          <a:p>
            <a:r>
              <a:rPr sz="1000">
                <a:solidFill>
                  <a:srgbClr val="E2E8F0"/>
                </a:solidFill>
                <a:latin typeface="Consolas"/>
              </a:rPr>
              <a:t>app.mount("/metrics", make_asgi_app())</a:t>
            </a:r>
          </a:p>
          <a:p>
            <a:r>
              <a:rPr sz="1000">
                <a:solidFill>
                  <a:srgbClr val="7FD6D7"/>
                </a:solidFill>
                <a:latin typeface="Consolas"/>
              </a:rPr>
              <a:t># … (to‘liq kod — mavzu matnida / GitHub’da)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Dockerfile va obrazni qurish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bazaviy obraz CUDA runtime (kompilyator va sarlavha fayllarsiz, devel variantidan ~3 GB kichik). requirements.txt koddan oldin nusxalanadi — kod o'zgarganda og'ir pip install qatlami keshdan olinadi.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Dockerfile va obrazni qurish — kod 1</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7FD6D7"/>
                </a:solidFill>
                <a:latin typeface="Consolas"/>
              </a:rPr>
              <a:t># Dockerfile</a:t>
            </a:r>
          </a:p>
          <a:p>
            <a:r>
              <a:rPr sz="1000">
                <a:solidFill>
                  <a:srgbClr val="E2E8F0"/>
                </a:solidFill>
                <a:latin typeface="Consolas"/>
              </a:rPr>
              <a:t>FROM nvidia/cuda:12.4.1-runtime-ubuntu22.04 AS base</a:t>
            </a:r>
          </a:p>
          <a:p>
            <a:r>
              <a:rPr sz="1000">
                <a:solidFill>
                  <a:srgbClr val="E2E8F0"/>
                </a:solidFill>
                <a:latin typeface="Consolas"/>
              </a:rPr>
              <a:t>ENV DEBIAN_FRONTEND=noninteractive PIP_NO_CACHE_DIR=1 HF_HOME=/models</a:t>
            </a:r>
          </a:p>
          <a:p>
            <a:r>
              <a:rPr sz="1000">
                <a:solidFill>
                  <a:srgbClr val="E2E8F0"/>
                </a:solidFill>
                <a:latin typeface="Consolas"/>
              </a:rPr>
              <a:t>RUN apt-get update &amp;&amp; apt-get install -y --no-install-recommends python3 python3-pip \</a:t>
            </a:r>
          </a:p>
          <a:p>
            <a:r>
              <a:rPr sz="1000">
                <a:solidFill>
                  <a:srgbClr val="E2E8F0"/>
                </a:solidFill>
                <a:latin typeface="Consolas"/>
              </a:rPr>
              <a:t>    &amp;&amp; rm -rf /var/lib/apt/lists/*</a:t>
            </a:r>
          </a:p>
          <a:p>
            <a:r>
              <a:rPr sz="1000">
                <a:solidFill>
                  <a:srgbClr val="E2E8F0"/>
                </a:solidFill>
                <a:latin typeface="Consolas"/>
              </a:rPr>
              <a:t>WORKDIR /srv</a:t>
            </a:r>
          </a:p>
          <a:p>
            <a:r>
              <a:rPr sz="1000">
                <a:solidFill>
                  <a:srgbClr val="E2E8F0"/>
                </a:solidFill>
                <a:latin typeface="Consolas"/>
              </a:rPr>
              <a:t>COPY requirements.txt .</a:t>
            </a:r>
          </a:p>
          <a:p>
            <a:r>
              <a:rPr sz="1000">
                <a:solidFill>
                  <a:srgbClr val="E2E8F0"/>
                </a:solidFill>
                <a:latin typeface="Consolas"/>
              </a:rPr>
              <a:t>RUN pip3 install -r requirements.txt --index-url https://download.pytorch.org/whl/cu124 \</a:t>
            </a:r>
          </a:p>
          <a:p>
            <a:r>
              <a:rPr sz="1000">
                <a:solidFill>
                  <a:srgbClr val="E2E8F0"/>
                </a:solidFill>
                <a:latin typeface="Consolas"/>
              </a:rPr>
              <a:t>    --extra-index-url https://pypi.org/simple</a:t>
            </a:r>
          </a:p>
          <a:p>
            <a:r>
              <a:rPr sz="1000">
                <a:solidFill>
                  <a:srgbClr val="7FD6D7"/>
                </a:solidFill>
                <a:latin typeface="Consolas"/>
              </a:rPr>
              <a:t># Model og'irliklarini qurish vaqtida yuklab olish (ixtiyoriy: ishga tushish tezroq, obraz kattaroq)</a:t>
            </a:r>
          </a:p>
          <a:p>
            <a:r>
              <a:rPr sz="1000">
                <a:solidFill>
                  <a:srgbClr val="E2E8F0"/>
                </a:solidFill>
                <a:latin typeface="Consolas"/>
              </a:rPr>
              <a:t>RUN python3 -c "from transformers import AutoTokenizer, AutoModelForSequenceClassification as M; \</a:t>
            </a:r>
          </a:p>
          <a:p>
            <a:r>
              <a:rPr sz="1000">
                <a:solidFill>
                  <a:srgbClr val="E2E8F0"/>
                </a:solidFill>
                <a:latin typeface="Consolas"/>
              </a:rPr>
              <a:t>    n='distilbert-base-uncased-finetuned-sst-2-english'; AutoTokenizer.from_pretrained(n); M.from_pretrained(n)"</a:t>
            </a:r>
          </a:p>
          <a:p>
            <a:r>
              <a:rPr sz="1000">
                <a:solidFill>
                  <a:srgbClr val="E2E8F0"/>
                </a:solidFill>
                <a:latin typeface="Consolas"/>
              </a:rPr>
              <a:t>COPY app.py .</a:t>
            </a:r>
          </a:p>
          <a:p>
            <a:r>
              <a:rPr sz="1000">
                <a:solidFill>
                  <a:srgbClr val="E2E8F0"/>
                </a:solidFill>
                <a:latin typeface="Consolas"/>
              </a:rPr>
              <a:t>RUN useradd -m svc &amp;&amp; chown -R svc /srv /models</a:t>
            </a:r>
          </a:p>
          <a:p>
            <a:r>
              <a:rPr sz="1000">
                <a:solidFill>
                  <a:srgbClr val="E2E8F0"/>
                </a:solidFill>
                <a:latin typeface="Consolas"/>
              </a:rPr>
              <a:t>USER svc</a:t>
            </a:r>
          </a:p>
          <a:p>
            <a:r>
              <a:rPr sz="1000">
                <a:solidFill>
                  <a:srgbClr val="E2E8F0"/>
                </a:solidFill>
                <a:latin typeface="Consolas"/>
              </a:rPr>
              <a:t>EXPOSE 8000</a:t>
            </a:r>
          </a:p>
          <a:p>
            <a:r>
              <a:rPr sz="1000">
                <a:solidFill>
                  <a:srgbClr val="E2E8F0"/>
                </a:solidFill>
                <a:latin typeface="Consolas"/>
              </a:rPr>
              <a:t>HEALTHCHECK --interval=30s CMD python3 -c "import urllib.request;urllib.request.urlopen('http://localhost:8000/healthz')</a:t>
            </a:r>
          </a:p>
          <a:p>
            <a:r>
              <a:rPr sz="1000">
                <a:solidFill>
                  <a:srgbClr val="E2E8F0"/>
                </a:solidFill>
                <a:latin typeface="Consolas"/>
              </a:rPr>
              <a:t>CMD ["python3", "-m", "uvicorn", "app:app", "--host", "0.0.0.0", "--port", "8000", "--workers",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2-qadam. Dockerfile va obrazni qurish — kod 2</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400">
                <a:solidFill>
                  <a:srgbClr val="7FD6D7"/>
                </a:solidFill>
                <a:latin typeface="Consolas"/>
              </a:rPr>
              <a:t># requirements.txt</a:t>
            </a:r>
          </a:p>
          <a:p>
            <a:r>
              <a:rPr sz="1400">
                <a:solidFill>
                  <a:srgbClr val="E2E8F0"/>
                </a:solidFill>
                <a:latin typeface="Consolas"/>
              </a:rPr>
              <a:t>torch==2.4.1</a:t>
            </a:r>
          </a:p>
          <a:p>
            <a:r>
              <a:rPr sz="1400">
                <a:solidFill>
                  <a:srgbClr val="E2E8F0"/>
                </a:solidFill>
                <a:latin typeface="Consolas"/>
              </a:rPr>
              <a:t>transformers==4.44.2</a:t>
            </a:r>
          </a:p>
          <a:p>
            <a:r>
              <a:rPr sz="1400">
                <a:solidFill>
                  <a:srgbClr val="E2E8F0"/>
                </a:solidFill>
                <a:latin typeface="Consolas"/>
              </a:rPr>
              <a:t>fastapi==0.115.0</a:t>
            </a:r>
          </a:p>
          <a:p>
            <a:r>
              <a:rPr sz="1400">
                <a:solidFill>
                  <a:srgbClr val="E2E8F0"/>
                </a:solidFill>
                <a:latin typeface="Consolas"/>
              </a:rPr>
              <a:t>uvicorn==0.30.6</a:t>
            </a:r>
          </a:p>
          <a:p>
            <a:r>
              <a:rPr sz="1400">
                <a:solidFill>
                  <a:srgbClr val="E2E8F0"/>
                </a:solidFill>
                <a:latin typeface="Consolas"/>
              </a:rPr>
              <a:t>prometheus-client==0.20.0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Kubernetes Deployment va Service</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Deployment ikki nusxani ushlab turadi; maxUnavailable: 0 yangilanishda avval yangi Pod tayyor bo'lishini, keyin eskisini o'chirishni kafolatlaydi — xizmat uzilmaydi. requests rejalashtiruvchi uchun (tugunda joy bormi?), limits esa cgroup…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Kubernetes Deployment va Service — kod 1</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7FD6D7"/>
                </a:solidFill>
                <a:latin typeface="Consolas"/>
              </a:rPr>
              <a:t># deploy.yaml</a:t>
            </a:r>
          </a:p>
          <a:p>
            <a:r>
              <a:rPr sz="1200">
                <a:solidFill>
                  <a:srgbClr val="E2E8F0"/>
                </a:solidFill>
                <a:latin typeface="Consolas"/>
              </a:rPr>
              <a:t>apiVersion: apps/v1</a:t>
            </a:r>
          </a:p>
          <a:p>
            <a:r>
              <a:rPr sz="1200">
                <a:solidFill>
                  <a:srgbClr val="E2E8F0"/>
                </a:solidFill>
                <a:latin typeface="Consolas"/>
              </a:rPr>
              <a:t>kind: Deployment</a:t>
            </a:r>
          </a:p>
          <a:p>
            <a:r>
              <a:rPr sz="1200">
                <a:solidFill>
                  <a:srgbClr val="E2E8F0"/>
                </a:solidFill>
                <a:latin typeface="Consolas"/>
              </a:rPr>
              <a:t>metadata:</a:t>
            </a:r>
          </a:p>
          <a:p>
            <a:r>
              <a:rPr sz="1200">
                <a:solidFill>
                  <a:srgbClr val="E2E8F0"/>
                </a:solidFill>
                <a:latin typeface="Consolas"/>
              </a:rPr>
              <a:t>  name: sentiment</a:t>
            </a:r>
          </a:p>
          <a:p>
            <a:r>
              <a:rPr sz="1200">
                <a:solidFill>
                  <a:srgbClr val="E2E8F0"/>
                </a:solidFill>
                <a:latin typeface="Consolas"/>
              </a:rPr>
              <a:t>  labels: {app: sentiment}</a:t>
            </a:r>
          </a:p>
          <a:p>
            <a:r>
              <a:rPr sz="1200">
                <a:solidFill>
                  <a:srgbClr val="E2E8F0"/>
                </a:solidFill>
                <a:latin typeface="Consolas"/>
              </a:rPr>
              <a:t>spec:</a:t>
            </a:r>
          </a:p>
          <a:p>
            <a:r>
              <a:rPr sz="1200">
                <a:solidFill>
                  <a:srgbClr val="E2E8F0"/>
                </a:solidFill>
                <a:latin typeface="Consolas"/>
              </a:rPr>
              <a:t>  replicas: 2</a:t>
            </a:r>
          </a:p>
          <a:p>
            <a:r>
              <a:rPr sz="1200">
                <a:solidFill>
                  <a:srgbClr val="E2E8F0"/>
                </a:solidFill>
                <a:latin typeface="Consolas"/>
              </a:rPr>
              <a:t>  selector: {matchLabels: {app: sentiment}}</a:t>
            </a:r>
          </a:p>
          <a:p>
            <a:r>
              <a:rPr sz="1200">
                <a:solidFill>
                  <a:srgbClr val="E2E8F0"/>
                </a:solidFill>
                <a:latin typeface="Consolas"/>
              </a:rPr>
              <a:t>  strategy:</a:t>
            </a:r>
          </a:p>
          <a:p>
            <a:r>
              <a:rPr sz="1200">
                <a:solidFill>
                  <a:srgbClr val="E2E8F0"/>
                </a:solidFill>
                <a:latin typeface="Consolas"/>
              </a:rPr>
              <a:t>    rollingUpdate: {maxSurge: 1, maxUnavailable: 0}</a:t>
            </a:r>
          </a:p>
          <a:p>
            <a:r>
              <a:rPr sz="1200">
                <a:solidFill>
                  <a:srgbClr val="E2E8F0"/>
                </a:solidFill>
                <a:latin typeface="Consolas"/>
              </a:rPr>
              <a:t>  template:</a:t>
            </a:r>
          </a:p>
          <a:p>
            <a:r>
              <a:rPr sz="1200">
                <a:solidFill>
                  <a:srgbClr val="E2E8F0"/>
                </a:solidFill>
                <a:latin typeface="Consolas"/>
              </a:rPr>
              <a:t>    metadata:</a:t>
            </a:r>
          </a:p>
          <a:p>
            <a:r>
              <a:rPr sz="1200">
                <a:solidFill>
                  <a:srgbClr val="E2E8F0"/>
                </a:solidFill>
                <a:latin typeface="Consolas"/>
              </a:rPr>
              <a:t>      labels: {app: sentiment, version: "1.0.0"}</a:t>
            </a:r>
          </a:p>
          <a:p>
            <a:r>
              <a:rPr sz="1200">
                <a:solidFill>
                  <a:srgbClr val="E2E8F0"/>
                </a:solidFill>
                <a:latin typeface="Consolas"/>
              </a:rPr>
              <a:t>      annotations:</a:t>
            </a:r>
          </a:p>
          <a:p>
            <a:r>
              <a:rPr sz="1200">
                <a:solidFill>
                  <a:srgbClr val="E2E8F0"/>
                </a:solidFill>
                <a:latin typeface="Consolas"/>
              </a:rPr>
              <a:t>        prometheus.io/scrape: "true"</a:t>
            </a:r>
          </a:p>
          <a:p>
            <a:r>
              <a:rPr sz="1200">
                <a:solidFill>
                  <a:srgbClr val="E2E8F0"/>
                </a:solidFill>
                <a:latin typeface="Consolas"/>
              </a:rPr>
              <a:t>        prometheus.io/port: "8000"</a:t>
            </a:r>
          </a:p>
          <a:p>
            <a:r>
              <a:rPr sz="1200">
                <a:solidFill>
                  <a:srgbClr val="E2E8F0"/>
                </a:solidFill>
                <a:latin typeface="Consolas"/>
              </a:rPr>
              <a:t>    spec:</a:t>
            </a:r>
          </a:p>
          <a:p>
            <a:r>
              <a:rPr sz="1200">
                <a:solidFill>
                  <a:srgbClr val="E2E8F0"/>
                </a:solidFill>
                <a:latin typeface="Consolas"/>
              </a:rPr>
              <a:t>      containers:</a:t>
            </a:r>
          </a:p>
          <a:p>
            <a:r>
              <a:rPr sz="1200">
                <a:solidFill>
                  <a:srgbClr val="E2E8F0"/>
                </a:solidFill>
                <a:latin typeface="Consolas"/>
              </a:rPr>
              <a:t>      - name: server</a:t>
            </a:r>
          </a:p>
          <a:p>
            <a:r>
              <a:rPr sz="1200">
                <a:solidFill>
                  <a:srgbClr val="7FD6D7"/>
                </a:solidFill>
                <a:latin typeface="Consolas"/>
              </a:rPr>
              <a:t># … (to‘liq kod — mavzu matnida / GitHub’da)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3-qadam. Kubernetes Deployment va Service — kod 2</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kubectl apply -f deploy.yaml</a:t>
            </a:r>
          </a:p>
          <a:p>
            <a:r>
              <a:rPr sz="1000">
                <a:solidFill>
                  <a:srgbClr val="E2E8F0"/>
                </a:solidFill>
                <a:latin typeface="Consolas"/>
              </a:rPr>
              <a:t>kubectl get pods -l app=sentiment -w          # ContainerCreating -&gt; Running -&gt; READY 1/1</a:t>
            </a:r>
          </a:p>
          <a:p>
            <a:r>
              <a:rPr sz="1000">
                <a:solidFill>
                  <a:srgbClr val="E2E8F0"/>
                </a:solidFill>
                <a:latin typeface="Consolas"/>
              </a:rPr>
              <a:t>kubectl describe pod -l app=sentiment | grep -A3 "nvidia.com/gpu"</a:t>
            </a:r>
          </a:p>
          <a:p>
            <a:r>
              <a:rPr sz="1000">
                <a:solidFill>
                  <a:srgbClr val="E2E8F0"/>
                </a:solidFill>
                <a:latin typeface="Consolas"/>
              </a:rPr>
              <a:t>kubectl port-forward svc/sentiment 8080:80 &amp;</a:t>
            </a:r>
          </a:p>
          <a:p>
            <a:r>
              <a:rPr sz="1000">
                <a:solidFill>
                  <a:srgbClr val="E2E8F0"/>
                </a:solidFill>
                <a:latin typeface="Consolas"/>
              </a:rPr>
              <a:t>curl -s -X POST localhost:8080/predict -H 'content-type: application/json' -d '{"texts":["works in k8s"]}'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HPA bilan avtomatik masshtablash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HPA har 15 soniyada metrikani o'qib, kerakli = joriy × (o'lchangan / maqsad) formulasi bilan nusxa sonini hisoblaydi. behavior bo'limi tebranishni (flapping) oldini oladi: tez ko'tarilish (30 s), sekin tushish (5 daqiqa barqarorlik)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HPA bilan avtomatik masshtablash — kod 1</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7FD6D7"/>
                </a:solidFill>
                <a:latin typeface="Consolas"/>
              </a:rPr>
              <a:t># hpa.yaml</a:t>
            </a:r>
          </a:p>
          <a:p>
            <a:r>
              <a:rPr sz="1000">
                <a:solidFill>
                  <a:srgbClr val="E2E8F0"/>
                </a:solidFill>
                <a:latin typeface="Consolas"/>
              </a:rPr>
              <a:t>apiVersion: autoscaling/v2</a:t>
            </a:r>
          </a:p>
          <a:p>
            <a:r>
              <a:rPr sz="1000">
                <a:solidFill>
                  <a:srgbClr val="E2E8F0"/>
                </a:solidFill>
                <a:latin typeface="Consolas"/>
              </a:rPr>
              <a:t>kind: HorizontalPodAutoscaler</a:t>
            </a:r>
          </a:p>
          <a:p>
            <a:r>
              <a:rPr sz="1000">
                <a:solidFill>
                  <a:srgbClr val="E2E8F0"/>
                </a:solidFill>
                <a:latin typeface="Consolas"/>
              </a:rPr>
              <a:t>metadata: {name: sentiment}</a:t>
            </a:r>
          </a:p>
          <a:p>
            <a:r>
              <a:rPr sz="1000">
                <a:solidFill>
                  <a:srgbClr val="E2E8F0"/>
                </a:solidFill>
                <a:latin typeface="Consolas"/>
              </a:rPr>
              <a:t>spec:</a:t>
            </a:r>
          </a:p>
          <a:p>
            <a:r>
              <a:rPr sz="1000">
                <a:solidFill>
                  <a:srgbClr val="E2E8F0"/>
                </a:solidFill>
                <a:latin typeface="Consolas"/>
              </a:rPr>
              <a:t>  scaleTargetRef: {apiVersion: apps/v1, kind: Deployment, name: sentiment}</a:t>
            </a:r>
          </a:p>
          <a:p>
            <a:r>
              <a:rPr sz="1000">
                <a:solidFill>
                  <a:srgbClr val="E2E8F0"/>
                </a:solidFill>
                <a:latin typeface="Consolas"/>
              </a:rPr>
              <a:t>  minReplicas: 2</a:t>
            </a:r>
          </a:p>
          <a:p>
            <a:r>
              <a:rPr sz="1000">
                <a:solidFill>
                  <a:srgbClr val="E2E8F0"/>
                </a:solidFill>
                <a:latin typeface="Consolas"/>
              </a:rPr>
              <a:t>  maxReplicas: 8</a:t>
            </a:r>
          </a:p>
          <a:p>
            <a:r>
              <a:rPr sz="1000">
                <a:solidFill>
                  <a:srgbClr val="E2E8F0"/>
                </a:solidFill>
                <a:latin typeface="Consolas"/>
              </a:rPr>
              <a:t>  metrics:</a:t>
            </a:r>
          </a:p>
          <a:p>
            <a:r>
              <a:rPr sz="1000">
                <a:solidFill>
                  <a:srgbClr val="E2E8F0"/>
                </a:solidFill>
                <a:latin typeface="Consolas"/>
              </a:rPr>
              <a:t>  - type: Resource</a:t>
            </a:r>
          </a:p>
          <a:p>
            <a:r>
              <a:rPr sz="1000">
                <a:solidFill>
                  <a:srgbClr val="E2E8F0"/>
                </a:solidFill>
                <a:latin typeface="Consolas"/>
              </a:rPr>
              <a:t>    resource: {name: cpu, target: {type: Utilization, averageUtilization: 60}}</a:t>
            </a:r>
          </a:p>
          <a:p>
            <a:r>
              <a:rPr sz="1000">
                <a:solidFill>
                  <a:srgbClr val="7FD6D7"/>
                </a:solidFill>
                <a:latin typeface="Consolas"/>
              </a:rPr>
              <a:t>  # GPU klasterida DCGM + prometheus-adapter bo'lsa, afzal metrika:</a:t>
            </a:r>
          </a:p>
          <a:p>
            <a:r>
              <a:rPr sz="1000">
                <a:solidFill>
                  <a:srgbClr val="7FD6D7"/>
                </a:solidFill>
                <a:latin typeface="Consolas"/>
              </a:rPr>
              <a:t>  # - type: Pods</a:t>
            </a:r>
          </a:p>
          <a:p>
            <a:r>
              <a:rPr sz="1000">
                <a:solidFill>
                  <a:srgbClr val="7FD6D7"/>
                </a:solidFill>
                <a:latin typeface="Consolas"/>
              </a:rPr>
              <a:t>  #   pods:</a:t>
            </a:r>
          </a:p>
          <a:p>
            <a:r>
              <a:rPr sz="1000">
                <a:solidFill>
                  <a:srgbClr val="7FD6D7"/>
                </a:solidFill>
                <a:latin typeface="Consolas"/>
              </a:rPr>
              <a:t>  #     metric: {name: DCGM_FI_DEV_GPU_UTIL}</a:t>
            </a:r>
          </a:p>
          <a:p>
            <a:r>
              <a:rPr sz="1000">
                <a:solidFill>
                  <a:srgbClr val="7FD6D7"/>
                </a:solidFill>
                <a:latin typeface="Consolas"/>
              </a:rPr>
              <a:t>  #     target: {type: AverageValue, averageValue: "70"}</a:t>
            </a:r>
          </a:p>
          <a:p>
            <a:r>
              <a:rPr sz="1000">
                <a:solidFill>
                  <a:srgbClr val="E2E8F0"/>
                </a:solidFill>
                <a:latin typeface="Consolas"/>
              </a:rPr>
              <a:t>  behavior:</a:t>
            </a:r>
          </a:p>
          <a:p>
            <a:r>
              <a:rPr sz="1000">
                <a:solidFill>
                  <a:srgbClr val="E2E8F0"/>
                </a:solidFill>
                <a:latin typeface="Consolas"/>
              </a:rPr>
              <a:t>    scaleUp:   {stabilizationWindowSeconds: 30, policies: [{type: Pods, value: 2, periodSeconds: 60}]}</a:t>
            </a:r>
          </a:p>
          <a:p>
            <a:r>
              <a:rPr sz="1000">
                <a:solidFill>
                  <a:srgbClr val="E2E8F0"/>
                </a:solidFill>
                <a:latin typeface="Consolas"/>
              </a:rPr>
              <a:t>    scaleDown: {stabilizationWindowSeconds: 300, policies: [{type: Percent, value: 50, periodSeconds: 60}]}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4-qadam. HPA bilan avtomatik masshtablash — kod 2</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000">
                <a:solidFill>
                  <a:srgbClr val="E2E8F0"/>
                </a:solidFill>
                <a:latin typeface="Consolas"/>
              </a:rPr>
              <a:t>kubectl apply -f hpa.yaml</a:t>
            </a:r>
          </a:p>
          <a:p>
            <a:r>
              <a:rPr sz="1000">
                <a:solidFill>
                  <a:srgbClr val="7FD6D7"/>
                </a:solidFill>
                <a:latin typeface="Consolas"/>
              </a:rPr>
              <a:t># Yuklama generatori (hey yoki k6; bu yerda hey):</a:t>
            </a:r>
          </a:p>
          <a:p>
            <a:r>
              <a:rPr sz="1000">
                <a:solidFill>
                  <a:srgbClr val="E2E8F0"/>
                </a:solidFill>
                <a:latin typeface="Consolas"/>
              </a:rPr>
              <a:t>hey -z 3m -c 64 -m POST -H 'content-type: application/json' \</a:t>
            </a:r>
          </a:p>
          <a:p>
            <a:r>
              <a:rPr sz="1000">
                <a:solidFill>
                  <a:srgbClr val="E2E8F0"/>
                </a:solidFill>
                <a:latin typeface="Consolas"/>
              </a:rPr>
              <a:t>    -d '{"texts":["load test sentence number one","and another one"]}' http://localhost:8080/predict &amp;</a:t>
            </a:r>
          </a:p>
          <a:p>
            <a:r>
              <a:rPr sz="1000">
                <a:solidFill>
                  <a:srgbClr val="E2E8F0"/>
                </a:solidFill>
                <a:latin typeface="Consolas"/>
              </a:rPr>
              <a:t>kubectl get hpa sentiment -w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Yangilanish, kuzatuv va Ray Serve bilan taqqoslash</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Nima bo'ldi va nega: kubectl set image rolling update'ni boshlaydi; rollout undo avvalgi ReplicaSet'ni qaytaradi — bu Kubernetes'ning versiyalash kuchi. Ray Serve varianti bir xil ishni Python dekoratorlari bilan ifodalaydi: autoscaling_config HPA'ga…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Yangilanish, kuzatuv va Ray Serve bilan taqqoslash — kod 1</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7FD6D7"/>
                </a:solidFill>
                <a:latin typeface="Consolas"/>
              </a:rPr>
              <a:t># Kanareyka uslubida yangi versiya (oddiy rolling update):</a:t>
            </a:r>
          </a:p>
          <a:p>
            <a:r>
              <a:rPr sz="1200">
                <a:solidFill>
                  <a:srgbClr val="E2E8F0"/>
                </a:solidFill>
                <a:latin typeface="Consolas"/>
              </a:rPr>
              <a:t>kubectl set image deployment/sentiment server=registry.example.local/sentiment:1.1.0</a:t>
            </a:r>
          </a:p>
          <a:p>
            <a:r>
              <a:rPr sz="1200">
                <a:solidFill>
                  <a:srgbClr val="E2E8F0"/>
                </a:solidFill>
                <a:latin typeface="Consolas"/>
              </a:rPr>
              <a:t>kubectl rollout status deployment/sentiment</a:t>
            </a:r>
          </a:p>
          <a:p>
            <a:r>
              <a:rPr sz="1200">
                <a:solidFill>
                  <a:srgbClr val="E2E8F0"/>
                </a:solidFill>
                <a:latin typeface="Consolas"/>
              </a:rPr>
              <a:t>kubectl rollout undo deployment/sentiment          # muammo bo'lsa orqaga</a:t>
            </a:r>
          </a:p>
          <a:p>
            <a:r>
              <a:rPr sz="1200">
                <a:solidFill>
                  <a:srgbClr val="E2E8F0"/>
                </a:solidFill>
                <a:latin typeface="Consolas"/>
              </a:rPr>
              <a:t>kubectl top pods -l app=sentiment                  # CPU/xotira; GPU uchun DCGM dashboard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5-qadam. Yangilanish, kuzatuv va Ray Serve bilan taqqoslash — kod 2</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000" y="1280000"/>
            <a:ext cx="11200000" cy="5000000"/>
          </a:xfrm>
          <a:prstGeom prst="roundRect">
            <a:avLst>
              <a:gd name="adj" fmla="val 3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000" y="1400000"/>
            <a:ext cx="10800000" cy="4800000"/>
          </a:xfrm>
          <a:prstGeom prst="rect">
            <a:avLst/>
          </a:prstGeom>
          <a:noFill/>
        </p:spPr>
        <p:txBody>
          <a:bodyPr wrap="square">
            <a:spAutoFit/>
          </a:bodyPr>
          <a:lstStyle/>
          <a:p>
            <a:r>
              <a:rPr sz="1200">
                <a:solidFill>
                  <a:srgbClr val="7FD6D7"/>
                </a:solidFill>
                <a:latin typeface="Consolas"/>
              </a:rPr>
              <a:t># serve_app.py — xuddi shu xizmat Ray Serve'da (KubeRay RayService orqali joylanadi)</a:t>
            </a:r>
          </a:p>
          <a:p>
            <a:r>
              <a:rPr sz="1200">
                <a:solidFill>
                  <a:srgbClr val="E2E8F0"/>
                </a:solidFill>
                <a:latin typeface="Consolas"/>
              </a:rPr>
              <a:t>import ray</a:t>
            </a:r>
          </a:p>
          <a:p>
            <a:r>
              <a:rPr sz="1200">
                <a:solidFill>
                  <a:srgbClr val="E2E8F0"/>
                </a:solidFill>
                <a:latin typeface="Consolas"/>
              </a:rPr>
              <a:t>from ray import serve</a:t>
            </a:r>
          </a:p>
          <a:p>
            <a:r>
              <a:rPr sz="1200">
                <a:solidFill>
                  <a:srgbClr val="E2E8F0"/>
                </a:solidFill>
                <a:latin typeface="Consolas"/>
              </a:rPr>
              <a:t>from fastapi import FastAPI</a:t>
            </a:r>
          </a:p>
          <a:p>
            <a:r>
              <a:rPr sz="1200">
                <a:solidFill>
                  <a:srgbClr val="E2E8F0"/>
                </a:solidFill>
                <a:latin typeface="Consolas"/>
              </a:rPr>
              <a:t>from transformers import pipeline</a:t>
            </a:r>
          </a:p>
          <a:p>
            <a:r>
              <a:rPr sz="1200">
                <a:solidFill>
                  <a:srgbClr val="E2E8F0"/>
                </a:solidFill>
                <a:latin typeface="Consolas"/>
              </a:rPr>
              <a:t> </a:t>
            </a:r>
          </a:p>
          <a:p>
            <a:r>
              <a:rPr sz="1200">
                <a:solidFill>
                  <a:srgbClr val="E2E8F0"/>
                </a:solidFill>
                <a:latin typeface="Consolas"/>
              </a:rPr>
              <a:t>app = FastAPI()</a:t>
            </a:r>
          </a:p>
          <a:p>
            <a:r>
              <a:rPr sz="1200">
                <a:solidFill>
                  <a:srgbClr val="E2E8F0"/>
                </a:solidFill>
                <a:latin typeface="Consolas"/>
              </a:rPr>
              <a:t> </a:t>
            </a:r>
          </a:p>
          <a:p>
            <a:r>
              <a:rPr sz="1200">
                <a:solidFill>
                  <a:srgbClr val="E2E8F0"/>
                </a:solidFill>
                <a:latin typeface="Consolas"/>
              </a:rPr>
              <a:t>@serve.deployment(num_replicas="auto", ray_actor_options={"num_gpus": 1},</a:t>
            </a:r>
          </a:p>
          <a:p>
            <a:r>
              <a:rPr sz="1200">
                <a:solidFill>
                  <a:srgbClr val="E2E8F0"/>
                </a:solidFill>
                <a:latin typeface="Consolas"/>
              </a:rPr>
              <a:t>                  autoscaling_config={"min_replicas": 1, "max_replicas": 8,</a:t>
            </a:r>
          </a:p>
          <a:p>
            <a:r>
              <a:rPr sz="1200">
                <a:solidFill>
                  <a:srgbClr val="E2E8F0"/>
                </a:solidFill>
                <a:latin typeface="Consolas"/>
              </a:rPr>
              <a:t>                                      "target_ongoing_requests": 16},</a:t>
            </a:r>
          </a:p>
          <a:p>
            <a:r>
              <a:rPr sz="1200">
                <a:solidFill>
                  <a:srgbClr val="E2E8F0"/>
                </a:solidFill>
                <a:latin typeface="Consolas"/>
              </a:rPr>
              <a:t>                  max_ongoing_requests=32)</a:t>
            </a:r>
          </a:p>
          <a:p>
            <a:r>
              <a:rPr sz="1200">
                <a:solidFill>
                  <a:srgbClr val="E2E8F0"/>
                </a:solidFill>
                <a:latin typeface="Consolas"/>
              </a:rPr>
              <a:t>@serve.ingress(app)</a:t>
            </a:r>
          </a:p>
          <a:p>
            <a:r>
              <a:rPr sz="1200">
                <a:solidFill>
                  <a:srgbClr val="E2E8F0"/>
                </a:solidFill>
                <a:latin typeface="Consolas"/>
              </a:rPr>
              <a:t>class Sentiment:</a:t>
            </a:r>
          </a:p>
          <a:p>
            <a:r>
              <a:rPr sz="1200">
                <a:solidFill>
                  <a:srgbClr val="E2E8F0"/>
                </a:solidFill>
                <a:latin typeface="Consolas"/>
              </a:rPr>
              <a:t>    def __init__(self):</a:t>
            </a:r>
          </a:p>
          <a:p>
            <a:r>
              <a:rPr sz="1200">
                <a:solidFill>
                  <a:srgbClr val="E2E8F0"/>
                </a:solidFill>
                <a:latin typeface="Consolas"/>
              </a:rPr>
              <a:t>        self.clf = pipeline("sentiment-analysis", device=0)</a:t>
            </a:r>
          </a:p>
          <a:p>
            <a:r>
              <a:rPr sz="1200">
                <a:solidFill>
                  <a:srgbClr val="E2E8F0"/>
                </a:solidFill>
                <a:latin typeface="Consolas"/>
              </a:rPr>
              <a:t>    @serve.batch(max_batch_size=32, batch_wait_timeout_s=0.005)</a:t>
            </a:r>
          </a:p>
          <a:p>
            <a:r>
              <a:rPr sz="1200">
                <a:solidFill>
                  <a:srgbClr val="E2E8F0"/>
                </a:solidFill>
                <a:latin typeface="Consolas"/>
              </a:rPr>
              <a:t>    async def _batched(self, texts: list[str]):</a:t>
            </a:r>
          </a:p>
          <a:p>
            <a:r>
              <a:rPr sz="1200">
                <a:solidFill>
                  <a:srgbClr val="E2E8F0"/>
                </a:solidFill>
                <a:latin typeface="Consolas"/>
              </a:rPr>
              <a:t>        return self.clf(texts)</a:t>
            </a:r>
          </a:p>
          <a:p>
            <a:r>
              <a:rPr sz="1200">
                <a:solidFill>
                  <a:srgbClr val="E2E8F0"/>
                </a:solidFill>
                <a:latin typeface="Consolas"/>
              </a:rPr>
              <a:t>    @app.post("/predict")</a:t>
            </a:r>
          </a:p>
          <a:p>
            <a:r>
              <a:rPr sz="1200">
                <a:solidFill>
                  <a:srgbClr val="7FD6D7"/>
                </a:solidFill>
                <a:latin typeface="Consolas"/>
              </a:rPr>
              <a:t># … (to‘liq kod — mavzu matnida / GitHub’da)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Misol bir nechta tizimli xulosani ko'rsatadi. Birinchidan, konteynerlash «mening kompyuterimda ishlaydi» muammosini hal qiladi, lekin obraz hajmi (6–7 GB) va qurish vaqti yangi xarajatga aylanadi; qatlam tartibi, runtime bazaviy obraz va og'irliklarni…</a:t>
            </a:r>
          </a:p>
          <a:p>
            <a:pPr>
              <a:spcAft>
                <a:spcPts val="900"/>
              </a:spcAft>
            </a:pPr>
            <a:r>
              <a:rPr sz="1600" b="1">
                <a:solidFill>
                  <a:srgbClr val="0F8B8D"/>
                </a:solidFill>
              </a:rPr>
              <a:t>▪  </a:t>
            </a:r>
            <a:r>
              <a:rPr sz="1600">
                <a:solidFill>
                  <a:srgbClr val="1B2430"/>
                </a:solidFill>
                <a:latin typeface="Calibri"/>
              </a:rPr>
              <a:t>Uchinchidan, HPA metrikasi tanlovi natijani belgilaydi: CPU foizi GPU xizmati uchun bilvosita signal — u tokenizatsiya yukini aks ettiradi, GPU to'yinganini emas; p99 kechikish yoki navbat uzunligi to'g'riroq. To'rtinchidan, masshtablash tezligi infratuzilma…</a:t>
            </a:r>
          </a:p>
          <a:p>
            <a:pPr>
              <a:spcAft>
                <a:spcPts val="900"/>
              </a:spcAft>
            </a:pPr>
            <a:r>
              <a:rPr sz="1600" b="1">
                <a:solidFill>
                  <a:srgbClr val="0F8B8D"/>
                </a:solidFill>
              </a:rPr>
              <a:t>▪  </a:t>
            </a:r>
            <a:r>
              <a:rPr sz="1600">
                <a:solidFill>
                  <a:srgbClr val="1B2430"/>
                </a:solidFill>
                <a:latin typeface="Calibri"/>
              </a:rPr>
              <a:t>Cheklovlar va muqobillar: FastAPI + PyTorch oddiy va tushunarli, lekin ishlab chiqarish darajasida Triton Inference Server (dinamik to'plash, bir nechta freymvork, TensorRT, model ansambllari) yoki LLM uchun vLLM/TensorRT-LLM ko'proq throughput beradi. KServe…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latest tegi va aniq bo'lmagan versiyalar. Obraz va kutubxona versiyalari qotirilmasa, bugun ishlagan tizim ertaga boshqacha quriladi. Semantik versiya teglari, requirements.txt da aniq…</a:t>
            </a:r>
          </a:p>
          <a:p>
            <a:pPr>
              <a:spcAft>
                <a:spcPts val="900"/>
              </a:spcAft>
            </a:pPr>
            <a:r>
              <a:rPr sz="1600" b="1">
                <a:solidFill>
                  <a:srgbClr val="0F8B8D"/>
                </a:solidFill>
              </a:rPr>
              <a:t>▪  </a:t>
            </a:r>
            <a:r>
              <a:rPr sz="1600">
                <a:solidFill>
                  <a:srgbClr val="1B2430"/>
                </a:solidFill>
                <a:latin typeface="Calibri"/>
              </a:rPr>
              <a:t>GPU uchun requests va limits farqli yoki yo'q. nvidia.com/gpu faqat limits orqali so'raladi va ikkalasi teng bo'lishi kerak; aks holda Pod GPU'siz ishga tushadi va CPU'da sekin ishlaydi —…</a:t>
            </a:r>
          </a:p>
          <a:p>
            <a:pPr>
              <a:spcAft>
                <a:spcPts val="900"/>
              </a:spcAft>
            </a:pPr>
            <a:r>
              <a:rPr sz="1600" b="1">
                <a:solidFill>
                  <a:srgbClr val="0F8B8D"/>
                </a:solidFill>
              </a:rPr>
              <a:t>▪  </a:t>
            </a:r>
            <a:r>
              <a:rPr sz="1600">
                <a:solidFill>
                  <a:srgbClr val="1B2430"/>
                </a:solidFill>
                <a:latin typeface="Calibri"/>
              </a:rPr>
              <a:t>readinessProbe'siz Deployment. Model yuklanayotgan 30–60 soniya ichida Service trafik yuboradi va xatolar paydo bo'ladi. Readiness har doim, liveness ehtiyotkorlik bilan (juda qisqa muddat…</a:t>
            </a:r>
          </a:p>
          <a:p>
            <a:pPr>
              <a:spcAft>
                <a:spcPts val="900"/>
              </a:spcAft>
            </a:pPr>
            <a:r>
              <a:rPr sz="1600" b="1">
                <a:solidFill>
                  <a:srgbClr val="0F8B8D"/>
                </a:solidFill>
              </a:rPr>
              <a:t>▪  </a:t>
            </a:r>
            <a:r>
              <a:rPr sz="1600">
                <a:solidFill>
                  <a:srgbClr val="1B2430"/>
                </a:solidFill>
                <a:latin typeface="Calibri"/>
              </a:rPr>
              <a:t>Bir GPU'da bir nechta uvicorn/gunicorn ishchisi. Har ishchi modelni alohida yuklaydi — xotira tugaydi, GPU kontekstlari raqobatlashadi. Bir konteyner — bir model nusxasi; parallellik…</a:t>
            </a:r>
          </a:p>
          <a:p>
            <a:pPr>
              <a:spcAft>
                <a:spcPts val="900"/>
              </a:spcAft>
            </a:pPr>
            <a:r>
              <a:rPr sz="1600" b="1">
                <a:solidFill>
                  <a:srgbClr val="0F8B8D"/>
                </a:solidFill>
              </a:rPr>
              <a:t>▪  </a:t>
            </a:r>
            <a:r>
              <a:rPr sz="1600">
                <a:solidFill>
                  <a:srgbClr val="1B2430"/>
                </a:solidFill>
                <a:latin typeface="Calibri"/>
              </a:rPr>
              <a:t>CPU foiziga asoslangan HPA GPU xizmati uchun. GPU to'yingan bo'lsa ham CPU past bo'lishi mumkin va HPA masshtablamaydi. DCGM GPU bandligi, so'rov navbati (KEDA) yoki p99 kechikish bo'yicha…</a:t>
            </a:r>
          </a:p>
          <a:p>
            <a:pPr>
              <a:spcAft>
                <a:spcPts val="900"/>
              </a:spcAft>
            </a:pPr>
            <a:r>
              <a:rPr sz="1600" b="1">
                <a:solidFill>
                  <a:srgbClr val="0F8B8D"/>
                </a:solidFill>
              </a:rPr>
              <a:t>▪  </a:t>
            </a:r>
            <a:r>
              <a:rPr sz="1600">
                <a:solidFill>
                  <a:srgbClr val="1B2430"/>
                </a:solidFill>
                <a:latin typeface="Calibri"/>
              </a:rPr>
              <a:t>Og'irliklarni obrazga qotirib qo'yish. 20 GB'li LLM og'irliklari bilan obraz qurish va tortish daqiqalar oladi, model yangilanishi — qayta qurish. Og'irliklarni PVC, S3 yoki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Taqsimlangan o'qitishni oddiy rejalashtiruvchi bilan boshlash. 16 ishchidan 12 tasi joylanib, 4 tasi GPU kutib tursa, 12 GPU bekor turadi (deadlock ham mumkin). Volcano/Kueue bilan gang…</a:t>
            </a:r>
          </a:p>
          <a:p>
            <a:pPr>
              <a:spcAft>
                <a:spcPts val="900"/>
              </a:spcAft>
            </a:pPr>
            <a:r>
              <a:rPr sz="1800" b="1">
                <a:solidFill>
                  <a:srgbClr val="0F8B8D"/>
                </a:solidFill>
              </a:rPr>
              <a:t>▪  </a:t>
            </a:r>
            <a:r>
              <a:rPr sz="1800">
                <a:solidFill>
                  <a:srgbClr val="1B2430"/>
                </a:solidFill>
                <a:latin typeface="Calibri"/>
              </a:rPr>
              <a:t>Spot instanslarda nazorat nuqtasisiz o'qitish. Instans 2 daqiqa ogohlantirish bilan olib qo'yiladi; nazorat nuqtalari muntazam va umumiy saqlashga, qayta boshlash avtomatik bo'lsin.</a:t>
            </a:r>
          </a:p>
          <a:p>
            <a:pPr>
              <a:spcAft>
                <a:spcPts val="900"/>
              </a:spcAft>
            </a:pPr>
            <a:r>
              <a:rPr sz="1800" b="1">
                <a:solidFill>
                  <a:srgbClr val="0F8B8D"/>
                </a:solidFill>
              </a:rPr>
              <a:t>▪  </a:t>
            </a:r>
            <a:r>
              <a:rPr sz="1800">
                <a:solidFill>
                  <a:srgbClr val="1B2430"/>
                </a:solidFill>
                <a:latin typeface="Calibri"/>
              </a:rPr>
              <a:t>Sirlarni obrazga yoki YAML'ga yozish. API kalitlari, registr parollari Secret obyektida (yoki tashqi sir boshqaruvchida), muhit o'zgaruvchisi sifatida ulanadi; obraz qatlamlari hammaga…</a:t>
            </a:r>
          </a:p>
          <a:p>
            <a:pPr>
              <a:spcAft>
                <a:spcPts val="900"/>
              </a:spcAft>
            </a:pPr>
            <a:r>
              <a:rPr sz="1800" b="1">
                <a:solidFill>
                  <a:srgbClr val="0F8B8D"/>
                </a:solidFill>
              </a:rPr>
              <a:t>▪  </a:t>
            </a:r>
            <a:r>
              <a:rPr sz="1800">
                <a:solidFill>
                  <a:srgbClr val="1B2430"/>
                </a:solidFill>
                <a:latin typeface="Calibri"/>
              </a:rPr>
              <a:t>Kuzatuvsiz joylash. Kechikish gistogrammasi, xatolik ulushi, GPU bandligi va xotira — birinchi kundan; aks holda HPA sozlash va xatolikni topish taxminga aylanadi.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600" b="1">
                <a:solidFill>
                  <a:srgbClr val="0F8B8D"/>
                </a:solidFill>
              </a:rPr>
              <a:t>▪  </a:t>
            </a:r>
            <a:r>
              <a:rPr sz="1600">
                <a:solidFill>
                  <a:srgbClr val="1B2430"/>
                </a:solidFill>
                <a:latin typeface="Calibri"/>
              </a:rPr>
              <a:t>Konteyner va virtual mashina GPU'ga kirish nuqtai nazaridan qanday farq qiladi? NVIDIA Container Toolkit aynan nimani konteynerga «olib kiradi» va nega drayver xostda qolishi kerak?</a:t>
            </a:r>
          </a:p>
          <a:p>
            <a:pPr>
              <a:spcAft>
                <a:spcPts val="900"/>
              </a:spcAft>
            </a:pPr>
            <a:r>
              <a:rPr sz="1600" b="1">
                <a:solidFill>
                  <a:srgbClr val="0F8B8D"/>
                </a:solidFill>
              </a:rPr>
              <a:t>▪  </a:t>
            </a:r>
            <a:r>
              <a:rPr sz="1600">
                <a:solidFill>
                  <a:srgbClr val="1B2430"/>
                </a:solidFill>
                <a:latin typeface="Calibri"/>
              </a:rPr>
              <a:t>Dockerfile'da qatlamlar tartibini o'zgartirish qurish vaqtiga qanday ta'sir qiladi? Model og'irliklarini obrazga kiritish va tashqarida saqlashning afzallik-kamchiliklarini tezlik, hajm va…</a:t>
            </a:r>
          </a:p>
          <a:p>
            <a:pPr>
              <a:spcAft>
                <a:spcPts val="900"/>
              </a:spcAft>
            </a:pPr>
            <a:r>
              <a:rPr sz="1600" b="1">
                <a:solidFill>
                  <a:srgbClr val="0F8B8D"/>
                </a:solidFill>
              </a:rPr>
              <a:t>▪  </a:t>
            </a:r>
            <a:r>
              <a:rPr sz="1600">
                <a:solidFill>
                  <a:srgbClr val="1B2430"/>
                </a:solidFill>
                <a:latin typeface="Calibri"/>
              </a:rPr>
              <a:t>Kubernetes'da GPU nima uchun kasr qiymat bilan so'ralmaydi? MIG, time-slicing va bir konteynerda bir nechta model yondashuvlarini izolyatsiya, bandlik va kechikish bo'yicha taqqoslang.</a:t>
            </a:r>
          </a:p>
          <a:p>
            <a:pPr>
              <a:spcAft>
                <a:spcPts val="900"/>
              </a:spcAft>
            </a:pPr>
            <a:r>
              <a:rPr sz="1600" b="1">
                <a:solidFill>
                  <a:srgbClr val="0F8B8D"/>
                </a:solidFill>
              </a:rPr>
              <a:t>▪  </a:t>
            </a:r>
            <a:r>
              <a:rPr sz="1600">
                <a:solidFill>
                  <a:srgbClr val="1B2430"/>
                </a:solidFill>
                <a:latin typeface="Calibri"/>
              </a:rPr>
              <a:t>HPA uchun CPU foizi, GPU bandligi, so'rov navbati va p99 kechikish metrikalarining har biri qanday holatda to'g'ri signal beradi va qanday holatda yanglishtiradi?</a:t>
            </a:r>
          </a:p>
          <a:p>
            <a:pPr>
              <a:spcAft>
                <a:spcPts val="900"/>
              </a:spcAft>
            </a:pPr>
            <a:r>
              <a:rPr sz="1600" b="1">
                <a:solidFill>
                  <a:srgbClr val="0F8B8D"/>
                </a:solidFill>
              </a:rPr>
              <a:t>▪  </a:t>
            </a:r>
            <a:r>
              <a:rPr sz="1600">
                <a:solidFill>
                  <a:srgbClr val="1B2430"/>
                </a:solidFill>
                <a:latin typeface="Calibri"/>
              </a:rPr>
              <a:t>Gang scheduling nima va taqsimlangan o'qitishda usiz qanday muammolar paydo bo'ladi? Standart Kubernetes rejalashtiruvchisi nega buni ta'minlamaydi?</a:t>
            </a:r>
          </a:p>
          <a:p>
            <a:pPr>
              <a:spcAft>
                <a:spcPts val="900"/>
              </a:spcAft>
            </a:pPr>
            <a:r>
              <a:rPr sz="1600" b="1">
                <a:solidFill>
                  <a:srgbClr val="0F8B8D"/>
                </a:solidFill>
              </a:rPr>
              <a:t>▪  </a:t>
            </a:r>
            <a:r>
              <a:rPr sz="1600">
                <a:solidFill>
                  <a:srgbClr val="1B2430"/>
                </a:solidFill>
                <a:latin typeface="Calibri"/>
              </a:rPr>
              <a:t>Ray Serve'dagi @serve.batch va Triton'dagi dynamic batching kechikish va throughput o'rtasidagi qanday murosani boshqaradi? batch_wait_timeout_s ni qanday tanlaysiz?</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Nolga qadar masshtablash (scale-to-zero) qaysi xizmatlar uchun mos va qaysilar uchun xavfli? «Sovuq start» vaqtini kamaytirish usullarini sanab, har birining narxini baholang.</a:t>
            </a:r>
          </a:p>
          <a:p>
            <a:pPr>
              <a:spcAft>
                <a:spcPts val="900"/>
              </a:spcAft>
            </a:pPr>
            <a:r>
              <a:rPr sz="1800" b="1">
                <a:solidFill>
                  <a:srgbClr val="0F8B8D"/>
                </a:solidFill>
              </a:rPr>
              <a:t>▪  </a:t>
            </a:r>
            <a:r>
              <a:rPr sz="1800">
                <a:solidFill>
                  <a:srgbClr val="1B2430"/>
                </a:solidFill>
                <a:latin typeface="Calibri"/>
              </a:rPr>
              <a:t>512 GPU'li o'qitish ishida apparat nosozliklarining kutilgan chastotasi qanday va bu nazorat nuqtalari oralig'ini qanday belgilaydi? Nazorat nuqtasi yozish vaqti va yo'qotilgan hisoblash…</a:t>
            </a:r>
          </a:p>
          <a:p>
            <a:pPr>
              <a:spcAft>
                <a:spcPts val="900"/>
              </a:spcAft>
            </a:pPr>
            <a:r>
              <a:rPr sz="1800" b="1">
                <a:solidFill>
                  <a:srgbClr val="0F8B8D"/>
                </a:solidFill>
              </a:rPr>
              <a:t>▪  </a:t>
            </a:r>
            <a:r>
              <a:rPr sz="1800">
                <a:solidFill>
                  <a:srgbClr val="1B2430"/>
                </a:solidFill>
                <a:latin typeface="Calibri"/>
              </a:rPr>
              <a:t>Ray va Kubeflow'ni «raqobatchi» deb aytish nega noto'g'ri? Bitta tashkilotda ikkalasi qanday qatlamlashishi mumkin? Qaysi jamoa qaysi birini afzal ko'radi?</a:t>
            </a:r>
          </a:p>
          <a:p>
            <a:pPr>
              <a:spcAft>
                <a:spcPts val="900"/>
              </a:spcAft>
            </a:pPr>
            <a:r>
              <a:rPr sz="1800" b="1">
                <a:solidFill>
                  <a:srgbClr val="0F8B8D"/>
                </a:solidFill>
              </a:rPr>
              <a:t>▪  </a:t>
            </a:r>
            <a:r>
              <a:rPr sz="1800">
                <a:solidFill>
                  <a:srgbClr val="1B2430"/>
                </a:solidFill>
                <a:latin typeface="Calibri"/>
              </a:rPr>
              <a:t>Tashkilot o'z GPU klasteri va bulut o'rtasida tanlov qilmoqda: qaysi omillar (bandlik, ma'lumot rezidentligi, jamoa tajribasi, cho'qqi yuklama) qarorga ta'sir qiladi va gibrid yondashuv…</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Topshiriq 1 (individual, sillabusdagi 4-mustaqil ta'lim topshirig'iga mos). Docker + Kubernetes bilan AI xizmatini joylash.</a:t>
            </a:r>
          </a:p>
          <a:p>
            <a:pPr>
              <a:spcAft>
                <a:spcPts val="900"/>
              </a:spcAft>
            </a:pPr>
            <a:r>
              <a:rPr sz="1800" b="1">
                <a:solidFill>
                  <a:srgbClr val="0F8B8D"/>
                </a:solidFill>
              </a:rPr>
              <a:t>▪  </a:t>
            </a:r>
            <a:r>
              <a:rPr sz="1800">
                <a:solidFill>
                  <a:srgbClr val="1B2430"/>
                </a:solidFill>
                <a:latin typeface="Calibri"/>
              </a:rPr>
              <a:t>Baholash mezoni: Dockerfile sifati — qatlamlar, versiyalar, ildiz bo'lmagan foydalanuvchi, healthcheck (20 %); Kubernetes manifestlari to'g'riligi — probe'lar, resurslar, HPA siyosati (30…</a:t>
            </a:r>
          </a:p>
          <a:p>
            <a:pPr>
              <a:spcAft>
                <a:spcPts val="900"/>
              </a:spcAft>
            </a:pPr>
            <a:r>
              <a:rPr sz="1800" b="1">
                <a:solidFill>
                  <a:srgbClr val="0F8B8D"/>
                </a:solidFill>
              </a:rPr>
              <a:t>▪  </a:t>
            </a:r>
            <a:r>
              <a:rPr sz="1800">
                <a:solidFill>
                  <a:srgbClr val="1B2430"/>
                </a:solidFill>
                <a:latin typeface="Calibri"/>
              </a:rPr>
              <a:t>Topshiriq 2 (guruhda, 2–3 kishi). Bulutli AI xizmati arxitekturasi. Aniq biznes vazifa (masalan, 24/7 ishlaydigan hujjatlarni tasniflash API'si, kunduzi 10 baravar yuqori yuklama bilan) uchun bulutli AI arxitekturasini loyihalang: qatlamlar sxemasi, GPU turi…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1800" b="1">
                <a:solidFill>
                  <a:srgbClr val="0F8B8D"/>
                </a:solidFill>
              </a:rPr>
              <a:t>▪  </a:t>
            </a:r>
            <a:r>
              <a:rPr sz="1800">
                <a:solidFill>
                  <a:srgbClr val="1B2430"/>
                </a:solidFill>
                <a:latin typeface="Calibri"/>
              </a:rPr>
              <a:t>[2] Kneusel, R. T. Artificial Intelligence Engineering: A Practical Guide for AI Applications. No Starch Press, 2023. — joylash va ekspluatatsiya boblari.</a:t>
            </a:r>
          </a:p>
          <a:p>
            <a:pPr>
              <a:spcAft>
                <a:spcPts val="900"/>
              </a:spcAft>
            </a:pPr>
            <a:r>
              <a:rPr sz="1800" b="1">
                <a:solidFill>
                  <a:srgbClr val="0F8B8D"/>
                </a:solidFill>
              </a:rPr>
              <a:t>▪  </a:t>
            </a:r>
            <a:r>
              <a:rPr sz="1800">
                <a:solidFill>
                  <a:srgbClr val="1B2430"/>
                </a:solidFill>
                <a:latin typeface="Calibri"/>
              </a:rPr>
              <a:t>[3] Amershi, S., Begel, A., Bird, C., et al. Machine Learning Engineering. MIT Press, 2025. — ML tizimlarini ishlab chiqarishga joylash va infratuzilma boblari.</a:t>
            </a:r>
          </a:p>
          <a:p>
            <a:pPr>
              <a:spcAft>
                <a:spcPts val="900"/>
              </a:spcAft>
            </a:pPr>
            <a:r>
              <a:rPr sz="1800" b="1">
                <a:solidFill>
                  <a:srgbClr val="0F8B8D"/>
                </a:solidFill>
              </a:rPr>
              <a:t>▪  </a:t>
            </a:r>
            <a:r>
              <a:rPr sz="1800">
                <a:solidFill>
                  <a:srgbClr val="1B2430"/>
                </a:solidFill>
                <a:latin typeface="Calibri"/>
              </a:rPr>
              <a:t>[6] NVIDIA Developer Portal — NVIDIA Container Toolkit, GPU Operator, Triton Inference Server hujjatlari, https://developer.nvidia.com</a:t>
            </a:r>
          </a:p>
          <a:p>
            <a:pPr>
              <a:spcAft>
                <a:spcPts val="900"/>
              </a:spcAft>
            </a:pPr>
            <a:r>
              <a:rPr sz="1800" b="1">
                <a:solidFill>
                  <a:srgbClr val="0F8B8D"/>
                </a:solidFill>
              </a:rPr>
              <a:t>▪  </a:t>
            </a:r>
            <a:r>
              <a:rPr sz="1800">
                <a:solidFill>
                  <a:srgbClr val="1B2430"/>
                </a:solidFill>
                <a:latin typeface="Calibri"/>
              </a:rPr>
              <a:t>[7] PyTorch rasmiy hujjatlari — Distributed (DDP, FSDP, torchrun elastic), https://pytorch.org</a:t>
            </a:r>
          </a:p>
          <a:p>
            <a:pPr>
              <a:spcAft>
                <a:spcPts val="900"/>
              </a:spcAft>
            </a:pPr>
            <a:r>
              <a:rPr sz="1800" b="1">
                <a:solidFill>
                  <a:srgbClr val="0F8B8D"/>
                </a:solidFill>
              </a:rPr>
              <a:t>▪  </a:t>
            </a:r>
            <a:r>
              <a:rPr sz="1800">
                <a:solidFill>
                  <a:srgbClr val="1B2430"/>
                </a:solidFill>
                <a:latin typeface="Calibri"/>
              </a:rPr>
              <a:t>[9] Kubernetes rasmiy hujjatlari — Deployments, Services, Horizontal Pod Autoscaling, Schedule GPUs, https://kubernetes.io</a:t>
            </a:r>
          </a:p>
          <a:p>
            <a:pPr>
              <a:spcAft>
                <a:spcPts val="900"/>
              </a:spcAft>
            </a:pPr>
            <a:r>
              <a:rPr sz="1800" b="1">
                <a:solidFill>
                  <a:srgbClr val="0F8B8D"/>
                </a:solidFill>
              </a:rPr>
              <a:t>▪  </a:t>
            </a:r>
            <a:r>
              <a:rPr sz="1800">
                <a:solidFill>
                  <a:srgbClr val="1B2430"/>
                </a:solidFill>
                <a:latin typeface="Calibri"/>
              </a:rPr>
              <a:t>Docker rasmiy hujjatlari — Dockerfile reference, Multi-stage builds, https://docs.docker.com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00000"/>
            <a:ext cx="112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4" name="TextBox 3"/>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5" name="TextBox 4"/>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sp>
        <p:nvSpPr>
          <p:cNvPr id="6" name="Rectangle 5"/>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000" y="1300000"/>
            <a:ext cx="11000000" cy="4950000"/>
          </a:xfrm>
          <a:prstGeom prst="rect">
            <a:avLst/>
          </a:prstGeom>
          <a:noFill/>
        </p:spPr>
        <p:txBody>
          <a:bodyPr wrap="square">
            <a:spAutoFit/>
          </a:bodyPr>
          <a:lstStyle/>
          <a:p>
            <a:pPr>
              <a:spcAft>
                <a:spcPts val="900"/>
              </a:spcAft>
            </a:pPr>
            <a:r>
              <a:rPr sz="2000" b="1">
                <a:solidFill>
                  <a:srgbClr val="0F8B8D"/>
                </a:solidFill>
              </a:rPr>
              <a:t>▪  </a:t>
            </a:r>
            <a:r>
              <a:rPr sz="2000">
                <a:solidFill>
                  <a:srgbClr val="1B2430"/>
                </a:solidFill>
                <a:latin typeface="Calibri"/>
              </a:rPr>
              <a:t>Ray rasmiy hujjatlari — Ray Serve, Ray Train, KubeRay, https://docs.ray.io</a:t>
            </a:r>
          </a:p>
          <a:p>
            <a:pPr>
              <a:spcAft>
                <a:spcPts val="900"/>
              </a:spcAft>
            </a:pPr>
            <a:r>
              <a:rPr sz="2000" b="1">
                <a:solidFill>
                  <a:srgbClr val="0F8B8D"/>
                </a:solidFill>
              </a:rPr>
              <a:t>▪  </a:t>
            </a:r>
            <a:r>
              <a:rPr sz="2000">
                <a:solidFill>
                  <a:srgbClr val="1B2430"/>
                </a:solidFill>
                <a:latin typeface="Calibri"/>
              </a:rPr>
              <a:t>Kubeflow rasmiy hujjatlari — Pipelines, Training Operator, KServe, https://www.kubeflow.org/docs/</a:t>
            </a:r>
          </a:p>
          <a:p>
            <a:pPr>
              <a:spcAft>
                <a:spcPts val="900"/>
              </a:spcAft>
            </a:pPr>
            <a:r>
              <a:rPr sz="2000" b="1">
                <a:solidFill>
                  <a:srgbClr val="0F8B8D"/>
                </a:solidFill>
              </a:rPr>
              <a:t>▪  </a:t>
            </a:r>
            <a:r>
              <a:rPr sz="2000">
                <a:solidFill>
                  <a:srgbClr val="1B2430"/>
                </a:solidFill>
                <a:latin typeface="Calibri"/>
              </a:rPr>
              <a:t>Moritz, P., Nishihara, R., Wang, S., et al. Ray: A Distributed Framework for Emerging AI Applications. OSDI 2018.</a:t>
            </a:r>
          </a:p>
          <a:p>
            <a:pPr>
              <a:spcAft>
                <a:spcPts val="900"/>
              </a:spcAft>
            </a:pPr>
            <a:r>
              <a:rPr sz="2000" b="1">
                <a:solidFill>
                  <a:srgbClr val="0F8B8D"/>
                </a:solidFill>
              </a:rPr>
              <a:t>▪  </a:t>
            </a:r>
            <a:r>
              <a:rPr sz="2000">
                <a:solidFill>
                  <a:srgbClr val="1B2430"/>
                </a:solidFill>
                <a:latin typeface="Calibri"/>
              </a:rPr>
              <a:t>Burns, B., Grant, B., Oppenheimer, D., Brewer, E., &amp; Wilkes, J. Borg, Omega, and Kubernetes. Communications of the ACM, 59(5), 2016.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110000"/>
            <a:ext cx="10500000" cy="300000"/>
          </a:xfrm>
          <a:prstGeom prst="rect">
            <a:avLst/>
          </a:prstGeom>
          <a:noFill/>
        </p:spPr>
        <p:txBody>
          <a:bodyPr wrap="square" anchor="t" lIns="50800" rIns="50800">
            <a:spAutoFit/>
          </a:bodyPr>
          <a:lstStyle/>
          <a:p>
            <a:pPr algn="l"/>
            <a:r>
              <a:rPr sz="1200" b="1">
                <a:solidFill>
                  <a:srgbClr val="A9C4E6"/>
                </a:solidFill>
                <a:latin typeface="Calibri"/>
              </a:rPr>
              <a:t>SAVOLLAR</a:t>
            </a:r>
          </a:p>
        </p:txBody>
      </p:sp>
      <p:sp>
        <p:nvSpPr>
          <p:cNvPr id="4" name="TextBox 3"/>
          <p:cNvSpPr txBox="1"/>
          <p:nvPr/>
        </p:nvSpPr>
        <p:spPr>
          <a:xfrm>
            <a:off x="500000" y="330000"/>
            <a:ext cx="11200000" cy="650000"/>
          </a:xfrm>
          <a:prstGeom prst="rect">
            <a:avLst/>
          </a:prstGeom>
          <a:noFill/>
        </p:spPr>
        <p:txBody>
          <a:bodyPr wrap="square" anchor="ctr" lIns="50800" rIns="50800">
            <a:spAutoFit/>
          </a:bodyPr>
          <a:lstStyle/>
          <a:p>
            <a:pPr algn="l"/>
            <a:r>
              <a:rPr sz="2600" b="1">
                <a:solidFill>
                  <a:srgbClr val="FFFFFF"/>
                </a:solidFill>
                <a:latin typeface="Calibri"/>
              </a:rPr>
              <a:t>E’tiboringiz uchun rahmat!</a:t>
            </a:r>
          </a:p>
        </p:txBody>
      </p:sp>
      <p:sp>
        <p:nvSpPr>
          <p:cNvPr id="5" name="TextBox 4"/>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M7 · Bulutli sun'iy intellekt infratuzilmasi va taqsimlangan AI platformalari</a:t>
            </a:r>
          </a:p>
        </p:txBody>
      </p:sp>
      <p:sp>
        <p:nvSpPr>
          <p:cNvPr id="6" name="TextBox 5"/>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38</a:t>
            </a:r>
          </a:p>
        </p:txBody>
      </p:sp>
      <p:sp>
        <p:nvSpPr>
          <p:cNvPr id="7" name="Rectangle 6"/>
          <p:cNvSpPr/>
          <p:nvPr/>
        </p:nvSpPr>
        <p:spPr>
          <a:xfrm>
            <a:off x="0" y="1000000"/>
            <a:ext cx="12192000" cy="50000"/>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0000" y="2000000"/>
            <a:ext cx="11000000" cy="2500000"/>
          </a:xfrm>
          <a:prstGeom prst="rect">
            <a:avLst/>
          </a:prstGeom>
          <a:noFill/>
        </p:spPr>
        <p:txBody>
          <a:bodyPr wrap="square" anchor="t" lIns="50800" rIns="50800">
            <a:spAutoFit/>
          </a:bodyPr>
          <a:lstStyle/>
          <a:p>
            <a:pPr algn="l"/>
            <a:r>
              <a:rPr sz="2000" b="0">
                <a:solidFill>
                  <a:srgbClr val="1B2430"/>
                </a:solidFill>
                <a:latin typeface="Calibri"/>
              </a:rPr>
              <a:t>Mavzu matni va materiallar: https://aiscan.airi.uz/ktm/#/c/mis2104/mavzu/M7</a:t>
            </a:r>
          </a:p>
          <a:p>
            <a:pPr algn="l"/>
            <a:r>
              <a:rPr sz="2000" b="0">
                <a:solidFill>
                  <a:srgbClr val="1B2430"/>
                </a:solidFill>
                <a:latin typeface="Calibri"/>
              </a:rPr>
              <a:t>Nazorat savollari va mustaqil ish — mavzu matnining oxirida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
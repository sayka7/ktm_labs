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Intellektual kompyuter tizimi deganda biz sezish (sensing), aloqa (communication), hisoblash (computing), bilim (knowledge), qaror (decision) va ta'sir (actuation) qatlamlaridan iborat, maqsadga yo'naltirilgan va muhit o'zgarishiga moslashuvchi tizimni tushunamiz. Bu ta'rif an'anaviy fon Neyman arxitekturasidan prinsipial farq qiladi: tizimning kirishi klaviatura emas, balki shovqinli, kechikuvchi va ba'zan yo'qoladigan sensor oqimi; chiqishi esa ekran emas, balki fizik ta'sir — klapanning ochilishi, chastota o'zgartirgichning burilishi, robot qo'lining harakati.</a:t>
            </a:r>
          </a:p>
          <a:p/>
          <a:p>
            <a:r>
              <a:t>Arxitekturani odatda uch «ufq» bo'yicha taqsimlaydilar. Chekka (edge) ufqida sensorlarga yaqin joylashgan mikrokontrollerlar, dasturlanadigan mantiqiy kontrollerlar (PLC) va Jetson Orin, Intel Core Ultra NPU kabi chekka tezlatkichlar millisekund darajasidagi reaksiyani ta'minlaydi. Tuman (fog) yoki zavod ufqida sanoat serverlari bir necha yuz obyektning ma'lumotini birlashtiradi, vaqtli qatorlar bazasi (InfluxDB, TimescaleDB) va xabar brokerlari (MQTT — ISO/IEC 20922, OPC UA — IEC 62541) ishlaydi. Bulut ufqida esa modellarni qayta o'qitish, korxona miqyosidagi tahlil va uzoq muddatli saqlash amalga oshiriladi. Loyihachining asosiy vazifasi — har bir funksiyani qaysi ufqqa joylashtirishni kechikish byudjeti, o'tkazuvchanlik, xavfsizlik va narx bo'yicha asoslashdir.</a:t>
            </a:r>
          </a:p>
          <a:p/>
          <a:p>
            <a:r>
              <a:t>Tizimni baholashning asosiy mezonlari quyidagi jadvalda keltirilgan. E'tibor bering, bu yerda «aniqlik» (accuracy) faqat bitta ustun — sanoat tizimida qolgan mezonlar ko'pincha undan muhimroq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«Cyber-Physical Systems» atamasini 2006-yilda AQSh Milliy ilmiy jamg'armasi (NSF) xodimi Helen Gill kiritgan. 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 Buyumlar interneti (IoT) dan farqi esa — IoT asosan ma'lumot yig'ish va uzatishga urg'u bersa, CPS yopiq boshqaruv halqasi va real vaqt kafolatlariga urg'u beradi.</a:t>
            </a:r>
          </a:p>
          <a:p/>
          <a:p>
            <a:r>
              <a:t>Lee, Bagheri va Kao (2015) tomonidan taklif qilingan 5C arxitekturasi CPS ni loyihalashning amaliy yo'l xaritasi bo'lib xizmat qiladi:</a:t>
            </a:r>
          </a:p>
          <a:p/>
          <a:p>
            <a:r>
              <a:t>CPS loyihalashdagi asosiy muhandislik qiyinchiligi — vaqt semantikasi. 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 SI muhandisi uchun bu amaliy ma'noga ega: o'qitish uchun ma'lumot «hodisa vaqti» bo'yicha, kechikishni baholash esa «qabul qilish vaqti» bo'yicha tartiblanishi kerak, aks holda model kelajakdan «sizib chiqqan» (leakage) ma'lumot bilan o'qitiladi.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«Cyber-Physical Systems» atamasini 2006-yilda AQSh Milliy ilmiy jamg'armasi (NSF) xodimi Helen Gill kiritgan. 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 Buyumlar interneti (IoT) dan farqi esa — IoT asosan ma'lumot yig'ish va uzatishga urg'u bersa, CPS yopiq boshqaruv halqasi va real vaqt kafolatlariga urg'u beradi.</a:t>
            </a:r>
          </a:p>
          <a:p/>
          <a:p>
            <a:r>
              <a:t>Lee, Bagheri va Kao (2015) tomonidan taklif qilingan 5C arxitekturasi CPS ni loyihalashning amaliy yo'l xaritasi bo'lib xizmat qiladi:</a:t>
            </a:r>
          </a:p>
          <a:p/>
          <a:p>
            <a:r>
              <a:t>CPS loyihalashdagi asosiy muhandislik qiyinchiligi — vaqt semantikasi. 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 SI muhandisi uchun bu amaliy ma'noga ega: o'qitish uchun ma'lumot «hodisa vaqti» bo'yicha, kechikishni baholash esa «qabul qilish vaqti» bo'yicha tartiblanishi kerak, aks holda model kelajakdan «sizib chiqqan» (leakage) ma'lumot bilan o'qitiladi.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Avtonom hisoblash (autonomic computing) g'oyasini 2001-yilda IBM ilgari surgan; Kephart va Chess (2003) uni to'rtta «o'z-o'zini» xususiyati orqali ta'riflagan: o'z-o'zini sozlash (self-configuration), o'z-o'zini optimallashtirish (self-optimization), o'z-o'zini tiklash (self-healing) va o'z-o'zini himoyalash (self-protection). Bu xususiyatlarni amalga oshiruvchi standart naqsh — MAPE-K halqasi: Monitor (sensorlardan ma'lumot yig'ish), Analyze (holatni tahlil qilish, anomaliya va trendni aniqlash), Plan (harakat rejasini tuzish), Execute (ijro mexanizmlari orqali ta'sir) va bularning barchasi umumiy Knowledge (bilim bazasi: modellar, qoidalar, tarix) ustida ishlaydi.</a:t>
            </a:r>
          </a:p>
          <a:p/>
          <a:p>
            <a:r>
              <a:t>MAPE-K halqasi bilan raqamli egizak o'rtasidagi bog'liqlik bevosita: egizak — bu halqaning Knowledge va Analyze qismining materiallashgan ko'rinishi. Avtonomlik darajasini belgilashda SAE J3016 ga o'xshash shkala foydali: 0 — faqat ko'rsatish; 1 — tavsiya, inson tasdiqlaydi; 2 — tizim bajaradi, inson kuzatadi va bekor qila oladi (human-on-the-loop); 3 — tizim bajaradi, insonga faqat hisobot beradi; 4 — to'liq avtonom. Sanoatda SI asosidagi tizimlar odatda 1–2 darajadan boshlanadi va ishonch to'plangan sari ko'tariladi. Muhim muhandislik tamoyili: SI komponenti avtonomlik darajasidan qat'i nazar, an'anaviy, sertifikatlangan himoya halqasini (IEC 61508 / IEC 61511 bo'yicha funksional xavfsizlik) hech qachon almashtirmasligi kerak — u faqat uning ustiga qo'shiladi.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Qaror qabul qilishni qo'llab-quvvatlovchi tizim (Decision Support System, DSS) klassik ta'rifga ko'ra uch komponentdan iborat: ma'lumotlar bazasi, modellar bazasi va foydalanuvchi interfeysi. Intellektual DSS da modellar bazasiga ML modellari, bilimga asoslangan qoidalar va optimallashtirish modellari kiradi. Sanoat amaliyotida DSS loyihalashning uchta muhim jihati bor.</a:t>
            </a:r>
          </a:p>
          <a:p/>
          <a:p>
            <a:r>
              <a:t>Birinchidan, chiqish formati. Operator uchun «anomaliya bali 0,73» hech narsa anglatmaydi; unga «podshipnik tebranishi 48 soat ichida 2,1 marta oshdi, shunga o'xshash 7 holatdan 6 tasida 10 kun ichida podshipnik almashtirilgan; tavsiya: keyingi rejali to'xtashda tekshirish» kerak. Ikkinchidan, xarajat-foyda tahlili: noto'g'ri signal (false positive) rejali to'xtash xarajatiga, o'tkazib yuborilgan nosozlik (false negative) esa avariya xarajatiga teng; qaror chegarasi (threshold) aniqlik metrikasi bo'yicha emas, balki kutilgan xarajat minimumi bo'yicha tanlanadi. Uchinchidan, inson omilini hisobga olish: tez-tez bo'lmaydigan, tushuntirilmagan signal operatorning tizimga ishonchini yo'qotadi («signal charchoqi»); shuning uchun DSS har bir tavsiyaga hissa qo'shgan belgilarni va o'xshash tarixiy holatlarni ilova qilishi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7f6ee672f67494b5.jpg"/>
          <p:cNvPicPr>
            <a:picLocks noChangeAspect="1"/>
          </p:cNvPicPr>
          <p:nvPr/>
        </p:nvPicPr>
        <p:blipFill>
          <a:blip r:embed="rId2"/>
          <a:srcRect t="16680" b="16680"/>
          <a:stretch>
            <a:fillRect/>
          </a:stretch>
        </p:blipFill>
        <p:spPr>
          <a:xfrm>
            <a:off x="7850000" y="1500000"/>
            <a:ext cx="3300000" cy="3300000"/>
          </a:xfrm>
          <a:prstGeom prst="ellipse">
            <a:avLst/>
          </a:prstGeom>
          <a:ln w="19050">
            <a:solidFill>
              <a:srgbClr val="22D3EE"/>
            </a:solidFill>
          </a:ln>
        </p:spPr>
      </p:pic>
      <p:sp>
        <p:nvSpPr>
          <p:cNvPr id="64" name="TextBox 63"/>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Henrysz · Wikimedia Commons · CC BY 4.0</a:t>
            </a:r>
          </a:p>
        </p:txBody>
      </p:sp>
      <p:sp>
        <p:nvSpPr>
          <p:cNvPr id="65" name="Rounded Rectangle 64"/>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M13 · 2 soat</a:t>
            </a:r>
          </a:p>
        </p:txBody>
      </p:sp>
      <p:sp>
        <p:nvSpPr>
          <p:cNvPr id="66" name="TextBox 65"/>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7" name="TextBox 66"/>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Intellektual kompyuter tizimlarini loyihalash</a:t>
            </a:r>
          </a:p>
        </p:txBody>
      </p:sp>
      <p:sp>
        <p:nvSpPr>
          <p:cNvPr id="68" name="Rectangle 67"/>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200"/>
                            </p:stCondLst>
                            <p:childTnLst>
                              <p:par>
                                <p:cTn id="236" presetID="53" presetClass="entr" presetSubtype="16" fill="hold" grpId="0" nodeType="afterEffect">
                                  <p:stCondLst>
                                    <p:cond delay="0"/>
                                  </p:stCondLst>
                                  <p:childTnLst>
                                    <p:set>
                                      <p:cBhvr>
                                        <p:cTn id="237" dur="1" fill="hold">
                                          <p:stCondLst>
                                            <p:cond delay="0"/>
                                          </p:stCondLst>
                                        </p:cTn>
                                        <p:tgtEl>
                                          <p:spTgt spid="62"/>
                                        </p:tgtEl>
                                        <p:attrNameLst>
                                          <p:attrName>style.visibility</p:attrName>
                                        </p:attrNameLst>
                                      </p:cBhvr>
                                      <p:to>
                                        <p:strVal val="visible"/>
                                      </p:to>
                                    </p:set>
                                    <p:animEffect transition="in" filter="fade">
                                      <p:cBhvr>
                                        <p:cTn id="238" dur="550"/>
                                        <p:tgtEl>
                                          <p:spTgt spid="62"/>
                                        </p:tgtEl>
                                      </p:cBhvr>
                                    </p:animEffect>
                                    <p:anim calcmode="lin" valueType="num">
                                      <p:cBhvr additive="base">
                                        <p:cTn id="239" dur="550" fill="hold"/>
                                        <p:tgtEl>
                                          <p:spTgt spid="62"/>
                                        </p:tgtEl>
                                        <p:attrNameLst>
                                          <p:attrName>ppt_w</p:attrName>
                                        </p:attrNameLst>
                                      </p:cBhvr>
                                      <p:tavLst>
                                        <p:tav tm="0">
                                          <p:val>
                                            <p:strVal val="0"/>
                                          </p:val>
                                        </p:tav>
                                        <p:tav tm="100000">
                                          <p:val>
                                            <p:strVal val="#ppt_w"/>
                                          </p:val>
                                        </p:tav>
                                      </p:tavLst>
                                    </p:anim>
                                    <p:anim calcmode="lin" valueType="num">
                                      <p:cBhvr additive="base">
                                        <p:cTn id="240" dur="550" fill="hold"/>
                                        <p:tgtEl>
                                          <p:spTgt spid="62"/>
                                        </p:tgtEl>
                                        <p:attrNameLst>
                                          <p:attrName>ppt_h</p:attrName>
                                        </p:attrNameLst>
                                      </p:cBhvr>
                                      <p:tavLst>
                                        <p:tav tm="0">
                                          <p:val>
                                            <p:strVal val="0"/>
                                          </p:val>
                                        </p:tav>
                                        <p:tav tm="100000">
                                          <p:val>
                                            <p:strVal val="#ppt_h"/>
                                          </p:val>
                                        </p:tav>
                                      </p:tavLst>
                                    </p:anim>
                                  </p:childTnLst>
                                </p:cTn>
                              </p:par>
                            </p:childTnLst>
                          </p:cTn>
                        </p:par>
                        <p:par>
                          <p:cTn id="241" fill="hold">
                            <p:stCondLst>
                              <p:cond delay="200"/>
                            </p:stCondLst>
                            <p:childTnLst>
                              <p:par>
                                <p:cTn id="242" presetID="53" presetClass="entr" presetSubtype="16" fill="hold" grpId="0" nodeType="afterEffect">
                                  <p:stCondLst>
                                    <p:cond delay="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550"/>
                                        <p:tgtEl>
                                          <p:spTgt spid="61"/>
                                        </p:tgtEl>
                                      </p:cBhvr>
                                    </p:animEffect>
                                    <p:anim calcmode="lin" valueType="num">
                                      <p:cBhvr additive="base">
                                        <p:cTn id="245" dur="550" fill="hold"/>
                                        <p:tgtEl>
                                          <p:spTgt spid="61"/>
                                        </p:tgtEl>
                                        <p:attrNameLst>
                                          <p:attrName>ppt_w</p:attrName>
                                        </p:attrNameLst>
                                      </p:cBhvr>
                                      <p:tavLst>
                                        <p:tav tm="0">
                                          <p:val>
                                            <p:strVal val="0"/>
                                          </p:val>
                                        </p:tav>
                                        <p:tav tm="100000">
                                          <p:val>
                                            <p:strVal val="#ppt_w"/>
                                          </p:val>
                                        </p:tav>
                                      </p:tavLst>
                                    </p:anim>
                                    <p:anim calcmode="lin" valueType="num">
                                      <p:cBhvr additive="base">
                                        <p:cTn id="246" dur="550" fill="hold"/>
                                        <p:tgtEl>
                                          <p:spTgt spid="61"/>
                                        </p:tgtEl>
                                        <p:attrNameLst>
                                          <p:attrName>ppt_h</p:attrName>
                                        </p:attrNameLst>
                                      </p:cBhvr>
                                      <p:tavLst>
                                        <p:tav tm="0">
                                          <p:val>
                                            <p:strVal val="0"/>
                                          </p:val>
                                        </p:tav>
                                        <p:tav tm="100000">
                                          <p:val>
                                            <p:strVal val="#ppt_h"/>
                                          </p:val>
                                        </p:tav>
                                      </p:tavLst>
                                    </p:anim>
                                  </p:childTnLst>
                                </p:cTn>
                              </p:par>
                            </p:childTnLst>
                          </p:cTn>
                        </p:par>
                        <p:par>
                          <p:cTn id="247" fill="hold">
                            <p:stCondLst>
                              <p:cond delay="200"/>
                            </p:stCondLst>
                            <p:childTnLst>
                              <p:par>
                                <p:cTn id="248" presetID="53" presetClass="entr" presetSubtype="16" fill="hold" grpId="0" nodeType="afterEffect">
                                  <p:stCondLst>
                                    <p:cond delay="0"/>
                                  </p:stCondLst>
                                  <p:childTnLst>
                                    <p:set>
                                      <p:cBhvr>
                                        <p:cTn id="249" dur="1" fill="hold">
                                          <p:stCondLst>
                                            <p:cond delay="0"/>
                                          </p:stCondLst>
                                        </p:cTn>
                                        <p:tgtEl>
                                          <p:spTgt spid="63"/>
                                        </p:tgtEl>
                                        <p:attrNameLst>
                                          <p:attrName>style.visibility</p:attrName>
                                        </p:attrNameLst>
                                      </p:cBhvr>
                                      <p:to>
                                        <p:strVal val="visible"/>
                                      </p:to>
                                    </p:set>
                                    <p:animEffect transition="in" filter="fade">
                                      <p:cBhvr>
                                        <p:cTn id="250" dur="550"/>
                                        <p:tgtEl>
                                          <p:spTgt spid="63"/>
                                        </p:tgtEl>
                                      </p:cBhvr>
                                    </p:animEffect>
                                    <p:anim calcmode="lin" valueType="num">
                                      <p:cBhvr additive="base">
                                        <p:cTn id="251" dur="550" fill="hold"/>
                                        <p:tgtEl>
                                          <p:spTgt spid="63"/>
                                        </p:tgtEl>
                                        <p:attrNameLst>
                                          <p:attrName>ppt_w</p:attrName>
                                        </p:attrNameLst>
                                      </p:cBhvr>
                                      <p:tavLst>
                                        <p:tav tm="0">
                                          <p:val>
                                            <p:strVal val="0"/>
                                          </p:val>
                                        </p:tav>
                                        <p:tav tm="100000">
                                          <p:val>
                                            <p:strVal val="#ppt_w"/>
                                          </p:val>
                                        </p:tav>
                                      </p:tavLst>
                                    </p:anim>
                                    <p:anim calcmode="lin" valueType="num">
                                      <p:cBhvr additive="base">
                                        <p:cTn id="252" dur="550" fill="hold"/>
                                        <p:tgtEl>
                                          <p:spTgt spid="63"/>
                                        </p:tgtEl>
                                        <p:attrNameLst>
                                          <p:attrName>ppt_h</p:attrName>
                                        </p:attrNameLst>
                                      </p:cBhvr>
                                      <p:tavLst>
                                        <p:tav tm="0">
                                          <p:val>
                                            <p:strVal val="0"/>
                                          </p:val>
                                        </p:tav>
                                        <p:tav tm="100000">
                                          <p:val>
                                            <p:strVal val="#ppt_h"/>
                                          </p:val>
                                        </p:tav>
                                      </p:tavLst>
                                    </p:anim>
                                  </p:childTnLst>
                                </p:cTn>
                              </p:par>
                            </p:childTnLst>
                          </p:cTn>
                        </p:par>
                        <p:par>
                          <p:cTn id="253" fill="hold">
                            <p:stCondLst>
                              <p:cond delay="200"/>
                            </p:stCondLst>
                            <p:childTnLst>
                              <p:par>
                                <p:cTn id="254" presetID="10" presetClass="entr" presetSubtype="0" fill="hold" grpId="0" nodeType="afterEffect">
                                  <p:stCondLst>
                                    <p:cond delay="0"/>
                                  </p:stCondLst>
                                  <p:childTnLst>
                                    <p:set>
                                      <p:cBhvr>
                                        <p:cTn id="255" dur="1" fill="hold">
                                          <p:stCondLst>
                                            <p:cond delay="0"/>
                                          </p:stCondLst>
                                        </p:cTn>
                                        <p:tgtEl>
                                          <p:spTgt spid="64"/>
                                        </p:tgtEl>
                                        <p:attrNameLst>
                                          <p:attrName>style.visibility</p:attrName>
                                        </p:attrNameLst>
                                      </p:cBhvr>
                                      <p:to>
                                        <p:strVal val="visible"/>
                                      </p:to>
                                    </p:set>
                                    <p:animEffect transition="in" filter="fade">
                                      <p:cBhvr>
                                        <p:cTn id="256" dur="550"/>
                                        <p:tgtEl>
                                          <p:spTgt spid="64"/>
                                        </p:tgtEl>
                                      </p:cBhvr>
                                    </p:animEffect>
                                  </p:childTnLst>
                                </p:cTn>
                              </p:par>
                            </p:childTnLst>
                          </p:cTn>
                        </p:par>
                        <p:par>
                          <p:cTn id="257" fill="hold">
                            <p:stCondLst>
                              <p:cond delay="350"/>
                            </p:stCondLst>
                            <p:childTnLst>
                              <p:par>
                                <p:cTn id="258" presetID="10" presetClass="entr" presetSubtype="0" fill="hold" grpId="0" nodeType="afterEffect">
                                  <p:stCondLst>
                                    <p:cond delay="0"/>
                                  </p:stCondLst>
                                  <p:childTnLst>
                                    <p:set>
                                      <p:cBhvr>
                                        <p:cTn id="259" dur="1" fill="hold">
                                          <p:stCondLst>
                                            <p:cond delay="0"/>
                                          </p:stCondLst>
                                        </p:cTn>
                                        <p:tgtEl>
                                          <p:spTgt spid="66"/>
                                        </p:tgtEl>
                                        <p:attrNameLst>
                                          <p:attrName>style.visibility</p:attrName>
                                        </p:attrNameLst>
                                      </p:cBhvr>
                                      <p:to>
                                        <p:strVal val="visible"/>
                                      </p:to>
                                    </p:set>
                                    <p:animEffect transition="in" filter="fade">
                                      <p:cBhvr>
                                        <p:cTn id="260" dur="550"/>
                                        <p:tgtEl>
                                          <p:spTgt spid="66"/>
                                        </p:tgtEl>
                                      </p:cBhvr>
                                    </p:animEffect>
                                  </p:childTnLst>
                                </p:cTn>
                              </p:par>
                            </p:childTnLst>
                          </p:cTn>
                        </p:par>
                        <p:par>
                          <p:cTn id="261" fill="hold">
                            <p:stCondLst>
                              <p:cond delay="500"/>
                            </p:stCondLst>
                            <p:childTnLst>
                              <p:par>
                                <p:cTn id="262" presetID="2" presetClass="entr" presetSubtype="8" fill="hold" grpId="0" nodeType="afterEffect">
                                  <p:stCondLst>
                                    <p:cond delay="0"/>
                                  </p:stCondLst>
                                  <p:childTnLst>
                                    <p:set>
                                      <p:cBhvr>
                                        <p:cTn id="263" dur="1" fill="hold">
                                          <p:stCondLst>
                                            <p:cond delay="0"/>
                                          </p:stCondLst>
                                        </p:cTn>
                                        <p:tgtEl>
                                          <p:spTgt spid="65"/>
                                        </p:tgtEl>
                                        <p:attrNameLst>
                                          <p:attrName>style.visibility</p:attrName>
                                        </p:attrNameLst>
                                      </p:cBhvr>
                                      <p:to>
                                        <p:strVal val="visible"/>
                                      </p:to>
                                    </p:set>
                                    <p:anim calcmode="lin" valueType="num">
                                      <p:cBhvr additive="base">
                                        <p:cTn id="265" dur="550" fill="hold"/>
                                        <p:tgtEl>
                                          <p:spTgt spid="65"/>
                                        </p:tgtEl>
                                        <p:attrNameLst>
                                          <p:attrName>ppt_x</p:attrName>
                                        </p:attrNameLst>
                                      </p:cBhvr>
                                      <p:tavLst>
                                        <p:tav tm="0">
                                          <p:val>
                                            <p:strVal val="0-#ppt_w/2"/>
                                          </p:val>
                                        </p:tav>
                                        <p:tav tm="100000">
                                          <p:val>
                                            <p:strVal val="#ppt_x"/>
                                          </p:val>
                                        </p:tav>
                                      </p:tavLst>
                                    </p:anim>
                                    <p:anim calcmode="lin" valueType="num">
                                      <p:cBhvr additive="base">
                                        <p:cTn id="266" dur="550" fill="hold"/>
                                        <p:tgtEl>
                                          <p:spTgt spid="65"/>
                                        </p:tgtEl>
                                        <p:attrNameLst>
                                          <p:attrName>ppt_y</p:attrName>
                                        </p:attrNameLst>
                                      </p:cBhvr>
                                      <p:tavLst>
                                        <p:tav tm="0">
                                          <p:val>
                                            <p:strVal val="#ppt_y"/>
                                          </p:val>
                                        </p:tav>
                                        <p:tav tm="100000">
                                          <p:val>
                                            <p:strVal val="#ppt_y"/>
                                          </p:val>
                                        </p:tav>
                                      </p:tavLst>
                                    </p:anim>
                                  </p:childTnLst>
                                </p:cTn>
                              </p:par>
                            </p:childTnLst>
                          </p:cTn>
                        </p:par>
                        <p:par>
                          <p:cTn id="267" fill="hold">
                            <p:stCondLst>
                              <p:cond delay="650"/>
                            </p:stCondLst>
                            <p:childTnLst>
                              <p:par>
                                <p:cTn id="268" presetID="42" presetClass="entr" presetSubtype="0" fill="hold" grpId="0" nodeType="afterEffect">
                                  <p:stCondLst>
                                    <p:cond delay="0"/>
                                  </p:stCondLst>
                                  <p:childTnLst>
                                    <p:set>
                                      <p:cBhvr>
                                        <p:cTn id="269" dur="1" fill="hold">
                                          <p:stCondLst>
                                            <p:cond delay="0"/>
                                          </p:stCondLst>
                                        </p:cTn>
                                        <p:tgtEl>
                                          <p:spTgt spid="67"/>
                                        </p:tgtEl>
                                        <p:attrNameLst>
                                          <p:attrName>style.visibility</p:attrName>
                                        </p:attrNameLst>
                                      </p:cBhvr>
                                      <p:to>
                                        <p:strVal val="visible"/>
                                      </p:to>
                                    </p:set>
                                    <p:animEffect transition="in" filter="fade">
                                      <p:cBhvr>
                                        <p:cTn id="270" dur="550"/>
                                        <p:tgtEl>
                                          <p:spTgt spid="67"/>
                                        </p:tgtEl>
                                      </p:cBhvr>
                                    </p:animEffect>
                                    <p:anim calcmode="lin" valueType="num">
                                      <p:cBhvr additive="base">
                                        <p:cTn id="271" dur="550" fill="hold"/>
                                        <p:tgtEl>
                                          <p:spTgt spid="67"/>
                                        </p:tgtEl>
                                        <p:attrNameLst>
                                          <p:attrName>ppt_x</p:attrName>
                                        </p:attrNameLst>
                                      </p:cBhvr>
                                      <p:tavLst>
                                        <p:tav tm="0">
                                          <p:val>
                                            <p:strVal val="#ppt_x"/>
                                          </p:val>
                                        </p:tav>
                                        <p:tav tm="100000">
                                          <p:val>
                                            <p:strVal val="#ppt_x"/>
                                          </p:val>
                                        </p:tav>
                                      </p:tavLst>
                                    </p:anim>
                                    <p:anim calcmode="lin" valueType="num">
                                      <p:cBhvr additive="base">
                                        <p:cTn id="272" dur="550" fill="hold"/>
                                        <p:tgtEl>
                                          <p:spTgt spid="67"/>
                                        </p:tgtEl>
                                        <p:attrNameLst>
                                          <p:attrName>ppt_y</p:attrName>
                                        </p:attrNameLst>
                                      </p:cBhvr>
                                      <p:tavLst>
                                        <p:tav tm="0">
                                          <p:val>
                                            <p:strVal val="#ppt_y+.08"/>
                                          </p:val>
                                        </p:tav>
                                        <p:tav tm="100000">
                                          <p:val>
                                            <p:strVal val="#ppt_y"/>
                                          </p:val>
                                        </p:tav>
                                      </p:tavLst>
                                    </p:anim>
                                  </p:childTnLst>
                                </p:cTn>
                              </p:par>
                            </p:childTnLst>
                          </p:cTn>
                        </p:par>
                        <p:par>
                          <p:cTn id="273" fill="hold">
                            <p:stCondLst>
                              <p:cond delay="800"/>
                            </p:stCondLst>
                            <p:childTnLst>
                              <p:par>
                                <p:cTn id="274" presetID="22" presetClass="entr" presetSubtype="8" fill="hold" grpId="0" nodeType="afterEffect">
                                  <p:stCondLst>
                                    <p:cond delay="0"/>
                                  </p:stCondLst>
                                  <p:childTnLst>
                                    <p:set>
                                      <p:cBhvr>
                                        <p:cTn id="275" dur="1" fill="hold">
                                          <p:stCondLst>
                                            <p:cond delay="0"/>
                                          </p:stCondLst>
                                        </p:cTn>
                                        <p:tgtEl>
                                          <p:spTgt spid="68"/>
                                        </p:tgtEl>
                                        <p:attrNameLst>
                                          <p:attrName>style.visibility</p:attrName>
                                        </p:attrNameLst>
                                      </p:cBhvr>
                                      <p:to>
                                        <p:strVal val="visible"/>
                                      </p:to>
                                    </p:set>
                                    <p:animEffect transition="in" filter="wipe(left)">
                                      <p:cBhvr>
                                        <p:cTn id="277" dur="800"/>
                                        <p:tgtEl>
                                          <p:spTgt spid="68"/>
                                        </p:tgtEl>
                                      </p:cBhvr>
                                    </p:animEffect>
                                  </p:childTnLst>
                                </p:cTn>
                              </p:par>
                            </p:childTnLst>
                          </p:cTn>
                        </p:par>
                        <p:par>
                          <p:cTn id="278" fill="hold">
                            <p:stCondLst>
                              <p:cond delay="950"/>
                            </p:stCondLst>
                            <p:childTnLst>
                              <p:par>
                                <p:cTn id="279" presetID="10" presetClass="entr" presetSubtype="0" fill="hold" grpId="0" nodeType="afterEffect">
                                  <p:stCondLst>
                                    <p:cond delay="0"/>
                                  </p:stCondLst>
                                  <p:childTnLst>
                                    <p:set>
                                      <p:cBhvr>
                                        <p:cTn id="280" dur="1" fill="hold">
                                          <p:stCondLst>
                                            <p:cond delay="0"/>
                                          </p:stCondLst>
                                        </p:cTn>
                                        <p:tgtEl>
                                          <p:spTgt spid="69"/>
                                        </p:tgtEl>
                                        <p:attrNameLst>
                                          <p:attrName>style.visibility</p:attrName>
                                        </p:attrNameLst>
                                      </p:cBhvr>
                                      <p:to>
                                        <p:strVal val="visible"/>
                                      </p:to>
                                    </p:set>
                                    <p:animEffect transition="in" filter="fade">
                                      <p:cBhvr>
                                        <p:cTn id="281" dur="5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2" grpId="0" animBg="1"/>
      <p:bldP spid="61" grpId="0" animBg="1"/>
      <p:bldP spid="64" grpId="0" animBg="1"/>
      <p:bldP spid="66" grpId="0" animBg="1"/>
      <p:bldP spid="65" grpId="0" animBg="1"/>
      <p:bldP spid="67" grpId="0" animBg="1"/>
      <p:bldP spid="68" grpId="0" animBg="1"/>
      <p:bldP spid="69"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Intellektual kompyuter tizimi arxitekturasi</a:t>
            </a:r>
          </a:p>
        </p:txBody>
      </p:sp>
      <p:sp>
        <p:nvSpPr>
          <p:cNvPr id="28" name="Rounded Rectangle 27"/>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Kiber-fizik tizimlar (Cyber-Physical Systems)</a:t>
            </a:r>
          </a:p>
        </p:txBody>
      </p:sp>
      <p:sp>
        <p:nvSpPr>
          <p:cNvPr id="32" name="Rounded Rectangle 31"/>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Raqamli egizak (Digital Twin) texnologiyalari</a:t>
            </a:r>
          </a:p>
        </p:txBody>
      </p:sp>
      <p:sp>
        <p:nvSpPr>
          <p:cNvPr id="36" name="Rounded Rectangle 35"/>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Avtonom hisoblash tizimlari</a:t>
            </a:r>
          </a:p>
        </p:txBody>
      </p:sp>
      <p:sp>
        <p:nvSpPr>
          <p:cNvPr id="40" name="Rounded Rectangle 39"/>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Qaror qabul qilishni qo'llab-quvvatlovchi intellektual tizimlar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09fd497f4cd1ac3f.jpg"/>
          <p:cNvPicPr>
            <a:picLocks noChangeAspect="1"/>
          </p:cNvPicPr>
          <p:nvPr/>
        </p:nvPicPr>
        <p:blipFill>
          <a:blip r:embed="rId2"/>
          <a:srcRect l="7590" r="7590"/>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Adam Cuerden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Intellektual kompyuter tizimi arxitekturasi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Intellektual kompyuter tizimi arxitekturasi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75492ebb1f90570.jpg"/>
          <p:cNvPicPr>
            <a:picLocks noChangeAspect="1"/>
          </p:cNvPicPr>
          <p:nvPr/>
        </p:nvPicPr>
        <p:blipFill>
          <a:blip r:embed="rId2"/>
          <a:srcRect l="18313" r="18313"/>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Claudio Moderini · Wikimedia Commons · CC BY-SA 2.0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630510"/>
            <a:ext cx="50000" cy="12596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0603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590510"/>
            <a:ext cx="5900000" cy="1339660"/>
          </a:xfrm>
          <a:prstGeom prst="rect">
            <a:avLst/>
          </a:prstGeom>
          <a:noFill/>
        </p:spPr>
        <p:txBody>
          <a:bodyPr wrap="square" anchor="ctr">
            <a:spAutoFit/>
          </a:bodyPr>
          <a:lstStyle/>
          <a:p>
            <a:r>
              <a:rPr sz="1300" b="0">
                <a:solidFill>
                  <a:srgbClr val="E8EEFA"/>
                </a:solidFill>
                <a:latin typeface="Segoe UI"/>
              </a:rPr>
              <a:t>Intellektual kompyuter tizimi deganda biz sezish (sensing), aloqa (communication), hisoblash (computing), bilim (knowledge), qaror (decision) va ta'sir (actuation) qatlamlaridan iborat, maqsadga yo'naltirilgan va muhit o'zgarishiga moslashuvchi tizimni…</a:t>
            </a:r>
          </a:p>
        </p:txBody>
      </p:sp>
      <p:sp>
        <p:nvSpPr>
          <p:cNvPr id="29" name="Rounded Rectangle 28"/>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160170"/>
            <a:ext cx="50000" cy="12596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120170"/>
            <a:ext cx="5900000" cy="1339660"/>
          </a:xfrm>
          <a:prstGeom prst="rect">
            <a:avLst/>
          </a:prstGeom>
          <a:noFill/>
        </p:spPr>
        <p:txBody>
          <a:bodyPr wrap="square" anchor="ctr">
            <a:spAutoFit/>
          </a:bodyPr>
          <a:lstStyle/>
          <a:p>
            <a:r>
              <a:rPr sz="1400" b="1">
                <a:solidFill>
                  <a:srgbClr val="E8EEFA"/>
                </a:solidFill>
                <a:latin typeface="Segoe UI"/>
              </a:rPr>
              <a:t>Arxitekturani odatda uch «ufq» bo'yicha taqsimlaydilar.</a:t>
            </a:r>
          </a:p>
          <a:p>
            <a:pPr>
              <a:spcBef>
                <a:spcPts val="400"/>
              </a:spcBef>
            </a:pPr>
            <a:r>
              <a:rPr sz="1300">
                <a:solidFill>
                  <a:srgbClr val="AEBBD9"/>
                </a:solidFill>
                <a:latin typeface="Segoe UI"/>
              </a:rPr>
              <a:t>Chekka (edge) ufqida sensorlarga yaqin joylashgan mikrokontrollerlar, dasturlanadigan mantiqiy kontrollerlar (PLC) va Jetson Orin, Intel Core Ultra NPU kabi chekka tezlatkichlar millisekund darajasidagi reaksiyani ta'minlaydi.</a:t>
            </a:r>
          </a:p>
        </p:txBody>
      </p:sp>
      <p:sp>
        <p:nvSpPr>
          <p:cNvPr id="33" name="Rounded Rectangle 32"/>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68983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51196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4649830"/>
            <a:ext cx="5900000" cy="1339660"/>
          </a:xfrm>
          <a:prstGeom prst="rect">
            <a:avLst/>
          </a:prstGeom>
          <a:noFill/>
        </p:spPr>
        <p:txBody>
          <a:bodyPr wrap="square" anchor="ctr">
            <a:spAutoFit/>
          </a:bodyPr>
          <a:lstStyle/>
          <a:p>
            <a:r>
              <a:rPr sz="1400" b="1">
                <a:solidFill>
                  <a:srgbClr val="E8EEFA"/>
                </a:solidFill>
                <a:latin typeface="Segoe UI"/>
              </a:rPr>
              <a:t>Tizimni baholashning asosiy mezonlari quyidagi jadvalda keltirilgan.</a:t>
            </a:r>
          </a:p>
          <a:p>
            <a:pPr>
              <a:spcBef>
                <a:spcPts val="400"/>
              </a:spcBef>
            </a:pPr>
            <a:r>
              <a:rPr sz="1300">
                <a:solidFill>
                  <a:srgbClr val="AEBBD9"/>
                </a:solidFill>
                <a:latin typeface="Segoe UI"/>
              </a:rPr>
              <a:t>E'tibor bering, bu yerda «aniqlik» (accuracy) faqat bitta ustun — sanoat tizimida qolgan mezonlar ko'pincha undan muhimroq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50"/>
                                        <p:tgtEl>
                                          <p:spTgt spid="33"/>
                                        </p:tgtEl>
                                      </p:cBhvr>
                                    </p:animEffect>
                                    <p:anim calcmode="lin" valueType="num">
                                      <p:cBhvr additive="base">
                                        <p:cTn id="84" dur="550" fill="hold"/>
                                        <p:tgtEl>
                                          <p:spTgt spid="33"/>
                                        </p:tgtEl>
                                        <p:attrNameLst>
                                          <p:attrName>ppt_x</p:attrName>
                                        </p:attrNameLst>
                                      </p:cBhvr>
                                      <p:tavLst>
                                        <p:tav tm="0">
                                          <p:val>
                                            <p:strVal val="#ppt_x"/>
                                          </p:val>
                                        </p:tav>
                                        <p:tav tm="100000">
                                          <p:val>
                                            <p:strVal val="#ppt_x"/>
                                          </p:val>
                                        </p:tav>
                                      </p:tavLst>
                                    </p:anim>
                                    <p:anim calcmode="lin" valueType="num">
                                      <p:cBhvr additive="base">
                                        <p:cTn id="85" dur="550" fill="hold"/>
                                        <p:tgtEl>
                                          <p:spTgt spid="33"/>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4"/>
                                        </p:tgtEl>
                                        <p:attrNameLst>
                                          <p:attrName>style.visibility</p:attrName>
                                        </p:attrNameLst>
                                      </p:cBhvr>
                                      <p:to>
                                        <p:strVal val="visible"/>
                                      </p:to>
                                    </p:set>
                                    <p:animEffect transition="in" filter="fade">
                                      <p:cBhvr>
                                        <p:cTn id="89" dur="550"/>
                                        <p:tgtEl>
                                          <p:spTgt spid="34"/>
                                        </p:tgtEl>
                                      </p:cBhvr>
                                    </p:animEffect>
                                    <p:anim calcmode="lin" valueType="num">
                                      <p:cBhvr additive="base">
                                        <p:cTn id="90" dur="550" fill="hold"/>
                                        <p:tgtEl>
                                          <p:spTgt spid="34"/>
                                        </p:tgtEl>
                                        <p:attrNameLst>
                                          <p:attrName>ppt_x</p:attrName>
                                        </p:attrNameLst>
                                      </p:cBhvr>
                                      <p:tavLst>
                                        <p:tav tm="0">
                                          <p:val>
                                            <p:strVal val="#ppt_x"/>
                                          </p:val>
                                        </p:tav>
                                        <p:tav tm="100000">
                                          <p:val>
                                            <p:strVal val="#ppt_x"/>
                                          </p:val>
                                        </p:tav>
                                      </p:tavLst>
                                    </p:anim>
                                    <p:anim calcmode="lin" valueType="num">
                                      <p:cBhvr additive="base">
                                        <p:cTn id="91" dur="550" fill="hold"/>
                                        <p:tgtEl>
                                          <p:spTgt spid="34"/>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550"/>
                                        <p:tgtEl>
                                          <p:spTgt spid="35"/>
                                        </p:tgtEl>
                                      </p:cBhvr>
                                    </p:animEffect>
                                    <p:anim calcmode="lin" valueType="num">
                                      <p:cBhvr additive="base">
                                        <p:cTn id="96" dur="550" fill="hold"/>
                                        <p:tgtEl>
                                          <p:spTgt spid="35"/>
                                        </p:tgtEl>
                                        <p:attrNameLst>
                                          <p:attrName>ppt_w</p:attrName>
                                        </p:attrNameLst>
                                      </p:cBhvr>
                                      <p:tavLst>
                                        <p:tav tm="0">
                                          <p:val>
                                            <p:strVal val="0"/>
                                          </p:val>
                                        </p:tav>
                                        <p:tav tm="100000">
                                          <p:val>
                                            <p:strVal val="#ppt_w"/>
                                          </p:val>
                                        </p:tav>
                                      </p:tavLst>
                                    </p:anim>
                                    <p:anim calcmode="lin" valueType="num">
                                      <p:cBhvr additive="base">
                                        <p:cTn id="97" dur="550" fill="hold"/>
                                        <p:tgtEl>
                                          <p:spTgt spid="35"/>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550"/>
                                        <p:tgtEl>
                                          <p:spTgt spid="36"/>
                                        </p:tgtEl>
                                      </p:cBhvr>
                                    </p:animEffect>
                                    <p:anim calcmode="lin" valueType="num">
                                      <p:cBhvr additive="base">
                                        <p:cTn id="102" dur="550" fill="hold"/>
                                        <p:tgtEl>
                                          <p:spTgt spid="36"/>
                                        </p:tgtEl>
                                        <p:attrNameLst>
                                          <p:attrName>ppt_x</p:attrName>
                                        </p:attrNameLst>
                                      </p:cBhvr>
                                      <p:tavLst>
                                        <p:tav tm="0">
                                          <p:val>
                                            <p:strVal val="#ppt_x"/>
                                          </p:val>
                                        </p:tav>
                                        <p:tav tm="100000">
                                          <p:val>
                                            <p:strVal val="#ppt_x"/>
                                          </p:val>
                                        </p:tav>
                                      </p:tavLst>
                                    </p:anim>
                                    <p:anim calcmode="lin" valueType="num">
                                      <p:cBhvr additive="base">
                                        <p:cTn id="10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Intellektual kompyuter tizimi arxitekturasi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graphicFrame>
        <p:nvGraphicFramePr>
          <p:cNvPr id="25" name="Table 24"/>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Ma'nosi</a:t>
                      </a:r>
                    </a:p>
                  </a:txBody>
                  <a:tcPr>
                    <a:solidFill>
                      <a:srgbClr val="1C2755"/>
                    </a:solidFill>
                  </a:tcPr>
                </a:tc>
                <a:tc>
                  <a:txBody>
                    <a:bodyPr/>
                    <a:lstStyle/>
                    <a:p>
                      <a:r>
                        <a:rPr sz="1200" b="1">
                          <a:solidFill>
                            <a:srgbClr val="22D3EE"/>
                          </a:solidFill>
                          <a:latin typeface="Segoe UI"/>
                        </a:rPr>
                        <a:t>Tipik talab (nasos stansiyasi misolida)</a:t>
                      </a:r>
                    </a:p>
                  </a:txBody>
                  <a:tcPr>
                    <a:solidFill>
                      <a:srgbClr val="1C2755"/>
                    </a:solidFill>
                  </a:tcPr>
                </a:tc>
              </a:tr>
              <a:tr h="520000">
                <a:tc>
                  <a:txBody>
                    <a:bodyPr/>
                    <a:lstStyle/>
                    <a:p>
                      <a:r>
                        <a:rPr sz="1200" b="0">
                          <a:solidFill>
                            <a:srgbClr val="E8EEFA"/>
                          </a:solidFill>
                          <a:latin typeface="Segoe UI"/>
                        </a:rPr>
                        <a:t>Kechikish (latency)</a:t>
                      </a:r>
                    </a:p>
                  </a:txBody>
                  <a:tcPr>
                    <a:solidFill>
                      <a:srgbClr val="111834"/>
                    </a:solidFill>
                  </a:tcPr>
                </a:tc>
                <a:tc>
                  <a:txBody>
                    <a:bodyPr/>
                    <a:lstStyle/>
                    <a:p>
                      <a:r>
                        <a:rPr sz="1200" b="0">
                          <a:solidFill>
                            <a:srgbClr val="E8EEFA"/>
                          </a:solidFill>
                          <a:latin typeface="Segoe UI"/>
                        </a:rPr>
                        <a:t>sensor hodisasidan ta'sirgacha vaqt</a:t>
                      </a:r>
                    </a:p>
                  </a:txBody>
                  <a:tcPr>
                    <a:solidFill>
                      <a:srgbClr val="111834"/>
                    </a:solidFill>
                  </a:tcPr>
                </a:tc>
                <a:tc>
                  <a:txBody>
                    <a:bodyPr/>
                    <a:lstStyle/>
                    <a:p>
                      <a:r>
                        <a:rPr sz="1200" b="0">
                          <a:solidFill>
                            <a:srgbClr val="E8EEFA"/>
                          </a:solidFill>
                          <a:latin typeface="Segoe UI"/>
                        </a:rPr>
                        <a:t>himoya halqasi 10–50 ms, tavsiya halqasi 1–10 s</a:t>
                      </a:r>
                    </a:p>
                  </a:txBody>
                  <a:tcPr>
                    <a:solidFill>
                      <a:srgbClr val="111834"/>
                    </a:solidFill>
                  </a:tcPr>
                </a:tc>
              </a:tr>
              <a:tr h="520000">
                <a:tc>
                  <a:txBody>
                    <a:bodyPr/>
                    <a:lstStyle/>
                    <a:p>
                      <a:r>
                        <a:rPr sz="1200" b="0">
                          <a:solidFill>
                            <a:srgbClr val="E8EEFA"/>
                          </a:solidFill>
                          <a:latin typeface="Segoe UI"/>
                        </a:rPr>
                        <a:t>Determinizm</a:t>
                      </a:r>
                    </a:p>
                  </a:txBody>
                  <a:tcPr>
                    <a:solidFill>
                      <a:srgbClr val="161F40"/>
                    </a:solidFill>
                  </a:tcPr>
                </a:tc>
                <a:tc>
                  <a:txBody>
                    <a:bodyPr/>
                    <a:lstStyle/>
                    <a:p>
                      <a:r>
                        <a:rPr sz="1200" b="0">
                          <a:solidFill>
                            <a:srgbClr val="E8EEFA"/>
                          </a:solidFill>
                          <a:latin typeface="Segoe UI"/>
                        </a:rPr>
                        <a:t>reaksiya vaqtining tarqalishi (jitter)</a:t>
                      </a:r>
                    </a:p>
                  </a:txBody>
                  <a:tcPr>
                    <a:solidFill>
                      <a:srgbClr val="161F40"/>
                    </a:solidFill>
                  </a:tcPr>
                </a:tc>
                <a:tc>
                  <a:txBody>
                    <a:bodyPr/>
                    <a:lstStyle/>
                    <a:p>
                      <a:r>
                        <a:rPr sz="1200" b="0">
                          <a:solidFill>
                            <a:srgbClr val="E8EEFA"/>
                          </a:solidFill>
                          <a:latin typeface="Segoe UI"/>
                        </a:rPr>
                        <a:t>himoya halqasida 1 ms dan kam</a:t>
                      </a:r>
                    </a:p>
                  </a:txBody>
                  <a:tcPr>
                    <a:solidFill>
                      <a:srgbClr val="161F40"/>
                    </a:solidFill>
                  </a:tcPr>
                </a:tc>
              </a:tr>
              <a:tr h="520000">
                <a:tc>
                  <a:txBody>
                    <a:bodyPr/>
                    <a:lstStyle/>
                    <a:p>
                      <a:r>
                        <a:rPr sz="1200" b="0">
                          <a:solidFill>
                            <a:srgbClr val="E8EEFA"/>
                          </a:solidFill>
                          <a:latin typeface="Segoe UI"/>
                        </a:rPr>
                        <a:t>Ishonchlilik</a:t>
                      </a:r>
                    </a:p>
                  </a:txBody>
                  <a:tcPr>
                    <a:solidFill>
                      <a:srgbClr val="111834"/>
                    </a:solidFill>
                  </a:tcPr>
                </a:tc>
                <a:tc>
                  <a:txBody>
                    <a:bodyPr/>
                    <a:lstStyle/>
                    <a:p>
                      <a:r>
                        <a:rPr sz="1200" b="0">
                          <a:solidFill>
                            <a:srgbClr val="E8EEFA"/>
                          </a:solidFill>
                          <a:latin typeface="Segoe UI"/>
                        </a:rPr>
                        <a:t>ishdan chiqishlar orasidagi o'rtacha vaqt (MTBF)</a:t>
                      </a:r>
                    </a:p>
                  </a:txBody>
                  <a:tcPr>
                    <a:solidFill>
                      <a:srgbClr val="111834"/>
                    </a:solidFill>
                  </a:tcPr>
                </a:tc>
                <a:tc>
                  <a:txBody>
                    <a:bodyPr/>
                    <a:lstStyle/>
                    <a:p>
                      <a:r>
                        <a:rPr sz="1200" b="0">
                          <a:solidFill>
                            <a:srgbClr val="E8EEFA"/>
                          </a:solidFill>
                          <a:latin typeface="Segoe UI"/>
                        </a:rPr>
                        <a:t>yiliga 99,9–99,99 % tayyorlik</a:t>
                      </a:r>
                    </a:p>
                  </a:txBody>
                  <a:tcPr>
                    <a:solidFill>
                      <a:srgbClr val="111834"/>
                    </a:solidFill>
                  </a:tcPr>
                </a:tc>
              </a:tr>
              <a:tr h="520000">
                <a:tc>
                  <a:txBody>
                    <a:bodyPr/>
                    <a:lstStyle/>
                    <a:p>
                      <a:r>
                        <a:rPr sz="1200" b="0">
                          <a:solidFill>
                            <a:srgbClr val="E8EEFA"/>
                          </a:solidFill>
                          <a:latin typeface="Segoe UI"/>
                        </a:rPr>
                        <a:t>Xavfsiz holatga o'tish (fail-safe)</a:t>
                      </a:r>
                    </a:p>
                  </a:txBody>
                  <a:tcPr>
                    <a:solidFill>
                      <a:srgbClr val="161F40"/>
                    </a:solidFill>
                  </a:tcPr>
                </a:tc>
                <a:tc>
                  <a:txBody>
                    <a:bodyPr/>
                    <a:lstStyle/>
                    <a:p>
                      <a:r>
                        <a:rPr sz="1200" b="0">
                          <a:solidFill>
                            <a:srgbClr val="E8EEFA"/>
                          </a:solidFill>
                          <a:latin typeface="Segoe UI"/>
                        </a:rPr>
                        <a:t>SI komponenti ishdan chiqsa nima bo'ladi</a:t>
                      </a:r>
                    </a:p>
                  </a:txBody>
                  <a:tcPr>
                    <a:solidFill>
                      <a:srgbClr val="161F40"/>
                    </a:solidFill>
                  </a:tcPr>
                </a:tc>
                <a:tc>
                  <a:txBody>
                    <a:bodyPr/>
                    <a:lstStyle/>
                    <a:p>
                      <a:r>
                        <a:rPr sz="1200" b="0">
                          <a:solidFill>
                            <a:srgbClr val="E8EEFA"/>
                          </a:solidFill>
                          <a:latin typeface="Segoe UI"/>
                        </a:rPr>
                        <a:t>an'anaviy PLC himoyasi saqlanadi</a:t>
                      </a:r>
                    </a:p>
                  </a:txBody>
                  <a:tcPr>
                    <a:solidFill>
                      <a:srgbClr val="161F40"/>
                    </a:solidFill>
                  </a:tcPr>
                </a:tc>
              </a:tr>
              <a:tr h="520000">
                <a:tc>
                  <a:txBody>
                    <a:bodyPr/>
                    <a:lstStyle/>
                    <a:p>
                      <a:r>
                        <a:rPr sz="1200" b="0">
                          <a:solidFill>
                            <a:srgbClr val="E8EEFA"/>
                          </a:solidFill>
                          <a:latin typeface="Segoe UI"/>
                        </a:rPr>
                        <a:t>Tushuntirilish</a:t>
                      </a:r>
                    </a:p>
                  </a:txBody>
                  <a:tcPr>
                    <a:solidFill>
                      <a:srgbClr val="111834"/>
                    </a:solidFill>
                  </a:tcPr>
                </a:tc>
                <a:tc>
                  <a:txBody>
                    <a:bodyPr/>
                    <a:lstStyle/>
                    <a:p>
                      <a:r>
                        <a:rPr sz="1200" b="0">
                          <a:solidFill>
                            <a:srgbClr val="E8EEFA"/>
                          </a:solidFill>
                          <a:latin typeface="Segoe UI"/>
                        </a:rPr>
                        <a:t>tavsiya sababi operatorga ko'rinadimi</a:t>
                      </a:r>
                    </a:p>
                  </a:txBody>
                  <a:tcPr>
                    <a:solidFill>
                      <a:srgbClr val="111834"/>
                    </a:solidFill>
                  </a:tcPr>
                </a:tc>
                <a:tc>
                  <a:txBody>
                    <a:bodyPr/>
                    <a:lstStyle/>
                    <a:p>
                      <a:r>
                        <a:rPr sz="1200" b="0">
                          <a:solidFill>
                            <a:srgbClr val="E8EEFA"/>
                          </a:solidFill>
                          <a:latin typeface="Segoe UI"/>
                        </a:rPr>
                        <a:t>har tavsiyada asosiy belgilar ko'rsatiladi</a:t>
                      </a:r>
                    </a:p>
                  </a:txBody>
                  <a:tcPr>
                    <a:solidFill>
                      <a:srgbClr val="111834"/>
                    </a:solidFill>
                  </a:tcPr>
                </a:tc>
              </a:tr>
              <a:tr h="520000">
                <a:tc>
                  <a:txBody>
                    <a:bodyPr/>
                    <a:lstStyle/>
                    <a:p>
                      <a:r>
                        <a:rPr sz="1200" b="0">
                          <a:solidFill>
                            <a:srgbClr val="E8EEFA"/>
                          </a:solidFill>
                          <a:latin typeface="Segoe UI"/>
                        </a:rPr>
                        <a:t>Energiya va narx</a:t>
                      </a:r>
                    </a:p>
                  </a:txBody>
                  <a:tcPr>
                    <a:solidFill>
                      <a:srgbClr val="161F40"/>
                    </a:solidFill>
                  </a:tcPr>
                </a:tc>
                <a:tc>
                  <a:txBody>
                    <a:bodyPr/>
                    <a:lstStyle/>
                    <a:p>
                      <a:r>
                        <a:rPr sz="1200" b="0">
                          <a:solidFill>
                            <a:srgbClr val="E8EEFA"/>
                          </a:solidFill>
                          <a:latin typeface="Segoe UI"/>
                        </a:rPr>
                        <a:t>chekka qurilma va aloqa xarajati</a:t>
                      </a:r>
                    </a:p>
                  </a:txBody>
                  <a:tcPr>
                    <a:solidFill>
                      <a:srgbClr val="161F40"/>
                    </a:solidFill>
                  </a:tcPr>
                </a:tc>
                <a:tc>
                  <a:txBody>
                    <a:bodyPr/>
                    <a:lstStyle/>
                    <a:p>
                      <a:r>
                        <a:rPr sz="1200" b="0">
                          <a:solidFill>
                            <a:srgbClr val="E8EEFA"/>
                          </a:solidFill>
                          <a:latin typeface="Segoe UI"/>
                        </a:rPr>
                        <a:t>obyekt boshiga yiliga bir necha yuz dollar</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9940fc2eea8fe3d4.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KOMATSU Ltd. · Wikimedia Commons · CC BY-SA 2.1 jp</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Kiber-fizik tizimlar (Cyber-Physical Systems)</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Kiber-fizik tizimlar (Cyber-Physical Systems)</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6dcc39b09670b01.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Z. Liu, C. W. Higgins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567432"/>
            <a:ext cx="5900000" cy="2127568"/>
          </a:xfrm>
          <a:prstGeom prst="rect">
            <a:avLst/>
          </a:prstGeom>
          <a:noFill/>
        </p:spPr>
        <p:txBody>
          <a:bodyPr wrap="square" anchor="ctr">
            <a:spAutoFit/>
          </a:bodyPr>
          <a:lstStyle/>
          <a:p>
            <a:r>
              <a:rPr sz="1700" b="1">
                <a:solidFill>
                  <a:srgbClr val="E8EEFA"/>
                </a:solidFill>
                <a:latin typeface="Segoe UI"/>
              </a:rPr>
              <a:t>«Cyber-Physical Systems» atamasini 2006-yilda AQSh Milliy ilmiy jamg'armasi (NSF) xodimi Helen Gill kiritgan.</a:t>
            </a:r>
          </a:p>
          <a:p>
            <a:pPr>
              <a:spcBef>
                <a:spcPts val="400"/>
              </a:spcBef>
            </a:pPr>
            <a:r>
              <a:rPr sz="1600">
                <a:solidFill>
                  <a:srgbClr val="AEBBD9"/>
                </a:solidFill>
                <a:latin typeface="Segoe UI"/>
              </a:rPr>
              <a:t>CPS — bu hisoblash (kiber) va fizik jarayonlarning shunday chambarchas birlashuviki, unda fizik jarayon hisoblashga, hisoblash esa fizik jarayonga uzluksiz ta'sir qiladi.</a:t>
            </a:r>
          </a:p>
        </p:txBody>
      </p:sp>
      <p:sp>
        <p:nvSpPr>
          <p:cNvPr id="32" name="Rounded Rectangle 31"/>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127568"/>
          </a:xfrm>
          <a:prstGeom prst="rect">
            <a:avLst/>
          </a:prstGeom>
          <a:noFill/>
        </p:spPr>
        <p:txBody>
          <a:bodyPr wrap="square" anchor="ctr">
            <a:spAutoFit/>
          </a:bodyPr>
          <a:lstStyle/>
          <a:p>
            <a:r>
              <a:rPr sz="1600" b="0">
                <a:solidFill>
                  <a:srgbClr val="E8EEFA"/>
                </a:solidFill>
                <a:latin typeface="Segoe UI"/>
              </a:rPr>
              <a:t>Lee, Bagheri va Kao (2015) tomonidan taklif qilingan 5C arxitekturasi CPS ni loyihalashning amaliy yo'l xaritasi bo'lib xizmat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Kiber-fizik tizimlar (Cyber-Physical Systems)</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CPS loyihalashdagi asosiy muhandislik qiyinchiligi — vaqt semantikasi.</a:t>
            </a:r>
          </a:p>
          <a:p>
            <a:pPr>
              <a:spcBef>
                <a:spcPts val="400"/>
              </a:spcBef>
            </a:pPr>
            <a:r>
              <a:rPr sz="1600">
                <a:solidFill>
                  <a:srgbClr val="AEBBD9"/>
                </a:solidFill>
                <a:latin typeface="Segoe UI"/>
              </a:rPr>
              <a:t>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Kiber-fizik tizimlar (Cyber-Physical Systems)</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Qatlam</a:t>
                      </a:r>
                    </a:p>
                  </a:txBody>
                  <a:tcPr>
                    <a:solidFill>
                      <a:srgbClr val="1C2755"/>
                    </a:solidFill>
                  </a:tcPr>
                </a:tc>
                <a:tc>
                  <a:txBody>
                    <a:bodyPr/>
                    <a:lstStyle/>
                    <a:p>
                      <a:r>
                        <a:rPr sz="1200" b="1">
                          <a:solidFill>
                            <a:srgbClr val="22D3EE"/>
                          </a:solidFill>
                          <a:latin typeface="Segoe UI"/>
                        </a:rPr>
                        <a:t>Nomi</a:t>
                      </a:r>
                    </a:p>
                  </a:txBody>
                  <a:tcPr>
                    <a:solidFill>
                      <a:srgbClr val="1C2755"/>
                    </a:solidFill>
                  </a:tcPr>
                </a:tc>
                <a:tc>
                  <a:txBody>
                    <a:bodyPr/>
                    <a:lstStyle/>
                    <a:p>
                      <a:r>
                        <a:rPr sz="1200" b="1">
                          <a:solidFill>
                            <a:srgbClr val="22D3EE"/>
                          </a:solidFill>
                          <a:latin typeface="Segoe UI"/>
                        </a:rPr>
                        <a:t>Vazifasi</a:t>
                      </a:r>
                    </a:p>
                  </a:txBody>
                  <a:tcPr>
                    <a:solidFill>
                      <a:srgbClr val="1C2755"/>
                    </a:solidFill>
                  </a:tcPr>
                </a:tc>
                <a:tc>
                  <a:txBody>
                    <a:bodyPr/>
                    <a:lstStyle/>
                    <a:p>
                      <a:r>
                        <a:rPr sz="1200" b="1">
                          <a:solidFill>
                            <a:srgbClr val="22D3EE"/>
                          </a:solidFill>
                          <a:latin typeface="Segoe UI"/>
                        </a:rPr>
                        <a:t>Texnologiya misoli</a:t>
                      </a:r>
                    </a:p>
                  </a:txBody>
                  <a:tcPr>
                    <a:solidFill>
                      <a:srgbClr val="1C2755"/>
                    </a:solidFill>
                  </a:tcPr>
                </a:tc>
              </a:tr>
              <a:tr h="520000">
                <a:tc>
                  <a:txBody>
                    <a:bodyPr/>
                    <a:lstStyle/>
                    <a:p>
                      <a:r>
                        <a:rPr sz="1200" b="0">
                          <a:solidFill>
                            <a:srgbClr val="E8EEFA"/>
                          </a:solidFill>
                          <a:latin typeface="Segoe UI"/>
                        </a:rPr>
                        <a:t>1C</a:t>
                      </a:r>
                    </a:p>
                  </a:txBody>
                  <a:tcPr>
                    <a:solidFill>
                      <a:srgbClr val="111834"/>
                    </a:solidFill>
                  </a:tcPr>
                </a:tc>
                <a:tc>
                  <a:txBody>
                    <a:bodyPr/>
                    <a:lstStyle/>
                    <a:p>
                      <a:r>
                        <a:rPr sz="1200" b="0">
                          <a:solidFill>
                            <a:srgbClr val="E8EEFA"/>
                          </a:solidFill>
                          <a:latin typeface="Segoe UI"/>
                        </a:rPr>
                        <a:t>Connection (ulanish)</a:t>
                      </a:r>
                    </a:p>
                  </a:txBody>
                  <a:tcPr>
                    <a:solidFill>
                      <a:srgbClr val="111834"/>
                    </a:solidFill>
                  </a:tcPr>
                </a:tc>
                <a:tc>
                  <a:txBody>
                    <a:bodyPr/>
                    <a:lstStyle/>
                    <a:p>
                      <a:r>
                        <a:rPr sz="1200" b="0">
                          <a:solidFill>
                            <a:srgbClr val="E8EEFA"/>
                          </a:solidFill>
                          <a:latin typeface="Segoe UI"/>
                        </a:rPr>
                        <a:t>ishonchli sensor ma'lumotini olish</a:t>
                      </a:r>
                    </a:p>
                  </a:txBody>
                  <a:tcPr>
                    <a:solidFill>
                      <a:srgbClr val="111834"/>
                    </a:solidFill>
                  </a:tcPr>
                </a:tc>
                <a:tc>
                  <a:txBody>
                    <a:bodyPr/>
                    <a:lstStyle/>
                    <a:p>
                      <a:r>
                        <a:rPr sz="1200" b="0">
                          <a:solidFill>
                            <a:srgbClr val="E8EEFA"/>
                          </a:solidFill>
                          <a:latin typeface="Segoe UI"/>
                        </a:rPr>
                        <a:t>OPC UA, MQTT, Modbus TCP, 5G URLLC</a:t>
                      </a:r>
                    </a:p>
                  </a:txBody>
                  <a:tcPr>
                    <a:solidFill>
                      <a:srgbClr val="111834"/>
                    </a:solidFill>
                  </a:tcPr>
                </a:tc>
              </a:tr>
              <a:tr h="520000">
                <a:tc>
                  <a:txBody>
                    <a:bodyPr/>
                    <a:lstStyle/>
                    <a:p>
                      <a:r>
                        <a:rPr sz="1200" b="0">
                          <a:solidFill>
                            <a:srgbClr val="E8EEFA"/>
                          </a:solidFill>
                          <a:latin typeface="Segoe UI"/>
                        </a:rPr>
                        <a:t>2C</a:t>
                      </a:r>
                    </a:p>
                  </a:txBody>
                  <a:tcPr>
                    <a:solidFill>
                      <a:srgbClr val="161F40"/>
                    </a:solidFill>
                  </a:tcPr>
                </a:tc>
                <a:tc>
                  <a:txBody>
                    <a:bodyPr/>
                    <a:lstStyle/>
                    <a:p>
                      <a:r>
                        <a:rPr sz="1200" b="0">
                          <a:solidFill>
                            <a:srgbClr val="E8EEFA"/>
                          </a:solidFill>
                          <a:latin typeface="Segoe UI"/>
                        </a:rPr>
                        <a:t>Conversion (aylantirish)</a:t>
                      </a:r>
                    </a:p>
                  </a:txBody>
                  <a:tcPr>
                    <a:solidFill>
                      <a:srgbClr val="161F40"/>
                    </a:solidFill>
                  </a:tcPr>
                </a:tc>
                <a:tc>
                  <a:txBody>
                    <a:bodyPr/>
                    <a:lstStyle/>
                    <a:p>
                      <a:r>
                        <a:rPr sz="1200" b="0">
                          <a:solidFill>
                            <a:srgbClr val="E8EEFA"/>
                          </a:solidFill>
                          <a:latin typeface="Segoe UI"/>
                        </a:rPr>
                        <a:t>signaldan belgiga o'tish</a:t>
                      </a:r>
                    </a:p>
                  </a:txBody>
                  <a:tcPr>
                    <a:solidFill>
                      <a:srgbClr val="161F40"/>
                    </a:solidFill>
                  </a:tcPr>
                </a:tc>
                <a:tc>
                  <a:txBody>
                    <a:bodyPr/>
                    <a:lstStyle/>
                    <a:p>
                      <a:r>
                        <a:rPr sz="1200" b="0">
                          <a:solidFill>
                            <a:srgbClr val="E8EEFA"/>
                          </a:solidFill>
                          <a:latin typeface="Segoe UI"/>
                        </a:rPr>
                        <a:t>FFT, RMS, statistik belgilar, chekka SI</a:t>
                      </a:r>
                    </a:p>
                  </a:txBody>
                  <a:tcPr>
                    <a:solidFill>
                      <a:srgbClr val="161F40"/>
                    </a:solidFill>
                  </a:tcPr>
                </a:tc>
              </a:tr>
              <a:tr h="520000">
                <a:tc>
                  <a:txBody>
                    <a:bodyPr/>
                    <a:lstStyle/>
                    <a:p>
                      <a:r>
                        <a:rPr sz="1200" b="0">
                          <a:solidFill>
                            <a:srgbClr val="E8EEFA"/>
                          </a:solidFill>
                          <a:latin typeface="Segoe UI"/>
                        </a:rPr>
                        <a:t>3C</a:t>
                      </a:r>
                    </a:p>
                  </a:txBody>
                  <a:tcPr>
                    <a:solidFill>
                      <a:srgbClr val="111834"/>
                    </a:solidFill>
                  </a:tcPr>
                </a:tc>
                <a:tc>
                  <a:txBody>
                    <a:bodyPr/>
                    <a:lstStyle/>
                    <a:p>
                      <a:r>
                        <a:rPr sz="1200" b="0">
                          <a:solidFill>
                            <a:srgbClr val="E8EEFA"/>
                          </a:solidFill>
                          <a:latin typeface="Segoe UI"/>
                        </a:rPr>
                        <a:t>Cyber (kiber)</a:t>
                      </a:r>
                    </a:p>
                  </a:txBody>
                  <a:tcPr>
                    <a:solidFill>
                      <a:srgbClr val="111834"/>
                    </a:solidFill>
                  </a:tcPr>
                </a:tc>
                <a:tc>
                  <a:txBody>
                    <a:bodyPr/>
                    <a:lstStyle/>
                    <a:p>
                      <a:r>
                        <a:rPr sz="1200" b="0">
                          <a:solidFill>
                            <a:srgbClr val="E8EEFA"/>
                          </a:solidFill>
                          <a:latin typeface="Segoe UI"/>
                        </a:rPr>
                        <a:t>obyektning raqamli nusxasi, flotdagi taqqoslash</a:t>
                      </a:r>
                    </a:p>
                  </a:txBody>
                  <a:tcPr>
                    <a:solidFill>
                      <a:srgbClr val="111834"/>
                    </a:solidFill>
                  </a:tcPr>
                </a:tc>
                <a:tc>
                  <a:txBody>
                    <a:bodyPr/>
                    <a:lstStyle/>
                    <a:p>
                      <a:r>
                        <a:rPr sz="1200" b="0">
                          <a:solidFill>
                            <a:srgbClr val="E8EEFA"/>
                          </a:solidFill>
                          <a:latin typeface="Segoe UI"/>
                        </a:rPr>
                        <a:t>raqamli egizak, vaqtli qatorlar bazasi</a:t>
                      </a:r>
                    </a:p>
                  </a:txBody>
                  <a:tcPr>
                    <a:solidFill>
                      <a:srgbClr val="111834"/>
                    </a:solidFill>
                  </a:tcPr>
                </a:tc>
              </a:tr>
              <a:tr h="520000">
                <a:tc>
                  <a:txBody>
                    <a:bodyPr/>
                    <a:lstStyle/>
                    <a:p>
                      <a:r>
                        <a:rPr sz="1200" b="0">
                          <a:solidFill>
                            <a:srgbClr val="E8EEFA"/>
                          </a:solidFill>
                          <a:latin typeface="Segoe UI"/>
                        </a:rPr>
                        <a:t>4C</a:t>
                      </a:r>
                    </a:p>
                  </a:txBody>
                  <a:tcPr>
                    <a:solidFill>
                      <a:srgbClr val="161F40"/>
                    </a:solidFill>
                  </a:tcPr>
                </a:tc>
                <a:tc>
                  <a:txBody>
                    <a:bodyPr/>
                    <a:lstStyle/>
                    <a:p>
                      <a:r>
                        <a:rPr sz="1200" b="0">
                          <a:solidFill>
                            <a:srgbClr val="E8EEFA"/>
                          </a:solidFill>
                          <a:latin typeface="Segoe UI"/>
                        </a:rPr>
                        <a:t>Cognition (anglash)</a:t>
                      </a:r>
                    </a:p>
                  </a:txBody>
                  <a:tcPr>
                    <a:solidFill>
                      <a:srgbClr val="161F40"/>
                    </a:solidFill>
                  </a:tcPr>
                </a:tc>
                <a:tc>
                  <a:txBody>
                    <a:bodyPr/>
                    <a:lstStyle/>
                    <a:p>
                      <a:r>
                        <a:rPr sz="1200" b="0">
                          <a:solidFill>
                            <a:srgbClr val="E8EEFA"/>
                          </a:solidFill>
                          <a:latin typeface="Segoe UI"/>
                        </a:rPr>
                        <a:t>diagnostika, bashorat, vizualizatsiya</a:t>
                      </a:r>
                    </a:p>
                  </a:txBody>
                  <a:tcPr>
                    <a:solidFill>
                      <a:srgbClr val="161F40"/>
                    </a:solidFill>
                  </a:tcPr>
                </a:tc>
                <a:tc>
                  <a:txBody>
                    <a:bodyPr/>
                    <a:lstStyle/>
                    <a:p>
                      <a:r>
                        <a:rPr sz="1200" b="0">
                          <a:solidFill>
                            <a:srgbClr val="E8EEFA"/>
                          </a:solidFill>
                          <a:latin typeface="Segoe UI"/>
                        </a:rPr>
                        <a:t>ML modellari, qaror qo'llab-quvvatlash</a:t>
                      </a:r>
                    </a:p>
                  </a:txBody>
                  <a:tcPr>
                    <a:solidFill>
                      <a:srgbClr val="161F40"/>
                    </a:solidFill>
                  </a:tcPr>
                </a:tc>
              </a:tr>
              <a:tr h="520000">
                <a:tc>
                  <a:txBody>
                    <a:bodyPr/>
                    <a:lstStyle/>
                    <a:p>
                      <a:r>
                        <a:rPr sz="1200" b="0">
                          <a:solidFill>
                            <a:srgbClr val="E8EEFA"/>
                          </a:solidFill>
                          <a:latin typeface="Segoe UI"/>
                        </a:rPr>
                        <a:t>5C</a:t>
                      </a:r>
                    </a:p>
                  </a:txBody>
                  <a:tcPr>
                    <a:solidFill>
                      <a:srgbClr val="111834"/>
                    </a:solidFill>
                  </a:tcPr>
                </a:tc>
                <a:tc>
                  <a:txBody>
                    <a:bodyPr/>
                    <a:lstStyle/>
                    <a:p>
                      <a:r>
                        <a:rPr sz="1200" b="0">
                          <a:solidFill>
                            <a:srgbClr val="E8EEFA"/>
                          </a:solidFill>
                          <a:latin typeface="Segoe UI"/>
                        </a:rPr>
                        <a:t>Configuration (sozlash)</a:t>
                      </a:r>
                    </a:p>
                  </a:txBody>
                  <a:tcPr>
                    <a:solidFill>
                      <a:srgbClr val="111834"/>
                    </a:solidFill>
                  </a:tcPr>
                </a:tc>
                <a:tc>
                  <a:txBody>
                    <a:bodyPr/>
                    <a:lstStyle/>
                    <a:p>
                      <a:r>
                        <a:rPr sz="1200" b="0">
                          <a:solidFill>
                            <a:srgbClr val="E8EEFA"/>
                          </a:solidFill>
                          <a:latin typeface="Segoe UI"/>
                        </a:rPr>
                        <a:t>fizik tizimga qayta ta'sir, o'z-o'zini sozlash</a:t>
                      </a:r>
                    </a:p>
                  </a:txBody>
                  <a:tcPr>
                    <a:solidFill>
                      <a:srgbClr val="111834"/>
                    </a:solidFill>
                  </a:tcPr>
                </a:tc>
                <a:tc>
                  <a:txBody>
                    <a:bodyPr/>
                    <a:lstStyle/>
                    <a:p>
                      <a:r>
                        <a:rPr sz="1200" b="0">
                          <a:solidFill>
                            <a:srgbClr val="E8EEFA"/>
                          </a:solidFill>
                          <a:latin typeface="Segoe UI"/>
                        </a:rPr>
                        <a:t>moslashuvchi boshqaruv, avtonom halqa</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ee0310786ce278fe.jpg"/>
          <p:cNvPicPr>
            <a:picLocks noChangeAspect="1"/>
          </p:cNvPicPr>
          <p:nvPr/>
        </p:nvPicPr>
        <p:blipFill>
          <a:blip r:embed="rId2"/>
          <a:srcRect l="19150" r="19150"/>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Iditsulkin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Raqamli egizak (Digital Twin) texnologiyalari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8b81a59214d8743.jpg"/>
          <p:cNvPicPr>
            <a:picLocks noChangeAspect="1"/>
          </p:cNvPicPr>
          <p:nvPr/>
        </p:nvPicPr>
        <p:blipFill>
          <a:blip r:embed="rId2"/>
          <a:srcRect l="14324" r="1432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San Diego Air &amp; Space Museum Archives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370001"/>
            <a:ext cx="5900000" cy="1486666"/>
          </a:xfrm>
          <a:prstGeom prst="rect">
            <a:avLst/>
          </a:prstGeom>
          <a:noFill/>
        </p:spPr>
        <p:txBody>
          <a:bodyPr wrap="square" anchor="ctr">
            <a:spAutoFit/>
          </a:bodyPr>
          <a:lstStyle/>
          <a:p>
            <a:r>
              <a:rPr sz="1400" b="1">
                <a:solidFill>
                  <a:srgbClr val="E8EEFA"/>
                </a:solidFill>
                <a:latin typeface="Segoe UI"/>
              </a:rPr>
              <a:t>Raqamli egizak konsepsiyasini 2002-yilda Michigan universitetida Michael Grieves mahsulot hayot siklini boshqarish kursida taklif qilgan; atamaning o'zi keyinroq NASA mutaxassislari bilan hamkorlikda mustahkamlandi.</a:t>
            </a:r>
          </a:p>
          <a:p>
            <a:pPr>
              <a:spcBef>
                <a:spcPts val="400"/>
              </a:spcBef>
            </a:pPr>
            <a:r>
              <a:rPr sz="1300">
                <a:solidFill>
                  <a:srgbClr val="AEBBD9"/>
                </a:solidFill>
                <a:latin typeface="Segoe UI"/>
              </a:rPr>
              <a:t>Grieves va Vickers (2017) ta'rifiga ko'ra, raqamli egizak uch qismdan iborat: fizik makondagi real obyekt, virtual makondagi uning nusxasi va ikkalasini bog'lovchi ikki tomonlama ma'lumot va axborot oqimi.</a:t>
            </a:r>
          </a:p>
        </p:txBody>
      </p:sp>
      <p:sp>
        <p:nvSpPr>
          <p:cNvPr id="32" name="Rounded Rectangle 31"/>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46667"/>
            <a:ext cx="5900000" cy="1486666"/>
          </a:xfrm>
          <a:prstGeom prst="rect">
            <a:avLst/>
          </a:prstGeom>
          <a:noFill/>
        </p:spPr>
        <p:txBody>
          <a:bodyPr wrap="square" anchor="ctr">
            <a:spAutoFit/>
          </a:bodyPr>
          <a:lstStyle/>
          <a:p>
            <a:r>
              <a:rPr sz="1300" b="0">
                <a:solidFill>
                  <a:srgbClr val="E8EEFA"/>
                </a:solidFill>
                <a:latin typeface="Segoe UI"/>
              </a:rPr>
              <a:t>ISO 23247 seriyasi (ishlab chiqarish uchun raqamli egizak asoslari) egizak arxitekturasini to'rt domenga bo'ladi: kuzatiladigan ishlab chiqarish elementlari, ma'lumot yig'ish va qurilma boshqaruvi, raqamli egizak yadrosi (modellashtirish, sinxronizatsiya…</a:t>
            </a:r>
          </a:p>
        </p:txBody>
      </p:sp>
      <p:sp>
        <p:nvSpPr>
          <p:cNvPr id="36" name="Rounded Rectangle 35"/>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723333"/>
            <a:ext cx="5900000" cy="1486666"/>
          </a:xfrm>
          <a:prstGeom prst="rect">
            <a:avLst/>
          </a:prstGeom>
          <a:noFill/>
        </p:spPr>
        <p:txBody>
          <a:bodyPr wrap="square" anchor="ctr">
            <a:spAutoFit/>
          </a:bodyPr>
          <a:lstStyle/>
          <a:p>
            <a:r>
              <a:rPr sz="1300" b="0">
                <a:solidFill>
                  <a:srgbClr val="E8EEFA"/>
                </a:solidFill>
                <a:latin typeface="Segoe UI"/>
              </a:rPr>
              <a:t>Raqamli egizakning yetuklik darajalarini quyidagicha bosqichlash qulay: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e7ab0a8dc6cd69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 Beránek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977992"/>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057992"/>
            <a:ext cx="50000" cy="9746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3453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2017992"/>
            <a:ext cx="5900000" cy="1054672"/>
          </a:xfrm>
          <a:prstGeom prst="rect">
            <a:avLst/>
          </a:prstGeom>
          <a:noFill/>
        </p:spPr>
        <p:txBody>
          <a:bodyPr wrap="square" anchor="ctr">
            <a:spAutoFit/>
          </a:bodyPr>
          <a:lstStyle/>
          <a:p>
            <a:r>
              <a:rPr sz="1700" b="1">
                <a:solidFill>
                  <a:srgbClr val="E8EEFA"/>
                </a:solidFill>
                <a:latin typeface="Segoe UI"/>
              </a:rPr>
              <a:t>Tavsiflovchi (descriptive) egizak.</a:t>
            </a:r>
          </a:p>
          <a:p>
            <a:pPr>
              <a:spcBef>
                <a:spcPts val="400"/>
              </a:spcBef>
            </a:pPr>
            <a:r>
              <a:rPr sz="1600">
                <a:solidFill>
                  <a:srgbClr val="AEBBD9"/>
                </a:solidFill>
                <a:latin typeface="Segoe UI"/>
              </a:rPr>
              <a:t>obyektning joriy holatini 3D yoki sxema ko'rinishida real vaqtda aks ettiradi.</a:t>
            </a:r>
          </a:p>
        </p:txBody>
      </p:sp>
      <p:sp>
        <p:nvSpPr>
          <p:cNvPr id="33" name="Rounded Rectangle 32"/>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302664"/>
            <a:ext cx="50000" cy="9746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6" name="TextBox 35"/>
          <p:cNvSpPr txBox="1"/>
          <p:nvPr/>
        </p:nvSpPr>
        <p:spPr>
          <a:xfrm>
            <a:off x="1300000" y="3262664"/>
            <a:ext cx="5900000" cy="1054672"/>
          </a:xfrm>
          <a:prstGeom prst="rect">
            <a:avLst/>
          </a:prstGeom>
          <a:noFill/>
        </p:spPr>
        <p:txBody>
          <a:bodyPr wrap="square" anchor="ctr">
            <a:spAutoFit/>
          </a:bodyPr>
          <a:lstStyle/>
          <a:p>
            <a:r>
              <a:rPr sz="1700" b="1">
                <a:solidFill>
                  <a:srgbClr val="E8EEFA"/>
                </a:solidFill>
                <a:latin typeface="Segoe UI"/>
              </a:rPr>
              <a:t>Diagnostik (diagnostic) egizak.</a:t>
            </a:r>
          </a:p>
          <a:p>
            <a:pPr>
              <a:spcBef>
                <a:spcPts val="400"/>
              </a:spcBef>
            </a:pPr>
            <a:r>
              <a:rPr sz="1600">
                <a:solidFill>
                  <a:srgbClr val="AEBBD9"/>
                </a:solidFill>
                <a:latin typeface="Segoe UI"/>
              </a:rPr>
              <a:t>me'yordan chetlanishni aniqlaydi va sababini lokalizatsiya qiladi.</a:t>
            </a:r>
          </a:p>
        </p:txBody>
      </p:sp>
      <p:sp>
        <p:nvSpPr>
          <p:cNvPr id="37" name="Rounded Rectangle 36"/>
          <p:cNvSpPr/>
          <p:nvPr/>
        </p:nvSpPr>
        <p:spPr>
          <a:xfrm>
            <a:off x="550000" y="4467336"/>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547336"/>
            <a:ext cx="50000" cy="97467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4834672"/>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0" name="TextBox 39"/>
          <p:cNvSpPr txBox="1"/>
          <p:nvPr/>
        </p:nvSpPr>
        <p:spPr>
          <a:xfrm>
            <a:off x="1300000" y="4507336"/>
            <a:ext cx="5900000" cy="1054672"/>
          </a:xfrm>
          <a:prstGeom prst="rect">
            <a:avLst/>
          </a:prstGeom>
          <a:noFill/>
        </p:spPr>
        <p:txBody>
          <a:bodyPr wrap="square" anchor="ctr">
            <a:spAutoFit/>
          </a:bodyPr>
          <a:lstStyle/>
          <a:p>
            <a:r>
              <a:rPr sz="1700" b="1">
                <a:solidFill>
                  <a:srgbClr val="E8EEFA"/>
                </a:solidFill>
                <a:latin typeface="Segoe UI"/>
              </a:rPr>
              <a:t>Bashoratli (predictive) egizak.</a:t>
            </a:r>
          </a:p>
          <a:p>
            <a:pPr>
              <a:spcBef>
                <a:spcPts val="400"/>
              </a:spcBef>
            </a:pPr>
            <a:r>
              <a:rPr sz="1600">
                <a:solidFill>
                  <a:srgbClr val="AEBBD9"/>
                </a:solidFill>
                <a:latin typeface="Segoe UI"/>
              </a:rPr>
              <a:t>qolgan foydali resurs (Remaining Useful Life, RUL) va nosozlik ehtimolini baholaydi.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Raqamli egizak (Digital Twin) texnologiyalari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eb8e8c01ba1e82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YikyuenG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0" name="TextBox 29"/>
          <p:cNvSpPr txBox="1"/>
          <p:nvPr/>
        </p:nvSpPr>
        <p:spPr>
          <a:xfrm>
            <a:off x="1300000" y="1370001"/>
            <a:ext cx="5900000" cy="1486666"/>
          </a:xfrm>
          <a:prstGeom prst="rect">
            <a:avLst/>
          </a:prstGeom>
          <a:noFill/>
        </p:spPr>
        <p:txBody>
          <a:bodyPr wrap="square" anchor="ctr">
            <a:spAutoFit/>
          </a:bodyPr>
          <a:lstStyle/>
          <a:p>
            <a:r>
              <a:rPr sz="1500" b="1">
                <a:solidFill>
                  <a:srgbClr val="E8EEFA"/>
                </a:solidFill>
                <a:latin typeface="Segoe UI"/>
              </a:rPr>
              <a:t>Buyuruvchi (prescriptive) egizak.</a:t>
            </a:r>
          </a:p>
          <a:p>
            <a:pPr>
              <a:spcBef>
                <a:spcPts val="400"/>
              </a:spcBef>
            </a:pPr>
            <a:r>
              <a:rPr sz="1400">
                <a:solidFill>
                  <a:srgbClr val="AEBBD9"/>
                </a:solidFill>
                <a:latin typeface="Segoe UI"/>
              </a:rPr>
              <a:t>optimal harakatni taklif qiladi, odatda stsenariylar simulyatsiyasi orqali.</a:t>
            </a:r>
          </a:p>
        </p:txBody>
      </p:sp>
      <p:sp>
        <p:nvSpPr>
          <p:cNvPr id="31" name="Rounded Rectangle 30"/>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4" name="TextBox 33"/>
          <p:cNvSpPr txBox="1"/>
          <p:nvPr/>
        </p:nvSpPr>
        <p:spPr>
          <a:xfrm>
            <a:off x="1300000" y="3046667"/>
            <a:ext cx="5900000" cy="1486666"/>
          </a:xfrm>
          <a:prstGeom prst="rect">
            <a:avLst/>
          </a:prstGeom>
          <a:noFill/>
        </p:spPr>
        <p:txBody>
          <a:bodyPr wrap="square" anchor="ctr">
            <a:spAutoFit/>
          </a:bodyPr>
          <a:lstStyle/>
          <a:p>
            <a:r>
              <a:rPr sz="1500" b="1">
                <a:solidFill>
                  <a:srgbClr val="E8EEFA"/>
                </a:solidFill>
                <a:latin typeface="Segoe UI"/>
              </a:rPr>
              <a:t>Avtonom (autonomous) egizak.</a:t>
            </a:r>
          </a:p>
          <a:p>
            <a:pPr>
              <a:spcBef>
                <a:spcPts val="400"/>
              </a:spcBef>
            </a:pPr>
            <a:r>
              <a:rPr sz="1400">
                <a:solidFill>
                  <a:srgbClr val="AEBBD9"/>
                </a:solidFill>
                <a:latin typeface="Segoe UI"/>
              </a:rPr>
              <a:t>inson ishtirokisiz fizik obyektni qayta sozlaydi.</a:t>
            </a:r>
          </a:p>
        </p:txBody>
      </p:sp>
      <p:sp>
        <p:nvSpPr>
          <p:cNvPr id="35" name="Rounded Rectangle 34"/>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8" name="TextBox 37"/>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Model turi nuqtai nazaridan uchta yondashuv bor.</a:t>
            </a:r>
          </a:p>
          <a:p>
            <a:pPr>
              <a:spcBef>
                <a:spcPts val="400"/>
              </a:spcBef>
            </a:pPr>
            <a:r>
              <a:rPr sz="1400">
                <a:solidFill>
                  <a:srgbClr val="AEBBD9"/>
                </a:solidFill>
                <a:latin typeface="Segoe UI"/>
              </a:rPr>
              <a:t>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0c05e976be685220.jpg"/>
          <p:cNvPicPr>
            <a:picLocks noChangeAspect="1"/>
          </p:cNvPicPr>
          <p:nvPr/>
        </p:nvPicPr>
        <p:blipFill>
          <a:blip r:embed="rId2"/>
          <a:srcRect l="20549" r="20549"/>
          <a:stretch>
            <a:fillRect/>
          </a:stretch>
        </p:blipFill>
        <p:spPr>
          <a:xfrm>
            <a:off x="6300000" y="800000"/>
            <a:ext cx="5300000" cy="4950000"/>
          </a:xfrm>
          <a:prstGeom prst="roundRect">
            <a:avLst/>
          </a:prstGeom>
          <a:ln w="19050">
            <a:solidFill>
              <a:srgbClr val="22D3EE"/>
            </a:solidFill>
          </a:ln>
        </p:spPr>
      </p:pic>
      <p:sp>
        <p:nvSpPr>
          <p:cNvPr id="36" name="TextBox 3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Rlistmedia · Wikimedia Commons · CC BY 4.0</a:t>
            </a:r>
          </a:p>
        </p:txBody>
      </p:sp>
      <p:sp>
        <p:nvSpPr>
          <p:cNvPr id="37" name="TextBox 3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8" name="TextBox 3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39" name="TextBox 3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Avtonom hisoblash tizimlari</a:t>
            </a:r>
          </a:p>
        </p:txBody>
      </p:sp>
      <p:sp>
        <p:nvSpPr>
          <p:cNvPr id="40" name="Rectangle 3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150"/>
                            </p:stCondLst>
                            <p:childTnLst>
                              <p:par>
                                <p:cTn id="128" presetID="53" presetClass="entr" presetSubtype="16"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anim calcmode="lin" valueType="num">
                                      <p:cBhvr additive="base">
                                        <p:cTn id="131" dur="550" fill="hold"/>
                                        <p:tgtEl>
                                          <p:spTgt spid="34"/>
                                        </p:tgtEl>
                                        <p:attrNameLst>
                                          <p:attrName>ppt_w</p:attrName>
                                        </p:attrNameLst>
                                      </p:cBhvr>
                                      <p:tavLst>
                                        <p:tav tm="0">
                                          <p:val>
                                            <p:strVal val="0"/>
                                          </p:val>
                                        </p:tav>
                                        <p:tav tm="100000">
                                          <p:val>
                                            <p:strVal val="#ppt_w"/>
                                          </p:val>
                                        </p:tav>
                                      </p:tavLst>
                                    </p:anim>
                                    <p:anim calcmode="lin" valueType="num">
                                      <p:cBhvr additive="base">
                                        <p:cTn id="132" dur="550" fill="hold"/>
                                        <p:tgtEl>
                                          <p:spTgt spid="34"/>
                                        </p:tgtEl>
                                        <p:attrNameLst>
                                          <p:attrName>ppt_h</p:attrName>
                                        </p:attrNameLst>
                                      </p:cBhvr>
                                      <p:tavLst>
                                        <p:tav tm="0">
                                          <p:val>
                                            <p:strVal val="0"/>
                                          </p:val>
                                        </p:tav>
                                        <p:tav tm="100000">
                                          <p:val>
                                            <p:strVal val="#ppt_h"/>
                                          </p:val>
                                        </p:tav>
                                      </p:tavLst>
                                    </p:anim>
                                  </p:childTnLst>
                                </p:cTn>
                              </p:par>
                            </p:childTnLst>
                          </p:cTn>
                        </p:par>
                        <p:par>
                          <p:cTn id="133" fill="hold">
                            <p:stCondLst>
                              <p:cond delay="150"/>
                            </p:stCondLst>
                            <p:childTnLst>
                              <p:par>
                                <p:cTn id="134" presetID="53" presetClass="entr" presetSubtype="16" fill="hold" grpId="0" nodeType="afterEffect">
                                  <p:stCondLst>
                                    <p:cond delay="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additive="base">
                                        <p:cTn id="137" dur="550" fill="hold"/>
                                        <p:tgtEl>
                                          <p:spTgt spid="35"/>
                                        </p:tgtEl>
                                        <p:attrNameLst>
                                          <p:attrName>ppt_w</p:attrName>
                                        </p:attrNameLst>
                                      </p:cBhvr>
                                      <p:tavLst>
                                        <p:tav tm="0">
                                          <p:val>
                                            <p:strVal val="0"/>
                                          </p:val>
                                        </p:tav>
                                        <p:tav tm="100000">
                                          <p:val>
                                            <p:strVal val="#ppt_w"/>
                                          </p:val>
                                        </p:tav>
                                      </p:tavLst>
                                    </p:anim>
                                    <p:anim calcmode="lin" valueType="num">
                                      <p:cBhvr additive="base">
                                        <p:cTn id="138" dur="550" fill="hold"/>
                                        <p:tgtEl>
                                          <p:spTgt spid="35"/>
                                        </p:tgtEl>
                                        <p:attrNameLst>
                                          <p:attrName>ppt_h</p:attrName>
                                        </p:attrNameLst>
                                      </p:cBhvr>
                                      <p:tavLst>
                                        <p:tav tm="0">
                                          <p:val>
                                            <p:strVal val="0"/>
                                          </p:val>
                                        </p:tav>
                                        <p:tav tm="100000">
                                          <p:val>
                                            <p:strVal val="#ppt_h"/>
                                          </p:val>
                                        </p:tav>
                                      </p:tavLst>
                                    </p:anim>
                                  </p:childTnLst>
                                </p:cTn>
                              </p:par>
                            </p:childTnLst>
                          </p:cTn>
                        </p:par>
                        <p:par>
                          <p:cTn id="139" fill="hold">
                            <p:stCondLst>
                              <p:cond delay="150"/>
                            </p:stCondLst>
                            <p:childTnLst>
                              <p:par>
                                <p:cTn id="140" presetID="10" presetClass="entr" presetSubtype="0"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childTnLst>
                                </p:cTn>
                              </p:par>
                            </p:childTnLst>
                          </p:cTn>
                        </p:par>
                        <p:par>
                          <p:cTn id="143" fill="hold">
                            <p:stCondLst>
                              <p:cond delay="350"/>
                            </p:stCondLst>
                            <p:childTnLst>
                              <p:par>
                                <p:cTn id="144" presetID="53" presetClass="entr" presetSubtype="16"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additive="base">
                                        <p:cTn id="147" dur="550" fill="hold"/>
                                        <p:tgtEl>
                                          <p:spTgt spid="37"/>
                                        </p:tgtEl>
                                        <p:attrNameLst>
                                          <p:attrName>ppt_w</p:attrName>
                                        </p:attrNameLst>
                                      </p:cBhvr>
                                      <p:tavLst>
                                        <p:tav tm="0">
                                          <p:val>
                                            <p:strVal val="0"/>
                                          </p:val>
                                        </p:tav>
                                        <p:tav tm="100000">
                                          <p:val>
                                            <p:strVal val="#ppt_w"/>
                                          </p:val>
                                        </p:tav>
                                      </p:tavLst>
                                    </p:anim>
                                    <p:anim calcmode="lin" valueType="num">
                                      <p:cBhvr additive="base">
                                        <p:cTn id="148" dur="550" fill="hold"/>
                                        <p:tgtEl>
                                          <p:spTgt spid="37"/>
                                        </p:tgtEl>
                                        <p:attrNameLst>
                                          <p:attrName>ppt_h</p:attrName>
                                        </p:attrNameLst>
                                      </p:cBhvr>
                                      <p:tavLst>
                                        <p:tav tm="0">
                                          <p:val>
                                            <p:strVal val="0"/>
                                          </p:val>
                                        </p:tav>
                                        <p:tav tm="100000">
                                          <p:val>
                                            <p:strVal val="#ppt_h"/>
                                          </p:val>
                                        </p:tav>
                                      </p:tavLst>
                                    </p:anim>
                                  </p:childTnLst>
                                </p:cTn>
                              </p:par>
                            </p:childTnLst>
                          </p:cTn>
                        </p:par>
                        <p:par>
                          <p:cTn id="149" fill="hold">
                            <p:stCondLst>
                              <p:cond delay="450"/>
                            </p:stCondLst>
                            <p:childTnLst>
                              <p:par>
                                <p:cTn id="150" presetID="10" presetClass="entr" presetSubtype="0"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Effect transition="in" filter="fade">
                                      <p:cBhvr>
                                        <p:cTn id="152" dur="550"/>
                                        <p:tgtEl>
                                          <p:spTgt spid="38"/>
                                        </p:tgtEl>
                                      </p:cBhvr>
                                    </p:animEffect>
                                  </p:childTnLst>
                                </p:cTn>
                              </p:par>
                            </p:childTnLst>
                          </p:cTn>
                        </p:par>
                        <p:par>
                          <p:cTn id="153" fill="hold">
                            <p:stCondLst>
                              <p:cond delay="550"/>
                            </p:stCondLst>
                            <p:childTnLst>
                              <p:par>
                                <p:cTn id="154" presetID="2" presetClass="entr" presetSubtype="8"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7" dur="550" fill="hold"/>
                                        <p:tgtEl>
                                          <p:spTgt spid="39"/>
                                        </p:tgtEl>
                                        <p:attrNameLst>
                                          <p:attrName>ppt_x</p:attrName>
                                        </p:attrNameLst>
                                      </p:cBhvr>
                                      <p:tavLst>
                                        <p:tav tm="0">
                                          <p:val>
                                            <p:strVal val="0-#ppt_w/2"/>
                                          </p:val>
                                        </p:tav>
                                        <p:tav tm="100000">
                                          <p:val>
                                            <p:strVal val="#ppt_x"/>
                                          </p:val>
                                        </p:tav>
                                      </p:tavLst>
                                    </p:anim>
                                    <p:anim calcmode="lin" valueType="num">
                                      <p:cBhvr additive="base">
                                        <p:cTn id="158" dur="550" fill="hold"/>
                                        <p:tgtEl>
                                          <p:spTgt spid="39"/>
                                        </p:tgtEl>
                                        <p:attrNameLst>
                                          <p:attrName>ppt_y</p:attrName>
                                        </p:attrNameLst>
                                      </p:cBhvr>
                                      <p:tavLst>
                                        <p:tav tm="0">
                                          <p:val>
                                            <p:strVal val="#ppt_y"/>
                                          </p:val>
                                        </p:tav>
                                        <p:tav tm="100000">
                                          <p:val>
                                            <p:strVal val="#ppt_y"/>
                                          </p:val>
                                        </p:tav>
                                      </p:tavLst>
                                    </p:anim>
                                  </p:childTnLst>
                                </p:cTn>
                              </p:par>
                            </p:childTnLst>
                          </p:cTn>
                        </p:par>
                        <p:par>
                          <p:cTn id="159" fill="hold">
                            <p:stCondLst>
                              <p:cond delay="650"/>
                            </p:stCondLst>
                            <p:childTnLst>
                              <p:par>
                                <p:cTn id="160" presetID="22" presetClass="entr" presetSubtype="8" fill="hold" grpId="0" nodeType="afterEffect">
                                  <p:stCondLst>
                                    <p:cond delay="0"/>
                                  </p:stCondLst>
                                  <p:childTnLst>
                                    <p:set>
                                      <p:cBhvr>
                                        <p:cTn id="161" dur="1" fill="hold">
                                          <p:stCondLst>
                                            <p:cond delay="0"/>
                                          </p:stCondLst>
                                        </p:cTn>
                                        <p:tgtEl>
                                          <p:spTgt spid="40"/>
                                        </p:tgtEl>
                                        <p:attrNameLst>
                                          <p:attrName>style.visibility</p:attrName>
                                        </p:attrNameLst>
                                      </p:cBhvr>
                                      <p:to>
                                        <p:strVal val="visible"/>
                                      </p:to>
                                    </p:set>
                                    <p:animEffect transition="in" filter="wipe(left)">
                                      <p:cBhvr>
                                        <p:cTn id="163" dur="8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Avtonom hisoblash tizimlari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75492ebb1f90570.jpg"/>
          <p:cNvPicPr>
            <a:picLocks noChangeAspect="1"/>
          </p:cNvPicPr>
          <p:nvPr/>
        </p:nvPicPr>
        <p:blipFill>
          <a:blip r:embed="rId2"/>
          <a:srcRect l="18313" r="1831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Claudio Moderini · Wikimedia Commons · CC BY-SA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Avtonom hisoblash (autonomic computing) g'oyasini 2001-yilda IBM ilgari surgan; Kephart va Chess (2003) uni to'rtta «o'z-o'zini» xususiyati orqali ta'riflagan: o'z-o'zini sozlash (self-configuration), o'z-o'zini optimallashtirish (self-optimization)…</a:t>
            </a:r>
          </a:p>
        </p:txBody>
      </p:sp>
      <p:sp>
        <p:nvSpPr>
          <p:cNvPr id="31" name="Rounded Rectangle 30"/>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MAPE-K halqasi bilan raqamli egizak o'rtasidagi bog'liqlik bevosita: egizak — bu halqaning Knowledge va Analyze qismining materiallashgan ko'rinishi.</a:t>
            </a:r>
          </a:p>
          <a:p>
            <a:pPr>
              <a:spcBef>
                <a:spcPts val="400"/>
              </a:spcBef>
            </a:pPr>
            <a:r>
              <a:rPr sz="1400">
                <a:solidFill>
                  <a:srgbClr val="AEBBD9"/>
                </a:solidFill>
                <a:latin typeface="Segoe UI"/>
              </a:rPr>
              <a:t>Avtonomlik darajasini belgilashda SAE J3016 ga o'xshash shkala foydali: 0 — faqat ko'rsatish; 1 — tavsiya, inson tasdiqlaydi; 2 — tizim bajaradi, inson kuzatadi va bekor qila oladi (human-on-the-loop); 3 — tizim bajaradi, insonga faqat hisobot beradi; 4 — to'liq avtonom.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8e869b00adaacbf0.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Mikael Häggström, M.D. Author info - Reusing images- Conflicts of interest:  Non · Wikimedia Commons · CC0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Qaror qabul qilishni qo'llab-quvvatlovchi intellektual tizimlar</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Qaror qabul qilishni qo'llab-quvvatlovchi intellektual tizimlar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M13 · Intellektual kompyuter tizimlarini loyihalash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6dcc39b09670b01.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Z. Liu, C. W. Higgins · Wikimedia Commons · CC BY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Qaror qabul qilishni qo'llab-quvvatlovchi tizim (Decision Support System, DSS) klassik ta'rifga ko'ra uch komponentdan iborat: ma'lumotlar bazasi, modellar bazasi va foydalanuvchi interfeysi.</a:t>
            </a:r>
          </a:p>
          <a:p>
            <a:pPr>
              <a:spcBef>
                <a:spcPts val="400"/>
              </a:spcBef>
            </a:pPr>
            <a:r>
              <a:rPr sz="1400">
                <a:solidFill>
                  <a:srgbClr val="AEBBD9"/>
                </a:solidFill>
                <a:latin typeface="Segoe UI"/>
              </a:rPr>
              <a:t>Intellektual DSS da modellar bazasiga ML modellari, bilimga asoslangan qoidalar va optimallashtirish modellari kiradi. Sanoat amaliyotida DSS loyihalashning uchta muhim jihati bor.</a:t>
            </a:r>
          </a:p>
        </p:txBody>
      </p:sp>
      <p:sp>
        <p:nvSpPr>
          <p:cNvPr id="34" name="Rounded Rectangle 33"/>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Birinchidan, chiqish formati.</a:t>
            </a:r>
          </a:p>
          <a:p>
            <a:pPr>
              <a:spcBef>
                <a:spcPts val="400"/>
              </a:spcBef>
            </a:pPr>
            <a:r>
              <a:rPr sz="1400">
                <a:solidFill>
                  <a:srgbClr val="AEBBD9"/>
                </a:solidFill>
                <a:latin typeface="Segoe UI"/>
              </a:rPr>
              <a:t>Operator uchun «anomaliya bali 0,73» hech narsa anglatmaydi; unga «podshipnik tebranishi 48 soat ichida 2,1 marta oshdi, shunga o'xshash 7 holatdan 6 tasida 10 kun ichida podshipnik almashtirilgan; tavsiya: keyingi rejali to'xtashda tekshirish»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5" name="Rectangle 94"/>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7" name="TextBox 96"/>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200"/>
                            </p:stCondLst>
                            <p:childTnLst>
                              <p:par>
                                <p:cTn id="368" presetID="53" presetClass="entr" presetSubtype="16"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anim calcmode="lin" valueType="num">
                                      <p:cBhvr additive="base">
                                        <p:cTn id="371" dur="550" fill="hold"/>
                                        <p:tgtEl>
                                          <p:spTgt spid="94"/>
                                        </p:tgtEl>
                                        <p:attrNameLst>
                                          <p:attrName>ppt_w</p:attrName>
                                        </p:attrNameLst>
                                      </p:cBhvr>
                                      <p:tavLst>
                                        <p:tav tm="0">
                                          <p:val>
                                            <p:strVal val="0"/>
                                          </p:val>
                                        </p:tav>
                                        <p:tav tm="100000">
                                          <p:val>
                                            <p:strVal val="#ppt_w"/>
                                          </p:val>
                                        </p:tav>
                                      </p:tavLst>
                                    </p:anim>
                                    <p:anim calcmode="lin" valueType="num">
                                      <p:cBhvr additive="base">
                                        <p:cTn id="372" dur="550" fill="hold"/>
                                        <p:tgtEl>
                                          <p:spTgt spid="94"/>
                                        </p:tgtEl>
                                        <p:attrNameLst>
                                          <p:attrName>ppt_h</p:attrName>
                                        </p:attrNameLst>
                                      </p:cBhvr>
                                      <p:tavLst>
                                        <p:tav tm="0">
                                          <p:val>
                                            <p:strVal val="0"/>
                                          </p:val>
                                        </p:tav>
                                        <p:tav tm="100000">
                                          <p:val>
                                            <p:strVal val="#ppt_h"/>
                                          </p:val>
                                        </p:tav>
                                      </p:tavLst>
                                    </p:anim>
                                  </p:childTnLst>
                                </p:cTn>
                              </p:par>
                            </p:childTnLst>
                          </p:cTn>
                        </p:par>
                        <p:par>
                          <p:cTn id="373" fill="hold">
                            <p:stCondLst>
                              <p:cond delay="350"/>
                            </p:stCondLst>
                            <p:childTnLst>
                              <p:par>
                                <p:cTn id="374" presetID="22" presetClass="entr" presetSubtype="8" fill="hold" grpId="0" nodeType="afterEffect">
                                  <p:stCondLst>
                                    <p:cond delay="0"/>
                                  </p:stCondLst>
                                  <p:childTnLst>
                                    <p:set>
                                      <p:cBhvr>
                                        <p:cTn id="375" dur="1" fill="hold">
                                          <p:stCondLst>
                                            <p:cond delay="0"/>
                                          </p:stCondLst>
                                        </p:cTn>
                                        <p:tgtEl>
                                          <p:spTgt spid="95"/>
                                        </p:tgtEl>
                                        <p:attrNameLst>
                                          <p:attrName>style.visibility</p:attrName>
                                        </p:attrNameLst>
                                      </p:cBhvr>
                                      <p:to>
                                        <p:strVal val="visible"/>
                                      </p:to>
                                    </p:set>
                                    <p:animEffect transition="in" filter="wipe(left)">
                                      <p:cBhvr>
                                        <p:cTn id="377" dur="800"/>
                                        <p:tgtEl>
                                          <p:spTgt spid="95"/>
                                        </p:tgtEl>
                                      </p:cBhvr>
                                    </p:animEffect>
                                  </p:childTnLst>
                                </p:cTn>
                              </p:par>
                            </p:childTnLst>
                          </p:cTn>
                        </p:par>
                        <p:par>
                          <p:cTn id="378" fill="hold">
                            <p:stCondLst>
                              <p:cond delay="500"/>
                            </p:stCondLst>
                            <p:childTnLst>
                              <p:par>
                                <p:cTn id="379" presetID="42" presetClass="entr" presetSubtype="0" fill="hold" grpId="0" nodeType="afterEffect">
                                  <p:stCondLst>
                                    <p:cond delay="0"/>
                                  </p:stCondLst>
                                  <p:childTnLst>
                                    <p:set>
                                      <p:cBhvr>
                                        <p:cTn id="380" dur="1" fill="hold">
                                          <p:stCondLst>
                                            <p:cond delay="0"/>
                                          </p:stCondLst>
                                        </p:cTn>
                                        <p:tgtEl>
                                          <p:spTgt spid="96"/>
                                        </p:tgtEl>
                                        <p:attrNameLst>
                                          <p:attrName>style.visibility</p:attrName>
                                        </p:attrNameLst>
                                      </p:cBhvr>
                                      <p:to>
                                        <p:strVal val="visible"/>
                                      </p:to>
                                    </p:set>
                                    <p:animEffect transition="in" filter="fade">
                                      <p:cBhvr>
                                        <p:cTn id="381" dur="550"/>
                                        <p:tgtEl>
                                          <p:spTgt spid="96"/>
                                        </p:tgtEl>
                                      </p:cBhvr>
                                    </p:animEffect>
                                    <p:anim calcmode="lin" valueType="num">
                                      <p:cBhvr additive="base">
                                        <p:cTn id="382" dur="550" fill="hold"/>
                                        <p:tgtEl>
                                          <p:spTgt spid="96"/>
                                        </p:tgtEl>
                                        <p:attrNameLst>
                                          <p:attrName>ppt_x</p:attrName>
                                        </p:attrNameLst>
                                      </p:cBhvr>
                                      <p:tavLst>
                                        <p:tav tm="0">
                                          <p:val>
                                            <p:strVal val="#ppt_x"/>
                                          </p:val>
                                        </p:tav>
                                        <p:tav tm="100000">
                                          <p:val>
                                            <p:strVal val="#ppt_x"/>
                                          </p:val>
                                        </p:tav>
                                      </p:tavLst>
                                    </p:anim>
                                    <p:anim calcmode="lin" valueType="num">
                                      <p:cBhvr additive="base">
                                        <p:cTn id="383" dur="550" fill="hold"/>
                                        <p:tgtEl>
                                          <p:spTgt spid="96"/>
                                        </p:tgtEl>
                                        <p:attrNameLst>
                                          <p:attrName>ppt_y</p:attrName>
                                        </p:attrNameLst>
                                      </p:cBhvr>
                                      <p:tavLst>
                                        <p:tav tm="0">
                                          <p:val>
                                            <p:strVal val="#ppt_y+.08"/>
                                          </p:val>
                                        </p:tav>
                                        <p:tav tm="100000">
                                          <p:val>
                                            <p:strVal val="#ppt_y"/>
                                          </p:val>
                                        </p:tav>
                                      </p:tavLst>
                                    </p:anim>
                                  </p:childTnLst>
                                </p:cTn>
                              </p:par>
                            </p:childTnLst>
                          </p:cTn>
                        </p:par>
                        <p:par>
                          <p:cTn id="384" fill="hold">
                            <p:stCondLst>
                              <p:cond delay="650"/>
                            </p:stCondLst>
                            <p:childTnLst>
                              <p:par>
                                <p:cTn id="385" presetID="10" presetClass="entr" presetSubtype="0" fill="hold" grpId="0" nodeType="afterEffect">
                                  <p:stCondLst>
                                    <p:cond delay="0"/>
                                  </p:stCondLst>
                                  <p:childTnLst>
                                    <p:set>
                                      <p:cBhvr>
                                        <p:cTn id="386" dur="1" fill="hold">
                                          <p:stCondLst>
                                            <p:cond delay="0"/>
                                          </p:stCondLst>
                                        </p:cTn>
                                        <p:tgtEl>
                                          <p:spTgt spid="97"/>
                                        </p:tgtEl>
                                        <p:attrNameLst>
                                          <p:attrName>style.visibility</p:attrName>
                                        </p:attrNameLst>
                                      </p:cBhvr>
                                      <p:to>
                                        <p:strVal val="visible"/>
                                      </p:to>
                                    </p:set>
                                    <p:animEffect transition="in" filter="fade">
                                      <p:cBhvr>
                                        <p:cTn id="387" dur="55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
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(SI) modelini «fizik dunyo bilan yopiq halqada» ishlaydigan to'liq kompyuter tizimiga aylantirish tamoyillarini o'rgatish. Oldingi mavzularda biz tezlatkichlar, taqsimlangan o'qitish, optimallashtirish va MLOps haqida gaplashdik; endi esa bu komponentlarni sensor, ijro mexanizmi (actuator), aloqa tarmog'i va inson-operator bilan birga yagona intellektual tizimga yig'ish masalasini ko'ramiz.</a:t>
            </a:r>
          </a:p>
          <a:p/>
          <a:p>
            <a:r>
              <a:t>Mavzuni o'zlashtirgach magistrant:</a:t>
            </a:r>
          </a:p>
          <a:p/>
          <a:p>
            <a:r>
              <a:t>Intellektual kompyuter tizimi (intelligent computer system) arxitekturasining qatlamlarini (sezish, aloqa, hisoblash, bilim, qaror, ta'sir) ajrata oladi va har bir qatlam uchun apparat-dasturiy yechim tanlay oladi.</a:t>
            </a:r>
          </a:p>
          <a:p/>
          <a:p>
            <a:r>
              <a:t>Kiber-fizik tizim (Cyber-Physical Systems, CPS) ning 5C arxitekturasini tushuntira oladi va uning oddiy o'rnatilgan tizim yoki IoT dan farqini asoslay oladi.</a:t>
            </a:r>
          </a:p>
          <a:p/>
          <a:p>
            <a:r>
              <a:t>Raqamli egizak (Digital Twin) ning uch komponentli modelini (fizik obyekt — virtual nusxa — ma'lumot oqimi) tuza oladi, uning yetuklik darajalarini (tavsiflovchi, diagnostik, bashoratli, buyuruvchi, avtonom) farqlay oladi.</a:t>
            </a:r>
          </a:p>
          <a:p/>
          <a:p>
            <a:r>
              <a:t>Avtonom hisoblash tizimlarining MAPE-K (Monitor–Analyze–Plan–Execute over shared Knowledge) halqasini amalda loyihalay oladi va avtonomlik darajalarini belgilay oladi.</a:t>
            </a:r>
          </a:p>
          <a:p/>
          <a:p>
            <a:r>
              <a:t>Python va scikit-learn yordamida sodda sanoat obyekti (markazdan qochma nasos) uchun raqamli egizak simulyatsiyasini, fizik model qoldig'i (residual) va mashinali o'qitish asosida anomaliya aniqlash hamda qaror qabul qilishni qo'llab-quvvatlash modulini yarata oladi.</a:t>
            </a:r>
          </a:p>
          <a:p/>
          <a:p>
            <a:r>
              <a:t>Mavzu fanning TN3 (SI tizimlari arxitekturasini loyihalash), TN5 (SI xizmatlarini joylashtirish va ekspluatatsiya qilish) va TN7 (sanoat masalalari uchun kompleks AI-enabled tizim ishlab chiqish) ta'lim natijalariga bevosita xizmat qiladi, shuningdek M6 (Edge AI), M9 (xavfsizlik) va M12 (MLOps) mavzulari bilan uzviy bog'langan.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(SI) modelini «fizik dunyo bilan yopiq halqada» ishlaydigan to'liq kompyuter tizimiga aylantirish tamoyillarini o'rgatish. Oldingi mavzularda biz tezlatkichlar, taqsimlangan o'qitish, optimallashtirish va MLOps haqida gaplashdik; endi esa bu komponentlarni sensor, ijro mexanizmi (actuator), aloqa tarmog'i va inson-operator bilan birga yagona intellektual tizimga yig'ish masalasini ko'ramiz.</a:t>
            </a:r>
          </a:p>
          <a:p/>
          <a:p>
            <a:r>
              <a:t>Mavzuni o'zlashtirgach magistrant:</a:t>
            </a:r>
          </a:p>
          <a:p/>
          <a:p>
            <a:r>
              <a:t>Intellektual kompyuter tizimi (intelligent computer system) arxitekturasining qatlamlarini (sezish, aloqa, hisoblash, bilim, qaror, ta'sir) ajrata oladi va har bir qatlam uchun apparat-dasturiy yechim tanlay oladi.</a:t>
            </a:r>
          </a:p>
          <a:p/>
          <a:p>
            <a:r>
              <a:t>Kiber-fizik tizim (Cyber-Physical Systems, CPS) ning 5C arxitekturasini tushuntira oladi va uning oddiy o'rnatilgan tizim yoki IoT dan farqini asoslay oladi.</a:t>
            </a:r>
          </a:p>
          <a:p/>
          <a:p>
            <a:r>
              <a:t>Raqamli egizak (Digital Twin) ning uch komponentli modelini (fizik obyekt — virtual nusxa — ma'lumot oqimi) tuza oladi, uning yetuklik darajalarini (tavsiflovchi, diagnostik, bashoratli, buyuruvchi, avtonom) farqlay oladi.</a:t>
            </a:r>
          </a:p>
          <a:p/>
          <a:p>
            <a:r>
              <a:t>Avtonom hisoblash tizimlarining MAPE-K (Monitor–Analyze–Plan–Execute over shared Knowledge) halqasini amalda loyihalay oladi va avtonomlik darajalarini belgilay oladi.</a:t>
            </a:r>
          </a:p>
          <a:p/>
          <a:p>
            <a:r>
              <a:t>Python va scikit-learn yordamida sodda sanoat obyekti (markazdan qochma nasos) uchun raqamli egizak simulyatsiyasini, fizik model qoldig'i (residual) va mashinali o'qitish asosida anomaliya aniqlash hamda qaror qabul qilishni qo'llab-quvvatlash modulini yarata oladi.</a:t>
            </a:r>
          </a:p>
          <a:p/>
          <a:p>
            <a:r>
              <a:t>Mavzu fanning TN3 (SI tizimlari arxitekturasini loyihalash), TN5 (SI xizmatlarini joylashtirish va ekspluatatsiya qilish) va TN7 (sanoat masalalari uchun kompleks AI-enabled tizim ishlab chiqish) ta'lim natijalariga bevosita xizmat qiladi, shuningdek M6 (Edge AI), M9 (xavfsizlik) va M12 (MLOps) mavzulari bilan uzviy bog'langan.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sanoatda SI modelining o'zi mahsulot emas. Bashorat qiluvchi model agar o'z natijasini o'z vaqtida, ishonchli tarzda va mos ko'rinishda boshqaruv tizimiga yoki operatorga yetkaza olmasa, u hech qanday iqtisodiy qiymat yaratmaydi. Shuning uchun so'nggi o'n yillikda «intellektual kompyuter tizimi» tushunchasi tor ma'nodagi «aqlli algoritm»dan keng ma'nodagi «sezadigan, fikrlaydigan va harakat qiladigan yopiq tizim»ga aylandi.</a:t>
            </a:r>
          </a:p>
          <a:p/>
          <a:p>
            <a:r>
              <a:t>Bu o'zgarishning uchta sanoat ildizi bor. Birinchisi — Germaniyada 2011-yilda e'lon qilingan «Industrie 4.0» tashabbusi, unda ishlab chiqarishning asosiy birligi sifatida aynan kiber-fizik tizim belgilangan. Ikkinchisi — Umumiy Elektr (General Electric) va Siemens kabi kompaniyalarning 2015–2018-yillarda gaz turbinalari, lokomotivlar va shamol generatorlari uchun raqamli egizaklarni ommaviy joriy etishi: GE o'sha davrda 1 milliondan ortiq egizak ishlayotganini e'lon qilgan edi. Uchinchisi — avtonom transport va robototexnikada SAE J3016 standartidagi avtonomlik darajalarining (0–5) amaliyotga kirishi, bu esa «qaror qabul qilish mas'uliyatining qaysi qismi mashinada, qaysi qismi insonda» degan savolni muhandislik masalasiga aylantirdi.</a:t>
            </a:r>
          </a:p>
          <a:p/>
          <a:p>
            <a:r>
              <a:t>O'zbekiston konteksti ham bundan mustasno emas: issiqlik elektr stansiyalari, Navoiy va Olmaliq kon-metallurgiya kombinatlaridagi nasos-kompressor xo'jaligi, suv xo'jaligidagi nasos stansiyalari, issiqxona agrokomplekslari — bularning barchasida minglab aylanuvchi mexanizmlar bor va ularning rejadan tashqari to'xtashi soatiga o'n minglab dollar zarar keltiradi. Bashoratli texnik xizmat (predictive maintenance) aynan shunday obyektlar uchun raqamli egizak va anomaliya aniqlashning eng tez o'zini oqlaydigan qo'llanilishidir. Shu sababli ma'ruzaning amaliy qismida biz aynan sanoat nasosini tanlaymiz.</a:t>
            </a:r>
          </a:p>
          <a:p/>
          <a:p>
            <a:r>
              <a:t>Muammo qo'yilishi quyidagicha: bizga fizik obyekt (nasos), undan keladigan sensor oqimi (bosim, sarf, tok, tebranish, harorat), obyektning fizik qonuniyatlari (nasosning o'xshashlik qonunlari) va tarixiy ma'lumotlar berilgan. Shunday kompyuter tizimini loyihalashimiz kerakki, u (a) obyekt holatini real vaqtda kuzatsin, (b) me'yordan chetlanishni erta aniqlasin, (c) chetlanish sababini taxmin qilsin va (d) operatorga yoki boshqaruv tizimiga asoslangan tavsiya bersin — va bularning barchasini ishonchlilik, kechikish va xavfsizlik talablari doirasida bajarsin.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Intellektual kompyuter tizimi deganda biz sezish (sensing), aloqa (communication), hisoblash (computing), bilim (knowledge), qaror (decision) va ta'sir (actuation) qatlamlaridan iborat, maqsadga yo'naltirilgan va muhit o'zgarishiga moslashuvchi tizimni tushunamiz. Bu ta'rif an'anaviy fon Neyman arxitekturasidan prinsipial farq qiladi: tizimning kirishi klaviatura emas, balki shovqinli, kechikuvchi va ba'zan yo'qoladigan sensor oqimi; chiqishi esa ekran emas, balki fizik ta'sir — klapanning ochilishi, chastota o'zgartirgichning burilishi, robot qo'lining harakati.</a:t>
            </a:r>
          </a:p>
          <a:p/>
          <a:p>
            <a:r>
              <a:t>Arxitekturani odatda uch «ufq» bo'yicha taqsimlaydilar. 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 Bulut ufqida esa modellarni qayta o'qitish, korxona miqyosidagi tahlil va uzoq muddatli saqlash amalga oshiriladi. Loyihachining asosiy vazifasi — har bir funksiyani qaysi ufqqa joylashtirishni kechikish byudjeti, o'tkazuvchanlik, xavfsizlik va narx bo'yicha asoslashdir.</a:t>
            </a:r>
          </a:p>
          <a:p/>
          <a:p>
            <a:r>
              <a:t>Tizimni baholashning asosiy mezonlari quyidagi jadvalda keltirilgan. E'tibor bering, bu yerda «aniqlik» (accuracy) faqat bitta ustun — sanoat tizimida qolgan mezonlar ko'pincha undan muhimroq bo'ladi.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a:p/>
          <a:p>
            <a:r>
              <a:t>Lee, Bagheri va Kao (2015) tomonidan taklif qilingan 5C arxitekturasi CPS ni loyihalashning amaliy yo'l xaritasi bo'lib xizmat qiladi:</a:t>
            </a:r>
          </a:p>
          <a:p/>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Avtonom hisoblash (autonomic computing) g'oyasini 2001-yilda IBM ilgari surgan; Kephart va Chess (2003) uni to'rtta «o'z-o'zini» xususiyati orqali ta'riflagan: o'z-o'zini sozlash (self-configuration), o'z-o'zini optimallashtirish (self-optimization), o'z-o'zini tiklash (self-healing) va o'z-o'zini himoyalash (self-protection). Bu xususiyatlarni amalga oshiruvchi standart naqsh — MAPE-K halqasi: Monitor (sensorlardan ma'lumot yig'ish), Analyze (holatni tahlil qilish, anomaliya va trendni aniqlash), Plan (harakat rejasini tuzish), Execute (ijro mexanizmlari orqali ta'sir) va bularning barchasi umumiy Knowledge (bilim bazasi: modellar, qoidalar, tarix) ustida ishlaydi.</a:t>
            </a:r>
          </a:p>
          <a:p/>
          <a:p>
            <a:r>
              <a:t>MAPE-K halqasi bilan raqamli egizak o'rtasidagi bog'liqlik bevosita: egizak — bu halqaning Knowledge va Analyze qismining materiallashgan ko'rinishi. Avtonomlik darajasini belgilashda SAE J3016 ga o'xshash shkala foydali: 0 — faqat ko'rsatish; 1 — tavsiya, inson tasdiqlaydi; 2 — tizim bajaradi, inson kuzatadi va bekor qila oladi (human-on-the-loop); 3 — tizim bajaradi, insonga faqat hisobot beradi; 4 — to'liq avtonom. Sanoatda SI asosidagi tizimlar odatda 1–2 darajadan boshlanadi va ishonch to'plangan sari ko'tariladi. Muhim muhandislik tamoyili: SI komponenti avtonomlik darajasidan qat'i nazar, an'anaviy, sertifikatlangan himoya halqasini (IEC 61508 / IEC 61511 bo'yicha funksional xavfsizlik) hech qachon almashtirmasligi kerak — u faqat uning ustiga qo'shiladi.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Qaror qabul qilishni qo'llab-quvvatlovchi tizim (Decision Support System, DSS) klassik ta'rifga ko'ra uch komponentdan iborat: ma'lumotlar bazasi, modellar bazasi va foydalanuvchi interfeysi. Intellektual DSS da modellar bazasiga ML modellari, bilimga asoslangan qoidalar va optimallashtirish modellari kiradi. Sanoat amaliyotida DSS loyihalashning uchta muhim jihati bor.</a:t>
            </a:r>
          </a:p>
          <a:p/>
          <a:p>
            <a:r>
              <a:t>Birinchidan, chiqish formati. Operator uchun «anomaliya bali 0,73» hech narsa anglatmaydi; unga «podshipnik tebranishi 48 soat ichida 2,1 marta oshdi, shunga o'xshash 7 holatdan 6 tasida 10 kun ichida podshipnik almashtirilgan; tavsiya: keyingi rejali to'xtashda tekshirish» kerak. Ikkinchidan, xarajat-foyda tahlili: noto'g'ri signal (false positive) rejali to'xtash xarajatiga, o'tkazib yuborilgan nosozlik (false negative) esa avariya xarajatiga teng; qaror chegarasi (threshold) aniqlik metrikasi bo'yicha emas, balki kutilgan xarajat minimumi bo'yicha tanlanadi. Uchinchidan, inson omilini hisobga olish: tez-tez bo'lmaydigan, tushuntirilmagan signal operatorning tizimga ishonchini yo'qotadi («signal charchoqi»); shuning uchun DSS har bir tavsiyaga hissa qo'shgan belgilarni va o'xshash tarixiy holatlarni ilova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biz markazdan qochma sanoat nasosi uchun gibrid raqamli egizakni Python da bosqichma-bosqich quramiz: fizik simulyator, sensor oqimi, fizik model qoldig'i, Isolation Forest asosidagi anomaliya detektori va xarajatga asoslangan qaror moduli. Muhit: Python 3.10+, numpy, pandas, scikit-learn (1.4 yoki yangiroq). GPU talab qilinmaydi — bu chekka serverda ishlashi mo'ljallangan yengil yechim.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nasosning «haqiqiy» fizik modelini yozamiz. U o'xshashlik qonunlariga asoslanadi va asta-sekin rivojlanuvchi podshipnik eskirishini o'z ichiga oladi: eskirish tebranish va haroratni oshiradi, foydali ish koeffitsientini biroz pasaytiradi.</a:t>
            </a:r>
          </a:p>
          <a:p/>
          <a:p>
            <a:r>
              <a:t>Nima bo'ldi va nega: biz ikki narsani qat'iy ajratdik — «haqiqiy» fizik holat (PumpPlant) va sensor orqali kuzatilgan holat (read_sensors). Real tizimda biz faqat ikkinchisini ko'ramiz; birinchisini esa raqamli egizak baholashi kerak. Eskirish parametri wear fizik modelda oshkor bo'lsa-da, sensorlarda bevosita o'lchanmaydi — bu nasos holatining yashirin o'zgaruvchisi.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60 kunlik telemetriya yaratamiz: dastlabki 40 kun sog'lom ish, so'nggi 20 kunda podshipnik asta-sekin eskiradi. Aylanish tezligi texnologik jarayon talabiga qarab o'zgarib turadi — bu muhim, chunki real nasos doim nominal rejimda ishlamaydi va oddiy chegaraviy signalizatsiya shuning uchun yomon ishlaydi.</a:t>
            </a:r>
          </a:p>
          <a:p/>
          <a:p>
            <a:r>
              <a:t>Nima bo'ldi va nega: 86 400 qatorli vaqtli qator oldik. true_wear ustuni faqat baholash uchun saqlanadi — real tizimda u mavjud emas va model o'qitishda ishlatilmaydi. Yuklama siklining mavjudligi tufayli tebranish va harorat sog'lom rejimda ham sezilarli o'zgarib turadi: masalan, tebranish 1,2–1,8 mm/s oralig'ida. Shuning uchun «tebranish 2,5 mm/s dan oshsa signal ber» kabi qoida eskirishning dastlabki bosqichini ushlamaydi, yuqori yuklamada esa yolg'on signal beradi.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Egizakning fizik qismi sifatida biz nominal (sog'lom) nasos uchun o'xshashlik qonunlaridan foydalanamiz. Egizak joriy aylanish tezligidan kelib chiqib, «sog'lom nasos qanday ko'rsatkich berishi kerak edi» ni hisoblaydi; kuzatilgan va kutilgan qiymat farqi — qoldiq (residual) — eskirishning asosiy belgisi bo'ladi.</a:t>
            </a:r>
          </a:p>
          <a:p/>
          <a:p>
            <a:r>
              <a:t>Nima bo'ldi va nega: qoldiqlar yuklamaga bog'liqlikni katta darajada «olib tashlaydi». Sog'lom davrda res_vib nolga yaqin va tarqalishi sensor shovqiniga teng (taxminan 0,08 mm/s), eskirish boshlangach u monoton o'sadi. Bir soatlik harakatlanuvchi o'rtacha shovqinni kamaytiradi va detektorni bitta tasodifiy sakrashdan himoyalaydi. Shu bilan birga biz qaror kechikishini ongli ravishda 1 soatga oshirdik — bu rejali texnik xizmat masalasi uchun maqbul, lekin himoya halqasi uchun emas.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sog'lom davr (dastlabki 30 kun) qoldiqlarida Isolation Forest (Liu, Ting va Zhou, 2008) modelini o'qitamiz. Bu algoritm nazoratsiz (unsupervised) ishlaydi: nosozlik yorliqlari talab qilinmaydi, bu sanoatda juda muhim, chunki haqiqiy avariyalar kam uchraydi va yorliqlanmagan.</a:t>
            </a:r>
          </a:p>
          <a:p/>
          <a:p>
            <a:r>
              <a:t>Nima bo'ldi va nega: score_samples manfiy qiymat qaytaradi (qancha kichik bo'lsa, shuncha anomal), shuning uchun ishorasini o'zgartirdik. Chegaralarni modelning contamination parametriga emas, balki sog'lom davr persentillariga bog'ladik — bu nazoratsiz detektorlarda yolg'on signal darajasini oshkor boshqarishning to'g'ri usuli. Bizning sinovlarimizda (natijalar taxminiy, tasodifiy urug'ga bog'liq) kunlik o'rtacha ball eskirish boshlanganidan 3–4 kun o'tib ogohlantirish chegarasidan, 7–9 kun o'tib esa signal chegarasidan oshadi, ya'ni haqiqiy buzilishgacha (60-kun) taxminan 10–12 kun zaxira qoladi. Sog'lom 40 kun davomida kunlik o'rtacha ball chegaradan oshmaydi; minutlik darajada esa taxminan 0,5 % yolg'on «uchqun»lar bo'ladi — ularni kunlik yoki soatlik agregatsiya yutib yuboradi.</a:t>
            </a:r>
          </a:p>
          <a:p/>
          <a:p>
            <a:r>
              <a:t>Taqqoslash uchun oddiy chegaraviy qoida (tebranish 2,5 mm/s dan oshsa signal) sinab ko'rilsa, u eskirish boshlangach 11–13 kun o'tibgina ishga tushadi, ya'ni egizak qoldiqlariga asoslangan detektor undan taxminan bir hafta oldinroq ogohlantiradi — bu rejali to'xtashni tashkil qilish uchun hal qiluvchi vaqtdir.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Detektor bali o'z-o'zidan qaror emas. Endi MAPE-K halqasining Plan qismini quramiz: anomaliya balini, qoldiqlarning hissasini va xarajat modelini birlashtirib, operatorga tushunarli tavsiya hosil qilamiz.</a:t>
            </a:r>
          </a:p>
          <a:p/>
          <a:p>
            <a:r>
              <a:t>Nima bo'ldi va nega: tavsiya uchta elementni birlashtiradi — ehtimollik, xarajat va tushuntirish. Qaror chegarasi oshkor iqtisodiy mezon bilan belgilanadi: nosozlik ehtimoli COST_PLANNED / COST_FAILURE = 0,067 dan oshsa, rejali to'xtash kutishdan arzon bo'ladi. Xarajat nisbati o'zgarsa (masalan, zaxira nasos bo'lsa, avariya xarajati pasayadi) chegara avtomatik siljiydi — modelni qayta o'qitish shart emas. Chiqishda res_vib va res_bearing_temp eng yuqori z-ball bilan ko'rinadi — bu operatorga aynan podshipnik muammosi haqida gapiradi, res_flow esa kichik bo'lib qoladi, demak gidravlik qism sog'lom.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Yakunda modulni real CPS halqasiga ulash sxemasini belgilaymiz. Chekka serverda (masalan, 4 yadroli sanoat kompyuteri yoki Jetson Orin Nano) MQTT obunachisi sensor xabarlarini qabul qiladi, qoldiqlarni hisoblaydi, modelni ONNX formatida (skl2onnx orqali eksport qilinadi) ishga tushiradi va natijani ikki yo'nalishga yuboradi: operator paneliga (Grafana) va MES/SCADA tizimiga OPC UA orqali. O'lchovlar (taxminiy): bitta minutlik xabarni qayta ishlash 1 ms dan kam, 300 daraxtli Isolation Forest ONNX modeli xotirada taxminan 2–3 MB, 1000 nasosli flot uchun bitta chekka server yetarli. Model va chegaralar MLOps registri orqali versiyalanadi (M12), haftalik drift tekshiruvi sog'lom davr persentillarini yangilaydi.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natijalari bir nechta muhim xulosaga olib keladi. Birinchidan, gibrid egizakning asosiy kuchi — fizik qoldiqlar yuklama o'zgarishini «yutib», ML modeliga faqat obyekt holatiga bog'liq signalni qoldirishida. Agar Isolation Forest xom sensor qiymatlarida o'qitilsa, yuqori yuklama kunlari anomaliya sifatida belgilanadi, yolg'on signal darajasi bir necha baravar oshadi va eskirishni aniqlash kechikadi. Bu kuzatuv umumiy tamoyilni tasdiqlaydi: sanoat SI tizimida eng qimmatli «belgi muhandisligi» — bu obyekt fizikasini modelga kiritish.</a:t>
            </a:r>
          </a:p>
          <a:p/>
          <a:p>
            <a:r>
              <a:t>Ikkinchidan, natijalar cheklovlarga ega. Simulyatorimiz faqat bitta nosozlik rejimini (podshipnik eskirishi) o'z ichiga oladi; real nasosda kavitatsiya, ishchi g'ildirak eroziyasi, zichlagich oqishi, elektr dvigatel nosozliklari bor, va ularning ba'zilari qoldiqlarda boshqacha «imzo» qoldiradi (kavitatsiya — bosim pasayishi va yuqori chastotali tebranish). Nazoratsiz detektor «nimadir noto'g'ri» deydi, lekin «nima» ekanini aytmaydi — diagnostika uchun yo yorliqlangan nosozliklar bazasi, yo ekspert qoidalari kerak. Shu sababli sanoatda detektor ko'pincha qoidalar dvigateli bilan birga ishlaydi.</a:t>
            </a:r>
          </a:p>
          <a:p/>
          <a:p>
            <a:r>
              <a:t>Uchinchidan, nosozlik ehtimolini ballga xaritalash misolda sodda chiziqli funksiya bilan qilingan; real tizimda bu kalibrlash tarixiy nosozliklar bo'yicha (masalan, Weibull taqsimoti yoki omon qolish tahlili orqali) amalga oshiriladi. Xarajatga asoslangan chegara esa faqat xarajatlar to'g'ri baholanganida ishlaydi — ko'p korxonada avariya xarajatini aniqlashning o'zi alohida loyiha.</a:t>
            </a:r>
          </a:p>
          <a:p/>
          <a:p>
            <a:r>
              <a:t>Muqobil yondashuvlar sifatida quyidagilarni ko'rish mumkin: avtokoder (autoencoder) asosidagi rekonstruksiya xatosi — ko'p sensorli murakkab obyektlar uchun kuchliroq, lekin o'qitish va tushuntirish qiyinroq; LSTM yoki Transformer asosidagi bashorat qoldiqlari — vaqt bog'liqligi kuchli jarayonlar uchun; fizikaga asoslangan to'liq egizak (hisoblash gidrodinamikasi, ko'p jismli dinamika) — aniqroq, lekin hisoblash jihatdan og'ir va kalibrlash talab qiladi. Flot darajasida ishlashda (yuzlab bir xil nasos) obyektlararo taqqoslash (fleet learning) yana bir kuchli signal beradi: bitta nasosning qoldig'i qolganlaridan sezilarli farq qilsa, bu obyektga xos muammo.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Xom sensor qiymatlarida detektor o'qitish. Yuklama, atrof harorati va mavsumiy omillar anomaliya sifatida ko'rinadi. Tavsiya: avval fizik yoki statistik normallashtirish (qoldiqlar, solishtirma ko'rsatkichlar), keyin ML.</a:t>
            </a:r>
          </a:p>
          <a:p/>
          <a:p>
            <a:r>
              <a:t>Vaqt tamg'asi semantikasini e'tiborsiz qoldirish. Hodisa vaqti bilan qabul qilish vaqti aralashtirilsa, o'qitish ma'lumotiga kelajak «sizib» kiradi va tizim ishga tushganda aniqlik keskin pasayadi. Tavsiya: ikkala vaqt tamg'asini saqlang, o'qitish va baholashda qat'iy xronologik bo'lish qo'llang.</a:t>
            </a:r>
          </a:p>
          <a:p/>
          <a:p>
            <a:r>
              <a:t>SI komponentini xavfsizlik halqasi o'rniga qo'yish. ML modeli sertifikatlanmagan va uning xatti-harakati tarqatish o'zgarganda bashorat qilib bo'lmaydi. Tavsiya: IEC 61508/61511 bo'yicha himoya PLC da qoladi; SI faqat tavsiya yoki optimallashtirish qatlamida ishlaydi, avtonomlik darajasi bosqichma-bosqich oshiriladi.</a:t>
            </a:r>
          </a:p>
          <a:p/>
          <a:p>
            <a:r>
              <a:t>Chegaralarni «aniqlik» bo'yicha tanlash. Sanoatda noto'g'ri va o'tkazib yuborilgan signal xarajatlari o'n baravar farq qiladi. Tavsiya: chegarani kutilgan xarajat minimumi bo'yicha tanlang va uni ishbilarmonlik ko'rsatkichlari bilan birga hujjatlashtiring.</a:t>
            </a:r>
          </a:p>
          <a:p/>
          <a:p>
            <a:r>
              <a:t>Tushuntirishsiz signal. Operator sababsiz signalga 2–3 martadan keyin ishonmay qo'yadi. Tavsiya: har signal bilan eng katta hissa qo'shgan belgilar, o'xshash tarixiy holatlar va tavsiya etilgan harakat birga yuborilsin.</a:t>
            </a:r>
          </a:p>
          <a:p/>
          <a:p>
            <a:r>
              <a:t>Egizakni bir marta kalibrlab, keyin unutish. Nasos ta'mirlangach yoki ishchi g'ildirak almashtirilgach «sog'lom» holat o'zgaradi va eski chegaralar yo doimiy signal beradi, yo hech narsa ko'rmaydi. Tavsiya: har texnik xizmatdan keyin qayta kalibrlash hodisasi (recalibration event) MLOps konveyeriga ulansin.</a:t>
            </a:r>
          </a:p>
          <a:p/>
          <a:p>
            <a:r>
              <a:t>Aloqa uzilishini hisobga olmaslik. Sanoat tarmog'ida xabarlar yo'qoladi va kechikadi. Tavsiya: chekka qurilmada mahalliy bufer va «so'nggi ma'lum holat» (last known good) mantiqi, uzilish vaqtida avtonom harakatlar to'xtatiladi.</a:t>
            </a:r>
          </a:p>
          <a:p/>
          <a:p>
            <a:r>
              <a:t>Sensor nosozligini obyekt nosozligi deb qabul qilish. Qotib qolgan yoki «sakrab turuvchi» sensor eng ko'p yolg'on signal manbai. Tavsiya: har sensor uchun alohida sog'lomlik tekshiruvi (diapazon, o'zgarish tezligi, boshqa sensorlar bilan fizik muvofiqlik) egizakka kiritilsin.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Xom sensor qiymatlarida detektor o'qitish. Yuklama, atrof harorati va mavsumiy omillar anomaliya sifatida ko'rinadi. Tavsiya: avval fizik yoki statistik normallashtirish (qoldiqlar, solishtirma ko'rsatkichlar), keyin ML.</a:t>
            </a:r>
          </a:p>
          <a:p/>
          <a:p>
            <a:r>
              <a:t>Vaqt tamg'asi semantikasini e'tiborsiz qoldirish. Hodisa vaqti bilan qabul qilish vaqti aralashtirilsa, o'qitish ma'lumotiga kelajak «sizib» kiradi va tizim ishga tushganda aniqlik keskin pasayadi. Tavsiya: ikkala vaqt tamg'asini saqlang, o'qitish va baholashda qat'iy xronologik bo'lish qo'llang.</a:t>
            </a:r>
          </a:p>
          <a:p/>
          <a:p>
            <a:r>
              <a:t>SI komponentini xavfsizlik halqasi o'rniga qo'yish. ML modeli sertifikatlanmagan va uning xatti-harakati tarqatish o'zgarganda bashorat qilib bo'lmaydi. Tavsiya: IEC 61508/61511 bo'yicha himoya PLC da qoladi; SI faqat tavsiya yoki optimallashtirish qatlamida ishlaydi, avtonomlik darajasi bosqichma-bosqich oshiriladi.</a:t>
            </a:r>
          </a:p>
          <a:p/>
          <a:p>
            <a:r>
              <a:t>Chegaralarni «aniqlik» bo'yicha tanlash. Sanoatda noto'g'ri va o'tkazib yuborilgan signal xarajatlari o'n baravar farq qiladi. Tavsiya: chegarani kutilgan xarajat minimumi bo'yicha tanlang va uni ishbilarmonlik ko'rsatkichlari bilan birga hujjatlashtiring.</a:t>
            </a:r>
          </a:p>
          <a:p/>
          <a:p>
            <a:r>
              <a:t>Tushuntirishsiz signal. Operator sababsiz signalga 2–3 martadan keyin ishonmay qo'yadi. Tavsiya: har signal bilan eng katta hissa qo'shgan belgilar, o'xshash tarixiy holatlar va tavsiya etilgan harakat birga yuborilsin.</a:t>
            </a:r>
          </a:p>
          <a:p/>
          <a:p>
            <a:r>
              <a:t>Egizakni bir marta kalibrlab, keyin unutish. Nasos ta'mirlangach yoki ishchi g'ildirak almashtirilgach «sog'lom» holat o'zgaradi va eski chegaralar yo doimiy signal beradi, yo hech narsa ko'rmaydi. Tavsiya: har texnik xizmatdan keyin qayta kalibrlash hodisasi (recalibration event) MLOps konveyeriga ulansin.</a:t>
            </a:r>
          </a:p>
          <a:p/>
          <a:p>
            <a:r>
              <a:t>Aloqa uzilishini hisobga olmaslik. Sanoat tarmog'ida xabarlar yo'qoladi va kechikadi. Tavsiya: chekka qurilmada mahalliy bufer va «so'nggi ma'lum holat» (last known good) mantiqi, uzilish vaqtida avtonom harakatlar to'xtatiladi.</a:t>
            </a:r>
          </a:p>
          <a:p/>
          <a:p>
            <a:r>
              <a:t>Sensor nosozligini obyekt nosozligi deb qabul qilish. Qotib qolgan yoki «sakrab turuvchi» sensor eng ko'p yolg'on signal manbai. Tavsiya: har sensor uchun alohida sog'lomlik tekshiruvi (diapazon, o'zgarish tezligi, boshqa sensorlar bilan fizik muvofiqlik) egizakka kiritilsin.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Oddiy o'rnatilgan boshqaruv tizimi, IoT yechimi va kiber-fizik tizim o'rtasidagi chegarani qanday mezonlar bilan o'tkazgan bo'lardingiz? Bitta nasos stansiyasini misol qilib har uchala variantni tasvirlang.</a:t>
            </a:r>
          </a:p>
          <a:p/>
          <a:p>
            <a:r>
              <a:t>Nega raqamli egizak uchun ikki tomonlama ma'lumot oqimi talab qilinadi? Faqat bir tomonlama (fizikdan virtualga) oqimli tizimni egizak deb atash mumkinmi va nima uchun?</a:t>
            </a:r>
          </a:p>
          <a:p/>
          <a:p>
            <a:r>
              <a:t>Gibrid egizakda fizik model qanchalik aniq bo'lishi kerak? Fizik model juda sodda yoki juda murakkab bo'lsa, qoldiqlarga asoslangan detektor qanday o'zini tutadi?</a:t>
            </a:r>
          </a:p>
          <a:p/>
          <a:p>
            <a:r>
              <a:t>MAPE-K halqasining qaysi bosqichlarini chekka qurilmaga, qaysilarini bulutga joylashtirgan bo'lardingiz? Javobingizni kechikish, o'tkazuvchanlik va xavfsizlik nuqtai nazaridan asoslang.</a:t>
            </a:r>
          </a:p>
          <a:p/>
          <a:p>
            <a:r>
              <a:t>Nazoratsiz anomaliya detektori uchun «aniqlik» metrikasi mavjud emas. Bunday tizimning sifatini ishga tushirishdan oldin va ishlash davomida qanday baholaysiz?</a:t>
            </a:r>
          </a:p>
          <a:p/>
          <a:p>
            <a:r>
              <a:t>Avtonomlik darajasini 1 dan 2 ga ko'tarish (tizim o'zi harakat qiladi, inson bekor qila oladi) uchun qanday texnik va tashkiliy dalillar to'planishi kerak?</a:t>
            </a:r>
          </a:p>
          <a:p/>
          <a:p>
            <a:r>
              <a:t>Xarajatga asoslangan qaror chegarasi avariya xarajati noma'lum yoki keng oraliqda bo'lganda qanday aniqlanadi? Sezgirlik tahlilini qanday o'tkazgan bo'lardingiz?</a:t>
            </a:r>
          </a:p>
          <a:p/>
          <a:p>
            <a:r>
              <a:t>Flotdagi 200 ta nasosdan 5 tasi boshqacha ishlab chiqaruvchidan bo'lsa, bitta umumiy egizak modelidan foydalanish mumkinmi? Qanday arxitektura yechimini taklif qilasiz?</a:t>
            </a:r>
          </a:p>
          <a:p/>
          <a:p>
            <a:r>
              <a:t>Raqamli egizak o'zi kiberxavfsizlik tahdidiga aylanishi mumkinmi? Egizakka noto'g'ri ma'lumot kiritish (data poisoning) fizik obyektga qanday ta'sir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Oddiy o'rnatilgan boshqaruv tizimi, IoT yechimi va kiber-fizik tizim o'rtasidagi chegarani qanday mezonlar bilan o'tkazgan bo'lardingiz? Bitta nasos stansiyasini misol qilib har uchala variantni tasvirlang.</a:t>
            </a:r>
          </a:p>
          <a:p/>
          <a:p>
            <a:r>
              <a:t>Nega raqamli egizak uchun ikki tomonlama ma'lumot oqimi talab qilinadi? Faqat bir tomonlama (fizikdan virtualga) oqimli tizimni egizak deb atash mumkinmi va nima uchun?</a:t>
            </a:r>
          </a:p>
          <a:p/>
          <a:p>
            <a:r>
              <a:t>Gibrid egizakda fizik model qanchalik aniq bo'lishi kerak? Fizik model juda sodda yoki juda murakkab bo'lsa, qoldiqlarga asoslangan detektor qanday o'zini tutadi?</a:t>
            </a:r>
          </a:p>
          <a:p/>
          <a:p>
            <a:r>
              <a:t>MAPE-K halqasining qaysi bosqichlarini chekka qurilmaga, qaysilarini bulutga joylashtirgan bo'lardingiz? Javobingizni kechikish, o'tkazuvchanlik va xavfsizlik nuqtai nazaridan asoslang.</a:t>
            </a:r>
          </a:p>
          <a:p/>
          <a:p>
            <a:r>
              <a:t>Nazoratsiz anomaliya detektori uchun «aniqlik» metrikasi mavjud emas. Bunday tizimning sifatini ishga tushirishdan oldin va ishlash davomida qanday baholaysiz?</a:t>
            </a:r>
          </a:p>
          <a:p/>
          <a:p>
            <a:r>
              <a:t>Avtonomlik darajasini 1 dan 2 ga ko'tarish (tizim o'zi harakat qiladi, inson bekor qila oladi) uchun qanday texnik va tashkiliy dalillar to'planishi kerak?</a:t>
            </a:r>
          </a:p>
          <a:p/>
          <a:p>
            <a:r>
              <a:t>Xarajatga asoslangan qaror chegarasi avariya xarajati noma'lum yoki keng oraliqda bo'lganda qanday aniqlanadi? Sezgirlik tahlilini qanday o'tkazgan bo'lardingiz?</a:t>
            </a:r>
          </a:p>
          <a:p/>
          <a:p>
            <a:r>
              <a:t>Flotdagi 200 ta nasosdan 5 tasi boshqacha ishlab chiqaruvchidan bo'lsa, bitta umumiy egizak modelidan foydalanish mumkinmi? Qanday arxitektura yechimini taklif qilasiz?</a:t>
            </a:r>
          </a:p>
          <a:p/>
          <a:p>
            <a:r>
              <a:t>Raqamli egizak o'zi kiberxavfsizlik tahdidiga aylanishi mumkinmi? Egizakka noto'g'ri ma'lumot kiritish (data poisoning) fizik obyektga qanday ta'sir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misoldagi simulyatorga ikkinchi nosozlik rejimi — kavitatsiyani qo'shing (bosimning 5–15 % pasayishi, tebranishning tez o'sishi, sarfning beqarorligi). Ikkala nosozlik rejimi uchun detektorning birinchi ogohlantirish kunini va yolg'on signal darajasini o'lchang; qoldiqlar «imzosi» bo'yicha ikki nosozlikni ajratuvchi sodda qoidalar dvigatelini yozing. Baholash mezonlari: simulyatorning fizik asoslanganligi (20 %), ikki rejimni aniqlash va ajratish sifati (30 %), xarajatga asoslangan qaror chegarasining asoslanishi (20 %), natijalar tahlili va cheklovlar muhokamasi (30 %).</a:t>
            </a:r>
          </a:p>
          <a:p/>
          <a:p>
            <a:r>
              <a:t>2-topshiriq (sillabusdagi 1-mustaqil ta'lim topshirig'iga bog'langan). Amazon ombor robotlari yoki Uber haydovchi tahlili kabi real SI mahsulotini CPS/raqamli egizak nuqtai nazaridan tahlil qiling: 5C qatlamlarini, MAPE-K halqasini, avtonomlik darajasini va qaror qo'llab-quvvatlash shaklini aniqlang; tizimning qaysi qismi fizikaga, qaysi qismi ma'lumotga asoslanganini baholang. Hisobot 5–7 sahifa, arxitektura sxemasi bilan. Baholash mezonlari: qatlamlar va halqaning to'g'ri aniqlanishi (40 %), ochiq manbalarga tayangan dalillar (30 %), tanqidiy tahlil va takomillashtirish takliflari (30 %).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domenga xos arxitekturalar va tizim darajasidagi loyihalash tamoyillari.</a:t>
            </a:r>
          </a:p>
          <a:p/>
          <a:p>
            <a:r>
              <a:t>[2] Kneusel, R. T. Artificial Intelligence Engineering: A Practical Guide for AI Applications. No Starch Press, 2023. — SI tizimlarini muhandislik mahsuloti sifatida loyihalash.</a:t>
            </a:r>
          </a:p>
          <a:p/>
          <a:p>
            <a:r>
              <a:t>[3] Amershi, S., et al. Machine Learning Engineering. MIT Press, 2025. — ML komponentlarini katta tizimga integratsiya qilish, kuzatuv va ekspluatatsiya.</a:t>
            </a:r>
          </a:p>
          <a:p/>
          <a:p>
            <a:r>
              <a:t>[7] https://pytorch.org — PyTorch hujjatlari (vaqtli qatorlar uchun neyron detektorlar muqobil yondashuv sifatida).</a:t>
            </a:r>
          </a:p>
          <a:p/>
          <a:p>
            <a:r>
              <a:t>[10] https://onnx.ai — ONNX formati, scikit-learn modellarini chekka qurilmaga eksport qilish.</a:t>
            </a:r>
          </a:p>
          <a:p/>
          <a:p>
            <a:r>
              <a:t>Lee, J., Bagheri, B., &amp; Kao, H.-A. A Cyber-Physical Systems architecture for Industry 4.0-based manufacturing systems. Manufacturing Letters, vol. 3, 2015, pp. 18–23. — 5C arxitekturasi.</a:t>
            </a:r>
          </a:p>
          <a:p/>
          <a:p>
            <a:r>
              <a:t>Grieves, M., &amp; Vickers, J. Digital Twin: Mitigating Unpredictable, Undesirable Emergent Behavior in Complex Systems. In: Transdisciplinary Perspectives on Complex Systems, Springer, 2017, pp. 85–113. — raqamli egizakning uch komponentli modeli.</a:t>
            </a:r>
          </a:p>
          <a:p/>
          <a:p>
            <a:r>
              <a:t>Kephart, J. O., &amp; Chess, D. M. The Vision of Autonomic Computing. IEEE Computer, vol. 36, no. 1, 2003, pp. 41–50. — MAPE-K halqasi va «o'z-o'zini» xususiyatlari.</a:t>
            </a:r>
          </a:p>
          <a:p/>
          <a:p>
            <a:r>
              <a:t>Liu, F. T., Ting, K. M., &amp; Zhou, Z.-H. Isolation Forest. Proceedings of the IEEE International Conference on Data Mining (ICDM), 2008, pp. 413–422.</a:t>
            </a:r>
          </a:p>
          <a:p/>
          <a:p>
            <a:r>
              <a:t>scikit-learn hujjatlari: https://scikit-learn.org/stable/modules/outlier_detection.html — nazoratsiz anomaliya aniqlash usullari.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domenga xos arxitekturalar va tizim darajasidagi loyihalash tamoyillari.</a:t>
            </a:r>
          </a:p>
          <a:p/>
          <a:p>
            <a:r>
              <a:t>[2] Kneusel, R. T. Artificial Intelligence Engineering: A Practical Guide for AI Applications. No Starch Press, 2023. — SI tizimlarini muhandislik mahsuloti sifatida loyihalash.</a:t>
            </a:r>
          </a:p>
          <a:p/>
          <a:p>
            <a:r>
              <a:t>[3] Amershi, S., et al. Machine Learning Engineering. MIT Press, 2025. — ML komponentlarini katta tizimga integratsiya qilish, kuzatuv va ekspluatatsiya.</a:t>
            </a:r>
          </a:p>
          <a:p/>
          <a:p>
            <a:r>
              <a:t>[7] https://pytorch.org — PyTorch hujjatlari (vaqtli qatorlar uchun neyron detektorlar muqobil yondashuv sifatida).</a:t>
            </a:r>
          </a:p>
          <a:p/>
          <a:p>
            <a:r>
              <a:t>[10] https://onnx.ai — ONNX formati, scikit-learn modellarini chekka qurilmaga eksport qilish.</a:t>
            </a:r>
          </a:p>
          <a:p/>
          <a:p>
            <a:r>
              <a:t>Lee, J., Bagheri, B., &amp; Kao, H.-A. A Cyber-Physical Systems architecture for Industry 4.0-based manufacturing systems. Manufacturing Letters, vol. 3, 2015, pp. 18–23. — 5C arxitekturasi.</a:t>
            </a:r>
          </a:p>
          <a:p/>
          <a:p>
            <a:r>
              <a:t>Grieves, M., &amp; Vickers, J. Digital Twin: Mitigating Unpredictable, Undesirable Emergent Behavior in Complex Systems. In: Transdisciplinary Perspectives on Complex Systems, Springer, 2017, pp. 85–113. — raqamli egizakning uch komponentli modeli.</a:t>
            </a:r>
          </a:p>
          <a:p/>
          <a:p>
            <a:r>
              <a:t>Kephart, J. O., &amp; Chess, D. M. The Vision of Autonomic Computing. IEEE Computer, vol. 36, no. 1, 2003, pp. 41–50. — MAPE-K halqasi va «o'z-o'zini» xususiyatlari.</a:t>
            </a:r>
          </a:p>
          <a:p/>
          <a:p>
            <a:r>
              <a:t>Liu, F. T., Ting, K. M., &amp; Zhou, Z.-H. Isolation Forest. Proceedings of the IEEE International Conference on Data Mining (ICDM), 2008, pp. 413–422.</a:t>
            </a:r>
          </a:p>
          <a:p/>
          <a:p>
            <a:r>
              <a:t>scikit-learn hujjatlari: https://scikit-learn.org/stable/modules/outlier_detection.html — nazoratsiz anomaliya aniqlash usullari.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M13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Intellektual kompyuter tizimlarini loyihalash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ma'ruzaning maqsadi — sun'iy intellekt (SI) modelini «fizik dunyo bilan yopiq halqada» ishlaydigan to'liq kompyuter tizimiga aylantirish tamoyillarini o'rgatish.</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magistrant: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Intellektual kompyuter tizimi (intelligent computer system) arxitekturasining qatlamlarini (sezish, aloqa, hisoblash, bilim, qaror, ta'sir) ajrata oladi va har bir qatlam uchun…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Kiber-fizik tizim (Cyber-Physical Systems, CPS) ning 5C arxitekturasini tushuntira oladi va uning oddiy o'rnatilgan tizim yoki IoT dan farqini asoslay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Raqamli egizak (Digital Twin) ning uch komponentli modelini (fizik obyekt — virtual nusxa — ma'lumot oqimi) tuza oladi, uning yetuklik darajalarini (tavsiflovchi, diagnostik, bashoratli,…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Avtonom hisoblash tizimlarining MAPE-K (Monitor–Analyze–Plan–Execute over shared Knowledge) halqasini amalda loyihalay oladi va avtonomlik darajalarini belgilay oladi.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Python va scikit-learn yordamida sodda sanoat obyekti (markazdan qochma nasos) uchun raqamli egizak simulyatsiyasini, fizik model qoldig'i (residual) va mashinali o'qitish asosida anomaliya…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TN3 (SI tizimlari arxitekturasini loyihalash), TN5 (SI xizmatlarini joylashtirish va ekspluatatsiya qilish) va TN7 (sanoat masalalari uchun kompleks AI-enabled tizim ishlab…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sanoatda SI modelining o'zi mahsulot emas.</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Bu o'zgarishning uchta sanoat ildizi bor.</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O'zbekiston konteksti ham bundan mustasno emas: issiqlik elektr stansiyalari, Navoiy va Olmaliq kon-metallurgiya kombinatlaridagi nasos-kompressor xo'jaligi, suv xo'jaligidagi nasos…</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Muammo qo'yilishi quyidagicha: bizga fizik obyekt (nasos), undan keladigan sensor oqimi (bosim, sarf, tok, tebranish, harorat), obyektning fizik qonuniyatlari (nasosning o'xshashlik…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Intellektual kompyuter tizimi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Intellektual kompyuter tizimi deganda biz sezish (sensing), aloqa (communication), hisoblash (computing), bilim (knowledge), qaror (decision) va ta'sir (actuation) qatlamlaridan iborat, maqsadga yo'naltirilgan va muhit o'zgarishiga moslashuvchi tizimni…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Arxitekturani odatda uch «ufq» bo'yicha taqsimlaydilar. Chekka (edge) ufqida sensorlarga yaqin joylashgan mikrokontrollerlar, dasturlanadigan mantiqiy kontrollerlar (PLC) va Jetson Orin, Intel Core Ultra NPU kabi chekka tezlatkichlar millisekund darajasidagi…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Tizimni baholashning asosiy mezonlari quyidagi jadvalda keltirilgan. E'tibor bering, bu yerda «aniqlik» (accuracy) faqat bitta ustun — sanoat tizimida qolgan mezonlar ko'pincha undan muhimroq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Intellektual kompyuter tizimi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Ma'nosi</a:t>
                      </a:r>
                    </a:p>
                  </a:txBody>
                  <a:tcPr>
                    <a:solidFill>
                      <a:srgbClr val="2D5C8F"/>
                    </a:solidFill>
                  </a:tcPr>
                </a:tc>
                <a:tc>
                  <a:txBody>
                    <a:bodyPr/>
                    <a:lstStyle/>
                    <a:p>
                      <a:r>
                        <a:rPr sz="1200" b="1">
                          <a:solidFill>
                            <a:srgbClr val="FFFFFF"/>
                          </a:solidFill>
                          <a:latin typeface="Calibri"/>
                        </a:rPr>
                        <a:t>Tipik talab (nasos stansiyasi misolida)</a:t>
                      </a:r>
                    </a:p>
                  </a:txBody>
                  <a:tcPr>
                    <a:solidFill>
                      <a:srgbClr val="2D5C8F"/>
                    </a:solidFill>
                  </a:tcPr>
                </a:tc>
              </a:tr>
              <a:tr h="520000">
                <a:tc>
                  <a:txBody>
                    <a:bodyPr/>
                    <a:lstStyle/>
                    <a:p>
                      <a:r>
                        <a:rPr sz="1200" b="0">
                          <a:solidFill>
                            <a:srgbClr val="1B2430"/>
                          </a:solidFill>
                          <a:latin typeface="Calibri"/>
                        </a:rPr>
                        <a:t>Kechikish (latency)</a:t>
                      </a:r>
                    </a:p>
                  </a:txBody>
                  <a:tcPr>
                    <a:solidFill>
                      <a:srgbClr val="F1F4F8"/>
                    </a:solidFill>
                  </a:tcPr>
                </a:tc>
                <a:tc>
                  <a:txBody>
                    <a:bodyPr/>
                    <a:lstStyle/>
                    <a:p>
                      <a:r>
                        <a:rPr sz="1200" b="0">
                          <a:solidFill>
                            <a:srgbClr val="1B2430"/>
                          </a:solidFill>
                          <a:latin typeface="Calibri"/>
                        </a:rPr>
                        <a:t>sensor hodisasidan ta'sirgacha vaqt</a:t>
                      </a:r>
                    </a:p>
                  </a:txBody>
                  <a:tcPr>
                    <a:solidFill>
                      <a:srgbClr val="F1F4F8"/>
                    </a:solidFill>
                  </a:tcPr>
                </a:tc>
                <a:tc>
                  <a:txBody>
                    <a:bodyPr/>
                    <a:lstStyle/>
                    <a:p>
                      <a:r>
                        <a:rPr sz="1200" b="0">
                          <a:solidFill>
                            <a:srgbClr val="1B2430"/>
                          </a:solidFill>
                          <a:latin typeface="Calibri"/>
                        </a:rPr>
                        <a:t>himoya halqasi 10–50 ms, tavsiya halqasi 1–10 s</a:t>
                      </a:r>
                    </a:p>
                  </a:txBody>
                  <a:tcPr>
                    <a:solidFill>
                      <a:srgbClr val="F1F4F8"/>
                    </a:solidFill>
                  </a:tcPr>
                </a:tc>
              </a:tr>
              <a:tr h="520000">
                <a:tc>
                  <a:txBody>
                    <a:bodyPr/>
                    <a:lstStyle/>
                    <a:p>
                      <a:r>
                        <a:rPr sz="1200" b="0">
                          <a:solidFill>
                            <a:srgbClr val="1B2430"/>
                          </a:solidFill>
                          <a:latin typeface="Calibri"/>
                        </a:rPr>
                        <a:t>Determinizm</a:t>
                      </a:r>
                    </a:p>
                  </a:txBody>
                  <a:tcPr>
                    <a:solidFill>
                      <a:srgbClr val="FFFFFF"/>
                    </a:solidFill>
                  </a:tcPr>
                </a:tc>
                <a:tc>
                  <a:txBody>
                    <a:bodyPr/>
                    <a:lstStyle/>
                    <a:p>
                      <a:r>
                        <a:rPr sz="1200" b="0">
                          <a:solidFill>
                            <a:srgbClr val="1B2430"/>
                          </a:solidFill>
                          <a:latin typeface="Calibri"/>
                        </a:rPr>
                        <a:t>reaksiya vaqtining tarqalishi (jitter)</a:t>
                      </a:r>
                    </a:p>
                  </a:txBody>
                  <a:tcPr>
                    <a:solidFill>
                      <a:srgbClr val="FFFFFF"/>
                    </a:solidFill>
                  </a:tcPr>
                </a:tc>
                <a:tc>
                  <a:txBody>
                    <a:bodyPr/>
                    <a:lstStyle/>
                    <a:p>
                      <a:r>
                        <a:rPr sz="1200" b="0">
                          <a:solidFill>
                            <a:srgbClr val="1B2430"/>
                          </a:solidFill>
                          <a:latin typeface="Calibri"/>
                        </a:rPr>
                        <a:t>himoya halqasida 1 ms dan kam</a:t>
                      </a:r>
                    </a:p>
                  </a:txBody>
                  <a:tcPr>
                    <a:solidFill>
                      <a:srgbClr val="FFFFFF"/>
                    </a:solidFill>
                  </a:tcPr>
                </a:tc>
              </a:tr>
              <a:tr h="520000">
                <a:tc>
                  <a:txBody>
                    <a:bodyPr/>
                    <a:lstStyle/>
                    <a:p>
                      <a:r>
                        <a:rPr sz="1200" b="0">
                          <a:solidFill>
                            <a:srgbClr val="1B2430"/>
                          </a:solidFill>
                          <a:latin typeface="Calibri"/>
                        </a:rPr>
                        <a:t>Ishonchlilik</a:t>
                      </a:r>
                    </a:p>
                  </a:txBody>
                  <a:tcPr>
                    <a:solidFill>
                      <a:srgbClr val="F1F4F8"/>
                    </a:solidFill>
                  </a:tcPr>
                </a:tc>
                <a:tc>
                  <a:txBody>
                    <a:bodyPr/>
                    <a:lstStyle/>
                    <a:p>
                      <a:r>
                        <a:rPr sz="1200" b="0">
                          <a:solidFill>
                            <a:srgbClr val="1B2430"/>
                          </a:solidFill>
                          <a:latin typeface="Calibri"/>
                        </a:rPr>
                        <a:t>ishdan chiqishlar orasidagi o'rtacha vaqt (MTBF)</a:t>
                      </a:r>
                    </a:p>
                  </a:txBody>
                  <a:tcPr>
                    <a:solidFill>
                      <a:srgbClr val="F1F4F8"/>
                    </a:solidFill>
                  </a:tcPr>
                </a:tc>
                <a:tc>
                  <a:txBody>
                    <a:bodyPr/>
                    <a:lstStyle/>
                    <a:p>
                      <a:r>
                        <a:rPr sz="1200" b="0">
                          <a:solidFill>
                            <a:srgbClr val="1B2430"/>
                          </a:solidFill>
                          <a:latin typeface="Calibri"/>
                        </a:rPr>
                        <a:t>yiliga 99,9–99,99 % tayyorlik</a:t>
                      </a:r>
                    </a:p>
                  </a:txBody>
                  <a:tcPr>
                    <a:solidFill>
                      <a:srgbClr val="F1F4F8"/>
                    </a:solidFill>
                  </a:tcPr>
                </a:tc>
              </a:tr>
              <a:tr h="520000">
                <a:tc>
                  <a:txBody>
                    <a:bodyPr/>
                    <a:lstStyle/>
                    <a:p>
                      <a:r>
                        <a:rPr sz="1200" b="0">
                          <a:solidFill>
                            <a:srgbClr val="1B2430"/>
                          </a:solidFill>
                          <a:latin typeface="Calibri"/>
                        </a:rPr>
                        <a:t>Xavfsiz holatga o'tish (fail-safe)</a:t>
                      </a:r>
                    </a:p>
                  </a:txBody>
                  <a:tcPr>
                    <a:solidFill>
                      <a:srgbClr val="FFFFFF"/>
                    </a:solidFill>
                  </a:tcPr>
                </a:tc>
                <a:tc>
                  <a:txBody>
                    <a:bodyPr/>
                    <a:lstStyle/>
                    <a:p>
                      <a:r>
                        <a:rPr sz="1200" b="0">
                          <a:solidFill>
                            <a:srgbClr val="1B2430"/>
                          </a:solidFill>
                          <a:latin typeface="Calibri"/>
                        </a:rPr>
                        <a:t>SI komponenti ishdan chiqsa nima bo'ladi</a:t>
                      </a:r>
                    </a:p>
                  </a:txBody>
                  <a:tcPr>
                    <a:solidFill>
                      <a:srgbClr val="FFFFFF"/>
                    </a:solidFill>
                  </a:tcPr>
                </a:tc>
                <a:tc>
                  <a:txBody>
                    <a:bodyPr/>
                    <a:lstStyle/>
                    <a:p>
                      <a:r>
                        <a:rPr sz="1200" b="0">
                          <a:solidFill>
                            <a:srgbClr val="1B2430"/>
                          </a:solidFill>
                          <a:latin typeface="Calibri"/>
                        </a:rPr>
                        <a:t>an'anaviy PLC himoyasi saqlanadi</a:t>
                      </a:r>
                    </a:p>
                  </a:txBody>
                  <a:tcPr>
                    <a:solidFill>
                      <a:srgbClr val="FFFFFF"/>
                    </a:solidFill>
                  </a:tcPr>
                </a:tc>
              </a:tr>
              <a:tr h="520000">
                <a:tc>
                  <a:txBody>
                    <a:bodyPr/>
                    <a:lstStyle/>
                    <a:p>
                      <a:r>
                        <a:rPr sz="1200" b="0">
                          <a:solidFill>
                            <a:srgbClr val="1B2430"/>
                          </a:solidFill>
                          <a:latin typeface="Calibri"/>
                        </a:rPr>
                        <a:t>Tushuntirilish</a:t>
                      </a:r>
                    </a:p>
                  </a:txBody>
                  <a:tcPr>
                    <a:solidFill>
                      <a:srgbClr val="F1F4F8"/>
                    </a:solidFill>
                  </a:tcPr>
                </a:tc>
                <a:tc>
                  <a:txBody>
                    <a:bodyPr/>
                    <a:lstStyle/>
                    <a:p>
                      <a:r>
                        <a:rPr sz="1200" b="0">
                          <a:solidFill>
                            <a:srgbClr val="1B2430"/>
                          </a:solidFill>
                          <a:latin typeface="Calibri"/>
                        </a:rPr>
                        <a:t>tavsiya sababi operatorga ko'rinadimi</a:t>
                      </a:r>
                    </a:p>
                  </a:txBody>
                  <a:tcPr>
                    <a:solidFill>
                      <a:srgbClr val="F1F4F8"/>
                    </a:solidFill>
                  </a:tcPr>
                </a:tc>
                <a:tc>
                  <a:txBody>
                    <a:bodyPr/>
                    <a:lstStyle/>
                    <a:p>
                      <a:r>
                        <a:rPr sz="1200" b="0">
                          <a:solidFill>
                            <a:srgbClr val="1B2430"/>
                          </a:solidFill>
                          <a:latin typeface="Calibri"/>
                        </a:rPr>
                        <a:t>har tavsiyada asosiy belgilar ko'rsatiladi</a:t>
                      </a:r>
                    </a:p>
                  </a:txBody>
                  <a:tcPr>
                    <a:solidFill>
                      <a:srgbClr val="F1F4F8"/>
                    </a:solidFill>
                  </a:tcPr>
                </a:tc>
              </a:tr>
              <a:tr h="520000">
                <a:tc>
                  <a:txBody>
                    <a:bodyPr/>
                    <a:lstStyle/>
                    <a:p>
                      <a:r>
                        <a:rPr sz="1200" b="0">
                          <a:solidFill>
                            <a:srgbClr val="1B2430"/>
                          </a:solidFill>
                          <a:latin typeface="Calibri"/>
                        </a:rPr>
                        <a:t>Energiya va narx</a:t>
                      </a:r>
                    </a:p>
                  </a:txBody>
                  <a:tcPr>
                    <a:solidFill>
                      <a:srgbClr val="FFFFFF"/>
                    </a:solidFill>
                  </a:tcPr>
                </a:tc>
                <a:tc>
                  <a:txBody>
                    <a:bodyPr/>
                    <a:lstStyle/>
                    <a:p>
                      <a:r>
                        <a:rPr sz="1200" b="0">
                          <a:solidFill>
                            <a:srgbClr val="1B2430"/>
                          </a:solidFill>
                          <a:latin typeface="Calibri"/>
                        </a:rPr>
                        <a:t>chekka qurilma va aloqa xarajati</a:t>
                      </a:r>
                    </a:p>
                  </a:txBody>
                  <a:tcPr>
                    <a:solidFill>
                      <a:srgbClr val="FFFFFF"/>
                    </a:solidFill>
                  </a:tcPr>
                </a:tc>
                <a:tc>
                  <a:txBody>
                    <a:bodyPr/>
                    <a:lstStyle/>
                    <a:p>
                      <a:r>
                        <a:rPr sz="1200" b="0">
                          <a:solidFill>
                            <a:srgbClr val="1B2430"/>
                          </a:solidFill>
                          <a:latin typeface="Calibri"/>
                        </a:rPr>
                        <a:t>obyekt boshiga yiliga bir necha yuz dollar</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Kiber-fizik tizimlar (Cyber-Physical Systems)</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«Cyber-Physical Systems» atamasini 2006-yilda AQSh Milliy ilmiy jamg'armasi (NSF) xodimi Helen Gill kiritgan. CPS — bu hisoblash (kiber) va fizik jarayonlarning shunday chambarchas birlashuviki, unda fizik jarayon hisoblashga, hisoblash esa fizik jarayonga…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Lee, Bagheri va Kao (2015) tomonidan taklif qilingan 5C arxitekturasi CPS ni loyihalashning amaliy yo'l xaritasi bo'lib xizmat qiladi: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CPS loyihalashdagi asosiy muhandislik qiyinchiligi — vaqt semantikasi. Dasturiy ta'minotda «hodisa A hodisa B dan oldin bo'ldi» degan tushuncha tarmoq kechikishlari va turli soatlar tufayli noaniq bo'lib qoladi.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Kiber-fizik tizimlar (Cyber-Physical Systems)</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Qatlam</a:t>
                      </a:r>
                    </a:p>
                  </a:txBody>
                  <a:tcPr>
                    <a:solidFill>
                      <a:srgbClr val="2D5C8F"/>
                    </a:solidFill>
                  </a:tcPr>
                </a:tc>
                <a:tc>
                  <a:txBody>
                    <a:bodyPr/>
                    <a:lstStyle/>
                    <a:p>
                      <a:r>
                        <a:rPr sz="1200" b="1">
                          <a:solidFill>
                            <a:srgbClr val="FFFFFF"/>
                          </a:solidFill>
                          <a:latin typeface="Calibri"/>
                        </a:rPr>
                        <a:t>Nomi</a:t>
                      </a:r>
                    </a:p>
                  </a:txBody>
                  <a:tcPr>
                    <a:solidFill>
                      <a:srgbClr val="2D5C8F"/>
                    </a:solidFill>
                  </a:tcPr>
                </a:tc>
                <a:tc>
                  <a:txBody>
                    <a:bodyPr/>
                    <a:lstStyle/>
                    <a:p>
                      <a:r>
                        <a:rPr sz="1200" b="1">
                          <a:solidFill>
                            <a:srgbClr val="FFFFFF"/>
                          </a:solidFill>
                          <a:latin typeface="Calibri"/>
                        </a:rPr>
                        <a:t>Vazifasi</a:t>
                      </a:r>
                    </a:p>
                  </a:txBody>
                  <a:tcPr>
                    <a:solidFill>
                      <a:srgbClr val="2D5C8F"/>
                    </a:solidFill>
                  </a:tcPr>
                </a:tc>
                <a:tc>
                  <a:txBody>
                    <a:bodyPr/>
                    <a:lstStyle/>
                    <a:p>
                      <a:r>
                        <a:rPr sz="1200" b="1">
                          <a:solidFill>
                            <a:srgbClr val="FFFFFF"/>
                          </a:solidFill>
                          <a:latin typeface="Calibri"/>
                        </a:rPr>
                        <a:t>Texnologiya misoli</a:t>
                      </a:r>
                    </a:p>
                  </a:txBody>
                  <a:tcPr>
                    <a:solidFill>
                      <a:srgbClr val="2D5C8F"/>
                    </a:solidFill>
                  </a:tcPr>
                </a:tc>
              </a:tr>
              <a:tr h="520000">
                <a:tc>
                  <a:txBody>
                    <a:bodyPr/>
                    <a:lstStyle/>
                    <a:p>
                      <a:r>
                        <a:rPr sz="1200" b="0">
                          <a:solidFill>
                            <a:srgbClr val="1B2430"/>
                          </a:solidFill>
                          <a:latin typeface="Calibri"/>
                        </a:rPr>
                        <a:t>1C</a:t>
                      </a:r>
                    </a:p>
                  </a:txBody>
                  <a:tcPr>
                    <a:solidFill>
                      <a:srgbClr val="F1F4F8"/>
                    </a:solidFill>
                  </a:tcPr>
                </a:tc>
                <a:tc>
                  <a:txBody>
                    <a:bodyPr/>
                    <a:lstStyle/>
                    <a:p>
                      <a:r>
                        <a:rPr sz="1200" b="0">
                          <a:solidFill>
                            <a:srgbClr val="1B2430"/>
                          </a:solidFill>
                          <a:latin typeface="Calibri"/>
                        </a:rPr>
                        <a:t>Connection (ulanish)</a:t>
                      </a:r>
                    </a:p>
                  </a:txBody>
                  <a:tcPr>
                    <a:solidFill>
                      <a:srgbClr val="F1F4F8"/>
                    </a:solidFill>
                  </a:tcPr>
                </a:tc>
                <a:tc>
                  <a:txBody>
                    <a:bodyPr/>
                    <a:lstStyle/>
                    <a:p>
                      <a:r>
                        <a:rPr sz="1200" b="0">
                          <a:solidFill>
                            <a:srgbClr val="1B2430"/>
                          </a:solidFill>
                          <a:latin typeface="Calibri"/>
                        </a:rPr>
                        <a:t>ishonchli sensor ma'lumotini olish</a:t>
                      </a:r>
                    </a:p>
                  </a:txBody>
                  <a:tcPr>
                    <a:solidFill>
                      <a:srgbClr val="F1F4F8"/>
                    </a:solidFill>
                  </a:tcPr>
                </a:tc>
                <a:tc>
                  <a:txBody>
                    <a:bodyPr/>
                    <a:lstStyle/>
                    <a:p>
                      <a:r>
                        <a:rPr sz="1200" b="0">
                          <a:solidFill>
                            <a:srgbClr val="1B2430"/>
                          </a:solidFill>
                          <a:latin typeface="Calibri"/>
                        </a:rPr>
                        <a:t>OPC UA, MQTT, Modbus TCP, 5G URLLC</a:t>
                      </a:r>
                    </a:p>
                  </a:txBody>
                  <a:tcPr>
                    <a:solidFill>
                      <a:srgbClr val="F1F4F8"/>
                    </a:solidFill>
                  </a:tcPr>
                </a:tc>
              </a:tr>
              <a:tr h="520000">
                <a:tc>
                  <a:txBody>
                    <a:bodyPr/>
                    <a:lstStyle/>
                    <a:p>
                      <a:r>
                        <a:rPr sz="1200" b="0">
                          <a:solidFill>
                            <a:srgbClr val="1B2430"/>
                          </a:solidFill>
                          <a:latin typeface="Calibri"/>
                        </a:rPr>
                        <a:t>2C</a:t>
                      </a:r>
                    </a:p>
                  </a:txBody>
                  <a:tcPr>
                    <a:solidFill>
                      <a:srgbClr val="FFFFFF"/>
                    </a:solidFill>
                  </a:tcPr>
                </a:tc>
                <a:tc>
                  <a:txBody>
                    <a:bodyPr/>
                    <a:lstStyle/>
                    <a:p>
                      <a:r>
                        <a:rPr sz="1200" b="0">
                          <a:solidFill>
                            <a:srgbClr val="1B2430"/>
                          </a:solidFill>
                          <a:latin typeface="Calibri"/>
                        </a:rPr>
                        <a:t>Conversion (aylantirish)</a:t>
                      </a:r>
                    </a:p>
                  </a:txBody>
                  <a:tcPr>
                    <a:solidFill>
                      <a:srgbClr val="FFFFFF"/>
                    </a:solidFill>
                  </a:tcPr>
                </a:tc>
                <a:tc>
                  <a:txBody>
                    <a:bodyPr/>
                    <a:lstStyle/>
                    <a:p>
                      <a:r>
                        <a:rPr sz="1200" b="0">
                          <a:solidFill>
                            <a:srgbClr val="1B2430"/>
                          </a:solidFill>
                          <a:latin typeface="Calibri"/>
                        </a:rPr>
                        <a:t>signaldan belgiga o'tish</a:t>
                      </a:r>
                    </a:p>
                  </a:txBody>
                  <a:tcPr>
                    <a:solidFill>
                      <a:srgbClr val="FFFFFF"/>
                    </a:solidFill>
                  </a:tcPr>
                </a:tc>
                <a:tc>
                  <a:txBody>
                    <a:bodyPr/>
                    <a:lstStyle/>
                    <a:p>
                      <a:r>
                        <a:rPr sz="1200" b="0">
                          <a:solidFill>
                            <a:srgbClr val="1B2430"/>
                          </a:solidFill>
                          <a:latin typeface="Calibri"/>
                        </a:rPr>
                        <a:t>FFT, RMS, statistik belgilar, chekka SI</a:t>
                      </a:r>
                    </a:p>
                  </a:txBody>
                  <a:tcPr>
                    <a:solidFill>
                      <a:srgbClr val="FFFFFF"/>
                    </a:solidFill>
                  </a:tcPr>
                </a:tc>
              </a:tr>
              <a:tr h="520000">
                <a:tc>
                  <a:txBody>
                    <a:bodyPr/>
                    <a:lstStyle/>
                    <a:p>
                      <a:r>
                        <a:rPr sz="1200" b="0">
                          <a:solidFill>
                            <a:srgbClr val="1B2430"/>
                          </a:solidFill>
                          <a:latin typeface="Calibri"/>
                        </a:rPr>
                        <a:t>3C</a:t>
                      </a:r>
                    </a:p>
                  </a:txBody>
                  <a:tcPr>
                    <a:solidFill>
                      <a:srgbClr val="F1F4F8"/>
                    </a:solidFill>
                  </a:tcPr>
                </a:tc>
                <a:tc>
                  <a:txBody>
                    <a:bodyPr/>
                    <a:lstStyle/>
                    <a:p>
                      <a:r>
                        <a:rPr sz="1200" b="0">
                          <a:solidFill>
                            <a:srgbClr val="1B2430"/>
                          </a:solidFill>
                          <a:latin typeface="Calibri"/>
                        </a:rPr>
                        <a:t>Cyber (kiber)</a:t>
                      </a:r>
                    </a:p>
                  </a:txBody>
                  <a:tcPr>
                    <a:solidFill>
                      <a:srgbClr val="F1F4F8"/>
                    </a:solidFill>
                  </a:tcPr>
                </a:tc>
                <a:tc>
                  <a:txBody>
                    <a:bodyPr/>
                    <a:lstStyle/>
                    <a:p>
                      <a:r>
                        <a:rPr sz="1200" b="0">
                          <a:solidFill>
                            <a:srgbClr val="1B2430"/>
                          </a:solidFill>
                          <a:latin typeface="Calibri"/>
                        </a:rPr>
                        <a:t>obyektning raqamli nusxasi, flotdagi taqqoslash</a:t>
                      </a:r>
                    </a:p>
                  </a:txBody>
                  <a:tcPr>
                    <a:solidFill>
                      <a:srgbClr val="F1F4F8"/>
                    </a:solidFill>
                  </a:tcPr>
                </a:tc>
                <a:tc>
                  <a:txBody>
                    <a:bodyPr/>
                    <a:lstStyle/>
                    <a:p>
                      <a:r>
                        <a:rPr sz="1200" b="0">
                          <a:solidFill>
                            <a:srgbClr val="1B2430"/>
                          </a:solidFill>
                          <a:latin typeface="Calibri"/>
                        </a:rPr>
                        <a:t>raqamli egizak, vaqtli qatorlar bazasi</a:t>
                      </a:r>
                    </a:p>
                  </a:txBody>
                  <a:tcPr>
                    <a:solidFill>
                      <a:srgbClr val="F1F4F8"/>
                    </a:solidFill>
                  </a:tcPr>
                </a:tc>
              </a:tr>
              <a:tr h="520000">
                <a:tc>
                  <a:txBody>
                    <a:bodyPr/>
                    <a:lstStyle/>
                    <a:p>
                      <a:r>
                        <a:rPr sz="1200" b="0">
                          <a:solidFill>
                            <a:srgbClr val="1B2430"/>
                          </a:solidFill>
                          <a:latin typeface="Calibri"/>
                        </a:rPr>
                        <a:t>4C</a:t>
                      </a:r>
                    </a:p>
                  </a:txBody>
                  <a:tcPr>
                    <a:solidFill>
                      <a:srgbClr val="FFFFFF"/>
                    </a:solidFill>
                  </a:tcPr>
                </a:tc>
                <a:tc>
                  <a:txBody>
                    <a:bodyPr/>
                    <a:lstStyle/>
                    <a:p>
                      <a:r>
                        <a:rPr sz="1200" b="0">
                          <a:solidFill>
                            <a:srgbClr val="1B2430"/>
                          </a:solidFill>
                          <a:latin typeface="Calibri"/>
                        </a:rPr>
                        <a:t>Cognition (anglash)</a:t>
                      </a:r>
                    </a:p>
                  </a:txBody>
                  <a:tcPr>
                    <a:solidFill>
                      <a:srgbClr val="FFFFFF"/>
                    </a:solidFill>
                  </a:tcPr>
                </a:tc>
                <a:tc>
                  <a:txBody>
                    <a:bodyPr/>
                    <a:lstStyle/>
                    <a:p>
                      <a:r>
                        <a:rPr sz="1200" b="0">
                          <a:solidFill>
                            <a:srgbClr val="1B2430"/>
                          </a:solidFill>
                          <a:latin typeface="Calibri"/>
                        </a:rPr>
                        <a:t>diagnostika, bashorat, vizualizatsiya</a:t>
                      </a:r>
                    </a:p>
                  </a:txBody>
                  <a:tcPr>
                    <a:solidFill>
                      <a:srgbClr val="FFFFFF"/>
                    </a:solidFill>
                  </a:tcPr>
                </a:tc>
                <a:tc>
                  <a:txBody>
                    <a:bodyPr/>
                    <a:lstStyle/>
                    <a:p>
                      <a:r>
                        <a:rPr sz="1200" b="0">
                          <a:solidFill>
                            <a:srgbClr val="1B2430"/>
                          </a:solidFill>
                          <a:latin typeface="Calibri"/>
                        </a:rPr>
                        <a:t>ML modellari, qaror qo'llab-quvvatlash</a:t>
                      </a:r>
                    </a:p>
                  </a:txBody>
                  <a:tcPr>
                    <a:solidFill>
                      <a:srgbClr val="FFFFFF"/>
                    </a:solidFill>
                  </a:tcPr>
                </a:tc>
              </a:tr>
              <a:tr h="520000">
                <a:tc>
                  <a:txBody>
                    <a:bodyPr/>
                    <a:lstStyle/>
                    <a:p>
                      <a:r>
                        <a:rPr sz="1200" b="0">
                          <a:solidFill>
                            <a:srgbClr val="1B2430"/>
                          </a:solidFill>
                          <a:latin typeface="Calibri"/>
                        </a:rPr>
                        <a:t>5C</a:t>
                      </a:r>
                    </a:p>
                  </a:txBody>
                  <a:tcPr>
                    <a:solidFill>
                      <a:srgbClr val="F1F4F8"/>
                    </a:solidFill>
                  </a:tcPr>
                </a:tc>
                <a:tc>
                  <a:txBody>
                    <a:bodyPr/>
                    <a:lstStyle/>
                    <a:p>
                      <a:r>
                        <a:rPr sz="1200" b="0">
                          <a:solidFill>
                            <a:srgbClr val="1B2430"/>
                          </a:solidFill>
                          <a:latin typeface="Calibri"/>
                        </a:rPr>
                        <a:t>Configuration (sozlash)</a:t>
                      </a:r>
                    </a:p>
                  </a:txBody>
                  <a:tcPr>
                    <a:solidFill>
                      <a:srgbClr val="F1F4F8"/>
                    </a:solidFill>
                  </a:tcPr>
                </a:tc>
                <a:tc>
                  <a:txBody>
                    <a:bodyPr/>
                    <a:lstStyle/>
                    <a:p>
                      <a:r>
                        <a:rPr sz="1200" b="0">
                          <a:solidFill>
                            <a:srgbClr val="1B2430"/>
                          </a:solidFill>
                          <a:latin typeface="Calibri"/>
                        </a:rPr>
                        <a:t>fizik tizimga qayta ta'sir, o'z-o'zini sozlash</a:t>
                      </a:r>
                    </a:p>
                  </a:txBody>
                  <a:tcPr>
                    <a:solidFill>
                      <a:srgbClr val="F1F4F8"/>
                    </a:solidFill>
                  </a:tcPr>
                </a:tc>
                <a:tc>
                  <a:txBody>
                    <a:bodyPr/>
                    <a:lstStyle/>
                    <a:p>
                      <a:r>
                        <a:rPr sz="1200" b="0">
                          <a:solidFill>
                            <a:srgbClr val="1B2430"/>
                          </a:solidFill>
                          <a:latin typeface="Calibri"/>
                        </a:rPr>
                        <a:t>moslashuvchi boshqaruv, avtonom halqa</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Raqamli egizak konsepsiyasini 2002-yilda Michigan universitetida Michael Grieves mahsulot hayot siklini boshqarish kursida taklif qilgan; atamaning o'zi keyinroq NASA mutaxassislari bilan…</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ISO 23247 seriyasi (ishlab chiqarish uchun raqamli egizak asoslari) egizak arxitekturasini to'rt domenga bo'ladi: kuzatiladigan ishlab chiqarish elementlari, ma'lumot yig'ish va qurilma…</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Raqamli egizakning yetuklik darajalarini quyidagicha bosqichlash qulay:</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Tavsiflovchi (descriptive) egizak — obyektning joriy holatini 3D yoki sxema ko'rinishida real vaqtda aks ettiradi.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Diagnostik (diagnostic) egizak — me'yordan chetlanishni aniqlaydi va sababini lokalizatsiya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Bashoratli (predictive) egizak — qolgan foydali resurs (Remaining Useful Life, RUL) va nosozlik ehtimolini baholaydi.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Buyuruvchi (prescriptive) egizak — optimal harakatni taklif qiladi, odatda stsenariylar simulyatsiyasi orqali.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Avtonom (autonomous) egizak — inson ishtirokisiz fizik obyektni qayta sozlaydi.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Model turi nuqtai nazaridan uchta yondashuv bor.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Avtonom hisoblash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Avtonom hisoblash (autonomic computing) g'oyasini 2001-yilda IBM ilgari surgan; Kephart va Chess (2003) uni to'rtta «o'z-o'zini» xususiyati orqali ta'riflagan: o'z-o'zini sozlash (self-configuration), o'z-o'zini optimallashtirish (self-optimization),…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MAPE-K halqasi bilan raqamli egizak o'rtasidagi bog'liqlik bevosita: egizak — bu halqaning Knowledge va Analyze qismining materiallashgan ko'rinishi. Avtonomlik darajasini belgilashda SAE J3016 ga o'xshash shkala foydali: 0 — faqat ko'rsatish; 1 — tavsiya,…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Qaror qabul qilishni qo'llab-quvvatlovchi intellektual tizimlar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Qaror qabul qilishni qo'llab-quvvatlovchi tizim (Decision Support System, DSS) klassik ta'rifga ko'ra uch komponentdan iborat: ma'lumotlar bazasi, modellar bazasi va foydalanuvchi interfeysi. Intellektual DSS da modellar bazasiga ML modellari, bilimga…</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Birinchidan, chiqish formati. Operator uchun «anomaliya bali 0,73» hech narsa anglatmaydi; unga «podshipnik tebranishi 48 soat ichida 2,1 marta oshdi, shunga o'xshash 7 holatdan 6 tasida 10 kun ichida podshipnik almashtirilgan; tavsiya: keyingi rejali…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Quyida biz markazdan qochma sanoat nasosi uchun gibrid raqamli egizakni Python da bosqichma-bosqich quramiz: fizik simulyator, sensor oqimi, fizik model qoldig'i, Isolation Forest asosidagi anomaliya detektori va xarajatga asoslangan qaror moduli. Muhit:…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Fizik obyekt simulyatori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Avval nasosning «haqiqiy» fizik modelini yozamiz. U o'xshashlik qonunlariga asoslanadi va asta-sekin rivojlanuvchi podshipnik eskirishini o'z ichiga oladi: eskirish tebranish va haroratni oshiradi, foydali ish koeffitsientini biroz pasaytiradi.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biz ikki narsani qat'iy ajratdik — «haqiqiy» fizik holat (PumpPlant) va sensor orqali kuzatilgan holat (read_sensors). Real tizimda biz faqat ikkinchisini ko'ramiz; birinchisini esa raqamli egizak baholashi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Fizik obyekt simulyatori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numpy as np</a:t>
            </a:r>
          </a:p>
          <a:p>
            <a:r>
              <a:rPr sz="1200">
                <a:solidFill>
                  <a:srgbClr val="E2E8F0"/>
                </a:solidFill>
                <a:latin typeface="Consolas"/>
              </a:rPr>
              <a:t>import pandas as pd</a:t>
            </a:r>
          </a:p>
          <a:p>
            <a:r>
              <a:rPr sz="1200">
                <a:solidFill>
                  <a:srgbClr val="E2E8F0"/>
                </a:solidFill>
                <a:latin typeface="Consolas"/>
              </a:rPr>
              <a:t> </a:t>
            </a:r>
          </a:p>
          <a:p>
            <a:r>
              <a:rPr sz="1200">
                <a:solidFill>
                  <a:srgbClr val="E2E8F0"/>
                </a:solidFill>
                <a:latin typeface="Consolas"/>
              </a:rPr>
              <a:t>rng = np.random.default_rng(42)</a:t>
            </a:r>
          </a:p>
          <a:p>
            <a:r>
              <a:rPr sz="1200">
                <a:solidFill>
                  <a:srgbClr val="E2E8F0"/>
                </a:solidFill>
                <a:latin typeface="Consolas"/>
              </a:rPr>
              <a:t> </a:t>
            </a:r>
          </a:p>
          <a:p>
            <a:r>
              <a:rPr sz="1200">
                <a:solidFill>
                  <a:srgbClr val="E2E8F0"/>
                </a:solidFill>
                <a:latin typeface="Consolas"/>
              </a:rPr>
              <a:t>class PumpPlant:</a:t>
            </a:r>
          </a:p>
          <a:p>
            <a:r>
              <a:rPr sz="1200">
                <a:solidFill>
                  <a:srgbClr val="E2E8F0"/>
                </a:solidFill>
                <a:latin typeface="Consolas"/>
              </a:rPr>
              <a:t>    """Markazdan qochma nasosning fizik simulyatori (minutlik qadam)."""</a:t>
            </a:r>
          </a:p>
          <a:p>
            <a:r>
              <a:rPr sz="1200">
                <a:solidFill>
                  <a:srgbClr val="E2E8F0"/>
                </a:solidFill>
                <a:latin typeface="Consolas"/>
              </a:rPr>
              <a:t>    def __init__(self, n_nom=2950.0, q_nom=120.0, h_nom=45.0, p_nom=22.0):</a:t>
            </a:r>
          </a:p>
          <a:p>
            <a:r>
              <a:rPr sz="1200">
                <a:solidFill>
                  <a:srgbClr val="E2E8F0"/>
                </a:solidFill>
                <a:latin typeface="Consolas"/>
              </a:rPr>
              <a:t>        self.n_nom, self.q_nom, self.h_nom, self.p_nom = n_nom, q_nom, h_nom, p_nom</a:t>
            </a:r>
          </a:p>
          <a:p>
            <a:r>
              <a:rPr sz="1200">
                <a:solidFill>
                  <a:srgbClr val="E2E8F0"/>
                </a:solidFill>
                <a:latin typeface="Consolas"/>
              </a:rPr>
              <a:t>        self.wear = 0.0            # 0 (yangi) ... 1 (buzilgan)</a:t>
            </a:r>
          </a:p>
          <a:p>
            <a:r>
              <a:rPr sz="1200">
                <a:solidFill>
                  <a:srgbClr val="E2E8F0"/>
                </a:solidFill>
                <a:latin typeface="Consolas"/>
              </a:rPr>
              <a:t>        self.t_amb = 25.0          # atrof harorati</a:t>
            </a:r>
          </a:p>
          <a:p>
            <a:r>
              <a:rPr sz="1200">
                <a:solidFill>
                  <a:srgbClr val="E2E8F0"/>
                </a:solidFill>
                <a:latin typeface="Consolas"/>
              </a:rPr>
              <a:t> </a:t>
            </a:r>
          </a:p>
          <a:p>
            <a:r>
              <a:rPr sz="1200">
                <a:solidFill>
                  <a:srgbClr val="E2E8F0"/>
                </a:solidFill>
                <a:latin typeface="Consolas"/>
              </a:rPr>
              <a:t>    def step(self, n_rpm, wear_rate=0.0):</a:t>
            </a:r>
          </a:p>
          <a:p>
            <a:r>
              <a:rPr sz="1200">
                <a:solidFill>
                  <a:srgbClr val="E2E8F0"/>
                </a:solidFill>
                <a:latin typeface="Consolas"/>
              </a:rPr>
              <a:t>        r = n_rpm / self.n_nom</a:t>
            </a:r>
          </a:p>
          <a:p>
            <a:r>
              <a:rPr sz="1200">
                <a:solidFill>
                  <a:srgbClr val="E2E8F0"/>
                </a:solidFill>
                <a:latin typeface="Consolas"/>
              </a:rPr>
              <a:t>        self.wear = min(1.0, self.wear + wear_rate)</a:t>
            </a:r>
          </a:p>
          <a:p>
            <a:r>
              <a:rPr sz="1200">
                <a:solidFill>
                  <a:srgbClr val="E2E8F0"/>
                </a:solidFill>
                <a:latin typeface="Consolas"/>
              </a:rPr>
              <a:t>        q = self.q_nom * r * (1 - 0.05 * self.wear)                # m3/soat</a:t>
            </a:r>
          </a:p>
          <a:p>
            <a:r>
              <a:rPr sz="1200">
                <a:solidFill>
                  <a:srgbClr val="E2E8F0"/>
                </a:solidFill>
                <a:latin typeface="Consolas"/>
              </a:rPr>
              <a:t>        h = self.h_nom * r**2 * (1 - 0.08 * self.wear)             # m</a:t>
            </a:r>
          </a:p>
          <a:p>
            <a:r>
              <a:rPr sz="1200">
                <a:solidFill>
                  <a:srgbClr val="E2E8F0"/>
                </a:solidFill>
                <a:latin typeface="Consolas"/>
              </a:rPr>
              <a:t>        p = self.p_nom * r**3 * (1 + 0.12 * self.wear)             # kVt</a:t>
            </a:r>
          </a:p>
          <a:p>
            <a:r>
              <a:rPr sz="1200">
                <a:solidFill>
                  <a:srgbClr val="E2E8F0"/>
                </a:solidFill>
                <a:latin typeface="Consolas"/>
              </a:rPr>
              <a:t>        vib = 1.8 * r**1.5 * (1 + 3.0 * self.wear**2)              # mm/s RMS</a:t>
            </a:r>
          </a:p>
          <a:p>
            <a:r>
              <a:rPr sz="1200">
                <a:solidFill>
                  <a:srgbClr val="E2E8F0"/>
                </a:solidFill>
                <a:latin typeface="Consolas"/>
              </a:rPr>
              <a:t>        temp = self.t_amb + 28 * r**2 + 35 * self.wear**1.5        # podshipnik, C</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Ish rejimi va telemetriya oqimini hosil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Endi 60 kunlik telemetriya yaratamiz: dastlabki 40 kun sog'lom ish, so'nggi 20 kunda podshipnik asta-sekin eskiradi. Aylanish tezligi texnologik jarayon talabiga qarab o'zgarib turadi — bu muhim, chunki real nasos doim nominal rejimda ishlamaydi va oddiy…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86 400 qatorli vaqtli qator oldik. true_wear ustuni faqat baholash uchun saqlanadi — real tizimda u mavjud emas va model o'qitishda ishlatilmaydi.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Ish rejimi va telemetriya oqimini hosil qilish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plant = PumpPlant()</a:t>
            </a:r>
          </a:p>
          <a:p>
            <a:r>
              <a:rPr sz="1200">
                <a:solidFill>
                  <a:srgbClr val="E2E8F0"/>
                </a:solidFill>
                <a:latin typeface="Consolas"/>
              </a:rPr>
              <a:t>rows = []</a:t>
            </a:r>
          </a:p>
          <a:p>
            <a:r>
              <a:rPr sz="1200">
                <a:solidFill>
                  <a:srgbClr val="E2E8F0"/>
                </a:solidFill>
                <a:latin typeface="Consolas"/>
              </a:rPr>
              <a:t>minutes = 60 * 24 * 60</a:t>
            </a:r>
          </a:p>
          <a:p>
            <a:r>
              <a:rPr sz="1200">
                <a:solidFill>
                  <a:srgbClr val="E2E8F0"/>
                </a:solidFill>
                <a:latin typeface="Consolas"/>
              </a:rPr>
              <a:t>for t in range(minutes):</a:t>
            </a:r>
          </a:p>
          <a:p>
            <a:r>
              <a:rPr sz="1200">
                <a:solidFill>
                  <a:srgbClr val="E2E8F0"/>
                </a:solidFill>
                <a:latin typeface="Consolas"/>
              </a:rPr>
              <a:t>    day = t / (24 * 60)</a:t>
            </a:r>
          </a:p>
          <a:p>
            <a:r>
              <a:rPr sz="1200">
                <a:solidFill>
                  <a:srgbClr val="7FD6D7"/>
                </a:solidFill>
                <a:latin typeface="Consolas"/>
              </a:rPr>
              <a:t>    # texnologik yuklama: sutkalik sikl + tasodifiy o'zgarish</a:t>
            </a:r>
          </a:p>
          <a:p>
            <a:r>
              <a:rPr sz="1200">
                <a:solidFill>
                  <a:srgbClr val="E2E8F0"/>
                </a:solidFill>
                <a:latin typeface="Consolas"/>
              </a:rPr>
              <a:t>    n = 2950 * (0.75 + 0.25 * np.sin(2 * np.pi * day) ** 2) + rng.normal(0, 20)</a:t>
            </a:r>
          </a:p>
          <a:p>
            <a:r>
              <a:rPr sz="1200">
                <a:solidFill>
                  <a:srgbClr val="E2E8F0"/>
                </a:solidFill>
                <a:latin typeface="Consolas"/>
              </a:rPr>
              <a:t>    wear_rate = 0.0 if day &lt; 40 else 1.0 / (20 * 24 * 60)   # 20 kunda 0 -&gt; 1</a:t>
            </a:r>
          </a:p>
          <a:p>
            <a:r>
              <a:rPr sz="1200">
                <a:solidFill>
                  <a:srgbClr val="E2E8F0"/>
                </a:solidFill>
                <a:latin typeface="Consolas"/>
              </a:rPr>
              <a:t>    true_state = plant.step(n, wear_rate)</a:t>
            </a:r>
          </a:p>
          <a:p>
            <a:r>
              <a:rPr sz="1200">
                <a:solidFill>
                  <a:srgbClr val="E2E8F0"/>
                </a:solidFill>
                <a:latin typeface="Consolas"/>
              </a:rPr>
              <a:t>    obs = read_sensors(true_state)</a:t>
            </a:r>
          </a:p>
          <a:p>
            <a:r>
              <a:rPr sz="1200">
                <a:solidFill>
                  <a:srgbClr val="E2E8F0"/>
                </a:solidFill>
                <a:latin typeface="Consolas"/>
              </a:rPr>
              <a:t>    obs["t"] = pd.Timestamp("2026-01-01") + pd.Timedelta(minutes=t)</a:t>
            </a:r>
          </a:p>
          <a:p>
            <a:r>
              <a:rPr sz="1200">
                <a:solidFill>
                  <a:srgbClr val="E2E8F0"/>
                </a:solidFill>
                <a:latin typeface="Consolas"/>
              </a:rPr>
              <a:t>    obs["true_wear"] = plant.wear</a:t>
            </a:r>
          </a:p>
          <a:p>
            <a:r>
              <a:rPr sz="1200">
                <a:solidFill>
                  <a:srgbClr val="E2E8F0"/>
                </a:solidFill>
                <a:latin typeface="Consolas"/>
              </a:rPr>
              <a:t>    rows.append(obs)</a:t>
            </a:r>
          </a:p>
          <a:p>
            <a:r>
              <a:rPr sz="1200">
                <a:solidFill>
                  <a:srgbClr val="E2E8F0"/>
                </a:solidFill>
                <a:latin typeface="Consolas"/>
              </a:rPr>
              <a:t> </a:t>
            </a:r>
          </a:p>
          <a:p>
            <a:r>
              <a:rPr sz="1200">
                <a:solidFill>
                  <a:srgbClr val="E2E8F0"/>
                </a:solidFill>
                <a:latin typeface="Consolas"/>
              </a:rPr>
              <a:t>df = pd.DataFrame(rows).set_index("t")</a:t>
            </a:r>
          </a:p>
          <a:p>
            <a:r>
              <a:rPr sz="1200">
                <a:solidFill>
                  <a:srgbClr val="E2E8F0"/>
                </a:solidFill>
                <a:latin typeface="Consolas"/>
              </a:rPr>
              <a:t>print(df.describe().round(2))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Raqamli egizakning fizik qismi va qoldiqlar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Egizakning fizik qismi sifatida biz nominal (sog'lom) nasos uchun o'xshashlik qonunlaridan foydalanamiz. Egizak joriy aylanish tezligidan kelib chiqib, «sog'lom nasos qanday ko'rsatkich berishi kerak edi» ni hisoblaydi; kuzatilgan va kutilgan qiymat farqi —…</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qoldiqlar yuklamaga bog'liqlikni katta darajada «olib tashlaydi». Sog'lom davrda res_vib nolga yaqin va tarqalishi sensor shovqiniga teng (taxminan 0,08 mm/s), eskirish boshlangach u monoton o'sadi.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Raqamli egizakning fizik qismi va qoldiqlar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class PumpTwinPhysics:</a:t>
            </a:r>
          </a:p>
          <a:p>
            <a:r>
              <a:rPr sz="1000">
                <a:solidFill>
                  <a:srgbClr val="E2E8F0"/>
                </a:solidFill>
                <a:latin typeface="Consolas"/>
              </a:rPr>
              <a:t>    """Sog'lom nasosning fizik egizagi (o'xshashlik qonunlari)."""</a:t>
            </a:r>
          </a:p>
          <a:p>
            <a:r>
              <a:rPr sz="1000">
                <a:solidFill>
                  <a:srgbClr val="E2E8F0"/>
                </a:solidFill>
                <a:latin typeface="Consolas"/>
              </a:rPr>
              <a:t>    def __init__(self, n_nom=2950.0, q_nom=120.0, h_nom=45.0, p_nom=22.0, t_amb=25.0):</a:t>
            </a:r>
          </a:p>
          <a:p>
            <a:r>
              <a:rPr sz="1000">
                <a:solidFill>
                  <a:srgbClr val="E2E8F0"/>
                </a:solidFill>
                <a:latin typeface="Consolas"/>
              </a:rPr>
              <a:t>        self.n_nom, self.q_nom, self.h_nom, self.p_nom, self.t_amb = n_nom, q_nom, h_nom, p_nom, t_amb</a:t>
            </a:r>
          </a:p>
          <a:p>
            <a:r>
              <a:rPr sz="1000">
                <a:solidFill>
                  <a:srgbClr val="E2E8F0"/>
                </a:solidFill>
                <a:latin typeface="Consolas"/>
              </a:rPr>
              <a:t> </a:t>
            </a:r>
          </a:p>
          <a:p>
            <a:r>
              <a:rPr sz="1000">
                <a:solidFill>
                  <a:srgbClr val="E2E8F0"/>
                </a:solidFill>
                <a:latin typeface="Consolas"/>
              </a:rPr>
              <a:t>    def expected(self, n_rpm):</a:t>
            </a:r>
          </a:p>
          <a:p>
            <a:r>
              <a:rPr sz="1000">
                <a:solidFill>
                  <a:srgbClr val="E2E8F0"/>
                </a:solidFill>
                <a:latin typeface="Consolas"/>
              </a:rPr>
              <a:t>        r = np.asarray(n_rpm) / self.n_nom</a:t>
            </a:r>
          </a:p>
          <a:p>
            <a:r>
              <a:rPr sz="1000">
                <a:solidFill>
                  <a:srgbClr val="E2E8F0"/>
                </a:solidFill>
                <a:latin typeface="Consolas"/>
              </a:rPr>
              <a:t>        return pd.DataFrame({</a:t>
            </a:r>
          </a:p>
          <a:p>
            <a:r>
              <a:rPr sz="1000">
                <a:solidFill>
                  <a:srgbClr val="E2E8F0"/>
                </a:solidFill>
                <a:latin typeface="Consolas"/>
              </a:rPr>
              <a:t>            "flow": self.q_nom * r, "head": self.h_nom * r**2,</a:t>
            </a:r>
          </a:p>
          <a:p>
            <a:r>
              <a:rPr sz="1000">
                <a:solidFill>
                  <a:srgbClr val="E2E8F0"/>
                </a:solidFill>
                <a:latin typeface="Consolas"/>
              </a:rPr>
              <a:t>            "power": self.p_nom * r**3, "vib": 1.8 * r**1.5,</a:t>
            </a:r>
          </a:p>
          <a:p>
            <a:r>
              <a:rPr sz="1000">
                <a:solidFill>
                  <a:srgbClr val="E2E8F0"/>
                </a:solidFill>
                <a:latin typeface="Consolas"/>
              </a:rPr>
              <a:t>            "bearing_temp": self.t_amb + 28 * r**2,</a:t>
            </a:r>
          </a:p>
          <a:p>
            <a:r>
              <a:rPr sz="1000">
                <a:solidFill>
                  <a:srgbClr val="E2E8F0"/>
                </a:solidFill>
                <a:latin typeface="Consolas"/>
              </a:rPr>
              <a:t>        })</a:t>
            </a:r>
          </a:p>
          <a:p>
            <a:r>
              <a:rPr sz="1000">
                <a:solidFill>
                  <a:srgbClr val="E2E8F0"/>
                </a:solidFill>
                <a:latin typeface="Consolas"/>
              </a:rPr>
              <a:t> </a:t>
            </a:r>
          </a:p>
          <a:p>
            <a:r>
              <a:rPr sz="1000">
                <a:solidFill>
                  <a:srgbClr val="E2E8F0"/>
                </a:solidFill>
                <a:latin typeface="Consolas"/>
              </a:rPr>
              <a:t>twin = PumpTwinPhysics()</a:t>
            </a:r>
          </a:p>
          <a:p>
            <a:r>
              <a:rPr sz="1000">
                <a:solidFill>
                  <a:srgbClr val="E2E8F0"/>
                </a:solidFill>
                <a:latin typeface="Consolas"/>
              </a:rPr>
              <a:t>exp = twin.expected(df["n_rpm"].values).set_index(df.index)</a:t>
            </a:r>
          </a:p>
          <a:p>
            <a:r>
              <a:rPr sz="1000">
                <a:solidFill>
                  <a:srgbClr val="E2E8F0"/>
                </a:solidFill>
                <a:latin typeface="Consolas"/>
              </a:rPr>
              <a:t>feats = ["flow", "head", "power", "vib", "bearing_temp"]</a:t>
            </a:r>
          </a:p>
          <a:p>
            <a:r>
              <a:rPr sz="1000">
                <a:solidFill>
                  <a:srgbClr val="E2E8F0"/>
                </a:solidFill>
                <a:latin typeface="Consolas"/>
              </a:rPr>
              <a:t>resid = (df[feats] - exp[feats]).add_prefix("res_")</a:t>
            </a:r>
          </a:p>
          <a:p>
            <a:r>
              <a:rPr sz="1000">
                <a:solidFill>
                  <a:srgbClr val="7FD6D7"/>
                </a:solidFill>
                <a:latin typeface="Consolas"/>
              </a:rPr>
              <a:t># qo'shimcha fizik belgi: solishtirma energiya sarfi, kVt*soat / m3</a:t>
            </a:r>
          </a:p>
          <a:p>
            <a:r>
              <a:rPr sz="1000">
                <a:solidFill>
                  <a:srgbClr val="E2E8F0"/>
                </a:solidFill>
                <a:latin typeface="Consolas"/>
              </a:rPr>
              <a:t>resid["spec_energy"] = df["power"] / df["flow"].clip(lower=1.0)</a:t>
            </a:r>
          </a:p>
          <a:p>
            <a:r>
              <a:rPr sz="1000">
                <a:solidFill>
                  <a:srgbClr val="E2E8F0"/>
                </a:solidFill>
                <a:latin typeface="Consolas"/>
              </a:rPr>
              <a:t>X = resid.rolling("60min").mean().dropna()      # 1 soatlik silliqlash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Isolation Forest bilan anomaliya detektori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Endi sog'lom davr (dastlabki 30 kun) qoldiqlarida Isolation Forest (Liu, Ting va Zhou, 2008) modelini o'qitamiz. Bu algoritm nazoratsiz (unsupervised) ishlaydi: nosozlik yorliqlari talab qilinmaydi, bu sanoatda juda muhim, chunki haqiqiy avariyalar kam…</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score_samples manfiy qiymat qaytaradi (qancha kichik bo'lsa, shuncha anomal), shuning uchun ishorasini o'zgartirdik. Chegaralarni modelning contamination parametriga emas, balki sog'lom davr persentillariga bog'ladik — bu nazoratsiz…</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Taqqoslash uchun oddiy chegaraviy qoida (tebranish 2,5 mm/s dan oshsa signal) sinab ko'rilsa, u eskirish boshlangach 11–13 kun o'tibgina ishga tushadi, ya'ni egizak qoldiqlariga asoslangan…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Isolation Forest bilan anomaliya detektori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from sklearn.ensemble import IsolationForest</a:t>
            </a:r>
          </a:p>
          <a:p>
            <a:r>
              <a:rPr sz="1200">
                <a:solidFill>
                  <a:srgbClr val="E2E8F0"/>
                </a:solidFill>
                <a:latin typeface="Consolas"/>
              </a:rPr>
              <a:t>from sklearn.preprocessing import StandardScaler</a:t>
            </a:r>
          </a:p>
          <a:p>
            <a:r>
              <a:rPr sz="1200">
                <a:solidFill>
                  <a:srgbClr val="E2E8F0"/>
                </a:solidFill>
                <a:latin typeface="Consolas"/>
              </a:rPr>
              <a:t>from sklearn.pipeline import make_pipeline</a:t>
            </a:r>
          </a:p>
          <a:p>
            <a:r>
              <a:rPr sz="1200">
                <a:solidFill>
                  <a:srgbClr val="E2E8F0"/>
                </a:solidFill>
                <a:latin typeface="Consolas"/>
              </a:rPr>
              <a:t> </a:t>
            </a:r>
          </a:p>
          <a:p>
            <a:r>
              <a:rPr sz="1200">
                <a:solidFill>
                  <a:srgbClr val="E2E8F0"/>
                </a:solidFill>
                <a:latin typeface="Consolas"/>
              </a:rPr>
              <a:t>train = X.loc[: "2026-01-31"]          # 30 kun sog'lom rejim</a:t>
            </a:r>
          </a:p>
          <a:p>
            <a:r>
              <a:rPr sz="1200">
                <a:solidFill>
                  <a:srgbClr val="E2E8F0"/>
                </a:solidFill>
                <a:latin typeface="Consolas"/>
              </a:rPr>
              <a:t>model = make_pipeline(StandardScaler(),</a:t>
            </a:r>
          </a:p>
          <a:p>
            <a:r>
              <a:rPr sz="1200">
                <a:solidFill>
                  <a:srgbClr val="E2E8F0"/>
                </a:solidFill>
                <a:latin typeface="Consolas"/>
              </a:rPr>
              <a:t>                      IsolationForest(n_estimators=300, contamination=0.005,</a:t>
            </a:r>
          </a:p>
          <a:p>
            <a:r>
              <a:rPr sz="1200">
                <a:solidFill>
                  <a:srgbClr val="E2E8F0"/>
                </a:solidFill>
                <a:latin typeface="Consolas"/>
              </a:rPr>
              <a:t>                                      random_state=0))</a:t>
            </a:r>
          </a:p>
          <a:p>
            <a:r>
              <a:rPr sz="1200">
                <a:solidFill>
                  <a:srgbClr val="E2E8F0"/>
                </a:solidFill>
                <a:latin typeface="Consolas"/>
              </a:rPr>
              <a:t>model.fit(train)</a:t>
            </a:r>
          </a:p>
          <a:p>
            <a:r>
              <a:rPr sz="1200">
                <a:solidFill>
                  <a:srgbClr val="E2E8F0"/>
                </a:solidFill>
                <a:latin typeface="Consolas"/>
              </a:rPr>
              <a:t> </a:t>
            </a:r>
          </a:p>
          <a:p>
            <a:r>
              <a:rPr sz="1200">
                <a:solidFill>
                  <a:srgbClr val="E2E8F0"/>
                </a:solidFill>
                <a:latin typeface="Consolas"/>
              </a:rPr>
              <a:t>score = pd.Series(-model.score_samples(X), index=X.index, name="anomaly")</a:t>
            </a:r>
          </a:p>
          <a:p>
            <a:r>
              <a:rPr sz="1200">
                <a:solidFill>
                  <a:srgbClr val="7FD6D7"/>
                </a:solidFill>
                <a:latin typeface="Consolas"/>
              </a:rPr>
              <a:t># sog'lom davr bo'yicha kalibrlash: 99.5 persentil = ogohlantirish, 99.9 = signal</a:t>
            </a:r>
          </a:p>
          <a:p>
            <a:r>
              <a:rPr sz="1200">
                <a:solidFill>
                  <a:srgbClr val="E2E8F0"/>
                </a:solidFill>
                <a:latin typeface="Consolas"/>
              </a:rPr>
              <a:t>thr_warn = score.loc[: "2026-01-31"].quantile(0.995)</a:t>
            </a:r>
          </a:p>
          <a:p>
            <a:r>
              <a:rPr sz="1200">
                <a:solidFill>
                  <a:srgbClr val="E2E8F0"/>
                </a:solidFill>
                <a:latin typeface="Consolas"/>
              </a:rPr>
              <a:t>thr_alarm = score.loc[: "2026-01-31"].quantile(0.999)</a:t>
            </a:r>
          </a:p>
          <a:p>
            <a:r>
              <a:rPr sz="1200">
                <a:solidFill>
                  <a:srgbClr val="E2E8F0"/>
                </a:solidFill>
                <a:latin typeface="Consolas"/>
              </a:rPr>
              <a:t> </a:t>
            </a:r>
          </a:p>
          <a:p>
            <a:r>
              <a:rPr sz="1200">
                <a:solidFill>
                  <a:srgbClr val="E2E8F0"/>
                </a:solidFill>
                <a:latin typeface="Consolas"/>
              </a:rPr>
              <a:t>daily = score.resample("1D").mean()</a:t>
            </a:r>
          </a:p>
          <a:p>
            <a:r>
              <a:rPr sz="1200">
                <a:solidFill>
                  <a:srgbClr val="E2E8F0"/>
                </a:solidFill>
                <a:latin typeface="Consolas"/>
              </a:rPr>
              <a:t>first_warn = daily[daily &gt; thr_warn].index.min()</a:t>
            </a:r>
          </a:p>
          <a:p>
            <a:r>
              <a:rPr sz="1200">
                <a:solidFill>
                  <a:srgbClr val="E2E8F0"/>
                </a:solidFill>
                <a:latin typeface="Consolas"/>
              </a:rPr>
              <a:t>print("Birinchi barqaror ogohlantirish kuni:", first_warn.date())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Qaror qabul qilishni qo'llab-quvvatlash moduli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Detektor bali o'z-o'zidan qaror emas. Endi MAPE-K halqasining Plan qismini quramiz: anomaliya balini, qoldiqlarning hissasini va xarajat modelini birlashtirib, operatorga tushunarli tavsiya…</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tavsiya uchta elementni birlashtiradi — ehtimollik, xarajat va tushuntirish. Qaror chegarasi oshkor iqtisodiy mezon bilan belgilanadi: nosozlik ehtimoli COST_PLANNED / COST_FAILURE = 0,067 dan oshsa, rejali to'xtash kutishdan arzon…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Qaror qabul qilishni qo'llab-quvvatlash moduli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COST_PLANNED = 4_000      # rejali to'xtash va tekshiruv, USD</a:t>
            </a:r>
          </a:p>
          <a:p>
            <a:r>
              <a:rPr sz="1200">
                <a:solidFill>
                  <a:srgbClr val="E2E8F0"/>
                </a:solidFill>
                <a:latin typeface="Consolas"/>
              </a:rPr>
              <a:t>COST_FAILURE = 60_000     # avariya: ta'mirlash + ishlab chiqarish yo'qotishi, USD</a:t>
            </a:r>
          </a:p>
          <a:p>
            <a:r>
              <a:rPr sz="1200">
                <a:solidFill>
                  <a:srgbClr val="E2E8F0"/>
                </a:solidFill>
                <a:latin typeface="Consolas"/>
              </a:rPr>
              <a:t> </a:t>
            </a:r>
          </a:p>
          <a:p>
            <a:r>
              <a:rPr sz="1200">
                <a:solidFill>
                  <a:srgbClr val="E2E8F0"/>
                </a:solidFill>
                <a:latin typeface="Consolas"/>
              </a:rPr>
              <a:t>def failure_probability(daily_score, thr_warn, thr_alarm):</a:t>
            </a:r>
          </a:p>
          <a:p>
            <a:r>
              <a:rPr sz="1200">
                <a:solidFill>
                  <a:srgbClr val="E2E8F0"/>
                </a:solidFill>
                <a:latin typeface="Consolas"/>
              </a:rPr>
              <a:t>    """Sodda kalibrlangan xaritalash: ball -&gt; 14 kun ichida nosozlik ehtimoli."""</a:t>
            </a:r>
          </a:p>
          <a:p>
            <a:r>
              <a:rPr sz="1200">
                <a:solidFill>
                  <a:srgbClr val="E2E8F0"/>
                </a:solidFill>
                <a:latin typeface="Consolas"/>
              </a:rPr>
              <a:t>    z = (daily_score - thr_warn) / max(thr_alarm - thr_warn, 1e-9)</a:t>
            </a:r>
          </a:p>
          <a:p>
            <a:r>
              <a:rPr sz="1200">
                <a:solidFill>
                  <a:srgbClr val="E2E8F0"/>
                </a:solidFill>
                <a:latin typeface="Consolas"/>
              </a:rPr>
              <a:t>    return float(np.clip(0.02 + 0.5 * z, 0.0, 0.95))</a:t>
            </a:r>
          </a:p>
          <a:p>
            <a:r>
              <a:rPr sz="1200">
                <a:solidFill>
                  <a:srgbClr val="E2E8F0"/>
                </a:solidFill>
                <a:latin typeface="Consolas"/>
              </a:rPr>
              <a:t> </a:t>
            </a:r>
          </a:p>
          <a:p>
            <a:r>
              <a:rPr sz="1200">
                <a:solidFill>
                  <a:srgbClr val="E2E8F0"/>
                </a:solidFill>
                <a:latin typeface="Consolas"/>
              </a:rPr>
              <a:t>def recommend(day):</a:t>
            </a:r>
          </a:p>
          <a:p>
            <a:r>
              <a:rPr sz="1200">
                <a:solidFill>
                  <a:srgbClr val="E2E8F0"/>
                </a:solidFill>
                <a:latin typeface="Consolas"/>
              </a:rPr>
              <a:t>    s = daily.loc[day]</a:t>
            </a:r>
          </a:p>
          <a:p>
            <a:r>
              <a:rPr sz="1200">
                <a:solidFill>
                  <a:srgbClr val="E2E8F0"/>
                </a:solidFill>
                <a:latin typeface="Consolas"/>
              </a:rPr>
              <a:t>    p_fail = failure_probability(s, thr_warn, thr_alarm)</a:t>
            </a:r>
          </a:p>
          <a:p>
            <a:r>
              <a:rPr sz="1200">
                <a:solidFill>
                  <a:srgbClr val="E2E8F0"/>
                </a:solidFill>
                <a:latin typeface="Consolas"/>
              </a:rPr>
              <a:t>    exp_cost_wait = p_fail * COST_FAILURE</a:t>
            </a:r>
          </a:p>
          <a:p>
            <a:r>
              <a:rPr sz="1200">
                <a:solidFill>
                  <a:srgbClr val="E2E8F0"/>
                </a:solidFill>
                <a:latin typeface="Consolas"/>
              </a:rPr>
              <a:t>    exp_cost_act = COST_PLANNED + (1 - p_fail) * 0   # tekshiruv har holda qilinadi</a:t>
            </a:r>
          </a:p>
          <a:p>
            <a:r>
              <a:rPr sz="1200">
                <a:solidFill>
                  <a:srgbClr val="7FD6D7"/>
                </a:solidFill>
                <a:latin typeface="Consolas"/>
              </a:rPr>
              <a:t>    # tushuntirish: oxirgi 24 soatdagi qoldiqlarning z-ballari</a:t>
            </a:r>
          </a:p>
          <a:p>
            <a:r>
              <a:rPr sz="1200">
                <a:solidFill>
                  <a:srgbClr val="E2E8F0"/>
                </a:solidFill>
                <a:latin typeface="Consolas"/>
              </a:rPr>
              <a:t>    last = X.loc[day - pd.Timedelta(days=1): day]</a:t>
            </a:r>
          </a:p>
          <a:p>
            <a:r>
              <a:rPr sz="1200">
                <a:solidFill>
                  <a:srgbClr val="E2E8F0"/>
                </a:solidFill>
                <a:latin typeface="Consolas"/>
              </a:rPr>
              <a:t>    z = ((last - train.mean()) / train.std()).mean().sort_values(ascending=False)</a:t>
            </a:r>
          </a:p>
          <a:p>
            <a:r>
              <a:rPr sz="1200">
                <a:solidFill>
                  <a:srgbClr val="E2E8F0"/>
                </a:solidFill>
                <a:latin typeface="Consolas"/>
              </a:rPr>
              <a:t>    drivers = ", ".join(f"{k} (z={v:+.1f})" for k, v in z.head(3).items())</a:t>
            </a:r>
          </a:p>
          <a:p>
            <a:r>
              <a:rPr sz="1200">
                <a:solidFill>
                  <a:srgbClr val="E2E8F0"/>
                </a:solidFill>
                <a:latin typeface="Consolas"/>
              </a:rPr>
              <a:t>    if exp_cost_wait &gt; exp_cost_act:</a:t>
            </a:r>
          </a:p>
          <a:p>
            <a:r>
              <a:rPr sz="1200">
                <a:solidFill>
                  <a:srgbClr val="E2E8F0"/>
                </a:solidFill>
                <a:latin typeface="Consolas"/>
              </a:rPr>
              <a:t>        action = "REJALI TO'XTASH: keyingi 72 soat ichida podshipnik tekshiruvi"</a:t>
            </a:r>
          </a:p>
          <a:p>
            <a:r>
              <a:rPr sz="1200">
                <a:solidFill>
                  <a:srgbClr val="E2E8F0"/>
                </a:solidFill>
                <a:latin typeface="Consolas"/>
              </a:rPr>
              <a:t>    elif s &gt; thr_warn:</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Tizimga joylashtirish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Yakunda modulni real CPS halqasiga ulash sxemasini belgilaymiz. Chekka serverda (masalan, 4 yadroli sanoat kompyuteri yoki Jetson Orin Nano) MQTT obunachisi sensor xabarlarini qabul qiladi, qoldiqlarni hisoblaydi, modelni ONNX formatida (skl2onnx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Tizimga joylashtirish arxitekturasi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minimal MQTT -&gt; egizak -&gt; tavsiya konveyeri (paho-mqtt 2.x)</a:t>
            </a:r>
          </a:p>
          <a:p>
            <a:r>
              <a:rPr sz="1000">
                <a:solidFill>
                  <a:srgbClr val="E2E8F0"/>
                </a:solidFill>
                <a:latin typeface="Consolas"/>
              </a:rPr>
              <a:t>import json, paho.mqtt.client as mqtt</a:t>
            </a:r>
          </a:p>
          <a:p>
            <a:r>
              <a:rPr sz="1000">
                <a:solidFill>
                  <a:srgbClr val="E2E8F0"/>
                </a:solidFill>
                <a:latin typeface="Consolas"/>
              </a:rPr>
              <a:t> </a:t>
            </a:r>
          </a:p>
          <a:p>
            <a:r>
              <a:rPr sz="1000">
                <a:solidFill>
                  <a:srgbClr val="E2E8F0"/>
                </a:solidFill>
                <a:latin typeface="Consolas"/>
              </a:rPr>
              <a:t>def on_message(client, userdata, msg):</a:t>
            </a:r>
          </a:p>
          <a:p>
            <a:r>
              <a:rPr sz="1000">
                <a:solidFill>
                  <a:srgbClr val="E2E8F0"/>
                </a:solidFill>
                <a:latin typeface="Consolas"/>
              </a:rPr>
              <a:t>    obs = json.loads(msg.payload)</a:t>
            </a:r>
          </a:p>
          <a:p>
            <a:r>
              <a:rPr sz="1000">
                <a:solidFill>
                  <a:srgbClr val="E2E8F0"/>
                </a:solidFill>
                <a:latin typeface="Consolas"/>
              </a:rPr>
              <a:t>    r = twin.expected([obs["n_rpm"]]).iloc[0]</a:t>
            </a:r>
          </a:p>
          <a:p>
            <a:r>
              <a:rPr sz="1000">
                <a:solidFill>
                  <a:srgbClr val="E2E8F0"/>
                </a:solidFill>
                <a:latin typeface="Consolas"/>
              </a:rPr>
              <a:t>    x = {f"res_{k}": obs[k] - r[k] for k in feats}</a:t>
            </a:r>
          </a:p>
          <a:p>
            <a:r>
              <a:rPr sz="1000">
                <a:solidFill>
                  <a:srgbClr val="E2E8F0"/>
                </a:solidFill>
                <a:latin typeface="Consolas"/>
              </a:rPr>
              <a:t>    x["spec_energy"] = obs["power"] / max(obs["flow"], 1.0)</a:t>
            </a:r>
          </a:p>
          <a:p>
            <a:r>
              <a:rPr sz="1000">
                <a:solidFill>
                  <a:srgbClr val="E2E8F0"/>
                </a:solidFill>
                <a:latin typeface="Consolas"/>
              </a:rPr>
              <a:t>    s = -model.score_samples(pd.DataFrame([x]))[0]</a:t>
            </a:r>
          </a:p>
          <a:p>
            <a:r>
              <a:rPr sz="1000">
                <a:solidFill>
                  <a:srgbClr val="E2E8F0"/>
                </a:solidFill>
                <a:latin typeface="Consolas"/>
              </a:rPr>
              <a:t>    client.publish(f"plant/pump/{obs['id']}/twin",</a:t>
            </a:r>
          </a:p>
          <a:p>
            <a:r>
              <a:rPr sz="1000">
                <a:solidFill>
                  <a:srgbClr val="E2E8F0"/>
                </a:solidFill>
                <a:latin typeface="Consolas"/>
              </a:rPr>
              <a:t>                   json.dumps({"anomaly": round(float(s), 4), "warn": bool(s &gt; thr_warn)}))</a:t>
            </a:r>
          </a:p>
          <a:p>
            <a:r>
              <a:rPr sz="1000">
                <a:solidFill>
                  <a:srgbClr val="E2E8F0"/>
                </a:solidFill>
                <a:latin typeface="Consolas"/>
              </a:rPr>
              <a:t> </a:t>
            </a:r>
          </a:p>
          <a:p>
            <a:r>
              <a:rPr sz="1000">
                <a:solidFill>
                  <a:srgbClr val="E2E8F0"/>
                </a:solidFill>
                <a:latin typeface="Consolas"/>
              </a:rPr>
              <a:t>client = mqtt.Client(mqtt.CallbackAPIVersion.VERSION2)</a:t>
            </a:r>
          </a:p>
          <a:p>
            <a:r>
              <a:rPr sz="1000">
                <a:solidFill>
                  <a:srgbClr val="E2E8F0"/>
                </a:solidFill>
                <a:latin typeface="Consolas"/>
              </a:rPr>
              <a:t>client.on_message = on_message</a:t>
            </a:r>
          </a:p>
          <a:p>
            <a:r>
              <a:rPr sz="1000">
                <a:solidFill>
                  <a:srgbClr val="7FD6D7"/>
                </a:solidFill>
                <a:latin typeface="Consolas"/>
              </a:rPr>
              <a:t># client.connect("broker.plant.local", 1883); client.subscribe("plant/pump/+/telemetry"); client.loop_forever()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Misol natijalari bir nechta muhim xulosaga olib keladi.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Ikkinchidan, natijalar cheklovlarga ega. Simulyatorimiz faqat bitta nosozlik rejimini (podshipnik eskirishi) o'z ichiga oladi; real nasosda kavitatsiya, ishchi g'ildirak eroziyasi,…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Uchinchidan, nosozlik ehtimolini ballga xaritalash misolda sodda chiziqli funksiya bilan qilingan; real tizimda bu kalibrlash tarixiy nosozliklar bo'yicha (masalan, Weibull taqsimoti yoki…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Muqobil yondashuvlar sifatida quyidagilarni ko'rish mumkin: avtokoder (autoencoder) asosidagi rekonstruksiya xatosi — ko'p sensorli murakkab obyektlar uchun kuchliroq, lekin o'qitish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Xom sensor qiymatlarida detektor o'qitish. Yuklama, atrof harorati va mavsumiy omillar anomaliya sifatida ko'rinadi. Tavsiya: avval fizik yoki statistik normallashtirish (qoldiqlar,…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Vaqt tamg'asi semantikasini e'tiborsiz qoldirish. Hodisa vaqti bilan qabul qilish vaqti aralashtirilsa, o'qitish ma'lumotiga kelajak «sizib» kiradi va tizim ishga tushganda aniqlik keskin…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SI komponentini xavfsizlik halqasi o'rniga qo'yish. ML modeli sertifikatlanmagan va uning xatti-harakati tarqatish o'zgarganda bashorat qilib bo'lmaydi. Tavsiya: IEC 61508/61511 bo'yicha…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Chegaralarni «aniqlik» bo'yicha tanlash. Sanoatda noto'g'ri va o'tkazib yuborilgan signal xarajatlari o'n baravar farq qiladi. Tavsiya: chegarani kutilgan xarajat minimumi bo'yicha tanlang…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Tushuntirishsiz signal. Operator sababsiz signalga 2–3 martadan keyin ishonmay qo'yadi. Tavsiya: har signal bilan eng katta hissa qo'shgan belgilar, o'xshash tarixiy holatlar va tavsiya…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Egizakni bir marta kalibrlab, keyin unutish. Nasos ta'mirlangach yoki ishchi g'ildirak almashtirilgach «sog'lom» holat o'zgaradi va eski chegaralar yo doimiy signal beradi, yo hech narsa…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Aloqa uzilishini hisobga olmaslik. Sanoat tarmog'ida xabarlar yo'qoladi va kechikadi. Tavsiya: chekka qurilmada mahalliy bufer va «so'nggi ma'lum holat» (last known good) mantiqi, uzilish…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Sensor nosozligini obyekt nosozligi deb qabul qilish. Qotib qolgan yoki «sakrab turuvchi» sensor eng ko'p yolg'on signal manbai. Tavsiya: har sensor uchun alohida sog'lomlik tekshiruvi…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Oddiy o'rnatilgan boshqaruv tizimi, IoT yechimi va kiber-fizik tizim o'rtasidagi chegarani qanday mezonlar bilan o'tkazgan bo'lardingiz? Bitta nasos stansiyasini misol qilib har uchala…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Nega raqamli egizak uchun ikki tomonlama ma'lumot oqimi talab qilinadi? Faqat bir tomonlama (fizikdan virtualga) oqimli tizimni egizak deb atash mumkinmi va nima uchun?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Gibrid egizakda fizik model qanchalik aniq bo'lishi kerak? Fizik model juda sodda yoki juda murakkab bo'lsa, qoldiqlarga asoslangan detektor qanday o'zini tutadi?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MAPE-K halqasining qaysi bosqichlarini chekka qurilmaga, qaysilarini bulutga joylashtirgan bo'lardingiz? Javobingizni kechikish, o'tkazuvchanlik va xavfsizlik nuqtai nazaridan asoslang.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Nazoratsiz anomaliya detektori uchun «aniqlik» metrikasi mavjud emas. Bunday tizimning sifatini ishga tushirishdan oldin va ishlash davomida qanday baholaysiz?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Avtonomlik darajasini 1 dan 2 ga ko'tarish (tizim o'zi harakat qiladi, inson bekor qila oladi) uchun qanday texnik va tashkiliy dalillar to'planishi kerak?</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Xarajatga asoslangan qaror chegarasi avariya xarajati noma'lum yoki keng oraliqda bo'lganda qanday aniqlanadi? Sezgirlik tahlilini qanday o'tkazgan bo'lardingiz?</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Flotdagi 200 ta nasosdan 5 tasi boshqacha ishlab chiqaruvchidan bo'lsa, bitta umumiy egizak modelidan foydalanish mumkinmi? Qanday arxitektura yechimini taklif qilasiz?</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Raqamli egizak o'zi kiberxavfsizlik tahdidiga aylanishi mumkinmi? Egizakka noto'g'ri ma'lumot kiritish (data poisoning) fizik obyektga qanday ta'sir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Amaliy misoldagi simulyatorga ikkinchi nosozlik rejimi — kavitatsiyani qo'shing (bosimning 5–15 % pasayishi, tebranishning tez o'sishi, sarfning beqarorligi). Ikkala nosozlik rejimi uchun detektorning birinchi ogohlantirish kunini va yolg'on…</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(sillabusdagi 1-mustaqil ta'lim topshirig'iga bog'langan). Amazon ombor robotlari yoki Uber haydovchi tahlili kabi real SI mahsulotini CPS/raqamli egizak nuqtai nazaridan tahlil qiling: 5C qatlamlarini, MAPE-K halqasini, avtonomlik darajasini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domenga xos arxitekturalar va tizim darajasidagi loyihalash…</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[2] Kneusel, R. T. Artificial Intelligence Engineering: A Practical Guide for AI Applications. No Starch Press, 2023. — SI tizimlarini muhandislik mahsuloti sifatida loyihalash.</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[3] Amershi, S., et al. Machine Learning Engineering. MIT Press, 2025. — ML komponentlarini katta tizimga integratsiya qilish, kuzatuv va ekspluatatsiya.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[7] https://pytorch.org — PyTorch hujjatlari (vaqtli qatorlar uchun neyron detektorlar muqobil yondashuv sifatida).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[10] https://onnx.ai — ONNX formati, scikit-learn modellarini chekka qurilmaga eksport qilish.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Lee, J., Bagheri, B., &amp; Kao, H.-A. A Cyber-Physical Systems architecture for Industry 4.0-based manufacturing systems. Manufacturing Letters, vol. 3, 2015, pp. 18–23. — 5C arxitekturasi.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Grieves, M., &amp; Vickers, J. Digital Twin: Mitigating Unpredictable, Undesirable Emergent Behavior in Complex Systems. In: Transdisciplinary Perspectives on Complex Systems, Springer, 2017,…</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Kephart, J. O., &amp; Chess, D. M. The Vision of Autonomic Computing. IEEE Computer, vol. 36, no. 1, 2003, pp. 41–50. — MAPE-K halqasi va «o'z-o'zini» xususiyatlari.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Liu, F. T., Ting, K. M., &amp; Zhou, Z.-H. Isolation Forest. Proceedings of the IEEE International Conference on Data Mining (ICDM), 2008, pp. 413–422.</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scikit-learn hujjatlari: https://scikit-learn.org/stable/modules/outlier_detection.html — nazoratsiz anomaliya aniqlash usullari.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https://aiscan.airi.uz/ktm/#/c/mis2104/mavzu/M13</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
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o'qitilgan sun'iy intellekt modelini «qora quti» sifatida qabul qilmasdan, uni dushmanona ta'sirga chidamliligi, qarorlarining tushuntirilishi va turli guruhlarga nisbatan xolisligi nuqtai nazaridan tizimli tekshirish ko'nikmasini shakllantirishdir. Mashg'ulot yakunida talaba quyidagilarga qodir bo'ladi:</a:t>
            </a:r>
          </a:p>
          <a:p/>
          <a:p>
            <a:r>
              <a:t>Oq quti (white-box) adversarial hujumlarni — FGSM (Fast Gradient Sign Method) va PGD (Projected Gradient Descent) — PyTorch'da qo'lda va torchattacks kutubxonasi yordamida amalga oshirish, hujum kuchi (epsilon) ga bog'liq holda modelning mustahkamlik egri chizig'ini (robustness curve) qurish.</a:t>
            </a:r>
          </a:p>
          <a:p/>
          <a:p>
            <a:r>
              <a:t>Adversarial o'qitish (adversarial training) orqali modelning chidamliligini oshirish va toza aniqlik bilan mustahkam aniqlik orasidagi murosani miqdoriy baholash.</a:t>
            </a:r>
          </a:p>
          <a:p/>
          <a:p>
            <a:r>
              <a:t>Tushuntiriladigan sun'iy intellekt (Explainable AI, XAI) vositalari — Grad-CAM va SHAP — yordamida model qarorlarining asosini vizuallashtirish va tahlil qilish, shu jumladan hujum ostidagi namunalar uchun diqqat xaritasi qanday o'zgarishini ko'rsatish.</a:t>
            </a:r>
          </a:p>
          <a:p/>
          <a:p>
            <a:r>
              <a:t>Fairlearn kutubxonasi yordamida jadvalli ma'lumotlar modelida adolatlilik (fairness) ko'rsatkichlarini — demografik paritet, teng imkoniyat, tenglashtirilgan koeffitsiyentlar — hisoblash va cheklov asosida qayta o'qitish bilan nomutanosiblikni kamaytirish.</a:t>
            </a:r>
          </a:p>
          <a:p/>
          <a:p>
            <a:r>
              <a:t>Xalqaro standartlar (ISO/IEC 42001, ISO/IEC 23894, EU AI Act) asosidagi etik talablar tekshiruv ro'yxatini (checklist) muayyan tizimga qo'llash va natijalarni hisobot ko'rinishida rasmiylashtirish.</a:t>
            </a:r>
          </a:p>
          <a:p/>
          <a:p>
            <a:r>
              <a:t>Mavzu fanning TN4 (AI tizimlarining ishonchliligi va xavfsizligini ta'minlash), TN6 (tizimni tahlil qilish va baholash) va TN7 (mas'uliyatli AI tamoyillarini qo'llash) o'rganish natijalariga xizmat qiladi hamda M9 va M14 ma'ruzalarining amaliy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o'qitilgan sun'iy intellekt modelini «qora quti» sifatida qabul qilmasdan, uni dushmanona ta'sirga chidamliligi, qarorlarining tushuntirilishi va turli guruhlarga nisbatan xolisligi nuqtai nazaridan tizimli tekshirish ko'nikmasini shakllantirishdir. Mashg'ulot yakunida talaba quyidagilarga qodir bo'ladi:</a:t>
            </a:r>
          </a:p>
          <a:p/>
          <a:p>
            <a:r>
              <a:t>Oq quti (white-box) adversarial hujumlarni — FGSM (Fast Gradient Sign Method) va PGD (Projected Gradient Descent) — PyTorch'da qo'lda va torchattacks kutubxonasi yordamida amalga oshirish, hujum kuchi (epsilon) ga bog'liq holda modelning mustahkamlik egri chizig'ini (robustness curve) qurish.</a:t>
            </a:r>
          </a:p>
          <a:p/>
          <a:p>
            <a:r>
              <a:t>Adversarial o'qitish (adversarial training) orqali modelning chidamliligini oshirish va toza aniqlik bilan mustahkam aniqlik orasidagi murosani miqdoriy baholash.</a:t>
            </a:r>
          </a:p>
          <a:p/>
          <a:p>
            <a:r>
              <a:t>Tushuntiriladigan sun'iy intellekt (Explainable AI, XAI) vositalari — Grad-CAM va SHAP — yordamida model qarorlarining asosini vizuallashtirish va tahlil qilish, shu jumladan hujum ostidagi namunalar uchun diqqat xaritasi qanday o'zgarishini ko'rsatish.</a:t>
            </a:r>
          </a:p>
          <a:p/>
          <a:p>
            <a:r>
              <a:t>Fairlearn kutubxonasi yordamida jadvalli ma'lumotlar modelida adolatlilik (fairness) ko'rsatkichlarini — demografik paritet, teng imkoniyat, tenglashtirilgan koeffitsiyentlar — hisoblash va cheklov asosida qayta o'qitish bilan nomutanosiblikni kamaytirish.</a:t>
            </a:r>
          </a:p>
          <a:p/>
          <a:p>
            <a:r>
              <a:t>Xalqaro standartlar (ISO/IEC 42001, ISO/IEC 23894, EU AI Act) asosidagi etik talablar tekshiruv ro'yxatini (checklist) muayyan tizimga qo'llash va natijalarni hisobot ko'rinishida rasmiylashtirish.</a:t>
            </a:r>
          </a:p>
          <a:p/>
          <a:p>
            <a:r>
              <a:t>Mavzu fanning TN4 (AI tizimlarining ishonchliligi va xavfsizligini ta'minlash), TN6 (tizimni tahlil qilish va baholash) va TN7 (mas'uliyatli AI tamoyillarini qo'llash) o'rganish natijalariga xizmat qiladi hamda M9 va M14 ma'ruzalarining amaliy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neyron tarmoqlar ko'plab vazifalarda insondan yuqori aniqlikka erishgan bo'lsa-da, ularning ishonchliligi aniqlik raqami bilan o'lchanmaydi. 2013-yilda Szegedy va hamkasblari ko'rsatdiki, tasvirga inson ko'zi sezmaydigan darajada kichik, lekin maxsus hisoblangan shovqin qo'shilsa, ImageNet'da 76% aniqlikdagi model «panda»ni ishonch bilan «gibbon» deb tasniflay boshlaydi. Keyinchalik bu hodisa — adversarial misollar (adversarial examples) — faqat laboratoriya qiziqishi emasligi ma'lum bo'ldi: yo'l belgisiga yopishtirilgan bir nechta stiker avtonom avtomobil detektorini chalg'itishi, ovozga qo'shilgan eshitilmas signal aqlli karnayga buyruq berishi, tibbiy tasvirga kiritilgan bir nechta piksel sug'urta firibgarligida ishlatilishi mumkinligi eksperimental tasdiqlandi.</a:t>
            </a:r>
          </a:p>
          <a:p/>
          <a:p>
            <a:r>
              <a:t>Xavfsizlik bilan bir qatorda ikkinchi muammo — shaffoflik. Bank kredit berishni rad etganda, kasalxona tasvirni «xavfli» deb belgilaganda yoki ishga qabul tizimi nomzodni saralaganda, qaror qabul qilingan asos tushuntirilishi kerak. Bu talab endi faqat etik tavsiya emas: Yevropa Ittifoqining sun'iy intellekt to'g'risidagi qonuni (EU AI Act, 2024-yil avgustda kuchga kirgan) yuqori xavfli tizimlar uchun shaffoflik, inson nazorati va texnik hujjatlashtirishni majburiy qiladi, ISO/IEC 42001:2023 standarti esa tashkilotda sun'iy intellektni boshqarish tizimiga (AI Management System) talablarni belgilaydi.</a:t>
            </a:r>
          </a:p>
          <a:p/>
          <a:p>
            <a:r>
              <a:t>Uchinchi muammo — xolislik. Model o'quv ma'lumotlaridagi tarixiy nomutanosibliklarni o'rganib, ularni kuchaytirishi mumkin. 2018-yilda ommaga oshkor bo'lgan Amazon ishga qabul tizimi misoli (ayollar rezyumelarini pasaytirgani uchun loyiha to'xtatilgan) va COMPAS retsidiv bashorati tizimi atrofidagi ProPublica tahlili bu muammoning real oqibatlarini ko'rsatdi. Muhandis uchun savol — «model adolatlimi?» emas, balki «qaysi adolatlilik mezoni bo'yicha, qaysi guruhlar uchun, qanday chegarada?» — chunki turli adolatlilik mezonlari matematik jihatdan bir vaqtda qondirilishi mumkin emas.</a:t>
            </a:r>
          </a:p>
          <a:p/>
          <a:p>
            <a:r>
              <a:t>Ushbu mashg'ulotda uchala yo'nalish bitta laboratoriya ishida birlashtiriladi: talaba avval tasvir klassifikatoriga hujum qiladi va uni himoyalaydi, so'ngra uning qarorlarini XAI bilan tushuntiradi, keyin jadvalli ma'lumotlarda adolatlilikni o'lchaydi va tuzatadi, nihoyat, butun tizimni etik tekshiruv ro'yxati bo'yicha baholaydi. Bu ketma-ketlik sanoatdagi «AI assurance» (ishonchlilik kafolati) jarayonini aks ettiradi.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Adversarial hujumlarni tasniflashda avval tahdid modeli (threat model) aniqlanadi: hujumchi nimani biladi va nimani o'zgartira oladi. Bilim bo'yicha hujumlar oq quti (white-box — model arxitekturasi va og'irliklari ma'lum, gradientlar hisoblanadi), kulrang quti (gray-box — arxitektura ma'lum, og'irliklar yo'q) va qora quti (black-box — faqat so'rov-javob interfeysi) ga bo'linadi. Qora quti hujumlar ko'chuvchanlik (transferability — bir modelga qarshi yasalgan misol boshqasiga ham ta'sir qiladi) yoki so'rovlar asosidagi gradient baholash (ZOO, Square Attack) orqali amalga oshiriladi.</a:t>
            </a:r>
          </a:p>
          <a:p/>
          <a:p>
            <a:r>
              <a:t>Maqsad bo'yicha: yo'naltirilmagan (untargeted — har qanday noto'g'ri sinf) va yo'naltirilgan (targeted — aniq sinf). Bosqich bo'yicha: chetlab o'tish (evasion — inferens paytida kirishni buzish), zaharlash (poisoning — o'quv to'plamiga buzilgan namunalar kiritish), orqa eshik (backdoor — maxsus trigger bilan faollashadigan yashirin xatti-harakat), model o'g'irlash (extraction) va a'zolik inferensi (membership inference — namuna o'quv to'plamida bo'lganini aniqlash, maxfiylik buzilishi).</a:t>
            </a:r>
          </a:p>
          <a:p/>
          <a:p>
            <a:r>
              <a:t>Buzilish kattaligi odatda L_p normada cheklanadi: L_inf — har bir piksel ko'pi bilan epsilon ga o'zgaradi (eng ko'p ishlatiladi, CIFAR-10 uchun standart epsilon = 8/255), L_2 — umumiy Evklid uzunligi cheklanadi, L_0 — o'zgartirilgan piksellar soni cheklanadi (stiker-hujumlar).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FGSM (Goodfellow va boshq., 2015) bitta gradient qadamidan iborat: x_adv = x + epsilon  sign(grad_x L(f(x), y)). G'oya — yo'qotish funksiyasini kirish bo'yicha chiziqli deb hisoblab, uni L_inf shari ichida maksimal oshiradigan yo'nalish aynan gradient ishorasi bo'lishidir. FGSM tez (bitta orqaga o'tish), lekin kuchsiz: ko'p modellar unga qarshi qisman chidamli.</a:t>
            </a:r>
          </a:p>
          <a:p/>
          <a:p>
            <a:r>
              <a:t>PGD (Madry va boshq., 2018) — FGSM ning iterativ, tasodifiy boshlang'ich nuqtali umumlashmasi: x_0 = x + U(-epsilon, epsilon), so'ngra K marta x_{k+1} = Proj_{B(x, epsilon)}(x_k + alpha  sign(grad L)), bu yerda Proj — natijani x atrofidagi epsilon-shar ichiga qaytarish (qirqish) va [0, 1] piksel diapazonida ushlab turish. Standart sozlama: K = 10–20, alpha = 2/255. PGD «birinchi tartibli eng kuchli hujum» hisoblanadi va mustahkamlikni baholashning amaldagi standartidir; AutoAttack to'plami esa PGD ning moslashuvchan variantlarini birlashtirib, baholashni yanada ishonchli qiladi.</a:t>
            </a:r>
          </a:p>
          <a:p/>
          <a:p>
            <a:r>
              <a:t>Adversarial o'qitish — hozircha eng ishonchli empirik himoya: har mini-paketda avval PGD bilan adversarial namunalar yasaladi, so'ngra model aynan ular ustida o'qitiladi (min-max optimallashtirish). Narxi: o'qitish K+1 baravar qimmat va toza aniqlik 5–15 foiz bandiga pasayadi. Boshqa himoyalar — kirishni oldindan qayta ishlash (JPEG siqish, shovqin kamaytirish), gradient yashirish (gradient masking), sertifikatlangan himoya (randomized smoothing) — turli darajada samarali; gradient yashirish ko'pincha xayoliy xavfsizlik beradi va moslashuvchan hujum bilan buziladi.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XAI usullari global (modelning umumiy xatti-harakati) va lokal (bitta bashorat) tushuntirishlarga, shuningdek modelga xos va modeldan mustaqil (model-agnostic) usullarga bo'linadi.</a:t>
            </a:r>
          </a:p>
          <a:p/>
          <a:p>
            <a:r>
              <a:t>Grad-CAM (Gradient-weighted Class Activation Mapping, Selvaraju va boshq., 2017) — konvolyutsion tarmoqlar uchun lokal usul. Tanlangan sinf logitining oxirgi konvolyutsion qatlam faollashuvlari A^k bo'yicha gradienti olinadi, har kanal uchun fazoviy o'rtacha olinib vazn alpha_k hisoblanadi, so'ngra L = ReLU(sum_k alpha_k  A^k) xaritasi kirish o'lchamiga kattalashtiriladi. Natija — modelning «qayerga qaragani» issiqlik xaritasi. Usul tez (bitta orqaga o'tish), lekin faqat qo'pol lokalizatsiya beradi va faqat konvolyutsion/transformer arxitekturalariga mos.</a:t>
            </a:r>
          </a:p>
          <a:p/>
          <a:p>
            <a:r>
              <a:t>SHAP (SHapley Additive exPlanations, Lundberg &amp; Lee, 2017) — kooperativ o'yinlar nazariyasidagi Shepli qiymatlariga asoslangan modeldan mustaqil usul. Har bir belgining (feature) hissasi barcha mumkin bo'lgan belgilar kombinatsiyalari ustidan o'rtachalashtirilgan marginal hissa sifatida aniqlanadi; bu yagona usulki, u lokal aniqlik (hissalar yig'indisi bashoratga teng), yo'qlik (ishtirok etmagan belgi hissasi nol) va izchillik aksiomalarini bir vaqtda qondiradi. Aniq hisoblash eksponensial, shuning uchun amalda TreeSHAP (daraxt ansambllari uchun polinomial), KernelSHAP (istalgan model, tanlanma asosida) va DeepSHAP/GradientSHAP (neyron tarmoqlar) ishlatiladi. SHAP jadvalli ma'lumotlarda de-fakto standart: u lokal tushuntirishni (waterfall grafigi) ham, global muhimlikni (beeswarm grafigi) ham beradi.</a:t>
            </a:r>
          </a:p>
          <a:p/>
          <a:p>
            <a:r>
              <a:t>XAI ning muhim cheklovi — tushuntirish modelning haqiqiy sababini emas, uning o'ziga bog'liqligini ko'rsatadi; adversarial hujumga uchragan namunada Grad-CAM xaritasi butunlay boshqa joyga «ko'chishi» mumkin, bu esa hujumni aniqlash uchun ham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tahlilida sezgir atribut (sensitive attribute — jins, yosh, millat, hudud) A, haqiqiy natija Y va bashorat Y_hat ko'rib chiqiladi. Asosiy guruh mezonlari:</a:t>
            </a:r>
          </a:p>
          <a:p/>
          <a:p>
            <a:r>
              <a:t>Demografik paritet (demographic parity): P(Y_hat = 1 | A = a) barcha guruhlar uchun teng. Ijobiy qaror ulushi guruhdan bog'liq emas. Farq ko'rsatkichi — demographic_parity_difference, nisbat — ..._ratio (AQSh «to'rtdan besh» qoidasi 0.8 dan yuqori bo'lishini talab qiladi).</a:t>
            </a:r>
          </a:p>
          <a:p/>
          <a:p>
            <a:r>
              <a:t>Teng imkoniyat (equal opportunity): P(Y_hat = 1 | Y = 1, A = a) teng — haqiqiy ijobiy namunalar uchun topish darajasi (TPR) teng.</a:t>
            </a:r>
          </a:p>
          <a:p/>
          <a:p>
            <a:r>
              <a:t>Tenglashtirilgan koeffitsiyentlar (equalized odds): TPR ham, FPR ham teng.</a:t>
            </a:r>
          </a:p>
          <a:p/>
          <a:p>
            <a:r>
              <a:t>Kalibrlash (calibration): berilgan bashorat ehtimolligi uchun haqiqiy ijobiy ulushi guruhlar bo'yicha teng.</a:t>
            </a:r>
          </a:p>
          <a:p/>
          <a:p>
            <a:r>
              <a:t>Chouldechova (2017) va Kleinberg va boshq. (2016) isbotladiki, bazaviy ulushlar (P(Y=1|A)) guruhlarda farq qilsa, kalibrlash va tenglashtirilgan koeffitsiyentlarni bir vaqtda qondirish mumkin emas. Shuning uchun muhandis mezonni masala konteksti asosida tanlashi va bu tanlovni hujjatlashtirishi kerak: kreditda ko'pincha teng imkoniyat (haqiqatan to'lay oladiganlar teng topilsin), tibbiy skriningda — teng FNR (kasalni o'tkazib yuborish guruhdan bog'liq bo'lmasin).</a:t>
            </a:r>
          </a:p>
          <a:p/>
          <a:p>
            <a:r>
              <a:t>Fairlearn kutubxonasi uch turdagi tuzatish beradi: oldindan qayta ishlash (pre-processing — ma'lumotni qayta vaznlash), jarayon ichida (in-processing — ExponentiatedGradient, GridSearch cheklovli optimallashtirish) va keyingi qayta ishlash (post-processing — ThresholdOptimizer, guruhga xos chegaralar). MetricFrame obyekti esa istalgan metrikani guruhlar bo'yicha kesimda hisoblaydi.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tahlilida sezgir atribut (sensitive attribute — jins, yosh, millat, hudud) A, haqiqiy natija Y va bashorat Y_hat ko'rib chiqiladi. Asosiy guruh mezonlari:</a:t>
            </a:r>
          </a:p>
          <a:p/>
          <a:p>
            <a:r>
              <a:t>Demografik paritet (demographic parity): P(Y_hat = 1 | A = a) barcha guruhlar uchun teng. Ijobiy qaror ulushi guruhdan bog'liq emas. Farq ko'rsatkichi — demographic_parity_difference, nisbat — ..._ratio (AQSh «to'rtdan besh» qoidasi 0.8 dan yuqori bo'lishini talab qiladi).</a:t>
            </a:r>
          </a:p>
          <a:p/>
          <a:p>
            <a:r>
              <a:t>Teng imkoniyat (equal opportunity): P(Y_hat = 1 | Y = 1, A = a) teng — haqiqiy ijobiy namunalar uchun topish darajasi (TPR) teng.</a:t>
            </a:r>
          </a:p>
          <a:p/>
          <a:p>
            <a:r>
              <a:t>Tenglashtirilgan koeffitsiyentlar (equalized odds): TPR ham, FPR ham teng.</a:t>
            </a:r>
          </a:p>
          <a:p/>
          <a:p>
            <a:r>
              <a:t>Kalibrlash (calibration): berilgan bashorat ehtimolligi uchun haqiqiy ijobiy ulushi guruhlar bo'yicha teng.</a:t>
            </a:r>
          </a:p>
          <a:p/>
          <a:p>
            <a:r>
              <a:t>Chouldechova (2017) va Kleinberg va boshq. (2016) isbotladiki, bazaviy ulushlar (P(Y=1|A)) guruhlarda farq qilsa, kalibrlash va tenglashtirilgan koeffitsiyentlarni bir vaqtda qondirish mumkin emas. Shuning uchun muhandis mezonni masala konteksti asosida tanlashi va bu tanlovni hujjatlashtirishi kerak: kreditda ko'pincha teng imkoniyat (haqiqatan to'lay oladiganlar teng topilsin), tibbiy skriningda — teng FNR (kasalni o'tkazib yuborish guruhdan bog'liq bo'lmasin).</a:t>
            </a:r>
          </a:p>
          <a:p/>
          <a:p>
            <a:r>
              <a:t>Fairlearn kutubxonasi uch turdagi tuzatish beradi: oldindan qayta ishlash (pre-processing — ma'lumotni qayta vaznlash), jarayon ichida (in-processing — ExponentiatedGradient, GridSearch cheklovli optimallashtirish) va keyingi qayta ishlash (post-processing — ThresholdOptimizer, guruhga xos chegaralar). MetricFrame obyekti esa istalgan metrikani guruhlar bo'yicha kesimda hisoblaydi.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ISO/IEC 42001:2023 — sun'iy intellektni boshqarish tizimi standarti: tashkilot AI siyosati, rollar, xavf baholash, ta'sir baholash (AI impact assessment), hayot sikli nazorati va uzluksiz takomillashtirishni belgilashi kerak. ISO/IEC 23894:2023 — AI uchun xavf menejmenti bo'yicha ko'rsatma (ISO 31000 asosida): xavf manbalari ro'yxati (ma'lumot sifati, shaffoflik yetishmasligi, adversarial ta'sir, avtomatlashtirish tarafkashligi). EU AI Act xavf asosidagi yondashuvni qo'llaydi: taqiqlangan amaliyotlar (ijtimoiy reyting, ish joyida hissiyotni aniqlash), yuqori xavfli tizimlar (ta'lim, bandlik, kredit, tibbiyot, huquqni muhofaza) uchun 9–15-moddalardagi talablar — xavf menejmenti tizimi, ma'lumotlarni boshqarish, texnik hujjatlar, jurnal yuritish, shaffoflik, inson nazorati, aniqlik/mustahkamlik/kiberxavfsizlik. NIST AI Risk Management Framework (AI RMF 1.0, 2023) esa to'rt funksiyani (Govern, Map, Measure, Manage) taklif qiladi. Ushbu hujjatlar asosida mashg'ulotda 20 banddan iborat tekshiruv ro'yxati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to'rt qismdan iborat: (A) CIFAR-10 klassifikatoriga FGSM/PGD hujumi va adversarial o'qitish; (B) Grad-CAM va SHAP bilan qarorlarni tushuntirish; (C) Adult (Census Income) jadvalli ma'lumotida Fairlearn bilan adolatlilik tahlili; (D) etik tekshiruv ro'yxatini to'ldirish.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Apparat: bitta NVIDIA GPU (8 GB yetarli) yoki CPU (A qismida vaqt 5–8 baravar oshadi; --subset bilan kamaytirish mumkin).</a:t>
            </a:r>
          </a:p>
          <a:p/>
          <a:p>
            <a:r>
              <a:t>Dasturiy ta'minot: Python 3.10+, PyTorch 2.3+, torchvision; pip install torchattacks shap fairlearn scikit-learn pandas matplotlib grad-cam.</a:t>
            </a:r>
          </a:p>
          <a:p/>
          <a:p>
            <a:r>
              <a:t>Ma'lumotlar: CIFAR-10 (avtomatik yuklanadi); Adult — fairlearn.datasets.fetch_adult() orqali OpenML'dan (48 842 yozuv, 14 belgi, maqsad — yillik daromad 50 ming dollardan oshadimi).</a:t>
            </a:r>
          </a:p>
          <a:p/>
          <a:p>
            <a:r>
              <a:t>Oldindan o'qitilgan CIFAR-10 modeli: A5 mashg'ulotidan ResNet-18 checkpoint'i yoki quyidagi skript bilan 15 epoxada o'qitilgan model (toza aniqlik ~90%).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Normalizatsiyani model ichiga joylashtirdik — bu adversarial tadqiqotlarda muhim: hujum [0, 1] piksel fazosida epsilon = 8/255 chegarasi bilan ishlashi kerak, aks holda normallashtirilgan fazodagi epsilon jismoniy ma'noga ega bo'lmaydi. 15 epoxadan so'ng toza aniqlik taxminan 90–92% (RTX 3090 da ~6 daqiqa). Bu raqam A qismidagi barcha taqqoslashlar uchun asos.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epsilon uchun aniqlik o'lchandi. Toza modelda natija keskin: epsilon = 8/255 da FGSM aniqlikni ~90% dan 15–25% gacha, PGD-10 esa 0–2% gacha tushiradi (taxminiy). torchattacks bilan taqqoslash — o'z-o'zini tekshirish: agar qo'lda yozilgan PGD natijasi kutubxonanikidan sezilarli yuqori bo'lsa, demak hujumda xato bor (eng ko'p uchraydigani — model.eval() unutilgan, gradient detach qilinmagan yoki proyeksiya noto'g'ri). Hujumda PGD ning FGSM dan kuchli ekani iterativ optimallashtirishning afzalligini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qadamda 7 ta PGD iteratsiyasi qo'shimcha orqaga o'tish talab qiladi, shuning uchun o'qitish ~8 baravar sekin (RTX 3090 da ~50 daqiqa). Natija: toza aniqlik 80–84% gacha pasayadi, lekin PGD-10 (8/255) ostidagi aniqlik 0–2% dan 45–50% gacha ko'tariladi (taxminiy; adabiyotdagi ResNet-18 uchun odatiy natija). Bu — mustahkamlik va aniqlik orasidagi klassik murosa. Hujum yasashda model.eval() ga o'tish BatchNorm statistikasini buzmaslik uchun kerak; bu kichik tafsilot natijaga 3–5 foiz bandi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Yuqori ikki qator — toza tasvir va uning Grad-CAM xaritasi, pastki ikki qator — PGD bilan buzilgan tasvir (ko'zga toza bilan bir xil) va uning xaritasi. Kutilgan kuzatuv: toza namunada issiqlik obyektning o'zida (masalan, it boshida) to'plangan; adversarial namunada bashorat noto'g'ri va xarita fon yoki tasodifiy hududga ko'chgan, ba'zan esa «parchalanib» ketgan. Bu ikki xulosa beradi: Grad-CAM modelning nimaga qaraganini ko'rsatadi, lekin uni hujumdan himoya qilmaydi; va xaritaning tarqoqligi (entropiyasi) adversarial namunani aniqlash uchun belgi sifatida ishlatilishi mumkin. Adversarial o'qitilgan adv.pt modelida xaritalar odatda obyekt konturiga yaqinroq va hujumda kamroq ko'chadi — talaba buni ham solishtirishi kerak.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Bazaviy gradient boosting Adult'da ~86–87% aniqlik beradi, lekin MetricFrame guruhlar kesimida ko'rsatadiki, erkaklar uchun ijobiy qaror ulushi (selection_rate) ~0.25, ayollar uchun ~0.07 — demografik paritet farqi ~0.18. Bu farqning bir qismi ma'lumotdagi haqiqiy bazaviy ulushlar farqidan (erkaklar orasida 50K+ ulushi 30%, ayollarda 11%) kelib chiqadi, shuning uchun teng imkoniyat / tenglashtirilgan koeffitsiyentlar mezoni ko'proq ma'noli: TPR farqi odatda 0.08–0.12 atrofida chiqadi. ThresholdOptimizer guruhga xos chegara tanlab EO farqini 0.02–0.03 gacha tushiradi, aniqlik ~1 foiz bandiga pasayadi. ExponentiatedGradient esa cheklovni o'qitish ichida hisobga oladi va tasodifiylashtirilgan klassifikator qaytaradi (shuning uchun random_state). SHAP beeswarm grafigida marital-status, education-num, capital-gain, age yuqori chiqadi; sex belgisining o'zi pastroq, lekin relationship_Husband/Wife kabi vakil belgilar (proxy) orqali jins ta'siri bilvosita davom etadi — bu sezgir atributni shunchaki olib tashlash yetarli emasligining amaliy isboti.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20 bandli ro'yxatni (ISO/IEC 42001, ISO/IEC 23894, EU AI Act 9–15-moddalari va NIST AI RMF asosida tuzilgan) 1-5 qadamlarda qurilgan tizim uchun to'ldiradi; har band uchun «Bajarilgan / Qisman / Yo'q», dalil (fayl, grafik, raqam) va chora ko'rsatiladi.</a:t>
            </a:r>
          </a:p>
          <a:p/>
          <a:p>
            <a:r>
              <a:t>Nima bo'ldi va nega. Ro'yxat texnik o'lchovlarni (7, 8, 11) tashkiliy talablar bilan (1, 12, 19) bog'laydi. Laboratoriya tizimida 1–11 va 20-bandlar bevosita bajarilishi mumkin; 12–19-bandlar uchun talaba reja va mas'uliyat taqsimotini yozadi. Bu A7 yakuniy loyihasida «adolatlilik» bosqichining asosi bo'ladi.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qiymatlar ResNet-18/CIFAR-10 va GBM/Adult uchun taxminiy mo'ljal; talaba o'z natijalarini shu shaklda keltiradi.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Tahdid modeli: hujumchi bilimi, buzilish normasi va epsilon, himoya chorasi (yarim sahifa).</a:t>
            </a:r>
          </a:p>
          <a:p/>
          <a:p>
            <a:r>
              <a:t>Mustahkamlik egri chizig'i: epsilon ga bog'liq aniqlik grafigi (FGSM va PGD, toza va adversarial model — 4 chiziq) + jadval.</a:t>
            </a:r>
          </a:p>
          <a:p/>
          <a:p>
            <a:r>
              <a:t>Grad-CAM paneli (kamida 8 namuna, toza va adversarial) va kuzatuvlar tahlili.</a:t>
            </a:r>
          </a:p>
          <a:p/>
          <a:p>
            <a:r>
              <a:t>Adolatlilik jadvali (uchta model), SHAP beeswarm grafigi, vakil belgilar tahlili, tanlangan mezon asosi.</a:t>
            </a:r>
          </a:p>
          <a:p/>
          <a:p>
            <a:r>
              <a:t>To'ldirilgan 20 bandli tekshiruv ro'yxati dalillar bilan.</a:t>
            </a:r>
          </a:p>
          <a:p/>
          <a:p>
            <a:r>
              <a:t>Xulosa: tizim qaysi sharoitda ishlatilishi mumkin va qaysi sharoitda mumkin emas.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Tahdid modeli: hujumchi bilimi, buzilish normasi va epsilon, himoya chorasi (yarim sahifa).</a:t>
            </a:r>
          </a:p>
          <a:p/>
          <a:p>
            <a:r>
              <a:t>Mustahkamlik egri chizig'i: epsilon ga bog'liq aniqlik grafigi (FGSM va PGD, toza va adversarial model — 4 chiziq) + jadval.</a:t>
            </a:r>
          </a:p>
          <a:p/>
          <a:p>
            <a:r>
              <a:t>Grad-CAM paneli (kamida 8 namuna, toza va adversarial) va kuzatuvlar tahlili.</a:t>
            </a:r>
          </a:p>
          <a:p/>
          <a:p>
            <a:r>
              <a:t>Adolatlilik jadvali (uchta model), SHAP beeswarm grafigi, vakil belgilar tahlili, tanlangan mezon asosi.</a:t>
            </a:r>
          </a:p>
          <a:p/>
          <a:p>
            <a:r>
              <a:t>To'ldirilgan 20 bandli tekshiruv ro'yxati dalillar bilan.</a:t>
            </a:r>
          </a:p>
          <a:p/>
          <a:p>
            <a:r>
              <a:t>Xulosa: tizim qaysi sharoitda ishlatilishi mumkin va qaysi sharoitda mumkin emas.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Mustahkamlik natijalari ko'rsatadiki, standart o'qitilgan model L_inf buzilishining juda kichik qiymatlarida ham ishonchsiz: epsilon = 2/255 (255 darajali shkalada 2 birlik, inson ko'zi uchun mutlaqo sezilmas) PGD aniqlikni 90% dan 35% gacha tushiradi. Bu yuqori o'lchamli fazoda chiziqli xatti-harakatning oqibati: har pikselga kichik o'zgarish qo'shilsa, ularning yig'indisi logitni sezilarli siljitadi. Adversarial o'qitish egri chiziqni butunlay o'zgartiradi, lekin ikki narxga: toza aniqlik 8–10 foiz bandiga tushadi va o'qitish narxi sakkiz baravar oshadi. Sanoatda bu murosani tizim konteksti hal qiladi — tibbiy triaj yoki moliyaviy firibgarlikni aniqlashda mustahkamlik ustun, foto-galereyani tartiblashda esa toza aniqlik.</a:t>
            </a:r>
          </a:p>
          <a:p/>
          <a:p>
            <a:r>
              <a:t>Muhim cheklov: adversarial o'qitish faqat o'qitilgan tahdid modeli doirasida himoya beradi. L_inf 8/255 ga qarshi o'qitilgan model L_2 hujumiga yoki fizik stikerlarga zaif qolishi mumkin; shuningdek, 16/255 da aniqlik yana 18% gacha tushadi. Shuning uchun himoyani «yopilgan» deb emas, «ma'lum chegara ichida baholangan» deb hujjatlashtirish kerak. Muqobil yondashuvlar — sertifikatlangan mustahkamlik (randomized smoothing kichik L_2 radiusda matematik kafolat beradi), kirishni aniqlash detektorlari va ansambl usullari — har biri o'z cheklovlariga ega.</a:t>
            </a:r>
          </a:p>
          <a:p/>
          <a:p>
            <a:r>
              <a:t>XAI tahlili modelning haqiqiy asoslarini ochib beradi va ayni paytda uning chegaralarini ko'rsatadi. Grad-CAM xaritasi hujum ostida ko'chishi tushuntirishning o'zi ham hujumga zaifligini bildiradi; shuning uchun tushuntirishlarni foydalanuvchiga ko'rsatishdan oldin ularning barqarorligini (kichik shovqinda xarita qanchalik o'zgaradi) va sodiqligini (muhim deb ko'rsatilgan hududni o'chirish bashoratni qanchalik o'zgartiradi — deletion/insertion metrikalari) o'lchash kerak.</a:t>
            </a:r>
          </a:p>
          <a:p/>
          <a:p>
            <a:r>
              <a:t>Adolatlilik natijalari eng muhim uslubiy xulosani beradi: «sezgir atributni olib tashlash» (fairness through unawareness) ishlamaydi, chunki SHAP vakil belgilar orqali ta'sir saqlanishini ko'rsatadi. Tuzatish usullari EO farqini beshdan bir qismga tushiradi, lekin aniqlik 1–1.5 foiz bandiga pasayadi va demografik paritet to'liq yo'qolmaydi — bu mezonlarning mos kelmaslik teoremasining amaliy namoyishi. Post-processing usuli oddiy va mavjud modelga qo'llaniladi, lekin inferens vaqtida sezgir atributni talab qiladi, bu ba'zi yurisdiksiyalarda huquqiy muammo tug'diradi; in-processing usuli esa buni talab qilmaydi, lekin qayta o'qitishni va tasodifiylashtirilgan qarorlarni qabul qilishni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Hujumni normallashtirilgan fazoda bajarish. epsilon = 8/255 faqat [0, 1] piksel fazosida ma'noga ega; normalizatsiya tashqarida bo'lsa, hujum haqiqatdan 4 baravar kuchliroq yoki kuchsizroq chiqadi. Normalizatsiyani model ichiga oling.</a:t>
            </a:r>
          </a:p>
          <a:p/>
          <a:p>
            <a:r>
              <a:t>Hujumda model.train() rejimi. BatchNorm va Dropout tasodifiylik kiritadi, gradientlar noto'g'ri bo'ladi, hujum zaiflashadi va «soxta mustahkamlik» ko'rinadi. Hujum yasashdan oldin doimo eval().</a:t>
            </a:r>
          </a:p>
          <a:p/>
          <a:p>
            <a: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a:p/>
          <a:p>
            <a:r>
              <a:t>Bitta epsilon da baholash. Mustahkamlik — egri chiziq, nuqta emas. Kamida 4–5 epsilon qiymati va kamida ikkita hujum turi.</a:t>
            </a:r>
          </a:p>
          <a:p/>
          <a:p>
            <a:r>
              <a:t>Grad-CAM uchun noto'g'ri qatlam. Juda erta qatlam — shovqinli xarita, juda kech (to'liq bog'langan) — xarita yo'q. Oxirgi konvolyutsion blok (ResNet'da layer4[-1]) standart tanlov; ViT uchun oxirgi LayerNorm va reshape transformatsiyasi kerak.</a:t>
            </a:r>
          </a:p>
          <a:p/>
          <a:p>
            <a:r>
              <a:t>SHAP'ni butun test to'plamida KernelSHAP bilan hisoblash. Soatlab vaqt oladi. Daraxt modellari uchun TreeSHAP, neyron tarmoqlar uchun DeepSHAP/GradientSHAP; KernelSHAP faqat kichik tanlanma uchun.</a:t>
            </a:r>
          </a:p>
          <a:p/>
          <a:p>
            <a:r>
              <a:t>Sezgir atributni o'chirib «adolatli» deb e'lon qilish. Vakil belgilar ta'sirni saqlaydi; har doim guruhlar kesimida o'lchang, atribut modelda bo'lmasa ham baholashda ishlating.</a:t>
            </a:r>
          </a:p>
          <a:p/>
          <a:p>
            <a: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a:p/>
          <a:p>
            <a:r>
              <a:t>Kichik guruhlarda shovqinli metrika. Agar guruhda 50 tadan kam namuna bo'lsa, TPR farqi tasodifiy bo'lishi mumkin; ishonch intervallarini (bootstrap) keltiring.</a:t>
            </a:r>
          </a:p>
          <a:p/>
          <a:p>
            <a:r>
              <a:t>Tekshiruv ro'yxatini rasmiyat uchun to'ldirish. Har band dalil (fayl, grafik, raqam, mas'ul shaxs) talab qiladi; dalilsiz «bajarilgan» belgi auditda qabul qilinmaydi.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Hujumni normallashtirilgan fazoda bajarish. epsilon = 8/255 faqat [0, 1] piksel fazosida ma'noga ega; normalizatsiya tashqarida bo'lsa, hujum haqiqatdan 4 baravar kuchliroq yoki kuchsizroq chiqadi. Normalizatsiyani model ichiga oling.</a:t>
            </a:r>
          </a:p>
          <a:p/>
          <a:p>
            <a:r>
              <a:t>Hujumda model.train() rejimi. BatchNorm va Dropout tasodifiylik kiritadi, gradientlar noto'g'ri bo'ladi, hujum zaiflashadi va «soxta mustahkamlik» ko'rinadi. Hujum yasashdan oldin doimo eval().</a:t>
            </a:r>
          </a:p>
          <a:p/>
          <a:p>
            <a: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a:p/>
          <a:p>
            <a:r>
              <a:t>Bitta epsilon da baholash. Mustahkamlik — egri chiziq, nuqta emas. Kamida 4–5 epsilon qiymati va kamida ikkita hujum turi.</a:t>
            </a:r>
          </a:p>
          <a:p/>
          <a:p>
            <a:r>
              <a:t>Grad-CAM uchun noto'g'ri qatlam. Juda erta qatlam — shovqinli xarita, juda kech (to'liq bog'langan) — xarita yo'q. Oxirgi konvolyutsion blok (ResNet'da layer4[-1]) standart tanlov; ViT uchun oxirgi LayerNorm va reshape transformatsiyasi kerak.</a:t>
            </a:r>
          </a:p>
          <a:p/>
          <a:p>
            <a:r>
              <a:t>SHAP'ni butun test to'plamida KernelSHAP bilan hisoblash. Soatlab vaqt oladi. Daraxt modellari uchun TreeSHAP, neyron tarmoqlar uchun DeepSHAP/GradientSHAP; KernelSHAP faqat kichik tanlanma uchun.</a:t>
            </a:r>
          </a:p>
          <a:p/>
          <a:p>
            <a:r>
              <a:t>Sezgir atributni o'chirib «adolatli» deb e'lon qilish. Vakil belgilar ta'sirni saqlaydi; har doim guruhlar kesimida o'lchang, atribut modelda bo'lmasa ham baholashda ishlating.</a:t>
            </a:r>
          </a:p>
          <a:p/>
          <a:p>
            <a: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a:p/>
          <a:p>
            <a:r>
              <a:t>Kichik guruhlarda shovqinli metrika. Agar guruhda 50 tadan kam namuna bo'lsa, TPR farqi tasodifiy bo'lishi mumkin; ishonch intervallarini (bootstrap) keltiring.</a:t>
            </a:r>
          </a:p>
          <a:p/>
          <a:p>
            <a:r>
              <a:t>Tekshiruv ro'yxatini rasmiyat uchun to'ldirish. Har band dalil (fayl, grafik, raqam, mas'ul shaxs) talab qiladi; dalilsiz «bajarilgan» belgi auditda qabul qilinmaydi.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yuqori o'lchamli kirish fazosida chiziqli modellar ham adversarial misollarga zaif? Goodfellow'ning «chiziqlilik gipotezasi»ni epsilon  ||w||_1 ifodasi orqali tushuntiring.</a:t>
            </a:r>
          </a:p>
          <a:p/>
          <a:p>
            <a:r>
              <a:t>PGD ning tasodifiy boshlang'ich nuqtasi nima uchun muhim? Usiz qanday holda PGD FGSM dan kuchsizroq chiqishi mumkin?</a:t>
            </a:r>
          </a:p>
          <a:p/>
          <a:p>
            <a:r>
              <a:t>Adversarial o'qitish toza aniqlikni pasaytiradi. Bu muroza fundamental (nazariy) xususiyatmi yoki hozirgi usullarning cheklovimi? Dalillar keltiring.</a:t>
            </a:r>
          </a:p>
          <a:p/>
          <a:p>
            <a:r>
              <a:t>Qora quti sharoitda (faqat API) hujumchi qanday strategiyalarni qo'llaydi va tizim egasi qaysi choralar bilan ularni qiyinlashtira oladi (so'rov limiti, chiqishni yaxlitlash, detektorlar)? Har choraning salbiy tomoni nima?</a:t>
            </a:r>
          </a:p>
          <a:p/>
          <a:p>
            <a:r>
              <a:t>Grad-CAM xaritasi «to'g'ri joyga» qaragan bo'lsa, bu modelning to'g'ri sababga asoslanganini kafolatlaydimi? Sodiqlik (faithfulness) va ishonarlilik (plausibility) tushunchalarini farqlang.</a:t>
            </a:r>
          </a:p>
          <a:p/>
          <a:p>
            <a:r>
              <a:t>SHAP qiymatlari belgilar o'rtasida kuchli korrelyatsiya bo'lganda qanday chalg'itishi mumkin? Adult misolida relationship va sex belgilarini muhokama qiling.</a:t>
            </a:r>
          </a:p>
          <a:p/>
          <a:p>
            <a:r>
              <a:t>Kalibrlash va tenglashtirilgan koeffitsiyentlar bir vaqtda qondirilmasligini intuitiv tushuntiring. Qaysi masala uchun qaysi birini tanlaysiz: kredit skoringi, saraton skriningi, retsidiv bashorati?</a:t>
            </a:r>
          </a:p>
          <a:p/>
          <a:p>
            <a:r>
              <a:t>Post-processing tuzatish inferens vaqtida sezgir atributni talab qiladi. Bu qanday huquqiy va texnik muammolar tug'diradi va in-processing bu muammolarni qanday hal qiladi?</a:t>
            </a:r>
          </a:p>
          <a:p/>
          <a:p>
            <a:r>
              <a:t>EU AI Act bo'yicha laboratoriyada qurilgan Adult-modeli qaysi xavf toifasiga kiradi, agar u bank tomonidan kredit qarorida ishlatilsa? Qaysi moddalar talablari tizimga bevosita qo'llanadi?</a:t>
            </a:r>
          </a:p>
          <a:p/>
          <a:p>
            <a:r>
              <a:t>Model kartasi (model card) nima uchun ishonchlilik vositasi hisoblanadi? Unda mustahkamlik va adolatlilik natijalari qanday shaklda keltirilishi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yuqori o'lchamli kirish fazosida chiziqli modellar ham adversarial misollarga zaif? Goodfellow'ning «chiziqlilik gipotezasi»ni epsilon  ||w||_1 ifodasi orqali tushuntiring.</a:t>
            </a:r>
          </a:p>
          <a:p/>
          <a:p>
            <a:r>
              <a:t>PGD ning tasodifiy boshlang'ich nuqtasi nima uchun muhim? Usiz qanday holda PGD FGSM dan kuchsizroq chiqishi mumkin?</a:t>
            </a:r>
          </a:p>
          <a:p/>
          <a:p>
            <a:r>
              <a:t>Adversarial o'qitish toza aniqlikni pasaytiradi. Bu muroza fundamental (nazariy) xususiyatmi yoki hozirgi usullarning cheklovimi? Dalillar keltiring.</a:t>
            </a:r>
          </a:p>
          <a:p/>
          <a:p>
            <a:r>
              <a:t>Qora quti sharoitda (faqat API) hujumchi qanday strategiyalarni qo'llaydi va tizim egasi qaysi choralar bilan ularni qiyinlashtira oladi (so'rov limiti, chiqishni yaxlitlash, detektorlar)? Har choraning salbiy tomoni nima?</a:t>
            </a:r>
          </a:p>
          <a:p/>
          <a:p>
            <a:r>
              <a:t>Grad-CAM xaritasi «to'g'ri joyga» qaragan bo'lsa, bu modelning to'g'ri sababga asoslanganini kafolatlaydimi? Sodiqlik (faithfulness) va ishonarlilik (plausibility) tushunchalarini farqlang.</a:t>
            </a:r>
          </a:p>
          <a:p/>
          <a:p>
            <a:r>
              <a:t>SHAP qiymatlari belgilar o'rtasida kuchli korrelyatsiya bo'lganda qanday chalg'itishi mumkin? Adult misolida relationship va sex belgilarini muhokama qiling.</a:t>
            </a:r>
          </a:p>
          <a:p/>
          <a:p>
            <a:r>
              <a:t>Kalibrlash va tenglashtirilgan koeffitsiyentlar bir vaqtda qondirilmasligini intuitiv tushuntiring. Qaysi masala uchun qaysi birini tanlaysiz: kredit skoringi, saraton skriningi, retsidiv bashorati?</a:t>
            </a:r>
          </a:p>
          <a:p/>
          <a:p>
            <a:r>
              <a:t>Post-processing tuzatish inferens vaqtida sezgir atributni talab qiladi. Bu qanday huquqiy va texnik muammolar tug'diradi va in-processing bu muammolarni qanday hal qiladi?</a:t>
            </a:r>
          </a:p>
          <a:p/>
          <a:p>
            <a:r>
              <a:t>EU AI Act bo'yicha laboratoriyada qurilgan Adult-modeli qaysi xavf toifasiga kiradi, agar u bank tomonidan kredit qarorida ishlatilsa? Qaysi moddalar talablari tizimga bevosita qo'llanadi?</a:t>
            </a:r>
          </a:p>
          <a:p/>
          <a:p>
            <a:r>
              <a:t>Model kartasi (model card) nima uchun ishonchlilik vositasi hisoblanadi? Unda mustahkamlik va adolatlilik natijalari qanday shaklda keltirilishi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(majburiy). A5 mashg'ulotidagi yoki o'zingiz tanlagan boshqa tasvir to'plami (masalan, GTSRB yo'l belgilari) uchun to'liq mustahkamlik baholashini o'tkazing: FGSM, PGD-20, AutoAttack (standart versiya) — toza va adversarial o'qitilgan model uchun; natijalarni egri chiziq va jadvalda keltiring; adversarial o'qitishda epsilon ni 4/255 va 8/255 qilib solishtiring. Qo'shimcha: Grad-CAM xaritasi entropiyasi asosida oddiy adversarial detektor yasang va uning ROC-AUC ini o'lchang. Baholash: hujumlar va egri chiziq to'g'riligi — 40%, adversarial o'qitish taqqoslashi — 25%, detektor — 20%, hisobot — 15%.</a:t>
            </a:r>
          </a:p>
          <a:p/>
          <a:p>
            <a:r>
              <a:t>2-topshiriq (mustaqil ta'lim 6-topshiriq bilan bog'liq). O'zbekistonda real qo'llanilishi mumkin bo'lgan yuqori xavfli AI tizimi (masalan, mikrokredit skoringi, universitetga qabul saralash yoki tibbiy tasvir triaji) uchun ISO/IEC 42001, ISO/IEC 23894 va EU AI Act asosida xavf baholash hujjati tayyorlang: tahdid modeli, adolatlilik mezoni tanlovi va asosi, XAI talablari, inson nazorati nuqtalari, monitoring rejasi, 20 bandli tekshiruv ro'yxati. Hujjat 8–10 sahifa. Baholash: standartlar talablarini to'g'ri ko'rsatish — 35%, texnik choralar asosi — 35%, takomillashtirish takliflarining amaliyligi — 30%.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(fan saytidagi «Virtual laboratoriya» bo'limi, CPU sandbox: 2 yadro, GPU va tarmoq yo'q). Har biri laboratoriya bosqichlari kodini o'zgartirish orqali bajariladi; to'liq matn, kutilgan natija va hisobot shakli laboratoriya sahifasida keltirilgan. Jami 100 ball: 3 oson × 5, 4 o'rta × 10, 3 qiyin × 15.</a:t>
            </a:r>
          </a:p>
          <a:p/>
          <a:p>
            <a:r>
              <a:t>Eslatma: topshiriqlar natijasi (jadval, grafik, qisqa xulosa) virtual laboratoriya muhitidan hisobotga ko'chiriladi; GPU klasteri talab qiladigan o'lchovlar bu bo'limga kiritilmagan.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modelni baholash va ishonchlilik boblari.</a:t>
            </a:r>
          </a:p>
          <a:p/>
          <a:p>
            <a:r>
              <a:t>[3] Amershi, S. va boshq. Machine Learning Engineering. MIT Press, 2025. — mas'uliyatli AI va baholash bo'limlari.</a:t>
            </a:r>
          </a:p>
          <a:p/>
          <a:p>
            <a:r>
              <a:t>[7] PyTorch rasmiy hujjatlari: https://pytorch.org — torch.autograd.grad, register_buffer.</a:t>
            </a:r>
          </a:p>
          <a:p/>
          <a:p>
            <a:r>
              <a:t>Goodfellow, I. J., Shlens, J., &amp; Szegedy, C. Explaining and Harnessing Adversarial Examples. ICLR 2015. arXiv:1412.6572.</a:t>
            </a:r>
          </a:p>
          <a:p/>
          <a:p>
            <a:r>
              <a:t>Madry, A., Makelov, A., Schmidt, L., Tsipras, D., &amp; Vladu, A. Towards Deep Learning Models Resistant to Adversarial Attacks. ICLR 2018. arXiv:1706.06083.</a:t>
            </a:r>
          </a:p>
          <a:p/>
          <a:p>
            <a:r>
              <a:t>Croce, F., &amp; Hein, M. Reliable evaluation of adversarial robustness with an ensemble of diverse parameter-free attacks. ICML 2020. arXiv:2003.01690. (AutoAttack)</a:t>
            </a:r>
          </a:p>
          <a:p/>
          <a:p>
            <a:r>
              <a:t>Selvaraju, R. R. va boshq. Grad-CAM: Visual Explanations from Deep Networks via Gradient-based Localization. ICCV 2017. arXiv:1610.02391.</a:t>
            </a:r>
          </a:p>
          <a:p/>
          <a:p>
            <a:r>
              <a:t>Lundberg, S. M., &amp; Lee, S.-I. A Unified Approach to Interpreting Model Predictions. NeurIPS 2017. arXiv:1705.07874.</a:t>
            </a:r>
          </a:p>
          <a:p/>
          <a:p>
            <a:r>
              <a:t>Chouldechova, A. Fair prediction with disparate impact: A study of bias in recidivism prediction instruments. Big Data, 5(2), 2017. arXiv:1703.00056.</a:t>
            </a:r>
          </a:p>
          <a:p/>
          <a:p>
            <a:r>
              <a:t>Fairlearn rasmiy hujjatlari: https://fairlearn.org</a:t>
            </a:r>
          </a:p>
          <a:p/>
          <a:p>
            <a:r>
              <a:t>torchattacks kutubxonasi: https://github.com/Harry24k/adversarial-attacks-pytorch</a:t>
            </a:r>
          </a:p>
          <a:p/>
          <a:p>
            <a:r>
              <a:t>ISO/IEC 42001:2023 Information technology — Artificial intelligence — Management system; ISO/IEC 23894:2023 — Guidance on risk management. https://www.iso.org</a:t>
            </a:r>
          </a:p>
          <a:p/>
          <a:p>
            <a:r>
              <a:t>Regulation (EU) 2024/1689 (EU AI Act): https://eur-lex.europa.eu/eli/reg/2024/1689/oj</a:t>
            </a:r>
          </a:p>
          <a:p/>
          <a:p>
            <a:r>
              <a:t>NIST AI Risk Management Framework (AI RMF 1.0), 2023: https://www.nist.gov/itl/ai-risk-management-framework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modelni baholash va ishonchlilik boblari.</a:t>
            </a:r>
          </a:p>
          <a:p/>
          <a:p>
            <a:r>
              <a:t>[3] Amershi, S. va boshq. Machine Learning Engineering. MIT Press, 2025. — mas'uliyatli AI va baholash bo'limlari.</a:t>
            </a:r>
          </a:p>
          <a:p/>
          <a:p>
            <a:r>
              <a:t>[7] PyTorch rasmiy hujjatlari: https://pytorch.org — torch.autograd.grad, register_buffer.</a:t>
            </a:r>
          </a:p>
          <a:p/>
          <a:p>
            <a:r>
              <a:t>Goodfellow, I. J., Shlens, J., &amp; Szegedy, C. Explaining and Harnessing Adversarial Examples. ICLR 2015. arXiv:1412.6572.</a:t>
            </a:r>
          </a:p>
          <a:p/>
          <a:p>
            <a:r>
              <a:t>Madry, A., Makelov, A., Schmidt, L., Tsipras, D., &amp; Vladu, A. Towards Deep Learning Models Resistant to Adversarial Attacks. ICLR 2018. arXiv:1706.06083.</a:t>
            </a:r>
          </a:p>
          <a:p/>
          <a:p>
            <a:r>
              <a:t>Croce, F., &amp; Hein, M. Reliable evaluation of adversarial robustness with an ensemble of diverse parameter-free attacks. ICML 2020. arXiv:2003.01690. (AutoAttack)</a:t>
            </a:r>
          </a:p>
          <a:p/>
          <a:p>
            <a:r>
              <a:t>Selvaraju, R. R. va boshq. Grad-CAM: Visual Explanations from Deep Networks via Gradient-based Localization. ICCV 2017. arXiv:1610.02391.</a:t>
            </a:r>
          </a:p>
          <a:p/>
          <a:p>
            <a:r>
              <a:t>Lundberg, S. M., &amp; Lee, S.-I. A Unified Approach to Interpreting Model Predictions. NeurIPS 2017. arXiv:1705.07874.</a:t>
            </a:r>
          </a:p>
          <a:p/>
          <a:p>
            <a:r>
              <a:t>Chouldechova, A. Fair prediction with disparate impact: A study of bias in recidivism prediction instruments. Big Data, 5(2), 2017. arXiv:1703.00056.</a:t>
            </a:r>
          </a:p>
          <a:p/>
          <a:p>
            <a:r>
              <a:t>Fairlearn rasmiy hujjatlari: https://fairlearn.org</a:t>
            </a:r>
          </a:p>
          <a:p/>
          <a:p>
            <a:r>
              <a:t>torchattacks kutubxonasi: https://github.com/Harry24k/adversarial-attacks-pytorch</a:t>
            </a:r>
          </a:p>
          <a:p/>
          <a:p>
            <a:r>
              <a:t>ISO/IEC 42001:2023 Information technology — Artificial intelligence — Management system; ISO/IEC 23894:2023 — Guidance on risk management. https://www.iso.org</a:t>
            </a:r>
          </a:p>
          <a:p/>
          <a:p>
            <a:r>
              <a:t>Regulation (EU) 2024/1689 (EU AI Act): https://eur-lex.europa.eu/eli/reg/2024/1689/oj</a:t>
            </a:r>
          </a:p>
          <a:p/>
          <a:p>
            <a:r>
              <a:t>NIST AI Risk Management Framework (AI RMF 1.0), 2023: https://www.nist.gov/itl/ai-risk-management-framework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modelni baholash va ishonchlilik boblari.</a:t>
            </a:r>
          </a:p>
          <a:p/>
          <a:p>
            <a:r>
              <a:t>[3] Amershi, S. va boshq. Machine Learning Engineering. MIT Press, 2025. — mas'uliyatli AI va baholash bo'limlari.</a:t>
            </a:r>
          </a:p>
          <a:p/>
          <a:p>
            <a:r>
              <a:t>[7] PyTorch rasmiy hujjatlari: https://pytorch.org — torch.autograd.grad, register_buffer.</a:t>
            </a:r>
          </a:p>
          <a:p/>
          <a:p>
            <a:r>
              <a:t>Goodfellow, I. J., Shlens, J., &amp; Szegedy, C. Explaining and Harnessing Adversarial Examples. ICLR 2015. arXiv:1412.6572.</a:t>
            </a:r>
          </a:p>
          <a:p/>
          <a:p>
            <a:r>
              <a:t>Madry, A., Makelov, A., Schmidt, L., Tsipras, D., &amp; Vladu, A. Towards Deep Learning Models Resistant to Adversarial Attacks. ICLR 2018. arXiv:1706.06083.</a:t>
            </a:r>
          </a:p>
          <a:p/>
          <a:p>
            <a:r>
              <a:t>Croce, F., &amp; Hein, M. Reliable evaluation of adversarial robustness with an ensemble of diverse parameter-free attacks. ICML 2020. arXiv:2003.01690. (AutoAttack)</a:t>
            </a:r>
          </a:p>
          <a:p/>
          <a:p>
            <a:r>
              <a:t>Selvaraju, R. R. va boshq. Grad-CAM: Visual Explanations from Deep Networks via Gradient-based Localization. ICCV 2017. arXiv:1610.02391.</a:t>
            </a:r>
          </a:p>
          <a:p/>
          <a:p>
            <a:r>
              <a:t>Lundberg, S. M., &amp; Lee, S.-I. A Unified Approach to Interpreting Model Predictions. NeurIPS 2017. arXiv:1705.07874.</a:t>
            </a:r>
          </a:p>
          <a:p/>
          <a:p>
            <a:r>
              <a:t>Chouldechova, A. Fair prediction with disparate impact: A study of bias in recidivism prediction instruments. Big Data, 5(2), 2017. arXiv:1703.00056.</a:t>
            </a:r>
          </a:p>
          <a:p/>
          <a:p>
            <a:r>
              <a:t>Fairlearn rasmiy hujjatlari: https://fairlearn.org</a:t>
            </a:r>
          </a:p>
          <a:p/>
          <a:p>
            <a:r>
              <a:t>torchattacks kutubxonasi: https://github.com/Harry24k/adversarial-attacks-pytorch</a:t>
            </a:r>
          </a:p>
          <a:p/>
          <a:p>
            <a:r>
              <a:t>ISO/IEC 42001:2023 Information technology — Artificial intelligence — Management system; ISO/IEC 23894:2023 — Guidance on risk management. https://www.iso.org</a:t>
            </a:r>
          </a:p>
          <a:p/>
          <a:p>
            <a:r>
              <a:t>Regulation (EU) 2024/1689 (EU AI Act): https://eur-lex.europa.eu/eli/reg/2024/1689/oj</a:t>
            </a:r>
          </a:p>
          <a:p/>
          <a:p>
            <a:r>
              <a:t>NIST AI Risk Management Framework (AI RMF 1.0), 2023: https://www.nist.gov/itl/ai-risk-management-framework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A6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Sun'iy intellekt tizimlarining xavfsizligi va ishonchliligini tahlil qilish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387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63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387000"/>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07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07000"/>
            <a:ext cx="70000" cy="387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770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07000"/>
            <a:ext cx="10050000" cy="387000"/>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314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314000"/>
            <a:ext cx="70000" cy="387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277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314000"/>
            <a:ext cx="10050000" cy="387000"/>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821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821000"/>
            <a:ext cx="70000" cy="387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784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821000"/>
            <a:ext cx="10050000" cy="387000"/>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328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328000"/>
            <a:ext cx="70000" cy="387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2915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328000"/>
            <a:ext cx="10050000" cy="387000"/>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3835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835000"/>
            <a:ext cx="70000" cy="387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37985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3835000"/>
            <a:ext cx="10050000" cy="387000"/>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342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342000"/>
            <a:ext cx="70000" cy="387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305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342000"/>
            <a:ext cx="10050000" cy="387000"/>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4849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849000"/>
            <a:ext cx="70000" cy="387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4812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4849000"/>
            <a:ext cx="10050000" cy="387000"/>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356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356000"/>
            <a:ext cx="70000" cy="387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319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356000"/>
            <a:ext cx="10050000" cy="387000"/>
          </a:xfrm>
          <a:prstGeom prst="rect">
            <a:avLst/>
          </a:prstGeom>
          <a:noFill/>
        </p:spPr>
        <p:txBody>
          <a:bodyPr wrap="square" anchor="ctr" lIns="50800" rIns="50800">
            <a:spAutoFit/>
          </a:bodyPr>
          <a:lstStyle/>
          <a:p>
            <a:pPr algn="l"/>
            <a:r>
              <a:rPr sz="1900" b="0">
                <a:solidFill>
                  <a:srgbClr val="1B2430"/>
                </a:solidFill>
                <a:latin typeface="Calibri"/>
              </a:rPr>
              <a:t>Qo'shimcha topshiriqlar (10 ta)</a:t>
            </a:r>
          </a:p>
        </p:txBody>
      </p:sp>
      <p:sp>
        <p:nvSpPr>
          <p:cNvPr id="46" name="Rounded Rectangle 45"/>
          <p:cNvSpPr/>
          <p:nvPr/>
        </p:nvSpPr>
        <p:spPr>
          <a:xfrm>
            <a:off x="550000" y="5863000"/>
            <a:ext cx="11100000" cy="387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50000" y="5863000"/>
            <a:ext cx="70000" cy="387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00000" y="5826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49" name="TextBox 48"/>
          <p:cNvSpPr txBox="1"/>
          <p:nvPr/>
        </p:nvSpPr>
        <p:spPr>
          <a:xfrm>
            <a:off x="1450000" y="5863000"/>
            <a:ext cx="10050000" cy="387000"/>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par>
                          <p:cTn id="223" fill="hold">
                            <p:stCondLst>
                              <p:cond delay="2200"/>
                            </p:stCondLst>
                            <p:childTnLst>
                              <p:par>
                                <p:cTn id="224" presetID="42" presetClass="entr" presetSubtype="0" fill="hold" grpId="0" nodeType="afterEffect">
                                  <p:stCondLst>
                                    <p:cond delay="0"/>
                                  </p:stCondLst>
                                  <p:childTnLst>
                                    <p:set>
                                      <p:cBhvr>
                                        <p:cTn id="225" dur="1" fill="hold">
                                          <p:stCondLst>
                                            <p:cond delay="0"/>
                                          </p:stCondLst>
                                        </p:cTn>
                                        <p:tgtEl>
                                          <p:spTgt spid="46"/>
                                        </p:tgtEl>
                                        <p:attrNameLst>
                                          <p:attrName>style.visibility</p:attrName>
                                        </p:attrNameLst>
                                      </p:cBhvr>
                                      <p:to>
                                        <p:strVal val="visible"/>
                                      </p:to>
                                    </p:set>
                                    <p:animEffect transition="in" filter="fade">
                                      <p:cBhvr>
                                        <p:cTn id="226" dur="550"/>
                                        <p:tgtEl>
                                          <p:spTgt spid="46"/>
                                        </p:tgtEl>
                                      </p:cBhvr>
                                    </p:animEffect>
                                    <p:anim calcmode="lin" valueType="num">
                                      <p:cBhvr additive="base">
                                        <p:cTn id="227" dur="550" fill="hold"/>
                                        <p:tgtEl>
                                          <p:spTgt spid="46"/>
                                        </p:tgtEl>
                                        <p:attrNameLst>
                                          <p:attrName>ppt_x</p:attrName>
                                        </p:attrNameLst>
                                      </p:cBhvr>
                                      <p:tavLst>
                                        <p:tav tm="0">
                                          <p:val>
                                            <p:strVal val="#ppt_x"/>
                                          </p:val>
                                        </p:tav>
                                        <p:tav tm="100000">
                                          <p:val>
                                            <p:strVal val="#ppt_x"/>
                                          </p:val>
                                        </p:tav>
                                      </p:tavLst>
                                    </p:anim>
                                    <p:anim calcmode="lin" valueType="num">
                                      <p:cBhvr additive="base">
                                        <p:cTn id="228" dur="550" fill="hold"/>
                                        <p:tgtEl>
                                          <p:spTgt spid="46"/>
                                        </p:tgtEl>
                                        <p:attrNameLst>
                                          <p:attrName>ppt_y</p:attrName>
                                        </p:attrNameLst>
                                      </p:cBhvr>
                                      <p:tavLst>
                                        <p:tav tm="0">
                                          <p:val>
                                            <p:strVal val="#ppt_y+.08"/>
                                          </p:val>
                                        </p:tav>
                                        <p:tav tm="100000">
                                          <p:val>
                                            <p:strVal val="#ppt_y"/>
                                          </p:val>
                                        </p:tav>
                                      </p:tavLst>
                                    </p:anim>
                                  </p:childTnLst>
                                </p:cTn>
                              </p:par>
                            </p:childTnLst>
                          </p:cTn>
                        </p:par>
                        <p:par>
                          <p:cTn id="229" fill="hold">
                            <p:stCondLst>
                              <p:cond delay="2200"/>
                            </p:stCondLst>
                            <p:childTnLst>
                              <p:par>
                                <p:cTn id="230" presetID="42" presetClass="entr" presetSubtype="0" fill="hold" grpId="0" nodeType="afterEffect">
                                  <p:stCondLst>
                                    <p:cond delay="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550"/>
                                        <p:tgtEl>
                                          <p:spTgt spid="47"/>
                                        </p:tgtEl>
                                      </p:cBhvr>
                                    </p:animEffect>
                                    <p:anim calcmode="lin" valueType="num">
                                      <p:cBhvr additive="base">
                                        <p:cTn id="233" dur="550" fill="hold"/>
                                        <p:tgtEl>
                                          <p:spTgt spid="47"/>
                                        </p:tgtEl>
                                        <p:attrNameLst>
                                          <p:attrName>ppt_x</p:attrName>
                                        </p:attrNameLst>
                                      </p:cBhvr>
                                      <p:tavLst>
                                        <p:tav tm="0">
                                          <p:val>
                                            <p:strVal val="#ppt_x"/>
                                          </p:val>
                                        </p:tav>
                                        <p:tav tm="100000">
                                          <p:val>
                                            <p:strVal val="#ppt_x"/>
                                          </p:val>
                                        </p:tav>
                                      </p:tavLst>
                                    </p:anim>
                                    <p:anim calcmode="lin" valueType="num">
                                      <p:cBhvr additive="base">
                                        <p:cTn id="234" dur="550" fill="hold"/>
                                        <p:tgtEl>
                                          <p:spTgt spid="47"/>
                                        </p:tgtEl>
                                        <p:attrNameLst>
                                          <p:attrName>ppt_y</p:attrName>
                                        </p:attrNameLst>
                                      </p:cBhvr>
                                      <p:tavLst>
                                        <p:tav tm="0">
                                          <p:val>
                                            <p:strVal val="#ppt_y+.08"/>
                                          </p:val>
                                        </p:tav>
                                        <p:tav tm="100000">
                                          <p:val>
                                            <p:strVal val="#ppt_y"/>
                                          </p:val>
                                        </p:tav>
                                      </p:tavLst>
                                    </p:anim>
                                  </p:childTnLst>
                                </p:cTn>
                              </p:par>
                            </p:childTnLst>
                          </p:cTn>
                        </p:par>
                        <p:par>
                          <p:cTn id="235" fill="hold">
                            <p:stCondLst>
                              <p:cond delay="2200"/>
                            </p:stCondLst>
                            <p:childTnLst>
                              <p:par>
                                <p:cTn id="236" presetID="53" presetClass="entr" presetSubtype="16" fill="hold" grpId="0" nodeType="afterEffect">
                                  <p:stCondLst>
                                    <p:cond delay="0"/>
                                  </p:stCondLst>
                                  <p:childTnLst>
                                    <p:set>
                                      <p:cBhvr>
                                        <p:cTn id="237" dur="1" fill="hold">
                                          <p:stCondLst>
                                            <p:cond delay="0"/>
                                          </p:stCondLst>
                                        </p:cTn>
                                        <p:tgtEl>
                                          <p:spTgt spid="48"/>
                                        </p:tgtEl>
                                        <p:attrNameLst>
                                          <p:attrName>style.visibility</p:attrName>
                                        </p:attrNameLst>
                                      </p:cBhvr>
                                      <p:to>
                                        <p:strVal val="visible"/>
                                      </p:to>
                                    </p:set>
                                    <p:animEffect transition="in" filter="fade">
                                      <p:cBhvr>
                                        <p:cTn id="238" dur="550"/>
                                        <p:tgtEl>
                                          <p:spTgt spid="48"/>
                                        </p:tgtEl>
                                      </p:cBhvr>
                                    </p:animEffect>
                                    <p:anim calcmode="lin" valueType="num">
                                      <p:cBhvr additive="base">
                                        <p:cTn id="239" dur="550" fill="hold"/>
                                        <p:tgtEl>
                                          <p:spTgt spid="48"/>
                                        </p:tgtEl>
                                        <p:attrNameLst>
                                          <p:attrName>ppt_w</p:attrName>
                                        </p:attrNameLst>
                                      </p:cBhvr>
                                      <p:tavLst>
                                        <p:tav tm="0">
                                          <p:val>
                                            <p:strVal val="0"/>
                                          </p:val>
                                        </p:tav>
                                        <p:tav tm="100000">
                                          <p:val>
                                            <p:strVal val="#ppt_w"/>
                                          </p:val>
                                        </p:tav>
                                      </p:tavLst>
                                    </p:anim>
                                    <p:anim calcmode="lin" valueType="num">
                                      <p:cBhvr additive="base">
                                        <p:cTn id="240" dur="550" fill="hold"/>
                                        <p:tgtEl>
                                          <p:spTgt spid="48"/>
                                        </p:tgtEl>
                                        <p:attrNameLst>
                                          <p:attrName>ppt_h</p:attrName>
                                        </p:attrNameLst>
                                      </p:cBhvr>
                                      <p:tavLst>
                                        <p:tav tm="0">
                                          <p:val>
                                            <p:strVal val="0"/>
                                          </p:val>
                                        </p:tav>
                                        <p:tav tm="100000">
                                          <p:val>
                                            <p:strVal val="#ppt_h"/>
                                          </p:val>
                                        </p:tav>
                                      </p:tavLst>
                                    </p:anim>
                                  </p:childTnLst>
                                </p:cTn>
                              </p:par>
                            </p:childTnLst>
                          </p:cTn>
                        </p:par>
                        <p:par>
                          <p:cTn id="241" fill="hold">
                            <p:stCondLst>
                              <p:cond delay="2200"/>
                            </p:stCondLst>
                            <p:childTnLst>
                              <p:par>
                                <p:cTn id="242" presetID="42" presetClass="entr" presetSubtype="0" fill="hold" grpId="0" nodeType="afterEffect">
                                  <p:stCondLst>
                                    <p:cond delay="0"/>
                                  </p:stCondLst>
                                  <p:childTnLst>
                                    <p:set>
                                      <p:cBhvr>
                                        <p:cTn id="243" dur="1" fill="hold">
                                          <p:stCondLst>
                                            <p:cond delay="0"/>
                                          </p:stCondLst>
                                        </p:cTn>
                                        <p:tgtEl>
                                          <p:spTgt spid="49"/>
                                        </p:tgtEl>
                                        <p:attrNameLst>
                                          <p:attrName>style.visibility</p:attrName>
                                        </p:attrNameLst>
                                      </p:cBhvr>
                                      <p:to>
                                        <p:strVal val="visible"/>
                                      </p:to>
                                    </p:set>
                                    <p:animEffect transition="in" filter="fade">
                                      <p:cBhvr>
                                        <p:cTn id="244" dur="550"/>
                                        <p:tgtEl>
                                          <p:spTgt spid="49"/>
                                        </p:tgtEl>
                                      </p:cBhvr>
                                    </p:animEffect>
                                    <p:anim calcmode="lin" valueType="num">
                                      <p:cBhvr additive="base">
                                        <p:cTn id="245" dur="550" fill="hold"/>
                                        <p:tgtEl>
                                          <p:spTgt spid="49"/>
                                        </p:tgtEl>
                                        <p:attrNameLst>
                                          <p:attrName>ppt_x</p:attrName>
                                        </p:attrNameLst>
                                      </p:cBhvr>
                                      <p:tavLst>
                                        <p:tav tm="0">
                                          <p:val>
                                            <p:strVal val="#ppt_x"/>
                                          </p:val>
                                        </p:tav>
                                        <p:tav tm="100000">
                                          <p:val>
                                            <p:strVal val="#ppt_x"/>
                                          </p:val>
                                        </p:tav>
                                      </p:tavLst>
                                    </p:anim>
                                    <p:anim calcmode="lin" valueType="num">
                                      <p:cBhvr additive="base">
                                        <p:cTn id="246" dur="550" fill="hold"/>
                                        <p:tgtEl>
                                          <p:spTgt spid="4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Ushbu amaliy mashg'ulotning maqsadi — magistrantlarda o'qitilgan sun'iy intellekt modelini «qora quti» sifatida qabul qilmasdan, uni dushmanona ta'sirga chidamliligi, qarorlarining…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Oq quti (white-box) adversarial hujumlarni — FGSM (Fast Gradient Sign Method) va PGD (Projected Gradient Descent) — PyTorch'da qo'lda va torchattacks kutubxonasi yordamida amalga oshirish,…</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Adversarial o'qitish (adversarial training) orqali modelning chidamliligini oshirish va toza aniqlik bilan mustahkam aniqlik orasidagi murosani miqdoriy baholash.</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Tushuntiriladigan sun'iy intellekt (Explainable AI, XAI) vositalari — Grad-CAM va SHAP — yordamida model qarorlarining asosini vizuallashtirish va tahlil qilish, shu jumladan hujum ostidagi…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Fairlearn kutubxonasi yordamida jadvalli ma'lumotlar modelida adolatlilik (fairness) ko'rsatkichlarini — demografik paritet, teng imkoniyat, tenglashtirilgan koeffitsiyentlar — hisoblash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Xalqaro standartlar (ISO/IEC 42001, ISO/IEC 23894, EU AI Act) asosidagi etik talablar tekshiruv ro'yxatini (checklist) muayyan tizimga qo'llash va natijalarni hisobot ko'rinishida…</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TN4 (AI tizimlarining ishonchliligi va xavfsizligini ta'minlash), TN6 (tizimni tahlil qilish va baholash) va TN7 (mas'uliyatli AI tamoyillarini qo'llash) o'rganish…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Chuqur neyron tarmoqlar ko'plab vazifalarda insondan yuqori aniqlikka erishgan bo'lsa-da, ularning ishonchliligi aniqlik raqami bilan o'lchanmaydi.</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Xavfsizlik bilan bir qatorda ikkinchi muammo — shaffoflik.</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Uchinchi muammo — xolislik. Model o'quv ma'lumotlaridagi tarixiy nomutanosibliklarni o'rganib, ularni kuchaytirishi mumkin.</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Ushbu mashg'ulotda uchala yo'nalish bitta laboratoriya ishida birlashtiriladi: talaba avval tasvir klassifikatoriga hujum qiladi va uni himoyalaydi, so'ngra uning qarorlarini XAI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Adversarial hujumlar taksonomiyasi va tahdid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Adversarial hujumlarni tasniflashda avval tahdid modeli (threat model) aniqlanadi: hujumchi nimani biladi va nimani o'zgartira oladi. Bilim bo'yicha hujumlar oq quti (white-box — model arxitekturasi va og'irliklari ma'lum, gradientlar hisoblanadi), kulrang…</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Maqsad bo'yicha: yo'naltirilmagan (untargeted — har qanday noto'g'ri sinf) va yo'naltirilgan (targeted — aniq sinf). Bosqich bo'yicha: chetlab o'tish (evasion — inferens paytida kirishni buzish), zaharlash (poisoning — o'quv to'plamiga buzilgan namunalar…</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Buzilish kattaligi odatda L_p normada cheklanadi: L_inf — har bir piksel ko'pi bilan epsilon ga o'zgaradi (eng ko'p ishlatiladi, CIFAR-10 uchun standart epsilon = 8/255), L_2 — umumiy…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FGSM va PGD matematikasi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FGSM (Goodfellow va boshq., 2015) bitta gradient qadamidan iborat: x_adv = x + epsilon  sign(grad_x L(f(x), y)). G'oya — yo'qotish funksiyasini kirish bo'yicha chiziqli deb hisoblab, uni L_inf shari ichida maksimal oshiradigan yo'nalish aynan gradient…</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PGD (Madry va boshq., 2018) — FGSM ning iterativ, tasodifiy boshlang'ich nuqtali umumlashmasi: x_0 = x + U(-epsilon, epsilon), so'ngra K marta x_{k+1} = Proj_{B(x, epsilon)}(x_k + alpha  sign(grad L)), bu yerda Proj — natijani x atrofidagi epsilon-shar ichiga…</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Adversarial o'qitish — hozircha eng ishonchli empirik himoya: har mini-paketda avval PGD bilan adversarial namunalar yasaladi, so'ngra model aynan ular ustida o'qitiladi (min-max optimallashtirish). Narxi: o'qitish K+1 baravar qimmat va toza aniqlik 5–15 foiz…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FGSM va PGD matematikasi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Hujum</a:t>
                      </a:r>
                    </a:p>
                  </a:txBody>
                  <a:tcPr>
                    <a:solidFill>
                      <a:srgbClr val="2D5C8F"/>
                    </a:solidFill>
                  </a:tcPr>
                </a:tc>
                <a:tc>
                  <a:txBody>
                    <a:bodyPr/>
                    <a:lstStyle/>
                    <a:p>
                      <a:r>
                        <a:rPr sz="1400" b="1">
                          <a:solidFill>
                            <a:srgbClr val="FFFFFF"/>
                          </a:solidFill>
                          <a:latin typeface="Calibri"/>
                        </a:rPr>
                        <a:t>Turi</a:t>
                      </a:r>
                    </a:p>
                  </a:txBody>
                  <a:tcPr>
                    <a:solidFill>
                      <a:srgbClr val="2D5C8F"/>
                    </a:solidFill>
                  </a:tcPr>
                </a:tc>
                <a:tc>
                  <a:txBody>
                    <a:bodyPr/>
                    <a:lstStyle/>
                    <a:p>
                      <a:r>
                        <a:rPr sz="1400" b="1">
                          <a:solidFill>
                            <a:srgbClr val="FFFFFF"/>
                          </a:solidFill>
                          <a:latin typeface="Calibri"/>
                        </a:rPr>
                        <a:t>Qadamlar</a:t>
                      </a:r>
                    </a:p>
                  </a:txBody>
                  <a:tcPr>
                    <a:solidFill>
                      <a:srgbClr val="2D5C8F"/>
                    </a:solidFill>
                  </a:tcPr>
                </a:tc>
                <a:tc>
                  <a:txBody>
                    <a:bodyPr/>
                    <a:lstStyle/>
                    <a:p>
                      <a:r>
                        <a:rPr sz="1400" b="1">
                          <a:solidFill>
                            <a:srgbClr val="FFFFFF"/>
                          </a:solidFill>
                          <a:latin typeface="Calibri"/>
                        </a:rPr>
                        <a:t>Kuch</a:t>
                      </a:r>
                    </a:p>
                  </a:txBody>
                  <a:tcPr>
                    <a:solidFill>
                      <a:srgbClr val="2D5C8F"/>
                    </a:solidFill>
                  </a:tcPr>
                </a:tc>
                <a:tc>
                  <a:txBody>
                    <a:bodyPr/>
                    <a:lstStyle/>
                    <a:p>
                      <a:r>
                        <a:rPr sz="1400" b="1">
                          <a:solidFill>
                            <a:srgbClr val="FFFFFF"/>
                          </a:solidFill>
                          <a:latin typeface="Calibri"/>
                        </a:rPr>
                        <a:t>Hisoblash narxi</a:t>
                      </a:r>
                    </a:p>
                  </a:txBody>
                  <a:tcPr>
                    <a:solidFill>
                      <a:srgbClr val="2D5C8F"/>
                    </a:solidFill>
                  </a:tcPr>
                </a:tc>
              </a:tr>
              <a:tr h="520000">
                <a:tc>
                  <a:txBody>
                    <a:bodyPr/>
                    <a:lstStyle/>
                    <a:p>
                      <a:r>
                        <a:rPr sz="1400" b="0">
                          <a:solidFill>
                            <a:srgbClr val="1B2430"/>
                          </a:solidFill>
                          <a:latin typeface="Calibri"/>
                        </a:rPr>
                        <a:t>FGSM</a:t>
                      </a:r>
                    </a:p>
                  </a:txBody>
                  <a:tcPr>
                    <a:solidFill>
                      <a:srgbClr val="F1F4F8"/>
                    </a:solidFill>
                  </a:tcPr>
                </a:tc>
                <a:tc>
                  <a:txBody>
                    <a:bodyPr/>
                    <a:lstStyle/>
                    <a:p>
                      <a:r>
                        <a:rPr sz="1400" b="0">
                          <a:solidFill>
                            <a:srgbClr val="1B2430"/>
                          </a:solidFill>
                          <a:latin typeface="Calibri"/>
                        </a:rPr>
                        <a:t>Oq quti, L_inf</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Past</a:t>
                      </a:r>
                    </a:p>
                  </a:txBody>
                  <a:tcPr>
                    <a:solidFill>
                      <a:srgbClr val="F1F4F8"/>
                    </a:solidFill>
                  </a:tcPr>
                </a:tc>
                <a:tc>
                  <a:txBody>
                    <a:bodyPr/>
                    <a:lstStyle/>
                    <a:p>
                      <a:r>
                        <a:rPr sz="1400" b="0">
                          <a:solidFill>
                            <a:srgbClr val="1B2430"/>
                          </a:solidFill>
                          <a:latin typeface="Calibri"/>
                        </a:rPr>
                        <a:t>1 orqaga o'tish</a:t>
                      </a:r>
                    </a:p>
                  </a:txBody>
                  <a:tcPr>
                    <a:solidFill>
                      <a:srgbClr val="F1F4F8"/>
                    </a:solidFill>
                  </a:tcPr>
                </a:tc>
              </a:tr>
              <a:tr h="520000">
                <a:tc>
                  <a:txBody>
                    <a:bodyPr/>
                    <a:lstStyle/>
                    <a:p>
                      <a:r>
                        <a:rPr sz="1400" b="0">
                          <a:solidFill>
                            <a:srgbClr val="1B2430"/>
                          </a:solidFill>
                          <a:latin typeface="Calibri"/>
                        </a:rPr>
                        <a:t>PGD</a:t>
                      </a:r>
                    </a:p>
                  </a:txBody>
                  <a:tcPr>
                    <a:solidFill>
                      <a:srgbClr val="FFFFFF"/>
                    </a:solidFill>
                  </a:tcPr>
                </a:tc>
                <a:tc>
                  <a:txBody>
                    <a:bodyPr/>
                    <a:lstStyle/>
                    <a:p>
                      <a:r>
                        <a:rPr sz="1400" b="0">
                          <a:solidFill>
                            <a:srgbClr val="1B2430"/>
                          </a:solidFill>
                          <a:latin typeface="Calibri"/>
                        </a:rPr>
                        <a:t>Oq quti, L_inf / L_2</a:t>
                      </a:r>
                    </a:p>
                  </a:txBody>
                  <a:tcPr>
                    <a:solidFill>
                      <a:srgbClr val="FFFFFF"/>
                    </a:solidFill>
                  </a:tcPr>
                </a:tc>
                <a:tc>
                  <a:txBody>
                    <a:bodyPr/>
                    <a:lstStyle/>
                    <a:p>
                      <a:r>
                        <a:rPr sz="1400" b="0">
                          <a:solidFill>
                            <a:srgbClr val="1B2430"/>
                          </a:solidFill>
                          <a:latin typeface="Calibri"/>
                        </a:rPr>
                        <a:t>10–100</a:t>
                      </a:r>
                    </a:p>
                  </a:txBody>
                  <a:tcPr>
                    <a:solidFill>
                      <a:srgbClr val="FFFFFF"/>
                    </a:solidFill>
                  </a:tcPr>
                </a:tc>
                <a:tc>
                  <a:txBody>
                    <a:bodyPr/>
                    <a:lstStyle/>
                    <a:p>
                      <a:r>
                        <a:rPr sz="1400" b="0">
                          <a:solidFill>
                            <a:srgbClr val="1B2430"/>
                          </a:solidFill>
                          <a:latin typeface="Calibri"/>
                        </a:rPr>
                        <a:t>Yuqori</a:t>
                      </a:r>
                    </a:p>
                  </a:txBody>
                  <a:tcPr>
                    <a:solidFill>
                      <a:srgbClr val="FFFFFF"/>
                    </a:solidFill>
                  </a:tcPr>
                </a:tc>
                <a:tc>
                  <a:txBody>
                    <a:bodyPr/>
                    <a:lstStyle/>
                    <a:p>
                      <a:r>
                        <a:rPr sz="1400" b="0">
                          <a:solidFill>
                            <a:srgbClr val="1B2430"/>
                          </a:solidFill>
                          <a:latin typeface="Calibri"/>
                        </a:rPr>
                        <a:t>K orqaga o'tish</a:t>
                      </a:r>
                    </a:p>
                  </a:txBody>
                  <a:tcPr>
                    <a:solidFill>
                      <a:srgbClr val="FFFFFF"/>
                    </a:solidFill>
                  </a:tcPr>
                </a:tc>
              </a:tr>
              <a:tr h="520000">
                <a:tc>
                  <a:txBody>
                    <a:bodyPr/>
                    <a:lstStyle/>
                    <a:p>
                      <a:r>
                        <a:rPr sz="1400" b="0">
                          <a:solidFill>
                            <a:srgbClr val="1B2430"/>
                          </a:solidFill>
                          <a:latin typeface="Calibri"/>
                        </a:rPr>
                        <a:t>C&amp;W</a:t>
                      </a:r>
                    </a:p>
                  </a:txBody>
                  <a:tcPr>
                    <a:solidFill>
                      <a:srgbClr val="F1F4F8"/>
                    </a:solidFill>
                  </a:tcPr>
                </a:tc>
                <a:tc>
                  <a:txBody>
                    <a:bodyPr/>
                    <a:lstStyle/>
                    <a:p>
                      <a:r>
                        <a:rPr sz="1400" b="0">
                          <a:solidFill>
                            <a:srgbClr val="1B2430"/>
                          </a:solidFill>
                          <a:latin typeface="Calibri"/>
                        </a:rPr>
                        <a:t>Oq quti, L_2</a:t>
                      </a:r>
                    </a:p>
                  </a:txBody>
                  <a:tcPr>
                    <a:solidFill>
                      <a:srgbClr val="F1F4F8"/>
                    </a:solidFill>
                  </a:tcPr>
                </a:tc>
                <a:tc>
                  <a:txBody>
                    <a:bodyPr/>
                    <a:lstStyle/>
                    <a:p>
                      <a:r>
                        <a:rPr sz="1400" b="0">
                          <a:solidFill>
                            <a:srgbClr val="1B2430"/>
                          </a:solidFill>
                          <a:latin typeface="Calibri"/>
                        </a:rPr>
                        <a:t>100–1000</a:t>
                      </a:r>
                    </a:p>
                  </a:txBody>
                  <a:tcPr>
                    <a:solidFill>
                      <a:srgbClr val="F1F4F8"/>
                    </a:solidFill>
                  </a:tcPr>
                </a:tc>
                <a:tc>
                  <a:txBody>
                    <a:bodyPr/>
                    <a:lstStyle/>
                    <a:p>
                      <a:r>
                        <a:rPr sz="1400" b="0">
                          <a:solidFill>
                            <a:srgbClr val="1B2430"/>
                          </a:solidFill>
                          <a:latin typeface="Calibri"/>
                        </a:rPr>
                        <a:t>Juda yuqori, kichik buzilish</a:t>
                      </a:r>
                    </a:p>
                  </a:txBody>
                  <a:tcPr>
                    <a:solidFill>
                      <a:srgbClr val="F1F4F8"/>
                    </a:solidFill>
                  </a:tcPr>
                </a:tc>
                <a:tc>
                  <a:txBody>
                    <a:bodyPr/>
                    <a:lstStyle/>
                    <a:p>
                      <a:r>
                        <a:rPr sz="1400" b="0">
                          <a:solidFill>
                            <a:srgbClr val="1B2430"/>
                          </a:solidFill>
                          <a:latin typeface="Calibri"/>
                        </a:rPr>
                        <a:t>Qimmat</a:t>
                      </a:r>
                    </a:p>
                  </a:txBody>
                  <a:tcPr>
                    <a:solidFill>
                      <a:srgbClr val="F1F4F8"/>
                    </a:solidFill>
                  </a:tcPr>
                </a:tc>
              </a:tr>
              <a:tr h="520000">
                <a:tc>
                  <a:txBody>
                    <a:bodyPr/>
                    <a:lstStyle/>
                    <a:p>
                      <a:r>
                        <a:rPr sz="1400" b="0">
                          <a:solidFill>
                            <a:srgbClr val="1B2430"/>
                          </a:solidFill>
                          <a:latin typeface="Calibri"/>
                        </a:rPr>
                        <a:t>AutoAttack</a:t>
                      </a:r>
                    </a:p>
                  </a:txBody>
                  <a:tcPr>
                    <a:solidFill>
                      <a:srgbClr val="FFFFFF"/>
                    </a:solidFill>
                  </a:tcPr>
                </a:tc>
                <a:tc>
                  <a:txBody>
                    <a:bodyPr/>
                    <a:lstStyle/>
                    <a:p>
                      <a:r>
                        <a:rPr sz="1400" b="0">
                          <a:solidFill>
                            <a:srgbClr val="1B2430"/>
                          </a:solidFill>
                          <a:latin typeface="Calibri"/>
                        </a:rPr>
                        <a:t>Oq quti ansambli</a:t>
                      </a:r>
                    </a:p>
                  </a:txBody>
                  <a:tcPr>
                    <a:solidFill>
                      <a:srgbClr val="FFFFFF"/>
                    </a:solidFill>
                  </a:tcPr>
                </a:tc>
                <a:tc>
                  <a:txBody>
                    <a:bodyPr/>
                    <a:lstStyle/>
                    <a:p>
                      <a:r>
                        <a:rPr sz="1400" b="0">
                          <a:solidFill>
                            <a:srgbClr val="1B2430"/>
                          </a:solidFill>
                          <a:latin typeface="Calibri"/>
                        </a:rPr>
                        <a:t>O'zgaruvchan</a:t>
                      </a:r>
                    </a:p>
                  </a:txBody>
                  <a:tcPr>
                    <a:solidFill>
                      <a:srgbClr val="FFFFFF"/>
                    </a:solidFill>
                  </a:tcPr>
                </a:tc>
                <a:tc>
                  <a:txBody>
                    <a:bodyPr/>
                    <a:lstStyle/>
                    <a:p>
                      <a:r>
                        <a:rPr sz="1400" b="0">
                          <a:solidFill>
                            <a:srgbClr val="1B2430"/>
                          </a:solidFill>
                          <a:latin typeface="Calibri"/>
                        </a:rPr>
                        <a:t>Standart baholash</a:t>
                      </a:r>
                    </a:p>
                  </a:txBody>
                  <a:tcPr>
                    <a:solidFill>
                      <a:srgbClr val="FFFFFF"/>
                    </a:solidFill>
                  </a:tcPr>
                </a:tc>
                <a:tc>
                  <a:txBody>
                    <a:bodyPr/>
                    <a:lstStyle/>
                    <a:p>
                      <a:r>
                        <a:rPr sz="1400" b="0">
                          <a:solidFill>
                            <a:srgbClr val="1B2430"/>
                          </a:solidFill>
                          <a:latin typeface="Calibri"/>
                        </a:rPr>
                        <a:t>Qimmat</a:t>
                      </a:r>
                    </a:p>
                  </a:txBody>
                  <a:tcPr>
                    <a:solidFill>
                      <a:srgbClr val="FFFFFF"/>
                    </a:solidFill>
                  </a:tcPr>
                </a:tc>
              </a:tr>
              <a:tr h="520000">
                <a:tc>
                  <a:txBody>
                    <a:bodyPr/>
                    <a:lstStyle/>
                    <a:p>
                      <a:r>
                        <a:rPr sz="1400" b="0">
                          <a:solidFill>
                            <a:srgbClr val="1B2430"/>
                          </a:solidFill>
                          <a:latin typeface="Calibri"/>
                        </a:rPr>
                        <a:t>Square Attack</a:t>
                      </a:r>
                    </a:p>
                  </a:txBody>
                  <a:tcPr>
                    <a:solidFill>
                      <a:srgbClr val="F1F4F8"/>
                    </a:solidFill>
                  </a:tcPr>
                </a:tc>
                <a:tc>
                  <a:txBody>
                    <a:bodyPr/>
                    <a:lstStyle/>
                    <a:p>
                      <a:r>
                        <a:rPr sz="1400" b="0">
                          <a:solidFill>
                            <a:srgbClr val="1B2430"/>
                          </a:solidFill>
                          <a:latin typeface="Calibri"/>
                        </a:rPr>
                        <a:t>Qora quti</a:t>
                      </a:r>
                    </a:p>
                  </a:txBody>
                  <a:tcPr>
                    <a:solidFill>
                      <a:srgbClr val="F1F4F8"/>
                    </a:solidFill>
                  </a:tcPr>
                </a:tc>
                <a:tc>
                  <a:txBody>
                    <a:bodyPr/>
                    <a:lstStyle/>
                    <a:p>
                      <a:r>
                        <a:rPr sz="1400" b="0">
                          <a:solidFill>
                            <a:srgbClr val="1B2430"/>
                          </a:solidFill>
                          <a:latin typeface="Calibri"/>
                        </a:rPr>
                        <a:t>1000+ so'rov</a:t>
                      </a:r>
                    </a:p>
                  </a:txBody>
                  <a:tcPr>
                    <a:solidFill>
                      <a:srgbClr val="F1F4F8"/>
                    </a:solidFill>
                  </a:tcPr>
                </a:tc>
                <a:tc>
                  <a:txBody>
                    <a:bodyPr/>
                    <a:lstStyle/>
                    <a:p>
                      <a:r>
                        <a:rPr sz="1400" b="0">
                          <a:solidFill>
                            <a:srgbClr val="1B2430"/>
                          </a:solidFill>
                          <a:latin typeface="Calibri"/>
                        </a:rPr>
                        <a:t>O'rta</a:t>
                      </a:r>
                    </a:p>
                  </a:txBody>
                  <a:tcPr>
                    <a:solidFill>
                      <a:srgbClr val="F1F4F8"/>
                    </a:solidFill>
                  </a:tcPr>
                </a:tc>
                <a:tc>
                  <a:txBody>
                    <a:bodyPr/>
                    <a:lstStyle/>
                    <a:p>
                      <a:r>
                        <a:rPr sz="1400" b="0">
                          <a:solidFill>
                            <a:srgbClr val="1B2430"/>
                          </a:solidFill>
                          <a:latin typeface="Calibri"/>
                        </a:rPr>
                        <a:t>Faqat so'rovlar</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Tushuntiriladigan sun'iy intellekt: Grad-CAM va SHAP</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XAI usullari global (modelning umumiy xatti-harakati) va lokal (bitta bashorat) tushuntirishlarga, shuningdek modelga xos va modeldan mustaqil (model-agnostic) usullarga bo'linadi.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Grad-CAM (Gradient-weighted Class Activation Mapping, Selvaraju va boshq., 2017) — konvolyutsion tarmoqlar uchun lokal usul.</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SHAP (SHapley Additive exPlanations, Lundberg &amp; Lee, 2017) — kooperativ o'yinlar nazariyasidagi Shepli qiymatlariga asoslangan modeldan mustaqil usul.</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XAI ning muhim cheklovi — tushuntirish modelning haqiqiy sababini emas, uning o'ziga bog'liqligini ko'rsatadi; adversarial hujumga uchragan namunada Grad-CAM xaritasi butunlay boshqa joyga…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Tushuntiriladigan sun'iy intellekt: Grad-CAM va SHAP</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Xususiyat</a:t>
                      </a:r>
                    </a:p>
                  </a:txBody>
                  <a:tcPr>
                    <a:solidFill>
                      <a:srgbClr val="2D5C8F"/>
                    </a:solidFill>
                  </a:tcPr>
                </a:tc>
                <a:tc>
                  <a:txBody>
                    <a:bodyPr/>
                    <a:lstStyle/>
                    <a:p>
                      <a:r>
                        <a:rPr sz="1400" b="1">
                          <a:solidFill>
                            <a:srgbClr val="FFFFFF"/>
                          </a:solidFill>
                          <a:latin typeface="Calibri"/>
                        </a:rPr>
                        <a:t>Grad-CAM</a:t>
                      </a:r>
                    </a:p>
                  </a:txBody>
                  <a:tcPr>
                    <a:solidFill>
                      <a:srgbClr val="2D5C8F"/>
                    </a:solidFill>
                  </a:tcPr>
                </a:tc>
                <a:tc>
                  <a:txBody>
                    <a:bodyPr/>
                    <a:lstStyle/>
                    <a:p>
                      <a:r>
                        <a:rPr sz="1400" b="1">
                          <a:solidFill>
                            <a:srgbClr val="FFFFFF"/>
                          </a:solidFill>
                          <a:latin typeface="Calibri"/>
                        </a:rPr>
                        <a:t>SHAP (KernelSHAP)</a:t>
                      </a:r>
                    </a:p>
                  </a:txBody>
                  <a:tcPr>
                    <a:solidFill>
                      <a:srgbClr val="2D5C8F"/>
                    </a:solidFill>
                  </a:tcPr>
                </a:tc>
                <a:tc>
                  <a:txBody>
                    <a:bodyPr/>
                    <a:lstStyle/>
                    <a:p>
                      <a:r>
                        <a:rPr sz="1400" b="1">
                          <a:solidFill>
                            <a:srgbClr val="FFFFFF"/>
                          </a:solidFill>
                          <a:latin typeface="Calibri"/>
                        </a:rPr>
                        <a:t>LIME</a:t>
                      </a:r>
                    </a:p>
                  </a:txBody>
                  <a:tcPr>
                    <a:solidFill>
                      <a:srgbClr val="2D5C8F"/>
                    </a:solidFill>
                  </a:tcPr>
                </a:tc>
              </a:tr>
              <a:tr h="520000">
                <a:tc>
                  <a:txBody>
                    <a:bodyPr/>
                    <a:lstStyle/>
                    <a:p>
                      <a:r>
                        <a:rPr sz="1400" b="0">
                          <a:solidFill>
                            <a:srgbClr val="1B2430"/>
                          </a:solidFill>
                          <a:latin typeface="Calibri"/>
                        </a:rPr>
                        <a:t>Model turi</a:t>
                      </a:r>
                    </a:p>
                  </a:txBody>
                  <a:tcPr>
                    <a:solidFill>
                      <a:srgbClr val="F1F4F8"/>
                    </a:solidFill>
                  </a:tcPr>
                </a:tc>
                <a:tc>
                  <a:txBody>
                    <a:bodyPr/>
                    <a:lstStyle/>
                    <a:p>
                      <a:r>
                        <a:rPr sz="1400" b="0">
                          <a:solidFill>
                            <a:srgbClr val="1B2430"/>
                          </a:solidFill>
                          <a:latin typeface="Calibri"/>
                        </a:rPr>
                        <a:t>CNN, ViT</a:t>
                      </a:r>
                    </a:p>
                  </a:txBody>
                  <a:tcPr>
                    <a:solidFill>
                      <a:srgbClr val="F1F4F8"/>
                    </a:solidFill>
                  </a:tcPr>
                </a:tc>
                <a:tc>
                  <a:txBody>
                    <a:bodyPr/>
                    <a:lstStyle/>
                    <a:p>
                      <a:r>
                        <a:rPr sz="1400" b="0">
                          <a:solidFill>
                            <a:srgbClr val="1B2430"/>
                          </a:solidFill>
                          <a:latin typeface="Calibri"/>
                        </a:rPr>
                        <a:t>Istalgan</a:t>
                      </a:r>
                    </a:p>
                  </a:txBody>
                  <a:tcPr>
                    <a:solidFill>
                      <a:srgbClr val="F1F4F8"/>
                    </a:solidFill>
                  </a:tcPr>
                </a:tc>
                <a:tc>
                  <a:txBody>
                    <a:bodyPr/>
                    <a:lstStyle/>
                    <a:p>
                      <a:r>
                        <a:rPr sz="1400" b="0">
                          <a:solidFill>
                            <a:srgbClr val="1B2430"/>
                          </a:solidFill>
                          <a:latin typeface="Calibri"/>
                        </a:rPr>
                        <a:t>Istalgan</a:t>
                      </a:r>
                    </a:p>
                  </a:txBody>
                  <a:tcPr>
                    <a:solidFill>
                      <a:srgbClr val="F1F4F8"/>
                    </a:solidFill>
                  </a:tcPr>
                </a:tc>
              </a:tr>
              <a:tr h="520000">
                <a:tc>
                  <a:txBody>
                    <a:bodyPr/>
                    <a:lstStyle/>
                    <a:p>
                      <a:r>
                        <a:rPr sz="1400" b="0">
                          <a:solidFill>
                            <a:srgbClr val="1B2430"/>
                          </a:solidFill>
                          <a:latin typeface="Calibri"/>
                        </a:rPr>
                        <a:t>Nazariy kafolat</a:t>
                      </a:r>
                    </a:p>
                  </a:txBody>
                  <a:tcPr>
                    <a:solidFill>
                      <a:srgbClr val="FFFFFF"/>
                    </a:solidFill>
                  </a:tcPr>
                </a:tc>
                <a:tc>
                  <a:txBody>
                    <a:bodyPr/>
                    <a:lstStyle/>
                    <a:p>
                      <a:r>
                        <a:rPr sz="1400" b="0">
                          <a:solidFill>
                            <a:srgbClr val="1B2430"/>
                          </a:solidFill>
                          <a:latin typeface="Calibri"/>
                        </a:rPr>
                        <a:t>Yo'q</a:t>
                      </a:r>
                    </a:p>
                  </a:txBody>
                  <a:tcPr>
                    <a:solidFill>
                      <a:srgbClr val="FFFFFF"/>
                    </a:solidFill>
                  </a:tcPr>
                </a:tc>
                <a:tc>
                  <a:txBody>
                    <a:bodyPr/>
                    <a:lstStyle/>
                    <a:p>
                      <a:r>
                        <a:rPr sz="1400" b="0">
                          <a:solidFill>
                            <a:srgbClr val="1B2430"/>
                          </a:solidFill>
                          <a:latin typeface="Calibri"/>
                        </a:rPr>
                        <a:t>Shepli aksiomalari</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Hisoblash narxi</a:t>
                      </a:r>
                    </a:p>
                  </a:txBody>
                  <a:tcPr>
                    <a:solidFill>
                      <a:srgbClr val="F1F4F8"/>
                    </a:solidFill>
                  </a:tcPr>
                </a:tc>
                <a:tc>
                  <a:txBody>
                    <a:bodyPr/>
                    <a:lstStyle/>
                    <a:p>
                      <a:r>
                        <a:rPr sz="1400" b="0">
                          <a:solidFill>
                            <a:srgbClr val="1B2430"/>
                          </a:solidFill>
                          <a:latin typeface="Calibri"/>
                        </a:rPr>
                        <a:t>Juda past</a:t>
                      </a:r>
                    </a:p>
                  </a:txBody>
                  <a:tcPr>
                    <a:solidFill>
                      <a:srgbClr val="F1F4F8"/>
                    </a:solidFill>
                  </a:tcPr>
                </a:tc>
                <a:tc>
                  <a:txBody>
                    <a:bodyPr/>
                    <a:lstStyle/>
                    <a:p>
                      <a:r>
                        <a:rPr sz="1400" b="0">
                          <a:solidFill>
                            <a:srgbClr val="1B2430"/>
                          </a:solidFill>
                          <a:latin typeface="Calibri"/>
                        </a:rPr>
                        <a:t>Yuqori (yuzlab so'rov)</a:t>
                      </a:r>
                    </a:p>
                  </a:txBody>
                  <a:tcPr>
                    <a:solidFill>
                      <a:srgbClr val="F1F4F8"/>
                    </a:solidFill>
                  </a:tcPr>
                </a:tc>
                <a:tc>
                  <a:txBody>
                    <a:bodyPr/>
                    <a:lstStyle/>
                    <a:p>
                      <a:r>
                        <a:rPr sz="1400" b="0">
                          <a:solidFill>
                            <a:srgbClr val="1B2430"/>
                          </a:solidFill>
                          <a:latin typeface="Calibri"/>
                        </a:rPr>
                        <a:t>O'rta</a:t>
                      </a:r>
                    </a:p>
                  </a:txBody>
                  <a:tcPr>
                    <a:solidFill>
                      <a:srgbClr val="F1F4F8"/>
                    </a:solidFill>
                  </a:tcPr>
                </a:tc>
              </a:tr>
              <a:tr h="520000">
                <a:tc>
                  <a:txBody>
                    <a:bodyPr/>
                    <a:lstStyle/>
                    <a:p>
                      <a:r>
                        <a:rPr sz="1400" b="0">
                          <a:solidFill>
                            <a:srgbClr val="1B2430"/>
                          </a:solidFill>
                          <a:latin typeface="Calibri"/>
                        </a:rPr>
                        <a:t>Barqarorlik</a:t>
                      </a:r>
                    </a:p>
                  </a:txBody>
                  <a:tcPr>
                    <a:solidFill>
                      <a:srgbClr val="FFFFFF"/>
                    </a:solidFill>
                  </a:tcPr>
                </a:tc>
                <a:tc>
                  <a:txBody>
                    <a:bodyPr/>
                    <a:lstStyle/>
                    <a:p>
                      <a:r>
                        <a:rPr sz="1400" b="0">
                          <a:solidFill>
                            <a:srgbClr val="1B2430"/>
                          </a:solidFill>
                          <a:latin typeface="Calibri"/>
                        </a:rPr>
                        <a:t>O'rta</a:t>
                      </a:r>
                    </a:p>
                  </a:txBody>
                  <a:tcPr>
                    <a:solidFill>
                      <a:srgbClr val="FFFFFF"/>
                    </a:solidFill>
                  </a:tcPr>
                </a:tc>
                <a:tc>
                  <a:txBody>
                    <a:bodyPr/>
                    <a:lstStyle/>
                    <a:p>
                      <a:r>
                        <a:rPr sz="1400" b="0">
                          <a:solidFill>
                            <a:srgbClr val="1B2430"/>
                          </a:solidFill>
                          <a:latin typeface="Calibri"/>
                        </a:rPr>
                        <a:t>Yuqori</a:t>
                      </a:r>
                    </a:p>
                  </a:txBody>
                  <a:tcPr>
                    <a:solidFill>
                      <a:srgbClr val="FFFFFF"/>
                    </a:solidFill>
                  </a:tcPr>
                </a:tc>
                <a:tc>
                  <a:txBody>
                    <a:bodyPr/>
                    <a:lstStyle/>
                    <a:p>
                      <a:r>
                        <a:rPr sz="1400" b="0">
                          <a:solidFill>
                            <a:srgbClr val="1B2430"/>
                          </a:solidFill>
                          <a:latin typeface="Calibri"/>
                        </a:rPr>
                        <a:t>Past (tasodifiy tanlanma)</a:t>
                      </a:r>
                    </a:p>
                  </a:txBody>
                  <a:tcPr>
                    <a:solidFill>
                      <a:srgbClr val="FFFFFF"/>
                    </a:solidFill>
                  </a:tcPr>
                </a:tc>
              </a:tr>
              <a:tr h="520000">
                <a:tc>
                  <a:txBody>
                    <a:bodyPr/>
                    <a:lstStyle/>
                    <a:p>
                      <a:r>
                        <a:rPr sz="1400" b="0">
                          <a:solidFill>
                            <a:srgbClr val="1B2430"/>
                          </a:solidFill>
                          <a:latin typeface="Calibri"/>
                        </a:rPr>
                        <a:t>Odatiy soha</a:t>
                      </a:r>
                    </a:p>
                  </a:txBody>
                  <a:tcPr>
                    <a:solidFill>
                      <a:srgbClr val="F1F4F8"/>
                    </a:solidFill>
                  </a:tcPr>
                </a:tc>
                <a:tc>
                  <a:txBody>
                    <a:bodyPr/>
                    <a:lstStyle/>
                    <a:p>
                      <a:r>
                        <a:rPr sz="1400" b="0">
                          <a:solidFill>
                            <a:srgbClr val="1B2430"/>
                          </a:solidFill>
                          <a:latin typeface="Calibri"/>
                        </a:rPr>
                        <a:t>Tibbiy tasvir, detektorlar</a:t>
                      </a:r>
                    </a:p>
                  </a:txBody>
                  <a:tcPr>
                    <a:solidFill>
                      <a:srgbClr val="F1F4F8"/>
                    </a:solidFill>
                  </a:tcPr>
                </a:tc>
                <a:tc>
                  <a:txBody>
                    <a:bodyPr/>
                    <a:lstStyle/>
                    <a:p>
                      <a:r>
                        <a:rPr sz="1400" b="0">
                          <a:solidFill>
                            <a:srgbClr val="1B2430"/>
                          </a:solidFill>
                          <a:latin typeface="Calibri"/>
                        </a:rPr>
                        <a:t>Kredit, tibbiy jadval</a:t>
                      </a:r>
                    </a:p>
                  </a:txBody>
                  <a:tcPr>
                    <a:solidFill>
                      <a:srgbClr val="F1F4F8"/>
                    </a:solidFill>
                  </a:tcPr>
                </a:tc>
                <a:tc>
                  <a:txBody>
                    <a:bodyPr/>
                    <a:lstStyle/>
                    <a:p>
                      <a:r>
                        <a:rPr sz="1400" b="0">
                          <a:solidFill>
                            <a:srgbClr val="1B2430"/>
                          </a:solidFill>
                          <a:latin typeface="Calibri"/>
                        </a:rPr>
                        <a:t>Matn, prototiplar</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Adolatlilik mezonlari va ularning mos kelmasligi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Adolatlilik tahlilida sezgir atribut (sensitive attribute — jins, yosh, millat, hudud) A, haqiqiy natija Y va bashorat Y_hat ko'rib chiqiladi.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Demografik paritet (demographic parity): P(Y_hat = 1 | A = a) barcha guruhlar uchun teng. Ijobiy qaror ulushi guruhdan bog'liq emas. Farq ko'rsatkichi — demographic_parity_difference,…</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Teng imkoniyat (equal opportunity): P(Y_hat = 1 | Y = 1, A = a) teng — haqiqiy ijobiy namunalar uchun topish darajasi (TPR) teng.</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Tenglashtirilgan koeffitsiyentlar (equalized odds): TPR ham, FPR ham teng.</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Kalibrlash (calibration): berilgan bashorat ehtimolligi uchun haqiqiy ijobiy ulushi guruhlar bo'yicha teng.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Adolatlilik mezonlari va ularning mos kelmasligi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Chouldechova (2017) va Kleinberg va boshq.</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Fairlearn kutubxonasi uch turdagi tuzatish beradi: oldindan qayta ishlash (pre-processing — ma'lumotni qayta vaznlash), jarayon ichida (in-processing — ExponentiatedGradient, GridSearch…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Etik talablar va xalqaro standartlar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ISO/IEC 42001:2023 — sun'iy intellektni boshqarish tizimi standarti: tashkilot AI siyosati, rollar, xavf baholash, ta'sir baholash (AI impact assessment), hayot sikli nazorati va uzluksiz takomillashtirishni belgilashi kerak. ISO/IEC 23894:2023 — AI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Topshiriq to'rt qismdan iborat: (A) CIFAR-10 klassifikatoriga FGSM/PGD hujumi va adversarial o'qitish; (B) Grad-CAM va SHAP bilan qarorlarni tushuntirish; (C) Adult (Census Income) jadvalli…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Talab qilinadigan muhit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Apparat: bitta NVIDIA GPU (8 GB yetarli) yoki CPU (A qismida vaqt 5–8 baravar oshadi; --subset bilan kamaytirish mumkin).</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Dasturiy ta'minot: Python 3.10+, PyTorch 2.3+, torchvision; pip install torchattacks shap fairlearn scikit-learn pandas matplotlib grad-cam.</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Ma'lumotlar: CIFAR-10 (avtomatik yuklanadi); Adult — fairlearn.datasets.fetch_adult() orqali OpenML'dan (48 842 yozuv, 14 belgi, maqsad — yillik daromad 50 ming dollardan oshadimi).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Oldindan o'qitilgan CIFAR-10 modeli: A5 mashg'ulotidan ResNet-18 checkpoint'i yoki quyidagi skript bilan 15 epoxada o'qitilgan model (toza aniqlik ~90%).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toza aniqlik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Normalizatsiyani model ichiga joylashtirdik — bu adversarial tadqiqotlarda muhim: hujum [0, 1] piksel fazosida epsilon = 8/255 chegarasi bilan ishlashi kerak, aks holda normallashtirilgan fazodagi epsilon jismoniy ma'noga ega bo'lmaydi.…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toza aniqlik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common.py</a:t>
            </a:r>
          </a:p>
          <a:p>
            <a:r>
              <a:rPr sz="1200">
                <a:solidFill>
                  <a:srgbClr val="E2E8F0"/>
                </a:solidFill>
                <a:latin typeface="Consolas"/>
              </a:rPr>
              <a:t>import torch, torch.nn as nn, torchvision, torchvision.transforms as T</a:t>
            </a:r>
          </a:p>
          <a:p>
            <a:r>
              <a:rPr sz="1200">
                <a:solidFill>
                  <a:srgbClr val="E2E8F0"/>
                </a:solidFill>
                <a:latin typeface="Consolas"/>
              </a:rPr>
              <a:t>from torch.utils.data import DataLoader</a:t>
            </a:r>
          </a:p>
          <a:p>
            <a:r>
              <a:rPr sz="1200">
                <a:solidFill>
                  <a:srgbClr val="E2E8F0"/>
                </a:solidFill>
                <a:latin typeface="Consolas"/>
              </a:rPr>
              <a:t>dev = torch.device("cuda" if torch.cuda.is_available() else "cpu")</a:t>
            </a:r>
          </a:p>
          <a:p>
            <a:r>
              <a:rPr sz="1200">
                <a:solidFill>
                  <a:srgbClr val="E2E8F0"/>
                </a:solidFill>
                <a:latin typeface="Consolas"/>
              </a:rPr>
              <a:t>MEAN, STD = (0.4914, 0.4822, 0.4465), (0.2470, 0.2435, 0.2616)</a:t>
            </a:r>
          </a:p>
          <a:p>
            <a:r>
              <a:rPr sz="1200">
                <a:solidFill>
                  <a:srgbClr val="E2E8F0"/>
                </a:solidFill>
                <a:latin typeface="Consolas"/>
              </a:rPr>
              <a:t> </a:t>
            </a:r>
          </a:p>
          <a:p>
            <a:r>
              <a:rPr sz="1200">
                <a:solidFill>
                  <a:srgbClr val="E2E8F0"/>
                </a:solidFill>
                <a:latin typeface="Consolas"/>
              </a:rPr>
              <a:t>class Normalized(nn.Module):</a:t>
            </a:r>
          </a:p>
          <a:p>
            <a:r>
              <a:rPr sz="1200">
                <a:solidFill>
                  <a:srgbClr val="E2E8F0"/>
                </a:solidFill>
                <a:latin typeface="Consolas"/>
              </a:rPr>
              <a:t>    """Normalizatsiya model ichida — hujum [0,1] piksel fazosida ishlashi uchun."""</a:t>
            </a:r>
          </a:p>
          <a:p>
            <a:r>
              <a:rPr sz="1200">
                <a:solidFill>
                  <a:srgbClr val="E2E8F0"/>
                </a:solidFill>
                <a:latin typeface="Consolas"/>
              </a:rPr>
              <a:t>    def __init__(self, net):</a:t>
            </a:r>
          </a:p>
          <a:p>
            <a:r>
              <a:rPr sz="1200">
                <a:solidFill>
                  <a:srgbClr val="E2E8F0"/>
                </a:solidFill>
                <a:latin typeface="Consolas"/>
              </a:rPr>
              <a:t>        super().__init__(); self.net = net</a:t>
            </a:r>
          </a:p>
          <a:p>
            <a:r>
              <a:rPr sz="1200">
                <a:solidFill>
                  <a:srgbClr val="E2E8F0"/>
                </a:solidFill>
                <a:latin typeface="Consolas"/>
              </a:rPr>
              <a:t>        self.register_buffer("m", torch.tensor(MEAN).view(1, 3, 1, 1))</a:t>
            </a:r>
          </a:p>
          <a:p>
            <a:r>
              <a:rPr sz="1200">
                <a:solidFill>
                  <a:srgbClr val="E2E8F0"/>
                </a:solidFill>
                <a:latin typeface="Consolas"/>
              </a:rPr>
              <a:t>        self.register_buffer("s", torch.tensor(STD).view(1, 3, 1, 1))</a:t>
            </a:r>
          </a:p>
          <a:p>
            <a:r>
              <a:rPr sz="1200">
                <a:solidFill>
                  <a:srgbClr val="E2E8F0"/>
                </a:solidFill>
                <a:latin typeface="Consolas"/>
              </a:rPr>
              <a:t>    def forward(self, x): return self.net((x - self.m) / self.s)</a:t>
            </a:r>
          </a:p>
          <a:p>
            <a:r>
              <a:rPr sz="1200">
                <a:solidFill>
                  <a:srgbClr val="E2E8F0"/>
                </a:solidFill>
                <a:latin typeface="Consolas"/>
              </a:rPr>
              <a:t> </a:t>
            </a:r>
          </a:p>
          <a:p>
            <a:r>
              <a:rPr sz="1200">
                <a:solidFill>
                  <a:srgbClr val="E2E8F0"/>
                </a:solidFill>
                <a:latin typeface="Consolas"/>
              </a:rPr>
              <a:t>def loaders(bs=128):</a:t>
            </a:r>
          </a:p>
          <a:p>
            <a:r>
              <a:rPr sz="1200">
                <a:solidFill>
                  <a:srgbClr val="E2E8F0"/>
                </a:solidFill>
                <a:latin typeface="Consolas"/>
              </a:rPr>
              <a:t>    tr = T.Compose([T.RandomCrop(32, padding=4), T.RandomHorizontalFlip(), T.ToTensor()])</a:t>
            </a:r>
          </a:p>
          <a:p>
            <a:r>
              <a:rPr sz="1200">
                <a:solidFill>
                  <a:srgbClr val="E2E8F0"/>
                </a:solidFill>
                <a:latin typeface="Consolas"/>
              </a:rPr>
              <a:t>    te = T.ToTensor()</a:t>
            </a:r>
          </a:p>
          <a:p>
            <a:r>
              <a:rPr sz="1200">
                <a:solidFill>
                  <a:srgbClr val="E2E8F0"/>
                </a:solidFill>
                <a:latin typeface="Consolas"/>
              </a:rPr>
              <a:t>    a = torchvision.datasets.CIFAR10("./data", train=True, download=True, transform=tr)</a:t>
            </a:r>
          </a:p>
          <a:p>
            <a:r>
              <a:rPr sz="1200">
                <a:solidFill>
                  <a:srgbClr val="E2E8F0"/>
                </a:solidFill>
                <a:latin typeface="Consolas"/>
              </a:rPr>
              <a:t>    b = torchvision.datasets.CIFAR10("./data", train=False, download=True, transform=te)</a:t>
            </a:r>
          </a:p>
          <a:p>
            <a:r>
              <a:rPr sz="1200">
                <a:solidFill>
                  <a:srgbClr val="E2E8F0"/>
                </a:solidFill>
                <a:latin typeface="Consolas"/>
              </a:rPr>
              <a:t>    return DataLoader(a, bs, shuffle=True, num_workers=4), DataLoader(b, 256, num_workers=4)</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va toza aniqlik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train_clean.py</a:t>
            </a:r>
          </a:p>
          <a:p>
            <a:r>
              <a:rPr sz="1200">
                <a:solidFill>
                  <a:srgbClr val="E2E8F0"/>
                </a:solidFill>
                <a:latin typeface="Consolas"/>
              </a:rPr>
              <a:t>import torch, torch.nn as nn</a:t>
            </a:r>
          </a:p>
          <a:p>
            <a:r>
              <a:rPr sz="1200">
                <a:solidFill>
                  <a:srgbClr val="E2E8F0"/>
                </a:solidFill>
                <a:latin typeface="Consolas"/>
              </a:rPr>
              <a:t>from common import *</a:t>
            </a:r>
          </a:p>
          <a:p>
            <a:r>
              <a:rPr sz="1200">
                <a:solidFill>
                  <a:srgbClr val="E2E8F0"/>
                </a:solidFill>
                <a:latin typeface="Consolas"/>
              </a:rPr>
              <a:t>tr, te = loaders(); model = make_model()</a:t>
            </a:r>
          </a:p>
          <a:p>
            <a:r>
              <a:rPr sz="1200">
                <a:solidFill>
                  <a:srgbClr val="E2E8F0"/>
                </a:solidFill>
                <a:latin typeface="Consolas"/>
              </a:rPr>
              <a:t>opt = torch.optim.SGD(model.parameters(), lr=0.1, momentum=0.9, weight_decay=5e-4)</a:t>
            </a:r>
          </a:p>
          <a:p>
            <a:r>
              <a:rPr sz="1200">
                <a:solidFill>
                  <a:srgbClr val="E2E8F0"/>
                </a:solidFill>
                <a:latin typeface="Consolas"/>
              </a:rPr>
              <a:t>sched = torch.optim.lr_scheduler.OneCycleLR(opt, 0.1, epochs=15, steps_per_epoch=len(tr))</a:t>
            </a:r>
          </a:p>
          <a:p>
            <a:r>
              <a:rPr sz="1200">
                <a:solidFill>
                  <a:srgbClr val="E2E8F0"/>
                </a:solidFill>
                <a:latin typeface="Consolas"/>
              </a:rPr>
              <a:t>lossf = nn.CrossEntropyLoss()</a:t>
            </a:r>
          </a:p>
          <a:p>
            <a:r>
              <a:rPr sz="1200">
                <a:solidFill>
                  <a:srgbClr val="E2E8F0"/>
                </a:solidFill>
                <a:latin typeface="Consolas"/>
              </a:rPr>
              <a:t>for ep in range(15):</a:t>
            </a:r>
          </a:p>
          <a:p>
            <a:r>
              <a:rPr sz="1200">
                <a:solidFill>
                  <a:srgbClr val="E2E8F0"/>
                </a:solidFill>
                <a:latin typeface="Consolas"/>
              </a:rPr>
              <a:t>    model.train()</a:t>
            </a:r>
          </a:p>
          <a:p>
            <a:r>
              <a:rPr sz="1200">
                <a:solidFill>
                  <a:srgbClr val="E2E8F0"/>
                </a:solidFill>
                <a:latin typeface="Consolas"/>
              </a:rPr>
              <a:t>    for x, y in tr:</a:t>
            </a:r>
          </a:p>
          <a:p>
            <a:r>
              <a:rPr sz="1200">
                <a:solidFill>
                  <a:srgbClr val="E2E8F0"/>
                </a:solidFill>
                <a:latin typeface="Consolas"/>
              </a:rPr>
              <a:t>        x, y = x.to(dev), y.to(dev)</a:t>
            </a:r>
          </a:p>
          <a:p>
            <a:r>
              <a:rPr sz="1200">
                <a:solidFill>
                  <a:srgbClr val="E2E8F0"/>
                </a:solidFill>
                <a:latin typeface="Consolas"/>
              </a:rPr>
              <a:t>        opt.zero_grad(); lossf(model(x), y).backward(); opt.step(); sched.step()</a:t>
            </a:r>
          </a:p>
          <a:p>
            <a:r>
              <a:rPr sz="1200">
                <a:solidFill>
                  <a:srgbClr val="E2E8F0"/>
                </a:solidFill>
                <a:latin typeface="Consolas"/>
              </a:rPr>
              <a:t>    print(ep, "clean acc", round(accuracy(model, te), 4))</a:t>
            </a:r>
          </a:p>
          <a:p>
            <a:r>
              <a:rPr sz="1200">
                <a:solidFill>
                  <a:srgbClr val="E2E8F0"/>
                </a:solidFill>
                <a:latin typeface="Consolas"/>
              </a:rPr>
              <a:t>torch.save(model.state_dict(), "clean.pt")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FGSM va PGD ni qo'lda amalga oshirish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Har epsilon uchun aniqlik o'lchandi. Toza modelda natija keskin: epsilon = 8/255 da FGSM aniqlikni ~90% dan 15–25% gacha, PGD-10 esa 0–2% gacha tushiradi (taxminiy).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FGSM va PGD ni qo'lda amalga oshirish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attacks.py</a:t>
            </a:r>
          </a:p>
          <a:p>
            <a:r>
              <a:rPr sz="1200">
                <a:solidFill>
                  <a:srgbClr val="E2E8F0"/>
                </a:solidFill>
                <a:latin typeface="Consolas"/>
              </a:rPr>
              <a:t>import torch, torch.nn.functional as F</a:t>
            </a:r>
          </a:p>
          <a:p>
            <a:r>
              <a:rPr sz="1200">
                <a:solidFill>
                  <a:srgbClr val="E2E8F0"/>
                </a:solidFill>
                <a:latin typeface="Consolas"/>
              </a:rPr>
              <a:t> </a:t>
            </a:r>
          </a:p>
          <a:p>
            <a:r>
              <a:rPr sz="1200">
                <a:solidFill>
                  <a:srgbClr val="E2E8F0"/>
                </a:solidFill>
                <a:latin typeface="Consolas"/>
              </a:rPr>
              <a:t>def fgsm(model, x, y, eps):</a:t>
            </a:r>
          </a:p>
          <a:p>
            <a:r>
              <a:rPr sz="1200">
                <a:solidFill>
                  <a:srgbClr val="E2E8F0"/>
                </a:solidFill>
                <a:latin typeface="Consolas"/>
              </a:rPr>
              <a:t>    x = x.clone().detach().requires_grad_(True)</a:t>
            </a:r>
          </a:p>
          <a:p>
            <a:r>
              <a:rPr sz="1200">
                <a:solidFill>
                  <a:srgbClr val="E2E8F0"/>
                </a:solidFill>
                <a:latin typeface="Consolas"/>
              </a:rPr>
              <a:t>    loss = F.cross_entropy(model(x), y)</a:t>
            </a:r>
          </a:p>
          <a:p>
            <a:r>
              <a:rPr sz="1200">
                <a:solidFill>
                  <a:srgbClr val="E2E8F0"/>
                </a:solidFill>
                <a:latin typeface="Consolas"/>
              </a:rPr>
              <a:t>    grad, = torch.autograd.grad(loss, x)</a:t>
            </a:r>
          </a:p>
          <a:p>
            <a:r>
              <a:rPr sz="1200">
                <a:solidFill>
                  <a:srgbClr val="E2E8F0"/>
                </a:solidFill>
                <a:latin typeface="Consolas"/>
              </a:rPr>
              <a:t>    return (x + eps * grad.sign()).clamp(0, 1).detach()</a:t>
            </a:r>
          </a:p>
          <a:p>
            <a:r>
              <a:rPr sz="1200">
                <a:solidFill>
                  <a:srgbClr val="E2E8F0"/>
                </a:solidFill>
                <a:latin typeface="Consolas"/>
              </a:rPr>
              <a:t> </a:t>
            </a:r>
          </a:p>
          <a:p>
            <a:r>
              <a:rPr sz="1200">
                <a:solidFill>
                  <a:srgbClr val="E2E8F0"/>
                </a:solidFill>
                <a:latin typeface="Consolas"/>
              </a:rPr>
              <a:t>def pgd(model, x, y, eps, alpha=2/255, steps=10, random_start=True):</a:t>
            </a:r>
          </a:p>
          <a:p>
            <a:r>
              <a:rPr sz="1200">
                <a:solidFill>
                  <a:srgbClr val="E2E8F0"/>
                </a:solidFill>
                <a:latin typeface="Consolas"/>
              </a:rPr>
              <a:t>    x0 = x.clone().detach()</a:t>
            </a:r>
          </a:p>
          <a:p>
            <a:r>
              <a:rPr sz="1200">
                <a:solidFill>
                  <a:srgbClr val="E2E8F0"/>
                </a:solidFill>
                <a:latin typeface="Consolas"/>
              </a:rPr>
              <a:t>    xa = x0 + torch.empty_like(x0).uniform_(-eps, eps) if random_start else x0.clone()</a:t>
            </a:r>
          </a:p>
          <a:p>
            <a:r>
              <a:rPr sz="1200">
                <a:solidFill>
                  <a:srgbClr val="E2E8F0"/>
                </a:solidFill>
                <a:latin typeface="Consolas"/>
              </a:rPr>
              <a:t>    xa = xa.clamp(0, 1)</a:t>
            </a:r>
          </a:p>
          <a:p>
            <a:r>
              <a:rPr sz="1200">
                <a:solidFill>
                  <a:srgbClr val="E2E8F0"/>
                </a:solidFill>
                <a:latin typeface="Consolas"/>
              </a:rPr>
              <a:t>    for _ in range(steps):</a:t>
            </a:r>
          </a:p>
          <a:p>
            <a:r>
              <a:rPr sz="1200">
                <a:solidFill>
                  <a:srgbClr val="E2E8F0"/>
                </a:solidFill>
                <a:latin typeface="Consolas"/>
              </a:rPr>
              <a:t>        xa.requires_grad_(True)</a:t>
            </a:r>
          </a:p>
          <a:p>
            <a:r>
              <a:rPr sz="1200">
                <a:solidFill>
                  <a:srgbClr val="E2E8F0"/>
                </a:solidFill>
                <a:latin typeface="Consolas"/>
              </a:rPr>
              <a:t>        loss = F.cross_entropy(model(xa), y)</a:t>
            </a:r>
          </a:p>
          <a:p>
            <a:r>
              <a:rPr sz="1200">
                <a:solidFill>
                  <a:srgbClr val="E2E8F0"/>
                </a:solidFill>
                <a:latin typeface="Consolas"/>
              </a:rPr>
              <a:t>        grad, = torch.autograd.grad(loss, xa)</a:t>
            </a:r>
          </a:p>
          <a:p>
            <a:r>
              <a:rPr sz="1200">
                <a:solidFill>
                  <a:srgbClr val="E2E8F0"/>
                </a:solidFill>
                <a:latin typeface="Consolas"/>
              </a:rPr>
              <a:t>        xa = xa.detach() + alpha * grad.sign()</a:t>
            </a:r>
          </a:p>
          <a:p>
            <a:r>
              <a:rPr sz="1200">
                <a:solidFill>
                  <a:srgbClr val="E2E8F0"/>
                </a:solidFill>
                <a:latin typeface="Consolas"/>
              </a:rPr>
              <a:t>        xa = torch.min(torch.max(xa, x0 - eps), x0 + eps).clamp(0, 1)   # proyeksiya</a:t>
            </a:r>
          </a:p>
          <a:p>
            <a:r>
              <a:rPr sz="1200">
                <a:solidFill>
                  <a:srgbClr val="E2E8F0"/>
                </a:solidFill>
                <a:latin typeface="Consolas"/>
              </a:rPr>
              <a:t>    return xa.detach()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FGSM va PGD ni qo'lda amalga oshirish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eval_attacks.py</a:t>
            </a:r>
          </a:p>
          <a:p>
            <a:r>
              <a:rPr sz="1000">
                <a:solidFill>
                  <a:srgbClr val="E2E8F0"/>
                </a:solidFill>
                <a:latin typeface="Consolas"/>
              </a:rPr>
              <a:t>import torch, json, torchattacks</a:t>
            </a:r>
          </a:p>
          <a:p>
            <a:r>
              <a:rPr sz="1000">
                <a:solidFill>
                  <a:srgbClr val="E2E8F0"/>
                </a:solidFill>
                <a:latin typeface="Consolas"/>
              </a:rPr>
              <a:t>from common import *; from attacks import fgsm, pgd</a:t>
            </a:r>
          </a:p>
          <a:p>
            <a:r>
              <a:rPr sz="1000">
                <a:solidFill>
                  <a:srgbClr val="E2E8F0"/>
                </a:solidFill>
                <a:latin typeface="Consolas"/>
              </a:rPr>
              <a:t>_, te = loaders(); model = make_model(); model.load_state_dict(torch.load("clean.pt")); model.eval()</a:t>
            </a:r>
          </a:p>
          <a:p>
            <a:r>
              <a:rPr sz="1000">
                <a:solidFill>
                  <a:srgbClr val="E2E8F0"/>
                </a:solidFill>
                <a:latin typeface="Consolas"/>
              </a:rPr>
              <a:t>res = {"clean": accuracy(model, te)}</a:t>
            </a:r>
          </a:p>
          <a:p>
            <a:r>
              <a:rPr sz="1000">
                <a:solidFill>
                  <a:srgbClr val="E2E8F0"/>
                </a:solidFill>
                <a:latin typeface="Consolas"/>
              </a:rPr>
              <a:t>for eps in [1/255, 2/255, 4/255, 8/255, 16/255]:</a:t>
            </a:r>
          </a:p>
          <a:p>
            <a:r>
              <a:rPr sz="1000">
                <a:solidFill>
                  <a:srgbClr val="E2E8F0"/>
                </a:solidFill>
                <a:latin typeface="Consolas"/>
              </a:rPr>
              <a:t>    res[f"fgsm_{round(eps*255)}"] = accuracy(model, te, lambda x, y: fgsm(model, x, y, eps))</a:t>
            </a:r>
          </a:p>
          <a:p>
            <a:r>
              <a:rPr sz="1000">
                <a:solidFill>
                  <a:srgbClr val="E2E8F0"/>
                </a:solidFill>
                <a:latin typeface="Consolas"/>
              </a:rPr>
              <a:t>    res[f"pgd10_{round(eps*255)}"] = accuracy(model, te, lambda x, y: pgd(model, x, y, eps))</a:t>
            </a:r>
          </a:p>
          <a:p>
            <a:r>
              <a:rPr sz="1000">
                <a:solidFill>
                  <a:srgbClr val="7FD6D7"/>
                </a:solidFill>
                <a:latin typeface="Consolas"/>
              </a:rPr>
              <a:t># kutubxona bilan tekshirish (natija qo'lda yozilgan bilan 1% ichida mos kelishi kerak)</a:t>
            </a:r>
          </a:p>
          <a:p>
            <a:r>
              <a:rPr sz="1000">
                <a:solidFill>
                  <a:srgbClr val="E2E8F0"/>
                </a:solidFill>
                <a:latin typeface="Consolas"/>
              </a:rPr>
              <a:t>atk = torchattacks.PGD(model, eps=8/255, alpha=2/255, steps=10, random_start=True)</a:t>
            </a:r>
          </a:p>
          <a:p>
            <a:r>
              <a:rPr sz="1000">
                <a:solidFill>
                  <a:srgbClr val="E2E8F0"/>
                </a:solidFill>
                <a:latin typeface="Consolas"/>
              </a:rPr>
              <a:t>res["pgd10_8_torchattacks"] = accuracy(model, te, atk)</a:t>
            </a:r>
          </a:p>
          <a:p>
            <a:r>
              <a:rPr sz="1000">
                <a:solidFill>
                  <a:srgbClr val="E2E8F0"/>
                </a:solidFill>
                <a:latin typeface="Consolas"/>
              </a:rPr>
              <a:t>print(json.dumps(res, indent=1))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Adversarial o'qitish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Har qadamda 7 ta PGD iteratsiyasi qo'shimcha orqaga o'tish talab qiladi, shuning uchun o'qitish ~8 baravar sekin (RTX 3090 da ~50 daqiqa). Natija: toza aniqlik 80–84% gacha pasayadi, lekin PGD-10 (8/255) ostidagi aniqlik 0–2% dan 45–50%…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Adversarial o'qitish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train_adv.py — Madry uslubidagi PGD adversarial o'qitish</a:t>
            </a:r>
          </a:p>
          <a:p>
            <a:r>
              <a:rPr sz="1000">
                <a:solidFill>
                  <a:srgbClr val="E2E8F0"/>
                </a:solidFill>
                <a:latin typeface="Consolas"/>
              </a:rPr>
              <a:t>import torch, torch.nn as nn</a:t>
            </a:r>
          </a:p>
          <a:p>
            <a:r>
              <a:rPr sz="1000">
                <a:solidFill>
                  <a:srgbClr val="E2E8F0"/>
                </a:solidFill>
                <a:latin typeface="Consolas"/>
              </a:rPr>
              <a:t>from common import *; from attacks import pgd</a:t>
            </a:r>
          </a:p>
          <a:p>
            <a:r>
              <a:rPr sz="1000">
                <a:solidFill>
                  <a:srgbClr val="E2E8F0"/>
                </a:solidFill>
                <a:latin typeface="Consolas"/>
              </a:rPr>
              <a:t>tr, te = loaders(); model = make_model()</a:t>
            </a:r>
          </a:p>
          <a:p>
            <a:r>
              <a:rPr sz="1000">
                <a:solidFill>
                  <a:srgbClr val="E2E8F0"/>
                </a:solidFill>
                <a:latin typeface="Consolas"/>
              </a:rPr>
              <a:t>opt = torch.optim.SGD(model.parameters(), lr=0.1, momentum=0.9, weight_decay=5e-4)</a:t>
            </a:r>
          </a:p>
          <a:p>
            <a:r>
              <a:rPr sz="1000">
                <a:solidFill>
                  <a:srgbClr val="E2E8F0"/>
                </a:solidFill>
                <a:latin typeface="Consolas"/>
              </a:rPr>
              <a:t>sched = torch.optim.lr_scheduler.OneCycleLR(opt, 0.1, epochs=20, steps_per_epoch=len(tr))</a:t>
            </a:r>
          </a:p>
          <a:p>
            <a:r>
              <a:rPr sz="1000">
                <a:solidFill>
                  <a:srgbClr val="E2E8F0"/>
                </a:solidFill>
                <a:latin typeface="Consolas"/>
              </a:rPr>
              <a:t>lossf = nn.CrossEntropyLoss(); EPS = 8/255</a:t>
            </a:r>
          </a:p>
          <a:p>
            <a:r>
              <a:rPr sz="1000">
                <a:solidFill>
                  <a:srgbClr val="E2E8F0"/>
                </a:solidFill>
                <a:latin typeface="Consolas"/>
              </a:rPr>
              <a:t>for ep in range(20):</a:t>
            </a:r>
          </a:p>
          <a:p>
            <a:r>
              <a:rPr sz="1000">
                <a:solidFill>
                  <a:srgbClr val="E2E8F0"/>
                </a:solidFill>
                <a:latin typeface="Consolas"/>
              </a:rPr>
              <a:t>    model.train()</a:t>
            </a:r>
          </a:p>
          <a:p>
            <a:r>
              <a:rPr sz="1000">
                <a:solidFill>
                  <a:srgbClr val="E2E8F0"/>
                </a:solidFill>
                <a:latin typeface="Consolas"/>
              </a:rPr>
              <a:t>    for x, y in tr:</a:t>
            </a:r>
          </a:p>
          <a:p>
            <a:r>
              <a:rPr sz="1000">
                <a:solidFill>
                  <a:srgbClr val="E2E8F0"/>
                </a:solidFill>
                <a:latin typeface="Consolas"/>
              </a:rPr>
              <a:t>        x, y = x.to(dev), y.to(dev)</a:t>
            </a:r>
          </a:p>
          <a:p>
            <a:r>
              <a:rPr sz="1000">
                <a:solidFill>
                  <a:srgbClr val="E2E8F0"/>
                </a:solidFill>
                <a:latin typeface="Consolas"/>
              </a:rPr>
              <a:t>        model.eval(); xa = pgd(model, x, y, EPS, steps=7); model.train()   # BN statistikasi uchun eval</a:t>
            </a:r>
          </a:p>
          <a:p>
            <a:r>
              <a:rPr sz="1000">
                <a:solidFill>
                  <a:srgbClr val="E2E8F0"/>
                </a:solidFill>
                <a:latin typeface="Consolas"/>
              </a:rPr>
              <a:t>        opt.zero_grad(); lossf(model(xa), y).backward(); opt.step(); sched.step()</a:t>
            </a:r>
          </a:p>
          <a:p>
            <a:r>
              <a:rPr sz="1000">
                <a:solidFill>
                  <a:srgbClr val="E2E8F0"/>
                </a:solidFill>
                <a:latin typeface="Consolas"/>
              </a:rPr>
              <a:t>    print(ep, "clean", round(accuracy(model, te), 4), "pgd10", round(accuracy(model, te, lambda a, b: pgd(model, a, b, E</a:t>
            </a:r>
          </a:p>
          <a:p>
            <a:r>
              <a:rPr sz="1000">
                <a:solidFill>
                  <a:srgbClr val="E2E8F0"/>
                </a:solidFill>
                <a:latin typeface="Consolas"/>
              </a:rPr>
              <a:t>torch.save(model.state_dict(), "adv.pt")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Grad-CAM: toza va hujum ostidagi namunalarda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Yuqori ikki qator — toza tasvir va uning Grad-CAM xaritasi, pastki ikki qator — PGD bilan buzilgan tasvir (ko'zga toza bilan bir xil) va uning xaritasi. Kutilgan kuzatuv: toza namunada issiqlik obyektning o'zida (masalan, it boshida)…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Grad-CAM: toza va hujum ostidagi namunalarda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xai_gradcam.py</a:t>
            </a:r>
          </a:p>
          <a:p>
            <a:r>
              <a:rPr sz="1000">
                <a:solidFill>
                  <a:srgbClr val="E2E8F0"/>
                </a:solidFill>
                <a:latin typeface="Consolas"/>
              </a:rPr>
              <a:t>import torch, numpy as np, matplotlib.pyplot as plt</a:t>
            </a:r>
          </a:p>
          <a:p>
            <a:r>
              <a:rPr sz="1000">
                <a:solidFill>
                  <a:srgbClr val="E2E8F0"/>
                </a:solidFill>
                <a:latin typeface="Consolas"/>
              </a:rPr>
              <a:t>from pytorch_grad_cam import GradCAM</a:t>
            </a:r>
          </a:p>
          <a:p>
            <a:r>
              <a:rPr sz="1000">
                <a:solidFill>
                  <a:srgbClr val="E2E8F0"/>
                </a:solidFill>
                <a:latin typeface="Consolas"/>
              </a:rPr>
              <a:t>from pytorch_grad_cam.utils.image import show_cam_on_image</a:t>
            </a:r>
          </a:p>
          <a:p>
            <a:r>
              <a:rPr sz="1000">
                <a:solidFill>
                  <a:srgbClr val="E2E8F0"/>
                </a:solidFill>
                <a:latin typeface="Consolas"/>
              </a:rPr>
              <a:t>from common import *; from attacks import pgd</a:t>
            </a:r>
          </a:p>
          <a:p>
            <a:r>
              <a:rPr sz="1000">
                <a:solidFill>
                  <a:srgbClr val="E2E8F0"/>
                </a:solidFill>
                <a:latin typeface="Consolas"/>
              </a:rPr>
              <a:t>_, te = loaders(); model = make_model(); model.load_state_dict(torch.load("clean.pt")); model.eval()</a:t>
            </a:r>
          </a:p>
          <a:p>
            <a:r>
              <a:rPr sz="1000">
                <a:solidFill>
                  <a:srgbClr val="E2E8F0"/>
                </a:solidFill>
                <a:latin typeface="Consolas"/>
              </a:rPr>
              <a:t>x, y = next(iter(te)); x, y = x[:8].to(dev), y[:8].to(dev)</a:t>
            </a:r>
          </a:p>
          <a:p>
            <a:r>
              <a:rPr sz="1000">
                <a:solidFill>
                  <a:srgbClr val="E2E8F0"/>
                </a:solidFill>
                <a:latin typeface="Consolas"/>
              </a:rPr>
              <a:t>xa = pgd(model, x, y, 8/255)</a:t>
            </a:r>
          </a:p>
          <a:p>
            <a:r>
              <a:rPr sz="1000">
                <a:solidFill>
                  <a:srgbClr val="E2E8F0"/>
                </a:solidFill>
                <a:latin typeface="Consolas"/>
              </a:rPr>
              <a:t>cam = GradCAM(model=model, target_layers=[model.net.layer4[-1]])</a:t>
            </a:r>
          </a:p>
          <a:p>
            <a:r>
              <a:rPr sz="1000">
                <a:solidFill>
                  <a:srgbClr val="E2E8F0"/>
                </a:solidFill>
                <a:latin typeface="Consolas"/>
              </a:rPr>
              <a:t>fig, ax = plt.subplots(4, 8, figsize=(16, 8))</a:t>
            </a:r>
          </a:p>
          <a:p>
            <a:r>
              <a:rPr sz="1000">
                <a:solidFill>
                  <a:srgbClr val="E2E8F0"/>
                </a:solidFill>
                <a:latin typeface="Consolas"/>
              </a:rPr>
              <a:t>for i in range(8):</a:t>
            </a:r>
          </a:p>
          <a:p>
            <a:r>
              <a:rPr sz="1000">
                <a:solidFill>
                  <a:srgbClr val="E2E8F0"/>
                </a:solidFill>
                <a:latin typeface="Consolas"/>
              </a:rPr>
              <a:t>    for r, img in ((0, x[i:i+1]), (2, xa[i:i+1])):</a:t>
            </a:r>
          </a:p>
          <a:p>
            <a:r>
              <a:rPr sz="1000">
                <a:solidFill>
                  <a:srgbClr val="E2E8F0"/>
                </a:solidFill>
                <a:latin typeface="Consolas"/>
              </a:rPr>
              <a:t>        pred = model(img).argmax(1).item()</a:t>
            </a:r>
          </a:p>
          <a:p>
            <a:r>
              <a:rPr sz="1000">
                <a:solidFill>
                  <a:srgbClr val="E2E8F0"/>
                </a:solidFill>
                <a:latin typeface="Consolas"/>
              </a:rPr>
              <a:t>        heat = cam(input_tensor=img)[0]</a:t>
            </a:r>
          </a:p>
          <a:p>
            <a:r>
              <a:rPr sz="1000">
                <a:solidFill>
                  <a:srgbClr val="E2E8F0"/>
                </a:solidFill>
                <a:latin typeface="Consolas"/>
              </a:rPr>
              <a:t>        rgb = img[0].permute(1, 2, 0).cpu().numpy()</a:t>
            </a:r>
          </a:p>
          <a:p>
            <a:r>
              <a:rPr sz="1000">
                <a:solidFill>
                  <a:srgbClr val="E2E8F0"/>
                </a:solidFill>
                <a:latin typeface="Consolas"/>
              </a:rPr>
              <a:t>        ax[r, i].imshow(rgb); ax[r, i].set_title(f"pred={pred} true={y[i].item()}", fontsize=8)</a:t>
            </a:r>
          </a:p>
          <a:p>
            <a:r>
              <a:rPr sz="1000">
                <a:solidFill>
                  <a:srgbClr val="E2E8F0"/>
                </a:solidFill>
                <a:latin typeface="Consolas"/>
              </a:rPr>
              <a:t>        ax[r+1, i].imshow(show_cam_on_image(rgb, heat, use_rgb=True))</a:t>
            </a:r>
          </a:p>
          <a:p>
            <a:r>
              <a:rPr sz="1000">
                <a:solidFill>
                  <a:srgbClr val="E2E8F0"/>
                </a:solidFill>
                <a:latin typeface="Consolas"/>
              </a:rPr>
              <a:t>for a in ax.flat: a.axis("off")</a:t>
            </a:r>
          </a:p>
          <a:p>
            <a:r>
              <a:rPr sz="1000">
                <a:solidFill>
                  <a:srgbClr val="E2E8F0"/>
                </a:solidFill>
                <a:latin typeface="Consolas"/>
              </a:rPr>
              <a:t>plt.tight_layout(); plt.savefig("gradcam_clean_vs_adv.png", dpi=150)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Adult ma'lumotida Fairlearn bilan adolatlilik tahlili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Bazaviy gradient boosting Adult'da ~86–87% aniqlik beradi, lekin MetricFrame guruhlar kesimida ko'rsatadiki, erkaklar uchun ijobiy qaror ulushi (selection_rate) ~0.25, ayollar uchun ~0.07 — demografik paritet farqi ~0.18. Bu farqning bir…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Adult ma'lumotida Fairlearn bilan adolatlilik tahlili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fairness_adult.py</a:t>
            </a:r>
          </a:p>
          <a:p>
            <a:r>
              <a:rPr sz="1000">
                <a:solidFill>
                  <a:srgbClr val="E2E8F0"/>
                </a:solidFill>
                <a:latin typeface="Consolas"/>
              </a:rPr>
              <a:t>import pandas as pd, numpy as np, shap</a:t>
            </a:r>
          </a:p>
          <a:p>
            <a:r>
              <a:rPr sz="1000">
                <a:solidFill>
                  <a:srgbClr val="E2E8F0"/>
                </a:solidFill>
                <a:latin typeface="Consolas"/>
              </a:rPr>
              <a:t>from fairlearn.datasets import fetch_adult</a:t>
            </a:r>
          </a:p>
          <a:p>
            <a:r>
              <a:rPr sz="1000">
                <a:solidFill>
                  <a:srgbClr val="E2E8F0"/>
                </a:solidFill>
                <a:latin typeface="Consolas"/>
              </a:rPr>
              <a:t>from fairlearn.metrics import (MetricFrame, demographic_parity_difference, equalized_odds_difference,</a:t>
            </a:r>
          </a:p>
          <a:p>
            <a:r>
              <a:rPr sz="1000">
                <a:solidFill>
                  <a:srgbClr val="E2E8F0"/>
                </a:solidFill>
                <a:latin typeface="Consolas"/>
              </a:rPr>
              <a:t>                               selection_rate, true_positive_rate, false_positive_rate)</a:t>
            </a:r>
          </a:p>
          <a:p>
            <a:r>
              <a:rPr sz="1000">
                <a:solidFill>
                  <a:srgbClr val="E2E8F0"/>
                </a:solidFill>
                <a:latin typeface="Consolas"/>
              </a:rPr>
              <a:t>from fairlearn.reductions import ExponentiatedGradient, EqualizedOdds</a:t>
            </a:r>
          </a:p>
          <a:p>
            <a:r>
              <a:rPr sz="1000">
                <a:solidFill>
                  <a:srgbClr val="E2E8F0"/>
                </a:solidFill>
                <a:latin typeface="Consolas"/>
              </a:rPr>
              <a:t>from fairlearn.postprocessing import ThresholdOptimizer</a:t>
            </a:r>
          </a:p>
          <a:p>
            <a:r>
              <a:rPr sz="1000">
                <a:solidFill>
                  <a:srgbClr val="E2E8F0"/>
                </a:solidFill>
                <a:latin typeface="Consolas"/>
              </a:rPr>
              <a:t>from sklearn.model_selection import train_test_split</a:t>
            </a:r>
          </a:p>
          <a:p>
            <a:r>
              <a:rPr sz="1000">
                <a:solidFill>
                  <a:srgbClr val="E2E8F0"/>
                </a:solidFill>
                <a:latin typeface="Consolas"/>
              </a:rPr>
              <a:t>from sklearn.metrics import accuracy_score</a:t>
            </a:r>
          </a:p>
          <a:p>
            <a:r>
              <a:rPr sz="1000">
                <a:solidFill>
                  <a:srgbClr val="E2E8F0"/>
                </a:solidFill>
                <a:latin typeface="Consolas"/>
              </a:rPr>
              <a:t>from sklearn.ensemble import GradientBoostingClassifier</a:t>
            </a:r>
          </a:p>
          <a:p>
            <a:r>
              <a:rPr sz="1000">
                <a:solidFill>
                  <a:srgbClr val="E2E8F0"/>
                </a:solidFill>
                <a:latin typeface="Consolas"/>
              </a:rPr>
              <a:t> </a:t>
            </a:r>
          </a:p>
          <a:p>
            <a:r>
              <a:rPr sz="1000">
                <a:solidFill>
                  <a:srgbClr val="E2E8F0"/>
                </a:solidFill>
                <a:latin typeface="Consolas"/>
              </a:rPr>
              <a:t>data = fetch_adult(as_frame=True)</a:t>
            </a:r>
          </a:p>
          <a:p>
            <a:r>
              <a:rPr sz="1000">
                <a:solidFill>
                  <a:srgbClr val="E2E8F0"/>
                </a:solidFill>
                <a:latin typeface="Consolas"/>
              </a:rPr>
              <a:t>X = pd.get_dummies(data.data.drop(columns=["fnlwgt"]), drop_first=True).astype(float)</a:t>
            </a:r>
          </a:p>
          <a:p>
            <a:r>
              <a:rPr sz="1000">
                <a:solidFill>
                  <a:srgbClr val="E2E8F0"/>
                </a:solidFill>
                <a:latin typeface="Consolas"/>
              </a:rPr>
              <a:t>y = (data.target == "&gt;50K").astype(int).values</a:t>
            </a:r>
          </a:p>
          <a:p>
            <a:r>
              <a:rPr sz="1000">
                <a:solidFill>
                  <a:srgbClr val="E2E8F0"/>
                </a:solidFill>
                <a:latin typeface="Consolas"/>
              </a:rPr>
              <a:t>sex = data.data["sex"].values              # sezgir atribut: tahlil uchun; modelga belgi sifatida ham kiradi</a:t>
            </a:r>
          </a:p>
          <a:p>
            <a:r>
              <a:rPr sz="1000">
                <a:solidFill>
                  <a:srgbClr val="E2E8F0"/>
                </a:solidFill>
                <a:latin typeface="Consolas"/>
              </a:rPr>
              <a:t>Xtr, Xte, ytr, yte, str_, ste = train_test_split(X, y, sex, test_size=0.3, random_state=0, stratify=y)</a:t>
            </a:r>
          </a:p>
          <a:p>
            <a:r>
              <a:rPr sz="1000">
                <a:solidFill>
                  <a:srgbClr val="E2E8F0"/>
                </a:solidFill>
                <a:latin typeface="Consolas"/>
              </a:rPr>
              <a:t> </a:t>
            </a:r>
          </a:p>
          <a:p>
            <a:r>
              <a:rPr sz="1000">
                <a:solidFill>
                  <a:srgbClr val="E2E8F0"/>
                </a:solidFill>
                <a:latin typeface="Consolas"/>
              </a:rPr>
              <a:t>clf = GradientBoostingClassifier(n_estimators=200, max_depth=3, random_state=0).fit(Xtr, ytr)</a:t>
            </a:r>
          </a:p>
          <a:p>
            <a:r>
              <a:rPr sz="1000">
                <a:solidFill>
                  <a:srgbClr val="E2E8F0"/>
                </a:solidFill>
                <a:latin typeface="Consolas"/>
              </a:rPr>
              <a:t>pred = clf.predict(Xte)</a:t>
            </a:r>
          </a:p>
          <a:p>
            <a:r>
              <a:rPr sz="1000">
                <a:solidFill>
                  <a:srgbClr val="E2E8F0"/>
                </a:solidFill>
                <a:latin typeface="Consolas"/>
              </a:rPr>
              <a:t> </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Etik talablar tekshiruv ro'yxati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Talaba quyidagi 20 bandli ro'yxatni (ISO/IEC 42001, ISO/IEC 23894, EU AI Act 9–15-moddalari va NIST AI RMF asosida tuzilgan) 1-5 qadamlarda qurilgan tizim uchun to'ldiradi; har band uchun…</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Ro'yxat texnik o'lchovlarni (7, 8, 11) tashkiliy talablar bilan (1, 12, 19) bog'laydi. Laboratoriya tizimida 1–11 va 20-bandlar bevosita bajarilishi mumkin; 12–19-bandlar uchun talaba reja va mas'uliyat taqsimotini yozadi.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Etik talablar tekshiruv ro'yxati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Band</a:t>
                      </a:r>
                    </a:p>
                  </a:txBody>
                  <a:tcPr>
                    <a:solidFill>
                      <a:srgbClr val="2D5C8F"/>
                    </a:solidFill>
                  </a:tcPr>
                </a:tc>
                <a:tc>
                  <a:txBody>
                    <a:bodyPr/>
                    <a:lstStyle/>
                    <a:p>
                      <a:r>
                        <a:rPr sz="1200" b="1">
                          <a:solidFill>
                            <a:srgbClr val="FFFFFF"/>
                          </a:solidFill>
                          <a:latin typeface="Calibri"/>
                        </a:rPr>
                        <a:t>Manba</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Tizimning maqsadi, foydalanuvchilari va ta'sir ko'lami hujjatlashtirilgan</a:t>
                      </a:r>
                    </a:p>
                  </a:txBody>
                  <a:tcPr>
                    <a:solidFill>
                      <a:srgbClr val="F1F4F8"/>
                    </a:solidFill>
                  </a:tcPr>
                </a:tc>
                <a:tc>
                  <a:txBody>
                    <a:bodyPr/>
                    <a:lstStyle/>
                    <a:p>
                      <a:r>
                        <a:rPr sz="1200" b="0">
                          <a:solidFill>
                            <a:srgbClr val="1B2430"/>
                          </a:solidFill>
                          <a:latin typeface="Calibri"/>
                        </a:rPr>
                        <a:t>ISO 42001 A.6; AI Act 11-m.</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Xavf darajasi (taqiqlangan / yuqori / cheklangan / minimal) aniqlangan va asoslangan</a:t>
                      </a:r>
                    </a:p>
                  </a:txBody>
                  <a:tcPr>
                    <a:solidFill>
                      <a:srgbClr val="FFFFFF"/>
                    </a:solidFill>
                  </a:tcPr>
                </a:tc>
                <a:tc>
                  <a:txBody>
                    <a:bodyPr/>
                    <a:lstStyle/>
                    <a:p>
                      <a:r>
                        <a:rPr sz="1200" b="0">
                          <a:solidFill>
                            <a:srgbClr val="1B2430"/>
                          </a:solidFill>
                          <a:latin typeface="Calibri"/>
                        </a:rPr>
                        <a:t>AI Act 6-m.</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Ma'lumot manbai, yig'ish usuli va litsenziyasi hujjatlashtirilgan</a:t>
                      </a:r>
                    </a:p>
                  </a:txBody>
                  <a:tcPr>
                    <a:solidFill>
                      <a:srgbClr val="F1F4F8"/>
                    </a:solidFill>
                  </a:tcPr>
                </a:tc>
                <a:tc>
                  <a:txBody>
                    <a:bodyPr/>
                    <a:lstStyle/>
                    <a:p>
                      <a:r>
                        <a:rPr sz="1200" b="0">
                          <a:solidFill>
                            <a:srgbClr val="1B2430"/>
                          </a:solidFill>
                          <a:latin typeface="Calibri"/>
                        </a:rPr>
                        <a:t>AI Act 10-m.</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Ma'lumotdagi guruhlar vakilligi (representativeness) tahlil qilingan</a:t>
                      </a:r>
                    </a:p>
                  </a:txBody>
                  <a:tcPr>
                    <a:solidFill>
                      <a:srgbClr val="FFFFFF"/>
                    </a:solidFill>
                  </a:tcPr>
                </a:tc>
                <a:tc>
                  <a:txBody>
                    <a:bodyPr/>
                    <a:lstStyle/>
                    <a:p>
                      <a:r>
                        <a:rPr sz="1200" b="0">
                          <a:solidFill>
                            <a:srgbClr val="1B2430"/>
                          </a:solidFill>
                          <a:latin typeface="Calibri"/>
                        </a:rPr>
                        <a:t>AI Act 10-m.; ISO 23894</a:t>
                      </a:r>
                    </a:p>
                  </a:txBody>
                  <a:tcPr>
                    <a:solidFill>
                      <a:srgbClr val="FFFFFF"/>
                    </a:solidFill>
                  </a:tcPr>
                </a:tc>
              </a:tr>
              <a:tr h="520000">
                <a:tc>
                  <a:txBody>
                    <a:bodyPr/>
                    <a:lstStyle/>
                    <a:p>
                      <a:r>
                        <a:rPr sz="1200" b="0">
                          <a:solidFill>
                            <a:srgbClr val="1B2430"/>
                          </a:solidFill>
                          <a:latin typeface="Calibri"/>
                        </a:rPr>
                        <a:t>5</a:t>
                      </a:r>
                    </a:p>
                  </a:txBody>
                  <a:tcPr>
                    <a:solidFill>
                      <a:srgbClr val="F1F4F8"/>
                    </a:solidFill>
                  </a:tcPr>
                </a:tc>
                <a:tc>
                  <a:txBody>
                    <a:bodyPr/>
                    <a:lstStyle/>
                    <a:p>
                      <a:r>
                        <a:rPr sz="1200" b="0">
                          <a:solidFill>
                            <a:srgbClr val="1B2430"/>
                          </a:solidFill>
                          <a:latin typeface="Calibri"/>
                        </a:rPr>
                        <a:t>Sezgir atributlar va ularning vakil belgilari (proxy) aniqlangan</a:t>
                      </a:r>
                    </a:p>
                  </a:txBody>
                  <a:tcPr>
                    <a:solidFill>
                      <a:srgbClr val="F1F4F8"/>
                    </a:solidFill>
                  </a:tcPr>
                </a:tc>
                <a:tc>
                  <a:txBody>
                    <a:bodyPr/>
                    <a:lstStyle/>
                    <a:p>
                      <a:r>
                        <a:rPr sz="1200" b="0">
                          <a:solidFill>
                            <a:srgbClr val="1B2430"/>
                          </a:solidFill>
                          <a:latin typeface="Calibri"/>
                        </a:rPr>
                        <a:t>NIST RMF Map</a:t>
                      </a:r>
                    </a:p>
                  </a:txBody>
                  <a:tcPr>
                    <a:solidFill>
                      <a:srgbClr val="F1F4F8"/>
                    </a:solidFill>
                  </a:tcPr>
                </a:tc>
              </a:tr>
              <a:tr h="520000">
                <a:tc>
                  <a:txBody>
                    <a:bodyPr/>
                    <a:lstStyle/>
                    <a:p>
                      <a:r>
                        <a:rPr sz="1200" b="0">
                          <a:solidFill>
                            <a:srgbClr val="1B2430"/>
                          </a:solidFill>
                          <a:latin typeface="Calibri"/>
                        </a:rPr>
                        <a:t>6</a:t>
                      </a:r>
                    </a:p>
                  </a:txBody>
                  <a:tcPr>
                    <a:solidFill>
                      <a:srgbClr val="FFFFFF"/>
                    </a:solidFill>
                  </a:tcPr>
                </a:tc>
                <a:tc>
                  <a:txBody>
                    <a:bodyPr/>
                    <a:lstStyle/>
                    <a:p>
                      <a:r>
                        <a:rPr sz="1200" b="0">
                          <a:solidFill>
                            <a:srgbClr val="1B2430"/>
                          </a:solidFill>
                          <a:latin typeface="Calibri"/>
                        </a:rPr>
                        <a:t>Adolatlilik mezoni tanlangan va tanlov asoslangan</a:t>
                      </a:r>
                    </a:p>
                  </a:txBody>
                  <a:tcPr>
                    <a:solidFill>
                      <a:srgbClr val="FFFFFF"/>
                    </a:solidFill>
                  </a:tcPr>
                </a:tc>
                <a:tc>
                  <a:txBody>
                    <a:bodyPr/>
                    <a:lstStyle/>
                    <a:p>
                      <a:r>
                        <a:rPr sz="1200" b="0">
                          <a:solidFill>
                            <a:srgbClr val="1B2430"/>
                          </a:solidFill>
                          <a:latin typeface="Calibri"/>
                        </a:rPr>
                        <a:t>ISO 42001 A.7</a:t>
                      </a:r>
                    </a:p>
                  </a:txBody>
                  <a:tcPr>
                    <a:solidFill>
                      <a:srgbClr val="FFFFFF"/>
                    </a:solidFill>
                  </a:tcPr>
                </a:tc>
              </a:tr>
              <a:tr h="520000">
                <a:tc>
                  <a:txBody>
                    <a:bodyPr/>
                    <a:lstStyle/>
                    <a:p>
                      <a:r>
                        <a:rPr sz="1200" b="0">
                          <a:solidFill>
                            <a:srgbClr val="1B2430"/>
                          </a:solidFill>
                          <a:latin typeface="Calibri"/>
                        </a:rPr>
                        <a:t>7</a:t>
                      </a:r>
                    </a:p>
                  </a:txBody>
                  <a:tcPr>
                    <a:solidFill>
                      <a:srgbClr val="F1F4F8"/>
                    </a:solidFill>
                  </a:tcPr>
                </a:tc>
                <a:tc>
                  <a:txBody>
                    <a:bodyPr/>
                    <a:lstStyle/>
                    <a:p>
                      <a:r>
                        <a:rPr sz="1200" b="0">
                          <a:solidFill>
                            <a:srgbClr val="1B2430"/>
                          </a:solidFill>
                          <a:latin typeface="Calibri"/>
                        </a:rPr>
                        <a:t>Adolatlilik ko'rsatkichlari guruhlar bo'yicha o'lchangan va chegaralar belgilangan</a:t>
                      </a:r>
                    </a:p>
                  </a:txBody>
                  <a:tcPr>
                    <a:solidFill>
                      <a:srgbClr val="F1F4F8"/>
                    </a:solidFill>
                  </a:tcPr>
                </a:tc>
                <a:tc>
                  <a:txBody>
                    <a:bodyPr/>
                    <a:lstStyle/>
                    <a:p>
                      <a:r>
                        <a:rPr sz="1200" b="0">
                          <a:solidFill>
                            <a:srgbClr val="1B2430"/>
                          </a:solidFill>
                          <a:latin typeface="Calibri"/>
                        </a:rPr>
                        <a:t>AI Act 10-m.</a:t>
                      </a:r>
                    </a:p>
                  </a:txBody>
                  <a:tcPr>
                    <a:solidFill>
                      <a:srgbClr val="F1F4F8"/>
                    </a:solidFill>
                  </a:tcPr>
                </a:tc>
              </a:tr>
              <a:tr h="520000">
                <a:tc>
                  <a:txBody>
                    <a:bodyPr/>
                    <a:lstStyle/>
                    <a:p>
                      <a:r>
                        <a:rPr sz="1200" b="0">
                          <a:solidFill>
                            <a:srgbClr val="1B2430"/>
                          </a:solidFill>
                          <a:latin typeface="Calibri"/>
                        </a:rPr>
                        <a:t>8</a:t>
                      </a:r>
                    </a:p>
                  </a:txBody>
                  <a:tcPr>
                    <a:solidFill>
                      <a:srgbClr val="FFFFFF"/>
                    </a:solidFill>
                  </a:tcPr>
                </a:tc>
                <a:tc>
                  <a:txBody>
                    <a:bodyPr/>
                    <a:lstStyle/>
                    <a:p>
                      <a:r>
                        <a:rPr sz="1200" b="0">
                          <a:solidFill>
                            <a:srgbClr val="1B2430"/>
                          </a:solidFill>
                          <a:latin typeface="Calibri"/>
                        </a:rPr>
                        <a:t>Toza va adversarial aniqlik o'lchangan, tahdid modeli yozilgan</a:t>
                      </a:r>
                    </a:p>
                  </a:txBody>
                  <a:tcPr>
                    <a:solidFill>
                      <a:srgbClr val="FFFFFF"/>
                    </a:solidFill>
                  </a:tcPr>
                </a:tc>
                <a:tc>
                  <a:txBody>
                    <a:bodyPr/>
                    <a:lstStyle/>
                    <a:p>
                      <a:r>
                        <a:rPr sz="1200" b="0">
                          <a:solidFill>
                            <a:srgbClr val="1B2430"/>
                          </a:solidFill>
                          <a:latin typeface="Calibri"/>
                        </a:rPr>
                        <a:t>AI Act 15-m.</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Etik talablar tekshiruv ro'yxati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Band</a:t>
                      </a:r>
                    </a:p>
                  </a:txBody>
                  <a:tcPr>
                    <a:solidFill>
                      <a:srgbClr val="2D5C8F"/>
                    </a:solidFill>
                  </a:tcPr>
                </a:tc>
                <a:tc>
                  <a:txBody>
                    <a:bodyPr/>
                    <a:lstStyle/>
                    <a:p>
                      <a:r>
                        <a:rPr sz="1200" b="1">
                          <a:solidFill>
                            <a:srgbClr val="FFFFFF"/>
                          </a:solidFill>
                          <a:latin typeface="Calibri"/>
                        </a:rPr>
                        <a:t>Manba</a:t>
                      </a:r>
                    </a:p>
                  </a:txBody>
                  <a:tcPr>
                    <a:solidFill>
                      <a:srgbClr val="2D5C8F"/>
                    </a:solidFill>
                  </a:tcPr>
                </a:tc>
              </a:tr>
              <a:tr h="520000">
                <a:tc>
                  <a:txBody>
                    <a:bodyPr/>
                    <a:lstStyle/>
                    <a:p>
                      <a:r>
                        <a:rPr sz="1200" b="0">
                          <a:solidFill>
                            <a:srgbClr val="1B2430"/>
                          </a:solidFill>
                          <a:latin typeface="Calibri"/>
                        </a:rPr>
                        <a:t>9</a:t>
                      </a:r>
                    </a:p>
                  </a:txBody>
                  <a:tcPr>
                    <a:solidFill>
                      <a:srgbClr val="F1F4F8"/>
                    </a:solidFill>
                  </a:tcPr>
                </a:tc>
                <a:tc>
                  <a:txBody>
                    <a:bodyPr/>
                    <a:lstStyle/>
                    <a:p>
                      <a:r>
                        <a:rPr sz="1200" b="0">
                          <a:solidFill>
                            <a:srgbClr val="1B2430"/>
                          </a:solidFill>
                          <a:latin typeface="Calibri"/>
                        </a:rPr>
                        <a:t>Himoya chorasi (adversarial o'qitish, kirish nazorati) joriy qilingan va sinovdan o'tgan</a:t>
                      </a:r>
                    </a:p>
                  </a:txBody>
                  <a:tcPr>
                    <a:solidFill>
                      <a:srgbClr val="F1F4F8"/>
                    </a:solidFill>
                  </a:tcPr>
                </a:tc>
                <a:tc>
                  <a:txBody>
                    <a:bodyPr/>
                    <a:lstStyle/>
                    <a:p>
                      <a:r>
                        <a:rPr sz="1200" b="0">
                          <a:solidFill>
                            <a:srgbClr val="1B2430"/>
                          </a:solidFill>
                          <a:latin typeface="Calibri"/>
                        </a:rPr>
                        <a:t>AI Act 15-m.</a:t>
                      </a:r>
                    </a:p>
                  </a:txBody>
                  <a:tcPr>
                    <a:solidFill>
                      <a:srgbClr val="F1F4F8"/>
                    </a:solidFill>
                  </a:tcPr>
                </a:tc>
              </a:tr>
              <a:tr h="520000">
                <a:tc>
                  <a:txBody>
                    <a:bodyPr/>
                    <a:lstStyle/>
                    <a:p>
                      <a:r>
                        <a:rPr sz="1200" b="0">
                          <a:solidFill>
                            <a:srgbClr val="1B2430"/>
                          </a:solidFill>
                          <a:latin typeface="Calibri"/>
                        </a:rPr>
                        <a:t>10</a:t>
                      </a:r>
                    </a:p>
                  </a:txBody>
                  <a:tcPr>
                    <a:solidFill>
                      <a:srgbClr val="FFFFFF"/>
                    </a:solidFill>
                  </a:tcPr>
                </a:tc>
                <a:tc>
                  <a:txBody>
                    <a:bodyPr/>
                    <a:lstStyle/>
                    <a:p>
                      <a:r>
                        <a:rPr sz="1200" b="0">
                          <a:solidFill>
                            <a:srgbClr val="1B2430"/>
                          </a:solidFill>
                          <a:latin typeface="Calibri"/>
                        </a:rPr>
                        <a:t>Qarorlar uchun tushuntirish mexanizmi (XAI) mavjud va foydalanuvchiga mos</a:t>
                      </a:r>
                    </a:p>
                  </a:txBody>
                  <a:tcPr>
                    <a:solidFill>
                      <a:srgbClr val="FFFFFF"/>
                    </a:solidFill>
                  </a:tcPr>
                </a:tc>
                <a:tc>
                  <a:txBody>
                    <a:bodyPr/>
                    <a:lstStyle/>
                    <a:p>
                      <a:r>
                        <a:rPr sz="1200" b="0">
                          <a:solidFill>
                            <a:srgbClr val="1B2430"/>
                          </a:solidFill>
                          <a:latin typeface="Calibri"/>
                        </a:rPr>
                        <a:t>AI Act 13-m.</a:t>
                      </a:r>
                    </a:p>
                  </a:txBody>
                  <a:tcPr>
                    <a:solidFill>
                      <a:srgbClr val="FFFFFF"/>
                    </a:solidFill>
                  </a:tcPr>
                </a:tc>
              </a:tr>
              <a:tr h="520000">
                <a:tc>
                  <a:txBody>
                    <a:bodyPr/>
                    <a:lstStyle/>
                    <a:p>
                      <a:r>
                        <a:rPr sz="1200" b="0">
                          <a:solidFill>
                            <a:srgbClr val="1B2430"/>
                          </a:solidFill>
                          <a:latin typeface="Calibri"/>
                        </a:rPr>
                        <a:t>11</a:t>
                      </a:r>
                    </a:p>
                  </a:txBody>
                  <a:tcPr>
                    <a:solidFill>
                      <a:srgbClr val="F1F4F8"/>
                    </a:solidFill>
                  </a:tcPr>
                </a:tc>
                <a:tc>
                  <a:txBody>
                    <a:bodyPr/>
                    <a:lstStyle/>
                    <a:p>
                      <a:r>
                        <a:rPr sz="1200" b="0">
                          <a:solidFill>
                            <a:srgbClr val="1B2430"/>
                          </a:solidFill>
                          <a:latin typeface="Calibri"/>
                        </a:rPr>
                        <a:t>Tushuntirishlarning ishonchliligi (barqarorlik, sodiqlik) tekshirilgan</a:t>
                      </a:r>
                    </a:p>
                  </a:txBody>
                  <a:tcPr>
                    <a:solidFill>
                      <a:srgbClr val="F1F4F8"/>
                    </a:solidFill>
                  </a:tcPr>
                </a:tc>
                <a:tc>
                  <a:txBody>
                    <a:bodyPr/>
                    <a:lstStyle/>
                    <a:p>
                      <a:r>
                        <a:rPr sz="1200" b="0">
                          <a:solidFill>
                            <a:srgbClr val="1B2430"/>
                          </a:solidFill>
                          <a:latin typeface="Calibri"/>
                        </a:rPr>
                        <a:t>ISO 23894</a:t>
                      </a:r>
                    </a:p>
                  </a:txBody>
                  <a:tcPr>
                    <a:solidFill>
                      <a:srgbClr val="F1F4F8"/>
                    </a:solidFill>
                  </a:tcPr>
                </a:tc>
              </a:tr>
              <a:tr h="520000">
                <a:tc>
                  <a:txBody>
                    <a:bodyPr/>
                    <a:lstStyle/>
                    <a:p>
                      <a:r>
                        <a:rPr sz="1200" b="0">
                          <a:solidFill>
                            <a:srgbClr val="1B2430"/>
                          </a:solidFill>
                          <a:latin typeface="Calibri"/>
                        </a:rPr>
                        <a:t>12</a:t>
                      </a:r>
                    </a:p>
                  </a:txBody>
                  <a:tcPr>
                    <a:solidFill>
                      <a:srgbClr val="FFFFFF"/>
                    </a:solidFill>
                  </a:tcPr>
                </a:tc>
                <a:tc>
                  <a:txBody>
                    <a:bodyPr/>
                    <a:lstStyle/>
                    <a:p>
                      <a:r>
                        <a:rPr sz="1200" b="0">
                          <a:solidFill>
                            <a:srgbClr val="1B2430"/>
                          </a:solidFill>
                          <a:latin typeface="Calibri"/>
                        </a:rPr>
                        <a:t>Inson nazorati nuqtalari (human-in-the-loop) aniqlangan</a:t>
                      </a:r>
                    </a:p>
                  </a:txBody>
                  <a:tcPr>
                    <a:solidFill>
                      <a:srgbClr val="FFFFFF"/>
                    </a:solidFill>
                  </a:tcPr>
                </a:tc>
                <a:tc>
                  <a:txBody>
                    <a:bodyPr/>
                    <a:lstStyle/>
                    <a:p>
                      <a:r>
                        <a:rPr sz="1200" b="0">
                          <a:solidFill>
                            <a:srgbClr val="1B2430"/>
                          </a:solidFill>
                          <a:latin typeface="Calibri"/>
                        </a:rPr>
                        <a:t>AI Act 14-m.</a:t>
                      </a:r>
                    </a:p>
                  </a:txBody>
                  <a:tcPr>
                    <a:solidFill>
                      <a:srgbClr val="FFFFFF"/>
                    </a:solidFill>
                  </a:tcPr>
                </a:tc>
              </a:tr>
              <a:tr h="520000">
                <a:tc>
                  <a:txBody>
                    <a:bodyPr/>
                    <a:lstStyle/>
                    <a:p>
                      <a:r>
                        <a:rPr sz="1200" b="0">
                          <a:solidFill>
                            <a:srgbClr val="1B2430"/>
                          </a:solidFill>
                          <a:latin typeface="Calibri"/>
                        </a:rPr>
                        <a:t>13</a:t>
                      </a:r>
                    </a:p>
                  </a:txBody>
                  <a:tcPr>
                    <a:solidFill>
                      <a:srgbClr val="F1F4F8"/>
                    </a:solidFill>
                  </a:tcPr>
                </a:tc>
                <a:tc>
                  <a:txBody>
                    <a:bodyPr/>
                    <a:lstStyle/>
                    <a:p>
                      <a:r>
                        <a:rPr sz="1200" b="0">
                          <a:solidFill>
                            <a:srgbClr val="1B2430"/>
                          </a:solidFill>
                          <a:latin typeface="Calibri"/>
                        </a:rPr>
                        <a:t>Foydalanuvchi AI bilan muloqotda ekanini biladi</a:t>
                      </a:r>
                    </a:p>
                  </a:txBody>
                  <a:tcPr>
                    <a:solidFill>
                      <a:srgbClr val="F1F4F8"/>
                    </a:solidFill>
                  </a:tcPr>
                </a:tc>
                <a:tc>
                  <a:txBody>
                    <a:bodyPr/>
                    <a:lstStyle/>
                    <a:p>
                      <a:r>
                        <a:rPr sz="1200" b="0">
                          <a:solidFill>
                            <a:srgbClr val="1B2430"/>
                          </a:solidFill>
                          <a:latin typeface="Calibri"/>
                        </a:rPr>
                        <a:t>AI Act 50-m.</a:t>
                      </a:r>
                    </a:p>
                  </a:txBody>
                  <a:tcPr>
                    <a:solidFill>
                      <a:srgbClr val="F1F4F8"/>
                    </a:solidFill>
                  </a:tcPr>
                </a:tc>
              </a:tr>
              <a:tr h="520000">
                <a:tc>
                  <a:txBody>
                    <a:bodyPr/>
                    <a:lstStyle/>
                    <a:p>
                      <a:r>
                        <a:rPr sz="1200" b="0">
                          <a:solidFill>
                            <a:srgbClr val="1B2430"/>
                          </a:solidFill>
                          <a:latin typeface="Calibri"/>
                        </a:rPr>
                        <a:t>14</a:t>
                      </a:r>
                    </a:p>
                  </a:txBody>
                  <a:tcPr>
                    <a:solidFill>
                      <a:srgbClr val="FFFFFF"/>
                    </a:solidFill>
                  </a:tcPr>
                </a:tc>
                <a:tc>
                  <a:txBody>
                    <a:bodyPr/>
                    <a:lstStyle/>
                    <a:p>
                      <a:r>
                        <a:rPr sz="1200" b="0">
                          <a:solidFill>
                            <a:srgbClr val="1B2430"/>
                          </a:solidFill>
                          <a:latin typeface="Calibri"/>
                        </a:rPr>
                        <a:t>Kirish ma'lumotlari va qarorlar jurnalga yoziladi (audit izi)</a:t>
                      </a:r>
                    </a:p>
                  </a:txBody>
                  <a:tcPr>
                    <a:solidFill>
                      <a:srgbClr val="FFFFFF"/>
                    </a:solidFill>
                  </a:tcPr>
                </a:tc>
                <a:tc>
                  <a:txBody>
                    <a:bodyPr/>
                    <a:lstStyle/>
                    <a:p>
                      <a:r>
                        <a:rPr sz="1200" b="0">
                          <a:solidFill>
                            <a:srgbClr val="1B2430"/>
                          </a:solidFill>
                          <a:latin typeface="Calibri"/>
                        </a:rPr>
                        <a:t>AI Act 12-m.</a:t>
                      </a:r>
                    </a:p>
                  </a:txBody>
                  <a:tcPr>
                    <a:solidFill>
                      <a:srgbClr val="FFFFFF"/>
                    </a:solidFill>
                  </a:tcPr>
                </a:tc>
              </a:tr>
              <a:tr h="520000">
                <a:tc>
                  <a:txBody>
                    <a:bodyPr/>
                    <a:lstStyle/>
                    <a:p>
                      <a:r>
                        <a:rPr sz="1200" b="0">
                          <a:solidFill>
                            <a:srgbClr val="1B2430"/>
                          </a:solidFill>
                          <a:latin typeface="Calibri"/>
                        </a:rPr>
                        <a:t>15</a:t>
                      </a:r>
                    </a:p>
                  </a:txBody>
                  <a:tcPr>
                    <a:solidFill>
                      <a:srgbClr val="F1F4F8"/>
                    </a:solidFill>
                  </a:tcPr>
                </a:tc>
                <a:tc>
                  <a:txBody>
                    <a:bodyPr/>
                    <a:lstStyle/>
                    <a:p>
                      <a:r>
                        <a:rPr sz="1200" b="0">
                          <a:solidFill>
                            <a:srgbClr val="1B2430"/>
                          </a:solidFill>
                          <a:latin typeface="Calibri"/>
                        </a:rPr>
                        <a:t>Ishlab chiqarishda drift va adolatlilik monitoringi rejalashtirilgan</a:t>
                      </a:r>
                    </a:p>
                  </a:txBody>
                  <a:tcPr>
                    <a:solidFill>
                      <a:srgbClr val="F1F4F8"/>
                    </a:solidFill>
                  </a:tcPr>
                </a:tc>
                <a:tc>
                  <a:txBody>
                    <a:bodyPr/>
                    <a:lstStyle/>
                    <a:p>
                      <a:r>
                        <a:rPr sz="1200" b="0">
                          <a:solidFill>
                            <a:srgbClr val="1B2430"/>
                          </a:solidFill>
                          <a:latin typeface="Calibri"/>
                        </a:rPr>
                        <a:t>ISO 42001 A.6.2.6</a:t>
                      </a:r>
                    </a:p>
                  </a:txBody>
                  <a:tcPr>
                    <a:solidFill>
                      <a:srgbClr val="F1F4F8"/>
                    </a:solidFill>
                  </a:tcPr>
                </a:tc>
              </a:tr>
              <a:tr h="520000">
                <a:tc>
                  <a:txBody>
                    <a:bodyPr/>
                    <a:lstStyle/>
                    <a:p>
                      <a:r>
                        <a:rPr sz="1200" b="0">
                          <a:solidFill>
                            <a:srgbClr val="1B2430"/>
                          </a:solidFill>
                          <a:latin typeface="Calibri"/>
                        </a:rPr>
                        <a:t>16</a:t>
                      </a:r>
                    </a:p>
                  </a:txBody>
                  <a:tcPr>
                    <a:solidFill>
                      <a:srgbClr val="FFFFFF"/>
                    </a:solidFill>
                  </a:tcPr>
                </a:tc>
                <a:tc>
                  <a:txBody>
                    <a:bodyPr/>
                    <a:lstStyle/>
                    <a:p>
                      <a:r>
                        <a:rPr sz="1200" b="0">
                          <a:solidFill>
                            <a:srgbClr val="1B2430"/>
                          </a:solidFill>
                          <a:latin typeface="Calibri"/>
                        </a:rPr>
                        <a:t>Shaxsiy ma'lumotlar minimallashtirilgan, a'zolik inferensi xavfi baholangan</a:t>
                      </a:r>
                    </a:p>
                  </a:txBody>
                  <a:tcPr>
                    <a:solidFill>
                      <a:srgbClr val="FFFFFF"/>
                    </a:solidFill>
                  </a:tcPr>
                </a:tc>
                <a:tc>
                  <a:txBody>
                    <a:bodyPr/>
                    <a:lstStyle/>
                    <a:p>
                      <a:r>
                        <a:rPr sz="1200" b="0">
                          <a:solidFill>
                            <a:srgbClr val="1B2430"/>
                          </a:solidFill>
                          <a:latin typeface="Calibri"/>
                        </a:rPr>
                        <a:t>GDPR; ISO 23894</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Etik talablar tekshiruv ro'yxati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Band</a:t>
                      </a:r>
                    </a:p>
                  </a:txBody>
                  <a:tcPr>
                    <a:solidFill>
                      <a:srgbClr val="2D5C8F"/>
                    </a:solidFill>
                  </a:tcPr>
                </a:tc>
                <a:tc>
                  <a:txBody>
                    <a:bodyPr/>
                    <a:lstStyle/>
                    <a:p>
                      <a:r>
                        <a:rPr sz="1200" b="1">
                          <a:solidFill>
                            <a:srgbClr val="FFFFFF"/>
                          </a:solidFill>
                          <a:latin typeface="Calibri"/>
                        </a:rPr>
                        <a:t>Manba</a:t>
                      </a:r>
                    </a:p>
                  </a:txBody>
                  <a:tcPr>
                    <a:solidFill>
                      <a:srgbClr val="2D5C8F"/>
                    </a:solidFill>
                  </a:tcPr>
                </a:tc>
              </a:tr>
              <a:tr h="520000">
                <a:tc>
                  <a:txBody>
                    <a:bodyPr/>
                    <a:lstStyle/>
                    <a:p>
                      <a:r>
                        <a:rPr sz="1200" b="0">
                          <a:solidFill>
                            <a:srgbClr val="1B2430"/>
                          </a:solidFill>
                          <a:latin typeface="Calibri"/>
                        </a:rPr>
                        <a:t>17</a:t>
                      </a:r>
                    </a:p>
                  </a:txBody>
                  <a:tcPr>
                    <a:solidFill>
                      <a:srgbClr val="F1F4F8"/>
                    </a:solidFill>
                  </a:tcPr>
                </a:tc>
                <a:tc>
                  <a:txBody>
                    <a:bodyPr/>
                    <a:lstStyle/>
                    <a:p>
                      <a:r>
                        <a:rPr sz="1200" b="0">
                          <a:solidFill>
                            <a:srgbClr val="1B2430"/>
                          </a:solidFill>
                          <a:latin typeface="Calibri"/>
                        </a:rPr>
                        <a:t>Model kartasi (model card) va ma'lumot varaqasi (datasheet) tayyorlangan</a:t>
                      </a:r>
                    </a:p>
                  </a:txBody>
                  <a:tcPr>
                    <a:solidFill>
                      <a:srgbClr val="F1F4F8"/>
                    </a:solidFill>
                  </a:tcPr>
                </a:tc>
                <a:tc>
                  <a:txBody>
                    <a:bodyPr/>
                    <a:lstStyle/>
                    <a:p>
                      <a:r>
                        <a:rPr sz="1200" b="0">
                          <a:solidFill>
                            <a:srgbClr val="1B2430"/>
                          </a:solidFill>
                          <a:latin typeface="Calibri"/>
                        </a:rPr>
                        <a:t>ISO 42001 A.6.2.7</a:t>
                      </a:r>
                    </a:p>
                  </a:txBody>
                  <a:tcPr>
                    <a:solidFill>
                      <a:srgbClr val="F1F4F8"/>
                    </a:solidFill>
                  </a:tcPr>
                </a:tc>
              </a:tr>
              <a:tr h="520000">
                <a:tc>
                  <a:txBody>
                    <a:bodyPr/>
                    <a:lstStyle/>
                    <a:p>
                      <a:r>
                        <a:rPr sz="1200" b="0">
                          <a:solidFill>
                            <a:srgbClr val="1B2430"/>
                          </a:solidFill>
                          <a:latin typeface="Calibri"/>
                        </a:rPr>
                        <a:t>18</a:t>
                      </a:r>
                    </a:p>
                  </a:txBody>
                  <a:tcPr>
                    <a:solidFill>
                      <a:srgbClr val="FFFFFF"/>
                    </a:solidFill>
                  </a:tcPr>
                </a:tc>
                <a:tc>
                  <a:txBody>
                    <a:bodyPr/>
                    <a:lstStyle/>
                    <a:p>
                      <a:r>
                        <a:rPr sz="1200" b="0">
                          <a:solidFill>
                            <a:srgbClr val="1B2430"/>
                          </a:solidFill>
                          <a:latin typeface="Calibri"/>
                        </a:rPr>
                        <a:t>Nosozlik rejimi (fallback) va o'chirish tartibi aniqlangan</a:t>
                      </a:r>
                    </a:p>
                  </a:txBody>
                  <a:tcPr>
                    <a:solidFill>
                      <a:srgbClr val="FFFFFF"/>
                    </a:solidFill>
                  </a:tcPr>
                </a:tc>
                <a:tc>
                  <a:txBody>
                    <a:bodyPr/>
                    <a:lstStyle/>
                    <a:p>
                      <a:r>
                        <a:rPr sz="1200" b="0">
                          <a:solidFill>
                            <a:srgbClr val="1B2430"/>
                          </a:solidFill>
                          <a:latin typeface="Calibri"/>
                        </a:rPr>
                        <a:t>AI Act 9-m.</a:t>
                      </a:r>
                    </a:p>
                  </a:txBody>
                  <a:tcPr>
                    <a:solidFill>
                      <a:srgbClr val="FFFFFF"/>
                    </a:solidFill>
                  </a:tcPr>
                </a:tc>
              </a:tr>
              <a:tr h="520000">
                <a:tc>
                  <a:txBody>
                    <a:bodyPr/>
                    <a:lstStyle/>
                    <a:p>
                      <a:r>
                        <a:rPr sz="1200" b="0">
                          <a:solidFill>
                            <a:srgbClr val="1B2430"/>
                          </a:solidFill>
                          <a:latin typeface="Calibri"/>
                        </a:rPr>
                        <a:t>19</a:t>
                      </a:r>
                    </a:p>
                  </a:txBody>
                  <a:tcPr>
                    <a:solidFill>
                      <a:srgbClr val="F1F4F8"/>
                    </a:solidFill>
                  </a:tcPr>
                </a:tc>
                <a:tc>
                  <a:txBody>
                    <a:bodyPr/>
                    <a:lstStyle/>
                    <a:p>
                      <a:r>
                        <a:rPr sz="1200" b="0">
                          <a:solidFill>
                            <a:srgbClr val="1B2430"/>
                          </a:solidFill>
                          <a:latin typeface="Calibri"/>
                        </a:rPr>
                        <a:t>Mas'ul shaxslar va shikoyat qilish mexanizmi belgilangan</a:t>
                      </a:r>
                    </a:p>
                  </a:txBody>
                  <a:tcPr>
                    <a:solidFill>
                      <a:srgbClr val="F1F4F8"/>
                    </a:solidFill>
                  </a:tcPr>
                </a:tc>
                <a:tc>
                  <a:txBody>
                    <a:bodyPr/>
                    <a:lstStyle/>
                    <a:p>
                      <a:r>
                        <a:rPr sz="1200" b="0">
                          <a:solidFill>
                            <a:srgbClr val="1B2430"/>
                          </a:solidFill>
                          <a:latin typeface="Calibri"/>
                        </a:rPr>
                        <a:t>ISO 42001 5.3</a:t>
                      </a:r>
                    </a:p>
                  </a:txBody>
                  <a:tcPr>
                    <a:solidFill>
                      <a:srgbClr val="F1F4F8"/>
                    </a:solidFill>
                  </a:tcPr>
                </a:tc>
              </a:tr>
              <a:tr h="520000">
                <a:tc>
                  <a:txBody>
                    <a:bodyPr/>
                    <a:lstStyle/>
                    <a:p>
                      <a:r>
                        <a:rPr sz="1200" b="0">
                          <a:solidFill>
                            <a:srgbClr val="1B2430"/>
                          </a:solidFill>
                          <a:latin typeface="Calibri"/>
                        </a:rPr>
                        <a:t>20</a:t>
                      </a:r>
                    </a:p>
                  </a:txBody>
                  <a:tcPr>
                    <a:solidFill>
                      <a:srgbClr val="FFFFFF"/>
                    </a:solidFill>
                  </a:tcPr>
                </a:tc>
                <a:tc>
                  <a:txBody>
                    <a:bodyPr/>
                    <a:lstStyle/>
                    <a:p>
                      <a:r>
                        <a:rPr sz="1200" b="0">
                          <a:solidFill>
                            <a:srgbClr val="1B2430"/>
                          </a:solidFill>
                          <a:latin typeface="Calibri"/>
                        </a:rPr>
                        <a:t>Baholash takrorlanuvchan (kod, urug', versiyalar qayd etilgan)</a:t>
                      </a:r>
                    </a:p>
                  </a:txBody>
                  <a:tcPr>
                    <a:solidFill>
                      <a:srgbClr val="FFFFFF"/>
                    </a:solidFill>
                  </a:tcPr>
                </a:tc>
                <a:tc>
                  <a:txBody>
                    <a:bodyPr/>
                    <a:lstStyle/>
                    <a:p>
                      <a:r>
                        <a:rPr sz="1200" b="0">
                          <a:solidFill>
                            <a:srgbClr val="1B2430"/>
                          </a:solidFill>
                          <a:latin typeface="Calibri"/>
                        </a:rPr>
                        <a:t>NIST RMF Measure</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2000" b="0">
                <a:solidFill>
                  <a:srgbClr val="1B2430"/>
                </a:solidFill>
                <a:latin typeface="Calibri"/>
              </a:rPr>
              <a:t>Quyidagi qiymatlar ResNet-18/CIFAR-10 va GBM/Adult uchun taxminiy mo'ljal; talaba o'z natijalarini shu shaklda keltiradi.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400" b="1">
                          <a:solidFill>
                            <a:srgbClr val="FFFFFF"/>
                          </a:solidFill>
                          <a:latin typeface="Calibri"/>
                        </a:rPr>
                        <a:t>O'lchov</a:t>
                      </a:r>
                    </a:p>
                  </a:txBody>
                  <a:tcPr>
                    <a:solidFill>
                      <a:srgbClr val="2D5C8F"/>
                    </a:solidFill>
                  </a:tcPr>
                </a:tc>
                <a:tc>
                  <a:txBody>
                    <a:bodyPr/>
                    <a:lstStyle/>
                    <a:p>
                      <a:r>
                        <a:rPr sz="1400" b="1">
                          <a:solidFill>
                            <a:srgbClr val="FFFFFF"/>
                          </a:solidFill>
                          <a:latin typeface="Calibri"/>
                        </a:rPr>
                        <a:t>Toza model</a:t>
                      </a:r>
                    </a:p>
                  </a:txBody>
                  <a:tcPr>
                    <a:solidFill>
                      <a:srgbClr val="2D5C8F"/>
                    </a:solidFill>
                  </a:tcPr>
                </a:tc>
                <a:tc>
                  <a:txBody>
                    <a:bodyPr/>
                    <a:lstStyle/>
                    <a:p>
                      <a:r>
                        <a:rPr sz="1400" b="1">
                          <a:solidFill>
                            <a:srgbClr val="FFFFFF"/>
                          </a:solidFill>
                          <a:latin typeface="Calibri"/>
                        </a:rPr>
                        <a:t>Adversarial o'qitilgan model</a:t>
                      </a:r>
                    </a:p>
                  </a:txBody>
                  <a:tcPr>
                    <a:solidFill>
                      <a:srgbClr val="2D5C8F"/>
                    </a:solidFill>
                  </a:tcPr>
                </a:tc>
              </a:tr>
              <a:tr h="520000">
                <a:tc>
                  <a:txBody>
                    <a:bodyPr/>
                    <a:lstStyle/>
                    <a:p>
                      <a:r>
                        <a:rPr sz="1400" b="0">
                          <a:solidFill>
                            <a:srgbClr val="1B2430"/>
                          </a:solidFill>
                          <a:latin typeface="Calibri"/>
                        </a:rPr>
                        <a:t>Toza aniqlik</a:t>
                      </a:r>
                    </a:p>
                  </a:txBody>
                  <a:tcPr>
                    <a:solidFill>
                      <a:srgbClr val="F1F4F8"/>
                    </a:solidFill>
                  </a:tcPr>
                </a:tc>
                <a:tc>
                  <a:txBody>
                    <a:bodyPr/>
                    <a:lstStyle/>
                    <a:p>
                      <a:r>
                        <a:rPr sz="1400" b="0">
                          <a:solidFill>
                            <a:srgbClr val="1B2430"/>
                          </a:solidFill>
                          <a:latin typeface="Calibri"/>
                        </a:rPr>
                        <a:t>91%</a:t>
                      </a:r>
                    </a:p>
                  </a:txBody>
                  <a:tcPr>
                    <a:solidFill>
                      <a:srgbClr val="F1F4F8"/>
                    </a:solidFill>
                  </a:tcPr>
                </a:tc>
                <a:tc>
                  <a:txBody>
                    <a:bodyPr/>
                    <a:lstStyle/>
                    <a:p>
                      <a:r>
                        <a:rPr sz="1400" b="0">
                          <a:solidFill>
                            <a:srgbClr val="1B2430"/>
                          </a:solidFill>
                          <a:latin typeface="Calibri"/>
                        </a:rPr>
                        <a:t>82%</a:t>
                      </a:r>
                    </a:p>
                  </a:txBody>
                  <a:tcPr>
                    <a:solidFill>
                      <a:srgbClr val="F1F4F8"/>
                    </a:solidFill>
                  </a:tcPr>
                </a:tc>
              </a:tr>
              <a:tr h="520000">
                <a:tc>
                  <a:txBody>
                    <a:bodyPr/>
                    <a:lstStyle/>
                    <a:p>
                      <a:r>
                        <a:rPr sz="1400" b="0">
                          <a:solidFill>
                            <a:srgbClr val="1B2430"/>
                          </a:solidFill>
                          <a:latin typeface="Calibri"/>
                        </a:rPr>
                        <a:t>FGSM, eps=2/255</a:t>
                      </a:r>
                    </a:p>
                  </a:txBody>
                  <a:tcPr>
                    <a:solidFill>
                      <a:srgbClr val="FFFFFF"/>
                    </a:solidFill>
                  </a:tcPr>
                </a:tc>
                <a:tc>
                  <a:txBody>
                    <a:bodyPr/>
                    <a:lstStyle/>
                    <a:p>
                      <a:r>
                        <a:rPr sz="1400" b="0">
                          <a:solidFill>
                            <a:srgbClr val="1B2430"/>
                          </a:solidFill>
                          <a:latin typeface="Calibri"/>
                        </a:rPr>
                        <a:t>60%</a:t>
                      </a:r>
                    </a:p>
                  </a:txBody>
                  <a:tcPr>
                    <a:solidFill>
                      <a:srgbClr val="FFFFFF"/>
                    </a:solidFill>
                  </a:tcPr>
                </a:tc>
                <a:tc>
                  <a:txBody>
                    <a:bodyPr/>
                    <a:lstStyle/>
                    <a:p>
                      <a:r>
                        <a:rPr sz="1400" b="0">
                          <a:solidFill>
                            <a:srgbClr val="1B2430"/>
                          </a:solidFill>
                          <a:latin typeface="Calibri"/>
                        </a:rPr>
                        <a:t>78%</a:t>
                      </a:r>
                    </a:p>
                  </a:txBody>
                  <a:tcPr>
                    <a:solidFill>
                      <a:srgbClr val="FFFFFF"/>
                    </a:solidFill>
                  </a:tcPr>
                </a:tc>
              </a:tr>
              <a:tr h="520000">
                <a:tc>
                  <a:txBody>
                    <a:bodyPr/>
                    <a:lstStyle/>
                    <a:p>
                      <a:r>
                        <a:rPr sz="1400" b="0">
                          <a:solidFill>
                            <a:srgbClr val="1B2430"/>
                          </a:solidFill>
                          <a:latin typeface="Calibri"/>
                        </a:rPr>
                        <a:t>FGSM, eps=8/255</a:t>
                      </a:r>
                    </a:p>
                  </a:txBody>
                  <a:tcPr>
                    <a:solidFill>
                      <a:srgbClr val="F1F4F8"/>
                    </a:solidFill>
                  </a:tcPr>
                </a:tc>
                <a:tc>
                  <a:txBody>
                    <a:bodyPr/>
                    <a:lstStyle/>
                    <a:p>
                      <a:r>
                        <a:rPr sz="1400" b="0">
                          <a:solidFill>
                            <a:srgbClr val="1B2430"/>
                          </a:solidFill>
                          <a:latin typeface="Calibri"/>
                        </a:rPr>
                        <a:t>20%</a:t>
                      </a:r>
                    </a:p>
                  </a:txBody>
                  <a:tcPr>
                    <a:solidFill>
                      <a:srgbClr val="F1F4F8"/>
                    </a:solidFill>
                  </a:tcPr>
                </a:tc>
                <a:tc>
                  <a:txBody>
                    <a:bodyPr/>
                    <a:lstStyle/>
                    <a:p>
                      <a:r>
                        <a:rPr sz="1400" b="0">
                          <a:solidFill>
                            <a:srgbClr val="1B2430"/>
                          </a:solidFill>
                          <a:latin typeface="Calibri"/>
                        </a:rPr>
                        <a:t>58%</a:t>
                      </a:r>
                    </a:p>
                  </a:txBody>
                  <a:tcPr>
                    <a:solidFill>
                      <a:srgbClr val="F1F4F8"/>
                    </a:solidFill>
                  </a:tcPr>
                </a:tc>
              </a:tr>
              <a:tr h="520000">
                <a:tc>
                  <a:txBody>
                    <a:bodyPr/>
                    <a:lstStyle/>
                    <a:p>
                      <a:r>
                        <a:rPr sz="1400" b="0">
                          <a:solidFill>
                            <a:srgbClr val="1B2430"/>
                          </a:solidFill>
                          <a:latin typeface="Calibri"/>
                        </a:rPr>
                        <a:t>PGD-10, eps=2/255</a:t>
                      </a:r>
                    </a:p>
                  </a:txBody>
                  <a:tcPr>
                    <a:solidFill>
                      <a:srgbClr val="FFFFFF"/>
                    </a:solidFill>
                  </a:tcPr>
                </a:tc>
                <a:tc>
                  <a:txBody>
                    <a:bodyPr/>
                    <a:lstStyle/>
                    <a:p>
                      <a:r>
                        <a:rPr sz="1400" b="0">
                          <a:solidFill>
                            <a:srgbClr val="1B2430"/>
                          </a:solidFill>
                          <a:latin typeface="Calibri"/>
                        </a:rPr>
                        <a:t>35%</a:t>
                      </a:r>
                    </a:p>
                  </a:txBody>
                  <a:tcPr>
                    <a:solidFill>
                      <a:srgbClr val="FFFFFF"/>
                    </a:solidFill>
                  </a:tcPr>
                </a:tc>
                <a:tc>
                  <a:txBody>
                    <a:bodyPr/>
                    <a:lstStyle/>
                    <a:p>
                      <a:r>
                        <a:rPr sz="1400" b="0">
                          <a:solidFill>
                            <a:srgbClr val="1B2430"/>
                          </a:solidFill>
                          <a:latin typeface="Calibri"/>
                        </a:rPr>
                        <a:t>75%</a:t>
                      </a:r>
                    </a:p>
                  </a:txBody>
                  <a:tcPr>
                    <a:solidFill>
                      <a:srgbClr val="FFFFFF"/>
                    </a:solidFill>
                  </a:tcPr>
                </a:tc>
              </a:tr>
              <a:tr h="520000">
                <a:tc>
                  <a:txBody>
                    <a:bodyPr/>
                    <a:lstStyle/>
                    <a:p>
                      <a:r>
                        <a:rPr sz="1400" b="0">
                          <a:solidFill>
                            <a:srgbClr val="1B2430"/>
                          </a:solidFill>
                          <a:latin typeface="Calibri"/>
                        </a:rPr>
                        <a:t>PGD-10, eps=8/255</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47%</a:t>
                      </a:r>
                    </a:p>
                  </a:txBody>
                  <a:tcPr>
                    <a:solidFill>
                      <a:srgbClr val="F1F4F8"/>
                    </a:solidFill>
                  </a:tcPr>
                </a:tc>
              </a:tr>
              <a:tr h="520000">
                <a:tc>
                  <a:txBody>
                    <a:bodyPr/>
                    <a:lstStyle/>
                    <a:p>
                      <a:r>
                        <a:rPr sz="1400" b="0">
                          <a:solidFill>
                            <a:srgbClr val="1B2430"/>
                          </a:solidFill>
                          <a:latin typeface="Calibri"/>
                        </a:rPr>
                        <a:t>PGD-10, eps=16/255</a:t>
                      </a:r>
                    </a:p>
                  </a:txBody>
                  <a:tcPr>
                    <a:solidFill>
                      <a:srgbClr val="FFFFFF"/>
                    </a:solidFill>
                  </a:tcPr>
                </a:tc>
                <a:tc>
                  <a:txBody>
                    <a:bodyPr/>
                    <a:lstStyle/>
                    <a:p>
                      <a:r>
                        <a:rPr sz="1400" b="0">
                          <a:solidFill>
                            <a:srgbClr val="1B2430"/>
                          </a:solidFill>
                          <a:latin typeface="Calibri"/>
                        </a:rPr>
                        <a:t>0%</a:t>
                      </a:r>
                    </a:p>
                  </a:txBody>
                  <a:tcPr>
                    <a:solidFill>
                      <a:srgbClr val="FFFFFF"/>
                    </a:solidFill>
                  </a:tcPr>
                </a:tc>
                <a:tc>
                  <a:txBody>
                    <a:bodyPr/>
                    <a:lstStyle/>
                    <a:p>
                      <a:r>
                        <a:rPr sz="1400" b="0">
                          <a:solidFill>
                            <a:srgbClr val="1B2430"/>
                          </a:solidFill>
                          <a:latin typeface="Calibri"/>
                        </a:rPr>
                        <a:t>18%</a:t>
                      </a:r>
                    </a:p>
                  </a:txBody>
                  <a:tcPr>
                    <a:solidFill>
                      <a:srgbClr val="FFFFFF"/>
                    </a:solidFill>
                  </a:tcPr>
                </a:tc>
              </a:tr>
              <a:tr h="520000">
                <a:tc>
                  <a:txBody>
                    <a:bodyPr/>
                    <a:lstStyle/>
                    <a:p>
                      <a:r>
                        <a:rPr sz="1400" b="0">
                          <a:solidFill>
                            <a:srgbClr val="1B2430"/>
                          </a:solidFill>
                          <a:latin typeface="Calibri"/>
                        </a:rPr>
                        <a:t>O'qitish vaqti (RTX 3090)</a:t>
                      </a:r>
                    </a:p>
                  </a:txBody>
                  <a:tcPr>
                    <a:solidFill>
                      <a:srgbClr val="F1F4F8"/>
                    </a:solidFill>
                  </a:tcPr>
                </a:tc>
                <a:tc>
                  <a:txBody>
                    <a:bodyPr/>
                    <a:lstStyle/>
                    <a:p>
                      <a:r>
                        <a:rPr sz="1400" b="0">
                          <a:solidFill>
                            <a:srgbClr val="1B2430"/>
                          </a:solidFill>
                          <a:latin typeface="Calibri"/>
                        </a:rPr>
                        <a:t>6 daq</a:t>
                      </a:r>
                    </a:p>
                  </a:txBody>
                  <a:tcPr>
                    <a:solidFill>
                      <a:srgbClr val="F1F4F8"/>
                    </a:solidFill>
                  </a:tcPr>
                </a:tc>
                <a:tc>
                  <a:txBody>
                    <a:bodyPr/>
                    <a:lstStyle/>
                    <a:p>
                      <a:r>
                        <a:rPr sz="1400" b="0">
                          <a:solidFill>
                            <a:srgbClr val="1B2430"/>
                          </a:solidFill>
                          <a:latin typeface="Calibri"/>
                        </a:rPr>
                        <a:t>50 daq</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Adult, ko'rsatkich</a:t>
                      </a:r>
                    </a:p>
                  </a:txBody>
                  <a:tcPr>
                    <a:solidFill>
                      <a:srgbClr val="2D5C8F"/>
                    </a:solidFill>
                  </a:tcPr>
                </a:tc>
                <a:tc>
                  <a:txBody>
                    <a:bodyPr/>
                    <a:lstStyle/>
                    <a:p>
                      <a:r>
                        <a:rPr sz="1400" b="1">
                          <a:solidFill>
                            <a:srgbClr val="FFFFFF"/>
                          </a:solidFill>
                          <a:latin typeface="Calibri"/>
                        </a:rPr>
                        <a:t>Baseline GBM</a:t>
                      </a:r>
                    </a:p>
                  </a:txBody>
                  <a:tcPr>
                    <a:solidFill>
                      <a:srgbClr val="2D5C8F"/>
                    </a:solidFill>
                  </a:tcPr>
                </a:tc>
                <a:tc>
                  <a:txBody>
                    <a:bodyPr/>
                    <a:lstStyle/>
                    <a:p>
                      <a:r>
                        <a:rPr sz="1400" b="1">
                          <a:solidFill>
                            <a:srgbClr val="FFFFFF"/>
                          </a:solidFill>
                          <a:latin typeface="Calibri"/>
                        </a:rPr>
                        <a:t>ThresholdOptimizer</a:t>
                      </a:r>
                    </a:p>
                  </a:txBody>
                  <a:tcPr>
                    <a:solidFill>
                      <a:srgbClr val="2D5C8F"/>
                    </a:solidFill>
                  </a:tcPr>
                </a:tc>
                <a:tc>
                  <a:txBody>
                    <a:bodyPr/>
                    <a:lstStyle/>
                    <a:p>
                      <a:r>
                        <a:rPr sz="1400" b="1">
                          <a:solidFill>
                            <a:srgbClr val="FFFFFF"/>
                          </a:solidFill>
                          <a:latin typeface="Calibri"/>
                        </a:rPr>
                        <a:t>ExponentiatedGradient</a:t>
                      </a:r>
                    </a:p>
                  </a:txBody>
                  <a:tcPr>
                    <a:solidFill>
                      <a:srgbClr val="2D5C8F"/>
                    </a:solidFill>
                  </a:tcPr>
                </a:tc>
              </a:tr>
              <a:tr h="520000">
                <a:tc>
                  <a:txBody>
                    <a:bodyPr/>
                    <a:lstStyle/>
                    <a:p>
                      <a:r>
                        <a:rPr sz="1400" b="0">
                          <a:solidFill>
                            <a:srgbClr val="1B2430"/>
                          </a:solidFill>
                          <a:latin typeface="Calibri"/>
                        </a:rPr>
                        <a:t>Aniqlik</a:t>
                      </a:r>
                    </a:p>
                  </a:txBody>
                  <a:tcPr>
                    <a:solidFill>
                      <a:srgbClr val="F1F4F8"/>
                    </a:solidFill>
                  </a:tcPr>
                </a:tc>
                <a:tc>
                  <a:txBody>
                    <a:bodyPr/>
                    <a:lstStyle/>
                    <a:p>
                      <a:r>
                        <a:rPr sz="1400" b="0">
                          <a:solidFill>
                            <a:srgbClr val="1B2430"/>
                          </a:solidFill>
                          <a:latin typeface="Calibri"/>
                        </a:rPr>
                        <a:t>0.868</a:t>
                      </a:r>
                    </a:p>
                  </a:txBody>
                  <a:tcPr>
                    <a:solidFill>
                      <a:srgbClr val="F1F4F8"/>
                    </a:solidFill>
                  </a:tcPr>
                </a:tc>
                <a:tc>
                  <a:txBody>
                    <a:bodyPr/>
                    <a:lstStyle/>
                    <a:p>
                      <a:r>
                        <a:rPr sz="1400" b="0">
                          <a:solidFill>
                            <a:srgbClr val="1B2430"/>
                          </a:solidFill>
                          <a:latin typeface="Calibri"/>
                        </a:rPr>
                        <a:t>0.858</a:t>
                      </a:r>
                    </a:p>
                  </a:txBody>
                  <a:tcPr>
                    <a:solidFill>
                      <a:srgbClr val="F1F4F8"/>
                    </a:solidFill>
                  </a:tcPr>
                </a:tc>
                <a:tc>
                  <a:txBody>
                    <a:bodyPr/>
                    <a:lstStyle/>
                    <a:p>
                      <a:r>
                        <a:rPr sz="1400" b="0">
                          <a:solidFill>
                            <a:srgbClr val="1B2430"/>
                          </a:solidFill>
                          <a:latin typeface="Calibri"/>
                        </a:rPr>
                        <a:t>0.852</a:t>
                      </a:r>
                    </a:p>
                  </a:txBody>
                  <a:tcPr>
                    <a:solidFill>
                      <a:srgbClr val="F1F4F8"/>
                    </a:solidFill>
                  </a:tcPr>
                </a:tc>
              </a:tr>
              <a:tr h="520000">
                <a:tc>
                  <a:txBody>
                    <a:bodyPr/>
                    <a:lstStyle/>
                    <a:p>
                      <a:r>
                        <a:rPr sz="1400" b="0">
                          <a:solidFill>
                            <a:srgbClr val="1B2430"/>
                          </a:solidFill>
                          <a:latin typeface="Calibri"/>
                        </a:rPr>
                        <a:t>Selection rate (erkak / ayol)</a:t>
                      </a:r>
                    </a:p>
                  </a:txBody>
                  <a:tcPr>
                    <a:solidFill>
                      <a:srgbClr val="FFFFFF"/>
                    </a:solidFill>
                  </a:tcPr>
                </a:tc>
                <a:tc>
                  <a:txBody>
                    <a:bodyPr/>
                    <a:lstStyle/>
                    <a:p>
                      <a:r>
                        <a:rPr sz="1400" b="0">
                          <a:solidFill>
                            <a:srgbClr val="1B2430"/>
                          </a:solidFill>
                          <a:latin typeface="Calibri"/>
                        </a:rPr>
                        <a:t>0.25 / 0.07</a:t>
                      </a:r>
                    </a:p>
                  </a:txBody>
                  <a:tcPr>
                    <a:solidFill>
                      <a:srgbClr val="FFFFFF"/>
                    </a:solidFill>
                  </a:tcPr>
                </a:tc>
                <a:tc>
                  <a:txBody>
                    <a:bodyPr/>
                    <a:lstStyle/>
                    <a:p>
                      <a:r>
                        <a:rPr sz="1400" b="0">
                          <a:solidFill>
                            <a:srgbClr val="1B2430"/>
                          </a:solidFill>
                          <a:latin typeface="Calibri"/>
                        </a:rPr>
                        <a:t>0.21 / 0.10</a:t>
                      </a:r>
                    </a:p>
                  </a:txBody>
                  <a:tcPr>
                    <a:solidFill>
                      <a:srgbClr val="FFFFFF"/>
                    </a:solidFill>
                  </a:tcPr>
                </a:tc>
                <a:tc>
                  <a:txBody>
                    <a:bodyPr/>
                    <a:lstStyle/>
                    <a:p>
                      <a:r>
                        <a:rPr sz="1400" b="0">
                          <a:solidFill>
                            <a:srgbClr val="1B2430"/>
                          </a:solidFill>
                          <a:latin typeface="Calibri"/>
                        </a:rPr>
                        <a:t>0.20 / 0.11</a:t>
                      </a:r>
                    </a:p>
                  </a:txBody>
                  <a:tcPr>
                    <a:solidFill>
                      <a:srgbClr val="FFFFFF"/>
                    </a:solidFill>
                  </a:tcPr>
                </a:tc>
              </a:tr>
              <a:tr h="520000">
                <a:tc>
                  <a:txBody>
                    <a:bodyPr/>
                    <a:lstStyle/>
                    <a:p>
                      <a:r>
                        <a:rPr sz="1400" b="0">
                          <a:solidFill>
                            <a:srgbClr val="1B2430"/>
                          </a:solidFill>
                          <a:latin typeface="Calibri"/>
                        </a:rPr>
                        <a:t>TPR (erkak / ayol)</a:t>
                      </a:r>
                    </a:p>
                  </a:txBody>
                  <a:tcPr>
                    <a:solidFill>
                      <a:srgbClr val="F1F4F8"/>
                    </a:solidFill>
                  </a:tcPr>
                </a:tc>
                <a:tc>
                  <a:txBody>
                    <a:bodyPr/>
                    <a:lstStyle/>
                    <a:p>
                      <a:r>
                        <a:rPr sz="1400" b="0">
                          <a:solidFill>
                            <a:srgbClr val="1B2430"/>
                          </a:solidFill>
                          <a:latin typeface="Calibri"/>
                        </a:rPr>
                        <a:t>0.66 / 0.55</a:t>
                      </a:r>
                    </a:p>
                  </a:txBody>
                  <a:tcPr>
                    <a:solidFill>
                      <a:srgbClr val="F1F4F8"/>
                    </a:solidFill>
                  </a:tcPr>
                </a:tc>
                <a:tc>
                  <a:txBody>
                    <a:bodyPr/>
                    <a:lstStyle/>
                    <a:p>
                      <a:r>
                        <a:rPr sz="1400" b="0">
                          <a:solidFill>
                            <a:srgbClr val="1B2430"/>
                          </a:solidFill>
                          <a:latin typeface="Calibri"/>
                        </a:rPr>
                        <a:t>0.62 / 0.61</a:t>
                      </a:r>
                    </a:p>
                  </a:txBody>
                  <a:tcPr>
                    <a:solidFill>
                      <a:srgbClr val="F1F4F8"/>
                    </a:solidFill>
                  </a:tcPr>
                </a:tc>
                <a:tc>
                  <a:txBody>
                    <a:bodyPr/>
                    <a:lstStyle/>
                    <a:p>
                      <a:r>
                        <a:rPr sz="1400" b="0">
                          <a:solidFill>
                            <a:srgbClr val="1B2430"/>
                          </a:solidFill>
                          <a:latin typeface="Calibri"/>
                        </a:rPr>
                        <a:t>0.61 / 0.60</a:t>
                      </a:r>
                    </a:p>
                  </a:txBody>
                  <a:tcPr>
                    <a:solidFill>
                      <a:srgbClr val="F1F4F8"/>
                    </a:solidFill>
                  </a:tcPr>
                </a:tc>
              </a:tr>
              <a:tr h="520000">
                <a:tc>
                  <a:txBody>
                    <a:bodyPr/>
                    <a:lstStyle/>
                    <a:p>
                      <a:r>
                        <a:rPr sz="1400" b="0">
                          <a:solidFill>
                            <a:srgbClr val="1B2430"/>
                          </a:solidFill>
                          <a:latin typeface="Calibri"/>
                        </a:rPr>
                        <a:t>DP difference</a:t>
                      </a:r>
                    </a:p>
                  </a:txBody>
                  <a:tcPr>
                    <a:solidFill>
                      <a:srgbClr val="FFFFFF"/>
                    </a:solidFill>
                  </a:tcPr>
                </a:tc>
                <a:tc>
                  <a:txBody>
                    <a:bodyPr/>
                    <a:lstStyle/>
                    <a:p>
                      <a:r>
                        <a:rPr sz="1400" b="0">
                          <a:solidFill>
                            <a:srgbClr val="1B2430"/>
                          </a:solidFill>
                          <a:latin typeface="Calibri"/>
                        </a:rPr>
                        <a:t>0.18</a:t>
                      </a:r>
                    </a:p>
                  </a:txBody>
                  <a:tcPr>
                    <a:solidFill>
                      <a:srgbClr val="FFFFFF"/>
                    </a:solidFill>
                  </a:tcPr>
                </a:tc>
                <a:tc>
                  <a:txBody>
                    <a:bodyPr/>
                    <a:lstStyle/>
                    <a:p>
                      <a:r>
                        <a:rPr sz="1400" b="0">
                          <a:solidFill>
                            <a:srgbClr val="1B2430"/>
                          </a:solidFill>
                          <a:latin typeface="Calibri"/>
                        </a:rPr>
                        <a:t>0.11</a:t>
                      </a:r>
                    </a:p>
                  </a:txBody>
                  <a:tcPr>
                    <a:solidFill>
                      <a:srgbClr val="FFFFFF"/>
                    </a:solidFill>
                  </a:tcPr>
                </a:tc>
                <a:tc>
                  <a:txBody>
                    <a:bodyPr/>
                    <a:lstStyle/>
                    <a:p>
                      <a:r>
                        <a:rPr sz="1400" b="0">
                          <a:solidFill>
                            <a:srgbClr val="1B2430"/>
                          </a:solidFill>
                          <a:latin typeface="Calibri"/>
                        </a:rPr>
                        <a:t>0.09</a:t>
                      </a:r>
                    </a:p>
                  </a:txBody>
                  <a:tcPr>
                    <a:solidFill>
                      <a:srgbClr val="FFFFFF"/>
                    </a:solidFill>
                  </a:tcPr>
                </a:tc>
              </a:tr>
              <a:tr h="520000">
                <a:tc>
                  <a:txBody>
                    <a:bodyPr/>
                    <a:lstStyle/>
                    <a:p>
                      <a:r>
                        <a:rPr sz="1400" b="0">
                          <a:solidFill>
                            <a:srgbClr val="1B2430"/>
                          </a:solidFill>
                          <a:latin typeface="Calibri"/>
                        </a:rPr>
                        <a:t>EO difference</a:t>
                      </a:r>
                    </a:p>
                  </a:txBody>
                  <a:tcPr>
                    <a:solidFill>
                      <a:srgbClr val="F1F4F8"/>
                    </a:solidFill>
                  </a:tcPr>
                </a:tc>
                <a:tc>
                  <a:txBody>
                    <a:bodyPr/>
                    <a:lstStyle/>
                    <a:p>
                      <a:r>
                        <a:rPr sz="1400" b="0">
                          <a:solidFill>
                            <a:srgbClr val="1B2430"/>
                          </a:solidFill>
                          <a:latin typeface="Calibri"/>
                        </a:rPr>
                        <a:t>0.11</a:t>
                      </a:r>
                    </a:p>
                  </a:txBody>
                  <a:tcPr>
                    <a:solidFill>
                      <a:srgbClr val="F1F4F8"/>
                    </a:solidFill>
                  </a:tcPr>
                </a:tc>
                <a:tc>
                  <a:txBody>
                    <a:bodyPr/>
                    <a:lstStyle/>
                    <a:p>
                      <a:r>
                        <a:rPr sz="1400" b="0">
                          <a:solidFill>
                            <a:srgbClr val="1B2430"/>
                          </a:solidFill>
                          <a:latin typeface="Calibri"/>
                        </a:rPr>
                        <a:t>0.02</a:t>
                      </a:r>
                    </a:p>
                  </a:txBody>
                  <a:tcPr>
                    <a:solidFill>
                      <a:srgbClr val="F1F4F8"/>
                    </a:solidFill>
                  </a:tcPr>
                </a:tc>
                <a:tc>
                  <a:txBody>
                    <a:bodyPr/>
                    <a:lstStyle/>
                    <a:p>
                      <a:r>
                        <a:rPr sz="1400" b="0">
                          <a:solidFill>
                            <a:srgbClr val="1B2430"/>
                          </a:solidFill>
                          <a:latin typeface="Calibri"/>
                        </a:rPr>
                        <a:t>0.02</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Tahdid modeli: hujumchi bilimi, buzilish normasi va epsilon, himoya chorasi (yarim sahifa).</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Mustahkamlik egri chizig'i: epsilon ga bog'liq aniqlik grafigi (FGSM va PGD, toza va adversarial model — 4 chiziq) + jadval.</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Grad-CAM paneli (kamida 8 namuna, toza va adversarial) va kuzatuvlar tahlili.</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Adolatlilik jadvali (uchta model), SHAP beeswarm grafigi, vakil belgilar tahlili, tanlangan mezon asosi.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To'ldirilgan 20 bandli tekshiruv ro'yxati dalillar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2000" b="0">
                <a:solidFill>
                  <a:srgbClr val="1B2430"/>
                </a:solidFill>
                <a:latin typeface="Calibri"/>
              </a:rPr>
              <a:t>Xulosa: tizim qaysi sharoitda ishlatilishi mumkin va qaysi sharoitda mumkin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FGSM/PGD qo'lda to'g'ri amalga oshirilgan, torchattacks bilan mos (1% ichida)</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Mustahkamlik egri chizig'i to'liq (5 epsilon × 2 hujum × 2 model)</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Adversarial o'qitish bajarilgan, muroza miqdoriy ko'rsatilgan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Grad-CAM paneli va tahlil (xarita ko'chishi izohlangan)</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Fairlearn: MetricFrame, 2 ta tuzatish usuli, mezon tanlovi asoslangan</a:t>
                      </a:r>
                    </a:p>
                  </a:txBody>
                  <a:tcPr>
                    <a:solidFill>
                      <a:srgbClr val="F1F4F8"/>
                    </a:solidFill>
                  </a:tcPr>
                </a:tc>
                <a:tc>
                  <a:txBody>
                    <a:bodyPr/>
                    <a:lstStyle/>
                    <a:p>
                      <a:r>
                        <a:rPr sz="1200" b="0">
                          <a:solidFill>
                            <a:srgbClr val="1B2430"/>
                          </a:solidFill>
                          <a:latin typeface="Calibri"/>
                        </a:rPr>
                        <a:t>20</a:t>
                      </a:r>
                    </a:p>
                  </a:txBody>
                  <a:tcPr>
                    <a:solidFill>
                      <a:srgbClr val="F1F4F8"/>
                    </a:solidFill>
                  </a:tcPr>
                </a:tc>
              </a:tr>
              <a:tr h="520000">
                <a:tc>
                  <a:txBody>
                    <a:bodyPr/>
                    <a:lstStyle/>
                    <a:p>
                      <a:r>
                        <a:rPr sz="1200" b="0">
                          <a:solidFill>
                            <a:srgbClr val="1B2430"/>
                          </a:solidFill>
                          <a:latin typeface="Calibri"/>
                        </a:rPr>
                        <a:t>SHAP tahlili va vakil belgilar (proxy) aniqlangan</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Etik tekshiruv ro'yxati dalillar bilan to'ldirilgan</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Hisobot sifati, takrorlanuvchanlik (urug', versiyalar)</a:t>
                      </a:r>
                    </a:p>
                  </a:txBody>
                  <a:tcPr>
                    <a:solidFill>
                      <a:srgbClr val="FFFFFF"/>
                    </a:solidFill>
                  </a:tcPr>
                </a:tc>
                <a:tc>
                  <a:txBody>
                    <a:bodyPr/>
                    <a:lstStyle/>
                    <a:p>
                      <a:r>
                        <a:rPr sz="1200" b="0">
                          <a:solidFill>
                            <a:srgbClr val="1B2430"/>
                          </a:solidFill>
                          <a:latin typeface="Calibri"/>
                        </a:rPr>
                        <a:t>10</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Mustahkamlik natijalari ko'rsatadiki, standart o'qitilgan model L_inf buzilishining juda kichik qiymatlarida ham ishonchsiz: epsilon = 2/255 (255 darajali shkalada 2 birlik, inson ko'zi…</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Muhim cheklov: adversarial o'qitish faqat o'qitilgan tahdid modeli doirasida himoya beradi.</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XAI tahlili modelning haqiqiy asoslarini ochib beradi va ayni paytda uning chegaralarini ko'rsatadi.</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Adolatlilik natijalari eng muhim uslubiy xulosani beradi: «sezgir atributni olib tashlash» (fairness through unawareness) ishlamaydi, chunki SHAP vakil belgilar orqali ta'sir saqlanishini…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Hujumni normallashtirilgan fazoda bajarish. epsilon = 8/255 faqat [0, 1] piksel fazosida ma'noga ega; normalizatsiya tashqarida bo'lsa, hujum haqiqatdan 4 baravar kuchliroq yoki kuchsizroq…</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Hujumda model.train() rejimi. BatchNorm va Dropout tasodifiylik kiritadi, gradientlar noto'g'ri bo'ladi, hujum zaiflashadi va «soxta mustahkamlik» ko'rinadi. Hujum yasashdan oldin doimo…</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Gradient yashirishni himoya deb qabul qilish. Kirishga kvantlash yoki tasodifiy transformatsiya qo'shilganda PGD aniqligi oshgandek ko'rinadi, lekin BPDA/EOT moslashuvchan hujumlar uni…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Bitta epsilon da baholash. Mustahkamlik — egri chiziq, nuqta emas. Kamida 4–5 epsilon qiymati va kamida ikkita hujum turi.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Grad-CAM uchun noto'g'ri qatlam. Juda erta qatlam — shovqinli xarita, juda kech (to'liq bog'langan) — xarita yo'q. Oxirgi konvolyutsion blok (ResNet'da layer4[-1]) standart tanlov; ViT…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46</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SHAP'ni butun test to'plamida KernelSHAP bilan hisoblash. Soatlab vaqt oladi. Daraxt modellari uchun TreeSHAP, neyron tarmoqlar uchun DeepSHAP/GradientSHAP; KernelSHAP faqat kichik tanlanma…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Sezgir atributni o'chirib «adolatli» deb e'lon qilish. Vakil belgilar ta'sirni saqlaydi; har doim guruhlar kesimida o'lchang, atribut modelda bo'lmasa ham baholashda ishlating.</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Adolatlilik mezonini asoslamasdan tanlash. Demografik paritet va tenglashtirilgan koeffitsiyentlar qarama-qarshi tuzatishlar talab qilishi mumkin. Mezonni masala va zarar turi (noto'g'ri…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Kichik guruhlarda shovqinli metrika. Agar guruhda 50 tadan kam namuna bo'lsa, TPR farqi tasodifiy bo'lishi mumkin; ishonch intervallarini (bootstrap) keltiring.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Tekshiruv ro'yxatini rasmiyat uchun to'ldirish. Har band dalil (fayl, grafik, raqam, mas'ul shaxs) talab qiladi; dalilsiz «bajarilgan» belgi auditda qabul qilinmaydi.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48</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Nima uchun yuqori o'lchamli kirish fazosida chiziqli modellar ham adversarial misollarga zaif? Goodfellow'ning «chiziqlilik gipotezasi»ni epsilon  ||w||_1 ifodasi orqali tushuntiring.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PGD ning tasodifiy boshlang'ich nuqtasi nima uchun muhim? Usiz qanday holda PGD FGSM dan kuchsizroq chiqishi mumkin?</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Adversarial o'qitish toza aniqlikni pasaytiradi. Bu muroza fundamental (nazariy) xususiyatmi yoki hozirgi usullarning cheklovimi? Dalillar keltiring.</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Qora quti sharoitda (faqat API) hujumchi qanday strategiyalarni qo'llaydi va tizim egasi qaysi choralar bilan ularni qiyinlashtira oladi (so'rov limiti, chiqishni yaxlitlash, detektorlar)?…</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Grad-CAM xaritasi «to'g'ri joyga» qaragan bo'lsa, bu modelning to'g'ri sababga asoslanganini kafolatlaydimi? Sodiqlik (faithfulness) va ishonarlilik (plausibility) tushunchalarini farqlang.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49</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SHAP qiymatlari belgilar o'rtasida kuchli korrelyatsiya bo'lganda qanday chalg'itishi mumkin? Adult misolida relationship va sex belgilarini muhokama qiling.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Kalibrlash va tenglashtirilgan koeffitsiyentlar bir vaqtda qondirilmasligini intuitiv tushuntiring. Qaysi masala uchun qaysi birini tanlaysiz: kredit skoringi, saraton skriningi, retsidiv…</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Post-processing tuzatish inferens vaqtida sezgir atributni talab qiladi. Bu qanday huquqiy va texnik muammolar tug'diradi va in-processing bu muammolarni qanday hal qiladi?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EU AI Act bo'yicha laboratoriyada qurilgan Adult-modeli qaysi xavf toifasiga kiradi, agar u bank tomonidan kredit qarorida ishlatilsa? Qaysi moddalar talablari tizimga bevosita qo'llanadi?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Model kartasi (model card) nima uchun ishonchlilik vositasi hisoblanadi? Unda mustahkamlik va adolatlilik natijalari qanday shaklda keltirilishi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51</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1-topshiriq (majburiy). A5 mashg'ulotidagi yoki o'zingiz tanlagan boshqa tasvir to'plami (masalan, GTSRB yo'l belgilari) uchun to'liq mustahkamlik baholashini o'tkazing: FGSM, PGD-20, AutoAttack (standart versiya) — toza va adversarial o'qitilgan model uchun;…</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2-topshiriq (mustaqil ta'lim 6-topshiriq bilan bog'liq). O'zbekistonda real qo'llanilishi mumkin bo'lgan yuqori xavfli AI tizimi (masalan, mikrokredit skoringi, universitetga qabul saralash yoki tibbiy tasvir triaji) uchun ISO/IEC 42001, ISO/IEC 23894 va EU…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Qo'shimcha topshiriqlar (10 ta)</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53</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Quyidagi topshiriqlar virtual laboratoriyada bajariladi (fan saytidagi «Virtual laboratoriya» bo'limi, CPU sandbox: 2 yadro, GPU va tarmoq yo'q). Har biri laboratoriya bosqichlari kodini o'zgartirish orqali bajariladi; to'liq matn, kutilgan natija va hisobot…</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Eslatma: topshiriqlar natijasi (jadval, grafik, qisqa xulosa) virtual laboratoriya muhitidan hisobotga ko'chiriladi; GPU klasteri talab qiladigan o'lchovlar bu bo'limga kiritilmagan.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54</a:t>
            </a:r>
          </a:p>
        </p:txBody>
      </p:sp>
      <p:graphicFrame>
        <p:nvGraphicFramePr>
          <p:cNvPr id="9" name="Table 8"/>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a:t>
                      </a:r>
                    </a:p>
                  </a:txBody>
                  <a:tcPr>
                    <a:solidFill>
                      <a:srgbClr val="2D5C8F"/>
                    </a:solidFill>
                  </a:tcPr>
                </a:tc>
                <a:tc>
                  <a:txBody>
                    <a:bodyPr/>
                    <a:lstStyle/>
                    <a:p>
                      <a:r>
                        <a:rPr sz="1400" b="1">
                          <a:solidFill>
                            <a:srgbClr val="FFFFFF"/>
                          </a:solidFill>
                          <a:latin typeface="Calibri"/>
                        </a:rPr>
                        <a:t>Topshiriq</a:t>
                      </a:r>
                    </a:p>
                  </a:txBody>
                  <a:tcPr>
                    <a:solidFill>
                      <a:srgbClr val="2D5C8F"/>
                    </a:solidFill>
                  </a:tcPr>
                </a:tc>
                <a:tc>
                  <a:txBody>
                    <a:bodyPr/>
                    <a:lstStyle/>
                    <a:p>
                      <a:r>
                        <a:rPr sz="1400" b="1">
                          <a:solidFill>
                            <a:srgbClr val="FFFFFF"/>
                          </a:solidFill>
                          <a:latin typeface="Calibri"/>
                        </a:rPr>
                        <a:t>Daraja</a:t>
                      </a:r>
                    </a:p>
                  </a:txBody>
                  <a:tcPr>
                    <a:solidFill>
                      <a:srgbClr val="2D5C8F"/>
                    </a:solidFill>
                  </a:tcPr>
                </a:tc>
                <a:tc>
                  <a:txBody>
                    <a:bodyPr/>
                    <a:lstStyle/>
                    <a:p>
                      <a:r>
                        <a:rPr sz="1400" b="1">
                          <a:solidFill>
                            <a:srgbClr val="FFFFFF"/>
                          </a:solidFill>
                          <a:latin typeface="Calibri"/>
                        </a:rPr>
                        <a:t>Ball</a:t>
                      </a:r>
                    </a:p>
                  </a:txBody>
                  <a:tcPr>
                    <a:solidFill>
                      <a:srgbClr val="2D5C8F"/>
                    </a:solidFill>
                  </a:tcPr>
                </a:tc>
              </a:tr>
              <a:tr h="520000">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Epsilon to'rini kengaytirish</a:t>
                      </a:r>
                    </a:p>
                  </a:txBody>
                  <a:tcPr>
                    <a:solidFill>
                      <a:srgbClr val="F1F4F8"/>
                    </a:solidFill>
                  </a:tcPr>
                </a:tc>
                <a:tc>
                  <a:txBody>
                    <a:bodyPr/>
                    <a:lstStyle/>
                    <a:p>
                      <a:r>
                        <a:rPr sz="1400" b="0">
                          <a:solidFill>
                            <a:srgbClr val="1B2430"/>
                          </a:solidFill>
                          <a:latin typeface="Calibri"/>
                        </a:rPr>
                        <a:t>oson</a:t>
                      </a:r>
                    </a:p>
                  </a:txBody>
                  <a:tcPr>
                    <a:solidFill>
                      <a:srgbClr val="F1F4F8"/>
                    </a:solidFill>
                  </a:tcPr>
                </a:tc>
                <a:tc>
                  <a:txBody>
                    <a:bodyPr/>
                    <a:lstStyle/>
                    <a:p>
                      <a:r>
                        <a:rPr sz="1400" b="0">
                          <a:solidFill>
                            <a:srgbClr val="1B2430"/>
                          </a:solidFill>
                          <a:latin typeface="Calibri"/>
                        </a:rPr>
                        <a:t>5</a:t>
                      </a:r>
                    </a:p>
                  </a:txBody>
                  <a:tcPr>
                    <a:solidFill>
                      <a:srgbClr val="F1F4F8"/>
                    </a:solidFill>
                  </a:tcPr>
                </a:tc>
              </a:tr>
              <a:tr h="520000">
                <a:tc>
                  <a:txBody>
                    <a:bodyPr/>
                    <a:lstStyle/>
                    <a:p>
                      <a:r>
                        <a:rPr sz="1400" b="0">
                          <a:solidFill>
                            <a:srgbClr val="1B2430"/>
                          </a:solidFill>
                          <a:latin typeface="Calibri"/>
                        </a:rPr>
                        <a:t>2</a:t>
                      </a:r>
                    </a:p>
                  </a:txBody>
                  <a:tcPr>
                    <a:solidFill>
                      <a:srgbClr val="FFFFFF"/>
                    </a:solidFill>
                  </a:tcPr>
                </a:tc>
                <a:tc>
                  <a:txBody>
                    <a:bodyPr/>
                    <a:lstStyle/>
                    <a:p>
                      <a:r>
                        <a:rPr sz="1400" b="0">
                          <a:solidFill>
                            <a:srgbClr val="1B2430"/>
                          </a:solidFill>
                          <a:latin typeface="Calibri"/>
                        </a:rPr>
                        <a:t>Guruhlar kesimida metrikalar</a:t>
                      </a:r>
                    </a:p>
                  </a:txBody>
                  <a:tcPr>
                    <a:solidFill>
                      <a:srgbClr val="FFFFFF"/>
                    </a:solidFill>
                  </a:tcPr>
                </a:tc>
                <a:tc>
                  <a:txBody>
                    <a:bodyPr/>
                    <a:lstStyle/>
                    <a:p>
                      <a:r>
                        <a:rPr sz="1400" b="0">
                          <a:solidFill>
                            <a:srgbClr val="1B2430"/>
                          </a:solidFill>
                          <a:latin typeface="Calibri"/>
                        </a:rPr>
                        <a:t>oson</a:t>
                      </a:r>
                    </a:p>
                  </a:txBody>
                  <a:tcPr>
                    <a:solidFill>
                      <a:srgbClr val="FFFFFF"/>
                    </a:solidFill>
                  </a:tcPr>
                </a:tc>
                <a:tc>
                  <a:txBody>
                    <a:bodyPr/>
                    <a:lstStyle/>
                    <a:p>
                      <a:r>
                        <a:rPr sz="1400" b="0">
                          <a:solidFill>
                            <a:srgbClr val="1B2430"/>
                          </a:solidFill>
                          <a:latin typeface="Calibri"/>
                        </a:rPr>
                        <a:t>5</a:t>
                      </a:r>
                    </a:p>
                  </a:txBody>
                  <a:tcPr>
                    <a:solidFill>
                      <a:srgbClr val="FFFFFF"/>
                    </a:solidFill>
                  </a:tcPr>
                </a:tc>
              </a:tr>
              <a:tr h="520000">
                <a:tc>
                  <a:txBody>
                    <a:bodyPr/>
                    <a:lstStyle/>
                    <a:p>
                      <a:r>
                        <a:rPr sz="1400" b="0">
                          <a:solidFill>
                            <a:srgbClr val="1B2430"/>
                          </a:solidFill>
                          <a:latin typeface="Calibri"/>
                        </a:rPr>
                        <a:t>3</a:t>
                      </a:r>
                    </a:p>
                  </a:txBody>
                  <a:tcPr>
                    <a:solidFill>
                      <a:srgbClr val="F1F4F8"/>
                    </a:solidFill>
                  </a:tcPr>
                </a:tc>
                <a:tc>
                  <a:txBody>
                    <a:bodyPr/>
                    <a:lstStyle/>
                    <a:p>
                      <a:r>
                        <a:rPr sz="1400" b="0">
                          <a:solidFill>
                            <a:srgbClr val="1B2430"/>
                          </a:solidFill>
                          <a:latin typeface="Calibri"/>
                        </a:rPr>
                        <a:t>SHAP lokal izohlar</a:t>
                      </a:r>
                    </a:p>
                  </a:txBody>
                  <a:tcPr>
                    <a:solidFill>
                      <a:srgbClr val="F1F4F8"/>
                    </a:solidFill>
                  </a:tcPr>
                </a:tc>
                <a:tc>
                  <a:txBody>
                    <a:bodyPr/>
                    <a:lstStyle/>
                    <a:p>
                      <a:r>
                        <a:rPr sz="1400" b="0">
                          <a:solidFill>
                            <a:srgbClr val="1B2430"/>
                          </a:solidFill>
                          <a:latin typeface="Calibri"/>
                        </a:rPr>
                        <a:t>oson</a:t>
                      </a:r>
                    </a:p>
                  </a:txBody>
                  <a:tcPr>
                    <a:solidFill>
                      <a:srgbClr val="F1F4F8"/>
                    </a:solidFill>
                  </a:tcPr>
                </a:tc>
                <a:tc>
                  <a:txBody>
                    <a:bodyPr/>
                    <a:lstStyle/>
                    <a:p>
                      <a:r>
                        <a:rPr sz="1400" b="0">
                          <a:solidFill>
                            <a:srgbClr val="1B2430"/>
                          </a:solidFill>
                          <a:latin typeface="Calibri"/>
                        </a:rPr>
                        <a:t>5</a:t>
                      </a:r>
                    </a:p>
                  </a:txBody>
                  <a:tcPr>
                    <a:solidFill>
                      <a:srgbClr val="F1F4F8"/>
                    </a:solidFill>
                  </a:tcPr>
                </a:tc>
              </a:tr>
              <a:tr h="520000">
                <a:tc>
                  <a:txBody>
                    <a:bodyPr/>
                    <a:lstStyle/>
                    <a:p>
                      <a:r>
                        <a:rPr sz="1400" b="0">
                          <a:solidFill>
                            <a:srgbClr val="1B2430"/>
                          </a:solidFill>
                          <a:latin typeface="Calibri"/>
                        </a:rPr>
                        <a:t>4</a:t>
                      </a:r>
                    </a:p>
                  </a:txBody>
                  <a:tcPr>
                    <a:solidFill>
                      <a:srgbClr val="FFFFFF"/>
                    </a:solidFill>
                  </a:tcPr>
                </a:tc>
                <a:tc>
                  <a:txBody>
                    <a:bodyPr/>
                    <a:lstStyle/>
                    <a:p>
                      <a:r>
                        <a:rPr sz="1400" b="0">
                          <a:solidFill>
                            <a:srgbClr val="1B2430"/>
                          </a:solidFill>
                          <a:latin typeface="Calibri"/>
                        </a:rPr>
                        <a:t>Adversarial o'qitish radiusi</a:t>
                      </a:r>
                    </a:p>
                  </a:txBody>
                  <a:tcPr>
                    <a:solidFill>
                      <a:srgbClr val="FFFFFF"/>
                    </a:solidFill>
                  </a:tcPr>
                </a:tc>
                <a:tc>
                  <a:txBody>
                    <a:bodyPr/>
                    <a:lstStyle/>
                    <a:p>
                      <a:r>
                        <a:rPr sz="1400" b="0">
                          <a:solidFill>
                            <a:srgbClr val="1B2430"/>
                          </a:solidFill>
                          <a:latin typeface="Calibri"/>
                        </a:rPr>
                        <a:t>o'rta</a:t>
                      </a:r>
                    </a:p>
                  </a:txBody>
                  <a:tcPr>
                    <a:solidFill>
                      <a:srgbClr val="FFFFFF"/>
                    </a:solidFill>
                  </a:tcPr>
                </a:tc>
                <a:tc>
                  <a:txBody>
                    <a:bodyPr/>
                    <a:lstStyle/>
                    <a:p>
                      <a:r>
                        <a:rPr sz="1400" b="0">
                          <a:solidFill>
                            <a:srgbClr val="1B2430"/>
                          </a:solidFill>
                          <a:latin typeface="Calibri"/>
                        </a:rPr>
                        <a:t>10</a:t>
                      </a:r>
                    </a:p>
                  </a:txBody>
                  <a:tcPr>
                    <a:solidFill>
                      <a:srgbClr val="FFFFFF"/>
                    </a:solidFill>
                  </a:tcPr>
                </a:tc>
              </a:tr>
              <a:tr h="520000">
                <a:tc>
                  <a:txBody>
                    <a:bodyPr/>
                    <a:lstStyle/>
                    <a:p>
                      <a:r>
                        <a:rPr sz="1400" b="0">
                          <a:solidFill>
                            <a:srgbClr val="1B2430"/>
                          </a:solidFill>
                          <a:latin typeface="Calibri"/>
                        </a:rPr>
                        <a:t>5</a:t>
                      </a:r>
                    </a:p>
                  </a:txBody>
                  <a:tcPr>
                    <a:solidFill>
                      <a:srgbClr val="F1F4F8"/>
                    </a:solidFill>
                  </a:tcPr>
                </a:tc>
                <a:tc>
                  <a:txBody>
                    <a:bodyPr/>
                    <a:lstStyle/>
                    <a:p>
                      <a:r>
                        <a:rPr sz="1400" b="0">
                          <a:solidFill>
                            <a:srgbClr val="1B2430"/>
                          </a:solidFill>
                          <a:latin typeface="Calibri"/>
                        </a:rPr>
                        <a:t>Saliency asosida adversarial detektor</a:t>
                      </a:r>
                    </a:p>
                  </a:txBody>
                  <a:tcPr>
                    <a:solidFill>
                      <a:srgbClr val="F1F4F8"/>
                    </a:solidFill>
                  </a:tcPr>
                </a:tc>
                <a:tc>
                  <a:txBody>
                    <a:bodyPr/>
                    <a:lstStyle/>
                    <a:p>
                      <a:r>
                        <a:rPr sz="1400" b="0">
                          <a:solidFill>
                            <a:srgbClr val="1B2430"/>
                          </a:solidFill>
                          <a:latin typeface="Calibri"/>
                        </a:rPr>
                        <a:t>o'rta</a:t>
                      </a:r>
                    </a:p>
                  </a:txBody>
                  <a:tcPr>
                    <a:solidFill>
                      <a:srgbClr val="F1F4F8"/>
                    </a:solidFill>
                  </a:tcPr>
                </a:tc>
                <a:tc>
                  <a:txBody>
                    <a:bodyPr/>
                    <a:lstStyle/>
                    <a:p>
                      <a:r>
                        <a:rPr sz="1400" b="0">
                          <a:solidFill>
                            <a:srgbClr val="1B2430"/>
                          </a:solidFill>
                          <a:latin typeface="Calibri"/>
                        </a:rPr>
                        <a:t>10</a:t>
                      </a:r>
                    </a:p>
                  </a:txBody>
                  <a:tcPr>
                    <a:solidFill>
                      <a:srgbClr val="F1F4F8"/>
                    </a:solidFill>
                  </a:tcPr>
                </a:tc>
              </a:tr>
              <a:tr h="520000">
                <a:tc>
                  <a:txBody>
                    <a:bodyPr/>
                    <a:lstStyle/>
                    <a:p>
                      <a:r>
                        <a:rPr sz="1400" b="0">
                          <a:solidFill>
                            <a:srgbClr val="1B2430"/>
                          </a:solidFill>
                          <a:latin typeface="Calibri"/>
                        </a:rPr>
                        <a:t>6</a:t>
                      </a:r>
                    </a:p>
                  </a:txBody>
                  <a:tcPr>
                    <a:solidFill>
                      <a:srgbClr val="FFFFFF"/>
                    </a:solidFill>
                  </a:tcPr>
                </a:tc>
                <a:tc>
                  <a:txBody>
                    <a:bodyPr/>
                    <a:lstStyle/>
                    <a:p>
                      <a:r>
                        <a:rPr sz="1400" b="0">
                          <a:solidFill>
                            <a:srgbClr val="1B2430"/>
                          </a:solidFill>
                          <a:latin typeface="Calibri"/>
                        </a:rPr>
                        <a:t>In-processing tuzatish</a:t>
                      </a:r>
                    </a:p>
                  </a:txBody>
                  <a:tcPr>
                    <a:solidFill>
                      <a:srgbClr val="FFFFFF"/>
                    </a:solidFill>
                  </a:tcPr>
                </a:tc>
                <a:tc>
                  <a:txBody>
                    <a:bodyPr/>
                    <a:lstStyle/>
                    <a:p>
                      <a:r>
                        <a:rPr sz="1400" b="0">
                          <a:solidFill>
                            <a:srgbClr val="1B2430"/>
                          </a:solidFill>
                          <a:latin typeface="Calibri"/>
                        </a:rPr>
                        <a:t>o'rta</a:t>
                      </a:r>
                    </a:p>
                  </a:txBody>
                  <a:tcPr>
                    <a:solidFill>
                      <a:srgbClr val="FFFFFF"/>
                    </a:solidFill>
                  </a:tcPr>
                </a:tc>
                <a:tc>
                  <a:txBody>
                    <a:bodyPr/>
                    <a:lstStyle/>
                    <a:p>
                      <a:r>
                        <a:rPr sz="1400" b="0">
                          <a:solidFill>
                            <a:srgbClr val="1B2430"/>
                          </a:solidFill>
                          <a:latin typeface="Calibri"/>
                        </a:rPr>
                        <a:t>10</a:t>
                      </a:r>
                    </a:p>
                  </a:txBody>
                  <a:tcPr>
                    <a:solidFill>
                      <a:srgbClr val="FFFFFF"/>
                    </a:solidFill>
                  </a:tcPr>
                </a:tc>
              </a:tr>
              <a:tr h="520000">
                <a:tc>
                  <a:txBody>
                    <a:bodyPr/>
                    <a:lstStyle/>
                    <a:p>
                      <a:r>
                        <a:rPr sz="1400" b="0">
                          <a:solidFill>
                            <a:srgbClr val="1B2430"/>
                          </a:solidFill>
                          <a:latin typeface="Calibri"/>
                        </a:rPr>
                        <a:t>7</a:t>
                      </a:r>
                    </a:p>
                  </a:txBody>
                  <a:tcPr>
                    <a:solidFill>
                      <a:srgbClr val="F1F4F8"/>
                    </a:solidFill>
                  </a:tcPr>
                </a:tc>
                <a:tc>
                  <a:txBody>
                    <a:bodyPr/>
                    <a:lstStyle/>
                    <a:p>
                      <a:r>
                        <a:rPr sz="1400" b="0">
                          <a:solidFill>
                            <a:srgbClr val="1B2430"/>
                          </a:solidFill>
                          <a:latin typeface="Calibri"/>
                        </a:rPr>
                        <a:t>Vakil belgilarni aniqlash</a:t>
                      </a:r>
                    </a:p>
                  </a:txBody>
                  <a:tcPr>
                    <a:solidFill>
                      <a:srgbClr val="F1F4F8"/>
                    </a:solidFill>
                  </a:tcPr>
                </a:tc>
                <a:tc>
                  <a:txBody>
                    <a:bodyPr/>
                    <a:lstStyle/>
                    <a:p>
                      <a:r>
                        <a:rPr sz="1400" b="0">
                          <a:solidFill>
                            <a:srgbClr val="1B2430"/>
                          </a:solidFill>
                          <a:latin typeface="Calibri"/>
                        </a:rPr>
                        <a:t>o'rta</a:t>
                      </a:r>
                    </a:p>
                  </a:txBody>
                  <a:tcPr>
                    <a:solidFill>
                      <a:srgbClr val="F1F4F8"/>
                    </a:solidFill>
                  </a:tcPr>
                </a:tc>
                <a:tc>
                  <a:txBody>
                    <a:bodyPr/>
                    <a:lstStyle/>
                    <a:p>
                      <a:r>
                        <a:rPr sz="1400" b="0">
                          <a:solidFill>
                            <a:srgbClr val="1B2430"/>
                          </a:solidFill>
                          <a:latin typeface="Calibri"/>
                        </a:rPr>
                        <a:t>10</a:t>
                      </a:r>
                    </a:p>
                  </a:txBody>
                  <a:tcPr>
                    <a:solidFill>
                      <a:srgbClr val="F1F4F8"/>
                    </a:solidFill>
                  </a:tcPr>
                </a:tc>
              </a:tr>
              <a:tr h="520000">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Qora quti hujum: ko'chuvchanlik</a:t>
                      </a:r>
                    </a:p>
                  </a:txBody>
                  <a:tcPr>
                    <a:solidFill>
                      <a:srgbClr val="FFFFFF"/>
                    </a:solidFill>
                  </a:tcPr>
                </a:tc>
                <a:tc>
                  <a:txBody>
                    <a:bodyPr/>
                    <a:lstStyle/>
                    <a:p>
                      <a:r>
                        <a:rPr sz="1400" b="0">
                          <a:solidFill>
                            <a:srgbClr val="1B2430"/>
                          </a:solidFill>
                          <a:latin typeface="Calibri"/>
                        </a:rPr>
                        <a:t>qiyin</a:t>
                      </a:r>
                    </a:p>
                  </a:txBody>
                  <a:tcPr>
                    <a:solidFill>
                      <a:srgbClr val="FFFFFF"/>
                    </a:solidFill>
                  </a:tcPr>
                </a:tc>
                <a:tc>
                  <a:txBody>
                    <a:bodyPr/>
                    <a:lstStyle/>
                    <a:p>
                      <a:r>
                        <a:rPr sz="1400" b="0">
                          <a:solidFill>
                            <a:srgbClr val="1B2430"/>
                          </a:solidFill>
                          <a:latin typeface="Calibri"/>
                        </a:rPr>
                        <a:t>15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1" dur="8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(davomi)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55</a:t>
            </a:r>
          </a:p>
        </p:txBody>
      </p:sp>
      <p:graphicFrame>
        <p:nvGraphicFramePr>
          <p:cNvPr id="9" name="Table 8"/>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a:t>
                      </a:r>
                    </a:p>
                  </a:txBody>
                  <a:tcPr>
                    <a:solidFill>
                      <a:srgbClr val="2D5C8F"/>
                    </a:solidFill>
                  </a:tcPr>
                </a:tc>
                <a:tc>
                  <a:txBody>
                    <a:bodyPr/>
                    <a:lstStyle/>
                    <a:p>
                      <a:r>
                        <a:rPr sz="1400" b="1">
                          <a:solidFill>
                            <a:srgbClr val="FFFFFF"/>
                          </a:solidFill>
                          <a:latin typeface="Calibri"/>
                        </a:rPr>
                        <a:t>Topshiriq</a:t>
                      </a:r>
                    </a:p>
                  </a:txBody>
                  <a:tcPr>
                    <a:solidFill>
                      <a:srgbClr val="2D5C8F"/>
                    </a:solidFill>
                  </a:tcPr>
                </a:tc>
                <a:tc>
                  <a:txBody>
                    <a:bodyPr/>
                    <a:lstStyle/>
                    <a:p>
                      <a:r>
                        <a:rPr sz="1400" b="1">
                          <a:solidFill>
                            <a:srgbClr val="FFFFFF"/>
                          </a:solidFill>
                          <a:latin typeface="Calibri"/>
                        </a:rPr>
                        <a:t>Daraja</a:t>
                      </a:r>
                    </a:p>
                  </a:txBody>
                  <a:tcPr>
                    <a:solidFill>
                      <a:srgbClr val="2D5C8F"/>
                    </a:solidFill>
                  </a:tcPr>
                </a:tc>
                <a:tc>
                  <a:txBody>
                    <a:bodyPr/>
                    <a:lstStyle/>
                    <a:p>
                      <a:r>
                        <a:rPr sz="1400" b="1">
                          <a:solidFill>
                            <a:srgbClr val="FFFFFF"/>
                          </a:solidFill>
                          <a:latin typeface="Calibri"/>
                        </a:rPr>
                        <a:t>Ball</a:t>
                      </a:r>
                    </a:p>
                  </a:txBody>
                  <a:tcPr>
                    <a:solidFill>
                      <a:srgbClr val="2D5C8F"/>
                    </a:solidFill>
                  </a:tcPr>
                </a:tc>
              </a:tr>
              <a:tr h="520000">
                <a:tc>
                  <a:txBody>
                    <a:bodyPr/>
                    <a:lstStyle/>
                    <a:p>
                      <a:r>
                        <a:rPr sz="1400" b="0">
                          <a:solidFill>
                            <a:srgbClr val="1B2430"/>
                          </a:solidFill>
                          <a:latin typeface="Calibri"/>
                        </a:rPr>
                        <a:t>9</a:t>
                      </a:r>
                    </a:p>
                  </a:txBody>
                  <a:tcPr>
                    <a:solidFill>
                      <a:srgbClr val="F1F4F8"/>
                    </a:solidFill>
                  </a:tcPr>
                </a:tc>
                <a:tc>
                  <a:txBody>
                    <a:bodyPr/>
                    <a:lstStyle/>
                    <a:p>
                      <a:r>
                        <a:rPr sz="1400" b="0">
                          <a:solidFill>
                            <a:srgbClr val="1B2430"/>
                          </a:solidFill>
                          <a:latin typeface="Calibri"/>
                        </a:rPr>
                        <a:t>Mos kelmaslik teoremasi amalda</a:t>
                      </a:r>
                    </a:p>
                  </a:txBody>
                  <a:tcPr>
                    <a:solidFill>
                      <a:srgbClr val="F1F4F8"/>
                    </a:solidFill>
                  </a:tcPr>
                </a:tc>
                <a:tc>
                  <a:txBody>
                    <a:bodyPr/>
                    <a:lstStyle/>
                    <a:p>
                      <a:r>
                        <a:rPr sz="1400" b="0">
                          <a:solidFill>
                            <a:srgbClr val="1B2430"/>
                          </a:solidFill>
                          <a:latin typeface="Calibri"/>
                        </a:rPr>
                        <a:t>qiyin</a:t>
                      </a:r>
                    </a:p>
                  </a:txBody>
                  <a:tcPr>
                    <a:solidFill>
                      <a:srgbClr val="F1F4F8"/>
                    </a:solidFill>
                  </a:tcPr>
                </a:tc>
                <a:tc>
                  <a:txBody>
                    <a:bodyPr/>
                    <a:lstStyle/>
                    <a:p>
                      <a:r>
                        <a:rPr sz="1400" b="0">
                          <a:solidFill>
                            <a:srgbClr val="1B2430"/>
                          </a:solidFill>
                          <a:latin typeface="Calibri"/>
                        </a:rPr>
                        <a:t>15</a:t>
                      </a:r>
                    </a:p>
                  </a:txBody>
                  <a:tcPr>
                    <a:solidFill>
                      <a:srgbClr val="F1F4F8"/>
                    </a:solidFill>
                  </a:tcPr>
                </a:tc>
              </a:tr>
              <a:tr h="520000">
                <a:tc>
                  <a:txBody>
                    <a:bodyPr/>
                    <a:lstStyle/>
                    <a:p>
                      <a:r>
                        <a:rPr sz="1400" b="0">
                          <a:solidFill>
                            <a:srgbClr val="1B2430"/>
                          </a:solidFill>
                          <a:latin typeface="Calibri"/>
                        </a:rPr>
                        <a:t>10</a:t>
                      </a:r>
                    </a:p>
                  </a:txBody>
                  <a:tcPr>
                    <a:solidFill>
                      <a:srgbClr val="FFFFFF"/>
                    </a:solidFill>
                  </a:tcPr>
                </a:tc>
                <a:tc>
                  <a:txBody>
                    <a:bodyPr/>
                    <a:lstStyle/>
                    <a:p>
                      <a:r>
                        <a:rPr sz="1400" b="0">
                          <a:solidFill>
                            <a:srgbClr val="1B2430"/>
                          </a:solidFill>
                          <a:latin typeface="Calibri"/>
                        </a:rPr>
                        <a:t>To'liq ishonchlilik hisoboti generatori</a:t>
                      </a:r>
                    </a:p>
                  </a:txBody>
                  <a:tcPr>
                    <a:solidFill>
                      <a:srgbClr val="FFFFFF"/>
                    </a:solidFill>
                  </a:tcPr>
                </a:tc>
                <a:tc>
                  <a:txBody>
                    <a:bodyPr/>
                    <a:lstStyle/>
                    <a:p>
                      <a:r>
                        <a:rPr sz="1400" b="0">
                          <a:solidFill>
                            <a:srgbClr val="1B2430"/>
                          </a:solidFill>
                          <a:latin typeface="Calibri"/>
                        </a:rPr>
                        <a:t>qiyin</a:t>
                      </a:r>
                    </a:p>
                  </a:txBody>
                  <a:tcPr>
                    <a:solidFill>
                      <a:srgbClr val="FFFFFF"/>
                    </a:solidFill>
                  </a:tcPr>
                </a:tc>
                <a:tc>
                  <a:txBody>
                    <a:bodyPr/>
                    <a:lstStyle/>
                    <a:p>
                      <a:r>
                        <a:rPr sz="1400" b="0">
                          <a:solidFill>
                            <a:srgbClr val="1B2430"/>
                          </a:solidFill>
                          <a:latin typeface="Calibri"/>
                        </a:rPr>
                        <a:t>15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1" dur="8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10</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57</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[2] Kneusel, R. T. Artificial Intelligence Engineering: A Practical Guide for AI Applications. No Starch Press, 2023. — modelni baholash va ishonchlilik boblari.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[3] Amershi, S. va boshq. Machine Learning Engineering. MIT Press, 2025. — mas'uliyatli AI va baholash bo'limlari.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[7] PyTorch rasmiy hujjatlari: https://pytorch.org — torch.autograd.grad, register_buffer.</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Goodfellow, I. J., Shlens, J., &amp; Szegedy, C. Explaining and Harnessing Adversarial Examples. ICLR 2015. arXiv:1412.6572.</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Madry, A., Makelov, A., Schmidt, L., Tsipras, D., &amp; Vladu, A. Towards Deep Learning Models Resistant to Adversarial Attacks. ICLR 2018. arXiv:1706.06083.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58</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Croce, F., &amp; Hein, M. Reliable evaluation of adversarial robustness with an ensemble of diverse parameter-free attacks. ICML 2020. arXiv:2003.01690. (AutoAttack)</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Selvaraju, R. R. va boshq. Grad-CAM: Visual Explanations from Deep Networks via Gradient-based Localization. ICCV 2017. arXiv:1610.02391.</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Lundberg, S. M., &amp; Lee, S.-I. A Unified Approach to Interpreting Model Predictions. NeurIPS 2017. arXiv:1705.07874.</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Chouldechova, A. Fair prediction with disparate impact: A study of bias in recidivism prediction instruments. Big Data, 5(2), 2017. arXiv:1703.00056.</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Fairlearn rasmiy hujjatlari: https://fairlearn.org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59</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torchattacks kutubxonasi: https://github.com/Harry24k/adversarial-attacks-pytorch</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ISO/IEC 42001:2023 Information technology — Artificial intelligence — Management system; ISO/IEC 23894:2023 — Guidance on risk management. https://www.iso.org</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Regulation (EU) 2024/1689 (EU AI Act): https://eur-lex.europa.eu/eli/reg/2024/1689/oj</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NIST AI Risk Management Framework (AI RMF 1.0), 2023: https://www.nist.gov/itl/ai-risk-management-framework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A6 · Sun'iy intellekt tizimlarining xavfsizligi va ishonchliligini tahlil qilish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60</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A6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https://aiscan.airi.uz/ktm/#/c/mis2104/mavzu/A6</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
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hujumlarni tasniflashda avval tahdid modeli (threat model) aniqlanadi: hujumchi nimani biladi va nimani o'zgartira oladi. Bilim bo'yicha hujumlar oq quti (white-box — model arxitekturasi va og'irliklari ma'lum, gradientlar hisoblanadi), kulrang quti (gray-box — arxitektura ma'lum, og'irliklar yo'q) va qora quti (black-box — faqat so'rov-javob interfeysi) ga bo'linadi. Qora quti hujumlar ko'chuvchanlik (transferability — bir modelga qarshi yasalgan misol boshqasiga ham ta'sir qiladi) yoki so'rovlar asosidagi gradient baholash (ZOO, Square Attack) orqali amalga oshiriladi.</a:t>
            </a:r>
          </a:p>
          <a:p/>
          <a:p>
            <a:r>
              <a:t>Maqsad bo'yicha: yo'naltirilmagan (untargeted — har qanday noto'g'ri sinf) va yo'naltirilgan (targeted — aniq sinf). 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a:p/>
          <a:p>
            <a:r>
              <a:t>Buzilish kattaligi odatda L_p normada cheklanadi: L_inf — har bir piksel ko'pi bilan epsilon ga o'zgaradi (eng ko'p ishlatiladi, CIFAR-10 uchun standart epsilon = 8/255), L_2 — umumiy Evklid uzunligi cheklanadi, L_0 — o'zgartirilgan piksellar soni cheklanadi (stiker-hujumlar).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a:p/>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a:p/>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a:p/>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a:p/>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yuqori o'lchamli kirish fazosida chiziqli modellar ham adversarial misollarga zaif? Goodfellow'ning «chiziqlilik gipotezasi»ni epsilon  ||w||_1 ifodasi orqali tushuntiring.</a:t>
            </a:r>
          </a:p>
          <a:p/>
          <a:p>
            <a:r>
              <a:t>PGD ning tasodifiy boshlang'ich nuqtasi nima uchun muhim? Usiz qanday holda PGD FGSM dan kuchsizroq chiqishi mumkin?</a:t>
            </a:r>
          </a:p>
          <a:p/>
          <a:p>
            <a:r>
              <a:t>Adversarial o'qitish toza aniqlikni pasaytiradi. Bu muroza fundamental (nazariy) xususiyatmi yoki hozirgi usullarning cheklovimi? Dalillar keltiring.</a:t>
            </a:r>
          </a:p>
          <a:p/>
          <a:p>
            <a:r>
              <a:t>Qora quti sharoitda (faqat API) hujumchi qanday strategiyalarni qo'llaydi va tizim egasi qaysi choralar bilan ularni qiyinlashtira oladi (so'rov limiti, chiqishni yaxlitlash, detektorlar)? Har choraning salbiy tomoni nima?</a:t>
            </a:r>
          </a:p>
          <a:p/>
          <a:p>
            <a:r>
              <a:t>Grad-CAM xaritasi «to'g'ri joyga» qaragan bo'lsa, bu modelning to'g'ri sababga asoslanganini kafolatlaydimi? Sodiqlik (faithfulness) va ishonarlilik (plausibility) tushunchalarini farqlang.</a:t>
            </a:r>
          </a:p>
          <a:p/>
          <a:p>
            <a:r>
              <a:t>SHAP qiymatlari belgilar o'rtasida kuchli korrelyatsiya bo'lganda qanday chalg'itishi mumkin? Adult misolida relationship va sex belgilarini muhokama qiling.</a:t>
            </a:r>
          </a:p>
          <a:p/>
          <a:p>
            <a:r>
              <a:t>Kalibrlash va tenglashtirilgan koeffitsiyentlar bir vaqtda qondirilmasligini intuitiv tushuntiring. Qaysi masala uchun qaysi birini tanlaysiz: kredit skoringi, saraton skriningi, retsidiv bashorati?</a:t>
            </a:r>
          </a:p>
          <a:p/>
          <a:p>
            <a:r>
              <a:t>Post-processing tuzatish inferens vaqtida sezgir atributni talab qiladi. Bu qanday huquqiy va texnik muammolar tug'diradi va in-processing bu muammolarni qanday hal qiladi?</a:t>
            </a:r>
          </a:p>
          <a:p/>
          <a:p>
            <a:r>
              <a:t>EU AI Act bo'yicha laboratoriyada qurilgan Adult-modeli qaysi xavf toifasiga kiradi, agar u bank tomonidan kredit qarorida ishlatilsa? Qaysi moddalar talablari tizimga bevosita qo'llanadi?</a:t>
            </a:r>
          </a:p>
          <a:p/>
          <a:p>
            <a:r>
              <a:t>Model kartasi (model card) nima uchun ishonchlilik vositasi hisoblanadi? Unda mustahkamlik va adolatlilik natijalari qanday shaklda keltirilishi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yuqori o'lchamli kirish fazosida chiziqli modellar ham adversarial misollarga zaif? Goodfellow'ning «chiziqlilik gipotezasi»ni epsilon  ||w||_1 ifodasi orqali tushuntiring.</a:t>
            </a:r>
          </a:p>
          <a:p/>
          <a:p>
            <a:r>
              <a:t>PGD ning tasodifiy boshlang'ich nuqtasi nima uchun muhim? Usiz qanday holda PGD FGSM dan kuchsizroq chiqishi mumkin?</a:t>
            </a:r>
          </a:p>
          <a:p/>
          <a:p>
            <a:r>
              <a:t>Adversarial o'qitish toza aniqlikni pasaytiradi. Bu muroza fundamental (nazariy) xususiyatmi yoki hozirgi usullarning cheklovimi? Dalillar keltiring.</a:t>
            </a:r>
          </a:p>
          <a:p/>
          <a:p>
            <a:r>
              <a:t>Qora quti sharoitda (faqat API) hujumchi qanday strategiyalarni qo'llaydi va tizim egasi qaysi choralar bilan ularni qiyinlashtira oladi (so'rov limiti, chiqishni yaxlitlash, detektorlar)? Har choraning salbiy tomoni nima?</a:t>
            </a:r>
          </a:p>
          <a:p/>
          <a:p>
            <a:r>
              <a:t>Grad-CAM xaritasi «to'g'ri joyga» qaragan bo'lsa, bu modelning to'g'ri sababga asoslanganini kafolatlaydimi? Sodiqlik (faithfulness) va ishonarlilik (plausibility) tushunchalarini farqlang.</a:t>
            </a:r>
          </a:p>
          <a:p/>
          <a:p>
            <a:r>
              <a:t>SHAP qiymatlari belgilar o'rtasida kuchli korrelyatsiya bo'lganda qanday chalg'itishi mumkin? Adult misolida relationship va sex belgilarini muhokama qiling.</a:t>
            </a:r>
          </a:p>
          <a:p/>
          <a:p>
            <a:r>
              <a:t>Kalibrlash va tenglashtirilgan koeffitsiyentlar bir vaqtda qondirilmasligini intuitiv tushuntiring. Qaysi masala uchun qaysi birini tanlaysiz: kredit skoringi, saraton skriningi, retsidiv bashorati?</a:t>
            </a:r>
          </a:p>
          <a:p/>
          <a:p>
            <a:r>
              <a:t>Post-processing tuzatish inferens vaqtida sezgir atributni talab qiladi. Bu qanday huquqiy va texnik muammolar tug'diradi va in-processing bu muammolarni qanday hal qiladi?</a:t>
            </a:r>
          </a:p>
          <a:p/>
          <a:p>
            <a:r>
              <a:t>EU AI Act bo'yicha laboratoriyada qurilgan Adult-modeli qaysi xavf toifasiga kiradi, agar u bank tomonidan kredit qarorida ishlatilsa? Qaysi moddalar talablari tizimga bevosita qo'llanadi?</a:t>
            </a:r>
          </a:p>
          <a:p/>
          <a:p>
            <a:r>
              <a:t>Model kartasi (model card) nima uchun ishonchlilik vositasi hisoblanadi? Unda mustahkamlik va adolatlilik natijalari qanday shaklda keltirilishi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(majburiy). A5 mashg'ulotidagi yoki o'zingiz tanlagan boshqa tasvir to'plami (masalan, GTSRB yo'l belgilari) uchun to'liq mustahkamlik baholashini o'tkazing: FGSM, PGD-20, AutoAttack (standart versiya) — toza va adversarial o'qitilgan model uchun; natijalarni egri chiziq va jadvalda keltiring; adversarial o'qitishda epsilon ni 4/255 va 8/255 qilib solishtiring. Qo'shimcha: Grad-CAM xaritasi entropiyasi asosida oddiy adversarial detektor yasang va uning ROC-AUC ini o'lchang. Baholash: hujumlar va egri chiziq to'g'riligi — 40%, adversarial o'qitish taqqoslashi — 25%, detektor — 20%, hisobot — 15%.</a:t>
            </a:r>
          </a:p>
          <a:p/>
          <a:p>
            <a:r>
              <a:t>2-topshiriq (mustaqil ta'lim 6-topshiriq bilan bog'liq). O'zbekistonda real qo'llanilishi mumkin bo'lgan yuqori xavfli AI tizimi (masalan, mikrokredit skoringi, universitetga qabul saralash yoki tibbiy tasvir triaji) uchun ISO/IEC 42001, ISO/IEC 23894 va EU AI Act asosida xavf baholash hujjati tayyorlang: tahdid modeli, adolatlilik mezoni tanlovi va asosi, XAI talablari, inson nazorati nuqtalari, monitoring rejasi, 20 bandli tekshiruv ro'yxati. Hujjat 8–10 sahifa. Baholash: standartlar talablarini to'g'ri ko'rsatish — 35%, texnik choralar asosi — 35%, takomillashtirish takliflarining amaliyligi — 30%.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(fan saytidagi «Virtual laboratoriya» bo'limi, CPU sandbox: 2 yadro, GPU va tarmoq yo'q). Har biri laboratoriya bosqichlari kodini o'zgartirish orqali bajariladi; to'liq matn, kutilgan natija va hisobot shakli laboratoriya sahifasida keltirilgan. Jami 100 ball: 3 oson × 5, 4 o'rta × 10, 3 qiyin × 15.</a:t>
            </a:r>
          </a:p>
          <a:p/>
          <a:p>
            <a:r>
              <a:t>Eslatma: topshiriqlar natijasi (jadval, grafik, qisqa xulosa) virtual laboratoriya muhitidan hisobotga ko'chiriladi; GPU klasteri talab qiladigan o'lchovlar bu bo'limga kiritilmagan.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A6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Sun'iy intellekt tizimlarining xavfsizligi va ishonchliligini tahlil qilish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amaliy mashg'ulotning maqsadi — magistrantlarda o'qitilgan sun'iy intellekt modelini «qora quti» sifatida qabul qilmasdan, uni dushmanona ta'sirga chidamliligi, qarorlarining…</a:t>
            </a:r>
          </a:p>
          <a:p>
            <a:pPr>
              <a:spcAft>
                <a:spcPts val="900"/>
              </a:spcAft>
            </a:pPr>
            <a:r>
              <a:rPr sz="1600" b="1">
                <a:solidFill>
                  <a:srgbClr val="0F8B8D"/>
                </a:solidFill>
              </a:rPr>
              <a:t>▪  </a:t>
            </a:r>
            <a:r>
              <a:rPr sz="1600">
                <a:solidFill>
                  <a:srgbClr val="1B2430"/>
                </a:solidFill>
                <a:latin typeface="Calibri"/>
              </a:rPr>
              <a:t>Oq quti (white-box) adversarial hujumlarni — FGSM (Fast Gradient Sign Method) va PGD (Projected Gradient Descent) — PyTorch'da qo'lda va torchattacks kutubxonasi yordamida amalga oshirish,…</a:t>
            </a:r>
          </a:p>
          <a:p>
            <a:pPr>
              <a:spcAft>
                <a:spcPts val="900"/>
              </a:spcAft>
            </a:pPr>
            <a:r>
              <a:rPr sz="1600" b="1">
                <a:solidFill>
                  <a:srgbClr val="0F8B8D"/>
                </a:solidFill>
              </a:rPr>
              <a:t>▪  </a:t>
            </a:r>
            <a:r>
              <a:rPr sz="1600">
                <a:solidFill>
                  <a:srgbClr val="1B2430"/>
                </a:solidFill>
                <a:latin typeface="Calibri"/>
              </a:rPr>
              <a:t>Adversarial o'qitish (adversarial training) orqali modelning chidamliligini oshirish va toza aniqlik bilan mustahkam aniqlik orasidagi murosani miqdoriy baholash.</a:t>
            </a:r>
          </a:p>
          <a:p>
            <a:pPr>
              <a:spcAft>
                <a:spcPts val="900"/>
              </a:spcAft>
            </a:pPr>
            <a:r>
              <a:rPr sz="1600" b="1">
                <a:solidFill>
                  <a:srgbClr val="0F8B8D"/>
                </a:solidFill>
              </a:rPr>
              <a:t>▪  </a:t>
            </a:r>
            <a:r>
              <a:rPr sz="1600">
                <a:solidFill>
                  <a:srgbClr val="1B2430"/>
                </a:solidFill>
                <a:latin typeface="Calibri"/>
              </a:rPr>
              <a:t>Tushuntiriladigan sun'iy intellekt (Explainable AI, XAI) vositalari — Grad-CAM va SHAP — yordamida model qarorlarining asosini vizuallashtirish va tahlil qilish, shu jumladan hujum ostidagi…</a:t>
            </a:r>
          </a:p>
          <a:p>
            <a:pPr>
              <a:spcAft>
                <a:spcPts val="900"/>
              </a:spcAft>
            </a:pPr>
            <a:r>
              <a:rPr sz="1600" b="1">
                <a:solidFill>
                  <a:srgbClr val="0F8B8D"/>
                </a:solidFill>
              </a:rPr>
              <a:t>▪  </a:t>
            </a:r>
            <a:r>
              <a:rPr sz="1600">
                <a:solidFill>
                  <a:srgbClr val="1B2430"/>
                </a:solidFill>
                <a:latin typeface="Calibri"/>
              </a:rPr>
              <a:t>Fairlearn kutubxonasi yordamida jadvalli ma'lumotlar modelida adolatlilik (fairness) ko'rsatkichlarini — demografik paritet, teng imkoniyat, tenglashtirilgan koeffitsiyentlar — hisoblash va…</a:t>
            </a:r>
          </a:p>
          <a:p>
            <a:pPr>
              <a:spcAft>
                <a:spcPts val="900"/>
              </a:spcAft>
            </a:pPr>
            <a:r>
              <a:rPr sz="1600" b="1">
                <a:solidFill>
                  <a:srgbClr val="0F8B8D"/>
                </a:solidFill>
              </a:rPr>
              <a:t>▪  </a:t>
            </a:r>
            <a:r>
              <a:rPr sz="1600">
                <a:solidFill>
                  <a:srgbClr val="1B2430"/>
                </a:solidFill>
                <a:latin typeface="Calibri"/>
              </a:rPr>
              <a:t>Xalqaro standartlar (ISO/IEC 42001, ISO/IEC 23894, EU AI Act) asosidagi etik talablar tekshiruv ro'yxatini (checklist) muayyan tizimga qo'llash va natijalarni hisobot ko'rinishida…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TN4 (AI tizimlarining ishonchliligi va xavfsizligini ta'minlash), TN6 (tizimni tahlil qilish va baholash) va TN7 (mas'uliyatli AI tamoyillarini qo'llash) o'rganish…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Chuqur neyron tarmoqlar ko'plab vazifalarda insondan yuqori aniqlikka erishgan bo'lsa-da, ularning ishonchliligi aniqlik raqami bilan o'lchanmaydi.</a:t>
            </a:r>
          </a:p>
          <a:p>
            <a:pPr>
              <a:spcAft>
                <a:spcPts val="900"/>
              </a:spcAft>
            </a:pPr>
            <a:r>
              <a:rPr sz="2000" b="1">
                <a:solidFill>
                  <a:srgbClr val="0F8B8D"/>
                </a:solidFill>
              </a:rPr>
              <a:t>▪  </a:t>
            </a:r>
            <a:r>
              <a:rPr sz="2000">
                <a:solidFill>
                  <a:srgbClr val="1B2430"/>
                </a:solidFill>
                <a:latin typeface="Calibri"/>
              </a:rPr>
              <a:t>Xavfsizlik bilan bir qatorda ikkinchi muammo — shaffoflik.</a:t>
            </a:r>
          </a:p>
          <a:p>
            <a:pPr>
              <a:spcAft>
                <a:spcPts val="900"/>
              </a:spcAft>
            </a:pPr>
            <a:r>
              <a:rPr sz="2000" b="1">
                <a:solidFill>
                  <a:srgbClr val="0F8B8D"/>
                </a:solidFill>
              </a:rPr>
              <a:t>▪  </a:t>
            </a:r>
            <a:r>
              <a:rPr sz="2000">
                <a:solidFill>
                  <a:srgbClr val="1B2430"/>
                </a:solidFill>
                <a:latin typeface="Calibri"/>
              </a:rPr>
              <a:t>Uchinchi muammo — xolislik. Model o'quv ma'lumotlaridagi tarixiy nomutanosibliklarni o'rganib, ularni kuchaytirishi mumkin.</a:t>
            </a:r>
          </a:p>
          <a:p>
            <a:pPr>
              <a:spcAft>
                <a:spcPts val="900"/>
              </a:spcAft>
            </a:pPr>
            <a:r>
              <a:rPr sz="2000" b="1">
                <a:solidFill>
                  <a:srgbClr val="0F8B8D"/>
                </a:solidFill>
              </a:rPr>
              <a:t>▪  </a:t>
            </a:r>
            <a:r>
              <a:rPr sz="2000">
                <a:solidFill>
                  <a:srgbClr val="1B2430"/>
                </a:solidFill>
                <a:latin typeface="Calibri"/>
              </a:rPr>
              <a:t>Ushbu mashg'ulotda uchala yo'nalish bitta laboratoriya ishida birlashtiriladi: talaba avval tasvir klassifikatoriga hujum qiladi va uni himoyalaydi, so'ngra uning qarorlarini XAI bilan…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Adversarial hujumlar taksonomiyasi va tahdid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Adversarial hujumlarni tasniflashda avval tahdid modeli (threat model) aniqlanadi: hujumchi nimani biladi va nimani o'zgartira oladi. Bilim bo'yicha hujumlar oq quti (white-box — model arxitekturasi va og'irliklari ma'lum, gradientlar hisoblanadi), kulrang…</a:t>
            </a:r>
          </a:p>
          <a:p>
            <a:pPr>
              <a:spcAft>
                <a:spcPts val="900"/>
              </a:spcAft>
            </a:pPr>
            <a:r>
              <a:rPr sz="1800" b="1">
                <a:solidFill>
                  <a:srgbClr val="0F8B8D"/>
                </a:solidFill>
              </a:rPr>
              <a:t>▪  </a:t>
            </a:r>
            <a:r>
              <a:rPr sz="1800">
                <a:solidFill>
                  <a:srgbClr val="1B2430"/>
                </a:solidFill>
                <a:latin typeface="Calibri"/>
              </a:rPr>
              <a:t>Maqsad bo'yicha: yo'naltirilmagan (untargeted — har qanday noto'g'ri sinf) va yo'naltirilgan (targeted — aniq sinf). Bosqich bo'yicha: chetlab o'tish (evasion — inferens paytida kirishni buzish), zaharlash (poisoning — o'quv to'plamiga buzilgan namunalar…</a:t>
            </a:r>
          </a:p>
          <a:p>
            <a:pPr>
              <a:spcAft>
                <a:spcPts val="900"/>
              </a:spcAft>
            </a:pPr>
            <a:r>
              <a:rPr sz="1800" b="1">
                <a:solidFill>
                  <a:srgbClr val="0F8B8D"/>
                </a:solidFill>
              </a:rPr>
              <a:t>▪  </a:t>
            </a:r>
            <a:r>
              <a:rPr sz="1800">
                <a:solidFill>
                  <a:srgbClr val="1B2430"/>
                </a:solidFill>
                <a:latin typeface="Calibri"/>
              </a:rPr>
              <a:t>Buzilish kattaligi odatda L_p normada cheklanadi: L_inf — har bir piksel ko'pi bilan epsilon ga o'zgaradi (eng ko'p ishlatiladi, CIFAR-10 uchun standart epsilon = 8/255), L_2 — umumiy…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FGSM (Goodfellow va boshq., 2015) bitta gradient qadamidan iborat: x_adv = x + epsilon  sign(grad_x L(f(x), y)). G'oya — yo'qotish funksiyasini kirish bo'yicha chiziqli deb hisoblab, uni L_inf shari ichida maksimal oshiradigan yo'nalish aynan gradient…</a:t>
            </a:r>
          </a:p>
          <a:p>
            <a:pPr>
              <a:spcAft>
                <a:spcPts val="900"/>
              </a:spcAft>
            </a:pPr>
            <a:r>
              <a:rPr sz="1600" b="1">
                <a:solidFill>
                  <a:srgbClr val="0F8B8D"/>
                </a:solidFill>
              </a:rPr>
              <a:t>▪  </a:t>
            </a:r>
            <a:r>
              <a:rPr sz="1600">
                <a:solidFill>
                  <a:srgbClr val="1B2430"/>
                </a:solidFill>
                <a:latin typeface="Calibri"/>
              </a:rPr>
              <a:t>PGD (Madry va boshq., 2018) — FGSM ning iterativ, tasodifiy boshlang'ich nuqtali umumlashmasi: x_0 = x + U(-epsilon, epsilon), so'ngra K marta x_{k+1} = Proj_{B(x, epsilon)}(x_k + alpha  sign(grad L)), bu yerda Proj — natijani x atrofidagi epsilon-shar ichiga…</a:t>
            </a:r>
          </a:p>
          <a:p>
            <a:pPr>
              <a:spcAft>
                <a:spcPts val="900"/>
              </a:spcAft>
            </a:pPr>
            <a:r>
              <a:rPr sz="1600" b="1">
                <a:solidFill>
                  <a:srgbClr val="0F8B8D"/>
                </a:solidFill>
              </a:rPr>
              <a:t>▪  </a:t>
            </a:r>
            <a:r>
              <a:rPr sz="1600">
                <a:solidFill>
                  <a:srgbClr val="1B2430"/>
                </a:solidFill>
                <a:latin typeface="Calibri"/>
              </a:rPr>
              <a:t>Adversarial o'qitish — hozircha eng ishonchli empirik himoya: har mini-paketda avval PGD bilan adversarial namunalar yasaladi, so'ngra model aynan ular ustida o'qitiladi (min-max optimallashtirish). Narxi: o'qitish K+1 baravar qimmat va toza aniqlik 5–15 foiz…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Hujum</a:t>
                      </a:r>
                    </a:p>
                  </a:txBody>
                  <a:tcPr>
                    <a:solidFill>
                      <a:srgbClr val="2D5C8F"/>
                    </a:solidFill>
                  </a:tcPr>
                </a:tc>
                <a:tc>
                  <a:txBody>
                    <a:bodyPr/>
                    <a:lstStyle/>
                    <a:p>
                      <a:r>
                        <a:rPr sz="1400" b="1">
                          <a:solidFill>
                            <a:srgbClr val="FFFFFF"/>
                          </a:solidFill>
                          <a:latin typeface="Calibri"/>
                        </a:rPr>
                        <a:t>Turi</a:t>
                      </a:r>
                    </a:p>
                  </a:txBody>
                  <a:tcPr>
                    <a:solidFill>
                      <a:srgbClr val="2D5C8F"/>
                    </a:solidFill>
                  </a:tcPr>
                </a:tc>
                <a:tc>
                  <a:txBody>
                    <a:bodyPr/>
                    <a:lstStyle/>
                    <a:p>
                      <a:r>
                        <a:rPr sz="1400" b="1">
                          <a:solidFill>
                            <a:srgbClr val="FFFFFF"/>
                          </a:solidFill>
                          <a:latin typeface="Calibri"/>
                        </a:rPr>
                        <a:t>Qadamlar</a:t>
                      </a:r>
                    </a:p>
                  </a:txBody>
                  <a:tcPr>
                    <a:solidFill>
                      <a:srgbClr val="2D5C8F"/>
                    </a:solidFill>
                  </a:tcPr>
                </a:tc>
                <a:tc>
                  <a:txBody>
                    <a:bodyPr/>
                    <a:lstStyle/>
                    <a:p>
                      <a:r>
                        <a:rPr sz="1400" b="1">
                          <a:solidFill>
                            <a:srgbClr val="FFFFFF"/>
                          </a:solidFill>
                          <a:latin typeface="Calibri"/>
                        </a:rPr>
                        <a:t>Kuch</a:t>
                      </a:r>
                    </a:p>
                  </a:txBody>
                  <a:tcPr>
                    <a:solidFill>
                      <a:srgbClr val="2D5C8F"/>
                    </a:solidFill>
                  </a:tcPr>
                </a:tc>
                <a:tc>
                  <a:txBody>
                    <a:bodyPr/>
                    <a:lstStyle/>
                    <a:p>
                      <a:r>
                        <a:rPr sz="1400" b="1">
                          <a:solidFill>
                            <a:srgbClr val="FFFFFF"/>
                          </a:solidFill>
                          <a:latin typeface="Calibri"/>
                        </a:rPr>
                        <a:t>Hisoblash narxi</a:t>
                      </a:r>
                    </a:p>
                  </a:txBody>
                  <a:tcPr>
                    <a:solidFill>
                      <a:srgbClr val="2D5C8F"/>
                    </a:solidFill>
                  </a:tcPr>
                </a:tc>
              </a:tr>
              <a:tr h="520000">
                <a:tc>
                  <a:txBody>
                    <a:bodyPr/>
                    <a:lstStyle/>
                    <a:p>
                      <a:r>
                        <a:rPr sz="1400" b="0">
                          <a:solidFill>
                            <a:srgbClr val="1B2430"/>
                          </a:solidFill>
                          <a:latin typeface="Calibri"/>
                        </a:rPr>
                        <a:t>FGSM</a:t>
                      </a:r>
                    </a:p>
                  </a:txBody>
                  <a:tcPr>
                    <a:solidFill>
                      <a:srgbClr val="F1F4F8"/>
                    </a:solidFill>
                  </a:tcPr>
                </a:tc>
                <a:tc>
                  <a:txBody>
                    <a:bodyPr/>
                    <a:lstStyle/>
                    <a:p>
                      <a:r>
                        <a:rPr sz="1400" b="0">
                          <a:solidFill>
                            <a:srgbClr val="1B2430"/>
                          </a:solidFill>
                          <a:latin typeface="Calibri"/>
                        </a:rPr>
                        <a:t>Oq quti, L_inf</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1 orqaga o'tish</a:t>
                      </a:r>
                    </a:p>
                  </a:txBody>
                  <a:tcPr>
                    <a:solidFill>
                      <a:srgbClr val="F1F4F8"/>
                    </a:solidFill>
                  </a:tcPr>
                </a:tc>
              </a:tr>
              <a:tr h="520000">
                <a:tc>
                  <a:txBody>
                    <a:bodyPr/>
                    <a:lstStyle/>
                    <a:p>
                      <a:r>
                        <a:rPr sz="1400" b="0">
                          <a:solidFill>
                            <a:srgbClr val="1B2430"/>
                          </a:solidFill>
                          <a:latin typeface="Calibri"/>
                        </a:rPr>
                        <a:t>PGD</a:t>
                      </a:r>
                    </a:p>
                  </a:txBody>
                  <a:tcPr>
                    <a:solidFill>
                      <a:srgbClr val="FFFFFF"/>
                    </a:solidFill>
                  </a:tcPr>
                </a:tc>
                <a:tc>
                  <a:txBody>
                    <a:bodyPr/>
                    <a:lstStyle/>
                    <a:p>
                      <a:r>
                        <a:rPr sz="1400" b="0">
                          <a:solidFill>
                            <a:srgbClr val="1B2430"/>
                          </a:solidFill>
                          <a:latin typeface="Calibri"/>
                        </a:rPr>
                        <a:t>Oq quti, L_inf / L_2</a:t>
                      </a:r>
                    </a:p>
                  </a:txBody>
                  <a:tcPr>
                    <a:solidFill>
                      <a:srgbClr val="FFFFFF"/>
                    </a:solidFill>
                  </a:tcPr>
                </a:tc>
                <a:tc>
                  <a:txBody>
                    <a:bodyPr/>
                    <a:lstStyle/>
                    <a:p>
                      <a:r>
                        <a:rPr sz="1400" b="0">
                          <a:solidFill>
                            <a:srgbClr val="1B2430"/>
                          </a:solidFill>
                          <a:latin typeface="Calibri"/>
                        </a:rPr>
                        <a:t>10–100</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K orqaga o'tish</a:t>
                      </a:r>
                    </a:p>
                  </a:txBody>
                  <a:tcPr>
                    <a:solidFill>
                      <a:srgbClr val="FFFFFF"/>
                    </a:solidFill>
                  </a:tcPr>
                </a:tc>
              </a:tr>
              <a:tr h="520000">
                <a:tc>
                  <a:txBody>
                    <a:bodyPr/>
                    <a:lstStyle/>
                    <a:p>
                      <a:r>
                        <a:rPr sz="1400" b="0">
                          <a:solidFill>
                            <a:srgbClr val="1B2430"/>
                          </a:solidFill>
                          <a:latin typeface="Calibri"/>
                        </a:rPr>
                        <a:t>C&amp;W</a:t>
                      </a:r>
                    </a:p>
                  </a:txBody>
                  <a:tcPr>
                    <a:solidFill>
                      <a:srgbClr val="F1F4F8"/>
                    </a:solidFill>
                  </a:tcPr>
                </a:tc>
                <a:tc>
                  <a:txBody>
                    <a:bodyPr/>
                    <a:lstStyle/>
                    <a:p>
                      <a:r>
                        <a:rPr sz="1400" b="0">
                          <a:solidFill>
                            <a:srgbClr val="1B2430"/>
                          </a:solidFill>
                          <a:latin typeface="Calibri"/>
                        </a:rPr>
                        <a:t>Oq quti, L_2</a:t>
                      </a:r>
                    </a:p>
                  </a:txBody>
                  <a:tcPr>
                    <a:solidFill>
                      <a:srgbClr val="F1F4F8"/>
                    </a:solidFill>
                  </a:tcPr>
                </a:tc>
                <a:tc>
                  <a:txBody>
                    <a:bodyPr/>
                    <a:lstStyle/>
                    <a:p>
                      <a:r>
                        <a:rPr sz="1400" b="0">
                          <a:solidFill>
                            <a:srgbClr val="1B2430"/>
                          </a:solidFill>
                          <a:latin typeface="Calibri"/>
                        </a:rPr>
                        <a:t>100–1000</a:t>
                      </a:r>
                    </a:p>
                  </a:txBody>
                  <a:tcPr>
                    <a:solidFill>
                      <a:srgbClr val="F1F4F8"/>
                    </a:solidFill>
                  </a:tcPr>
                </a:tc>
                <a:tc>
                  <a:txBody>
                    <a:bodyPr/>
                    <a:lstStyle/>
                    <a:p>
                      <a:r>
                        <a:rPr sz="1400" b="0">
                          <a:solidFill>
                            <a:srgbClr val="1B2430"/>
                          </a:solidFill>
                          <a:latin typeface="Calibri"/>
                        </a:rPr>
                        <a:t>Juda yuqori, kichik buzilish</a:t>
                      </a:r>
                    </a:p>
                  </a:txBody>
                  <a:tcPr>
                    <a:solidFill>
                      <a:srgbClr val="F1F4F8"/>
                    </a:solidFill>
                  </a:tcPr>
                </a:tc>
                <a:tc>
                  <a:txBody>
                    <a:bodyPr/>
                    <a:lstStyle/>
                    <a:p>
                      <a:r>
                        <a:rPr sz="1400" b="0">
                          <a:solidFill>
                            <a:srgbClr val="1B2430"/>
                          </a:solidFill>
                          <a:latin typeface="Calibri"/>
                        </a:rPr>
                        <a:t>Qimmat</a:t>
                      </a:r>
                    </a:p>
                  </a:txBody>
                  <a:tcPr>
                    <a:solidFill>
                      <a:srgbClr val="F1F4F8"/>
                    </a:solidFill>
                  </a:tcPr>
                </a:tc>
              </a:tr>
              <a:tr h="520000">
                <a:tc>
                  <a:txBody>
                    <a:bodyPr/>
                    <a:lstStyle/>
                    <a:p>
                      <a:r>
                        <a:rPr sz="1400" b="0">
                          <a:solidFill>
                            <a:srgbClr val="1B2430"/>
                          </a:solidFill>
                          <a:latin typeface="Calibri"/>
                        </a:rPr>
                        <a:t>AutoAttack</a:t>
                      </a:r>
                    </a:p>
                  </a:txBody>
                  <a:tcPr>
                    <a:solidFill>
                      <a:srgbClr val="FFFFFF"/>
                    </a:solidFill>
                  </a:tcPr>
                </a:tc>
                <a:tc>
                  <a:txBody>
                    <a:bodyPr/>
                    <a:lstStyle/>
                    <a:p>
                      <a:r>
                        <a:rPr sz="1400" b="0">
                          <a:solidFill>
                            <a:srgbClr val="1B2430"/>
                          </a:solidFill>
                          <a:latin typeface="Calibri"/>
                        </a:rPr>
                        <a:t>Oq quti ansambli</a:t>
                      </a:r>
                    </a:p>
                  </a:txBody>
                  <a:tcPr>
                    <a:solidFill>
                      <a:srgbClr val="FFFFFF"/>
                    </a:solidFill>
                  </a:tcPr>
                </a:tc>
                <a:tc>
                  <a:txBody>
                    <a:bodyPr/>
                    <a:lstStyle/>
                    <a:p>
                      <a:r>
                        <a:rPr sz="1400" b="0">
                          <a:solidFill>
                            <a:srgbClr val="1B2430"/>
                          </a:solidFill>
                          <a:latin typeface="Calibri"/>
                        </a:rPr>
                        <a:t>O'zgaruvchan</a:t>
                      </a:r>
                    </a:p>
                  </a:txBody>
                  <a:tcPr>
                    <a:solidFill>
                      <a:srgbClr val="FFFFFF"/>
                    </a:solidFill>
                  </a:tcPr>
                </a:tc>
                <a:tc>
                  <a:txBody>
                    <a:bodyPr/>
                    <a:lstStyle/>
                    <a:p>
                      <a:r>
                        <a:rPr sz="1400" b="0">
                          <a:solidFill>
                            <a:srgbClr val="1B2430"/>
                          </a:solidFill>
                          <a:latin typeface="Calibri"/>
                        </a:rPr>
                        <a:t>Standart baholash</a:t>
                      </a:r>
                    </a:p>
                  </a:txBody>
                  <a:tcPr>
                    <a:solidFill>
                      <a:srgbClr val="FFFFFF"/>
                    </a:solidFill>
                  </a:tcPr>
                </a:tc>
                <a:tc>
                  <a:txBody>
                    <a:bodyPr/>
                    <a:lstStyle/>
                    <a:p>
                      <a:r>
                        <a:rPr sz="1400" b="0">
                          <a:solidFill>
                            <a:srgbClr val="1B2430"/>
                          </a:solidFill>
                          <a:latin typeface="Calibri"/>
                        </a:rPr>
                        <a:t>Qimmat</a:t>
                      </a:r>
                    </a:p>
                  </a:txBody>
                  <a:tcPr>
                    <a:solidFill>
                      <a:srgbClr val="FFFFFF"/>
                    </a:solidFill>
                  </a:tcPr>
                </a:tc>
              </a:tr>
              <a:tr h="520000">
                <a:tc>
                  <a:txBody>
                    <a:bodyPr/>
                    <a:lstStyle/>
                    <a:p>
                      <a:r>
                        <a:rPr sz="1400" b="0">
                          <a:solidFill>
                            <a:srgbClr val="1B2430"/>
                          </a:solidFill>
                          <a:latin typeface="Calibri"/>
                        </a:rPr>
                        <a:t>Square Attack</a:t>
                      </a:r>
                    </a:p>
                  </a:txBody>
                  <a:tcPr>
                    <a:solidFill>
                      <a:srgbClr val="F1F4F8"/>
                    </a:solidFill>
                  </a:tcPr>
                </a:tc>
                <a:tc>
                  <a:txBody>
                    <a:bodyPr/>
                    <a:lstStyle/>
                    <a:p>
                      <a:r>
                        <a:rPr sz="1400" b="0">
                          <a:solidFill>
                            <a:srgbClr val="1B2430"/>
                          </a:solidFill>
                          <a:latin typeface="Calibri"/>
                        </a:rPr>
                        <a:t>Qora quti</a:t>
                      </a:r>
                    </a:p>
                  </a:txBody>
                  <a:tcPr>
                    <a:solidFill>
                      <a:srgbClr val="F1F4F8"/>
                    </a:solidFill>
                  </a:tcPr>
                </a:tc>
                <a:tc>
                  <a:txBody>
                    <a:bodyPr/>
                    <a:lstStyle/>
                    <a:p>
                      <a:r>
                        <a:rPr sz="1400" b="0">
                          <a:solidFill>
                            <a:srgbClr val="1B2430"/>
                          </a:solidFill>
                          <a:latin typeface="Calibri"/>
                        </a:rPr>
                        <a:t>1000+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Faqat so'rovlar</a:t>
                      </a:r>
                    </a:p>
                  </a:txBody>
                  <a:tcPr>
                    <a:solidFill>
                      <a:srgbClr val="F1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XAI usullari global (modelning umumiy xatti-harakati) va lokal (bitta bashorat) tushuntirishlarga, shuningdek modelga xos va modeldan mustaqil (model-agnostic) usullarga bo'linadi.</a:t>
            </a:r>
          </a:p>
          <a:p>
            <a:pPr>
              <a:spcAft>
                <a:spcPts val="900"/>
              </a:spcAft>
            </a:pPr>
            <a:r>
              <a:rPr sz="1800" b="1">
                <a:solidFill>
                  <a:srgbClr val="0F8B8D"/>
                </a:solidFill>
              </a:rPr>
              <a:t>▪  </a:t>
            </a:r>
            <a:r>
              <a:rPr sz="1800">
                <a:solidFill>
                  <a:srgbClr val="1B2430"/>
                </a:solidFill>
                <a:latin typeface="Calibri"/>
              </a:rPr>
              <a:t>Grad-CAM (Gradient-weighted Class Activation Mapping, Selvaraju va boshq., 2017) — konvolyutsion tarmoqlar uchun lokal usul.</a:t>
            </a:r>
          </a:p>
          <a:p>
            <a:pPr>
              <a:spcAft>
                <a:spcPts val="900"/>
              </a:spcAft>
            </a:pPr>
            <a:r>
              <a:rPr sz="1800" b="1">
                <a:solidFill>
                  <a:srgbClr val="0F8B8D"/>
                </a:solidFill>
              </a:rPr>
              <a:t>▪  </a:t>
            </a:r>
            <a:r>
              <a:rPr sz="1800">
                <a:solidFill>
                  <a:srgbClr val="1B2430"/>
                </a:solidFill>
                <a:latin typeface="Calibri"/>
              </a:rPr>
              <a:t>SHAP (SHapley Additive exPlanations, Lundberg &amp; Lee, 2017) — kooperativ o'yinlar nazariyasidagi Shepli qiymatlariga asoslangan modeldan mustaqil usul.</a:t>
            </a:r>
          </a:p>
          <a:p>
            <a:pPr>
              <a:spcAft>
                <a:spcPts val="900"/>
              </a:spcAft>
            </a:pPr>
            <a:r>
              <a:rPr sz="1800" b="1">
                <a:solidFill>
                  <a:srgbClr val="0F8B8D"/>
                </a:solidFill>
              </a:rPr>
              <a:t>▪  </a:t>
            </a:r>
            <a:r>
              <a:rPr sz="1800">
                <a:solidFill>
                  <a:srgbClr val="1B2430"/>
                </a:solidFill>
                <a:latin typeface="Calibri"/>
              </a:rPr>
              <a:t>XAI ning muhim cheklovi — tushuntirish modelning haqiqiy sababini emas, uning o'ziga bog'liqligini ko'rsatadi; adversarial hujumga uchragan namunada Grad-CAM xaritasi butunlay boshqa joyga…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Xususiyat</a:t>
                      </a:r>
                    </a:p>
                  </a:txBody>
                  <a:tcPr>
                    <a:solidFill>
                      <a:srgbClr val="2D5C8F"/>
                    </a:solidFill>
                  </a:tcPr>
                </a:tc>
                <a:tc>
                  <a:txBody>
                    <a:bodyPr/>
                    <a:lstStyle/>
                    <a:p>
                      <a:r>
                        <a:rPr sz="1400" b="1">
                          <a:solidFill>
                            <a:srgbClr val="FFFFFF"/>
                          </a:solidFill>
                          <a:latin typeface="Calibri"/>
                        </a:rPr>
                        <a:t>Grad-CAM</a:t>
                      </a:r>
                    </a:p>
                  </a:txBody>
                  <a:tcPr>
                    <a:solidFill>
                      <a:srgbClr val="2D5C8F"/>
                    </a:solidFill>
                  </a:tcPr>
                </a:tc>
                <a:tc>
                  <a:txBody>
                    <a:bodyPr/>
                    <a:lstStyle/>
                    <a:p>
                      <a:r>
                        <a:rPr sz="1400" b="1">
                          <a:solidFill>
                            <a:srgbClr val="FFFFFF"/>
                          </a:solidFill>
                          <a:latin typeface="Calibri"/>
                        </a:rPr>
                        <a:t>SHAP (KernelSHAP)</a:t>
                      </a:r>
                    </a:p>
                  </a:txBody>
                  <a:tcPr>
                    <a:solidFill>
                      <a:srgbClr val="2D5C8F"/>
                    </a:solidFill>
                  </a:tcPr>
                </a:tc>
                <a:tc>
                  <a:txBody>
                    <a:bodyPr/>
                    <a:lstStyle/>
                    <a:p>
                      <a:r>
                        <a:rPr sz="1400" b="1">
                          <a:solidFill>
                            <a:srgbClr val="FFFFFF"/>
                          </a:solidFill>
                          <a:latin typeface="Calibri"/>
                        </a:rPr>
                        <a:t>LIME</a:t>
                      </a:r>
                    </a:p>
                  </a:txBody>
                  <a:tcPr>
                    <a:solidFill>
                      <a:srgbClr val="2D5C8F"/>
                    </a:solidFill>
                  </a:tcPr>
                </a:tc>
              </a:tr>
              <a:tr h="520000">
                <a:tc>
                  <a:txBody>
                    <a:bodyPr/>
                    <a:lstStyle/>
                    <a:p>
                      <a:r>
                        <a:rPr sz="1400" b="0">
                          <a:solidFill>
                            <a:srgbClr val="1B2430"/>
                          </a:solidFill>
                          <a:latin typeface="Calibri"/>
                        </a:rPr>
                        <a:t>Model turi</a:t>
                      </a:r>
                    </a:p>
                  </a:txBody>
                  <a:tcPr>
                    <a:solidFill>
                      <a:srgbClr val="F1F4F8"/>
                    </a:solidFill>
                  </a:tcPr>
                </a:tc>
                <a:tc>
                  <a:txBody>
                    <a:bodyPr/>
                    <a:lstStyle/>
                    <a:p>
                      <a:r>
                        <a:rPr sz="1400" b="0">
                          <a:solidFill>
                            <a:srgbClr val="1B2430"/>
                          </a:solidFill>
                          <a:latin typeface="Calibri"/>
                        </a:rPr>
                        <a:t>CNN, ViT</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r>
              <a:tr h="520000">
                <a:tc>
                  <a:txBody>
                    <a:bodyPr/>
                    <a:lstStyle/>
                    <a:p>
                      <a:r>
                        <a:rPr sz="1400" b="0">
                          <a:solidFill>
                            <a:srgbClr val="1B2430"/>
                          </a:solidFill>
                          <a:latin typeface="Calibri"/>
                        </a:rPr>
                        <a:t>Nazariy kafolat</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Shepli aksiomalari</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Hisoblash narxi</a:t>
                      </a:r>
                    </a:p>
                  </a:txBody>
                  <a:tcPr>
                    <a:solidFill>
                      <a:srgbClr val="F1F4F8"/>
                    </a:solidFill>
                  </a:tcPr>
                </a:tc>
                <a:tc>
                  <a:txBody>
                    <a:bodyPr/>
                    <a:lstStyle/>
                    <a:p>
                      <a:r>
                        <a:rPr sz="1400" b="0">
                          <a:solidFill>
                            <a:srgbClr val="1B2430"/>
                          </a:solidFill>
                          <a:latin typeface="Calibri"/>
                        </a:rPr>
                        <a:t>Juda past</a:t>
                      </a:r>
                    </a:p>
                  </a:txBody>
                  <a:tcPr>
                    <a:solidFill>
                      <a:srgbClr val="F1F4F8"/>
                    </a:solidFill>
                  </a:tcPr>
                </a:tc>
                <a:tc>
                  <a:txBody>
                    <a:bodyPr/>
                    <a:lstStyle/>
                    <a:p>
                      <a:r>
                        <a:rPr sz="1400" b="0">
                          <a:solidFill>
                            <a:srgbClr val="1B2430"/>
                          </a:solidFill>
                          <a:latin typeface="Calibri"/>
                        </a:rPr>
                        <a:t>Yuqori (yuzlab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r>
              <a:tr h="520000">
                <a:tc>
                  <a:txBody>
                    <a:bodyPr/>
                    <a:lstStyle/>
                    <a:p>
                      <a:r>
                        <a:rPr sz="1400" b="0">
                          <a:solidFill>
                            <a:srgbClr val="1B2430"/>
                          </a:solidFill>
                          <a:latin typeface="Calibri"/>
                        </a:rPr>
                        <a:t>Barqarorlik</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Past (tasodifiy tanlanma)</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Tibbiy tasvir, detektorlar</a:t>
                      </a:r>
                    </a:p>
                  </a:txBody>
                  <a:tcPr>
                    <a:solidFill>
                      <a:srgbClr val="F1F4F8"/>
                    </a:solidFill>
                  </a:tcPr>
                </a:tc>
                <a:tc>
                  <a:txBody>
                    <a:bodyPr/>
                    <a:lstStyle/>
                    <a:p>
                      <a:r>
                        <a:rPr sz="1400" b="0">
                          <a:solidFill>
                            <a:srgbClr val="1B2430"/>
                          </a:solidFill>
                          <a:latin typeface="Calibri"/>
                        </a:rPr>
                        <a:t>Kredit, tibbiy jadval</a:t>
                      </a:r>
                    </a:p>
                  </a:txBody>
                  <a:tcPr>
                    <a:solidFill>
                      <a:srgbClr val="F1F4F8"/>
                    </a:solidFill>
                  </a:tcPr>
                </a:tc>
                <a:tc>
                  <a:txBody>
                    <a:bodyPr/>
                    <a:lstStyle/>
                    <a:p>
                      <a:r>
                        <a:rPr sz="1400" b="0">
                          <a:solidFill>
                            <a:srgbClr val="1B2430"/>
                          </a:solidFill>
                          <a:latin typeface="Calibri"/>
                        </a:rPr>
                        <a:t>Matn, prototiplar</a:t>
                      </a:r>
                    </a:p>
                  </a:txBody>
                  <a:tcPr>
                    <a:solidFill>
                      <a:srgbClr val="F1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Adolatlilik tahlilida sezgir atribut (sensitive attribute — jins, yosh, millat, hudud) A, haqiqiy natija Y va bashorat Y_hat ko'rib chiqiladi.</a:t>
            </a:r>
          </a:p>
          <a:p>
            <a:pPr>
              <a:spcAft>
                <a:spcPts val="900"/>
              </a:spcAft>
            </a:pPr>
            <a:r>
              <a:rPr sz="1800" b="1">
                <a:solidFill>
                  <a:srgbClr val="0F8B8D"/>
                </a:solidFill>
              </a:rPr>
              <a:t>▪  </a:t>
            </a:r>
            <a:r>
              <a:rPr sz="1800">
                <a:solidFill>
                  <a:srgbClr val="1B2430"/>
                </a:solidFill>
                <a:latin typeface="Calibri"/>
              </a:rPr>
              <a:t>Demografik paritet (demographic parity): P(Y_hat = 1 | A = a) barcha guruhlar uchun teng. Ijobiy qaror ulushi guruhdan bog'liq emas. Farq ko'rsatkichi — demographic_parity_difference,…</a:t>
            </a:r>
          </a:p>
          <a:p>
            <a:pPr>
              <a:spcAft>
                <a:spcPts val="900"/>
              </a:spcAft>
            </a:pPr>
            <a:r>
              <a:rPr sz="1800" b="1">
                <a:solidFill>
                  <a:srgbClr val="0F8B8D"/>
                </a:solidFill>
              </a:rPr>
              <a:t>▪  </a:t>
            </a:r>
            <a:r>
              <a:rPr sz="1800">
                <a:solidFill>
                  <a:srgbClr val="1B2430"/>
                </a:solidFill>
                <a:latin typeface="Calibri"/>
              </a:rPr>
              <a:t>Teng imkoniyat (equal opportunity): P(Y_hat = 1 | Y = 1, A = a) teng — haqiqiy ijobiy namunalar uchun topish darajasi (TPR) teng.</a:t>
            </a:r>
          </a:p>
          <a:p>
            <a:pPr>
              <a:spcAft>
                <a:spcPts val="900"/>
              </a:spcAft>
            </a:pPr>
            <a:r>
              <a:rPr sz="1800" b="1">
                <a:solidFill>
                  <a:srgbClr val="0F8B8D"/>
                </a:solidFill>
              </a:rPr>
              <a:t>▪  </a:t>
            </a:r>
            <a:r>
              <a:rPr sz="1800">
                <a:solidFill>
                  <a:srgbClr val="1B2430"/>
                </a:solidFill>
                <a:latin typeface="Calibri"/>
              </a:rPr>
              <a:t>Tenglashtirilgan koeffitsiyentlar (equalized odds): TPR ham, FPR ham teng.</a:t>
            </a:r>
          </a:p>
          <a:p>
            <a:pPr>
              <a:spcAft>
                <a:spcPts val="900"/>
              </a:spcAft>
            </a:pPr>
            <a:r>
              <a:rPr sz="1800" b="1">
                <a:solidFill>
                  <a:srgbClr val="0F8B8D"/>
                </a:solidFill>
              </a:rPr>
              <a:t>▪  </a:t>
            </a:r>
            <a:r>
              <a:rPr sz="1800">
                <a:solidFill>
                  <a:srgbClr val="1B2430"/>
                </a:solidFill>
                <a:latin typeface="Calibri"/>
              </a:rPr>
              <a:t>Kalibrlash (calibration): berilgan bashorat ehtimolligi uchun haqiqiy ijobiy ulushi guruhlar bo'yicha teng.</a:t>
            </a:r>
          </a:p>
          <a:p>
            <a:pPr>
              <a:spcAft>
                <a:spcPts val="900"/>
              </a:spcAft>
            </a:pPr>
            <a:r>
              <a:rPr sz="1800" b="1">
                <a:solidFill>
                  <a:srgbClr val="0F8B8D"/>
                </a:solidFill>
              </a:rPr>
              <a:t>▪  </a:t>
            </a:r>
            <a:r>
              <a:rPr sz="1800">
                <a:solidFill>
                  <a:srgbClr val="1B2430"/>
                </a:solidFill>
                <a:latin typeface="Calibri"/>
              </a:rPr>
              <a:t>Chouldechova (2017) va Kleinberg va boshq.</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Fairlearn kutubxonasi uch turdagi tuzatish beradi: oldindan qayta ishlash (pre-processing — ma'lumotni qayta vaznlash), jarayon ichida (in-processing — ExponentiatedGradient, GridSearch…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Etik talablar va xalqaro standartlar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ISO/IEC 42001:2023 — sun'iy intellektni boshqarish tizimi standarti: tashkilot AI siyosati, rollar, xavf baholash, ta'sir baholash (AI impact assessment), hayot sikli nazorati va uzluksiz takomillashtirishni belgilashi kerak. ISO/IEC 23894:2023 — AI uchun…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Topshiriq to'rt qismdan iborat: (A) CIFAR-10 klassifikatoriga FGSM/PGD hujumi va adversarial o'qitish; (B) Grad-CAM va SHAP bilan qarorlarni tushuntirish; (C) Adult (Census Income) jadvalli…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Apparat: bitta NVIDIA GPU (8 GB yetarli) yoki CPU (A qismida vaqt 5–8 baravar oshadi; --subset bilan kamaytirish mumkin).</a:t>
            </a:r>
          </a:p>
          <a:p>
            <a:pPr>
              <a:spcAft>
                <a:spcPts val="900"/>
              </a:spcAft>
            </a:pPr>
            <a:r>
              <a:rPr sz="1800" b="1">
                <a:solidFill>
                  <a:srgbClr val="0F8B8D"/>
                </a:solidFill>
              </a:rPr>
              <a:t>▪  </a:t>
            </a:r>
            <a:r>
              <a:rPr sz="1800">
                <a:solidFill>
                  <a:srgbClr val="1B2430"/>
                </a:solidFill>
                <a:latin typeface="Calibri"/>
              </a:rPr>
              <a:t>Dasturiy ta'minot: Python 3.10+, PyTorch 2.3+, torchvision; pip install torchattacks shap fairlearn scikit-learn pandas matplotlib grad-cam.</a:t>
            </a:r>
          </a:p>
          <a:p>
            <a:pPr>
              <a:spcAft>
                <a:spcPts val="900"/>
              </a:spcAft>
            </a:pPr>
            <a:r>
              <a:rPr sz="1800" b="1">
                <a:solidFill>
                  <a:srgbClr val="0F8B8D"/>
                </a:solidFill>
              </a:rPr>
              <a:t>▪  </a:t>
            </a:r>
            <a:r>
              <a:rPr sz="1800">
                <a:solidFill>
                  <a:srgbClr val="1B2430"/>
                </a:solidFill>
                <a:latin typeface="Calibri"/>
              </a:rPr>
              <a:t>Ma'lumotlar: CIFAR-10 (avtomatik yuklanadi); Adult — fairlearn.datasets.fetch_adult() orqali OpenML'dan (48 842 yozuv, 14 belgi, maqsad — yillik daromad 50 ming dollardan oshadimi).</a:t>
            </a:r>
          </a:p>
          <a:p>
            <a:pPr>
              <a:spcAft>
                <a:spcPts val="900"/>
              </a:spcAft>
            </a:pPr>
            <a:r>
              <a:rPr sz="1800" b="1">
                <a:solidFill>
                  <a:srgbClr val="0F8B8D"/>
                </a:solidFill>
              </a:rPr>
              <a:t>▪  </a:t>
            </a:r>
            <a:r>
              <a:rPr sz="1800">
                <a:solidFill>
                  <a:srgbClr val="1B2430"/>
                </a:solidFill>
                <a:latin typeface="Calibri"/>
              </a:rPr>
              <a:t>Oldindan o'qitilgan CIFAR-10 modeli: A5 mashg'ulotidan ResNet-18 checkpoint'i yoki quyidagi skript bilan 15 epoxada o'qitilgan model (toza aniqlik ~90%).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Normalizatsiyani model ichiga joylashtirdik — bu adversarial tadqiqotlarda muhim: hujum [0, 1] piksel fazosida epsilon = 8/255 chegarasi bilan ishlashi kerak, aks holda normallashtirilgan fazodagi epsilon jismoniy ma'noga ega bo'lmaydi.…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common.py</a:t>
            </a:r>
          </a:p>
          <a:p>
            <a:r>
              <a:rPr sz="1200">
                <a:solidFill>
                  <a:srgbClr val="E2E8F0"/>
                </a:solidFill>
                <a:latin typeface="Consolas"/>
              </a:rPr>
              <a:t>import torch, torch.nn as nn, torchvision, torchvision.transforms as T</a:t>
            </a:r>
          </a:p>
          <a:p>
            <a:r>
              <a:rPr sz="1200">
                <a:solidFill>
                  <a:srgbClr val="E2E8F0"/>
                </a:solidFill>
                <a:latin typeface="Consolas"/>
              </a:rPr>
              <a:t>from torch.utils.data import DataLoader</a:t>
            </a:r>
          </a:p>
          <a:p>
            <a:r>
              <a:rPr sz="1200">
                <a:solidFill>
                  <a:srgbClr val="E2E8F0"/>
                </a:solidFill>
                <a:latin typeface="Consolas"/>
              </a:rPr>
              <a:t>dev = torch.device("cuda" if torch.cuda.is_available() else "cpu")</a:t>
            </a:r>
          </a:p>
          <a:p>
            <a:r>
              <a:rPr sz="1200">
                <a:solidFill>
                  <a:srgbClr val="E2E8F0"/>
                </a:solidFill>
                <a:latin typeface="Consolas"/>
              </a:rPr>
              <a:t>MEAN, STD = (0.4914, 0.4822, 0.4465), (0.2470, 0.2435, 0.2616)</a:t>
            </a:r>
          </a:p>
          <a:p>
            <a:r>
              <a:rPr sz="1200">
                <a:solidFill>
                  <a:srgbClr val="E2E8F0"/>
                </a:solidFill>
                <a:latin typeface="Consolas"/>
              </a:rPr>
              <a:t> </a:t>
            </a:r>
          </a:p>
          <a:p>
            <a:r>
              <a:rPr sz="1200">
                <a:solidFill>
                  <a:srgbClr val="E2E8F0"/>
                </a:solidFill>
                <a:latin typeface="Consolas"/>
              </a:rPr>
              <a:t>class Normalized(nn.Module):</a:t>
            </a:r>
          </a:p>
          <a:p>
            <a:r>
              <a:rPr sz="1200">
                <a:solidFill>
                  <a:srgbClr val="E2E8F0"/>
                </a:solidFill>
                <a:latin typeface="Consolas"/>
              </a:rPr>
              <a:t>    """Normalizatsiya model ichida — hujum [0,1] piksel fazosida ishlashi uchun."""</a:t>
            </a:r>
          </a:p>
          <a:p>
            <a:r>
              <a:rPr sz="1200">
                <a:solidFill>
                  <a:srgbClr val="E2E8F0"/>
                </a:solidFill>
                <a:latin typeface="Consolas"/>
              </a:rPr>
              <a:t>    def __init__(self, net):</a:t>
            </a:r>
          </a:p>
          <a:p>
            <a:r>
              <a:rPr sz="1200">
                <a:solidFill>
                  <a:srgbClr val="E2E8F0"/>
                </a:solidFill>
                <a:latin typeface="Consolas"/>
              </a:rPr>
              <a:t>        super().__init__(); self.net = net</a:t>
            </a:r>
          </a:p>
          <a:p>
            <a:r>
              <a:rPr sz="1200">
                <a:solidFill>
                  <a:srgbClr val="E2E8F0"/>
                </a:solidFill>
                <a:latin typeface="Consolas"/>
              </a:rPr>
              <a:t>        self.register_buffer("m", torch.tensor(MEAN).view(1, 3, 1, 1))</a:t>
            </a:r>
          </a:p>
          <a:p>
            <a:r>
              <a:rPr sz="1200">
                <a:solidFill>
                  <a:srgbClr val="E2E8F0"/>
                </a:solidFill>
                <a:latin typeface="Consolas"/>
              </a:rPr>
              <a:t>        self.register_buffer("s", torch.tensor(STD).view(1, 3, 1, 1))</a:t>
            </a:r>
          </a:p>
          <a:p>
            <a:r>
              <a:rPr sz="1200">
                <a:solidFill>
                  <a:srgbClr val="E2E8F0"/>
                </a:solidFill>
                <a:latin typeface="Consolas"/>
              </a:rPr>
              <a:t>    def forward(self, x): return self.net((x - self.m) / self.s)</a:t>
            </a:r>
          </a:p>
          <a:p>
            <a:r>
              <a:rPr sz="1200">
                <a:solidFill>
                  <a:srgbClr val="E2E8F0"/>
                </a:solidFill>
                <a:latin typeface="Consolas"/>
              </a:rPr>
              <a:t> </a:t>
            </a:r>
          </a:p>
          <a:p>
            <a:r>
              <a:rPr sz="1200">
                <a:solidFill>
                  <a:srgbClr val="E2E8F0"/>
                </a:solidFill>
                <a:latin typeface="Consolas"/>
              </a:rPr>
              <a:t>def loaders(bs=128):</a:t>
            </a:r>
          </a:p>
          <a:p>
            <a:r>
              <a:rPr sz="1200">
                <a:solidFill>
                  <a:srgbClr val="E2E8F0"/>
                </a:solidFill>
                <a:latin typeface="Consolas"/>
              </a:rPr>
              <a:t>    tr = T.Compose([T.RandomCrop(32, padding=4), T.RandomHorizontalFlip(), T.ToTensor()])</a:t>
            </a:r>
          </a:p>
          <a:p>
            <a:r>
              <a:rPr sz="1200">
                <a:solidFill>
                  <a:srgbClr val="E2E8F0"/>
                </a:solidFill>
                <a:latin typeface="Consolas"/>
              </a:rPr>
              <a:t>    te = T.ToTensor()</a:t>
            </a:r>
          </a:p>
          <a:p>
            <a:r>
              <a:rPr sz="1200">
                <a:solidFill>
                  <a:srgbClr val="E2E8F0"/>
                </a:solidFill>
                <a:latin typeface="Consolas"/>
              </a:rPr>
              <a:t>    a = torchvision.datasets.CIFAR10("./data", train=True, download=True, transform=tr)</a:t>
            </a:r>
          </a:p>
          <a:p>
            <a:r>
              <a:rPr sz="1200">
                <a:solidFill>
                  <a:srgbClr val="E2E8F0"/>
                </a:solidFill>
                <a:latin typeface="Consolas"/>
              </a:rPr>
              <a:t>    b = torchvision.datasets.CIFAR10("./data", train=False, download=True, transform=te)</a:t>
            </a:r>
          </a:p>
          <a:p>
            <a:r>
              <a:rPr sz="1200">
                <a:solidFill>
                  <a:srgbClr val="E2E8F0"/>
                </a:solidFill>
                <a:latin typeface="Consolas"/>
              </a:rPr>
              <a:t>    return DataLoader(a, bs, shuffle=True, num_workers=4), DataLoader(b, 256, num_workers=4)</a:t>
            </a:r>
          </a:p>
          <a:p>
            <a:r>
              <a:rPr sz="1200">
                <a:solidFill>
                  <a:srgbClr val="7FD6D7"/>
                </a:solidFill>
                <a:latin typeface="Consolas"/>
              </a:rPr>
              <a:t># … (to‘liq kod — mavzu matnida / GitHub’da)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train_clean.py</a:t>
            </a:r>
          </a:p>
          <a:p>
            <a:r>
              <a:rPr sz="1200">
                <a:solidFill>
                  <a:srgbClr val="E2E8F0"/>
                </a:solidFill>
                <a:latin typeface="Consolas"/>
              </a:rPr>
              <a:t>import torch, torch.nn as nn</a:t>
            </a:r>
          </a:p>
          <a:p>
            <a:r>
              <a:rPr sz="1200">
                <a:solidFill>
                  <a:srgbClr val="E2E8F0"/>
                </a:solidFill>
                <a:latin typeface="Consolas"/>
              </a:rPr>
              <a:t>from common import *</a:t>
            </a:r>
          </a:p>
          <a:p>
            <a:r>
              <a:rPr sz="1200">
                <a:solidFill>
                  <a:srgbClr val="E2E8F0"/>
                </a:solidFill>
                <a:latin typeface="Consolas"/>
              </a:rPr>
              <a:t>tr, te = loaders(); model = make_model()</a:t>
            </a:r>
          </a:p>
          <a:p>
            <a:r>
              <a:rPr sz="1200">
                <a:solidFill>
                  <a:srgbClr val="E2E8F0"/>
                </a:solidFill>
                <a:latin typeface="Consolas"/>
              </a:rPr>
              <a:t>opt = torch.optim.SGD(model.parameters(), lr=0.1, momentum=0.9, weight_decay=5e-4)</a:t>
            </a:r>
          </a:p>
          <a:p>
            <a:r>
              <a:rPr sz="1200">
                <a:solidFill>
                  <a:srgbClr val="E2E8F0"/>
                </a:solidFill>
                <a:latin typeface="Consolas"/>
              </a:rPr>
              <a:t>sched = torch.optim.lr_scheduler.OneCycleLR(opt, 0.1, epochs=15, steps_per_epoch=len(tr))</a:t>
            </a:r>
          </a:p>
          <a:p>
            <a:r>
              <a:rPr sz="1200">
                <a:solidFill>
                  <a:srgbClr val="E2E8F0"/>
                </a:solidFill>
                <a:latin typeface="Consolas"/>
              </a:rPr>
              <a:t>lossf = nn.CrossEntropyLoss()</a:t>
            </a:r>
          </a:p>
          <a:p>
            <a:r>
              <a:rPr sz="1200">
                <a:solidFill>
                  <a:srgbClr val="E2E8F0"/>
                </a:solidFill>
                <a:latin typeface="Consolas"/>
              </a:rPr>
              <a:t>for ep in range(15):</a:t>
            </a:r>
          </a:p>
          <a:p>
            <a:r>
              <a:rPr sz="1200">
                <a:solidFill>
                  <a:srgbClr val="E2E8F0"/>
                </a:solidFill>
                <a:latin typeface="Consolas"/>
              </a:rPr>
              <a:t>    model.train()</a:t>
            </a:r>
          </a:p>
          <a:p>
            <a:r>
              <a:rPr sz="1200">
                <a:solidFill>
                  <a:srgbClr val="E2E8F0"/>
                </a:solidFill>
                <a:latin typeface="Consolas"/>
              </a:rPr>
              <a:t>    for x, y in tr:</a:t>
            </a:r>
          </a:p>
          <a:p>
            <a:r>
              <a:rPr sz="1200">
                <a:solidFill>
                  <a:srgbClr val="E2E8F0"/>
                </a:solidFill>
                <a:latin typeface="Consolas"/>
              </a:rPr>
              <a:t>        x, y = x.to(dev), y.to(dev)</a:t>
            </a:r>
          </a:p>
          <a:p>
            <a:r>
              <a:rPr sz="1200">
                <a:solidFill>
                  <a:srgbClr val="E2E8F0"/>
                </a:solidFill>
                <a:latin typeface="Consolas"/>
              </a:rPr>
              <a:t>        opt.zero_grad(); lossf(model(x), y).backward(); opt.step(); sched.step()</a:t>
            </a:r>
          </a:p>
          <a:p>
            <a:r>
              <a:rPr sz="1200">
                <a:solidFill>
                  <a:srgbClr val="E2E8F0"/>
                </a:solidFill>
                <a:latin typeface="Consolas"/>
              </a:rPr>
              <a:t>    print(ep, "clean acc", round(accuracy(model, te), 4))</a:t>
            </a:r>
          </a:p>
          <a:p>
            <a:r>
              <a:rPr sz="1200">
                <a:solidFill>
                  <a:srgbClr val="E2E8F0"/>
                </a:solidFill>
                <a:latin typeface="Consolas"/>
              </a:rPr>
              <a:t>torch.save(model.state_dict(), "clean.pt")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Har epsilon uchun aniqlik o'lchandi. Toza modelda natija keskin: epsilon = 8/255 da FGSM aniqlikni ~90% dan 15–25% gacha, PGD-10 esa 0–2% gacha tushiradi (taxminiy).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attacks.py</a:t>
            </a:r>
          </a:p>
          <a:p>
            <a:r>
              <a:rPr sz="1200">
                <a:solidFill>
                  <a:srgbClr val="E2E8F0"/>
                </a:solidFill>
                <a:latin typeface="Consolas"/>
              </a:rPr>
              <a:t>import torch, torch.nn.functional as F</a:t>
            </a:r>
          </a:p>
          <a:p>
            <a:r>
              <a:rPr sz="1200">
                <a:solidFill>
                  <a:srgbClr val="E2E8F0"/>
                </a:solidFill>
                <a:latin typeface="Consolas"/>
              </a:rPr>
              <a:t> </a:t>
            </a:r>
          </a:p>
          <a:p>
            <a:r>
              <a:rPr sz="1200">
                <a:solidFill>
                  <a:srgbClr val="E2E8F0"/>
                </a:solidFill>
                <a:latin typeface="Consolas"/>
              </a:rPr>
              <a:t>def fgsm(model, x, y, eps):</a:t>
            </a:r>
          </a:p>
          <a:p>
            <a:r>
              <a:rPr sz="1200">
                <a:solidFill>
                  <a:srgbClr val="E2E8F0"/>
                </a:solidFill>
                <a:latin typeface="Consolas"/>
              </a:rPr>
              <a:t>    x = x.clone().detach().requires_grad_(True)</a:t>
            </a:r>
          </a:p>
          <a:p>
            <a:r>
              <a:rPr sz="1200">
                <a:solidFill>
                  <a:srgbClr val="E2E8F0"/>
                </a:solidFill>
                <a:latin typeface="Consolas"/>
              </a:rPr>
              <a:t>    loss = F.cross_entropy(model(x), y)</a:t>
            </a:r>
          </a:p>
          <a:p>
            <a:r>
              <a:rPr sz="1200">
                <a:solidFill>
                  <a:srgbClr val="E2E8F0"/>
                </a:solidFill>
                <a:latin typeface="Consolas"/>
              </a:rPr>
              <a:t>    grad, = torch.autograd.grad(loss, x)</a:t>
            </a:r>
          </a:p>
          <a:p>
            <a:r>
              <a:rPr sz="1200">
                <a:solidFill>
                  <a:srgbClr val="E2E8F0"/>
                </a:solidFill>
                <a:latin typeface="Consolas"/>
              </a:rPr>
              <a:t>    return (x + eps * grad.sign()).clamp(0, 1).detach()</a:t>
            </a:r>
          </a:p>
          <a:p>
            <a:r>
              <a:rPr sz="1200">
                <a:solidFill>
                  <a:srgbClr val="E2E8F0"/>
                </a:solidFill>
                <a:latin typeface="Consolas"/>
              </a:rPr>
              <a:t> </a:t>
            </a:r>
          </a:p>
          <a:p>
            <a:r>
              <a:rPr sz="1200">
                <a:solidFill>
                  <a:srgbClr val="E2E8F0"/>
                </a:solidFill>
                <a:latin typeface="Consolas"/>
              </a:rPr>
              <a:t>def pgd(model, x, y, eps, alpha=2/255, steps=10, random_start=True):</a:t>
            </a:r>
          </a:p>
          <a:p>
            <a:r>
              <a:rPr sz="1200">
                <a:solidFill>
                  <a:srgbClr val="E2E8F0"/>
                </a:solidFill>
                <a:latin typeface="Consolas"/>
              </a:rPr>
              <a:t>    x0 = x.clone().detach()</a:t>
            </a:r>
          </a:p>
          <a:p>
            <a:r>
              <a:rPr sz="1200">
                <a:solidFill>
                  <a:srgbClr val="E2E8F0"/>
                </a:solidFill>
                <a:latin typeface="Consolas"/>
              </a:rPr>
              <a:t>    xa = x0 + torch.empty_like(x0).uniform_(-eps, eps) if random_start else x0.clone()</a:t>
            </a:r>
          </a:p>
          <a:p>
            <a:r>
              <a:rPr sz="1200">
                <a:solidFill>
                  <a:srgbClr val="E2E8F0"/>
                </a:solidFill>
                <a:latin typeface="Consolas"/>
              </a:rPr>
              <a:t>    xa = xa.clamp(0, 1)</a:t>
            </a:r>
          </a:p>
          <a:p>
            <a:r>
              <a:rPr sz="1200">
                <a:solidFill>
                  <a:srgbClr val="E2E8F0"/>
                </a:solidFill>
                <a:latin typeface="Consolas"/>
              </a:rPr>
              <a:t>    for _ in range(steps):</a:t>
            </a:r>
          </a:p>
          <a:p>
            <a:r>
              <a:rPr sz="1200">
                <a:solidFill>
                  <a:srgbClr val="E2E8F0"/>
                </a:solidFill>
                <a:latin typeface="Consolas"/>
              </a:rPr>
              <a:t>        xa.requires_grad_(True)</a:t>
            </a:r>
          </a:p>
          <a:p>
            <a:r>
              <a:rPr sz="1200">
                <a:solidFill>
                  <a:srgbClr val="E2E8F0"/>
                </a:solidFill>
                <a:latin typeface="Consolas"/>
              </a:rPr>
              <a:t>        loss = F.cross_entropy(model(xa), y)</a:t>
            </a:r>
          </a:p>
          <a:p>
            <a:r>
              <a:rPr sz="1200">
                <a:solidFill>
                  <a:srgbClr val="E2E8F0"/>
                </a:solidFill>
                <a:latin typeface="Consolas"/>
              </a:rPr>
              <a:t>        grad, = torch.autograd.grad(loss, xa)</a:t>
            </a:r>
          </a:p>
          <a:p>
            <a:r>
              <a:rPr sz="1200">
                <a:solidFill>
                  <a:srgbClr val="E2E8F0"/>
                </a:solidFill>
                <a:latin typeface="Consolas"/>
              </a:rPr>
              <a:t>        xa = xa.detach() + alpha * grad.sign()</a:t>
            </a:r>
          </a:p>
          <a:p>
            <a:r>
              <a:rPr sz="1200">
                <a:solidFill>
                  <a:srgbClr val="E2E8F0"/>
                </a:solidFill>
                <a:latin typeface="Consolas"/>
              </a:rPr>
              <a:t>        xa = torch.min(torch.max(xa, x0 - eps), x0 + eps).clamp(0, 1)   # proyeksiya</a:t>
            </a:r>
          </a:p>
          <a:p>
            <a:r>
              <a:rPr sz="1200">
                <a:solidFill>
                  <a:srgbClr val="E2E8F0"/>
                </a:solidFill>
                <a:latin typeface="Consolas"/>
              </a:rPr>
              <a:t>    return xa.detach()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eval_attacks.py</a:t>
            </a:r>
          </a:p>
          <a:p>
            <a:r>
              <a:rPr sz="1000">
                <a:solidFill>
                  <a:srgbClr val="E2E8F0"/>
                </a:solidFill>
                <a:latin typeface="Consolas"/>
              </a:rPr>
              <a:t>import torch, json, torchattacks</a:t>
            </a:r>
          </a:p>
          <a:p>
            <a:r>
              <a:rPr sz="1000">
                <a:solidFill>
                  <a:srgbClr val="E2E8F0"/>
                </a:solidFill>
                <a:latin typeface="Consolas"/>
              </a:rPr>
              <a:t>from common import *; from attacks import fgsm,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res = {"clean": accuracy(model, te)}</a:t>
            </a:r>
          </a:p>
          <a:p>
            <a:r>
              <a:rPr sz="1000">
                <a:solidFill>
                  <a:srgbClr val="E2E8F0"/>
                </a:solidFill>
                <a:latin typeface="Consolas"/>
              </a:rPr>
              <a:t>for eps in [1/255, 2/255, 4/255, 8/255, 16/255]:</a:t>
            </a:r>
          </a:p>
          <a:p>
            <a:r>
              <a:rPr sz="1000">
                <a:solidFill>
                  <a:srgbClr val="E2E8F0"/>
                </a:solidFill>
                <a:latin typeface="Consolas"/>
              </a:rPr>
              <a:t>    res[f"fgsm_{round(eps*255)}"] = accuracy(model, te, lambda x, y: fgsm(model, x, y, eps))</a:t>
            </a:r>
          </a:p>
          <a:p>
            <a:r>
              <a:rPr sz="1000">
                <a:solidFill>
                  <a:srgbClr val="E2E8F0"/>
                </a:solidFill>
                <a:latin typeface="Consolas"/>
              </a:rPr>
              <a:t>    res[f"pgd10_{round(eps*255)}"] = accuracy(model, te, lambda x, y: pgd(model, x, y, eps))</a:t>
            </a:r>
          </a:p>
          <a:p>
            <a:r>
              <a:rPr sz="1000">
                <a:solidFill>
                  <a:srgbClr val="7FD6D7"/>
                </a:solidFill>
                <a:latin typeface="Consolas"/>
              </a:rPr>
              <a:t># kutubxona bilan tekshirish (natija qo'lda yozilgan bilan 1% ichida mos kelishi kerak)</a:t>
            </a:r>
          </a:p>
          <a:p>
            <a:r>
              <a:rPr sz="1000">
                <a:solidFill>
                  <a:srgbClr val="E2E8F0"/>
                </a:solidFill>
                <a:latin typeface="Consolas"/>
              </a:rPr>
              <a:t>atk = torchattacks.PGD(model, eps=8/255, alpha=2/255, steps=10, random_start=True)</a:t>
            </a:r>
          </a:p>
          <a:p>
            <a:r>
              <a:rPr sz="1000">
                <a:solidFill>
                  <a:srgbClr val="E2E8F0"/>
                </a:solidFill>
                <a:latin typeface="Consolas"/>
              </a:rPr>
              <a:t>res["pgd10_8_torchattacks"] = accuracy(model, te, atk)</a:t>
            </a:r>
          </a:p>
          <a:p>
            <a:r>
              <a:rPr sz="1000">
                <a:solidFill>
                  <a:srgbClr val="E2E8F0"/>
                </a:solidFill>
                <a:latin typeface="Consolas"/>
              </a:rPr>
              <a:t>print(json.dumps(res, indent=1))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Har qadamda 7 ta PGD iteratsiyasi qo'shimcha orqaga o'tish talab qiladi, shuning uchun o'qitish ~8 baravar sekin (RTX 3090 da ~50 daqiqa). Natija: toza aniqlik 80–84% gacha pasayadi, lekin PGD-10 (8/255) ostidagi aniqlik 0–2% dan 45–50%…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train_adv.py — Madry uslubidagi PGD adversarial o'qitish</a:t>
            </a:r>
          </a:p>
          <a:p>
            <a:r>
              <a:rPr sz="1000">
                <a:solidFill>
                  <a:srgbClr val="E2E8F0"/>
                </a:solidFill>
                <a:latin typeface="Consolas"/>
              </a:rPr>
              <a:t>import torch, torch.nn as nn</a:t>
            </a:r>
          </a:p>
          <a:p>
            <a:r>
              <a:rPr sz="1000">
                <a:solidFill>
                  <a:srgbClr val="E2E8F0"/>
                </a:solidFill>
                <a:latin typeface="Consolas"/>
              </a:rPr>
              <a:t>from common import *; from attacks import pgd</a:t>
            </a:r>
          </a:p>
          <a:p>
            <a:r>
              <a:rPr sz="1000">
                <a:solidFill>
                  <a:srgbClr val="E2E8F0"/>
                </a:solidFill>
                <a:latin typeface="Consolas"/>
              </a:rPr>
              <a:t>tr, te = loaders(); model = make_model()</a:t>
            </a:r>
          </a:p>
          <a:p>
            <a:r>
              <a:rPr sz="1000">
                <a:solidFill>
                  <a:srgbClr val="E2E8F0"/>
                </a:solidFill>
                <a:latin typeface="Consolas"/>
              </a:rPr>
              <a:t>opt = torch.optim.SGD(model.parameters(), lr=0.1, momentum=0.9, weight_decay=5e-4)</a:t>
            </a:r>
          </a:p>
          <a:p>
            <a:r>
              <a:rPr sz="1000">
                <a:solidFill>
                  <a:srgbClr val="E2E8F0"/>
                </a:solidFill>
                <a:latin typeface="Consolas"/>
              </a:rPr>
              <a:t>sched = torch.optim.lr_scheduler.OneCycleLR(opt, 0.1, epochs=20, steps_per_epoch=len(tr))</a:t>
            </a:r>
          </a:p>
          <a:p>
            <a:r>
              <a:rPr sz="1000">
                <a:solidFill>
                  <a:srgbClr val="E2E8F0"/>
                </a:solidFill>
                <a:latin typeface="Consolas"/>
              </a:rPr>
              <a:t>lossf = nn.CrossEntropyLoss(); EPS = 8/255</a:t>
            </a:r>
          </a:p>
          <a:p>
            <a:r>
              <a:rPr sz="1000">
                <a:solidFill>
                  <a:srgbClr val="E2E8F0"/>
                </a:solidFill>
                <a:latin typeface="Consolas"/>
              </a:rPr>
              <a:t>for ep in range(20):</a:t>
            </a:r>
          </a:p>
          <a:p>
            <a:r>
              <a:rPr sz="1000">
                <a:solidFill>
                  <a:srgbClr val="E2E8F0"/>
                </a:solidFill>
                <a:latin typeface="Consolas"/>
              </a:rPr>
              <a:t>    model.train()</a:t>
            </a:r>
          </a:p>
          <a:p>
            <a:r>
              <a:rPr sz="1000">
                <a:solidFill>
                  <a:srgbClr val="E2E8F0"/>
                </a:solidFill>
                <a:latin typeface="Consolas"/>
              </a:rPr>
              <a:t>    for x, y in tr:</a:t>
            </a:r>
          </a:p>
          <a:p>
            <a:r>
              <a:rPr sz="1000">
                <a:solidFill>
                  <a:srgbClr val="E2E8F0"/>
                </a:solidFill>
                <a:latin typeface="Consolas"/>
              </a:rPr>
              <a:t>        x, y = x.to(dev), y.to(dev)</a:t>
            </a:r>
          </a:p>
          <a:p>
            <a:r>
              <a:rPr sz="1000">
                <a:solidFill>
                  <a:srgbClr val="E2E8F0"/>
                </a:solidFill>
                <a:latin typeface="Consolas"/>
              </a:rPr>
              <a:t>        model.eval(); xa = pgd(model, x, y, EPS, steps=7); model.train()   # BN statistikasi uchun eval</a:t>
            </a:r>
          </a:p>
          <a:p>
            <a:r>
              <a:rPr sz="1000">
                <a:solidFill>
                  <a:srgbClr val="E2E8F0"/>
                </a:solidFill>
                <a:latin typeface="Consolas"/>
              </a:rPr>
              <a:t>        opt.zero_grad(); lossf(model(xa), y).backward(); opt.step(); sched.step()</a:t>
            </a:r>
          </a:p>
          <a:p>
            <a:r>
              <a:rPr sz="1000">
                <a:solidFill>
                  <a:srgbClr val="E2E8F0"/>
                </a:solidFill>
                <a:latin typeface="Consolas"/>
              </a:rPr>
              <a:t>    print(ep, "clean", round(accuracy(model, te), 4), "pgd10", round(accuracy(model, te, lambda a, b: pgd(model, a, b, E</a:t>
            </a:r>
          </a:p>
          <a:p>
            <a:r>
              <a:rPr sz="1000">
                <a:solidFill>
                  <a:srgbClr val="E2E8F0"/>
                </a:solidFill>
                <a:latin typeface="Consolas"/>
              </a:rPr>
              <a:t>torch.save(model.state_dict(), "adv.pt")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Yuqori ikki qator — toza tasvir va uning Grad-CAM xaritasi, pastki ikki qator — PGD bilan buzilgan tasvir (ko'zga toza bilan bir xil) va uning xaritasi. Kutilgan kuzatuv: toza namunada issiqlik obyektning o'zida (masalan, it boshida)…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xai_gradcam.py</a:t>
            </a:r>
          </a:p>
          <a:p>
            <a:r>
              <a:rPr sz="1000">
                <a:solidFill>
                  <a:srgbClr val="E2E8F0"/>
                </a:solidFill>
                <a:latin typeface="Consolas"/>
              </a:rPr>
              <a:t>import torch, numpy as np, matplotlib.pyplot as plt</a:t>
            </a:r>
          </a:p>
          <a:p>
            <a:r>
              <a:rPr sz="1000">
                <a:solidFill>
                  <a:srgbClr val="E2E8F0"/>
                </a:solidFill>
                <a:latin typeface="Consolas"/>
              </a:rPr>
              <a:t>from pytorch_grad_cam import GradCAM</a:t>
            </a:r>
          </a:p>
          <a:p>
            <a:r>
              <a:rPr sz="1000">
                <a:solidFill>
                  <a:srgbClr val="E2E8F0"/>
                </a:solidFill>
                <a:latin typeface="Consolas"/>
              </a:rPr>
              <a:t>from pytorch_grad_cam.utils.image import show_cam_on_image</a:t>
            </a:r>
          </a:p>
          <a:p>
            <a:r>
              <a:rPr sz="1000">
                <a:solidFill>
                  <a:srgbClr val="E2E8F0"/>
                </a:solidFill>
                <a:latin typeface="Consolas"/>
              </a:rPr>
              <a:t>from common import *; from attacks import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x, y = next(iter(te)); x, y = x[:8].to(dev), y[:8].to(dev)</a:t>
            </a:r>
          </a:p>
          <a:p>
            <a:r>
              <a:rPr sz="1000">
                <a:solidFill>
                  <a:srgbClr val="E2E8F0"/>
                </a:solidFill>
                <a:latin typeface="Consolas"/>
              </a:rPr>
              <a:t>xa = pgd(model, x, y, 8/255)</a:t>
            </a:r>
          </a:p>
          <a:p>
            <a:r>
              <a:rPr sz="1000">
                <a:solidFill>
                  <a:srgbClr val="E2E8F0"/>
                </a:solidFill>
                <a:latin typeface="Consolas"/>
              </a:rPr>
              <a:t>cam = GradCAM(model=model, target_layers=[model.net.layer4[-1]])</a:t>
            </a:r>
          </a:p>
          <a:p>
            <a:r>
              <a:rPr sz="1000">
                <a:solidFill>
                  <a:srgbClr val="E2E8F0"/>
                </a:solidFill>
                <a:latin typeface="Consolas"/>
              </a:rPr>
              <a:t>fig, ax = plt.subplots(4, 8, figsize=(16, 8))</a:t>
            </a:r>
          </a:p>
          <a:p>
            <a:r>
              <a:rPr sz="1000">
                <a:solidFill>
                  <a:srgbClr val="E2E8F0"/>
                </a:solidFill>
                <a:latin typeface="Consolas"/>
              </a:rPr>
              <a:t>for i in range(8):</a:t>
            </a:r>
          </a:p>
          <a:p>
            <a:r>
              <a:rPr sz="1000">
                <a:solidFill>
                  <a:srgbClr val="E2E8F0"/>
                </a:solidFill>
                <a:latin typeface="Consolas"/>
              </a:rPr>
              <a:t>    for r, img in ((0, x[i:i+1]), (2, xa[i:i+1])):</a:t>
            </a:r>
          </a:p>
          <a:p>
            <a:r>
              <a:rPr sz="1000">
                <a:solidFill>
                  <a:srgbClr val="E2E8F0"/>
                </a:solidFill>
                <a:latin typeface="Consolas"/>
              </a:rPr>
              <a:t>        pred = model(img).argmax(1).item()</a:t>
            </a:r>
          </a:p>
          <a:p>
            <a:r>
              <a:rPr sz="1000">
                <a:solidFill>
                  <a:srgbClr val="E2E8F0"/>
                </a:solidFill>
                <a:latin typeface="Consolas"/>
              </a:rPr>
              <a:t>        heat = cam(input_tensor=img)[0]</a:t>
            </a:r>
          </a:p>
          <a:p>
            <a:r>
              <a:rPr sz="1000">
                <a:solidFill>
                  <a:srgbClr val="E2E8F0"/>
                </a:solidFill>
                <a:latin typeface="Consolas"/>
              </a:rPr>
              <a:t>        rgb = img[0].permute(1, 2, 0).cpu().numpy()</a:t>
            </a:r>
          </a:p>
          <a:p>
            <a:r>
              <a:rPr sz="1000">
                <a:solidFill>
                  <a:srgbClr val="E2E8F0"/>
                </a:solidFill>
                <a:latin typeface="Consolas"/>
              </a:rPr>
              <a:t>        ax[r, i].imshow(rgb); ax[r, i].set_title(f"pred={pred} true={y[i].item()}", fontsize=8)</a:t>
            </a:r>
          </a:p>
          <a:p>
            <a:r>
              <a:rPr sz="1000">
                <a:solidFill>
                  <a:srgbClr val="E2E8F0"/>
                </a:solidFill>
                <a:latin typeface="Consolas"/>
              </a:rPr>
              <a:t>        ax[r+1, i].imshow(show_cam_on_image(rgb, heat, use_rgb=True))</a:t>
            </a:r>
          </a:p>
          <a:p>
            <a:r>
              <a:rPr sz="1000">
                <a:solidFill>
                  <a:srgbClr val="E2E8F0"/>
                </a:solidFill>
                <a:latin typeface="Consolas"/>
              </a:rPr>
              <a:t>for a in ax.flat: a.axis("off")</a:t>
            </a:r>
          </a:p>
          <a:p>
            <a:r>
              <a:rPr sz="1000">
                <a:solidFill>
                  <a:srgbClr val="E2E8F0"/>
                </a:solidFill>
                <a:latin typeface="Consolas"/>
              </a:rPr>
              <a:t>plt.tight_layout(); plt.savefig("gradcam_clean_vs_adv.png", dpi=150)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Bazaviy gradient boosting Adult'da ~86–87% aniqlik beradi, lekin MetricFrame guruhlar kesimida ko'rsatadiki, erkaklar uchun ijobiy qaror ulushi (selection_rate) ~0.25, ayollar uchun ~0.07 — demografik paritet farqi ~0.18. Bu farqning bir…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fairness_adult.py</a:t>
            </a:r>
          </a:p>
          <a:p>
            <a:r>
              <a:rPr sz="1000">
                <a:solidFill>
                  <a:srgbClr val="E2E8F0"/>
                </a:solidFill>
                <a:latin typeface="Consolas"/>
              </a:rPr>
              <a:t>import pandas as pd, numpy as np, shap</a:t>
            </a:r>
          </a:p>
          <a:p>
            <a:r>
              <a:rPr sz="1000">
                <a:solidFill>
                  <a:srgbClr val="E2E8F0"/>
                </a:solidFill>
                <a:latin typeface="Consolas"/>
              </a:rPr>
              <a:t>from fairlearn.datasets import fetch_adult</a:t>
            </a:r>
          </a:p>
          <a:p>
            <a:r>
              <a:rPr sz="1000">
                <a:solidFill>
                  <a:srgbClr val="E2E8F0"/>
                </a:solidFill>
                <a:latin typeface="Consolas"/>
              </a:rPr>
              <a:t>from fairlearn.metrics import (MetricFrame, demographic_parity_difference, equalized_odds_difference,</a:t>
            </a:r>
          </a:p>
          <a:p>
            <a:r>
              <a:rPr sz="1000">
                <a:solidFill>
                  <a:srgbClr val="E2E8F0"/>
                </a:solidFill>
                <a:latin typeface="Consolas"/>
              </a:rPr>
              <a:t>                               selection_rate, true_positive_rate, false_positive_rate)</a:t>
            </a:r>
          </a:p>
          <a:p>
            <a:r>
              <a:rPr sz="1000">
                <a:solidFill>
                  <a:srgbClr val="E2E8F0"/>
                </a:solidFill>
                <a:latin typeface="Consolas"/>
              </a:rPr>
              <a:t>from fairlearn.reductions import ExponentiatedGradient, EqualizedOdds</a:t>
            </a:r>
          </a:p>
          <a:p>
            <a:r>
              <a:rPr sz="1000">
                <a:solidFill>
                  <a:srgbClr val="E2E8F0"/>
                </a:solidFill>
                <a:latin typeface="Consolas"/>
              </a:rPr>
              <a:t>from fairlearn.postprocessing import ThresholdOptimizer</a:t>
            </a:r>
          </a:p>
          <a:p>
            <a:r>
              <a:rPr sz="1000">
                <a:solidFill>
                  <a:srgbClr val="E2E8F0"/>
                </a:solidFill>
                <a:latin typeface="Consolas"/>
              </a:rPr>
              <a:t>from sklearn.model_selection import train_test_split</a:t>
            </a:r>
          </a:p>
          <a:p>
            <a:r>
              <a:rPr sz="1000">
                <a:solidFill>
                  <a:srgbClr val="E2E8F0"/>
                </a:solidFill>
                <a:latin typeface="Consolas"/>
              </a:rPr>
              <a:t>from sklearn.metrics import accuracy_score</a:t>
            </a:r>
          </a:p>
          <a:p>
            <a:r>
              <a:rPr sz="1000">
                <a:solidFill>
                  <a:srgbClr val="E2E8F0"/>
                </a:solidFill>
                <a:latin typeface="Consolas"/>
              </a:rPr>
              <a:t>from sklearn.ensemble import GradientBoostingClassifier</a:t>
            </a:r>
          </a:p>
          <a:p>
            <a:r>
              <a:rPr sz="1000">
                <a:solidFill>
                  <a:srgbClr val="E2E8F0"/>
                </a:solidFill>
                <a:latin typeface="Consolas"/>
              </a:rPr>
              <a:t> </a:t>
            </a:r>
          </a:p>
          <a:p>
            <a:r>
              <a:rPr sz="1000">
                <a:solidFill>
                  <a:srgbClr val="E2E8F0"/>
                </a:solidFill>
                <a:latin typeface="Consolas"/>
              </a:rPr>
              <a:t>data = fetch_adult(as_frame=True)</a:t>
            </a:r>
          </a:p>
          <a:p>
            <a:r>
              <a:rPr sz="1000">
                <a:solidFill>
                  <a:srgbClr val="E2E8F0"/>
                </a:solidFill>
                <a:latin typeface="Consolas"/>
              </a:rPr>
              <a:t>X = pd.get_dummies(data.data.drop(columns=["fnlwgt"]), drop_first=True).astype(float)</a:t>
            </a:r>
          </a:p>
          <a:p>
            <a:r>
              <a:rPr sz="1000">
                <a:solidFill>
                  <a:srgbClr val="E2E8F0"/>
                </a:solidFill>
                <a:latin typeface="Consolas"/>
              </a:rPr>
              <a:t>y = (data.target == "&gt;50K").astype(int).values</a:t>
            </a:r>
          </a:p>
          <a:p>
            <a:r>
              <a:rPr sz="1000">
                <a:solidFill>
                  <a:srgbClr val="E2E8F0"/>
                </a:solidFill>
                <a:latin typeface="Consolas"/>
              </a:rPr>
              <a:t>sex = data.data["sex"].values              # sezgir atribut: tahlil uchun; modelga belgi sifatida ham kiradi</a:t>
            </a:r>
          </a:p>
          <a:p>
            <a:r>
              <a:rPr sz="1000">
                <a:solidFill>
                  <a:srgbClr val="E2E8F0"/>
                </a:solidFill>
                <a:latin typeface="Consolas"/>
              </a:rPr>
              <a:t>Xtr, Xte, ytr, yte, str_, ste = train_test_split(X, y, sex, test_size=0.3, random_state=0, stratify=y)</a:t>
            </a:r>
          </a:p>
          <a:p>
            <a:r>
              <a:rPr sz="1000">
                <a:solidFill>
                  <a:srgbClr val="E2E8F0"/>
                </a:solidFill>
                <a:latin typeface="Consolas"/>
              </a:rPr>
              <a:t> </a:t>
            </a:r>
          </a:p>
          <a:p>
            <a:r>
              <a:rPr sz="1000">
                <a:solidFill>
                  <a:srgbClr val="E2E8F0"/>
                </a:solidFill>
                <a:latin typeface="Consolas"/>
              </a:rPr>
              <a:t>clf = GradientBoostingClassifier(n_estimators=200, max_depth=3, random_state=0).fit(Xtr, ytr)</a:t>
            </a:r>
          </a:p>
          <a:p>
            <a:r>
              <a:rPr sz="1000">
                <a:solidFill>
                  <a:srgbClr val="E2E8F0"/>
                </a:solidFill>
                <a:latin typeface="Consolas"/>
              </a:rPr>
              <a:t>pred = clf.predict(Xte)</a:t>
            </a:r>
          </a:p>
          <a:p>
            <a:r>
              <a:rPr sz="1000">
                <a:solidFill>
                  <a:srgbClr val="E2E8F0"/>
                </a:solidFill>
                <a:latin typeface="Consolas"/>
              </a:rPr>
              <a:t> </a:t>
            </a:r>
          </a:p>
          <a:p>
            <a:r>
              <a:rPr sz="1000">
                <a:solidFill>
                  <a:srgbClr val="7FD6D7"/>
                </a:solidFill>
                <a:latin typeface="Consolas"/>
              </a:rPr>
              <a:t># … (to‘liq kod — mavzu matnida / GitHub’da)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Talaba quyidagi 20 bandli ro'yxatni (ISO/IEC 42001, ISO/IEC 23894, EU AI Act 9–15-moddalari va NIST AI RMF asosida tuzilgan) 1-5 qadamlarda qurilgan tizim uchun to'ldiradi; har band uchun…</a:t>
            </a:r>
          </a:p>
          <a:p>
            <a:pPr>
              <a:spcAft>
                <a:spcPts val="900"/>
              </a:spcAft>
            </a:pPr>
            <a:r>
              <a:rPr sz="2000" b="1">
                <a:solidFill>
                  <a:srgbClr val="0F8B8D"/>
                </a:solidFill>
              </a:rPr>
              <a:t>▪  </a:t>
            </a:r>
            <a:r>
              <a:rPr sz="2000">
                <a:solidFill>
                  <a:srgbClr val="1B2430"/>
                </a:solidFill>
                <a:latin typeface="Calibri"/>
              </a:rPr>
              <a:t>Nima bo'ldi va nega. Ro'yxat texnik o'lchovlarni (7, 8, 11) tashkiliy talablar bilan (1, 12, 19) bog'laydi. Laboratoriya tizimida 1–11 va 20-bandlar bevosita bajarilishi mumkin; 12–19-bandlar uchun talaba reja va mas'uliyat taqsimotini yozadi.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Tizimning maqsadi, foydalanuvchilari va ta'sir ko'lami hujjatlashtirilgan</a:t>
                      </a:r>
                    </a:p>
                  </a:txBody>
                  <a:tcPr>
                    <a:solidFill>
                      <a:srgbClr val="F1F4F8"/>
                    </a:solidFill>
                  </a:tcPr>
                </a:tc>
                <a:tc>
                  <a:txBody>
                    <a:bodyPr/>
                    <a:lstStyle/>
                    <a:p>
                      <a:r>
                        <a:rPr sz="1200" b="0">
                          <a:solidFill>
                            <a:srgbClr val="1B2430"/>
                          </a:solidFill>
                          <a:latin typeface="Calibri"/>
                        </a:rPr>
                        <a:t>ISO 42001 A.6; AI Act 11-m.</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Xavf darajasi (taqiqlangan / yuqori / cheklangan / minimal) aniqlangan va asoslangan</a:t>
                      </a:r>
                    </a:p>
                  </a:txBody>
                  <a:tcPr>
                    <a:solidFill>
                      <a:srgbClr val="FFFFFF"/>
                    </a:solidFill>
                  </a:tcPr>
                </a:tc>
                <a:tc>
                  <a:txBody>
                    <a:bodyPr/>
                    <a:lstStyle/>
                    <a:p>
                      <a:r>
                        <a:rPr sz="1200" b="0">
                          <a:solidFill>
                            <a:srgbClr val="1B2430"/>
                          </a:solidFill>
                          <a:latin typeface="Calibri"/>
                        </a:rPr>
                        <a:t>AI Act 6-m.</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Ma'lumot manbai, yig'ish usuli va litsenziyasi hujjatlashtirilgan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Ma'lumotdagi guruhlar vakilligi (representativeness) tahlil qilingan</a:t>
                      </a:r>
                    </a:p>
                  </a:txBody>
                  <a:tcPr>
                    <a:solidFill>
                      <a:srgbClr val="FFFFFF"/>
                    </a:solidFill>
                  </a:tcPr>
                </a:tc>
                <a:tc>
                  <a:txBody>
                    <a:bodyPr/>
                    <a:lstStyle/>
                    <a:p>
                      <a:r>
                        <a:rPr sz="1200" b="0">
                          <a:solidFill>
                            <a:srgbClr val="1B2430"/>
                          </a:solidFill>
                          <a:latin typeface="Calibri"/>
                        </a:rPr>
                        <a:t>AI Act 10-m.; ISO 23894</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Sezgir atributlar va ularning vakil belgilari (proxy) aniqlangan</a:t>
                      </a:r>
                    </a:p>
                  </a:txBody>
                  <a:tcPr>
                    <a:solidFill>
                      <a:srgbClr val="F1F4F8"/>
                    </a:solidFill>
                  </a:tcPr>
                </a:tc>
                <a:tc>
                  <a:txBody>
                    <a:bodyPr/>
                    <a:lstStyle/>
                    <a:p>
                      <a:r>
                        <a:rPr sz="1200" b="0">
                          <a:solidFill>
                            <a:srgbClr val="1B2430"/>
                          </a:solidFill>
                          <a:latin typeface="Calibri"/>
                        </a:rPr>
                        <a:t>NIST RMF Map</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Adolatlilik mezoni tanlangan va tanlov asoslangan</a:t>
                      </a:r>
                    </a:p>
                  </a:txBody>
                  <a:tcPr>
                    <a:solidFill>
                      <a:srgbClr val="FFFFFF"/>
                    </a:solidFill>
                  </a:tcPr>
                </a:tc>
                <a:tc>
                  <a:txBody>
                    <a:bodyPr/>
                    <a:lstStyle/>
                    <a:p>
                      <a:r>
                        <a:rPr sz="1200" b="0">
                          <a:solidFill>
                            <a:srgbClr val="1B2430"/>
                          </a:solidFill>
                          <a:latin typeface="Calibri"/>
                        </a:rPr>
                        <a:t>ISO 42001 A.7</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Adolatlilik ko'rsatkichlari guruhlar bo'yicha o'lchangan va chegaralar belgilangan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Toza va adversarial aniqlik o'lchangan, tahdid modeli yozilgan</a:t>
                      </a:r>
                    </a:p>
                  </a:txBody>
                  <a:tcPr>
                    <a:solidFill>
                      <a:srgbClr val="FFFFFF"/>
                    </a:solidFill>
                  </a:tcPr>
                </a:tc>
                <a:tc>
                  <a:txBody>
                    <a:bodyPr/>
                    <a:lstStyle/>
                    <a:p>
                      <a:r>
                        <a:rPr sz="1200" b="0">
                          <a:solidFill>
                            <a:srgbClr val="1B2430"/>
                          </a:solidFill>
                          <a:latin typeface="Calibri"/>
                        </a:rPr>
                        <a:t>AI Act 15-m.</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Himoya chorasi (adversarial o'qitish, kirish nazorati) joriy qilingan va sinovdan o'tgan</a:t>
                      </a:r>
                    </a:p>
                  </a:txBody>
                  <a:tcPr>
                    <a:solidFill>
                      <a:srgbClr val="F1F4F8"/>
                    </a:solidFill>
                  </a:tcPr>
                </a:tc>
                <a:tc>
                  <a:txBody>
                    <a:bodyPr/>
                    <a:lstStyle/>
                    <a:p>
                      <a:r>
                        <a:rPr sz="1200" b="0">
                          <a:solidFill>
                            <a:srgbClr val="1B2430"/>
                          </a:solidFill>
                          <a:latin typeface="Calibri"/>
                        </a:rPr>
                        <a:t>AI Act 15-m.</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Qarorlar uchun tushuntirish mexanizmi (XAI) mavjud va foydalanuvchiga mos</a:t>
                      </a:r>
                    </a:p>
                  </a:txBody>
                  <a:tcPr>
                    <a:solidFill>
                      <a:srgbClr val="FFFFFF"/>
                    </a:solidFill>
                  </a:tcPr>
                </a:tc>
                <a:tc>
                  <a:txBody>
                    <a:bodyPr/>
                    <a:lstStyle/>
                    <a:p>
                      <a:r>
                        <a:rPr sz="1200" b="0">
                          <a:solidFill>
                            <a:srgbClr val="1B2430"/>
                          </a:solidFill>
                          <a:latin typeface="Calibri"/>
                        </a:rPr>
                        <a:t>AI Act 13-m.</a:t>
                      </a:r>
                    </a:p>
                  </a:txBody>
                  <a:tcPr>
                    <a:solidFill>
                      <a:srgbClr val="FFFFFF"/>
                    </a:solidFill>
                  </a:tcPr>
                </a:tc>
              </a:tr>
              <a:tr h="520000">
                <a:tc>
                  <a:txBody>
                    <a:bodyPr/>
                    <a:lstStyle/>
                    <a:p>
                      <a:r>
                        <a:rPr sz="1200" b="0">
                          <a:solidFill>
                            <a:srgbClr val="1B2430"/>
                          </a:solidFill>
                          <a:latin typeface="Calibri"/>
                        </a:rPr>
                        <a:t>11</a:t>
                      </a:r>
                    </a:p>
                  </a:txBody>
                  <a:tcPr>
                    <a:solidFill>
                      <a:srgbClr val="F1F4F8"/>
                    </a:solidFill>
                  </a:tcPr>
                </a:tc>
                <a:tc>
                  <a:txBody>
                    <a:bodyPr/>
                    <a:lstStyle/>
                    <a:p>
                      <a:r>
                        <a:rPr sz="1200" b="0">
                          <a:solidFill>
                            <a:srgbClr val="1B2430"/>
                          </a:solidFill>
                          <a:latin typeface="Calibri"/>
                        </a:rPr>
                        <a:t>Tushuntirishlarning ishonchliligi (barqarorlik, sodiqlik) tekshirilgan</a:t>
                      </a:r>
                    </a:p>
                  </a:txBody>
                  <a:tcPr>
                    <a:solidFill>
                      <a:srgbClr val="F1F4F8"/>
                    </a:solidFill>
                  </a:tcPr>
                </a:tc>
                <a:tc>
                  <a:txBody>
                    <a:bodyPr/>
                    <a:lstStyle/>
                    <a:p>
                      <a:r>
                        <a:rPr sz="1200" b="0">
                          <a:solidFill>
                            <a:srgbClr val="1B2430"/>
                          </a:solidFill>
                          <a:latin typeface="Calibri"/>
                        </a:rPr>
                        <a:t>ISO 23894</a:t>
                      </a:r>
                    </a:p>
                  </a:txBody>
                  <a:tcPr>
                    <a:solidFill>
                      <a:srgbClr val="F1F4F8"/>
                    </a:solidFill>
                  </a:tcPr>
                </a:tc>
              </a:tr>
              <a:tr h="520000">
                <a:tc>
                  <a:txBody>
                    <a:bodyPr/>
                    <a:lstStyle/>
                    <a:p>
                      <a:r>
                        <a:rPr sz="1200" b="0">
                          <a:solidFill>
                            <a:srgbClr val="1B2430"/>
                          </a:solidFill>
                          <a:latin typeface="Calibri"/>
                        </a:rPr>
                        <a:t>12</a:t>
                      </a:r>
                    </a:p>
                  </a:txBody>
                  <a:tcPr>
                    <a:solidFill>
                      <a:srgbClr val="FFFFFF"/>
                    </a:solidFill>
                  </a:tcPr>
                </a:tc>
                <a:tc>
                  <a:txBody>
                    <a:bodyPr/>
                    <a:lstStyle/>
                    <a:p>
                      <a:r>
                        <a:rPr sz="1200" b="0">
                          <a:solidFill>
                            <a:srgbClr val="1B2430"/>
                          </a:solidFill>
                          <a:latin typeface="Calibri"/>
                        </a:rPr>
                        <a:t>Inson nazorati nuqtalari (human-in-the-loop) aniqlangan</a:t>
                      </a:r>
                    </a:p>
                  </a:txBody>
                  <a:tcPr>
                    <a:solidFill>
                      <a:srgbClr val="FFFFFF"/>
                    </a:solidFill>
                  </a:tcPr>
                </a:tc>
                <a:tc>
                  <a:txBody>
                    <a:bodyPr/>
                    <a:lstStyle/>
                    <a:p>
                      <a:r>
                        <a:rPr sz="1200" b="0">
                          <a:solidFill>
                            <a:srgbClr val="1B2430"/>
                          </a:solidFill>
                          <a:latin typeface="Calibri"/>
                        </a:rPr>
                        <a:t>AI Act 14-m.</a:t>
                      </a:r>
                    </a:p>
                  </a:txBody>
                  <a:tcPr>
                    <a:solidFill>
                      <a:srgbClr val="FFFFFF"/>
                    </a:solidFill>
                  </a:tcPr>
                </a:tc>
              </a:tr>
              <a:tr h="520000">
                <a:tc>
                  <a:txBody>
                    <a:bodyPr/>
                    <a:lstStyle/>
                    <a:p>
                      <a:r>
                        <a:rPr sz="1200" b="0">
                          <a:solidFill>
                            <a:srgbClr val="1B2430"/>
                          </a:solidFill>
                          <a:latin typeface="Calibri"/>
                        </a:rPr>
                        <a:t>13</a:t>
                      </a:r>
                    </a:p>
                  </a:txBody>
                  <a:tcPr>
                    <a:solidFill>
                      <a:srgbClr val="F1F4F8"/>
                    </a:solidFill>
                  </a:tcPr>
                </a:tc>
                <a:tc>
                  <a:txBody>
                    <a:bodyPr/>
                    <a:lstStyle/>
                    <a:p>
                      <a:r>
                        <a:rPr sz="1200" b="0">
                          <a:solidFill>
                            <a:srgbClr val="1B2430"/>
                          </a:solidFill>
                          <a:latin typeface="Calibri"/>
                        </a:rPr>
                        <a:t>Foydalanuvchi AI bilan muloqotda ekanini biladi</a:t>
                      </a:r>
                    </a:p>
                  </a:txBody>
                  <a:tcPr>
                    <a:solidFill>
                      <a:srgbClr val="F1F4F8"/>
                    </a:solidFill>
                  </a:tcPr>
                </a:tc>
                <a:tc>
                  <a:txBody>
                    <a:bodyPr/>
                    <a:lstStyle/>
                    <a:p>
                      <a:r>
                        <a:rPr sz="1200" b="0">
                          <a:solidFill>
                            <a:srgbClr val="1B2430"/>
                          </a:solidFill>
                          <a:latin typeface="Calibri"/>
                        </a:rPr>
                        <a:t>AI Act 50-m.</a:t>
                      </a:r>
                    </a:p>
                  </a:txBody>
                  <a:tcPr>
                    <a:solidFill>
                      <a:srgbClr val="F1F4F8"/>
                    </a:solidFill>
                  </a:tcPr>
                </a:tc>
              </a:tr>
              <a:tr h="520000">
                <a:tc>
                  <a:txBody>
                    <a:bodyPr/>
                    <a:lstStyle/>
                    <a:p>
                      <a:r>
                        <a:rPr sz="1200" b="0">
                          <a:solidFill>
                            <a:srgbClr val="1B2430"/>
                          </a:solidFill>
                          <a:latin typeface="Calibri"/>
                        </a:rPr>
                        <a:t>14</a:t>
                      </a:r>
                    </a:p>
                  </a:txBody>
                  <a:tcPr>
                    <a:solidFill>
                      <a:srgbClr val="FFFFFF"/>
                    </a:solidFill>
                  </a:tcPr>
                </a:tc>
                <a:tc>
                  <a:txBody>
                    <a:bodyPr/>
                    <a:lstStyle/>
                    <a:p>
                      <a:r>
                        <a:rPr sz="1200" b="0">
                          <a:solidFill>
                            <a:srgbClr val="1B2430"/>
                          </a:solidFill>
                          <a:latin typeface="Calibri"/>
                        </a:rPr>
                        <a:t>Kirish ma'lumotlari va qarorlar jurnalga yoziladi (audit izi)</a:t>
                      </a:r>
                    </a:p>
                  </a:txBody>
                  <a:tcPr>
                    <a:solidFill>
                      <a:srgbClr val="FFFFFF"/>
                    </a:solidFill>
                  </a:tcPr>
                </a:tc>
                <a:tc>
                  <a:txBody>
                    <a:bodyPr/>
                    <a:lstStyle/>
                    <a:p>
                      <a:r>
                        <a:rPr sz="1200" b="0">
                          <a:solidFill>
                            <a:srgbClr val="1B2430"/>
                          </a:solidFill>
                          <a:latin typeface="Calibri"/>
                        </a:rPr>
                        <a:t>AI Act 12-m.</a:t>
                      </a:r>
                    </a:p>
                  </a:txBody>
                  <a:tcPr>
                    <a:solidFill>
                      <a:srgbClr val="FFFFFF"/>
                    </a:solidFill>
                  </a:tcPr>
                </a:tc>
              </a:tr>
              <a:tr h="520000">
                <a:tc>
                  <a:txBody>
                    <a:bodyPr/>
                    <a:lstStyle/>
                    <a:p>
                      <a:r>
                        <a:rPr sz="1200" b="0">
                          <a:solidFill>
                            <a:srgbClr val="1B2430"/>
                          </a:solidFill>
                          <a:latin typeface="Calibri"/>
                        </a:rPr>
                        <a:t>15</a:t>
                      </a:r>
                    </a:p>
                  </a:txBody>
                  <a:tcPr>
                    <a:solidFill>
                      <a:srgbClr val="F1F4F8"/>
                    </a:solidFill>
                  </a:tcPr>
                </a:tc>
                <a:tc>
                  <a:txBody>
                    <a:bodyPr/>
                    <a:lstStyle/>
                    <a:p>
                      <a:r>
                        <a:rPr sz="1200" b="0">
                          <a:solidFill>
                            <a:srgbClr val="1B2430"/>
                          </a:solidFill>
                          <a:latin typeface="Calibri"/>
                        </a:rPr>
                        <a:t>Ishlab chiqarishda drift va adolatlilik monitoringi rejalashtirilgan</a:t>
                      </a:r>
                    </a:p>
                  </a:txBody>
                  <a:tcPr>
                    <a:solidFill>
                      <a:srgbClr val="F1F4F8"/>
                    </a:solidFill>
                  </a:tcPr>
                </a:tc>
                <a:tc>
                  <a:txBody>
                    <a:bodyPr/>
                    <a:lstStyle/>
                    <a:p>
                      <a:r>
                        <a:rPr sz="1200" b="0">
                          <a:solidFill>
                            <a:srgbClr val="1B2430"/>
                          </a:solidFill>
                          <a:latin typeface="Calibri"/>
                        </a:rPr>
                        <a:t>ISO 42001 A.6.2.6</a:t>
                      </a:r>
                    </a:p>
                  </a:txBody>
                  <a:tcPr>
                    <a:solidFill>
                      <a:srgbClr val="F1F4F8"/>
                    </a:solidFill>
                  </a:tcPr>
                </a:tc>
              </a:tr>
              <a:tr h="520000">
                <a:tc>
                  <a:txBody>
                    <a:bodyPr/>
                    <a:lstStyle/>
                    <a:p>
                      <a:r>
                        <a:rPr sz="1200" b="0">
                          <a:solidFill>
                            <a:srgbClr val="1B2430"/>
                          </a:solidFill>
                          <a:latin typeface="Calibri"/>
                        </a:rPr>
                        <a:t>16</a:t>
                      </a:r>
                    </a:p>
                  </a:txBody>
                  <a:tcPr>
                    <a:solidFill>
                      <a:srgbClr val="FFFFFF"/>
                    </a:solidFill>
                  </a:tcPr>
                </a:tc>
                <a:tc>
                  <a:txBody>
                    <a:bodyPr/>
                    <a:lstStyle/>
                    <a:p>
                      <a:r>
                        <a:rPr sz="1200" b="0">
                          <a:solidFill>
                            <a:srgbClr val="1B2430"/>
                          </a:solidFill>
                          <a:latin typeface="Calibri"/>
                        </a:rPr>
                        <a:t>Shaxsiy ma'lumotlar minimallashtirilgan, a'zolik inferensi xavfi baholangan</a:t>
                      </a:r>
                    </a:p>
                  </a:txBody>
                  <a:tcPr>
                    <a:solidFill>
                      <a:srgbClr val="FFFFFF"/>
                    </a:solidFill>
                  </a:tcPr>
                </a:tc>
                <a:tc>
                  <a:txBody>
                    <a:bodyPr/>
                    <a:lstStyle/>
                    <a:p>
                      <a:r>
                        <a:rPr sz="1200" b="0">
                          <a:solidFill>
                            <a:srgbClr val="1B2430"/>
                          </a:solidFill>
                          <a:latin typeface="Calibri"/>
                        </a:rPr>
                        <a:t>GDPR; ISO 23894</a:t>
                      </a:r>
                    </a:p>
                  </a:txBody>
                  <a:tcP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17</a:t>
                      </a:r>
                    </a:p>
                  </a:txBody>
                  <a:tcPr>
                    <a:solidFill>
                      <a:srgbClr val="F1F4F8"/>
                    </a:solidFill>
                  </a:tcPr>
                </a:tc>
                <a:tc>
                  <a:txBody>
                    <a:bodyPr/>
                    <a:lstStyle/>
                    <a:p>
                      <a:r>
                        <a:rPr sz="1200" b="0">
                          <a:solidFill>
                            <a:srgbClr val="1B2430"/>
                          </a:solidFill>
                          <a:latin typeface="Calibri"/>
                        </a:rPr>
                        <a:t>Model kartasi (model card) va ma'lumot varaqasi (datasheet) tayyorlangan</a:t>
                      </a:r>
                    </a:p>
                  </a:txBody>
                  <a:tcPr>
                    <a:solidFill>
                      <a:srgbClr val="F1F4F8"/>
                    </a:solidFill>
                  </a:tcPr>
                </a:tc>
                <a:tc>
                  <a:txBody>
                    <a:bodyPr/>
                    <a:lstStyle/>
                    <a:p>
                      <a:r>
                        <a:rPr sz="1200" b="0">
                          <a:solidFill>
                            <a:srgbClr val="1B2430"/>
                          </a:solidFill>
                          <a:latin typeface="Calibri"/>
                        </a:rPr>
                        <a:t>ISO 42001 A.6.2.7</a:t>
                      </a:r>
                    </a:p>
                  </a:txBody>
                  <a:tcPr>
                    <a:solidFill>
                      <a:srgbClr val="F1F4F8"/>
                    </a:solidFill>
                  </a:tcPr>
                </a:tc>
              </a:tr>
              <a:tr h="520000">
                <a:tc>
                  <a:txBody>
                    <a:bodyPr/>
                    <a:lstStyle/>
                    <a:p>
                      <a:r>
                        <a:rPr sz="1200" b="0">
                          <a:solidFill>
                            <a:srgbClr val="1B2430"/>
                          </a:solidFill>
                          <a:latin typeface="Calibri"/>
                        </a:rPr>
                        <a:t>18</a:t>
                      </a:r>
                    </a:p>
                  </a:txBody>
                  <a:tcPr>
                    <a:solidFill>
                      <a:srgbClr val="FFFFFF"/>
                    </a:solidFill>
                  </a:tcPr>
                </a:tc>
                <a:tc>
                  <a:txBody>
                    <a:bodyPr/>
                    <a:lstStyle/>
                    <a:p>
                      <a:r>
                        <a:rPr sz="1200" b="0">
                          <a:solidFill>
                            <a:srgbClr val="1B2430"/>
                          </a:solidFill>
                          <a:latin typeface="Calibri"/>
                        </a:rPr>
                        <a:t>Nosozlik rejimi (fallback) va o'chirish tartibi aniqlangan</a:t>
                      </a:r>
                    </a:p>
                  </a:txBody>
                  <a:tcPr>
                    <a:solidFill>
                      <a:srgbClr val="FFFFFF"/>
                    </a:solidFill>
                  </a:tcPr>
                </a:tc>
                <a:tc>
                  <a:txBody>
                    <a:bodyPr/>
                    <a:lstStyle/>
                    <a:p>
                      <a:r>
                        <a:rPr sz="1200" b="0">
                          <a:solidFill>
                            <a:srgbClr val="1B2430"/>
                          </a:solidFill>
                          <a:latin typeface="Calibri"/>
                        </a:rPr>
                        <a:t>AI Act 9-m.</a:t>
                      </a:r>
                    </a:p>
                  </a:txBody>
                  <a:tcPr>
                    <a:solidFill>
                      <a:srgbClr val="FFFFFF"/>
                    </a:solidFill>
                  </a:tcPr>
                </a:tc>
              </a:tr>
              <a:tr h="520000">
                <a:tc>
                  <a:txBody>
                    <a:bodyPr/>
                    <a:lstStyle/>
                    <a:p>
                      <a:r>
                        <a:rPr sz="1200" b="0">
                          <a:solidFill>
                            <a:srgbClr val="1B2430"/>
                          </a:solidFill>
                          <a:latin typeface="Calibri"/>
                        </a:rPr>
                        <a:t>19</a:t>
                      </a:r>
                    </a:p>
                  </a:txBody>
                  <a:tcPr>
                    <a:solidFill>
                      <a:srgbClr val="F1F4F8"/>
                    </a:solidFill>
                  </a:tcPr>
                </a:tc>
                <a:tc>
                  <a:txBody>
                    <a:bodyPr/>
                    <a:lstStyle/>
                    <a:p>
                      <a:r>
                        <a:rPr sz="1200" b="0">
                          <a:solidFill>
                            <a:srgbClr val="1B2430"/>
                          </a:solidFill>
                          <a:latin typeface="Calibri"/>
                        </a:rPr>
                        <a:t>Mas'ul shaxslar va shikoyat qilish mexanizmi belgilangan</a:t>
                      </a:r>
                    </a:p>
                  </a:txBody>
                  <a:tcPr>
                    <a:solidFill>
                      <a:srgbClr val="F1F4F8"/>
                    </a:solidFill>
                  </a:tcPr>
                </a:tc>
                <a:tc>
                  <a:txBody>
                    <a:bodyPr/>
                    <a:lstStyle/>
                    <a:p>
                      <a:r>
                        <a:rPr sz="1200" b="0">
                          <a:solidFill>
                            <a:srgbClr val="1B2430"/>
                          </a:solidFill>
                          <a:latin typeface="Calibri"/>
                        </a:rPr>
                        <a:t>ISO 42001 5.3</a:t>
                      </a:r>
                    </a:p>
                  </a:txBody>
                  <a:tcPr>
                    <a:solidFill>
                      <a:srgbClr val="F1F4F8"/>
                    </a:solidFill>
                  </a:tcPr>
                </a:tc>
              </a:tr>
              <a:tr h="520000">
                <a:tc>
                  <a:txBody>
                    <a:bodyPr/>
                    <a:lstStyle/>
                    <a:p>
                      <a:r>
                        <a:rPr sz="1200" b="0">
                          <a:solidFill>
                            <a:srgbClr val="1B2430"/>
                          </a:solidFill>
                          <a:latin typeface="Calibri"/>
                        </a:rPr>
                        <a:t>20</a:t>
                      </a:r>
                    </a:p>
                  </a:txBody>
                  <a:tcPr>
                    <a:solidFill>
                      <a:srgbClr val="FFFFFF"/>
                    </a:solidFill>
                  </a:tcPr>
                </a:tc>
                <a:tc>
                  <a:txBody>
                    <a:bodyPr/>
                    <a:lstStyle/>
                    <a:p>
                      <a:r>
                        <a:rPr sz="1200" b="0">
                          <a:solidFill>
                            <a:srgbClr val="1B2430"/>
                          </a:solidFill>
                          <a:latin typeface="Calibri"/>
                        </a:rPr>
                        <a:t>Baholash takrorlanuvchan (kod, urug', versiyalar qayd etilgan)</a:t>
                      </a:r>
                    </a:p>
                  </a:txBody>
                  <a:tcPr>
                    <a:solidFill>
                      <a:srgbClr val="FFFFFF"/>
                    </a:solidFill>
                  </a:tcPr>
                </a:tc>
                <a:tc>
                  <a:txBody>
                    <a:bodyPr/>
                    <a:lstStyle/>
                    <a:p>
                      <a:r>
                        <a:rPr sz="1200" b="0">
                          <a:solidFill>
                            <a:srgbClr val="1B2430"/>
                          </a:solidFill>
                          <a:latin typeface="Calibri"/>
                        </a:rPr>
                        <a:t>NIST RMF Measure</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qiymatlar ResNet-18/CIFAR-10 va GBM/Adult uchun taxminiy mo'ljal; talaba o'z natijalarini shu shaklda keltiradi.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Toza model</a:t>
                      </a:r>
                    </a:p>
                  </a:txBody>
                  <a:tcPr>
                    <a:solidFill>
                      <a:srgbClr val="2D5C8F"/>
                    </a:solidFill>
                  </a:tcPr>
                </a:tc>
                <a:tc>
                  <a:txBody>
                    <a:bodyPr/>
                    <a:lstStyle/>
                    <a:p>
                      <a:r>
                        <a:rPr sz="1400" b="1">
                          <a:solidFill>
                            <a:srgbClr val="FFFFFF"/>
                          </a:solidFill>
                          <a:latin typeface="Calibri"/>
                        </a:rPr>
                        <a:t>Adversarial o'qitilgan model</a:t>
                      </a:r>
                    </a:p>
                  </a:txBody>
                  <a:tcPr>
                    <a:solidFill>
                      <a:srgbClr val="2D5C8F"/>
                    </a:solidFill>
                  </a:tcPr>
                </a:tc>
              </a:tr>
              <a:tr h="520000">
                <a:tc>
                  <a:txBody>
                    <a:bodyPr/>
                    <a:lstStyle/>
                    <a:p>
                      <a:r>
                        <a:rPr sz="1400" b="0">
                          <a:solidFill>
                            <a:srgbClr val="1B2430"/>
                          </a:solidFill>
                          <a:latin typeface="Calibri"/>
                        </a:rPr>
                        <a:t>Toza aniqlik</a:t>
                      </a:r>
                    </a:p>
                  </a:txBody>
                  <a:tcPr>
                    <a:solidFill>
                      <a:srgbClr val="F1F4F8"/>
                    </a:solidFill>
                  </a:tcPr>
                </a:tc>
                <a:tc>
                  <a:txBody>
                    <a:bodyPr/>
                    <a:lstStyle/>
                    <a:p>
                      <a:r>
                        <a:rPr sz="1400" b="0">
                          <a:solidFill>
                            <a:srgbClr val="1B2430"/>
                          </a:solidFill>
                          <a:latin typeface="Calibri"/>
                        </a:rPr>
                        <a:t>91%</a:t>
                      </a:r>
                    </a:p>
                  </a:txBody>
                  <a:tcPr>
                    <a:solidFill>
                      <a:srgbClr val="F1F4F8"/>
                    </a:solidFill>
                  </a:tcPr>
                </a:tc>
                <a:tc>
                  <a:txBody>
                    <a:bodyPr/>
                    <a:lstStyle/>
                    <a:p>
                      <a:r>
                        <a:rPr sz="1400" b="0">
                          <a:solidFill>
                            <a:srgbClr val="1B2430"/>
                          </a:solidFill>
                          <a:latin typeface="Calibri"/>
                        </a:rPr>
                        <a:t>82%</a:t>
                      </a:r>
                    </a:p>
                  </a:txBody>
                  <a:tcPr>
                    <a:solidFill>
                      <a:srgbClr val="F1F4F8"/>
                    </a:solidFill>
                  </a:tcPr>
                </a:tc>
              </a:tr>
              <a:tr h="520000">
                <a:tc>
                  <a:txBody>
                    <a:bodyPr/>
                    <a:lstStyle/>
                    <a:p>
                      <a:r>
                        <a:rPr sz="1400" b="0">
                          <a:solidFill>
                            <a:srgbClr val="1B2430"/>
                          </a:solidFill>
                          <a:latin typeface="Calibri"/>
                        </a:rPr>
                        <a:t>FGSM, eps=2/255</a:t>
                      </a:r>
                    </a:p>
                  </a:txBody>
                  <a:tcPr>
                    <a:solidFill>
                      <a:srgbClr val="FFFFFF"/>
                    </a:solidFill>
                  </a:tcPr>
                </a:tc>
                <a:tc>
                  <a:txBody>
                    <a:bodyPr/>
                    <a:lstStyle/>
                    <a:p>
                      <a:r>
                        <a:rPr sz="1400" b="0">
                          <a:solidFill>
                            <a:srgbClr val="1B2430"/>
                          </a:solidFill>
                          <a:latin typeface="Calibri"/>
                        </a:rPr>
                        <a:t>60%</a:t>
                      </a:r>
                    </a:p>
                  </a:txBody>
                  <a:tcPr>
                    <a:solidFill>
                      <a:srgbClr val="FFFFFF"/>
                    </a:solidFill>
                  </a:tcPr>
                </a:tc>
                <a:tc>
                  <a:txBody>
                    <a:bodyPr/>
                    <a:lstStyle/>
                    <a:p>
                      <a:r>
                        <a:rPr sz="1400" b="0">
                          <a:solidFill>
                            <a:srgbClr val="1B2430"/>
                          </a:solidFill>
                          <a:latin typeface="Calibri"/>
                        </a:rPr>
                        <a:t>78%</a:t>
                      </a:r>
                    </a:p>
                  </a:txBody>
                  <a:tcPr>
                    <a:solidFill>
                      <a:srgbClr val="FFFFFF"/>
                    </a:solidFill>
                  </a:tcPr>
                </a:tc>
              </a:tr>
              <a:tr h="520000">
                <a:tc>
                  <a:txBody>
                    <a:bodyPr/>
                    <a:lstStyle/>
                    <a:p>
                      <a:r>
                        <a:rPr sz="1400" b="0">
                          <a:solidFill>
                            <a:srgbClr val="1B2430"/>
                          </a:solidFill>
                          <a:latin typeface="Calibri"/>
                        </a:rPr>
                        <a:t>FGSM, eps=8/255</a:t>
                      </a:r>
                    </a:p>
                  </a:txBody>
                  <a:tcPr>
                    <a:solidFill>
                      <a:srgbClr val="F1F4F8"/>
                    </a:solidFill>
                  </a:tcPr>
                </a:tc>
                <a:tc>
                  <a:txBody>
                    <a:bodyPr/>
                    <a:lstStyle/>
                    <a:p>
                      <a:r>
                        <a:rPr sz="1400" b="0">
                          <a:solidFill>
                            <a:srgbClr val="1B2430"/>
                          </a:solidFill>
                          <a:latin typeface="Calibri"/>
                        </a:rPr>
                        <a:t>20%</a:t>
                      </a:r>
                    </a:p>
                  </a:txBody>
                  <a:tcPr>
                    <a:solidFill>
                      <a:srgbClr val="F1F4F8"/>
                    </a:solidFill>
                  </a:tcPr>
                </a:tc>
                <a:tc>
                  <a:txBody>
                    <a:bodyPr/>
                    <a:lstStyle/>
                    <a:p>
                      <a:r>
                        <a:rPr sz="1400" b="0">
                          <a:solidFill>
                            <a:srgbClr val="1B2430"/>
                          </a:solidFill>
                          <a:latin typeface="Calibri"/>
                        </a:rPr>
                        <a:t>58%</a:t>
                      </a:r>
                    </a:p>
                  </a:txBody>
                  <a:tcPr>
                    <a:solidFill>
                      <a:srgbClr val="F1F4F8"/>
                    </a:solidFill>
                  </a:tcPr>
                </a:tc>
              </a:tr>
              <a:tr h="520000">
                <a:tc>
                  <a:txBody>
                    <a:bodyPr/>
                    <a:lstStyle/>
                    <a:p>
                      <a:r>
                        <a:rPr sz="1400" b="0">
                          <a:solidFill>
                            <a:srgbClr val="1B2430"/>
                          </a:solidFill>
                          <a:latin typeface="Calibri"/>
                        </a:rPr>
                        <a:t>PGD-10, eps=2/255</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75%</a:t>
                      </a:r>
                    </a:p>
                  </a:txBody>
                  <a:tcPr>
                    <a:solidFill>
                      <a:srgbClr val="FFFFFF"/>
                    </a:solidFill>
                  </a:tcPr>
                </a:tc>
              </a:tr>
              <a:tr h="520000">
                <a:tc>
                  <a:txBody>
                    <a:bodyPr/>
                    <a:lstStyle/>
                    <a:p>
                      <a:r>
                        <a:rPr sz="1400" b="0">
                          <a:solidFill>
                            <a:srgbClr val="1B2430"/>
                          </a:solidFill>
                          <a:latin typeface="Calibri"/>
                        </a:rPr>
                        <a:t>PGD-10, eps=8/255</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47%</a:t>
                      </a:r>
                    </a:p>
                  </a:txBody>
                  <a:tcPr>
                    <a:solidFill>
                      <a:srgbClr val="F1F4F8"/>
                    </a:solidFill>
                  </a:tcPr>
                </a:tc>
              </a:tr>
              <a:tr h="520000">
                <a:tc>
                  <a:txBody>
                    <a:bodyPr/>
                    <a:lstStyle/>
                    <a:p>
                      <a:r>
                        <a:rPr sz="1400" b="0">
                          <a:solidFill>
                            <a:srgbClr val="1B2430"/>
                          </a:solidFill>
                          <a:latin typeface="Calibri"/>
                        </a:rPr>
                        <a:t>PGD-10, eps=16/255</a:t>
                      </a:r>
                    </a:p>
                  </a:txBody>
                  <a:tcPr>
                    <a:solidFill>
                      <a:srgbClr val="FFFFFF"/>
                    </a:solidFill>
                  </a:tcPr>
                </a:tc>
                <a:tc>
                  <a:txBody>
                    <a:bodyPr/>
                    <a:lstStyle/>
                    <a:p>
                      <a:r>
                        <a:rPr sz="1400" b="0">
                          <a:solidFill>
                            <a:srgbClr val="1B2430"/>
                          </a:solidFill>
                          <a:latin typeface="Calibri"/>
                        </a:rPr>
                        <a:t>0%</a:t>
                      </a:r>
                    </a:p>
                  </a:txBody>
                  <a:tcPr>
                    <a:solidFill>
                      <a:srgbClr val="FFFFFF"/>
                    </a:solidFill>
                  </a:tcPr>
                </a:tc>
                <a:tc>
                  <a:txBody>
                    <a:bodyPr/>
                    <a:lstStyle/>
                    <a:p>
                      <a:r>
                        <a:rPr sz="1400" b="0">
                          <a:solidFill>
                            <a:srgbClr val="1B2430"/>
                          </a:solidFill>
                          <a:latin typeface="Calibri"/>
                        </a:rPr>
                        <a:t>18%</a:t>
                      </a:r>
                    </a:p>
                  </a:txBody>
                  <a:tcPr>
                    <a:solidFill>
                      <a:srgbClr val="FFFFFF"/>
                    </a:solidFill>
                  </a:tcPr>
                </a:tc>
              </a:tr>
              <a:tr h="520000">
                <a:tc>
                  <a:txBody>
                    <a:bodyPr/>
                    <a:lstStyle/>
                    <a:p>
                      <a:r>
                        <a:rPr sz="1400" b="0">
                          <a:solidFill>
                            <a:srgbClr val="1B2430"/>
                          </a:solidFill>
                          <a:latin typeface="Calibri"/>
                        </a:rPr>
                        <a:t>O'qitish vaqti (RTX 3090)</a:t>
                      </a:r>
                    </a:p>
                  </a:txBody>
                  <a:tcPr>
                    <a:solidFill>
                      <a:srgbClr val="F1F4F8"/>
                    </a:solidFill>
                  </a:tcPr>
                </a:tc>
                <a:tc>
                  <a:txBody>
                    <a:bodyPr/>
                    <a:lstStyle/>
                    <a:p>
                      <a:r>
                        <a:rPr sz="1400" b="0">
                          <a:solidFill>
                            <a:srgbClr val="1B2430"/>
                          </a:solidFill>
                          <a:latin typeface="Calibri"/>
                        </a:rPr>
                        <a:t>6 daq</a:t>
                      </a:r>
                    </a:p>
                  </a:txBody>
                  <a:tcPr>
                    <a:solidFill>
                      <a:srgbClr val="F1F4F8"/>
                    </a:solidFill>
                  </a:tcPr>
                </a:tc>
                <a:tc>
                  <a:txBody>
                    <a:bodyPr/>
                    <a:lstStyle/>
                    <a:p>
                      <a:r>
                        <a:rPr sz="1400" b="0">
                          <a:solidFill>
                            <a:srgbClr val="1B2430"/>
                          </a:solidFill>
                          <a:latin typeface="Calibri"/>
                        </a:rPr>
                        <a:t>50 daq</a:t>
                      </a:r>
                    </a:p>
                  </a:txBody>
                  <a:tcPr>
                    <a:solidFill>
                      <a:srgbClr val="F1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Adult, ko'rsatkich</a:t>
                      </a:r>
                    </a:p>
                  </a:txBody>
                  <a:tcPr>
                    <a:solidFill>
                      <a:srgbClr val="2D5C8F"/>
                    </a:solidFill>
                  </a:tcPr>
                </a:tc>
                <a:tc>
                  <a:txBody>
                    <a:bodyPr/>
                    <a:lstStyle/>
                    <a:p>
                      <a:r>
                        <a:rPr sz="1400" b="1">
                          <a:solidFill>
                            <a:srgbClr val="FFFFFF"/>
                          </a:solidFill>
                          <a:latin typeface="Calibri"/>
                        </a:rPr>
                        <a:t>Baseline GBM</a:t>
                      </a:r>
                    </a:p>
                  </a:txBody>
                  <a:tcPr>
                    <a:solidFill>
                      <a:srgbClr val="2D5C8F"/>
                    </a:solidFill>
                  </a:tcPr>
                </a:tc>
                <a:tc>
                  <a:txBody>
                    <a:bodyPr/>
                    <a:lstStyle/>
                    <a:p>
                      <a:r>
                        <a:rPr sz="1400" b="1">
                          <a:solidFill>
                            <a:srgbClr val="FFFFFF"/>
                          </a:solidFill>
                          <a:latin typeface="Calibri"/>
                        </a:rPr>
                        <a:t>ThresholdOptimizer</a:t>
                      </a:r>
                    </a:p>
                  </a:txBody>
                  <a:tcPr>
                    <a:solidFill>
                      <a:srgbClr val="2D5C8F"/>
                    </a:solidFill>
                  </a:tcPr>
                </a:tc>
                <a:tc>
                  <a:txBody>
                    <a:bodyPr/>
                    <a:lstStyle/>
                    <a:p>
                      <a:r>
                        <a:rPr sz="1400" b="1">
                          <a:solidFill>
                            <a:srgbClr val="FFFFFF"/>
                          </a:solidFill>
                          <a:latin typeface="Calibri"/>
                        </a:rPr>
                        <a:t>ExponentiatedGradient</a:t>
                      </a:r>
                    </a:p>
                  </a:txBody>
                  <a:tcPr>
                    <a:solidFill>
                      <a:srgbClr val="2D5C8F"/>
                    </a:solidFill>
                  </a:tcPr>
                </a:tc>
              </a:tr>
              <a:tr h="520000">
                <a:tc>
                  <a:txBody>
                    <a:bodyPr/>
                    <a:lstStyle/>
                    <a:p>
                      <a:r>
                        <a:rPr sz="1400" b="0">
                          <a:solidFill>
                            <a:srgbClr val="1B2430"/>
                          </a:solidFill>
                          <a:latin typeface="Calibri"/>
                        </a:rPr>
                        <a:t>Aniqlik</a:t>
                      </a:r>
                    </a:p>
                  </a:txBody>
                  <a:tcPr>
                    <a:solidFill>
                      <a:srgbClr val="F1F4F8"/>
                    </a:solidFill>
                  </a:tcPr>
                </a:tc>
                <a:tc>
                  <a:txBody>
                    <a:bodyPr/>
                    <a:lstStyle/>
                    <a:p>
                      <a:r>
                        <a:rPr sz="1400" b="0">
                          <a:solidFill>
                            <a:srgbClr val="1B2430"/>
                          </a:solidFill>
                          <a:latin typeface="Calibri"/>
                        </a:rPr>
                        <a:t>0.868</a:t>
                      </a:r>
                    </a:p>
                  </a:txBody>
                  <a:tcPr>
                    <a:solidFill>
                      <a:srgbClr val="F1F4F8"/>
                    </a:solidFill>
                  </a:tcPr>
                </a:tc>
                <a:tc>
                  <a:txBody>
                    <a:bodyPr/>
                    <a:lstStyle/>
                    <a:p>
                      <a:r>
                        <a:rPr sz="1400" b="0">
                          <a:solidFill>
                            <a:srgbClr val="1B2430"/>
                          </a:solidFill>
                          <a:latin typeface="Calibri"/>
                        </a:rPr>
                        <a:t>0.858</a:t>
                      </a:r>
                    </a:p>
                  </a:txBody>
                  <a:tcPr>
                    <a:solidFill>
                      <a:srgbClr val="F1F4F8"/>
                    </a:solidFill>
                  </a:tcPr>
                </a:tc>
                <a:tc>
                  <a:txBody>
                    <a:bodyPr/>
                    <a:lstStyle/>
                    <a:p>
                      <a:r>
                        <a:rPr sz="1400" b="0">
                          <a:solidFill>
                            <a:srgbClr val="1B2430"/>
                          </a:solidFill>
                          <a:latin typeface="Calibri"/>
                        </a:rPr>
                        <a:t>0.852</a:t>
                      </a:r>
                    </a:p>
                  </a:txBody>
                  <a:tcPr>
                    <a:solidFill>
                      <a:srgbClr val="F1F4F8"/>
                    </a:solidFill>
                  </a:tcPr>
                </a:tc>
              </a:tr>
              <a:tr h="520000">
                <a:tc>
                  <a:txBody>
                    <a:bodyPr/>
                    <a:lstStyle/>
                    <a:p>
                      <a:r>
                        <a:rPr sz="1400" b="0">
                          <a:solidFill>
                            <a:srgbClr val="1B2430"/>
                          </a:solidFill>
                          <a:latin typeface="Calibri"/>
                        </a:rPr>
                        <a:t>Selection rate (erkak / ayol)</a:t>
                      </a:r>
                    </a:p>
                  </a:txBody>
                  <a:tcPr>
                    <a:solidFill>
                      <a:srgbClr val="FFFFFF"/>
                    </a:solidFill>
                  </a:tcPr>
                </a:tc>
                <a:tc>
                  <a:txBody>
                    <a:bodyPr/>
                    <a:lstStyle/>
                    <a:p>
                      <a:r>
                        <a:rPr sz="1400" b="0">
                          <a:solidFill>
                            <a:srgbClr val="1B2430"/>
                          </a:solidFill>
                          <a:latin typeface="Calibri"/>
                        </a:rPr>
                        <a:t>0.25 / 0.07</a:t>
                      </a:r>
                    </a:p>
                  </a:txBody>
                  <a:tcPr>
                    <a:solidFill>
                      <a:srgbClr val="FFFFFF"/>
                    </a:solidFill>
                  </a:tcPr>
                </a:tc>
                <a:tc>
                  <a:txBody>
                    <a:bodyPr/>
                    <a:lstStyle/>
                    <a:p>
                      <a:r>
                        <a:rPr sz="1400" b="0">
                          <a:solidFill>
                            <a:srgbClr val="1B2430"/>
                          </a:solidFill>
                          <a:latin typeface="Calibri"/>
                        </a:rPr>
                        <a:t>0.21 / 0.10</a:t>
                      </a:r>
                    </a:p>
                  </a:txBody>
                  <a:tcPr>
                    <a:solidFill>
                      <a:srgbClr val="FFFFFF"/>
                    </a:solidFill>
                  </a:tcPr>
                </a:tc>
                <a:tc>
                  <a:txBody>
                    <a:bodyPr/>
                    <a:lstStyle/>
                    <a:p>
                      <a:r>
                        <a:rPr sz="1400" b="0">
                          <a:solidFill>
                            <a:srgbClr val="1B2430"/>
                          </a:solidFill>
                          <a:latin typeface="Calibri"/>
                        </a:rPr>
                        <a:t>0.20 / 0.11</a:t>
                      </a:r>
                    </a:p>
                  </a:txBody>
                  <a:tcPr>
                    <a:solidFill>
                      <a:srgbClr val="FFFFFF"/>
                    </a:solidFill>
                  </a:tcPr>
                </a:tc>
              </a:tr>
              <a:tr h="520000">
                <a:tc>
                  <a:txBody>
                    <a:bodyPr/>
                    <a:lstStyle/>
                    <a:p>
                      <a:r>
                        <a:rPr sz="1400" b="0">
                          <a:solidFill>
                            <a:srgbClr val="1B2430"/>
                          </a:solidFill>
                          <a:latin typeface="Calibri"/>
                        </a:rPr>
                        <a:t>TPR (erkak / ayol)</a:t>
                      </a:r>
                    </a:p>
                  </a:txBody>
                  <a:tcPr>
                    <a:solidFill>
                      <a:srgbClr val="F1F4F8"/>
                    </a:solidFill>
                  </a:tcPr>
                </a:tc>
                <a:tc>
                  <a:txBody>
                    <a:bodyPr/>
                    <a:lstStyle/>
                    <a:p>
                      <a:r>
                        <a:rPr sz="1400" b="0">
                          <a:solidFill>
                            <a:srgbClr val="1B2430"/>
                          </a:solidFill>
                          <a:latin typeface="Calibri"/>
                        </a:rPr>
                        <a:t>0.66 / 0.55</a:t>
                      </a:r>
                    </a:p>
                  </a:txBody>
                  <a:tcPr>
                    <a:solidFill>
                      <a:srgbClr val="F1F4F8"/>
                    </a:solidFill>
                  </a:tcPr>
                </a:tc>
                <a:tc>
                  <a:txBody>
                    <a:bodyPr/>
                    <a:lstStyle/>
                    <a:p>
                      <a:r>
                        <a:rPr sz="1400" b="0">
                          <a:solidFill>
                            <a:srgbClr val="1B2430"/>
                          </a:solidFill>
                          <a:latin typeface="Calibri"/>
                        </a:rPr>
                        <a:t>0.62 / 0.61</a:t>
                      </a:r>
                    </a:p>
                  </a:txBody>
                  <a:tcPr>
                    <a:solidFill>
                      <a:srgbClr val="F1F4F8"/>
                    </a:solidFill>
                  </a:tcPr>
                </a:tc>
                <a:tc>
                  <a:txBody>
                    <a:bodyPr/>
                    <a:lstStyle/>
                    <a:p>
                      <a:r>
                        <a:rPr sz="1400" b="0">
                          <a:solidFill>
                            <a:srgbClr val="1B2430"/>
                          </a:solidFill>
                          <a:latin typeface="Calibri"/>
                        </a:rPr>
                        <a:t>0.61 / 0.60</a:t>
                      </a:r>
                    </a:p>
                  </a:txBody>
                  <a:tcPr>
                    <a:solidFill>
                      <a:srgbClr val="F1F4F8"/>
                    </a:solidFill>
                  </a:tcPr>
                </a:tc>
              </a:tr>
              <a:tr h="520000">
                <a:tc>
                  <a:txBody>
                    <a:bodyPr/>
                    <a:lstStyle/>
                    <a:p>
                      <a:r>
                        <a:rPr sz="1400" b="0">
                          <a:solidFill>
                            <a:srgbClr val="1B2430"/>
                          </a:solidFill>
                          <a:latin typeface="Calibri"/>
                        </a:rPr>
                        <a:t>DP difference</a:t>
                      </a:r>
                    </a:p>
                  </a:txBody>
                  <a:tcPr>
                    <a:solidFill>
                      <a:srgbClr val="FFFFFF"/>
                    </a:solidFill>
                  </a:tcPr>
                </a:tc>
                <a:tc>
                  <a:txBody>
                    <a:bodyPr/>
                    <a:lstStyle/>
                    <a:p>
                      <a:r>
                        <a:rPr sz="1400" b="0">
                          <a:solidFill>
                            <a:srgbClr val="1B2430"/>
                          </a:solidFill>
                          <a:latin typeface="Calibri"/>
                        </a:rPr>
                        <a:t>0.18</a:t>
                      </a:r>
                    </a:p>
                  </a:txBody>
                  <a:tcPr>
                    <a:solidFill>
                      <a:srgbClr val="FFFFFF"/>
                    </a:solidFill>
                  </a:tcPr>
                </a:tc>
                <a:tc>
                  <a:txBody>
                    <a:bodyPr/>
                    <a:lstStyle/>
                    <a:p>
                      <a:r>
                        <a:rPr sz="1400" b="0">
                          <a:solidFill>
                            <a:srgbClr val="1B2430"/>
                          </a:solidFill>
                          <a:latin typeface="Calibri"/>
                        </a:rPr>
                        <a:t>0.11</a:t>
                      </a:r>
                    </a:p>
                  </a:txBody>
                  <a:tcPr>
                    <a:solidFill>
                      <a:srgbClr val="FFFFFF"/>
                    </a:solidFill>
                  </a:tcPr>
                </a:tc>
                <a:tc>
                  <a:txBody>
                    <a:bodyPr/>
                    <a:lstStyle/>
                    <a:p>
                      <a:r>
                        <a:rPr sz="1400" b="0">
                          <a:solidFill>
                            <a:srgbClr val="1B2430"/>
                          </a:solidFill>
                          <a:latin typeface="Calibri"/>
                        </a:rPr>
                        <a:t>0.09</a:t>
                      </a:r>
                    </a:p>
                  </a:txBody>
                  <a:tcPr>
                    <a:solidFill>
                      <a:srgbClr val="FFFFFF"/>
                    </a:solidFill>
                  </a:tcPr>
                </a:tc>
              </a:tr>
              <a:tr h="520000">
                <a:tc>
                  <a:txBody>
                    <a:bodyPr/>
                    <a:lstStyle/>
                    <a:p>
                      <a:r>
                        <a:rPr sz="1400" b="0">
                          <a:solidFill>
                            <a:srgbClr val="1B2430"/>
                          </a:solidFill>
                          <a:latin typeface="Calibri"/>
                        </a:rPr>
                        <a:t>EO difference</a:t>
                      </a:r>
                    </a:p>
                  </a:txBody>
                  <a:tcPr>
                    <a:solidFill>
                      <a:srgbClr val="F1F4F8"/>
                    </a:solidFill>
                  </a:tcPr>
                </a:tc>
                <a:tc>
                  <a:txBody>
                    <a:bodyPr/>
                    <a:lstStyle/>
                    <a:p>
                      <a:r>
                        <a:rPr sz="1400" b="0">
                          <a:solidFill>
                            <a:srgbClr val="1B2430"/>
                          </a:solidFill>
                          <a:latin typeface="Calibri"/>
                        </a:rPr>
                        <a:t>0.11</a:t>
                      </a:r>
                    </a:p>
                  </a:txBody>
                  <a:tcPr>
                    <a:solidFill>
                      <a:srgbClr val="F1F4F8"/>
                    </a:solidFill>
                  </a:tcPr>
                </a:tc>
                <a:tc>
                  <a:txBody>
                    <a:bodyPr/>
                    <a:lstStyle/>
                    <a:p>
                      <a:r>
                        <a:rPr sz="1400" b="0">
                          <a:solidFill>
                            <a:srgbClr val="1B2430"/>
                          </a:solidFill>
                          <a:latin typeface="Calibri"/>
                        </a:rPr>
                        <a:t>0.02</a:t>
                      </a:r>
                    </a:p>
                  </a:txBody>
                  <a:tcPr>
                    <a:solidFill>
                      <a:srgbClr val="F1F4F8"/>
                    </a:solidFill>
                  </a:tcPr>
                </a:tc>
                <a:tc>
                  <a:txBody>
                    <a:bodyPr/>
                    <a:lstStyle/>
                    <a:p>
                      <a:r>
                        <a:rPr sz="1400" b="0">
                          <a:solidFill>
                            <a:srgbClr val="1B2430"/>
                          </a:solidFill>
                          <a:latin typeface="Calibri"/>
                        </a:rPr>
                        <a:t>0.02</a:t>
                      </a:r>
                    </a:p>
                  </a:txBody>
                  <a:tcPr>
                    <a:solidFill>
                      <a:srgbClr val="F1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Tahdid modeli: hujumchi bilimi, buzilish normasi va epsilon, himoya chorasi (yarim sahifa).</a:t>
            </a:r>
          </a:p>
          <a:p>
            <a:pPr>
              <a:spcAft>
                <a:spcPts val="900"/>
              </a:spcAft>
            </a:pPr>
            <a:r>
              <a:rPr sz="1800" b="1">
                <a:solidFill>
                  <a:srgbClr val="0F8B8D"/>
                </a:solidFill>
              </a:rPr>
              <a:t>▪  </a:t>
            </a:r>
            <a:r>
              <a:rPr sz="1800">
                <a:solidFill>
                  <a:srgbClr val="1B2430"/>
                </a:solidFill>
                <a:latin typeface="Calibri"/>
              </a:rPr>
              <a:t>Mustahkamlik egri chizig'i: epsilon ga bog'liq aniqlik grafigi (FGSM va PGD, toza va adversarial model — 4 chiziq) + jadval.</a:t>
            </a:r>
          </a:p>
          <a:p>
            <a:pPr>
              <a:spcAft>
                <a:spcPts val="900"/>
              </a:spcAft>
            </a:pPr>
            <a:r>
              <a:rPr sz="1800" b="1">
                <a:solidFill>
                  <a:srgbClr val="0F8B8D"/>
                </a:solidFill>
              </a:rPr>
              <a:t>▪  </a:t>
            </a:r>
            <a:r>
              <a:rPr sz="1800">
                <a:solidFill>
                  <a:srgbClr val="1B2430"/>
                </a:solidFill>
                <a:latin typeface="Calibri"/>
              </a:rPr>
              <a:t>Grad-CAM paneli (kamida 8 namuna, toza va adversarial) va kuzatuvlar tahlili.</a:t>
            </a:r>
          </a:p>
          <a:p>
            <a:pPr>
              <a:spcAft>
                <a:spcPts val="900"/>
              </a:spcAft>
            </a:pPr>
            <a:r>
              <a:rPr sz="1800" b="1">
                <a:solidFill>
                  <a:srgbClr val="0F8B8D"/>
                </a:solidFill>
              </a:rPr>
              <a:t>▪  </a:t>
            </a:r>
            <a:r>
              <a:rPr sz="1800">
                <a:solidFill>
                  <a:srgbClr val="1B2430"/>
                </a:solidFill>
                <a:latin typeface="Calibri"/>
              </a:rPr>
              <a:t>Adolatlilik jadvali (uchta model), SHAP beeswarm grafigi, vakil belgilar tahlili, tanlangan mezon asosi.</a:t>
            </a:r>
          </a:p>
          <a:p>
            <a:pPr>
              <a:spcAft>
                <a:spcPts val="900"/>
              </a:spcAft>
            </a:pPr>
            <a:r>
              <a:rPr sz="1800" b="1">
                <a:solidFill>
                  <a:srgbClr val="0F8B8D"/>
                </a:solidFill>
              </a:rPr>
              <a:t>▪  </a:t>
            </a:r>
            <a:r>
              <a:rPr sz="1800">
                <a:solidFill>
                  <a:srgbClr val="1B2430"/>
                </a:solidFill>
                <a:latin typeface="Calibri"/>
              </a:rPr>
              <a:t>To'ldirilgan 20 bandli tekshiruv ro'yxati dalillar bilan.</a:t>
            </a:r>
          </a:p>
          <a:p>
            <a:pPr>
              <a:spcAft>
                <a:spcPts val="900"/>
              </a:spcAft>
            </a:pPr>
            <a:r>
              <a:rPr sz="1800" b="1">
                <a:solidFill>
                  <a:srgbClr val="0F8B8D"/>
                </a:solidFill>
              </a:rPr>
              <a:t>▪  </a:t>
            </a:r>
            <a:r>
              <a:rPr sz="1800">
                <a:solidFill>
                  <a:srgbClr val="1B2430"/>
                </a:solidFill>
                <a:latin typeface="Calibri"/>
              </a:rPr>
              <a:t>Xulosa: tizim qaysi sharoitda ishlatilishi mumkin va qaysi sharoitda mumkin emas.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FGSM/PGD qo'lda to'g'ri amalga oshirilgan, torchattacks bilan mos (1% ichida)</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Mustahkamlik egri chizig'i to'liq (5 epsilon × 2 hujum × 2 model)</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Adversarial o'qitish bajarilgan, muroza miqdoriy ko'rsatilgan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Grad-CAM paneli va tahlil (xarita ko'chishi izohlangan)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Fairlearn: MetricFrame, 2 ta tuzatish usuli, mezon tanlovi asoslangan</a:t>
                      </a:r>
                    </a:p>
                  </a:txBody>
                  <a:tcPr>
                    <a:solidFill>
                      <a:srgbClr val="F1F4F8"/>
                    </a:solidFill>
                  </a:tcPr>
                </a:tc>
                <a:tc>
                  <a:txBody>
                    <a:bodyPr/>
                    <a:lstStyle/>
                    <a:p>
                      <a:r>
                        <a:rPr sz="1200" b="0">
                          <a:solidFill>
                            <a:srgbClr val="1B2430"/>
                          </a:solidFill>
                          <a:latin typeface="Calibri"/>
                        </a:rPr>
                        <a:t>20</a:t>
                      </a:r>
                    </a:p>
                  </a:txBody>
                  <a:tcPr>
                    <a:solidFill>
                      <a:srgbClr val="F1F4F8"/>
                    </a:solidFill>
                  </a:tcPr>
                </a:tc>
              </a:tr>
              <a:tr h="520000">
                <a:tc>
                  <a:txBody>
                    <a:bodyPr/>
                    <a:lstStyle/>
                    <a:p>
                      <a:r>
                        <a:rPr sz="1200" b="0">
                          <a:solidFill>
                            <a:srgbClr val="1B2430"/>
                          </a:solidFill>
                          <a:latin typeface="Calibri"/>
                        </a:rPr>
                        <a:t>SHAP tahlili va vakil belgilar (proxy)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Etik tekshiruv ro'yxati dalillar bilan to'ldirilgan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Hisobot sifati, takrorlanuvchanlik (urug', versiyalar)</a:t>
                      </a:r>
                    </a:p>
                  </a:txBody>
                  <a:tcPr>
                    <a:solidFill>
                      <a:srgbClr val="FFFFFF"/>
                    </a:solidFill>
                  </a:tcPr>
                </a:tc>
                <a:tc>
                  <a:txBody>
                    <a:bodyPr/>
                    <a:lstStyle/>
                    <a:p>
                      <a:r>
                        <a:rPr sz="1200" b="0">
                          <a:solidFill>
                            <a:srgbClr val="1B2430"/>
                          </a:solidFill>
                          <a:latin typeface="Calibri"/>
                        </a:rPr>
                        <a:t>10</a:t>
                      </a:r>
                    </a:p>
                  </a:txBody>
                  <a:tcP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Mustahkamlik natijalari ko'rsatadiki, standart o'qitilgan model L_inf buzilishining juda kichik qiymatlarida ham ishonchsiz: epsilon = 2/255 (255 darajali shkalada 2 birlik, inson ko'zi…</a:t>
            </a:r>
          </a:p>
          <a:p>
            <a:pPr>
              <a:spcAft>
                <a:spcPts val="900"/>
              </a:spcAft>
            </a:pPr>
            <a:r>
              <a:rPr sz="1800" b="1">
                <a:solidFill>
                  <a:srgbClr val="0F8B8D"/>
                </a:solidFill>
              </a:rPr>
              <a:t>▪  </a:t>
            </a:r>
            <a:r>
              <a:rPr sz="1800">
                <a:solidFill>
                  <a:srgbClr val="1B2430"/>
                </a:solidFill>
                <a:latin typeface="Calibri"/>
              </a:rPr>
              <a:t>Muhim cheklov: adversarial o'qitish faqat o'qitilgan tahdid modeli doirasida himoya beradi.</a:t>
            </a:r>
          </a:p>
          <a:p>
            <a:pPr>
              <a:spcAft>
                <a:spcPts val="900"/>
              </a:spcAft>
            </a:pPr>
            <a:r>
              <a:rPr sz="1800" b="1">
                <a:solidFill>
                  <a:srgbClr val="0F8B8D"/>
                </a:solidFill>
              </a:rPr>
              <a:t>▪  </a:t>
            </a:r>
            <a:r>
              <a:rPr sz="1800">
                <a:solidFill>
                  <a:srgbClr val="1B2430"/>
                </a:solidFill>
                <a:latin typeface="Calibri"/>
              </a:rPr>
              <a:t>XAI tahlili modelning haqiqiy asoslarini ochib beradi va ayni paytda uning chegaralarini ko'rsatadi.</a:t>
            </a:r>
          </a:p>
          <a:p>
            <a:pPr>
              <a:spcAft>
                <a:spcPts val="900"/>
              </a:spcAft>
            </a:pPr>
            <a:r>
              <a:rPr sz="1800" b="1">
                <a:solidFill>
                  <a:srgbClr val="0F8B8D"/>
                </a:solidFill>
              </a:rPr>
              <a:t>▪  </a:t>
            </a:r>
            <a:r>
              <a:rPr sz="1800">
                <a:solidFill>
                  <a:srgbClr val="1B2430"/>
                </a:solidFill>
                <a:latin typeface="Calibri"/>
              </a:rPr>
              <a:t>Adolatlilik natijalari eng muhim uslubiy xulosani beradi: «sezgir atributni olib tashlash» (fairness through unawareness) ishlamaydi, chunki SHAP vakil belgilar orqali ta'sir saqlanishini…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Hujumni normallashtirilgan fazoda bajarish. epsilon = 8/255 faqat [0, 1] piksel fazosida ma'noga ega; normalizatsiya tashqarida bo'lsa, hujum haqiqatdan 4 baravar kuchliroq yoki kuchsizroq…</a:t>
            </a:r>
          </a:p>
          <a:p>
            <a:pPr>
              <a:spcAft>
                <a:spcPts val="900"/>
              </a:spcAft>
            </a:pPr>
            <a:r>
              <a:rPr sz="1600" b="1">
                <a:solidFill>
                  <a:srgbClr val="0F8B8D"/>
                </a:solidFill>
              </a:rPr>
              <a:t>▪  </a:t>
            </a:r>
            <a:r>
              <a:rPr sz="1600">
                <a:solidFill>
                  <a:srgbClr val="1B2430"/>
                </a:solidFill>
                <a:latin typeface="Calibri"/>
              </a:rPr>
              <a:t>Hujumda model.train() rejimi. BatchNorm va Dropout tasodifiylik kiritadi, gradientlar noto'g'ri bo'ladi, hujum zaiflashadi va «soxta mustahkamlik» ko'rinadi. Hujum yasashdan oldin doimo…</a:t>
            </a:r>
          </a:p>
          <a:p>
            <a:pPr>
              <a:spcAft>
                <a:spcPts val="900"/>
              </a:spcAft>
            </a:pPr>
            <a:r>
              <a:rPr sz="1600" b="1">
                <a:solidFill>
                  <a:srgbClr val="0F8B8D"/>
                </a:solidFill>
              </a:rPr>
              <a:t>▪  </a:t>
            </a:r>
            <a:r>
              <a:rPr sz="1600">
                <a:solidFill>
                  <a:srgbClr val="1B2430"/>
                </a:solidFill>
                <a:latin typeface="Calibri"/>
              </a:rPr>
              <a:t>Gradient yashirishni himoya deb qabul qilish. Kirishga kvantlash yoki tasodifiy transformatsiya qo'shilganda PGD aniqligi oshgandek ko'rinadi, lekin BPDA/EOT moslashuvchan hujumlar uni…</a:t>
            </a:r>
          </a:p>
          <a:p>
            <a:pPr>
              <a:spcAft>
                <a:spcPts val="900"/>
              </a:spcAft>
            </a:pPr>
            <a:r>
              <a:rPr sz="1600" b="1">
                <a:solidFill>
                  <a:srgbClr val="0F8B8D"/>
                </a:solidFill>
              </a:rPr>
              <a:t>▪  </a:t>
            </a:r>
            <a:r>
              <a:rPr sz="1600">
                <a:solidFill>
                  <a:srgbClr val="1B2430"/>
                </a:solidFill>
                <a:latin typeface="Calibri"/>
              </a:rPr>
              <a:t>Bitta epsilon da baholash. Mustahkamlik — egri chiziq, nuqta emas. Kamida 4–5 epsilon qiymati va kamida ikkita hujum turi.</a:t>
            </a:r>
          </a:p>
          <a:p>
            <a:pPr>
              <a:spcAft>
                <a:spcPts val="900"/>
              </a:spcAft>
            </a:pPr>
            <a:r>
              <a:rPr sz="1600" b="1">
                <a:solidFill>
                  <a:srgbClr val="0F8B8D"/>
                </a:solidFill>
              </a:rPr>
              <a:t>▪  </a:t>
            </a:r>
            <a:r>
              <a:rPr sz="1600">
                <a:solidFill>
                  <a:srgbClr val="1B2430"/>
                </a:solidFill>
                <a:latin typeface="Calibri"/>
              </a:rPr>
              <a:t>Grad-CAM uchun noto'g'ri qatlam. Juda erta qatlam — shovqinli xarita, juda kech (to'liq bog'langan) — xarita yo'q. Oxirgi konvolyutsion blok (ResNet'da layer4[-1]) standart tanlov; ViT…</a:t>
            </a:r>
          </a:p>
          <a:p>
            <a:pPr>
              <a:spcAft>
                <a:spcPts val="900"/>
              </a:spcAft>
            </a:pPr>
            <a:r>
              <a:rPr sz="1600" b="1">
                <a:solidFill>
                  <a:srgbClr val="0F8B8D"/>
                </a:solidFill>
              </a:rPr>
              <a:t>▪  </a:t>
            </a:r>
            <a:r>
              <a:rPr sz="1600">
                <a:solidFill>
                  <a:srgbClr val="1B2430"/>
                </a:solidFill>
                <a:latin typeface="Calibri"/>
              </a:rPr>
              <a:t>SHAP'ni butun test to'plamida KernelSHAP bilan hisoblash. Soatlab vaqt oladi. Daraxt modellari uchun TreeSHAP, neyron tarmoqlar uchun DeepSHAP/GradientSHAP; KernelSHAP faqat kichik tanlanma…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Sezgir atributni o'chirib «adolatli» deb e'lon qilish. Vakil belgilar ta'sirni saqlaydi; har doim guruhlar kesimida o'lchang, atribut modelda bo'lmasa ham baholashda ishlating.</a:t>
            </a:r>
          </a:p>
          <a:p>
            <a:pPr>
              <a:spcAft>
                <a:spcPts val="900"/>
              </a:spcAft>
            </a:pPr>
            <a:r>
              <a:rPr sz="1800" b="1">
                <a:solidFill>
                  <a:srgbClr val="0F8B8D"/>
                </a:solidFill>
              </a:rPr>
              <a:t>▪  </a:t>
            </a:r>
            <a:r>
              <a:rPr sz="1800">
                <a:solidFill>
                  <a:srgbClr val="1B2430"/>
                </a:solidFill>
                <a:latin typeface="Calibri"/>
              </a:rPr>
              <a:t>Adolatlilik mezonini asoslamasdan tanlash. Demografik paritet va tenglashtirilgan koeffitsiyentlar qarama-qarshi tuzatishlar talab qilishi mumkin. Mezonni masala va zarar turi (noto'g'ri…</a:t>
            </a:r>
          </a:p>
          <a:p>
            <a:pPr>
              <a:spcAft>
                <a:spcPts val="900"/>
              </a:spcAft>
            </a:pPr>
            <a:r>
              <a:rPr sz="1800" b="1">
                <a:solidFill>
                  <a:srgbClr val="0F8B8D"/>
                </a:solidFill>
              </a:rPr>
              <a:t>▪  </a:t>
            </a:r>
            <a:r>
              <a:rPr sz="1800">
                <a:solidFill>
                  <a:srgbClr val="1B2430"/>
                </a:solidFill>
                <a:latin typeface="Calibri"/>
              </a:rPr>
              <a:t>Kichik guruhlarda shovqinli metrika. Agar guruhda 50 tadan kam namuna bo'lsa, TPR farqi tasodifiy bo'lishi mumkin; ishonch intervallarini (bootstrap) keltiring.</a:t>
            </a:r>
          </a:p>
          <a:p>
            <a:pPr>
              <a:spcAft>
                <a:spcPts val="900"/>
              </a:spcAft>
            </a:pPr>
            <a:r>
              <a:rPr sz="1800" b="1">
                <a:solidFill>
                  <a:srgbClr val="0F8B8D"/>
                </a:solidFill>
              </a:rPr>
              <a:t>▪  </a:t>
            </a:r>
            <a:r>
              <a:rPr sz="1800">
                <a:solidFill>
                  <a:srgbClr val="1B2430"/>
                </a:solidFill>
                <a:latin typeface="Calibri"/>
              </a:rPr>
              <a:t>Tekshiruv ro'yxatini rasmiyat uchun to'ldirish. Har band dalil (fayl, grafik, raqam, mas'ul shaxs) talab qiladi; dalilsiz «bajarilgan» belgi auditda qabul qilinmaydi.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Nima uchun yuqori o'lchamli kirish fazosida chiziqli modellar ham adversarial misollarga zaif? Goodfellow'ning «chiziqlilik gipotezasi»ni epsilon  ||w||_1 ifodasi orqali tushuntiring.</a:t>
            </a:r>
          </a:p>
          <a:p>
            <a:pPr>
              <a:spcAft>
                <a:spcPts val="900"/>
              </a:spcAft>
            </a:pPr>
            <a:r>
              <a:rPr sz="1600" b="1">
                <a:solidFill>
                  <a:srgbClr val="0F8B8D"/>
                </a:solidFill>
              </a:rPr>
              <a:t>▪  </a:t>
            </a:r>
            <a:r>
              <a:rPr sz="1600">
                <a:solidFill>
                  <a:srgbClr val="1B2430"/>
                </a:solidFill>
                <a:latin typeface="Calibri"/>
              </a:rPr>
              <a:t>PGD ning tasodifiy boshlang'ich nuqtasi nima uchun muhim? Usiz qanday holda PGD FGSM dan kuchsizroq chiqishi mumkin?</a:t>
            </a:r>
          </a:p>
          <a:p>
            <a:pPr>
              <a:spcAft>
                <a:spcPts val="900"/>
              </a:spcAft>
            </a:pPr>
            <a:r>
              <a:rPr sz="1600" b="1">
                <a:solidFill>
                  <a:srgbClr val="0F8B8D"/>
                </a:solidFill>
              </a:rPr>
              <a:t>▪  </a:t>
            </a:r>
            <a:r>
              <a:rPr sz="1600">
                <a:solidFill>
                  <a:srgbClr val="1B2430"/>
                </a:solidFill>
                <a:latin typeface="Calibri"/>
              </a:rPr>
              <a:t>Adversarial o'qitish toza aniqlikni pasaytiradi. Bu muroza fundamental (nazariy) xususiyatmi yoki hozirgi usullarning cheklovimi? Dalillar keltiring.</a:t>
            </a:r>
          </a:p>
          <a:p>
            <a:pPr>
              <a:spcAft>
                <a:spcPts val="900"/>
              </a:spcAft>
            </a:pPr>
            <a:r>
              <a:rPr sz="1600" b="1">
                <a:solidFill>
                  <a:srgbClr val="0F8B8D"/>
                </a:solidFill>
              </a:rPr>
              <a:t>▪  </a:t>
            </a:r>
            <a:r>
              <a:rPr sz="1600">
                <a:solidFill>
                  <a:srgbClr val="1B2430"/>
                </a:solidFill>
                <a:latin typeface="Calibri"/>
              </a:rPr>
              <a:t>Qora quti sharoitda (faqat API) hujumchi qanday strategiyalarni qo'llaydi va tizim egasi qaysi choralar bilan ularni qiyinlashtira oladi (so'rov limiti, chiqishni yaxlitlash, detektorlar)?…</a:t>
            </a:r>
          </a:p>
          <a:p>
            <a:pPr>
              <a:spcAft>
                <a:spcPts val="900"/>
              </a:spcAft>
            </a:pPr>
            <a:r>
              <a:rPr sz="1600" b="1">
                <a:solidFill>
                  <a:srgbClr val="0F8B8D"/>
                </a:solidFill>
              </a:rPr>
              <a:t>▪  </a:t>
            </a:r>
            <a:r>
              <a:rPr sz="1600">
                <a:solidFill>
                  <a:srgbClr val="1B2430"/>
                </a:solidFill>
                <a:latin typeface="Calibri"/>
              </a:rPr>
              <a:t>Grad-CAM xaritasi «to'g'ri joyga» qaragan bo'lsa, bu modelning to'g'ri sababga asoslanganini kafolatlaydimi? Sodiqlik (faithfulness) va ishonarlilik (plausibility) tushunchalarini farqlang.</a:t>
            </a:r>
          </a:p>
          <a:p>
            <a:pPr>
              <a:spcAft>
                <a:spcPts val="900"/>
              </a:spcAft>
            </a:pPr>
            <a:r>
              <a:rPr sz="1600" b="1">
                <a:solidFill>
                  <a:srgbClr val="0F8B8D"/>
                </a:solidFill>
              </a:rPr>
              <a:t>▪  </a:t>
            </a:r>
            <a:r>
              <a:rPr sz="1600">
                <a:solidFill>
                  <a:srgbClr val="1B2430"/>
                </a:solidFill>
                <a:latin typeface="Calibri"/>
              </a:rPr>
              <a:t>SHAP qiymatlari belgilar o'rtasida kuchli korrelyatsiya bo'lganda qanday chalg'itishi mumkin? Adult misolida relationship va sex belgilarini muhokama qiling.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Kalibrlash va tenglashtirilgan koeffitsiyentlar bir vaqtda qondirilmasligini intuitiv tushuntiring. Qaysi masala uchun qaysi birini tanlaysiz: kredit skoringi, saraton skriningi, retsidiv…</a:t>
            </a:r>
          </a:p>
          <a:p>
            <a:pPr>
              <a:spcAft>
                <a:spcPts val="900"/>
              </a:spcAft>
            </a:pPr>
            <a:r>
              <a:rPr sz="1800" b="1">
                <a:solidFill>
                  <a:srgbClr val="0F8B8D"/>
                </a:solidFill>
              </a:rPr>
              <a:t>▪  </a:t>
            </a:r>
            <a:r>
              <a:rPr sz="1800">
                <a:solidFill>
                  <a:srgbClr val="1B2430"/>
                </a:solidFill>
                <a:latin typeface="Calibri"/>
              </a:rPr>
              <a:t>Post-processing tuzatish inferens vaqtida sezgir atributni talab qiladi. Bu qanday huquqiy va texnik muammolar tug'diradi va in-processing bu muammolarni qanday hal qiladi?</a:t>
            </a:r>
          </a:p>
          <a:p>
            <a:pPr>
              <a:spcAft>
                <a:spcPts val="900"/>
              </a:spcAft>
            </a:pPr>
            <a:r>
              <a:rPr sz="1800" b="1">
                <a:solidFill>
                  <a:srgbClr val="0F8B8D"/>
                </a:solidFill>
              </a:rPr>
              <a:t>▪  </a:t>
            </a:r>
            <a:r>
              <a:rPr sz="1800">
                <a:solidFill>
                  <a:srgbClr val="1B2430"/>
                </a:solidFill>
                <a:latin typeface="Calibri"/>
              </a:rPr>
              <a:t>EU AI Act bo'yicha laboratoriyada qurilgan Adult-modeli qaysi xavf toifasiga kiradi, agar u bank tomonidan kredit qarorida ishlatilsa? Qaysi moddalar talablari tizimga bevosita qo'llanadi?</a:t>
            </a:r>
          </a:p>
          <a:p>
            <a:pPr>
              <a:spcAft>
                <a:spcPts val="900"/>
              </a:spcAft>
            </a:pPr>
            <a:r>
              <a:rPr sz="1800" b="1">
                <a:solidFill>
                  <a:srgbClr val="0F8B8D"/>
                </a:solidFill>
              </a:rPr>
              <a:t>▪  </a:t>
            </a:r>
            <a:r>
              <a:rPr sz="1800">
                <a:solidFill>
                  <a:srgbClr val="1B2430"/>
                </a:solidFill>
                <a:latin typeface="Calibri"/>
              </a:rPr>
              <a:t>Model kartasi (model card) nima uchun ishonchlilik vositasi hisoblanadi? Unda mustahkamlik va adolatlilik natijalari qanday shaklda keltirilishi kerak?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(majburiy). A5 mashg'ulotidagi yoki o'zingiz tanlagan boshqa tasvir to'plami (masalan, GTSRB yo'l belgilari) uchun to'liq mustahkamlik baholashini o'tkazing: FGSM, PGD-20, AutoAttack (standart versiya) — toza va adversarial o'qitilgan model uchun;…</a:t>
            </a:r>
          </a:p>
          <a:p>
            <a:pPr>
              <a:spcAft>
                <a:spcPts val="900"/>
              </a:spcAft>
            </a:pPr>
            <a:r>
              <a:rPr sz="2000" b="1">
                <a:solidFill>
                  <a:srgbClr val="0F8B8D"/>
                </a:solidFill>
              </a:rPr>
              <a:t>▪  </a:t>
            </a:r>
            <a:r>
              <a:rPr sz="2000">
                <a:solidFill>
                  <a:srgbClr val="1B2430"/>
                </a:solidFill>
                <a:latin typeface="Calibri"/>
              </a:rPr>
              <a:t>2-topshiriq (mustaqil ta'lim 6-topshiriq bilan bog'liq). O'zbekistonda real qo'llanilishi mumkin bo'lgan yuqori xavfli AI tizimi (masalan, mikrokredit skoringi, universitetga qabul saralash yoki tibbiy tasvir triaji) uchun ISO/IEC 42001, ISO/IEC 23894 va EU…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(fan saytidagi «Virtual laboratoriya» bo'limi, CPU sandbox: 2 yadro, GPU va tarmoq yo'q). Har biri laboratoriya bosqichlari kodini o'zgartirish orqali bajariladi; to'liq matn, kutilgan natija va hisobot…</a:t>
            </a:r>
          </a:p>
          <a:p>
            <a:pPr>
              <a:spcAft>
                <a:spcPts val="900"/>
              </a:spcAft>
            </a:pPr>
            <a:r>
              <a:rPr sz="2000" b="1">
                <a:solidFill>
                  <a:srgbClr val="0F8B8D"/>
                </a:solidFill>
              </a:rPr>
              <a:t>▪  </a:t>
            </a:r>
            <a:r>
              <a:rPr sz="2000">
                <a:solidFill>
                  <a:srgbClr val="1B2430"/>
                </a:solidFill>
                <a:latin typeface="Calibri"/>
              </a:rPr>
              <a:t>Eslatma: topshiriqlar natijasi (jadval, grafik, qisqa xulosa) virtual laboratoriya muhitidan hisobotga ko'chiriladi; GPU klasteri talab qiladigan o'lchovlar bu bo'limga kiritilmagan.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t>
                      </a:r>
                    </a:p>
                  </a:txBody>
                  <a:tcPr>
                    <a:solidFill>
                      <a:srgbClr val="2D5C8F"/>
                    </a:solidFill>
                  </a:tcPr>
                </a:tc>
                <a:tc>
                  <a:txBody>
                    <a:bodyPr/>
                    <a:lstStyle/>
                    <a:p>
                      <a:r>
                        <a:rPr sz="1400" b="1">
                          <a:solidFill>
                            <a:srgbClr val="FFFFFF"/>
                          </a:solidFill>
                          <a:latin typeface="Calibri"/>
                        </a:rPr>
                        <a:t>Topshiriq</a:t>
                      </a:r>
                    </a:p>
                  </a:txBody>
                  <a:tcPr>
                    <a:solidFill>
                      <a:srgbClr val="2D5C8F"/>
                    </a:solidFill>
                  </a:tcPr>
                </a:tc>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Ball</a:t>
                      </a:r>
                    </a:p>
                  </a:txBody>
                  <a:tcPr>
                    <a:solidFill>
                      <a:srgbClr val="2D5C8F"/>
                    </a:solidFill>
                  </a:tcPr>
                </a:tc>
              </a:tr>
              <a:tr h="520000">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Epsilon to'rini kengaytirish</a:t>
                      </a:r>
                    </a:p>
                  </a:txBody>
                  <a:tcPr>
                    <a:solidFill>
                      <a:srgbClr val="F1F4F8"/>
                    </a:solidFill>
                  </a:tcPr>
                </a:tc>
                <a:tc>
                  <a:txBody>
                    <a:bodyPr/>
                    <a:lstStyle/>
                    <a:p>
                      <a:r>
                        <a:rPr sz="1400" b="0">
                          <a:solidFill>
                            <a:srgbClr val="1B2430"/>
                          </a:solidFill>
                          <a:latin typeface="Calibri"/>
                        </a:rPr>
                        <a:t>oson</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Guruhlar kesimida metrikalar</a:t>
                      </a:r>
                    </a:p>
                  </a:txBody>
                  <a:tcPr>
                    <a:solidFill>
                      <a:srgbClr val="FFFFFF"/>
                    </a:solidFill>
                  </a:tcPr>
                </a:tc>
                <a:tc>
                  <a:txBody>
                    <a:bodyPr/>
                    <a:lstStyle/>
                    <a:p>
                      <a:r>
                        <a:rPr sz="1400" b="0">
                          <a:solidFill>
                            <a:srgbClr val="1B2430"/>
                          </a:solidFill>
                          <a:latin typeface="Calibri"/>
                        </a:rPr>
                        <a:t>oson</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3</a:t>
                      </a:r>
                    </a:p>
                  </a:txBody>
                  <a:tcPr>
                    <a:solidFill>
                      <a:srgbClr val="F1F4F8"/>
                    </a:solidFill>
                  </a:tcPr>
                </a:tc>
                <a:tc>
                  <a:txBody>
                    <a:bodyPr/>
                    <a:lstStyle/>
                    <a:p>
                      <a:r>
                        <a:rPr sz="1400" b="0">
                          <a:solidFill>
                            <a:srgbClr val="1B2430"/>
                          </a:solidFill>
                          <a:latin typeface="Calibri"/>
                        </a:rPr>
                        <a:t>SHAP lokal izohlar</a:t>
                      </a:r>
                    </a:p>
                  </a:txBody>
                  <a:tcPr>
                    <a:solidFill>
                      <a:srgbClr val="F1F4F8"/>
                    </a:solidFill>
                  </a:tcPr>
                </a:tc>
                <a:tc>
                  <a:txBody>
                    <a:bodyPr/>
                    <a:lstStyle/>
                    <a:p>
                      <a:r>
                        <a:rPr sz="1400" b="0">
                          <a:solidFill>
                            <a:srgbClr val="1B2430"/>
                          </a:solidFill>
                          <a:latin typeface="Calibri"/>
                        </a:rPr>
                        <a:t>oson</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4</a:t>
                      </a:r>
                    </a:p>
                  </a:txBody>
                  <a:tcPr>
                    <a:solidFill>
                      <a:srgbClr val="FFFFFF"/>
                    </a:solidFill>
                  </a:tcPr>
                </a:tc>
                <a:tc>
                  <a:txBody>
                    <a:bodyPr/>
                    <a:lstStyle/>
                    <a:p>
                      <a:r>
                        <a:rPr sz="1400" b="0">
                          <a:solidFill>
                            <a:srgbClr val="1B2430"/>
                          </a:solidFill>
                          <a:latin typeface="Calibri"/>
                        </a:rPr>
                        <a:t>Adversarial o'qitish radiusi</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10</a:t>
                      </a:r>
                    </a:p>
                  </a:txBody>
                  <a:tcPr>
                    <a:solidFill>
                      <a:srgbClr val="FFFFFF"/>
                    </a:solidFill>
                  </a:tcPr>
                </a:tc>
              </a:tr>
              <a:tr h="520000">
                <a:tc>
                  <a:txBody>
                    <a:bodyPr/>
                    <a:lstStyle/>
                    <a:p>
                      <a:r>
                        <a:rPr sz="1400" b="0">
                          <a:solidFill>
                            <a:srgbClr val="1B2430"/>
                          </a:solidFill>
                          <a:latin typeface="Calibri"/>
                        </a:rPr>
                        <a:t>5</a:t>
                      </a:r>
                    </a:p>
                  </a:txBody>
                  <a:tcPr>
                    <a:solidFill>
                      <a:srgbClr val="F1F4F8"/>
                    </a:solidFill>
                  </a:tcPr>
                </a:tc>
                <a:tc>
                  <a:txBody>
                    <a:bodyPr/>
                    <a:lstStyle/>
                    <a:p>
                      <a:r>
                        <a:rPr sz="1400" b="0">
                          <a:solidFill>
                            <a:srgbClr val="1B2430"/>
                          </a:solidFill>
                          <a:latin typeface="Calibri"/>
                        </a:rPr>
                        <a:t>Saliency asosida adversarial detektor</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6</a:t>
                      </a:r>
                    </a:p>
                  </a:txBody>
                  <a:tcPr>
                    <a:solidFill>
                      <a:srgbClr val="FFFFFF"/>
                    </a:solidFill>
                  </a:tcPr>
                </a:tc>
                <a:tc>
                  <a:txBody>
                    <a:bodyPr/>
                    <a:lstStyle/>
                    <a:p>
                      <a:r>
                        <a:rPr sz="1400" b="0">
                          <a:solidFill>
                            <a:srgbClr val="1B2430"/>
                          </a:solidFill>
                          <a:latin typeface="Calibri"/>
                        </a:rPr>
                        <a:t>In-processing tuzatish</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10</a:t>
                      </a:r>
                    </a:p>
                  </a:txBody>
                  <a:tcPr>
                    <a:solidFill>
                      <a:srgbClr val="FFFFFF"/>
                    </a:solidFill>
                  </a:tcPr>
                </a:tc>
              </a:tr>
              <a:tr h="520000">
                <a:tc>
                  <a:txBody>
                    <a:bodyPr/>
                    <a:lstStyle/>
                    <a:p>
                      <a:r>
                        <a:rPr sz="1400" b="0">
                          <a:solidFill>
                            <a:srgbClr val="1B2430"/>
                          </a:solidFill>
                          <a:latin typeface="Calibri"/>
                        </a:rPr>
                        <a:t>7</a:t>
                      </a:r>
                    </a:p>
                  </a:txBody>
                  <a:tcPr>
                    <a:solidFill>
                      <a:srgbClr val="F1F4F8"/>
                    </a:solidFill>
                  </a:tcPr>
                </a:tc>
                <a:tc>
                  <a:txBody>
                    <a:bodyPr/>
                    <a:lstStyle/>
                    <a:p>
                      <a:r>
                        <a:rPr sz="1400" b="0">
                          <a:solidFill>
                            <a:srgbClr val="1B2430"/>
                          </a:solidFill>
                          <a:latin typeface="Calibri"/>
                        </a:rPr>
                        <a:t>Vakil belgilarni aniqlash</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Qora quti hujum: ko'chuvchanlik</a:t>
                      </a:r>
                    </a:p>
                  </a:txBody>
                  <a:tcPr>
                    <a:solidFill>
                      <a:srgbClr val="FFFFFF"/>
                    </a:solidFill>
                  </a:tcPr>
                </a:tc>
                <a:tc>
                  <a:txBody>
                    <a:bodyPr/>
                    <a:lstStyle/>
                    <a:p>
                      <a:r>
                        <a:rPr sz="1400" b="0">
                          <a:solidFill>
                            <a:srgbClr val="1B2430"/>
                          </a:solidFill>
                          <a:latin typeface="Calibri"/>
                        </a:rPr>
                        <a:t>qiyin</a:t>
                      </a:r>
                    </a:p>
                  </a:txBody>
                  <a:tcPr>
                    <a:solidFill>
                      <a:srgbClr val="FFFFFF"/>
                    </a:solidFill>
                  </a:tcPr>
                </a:tc>
                <a:tc>
                  <a:txBody>
                    <a:bodyPr/>
                    <a:lstStyle/>
                    <a:p>
                      <a:r>
                        <a:rPr sz="14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t>
                      </a:r>
                    </a:p>
                  </a:txBody>
                  <a:tcPr>
                    <a:solidFill>
                      <a:srgbClr val="2D5C8F"/>
                    </a:solidFill>
                  </a:tcPr>
                </a:tc>
                <a:tc>
                  <a:txBody>
                    <a:bodyPr/>
                    <a:lstStyle/>
                    <a:p>
                      <a:r>
                        <a:rPr sz="1400" b="1">
                          <a:solidFill>
                            <a:srgbClr val="FFFFFF"/>
                          </a:solidFill>
                          <a:latin typeface="Calibri"/>
                        </a:rPr>
                        <a:t>Topshiriq</a:t>
                      </a:r>
                    </a:p>
                  </a:txBody>
                  <a:tcPr>
                    <a:solidFill>
                      <a:srgbClr val="2D5C8F"/>
                    </a:solidFill>
                  </a:tcPr>
                </a:tc>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Ball</a:t>
                      </a:r>
                    </a:p>
                  </a:txBody>
                  <a:tcPr>
                    <a:solidFill>
                      <a:srgbClr val="2D5C8F"/>
                    </a:solidFill>
                  </a:tcPr>
                </a:tc>
              </a:tr>
              <a:tr h="520000">
                <a:tc>
                  <a:txBody>
                    <a:bodyPr/>
                    <a:lstStyle/>
                    <a:p>
                      <a:r>
                        <a:rPr sz="1400" b="0">
                          <a:solidFill>
                            <a:srgbClr val="1B2430"/>
                          </a:solidFill>
                          <a:latin typeface="Calibri"/>
                        </a:rPr>
                        <a:t>9</a:t>
                      </a:r>
                    </a:p>
                  </a:txBody>
                  <a:tcPr>
                    <a:solidFill>
                      <a:srgbClr val="F1F4F8"/>
                    </a:solidFill>
                  </a:tcPr>
                </a:tc>
                <a:tc>
                  <a:txBody>
                    <a:bodyPr/>
                    <a:lstStyle/>
                    <a:p>
                      <a:r>
                        <a:rPr sz="1400" b="0">
                          <a:solidFill>
                            <a:srgbClr val="1B2430"/>
                          </a:solidFill>
                          <a:latin typeface="Calibri"/>
                        </a:rPr>
                        <a:t>Mos kelmaslik teoremasi amalda</a:t>
                      </a:r>
                    </a:p>
                  </a:txBody>
                  <a:tcPr>
                    <a:solidFill>
                      <a:srgbClr val="F1F4F8"/>
                    </a:solidFill>
                  </a:tcPr>
                </a:tc>
                <a:tc>
                  <a:txBody>
                    <a:bodyPr/>
                    <a:lstStyle/>
                    <a:p>
                      <a:r>
                        <a:rPr sz="1400" b="0">
                          <a:solidFill>
                            <a:srgbClr val="1B2430"/>
                          </a:solidFill>
                          <a:latin typeface="Calibri"/>
                        </a:rPr>
                        <a:t>qiyin</a:t>
                      </a:r>
                    </a:p>
                  </a:txBody>
                  <a:tcPr>
                    <a:solidFill>
                      <a:srgbClr val="F1F4F8"/>
                    </a:solidFill>
                  </a:tcPr>
                </a:tc>
                <a:tc>
                  <a:txBody>
                    <a:bodyPr/>
                    <a:lstStyle/>
                    <a:p>
                      <a:r>
                        <a:rPr sz="1400" b="0">
                          <a:solidFill>
                            <a:srgbClr val="1B2430"/>
                          </a:solidFill>
                          <a:latin typeface="Calibri"/>
                        </a:rPr>
                        <a:t>15</a:t>
                      </a:r>
                    </a:p>
                  </a:txBody>
                  <a:tcPr>
                    <a:solidFill>
                      <a:srgbClr val="F1F4F8"/>
                    </a:solidFill>
                  </a:tcPr>
                </a:tc>
              </a:tr>
              <a:tr h="520000">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To'liq ishonchlilik hisoboti generatori</a:t>
                      </a:r>
                    </a:p>
                  </a:txBody>
                  <a:tcPr>
                    <a:solidFill>
                      <a:srgbClr val="FFFFFF"/>
                    </a:solidFill>
                  </a:tcPr>
                </a:tc>
                <a:tc>
                  <a:txBody>
                    <a:bodyPr/>
                    <a:lstStyle/>
                    <a:p>
                      <a:r>
                        <a:rPr sz="1400" b="0">
                          <a:solidFill>
                            <a:srgbClr val="1B2430"/>
                          </a:solidFill>
                          <a:latin typeface="Calibri"/>
                        </a:rPr>
                        <a:t>qiyin</a:t>
                      </a:r>
                    </a:p>
                  </a:txBody>
                  <a:tcPr>
                    <a:solidFill>
                      <a:srgbClr val="FFFFFF"/>
                    </a:solidFill>
                  </a:tcPr>
                </a:tc>
                <a:tc>
                  <a:txBody>
                    <a:bodyPr/>
                    <a:lstStyle/>
                    <a:p>
                      <a:r>
                        <a:rPr sz="14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modelni baholash va ishonchlilik boblari.</a:t>
            </a:r>
          </a:p>
          <a:p>
            <a:pPr>
              <a:spcAft>
                <a:spcPts val="900"/>
              </a:spcAft>
            </a:pPr>
            <a:r>
              <a:rPr sz="1600" b="1">
                <a:solidFill>
                  <a:srgbClr val="0F8B8D"/>
                </a:solidFill>
              </a:rPr>
              <a:t>▪  </a:t>
            </a:r>
            <a:r>
              <a:rPr sz="1600">
                <a:solidFill>
                  <a:srgbClr val="1B2430"/>
                </a:solidFill>
                <a:latin typeface="Calibri"/>
              </a:rPr>
              <a:t>[3] Amershi, S. va boshq. Machine Learning Engineering. MIT Press, 2025. — mas'uliyatli AI va baholash bo'limlari.</a:t>
            </a:r>
          </a:p>
          <a:p>
            <a:pPr>
              <a:spcAft>
                <a:spcPts val="900"/>
              </a:spcAft>
            </a:pPr>
            <a:r>
              <a:rPr sz="1600" b="1">
                <a:solidFill>
                  <a:srgbClr val="0F8B8D"/>
                </a:solidFill>
              </a:rPr>
              <a:t>▪  </a:t>
            </a:r>
            <a:r>
              <a:rPr sz="1600">
                <a:solidFill>
                  <a:srgbClr val="1B2430"/>
                </a:solidFill>
                <a:latin typeface="Calibri"/>
              </a:rPr>
              <a:t>[7] PyTorch rasmiy hujjatlari: https://pytorch.org — torch.autograd.grad, register_buffer.</a:t>
            </a:r>
          </a:p>
          <a:p>
            <a:pPr>
              <a:spcAft>
                <a:spcPts val="900"/>
              </a:spcAft>
            </a:pPr>
            <a:r>
              <a:rPr sz="1600" b="1">
                <a:solidFill>
                  <a:srgbClr val="0F8B8D"/>
                </a:solidFill>
              </a:rPr>
              <a:t>▪  </a:t>
            </a:r>
            <a:r>
              <a:rPr sz="1600">
                <a:solidFill>
                  <a:srgbClr val="1B2430"/>
                </a:solidFill>
                <a:latin typeface="Calibri"/>
              </a:rPr>
              <a:t>Goodfellow, I. J., Shlens, J., &amp; Szegedy, C. Explaining and Harnessing Adversarial Examples. ICLR 2015. arXiv:1412.6572.</a:t>
            </a:r>
          </a:p>
          <a:p>
            <a:pPr>
              <a:spcAft>
                <a:spcPts val="900"/>
              </a:spcAft>
            </a:pPr>
            <a:r>
              <a:rPr sz="1600" b="1">
                <a:solidFill>
                  <a:srgbClr val="0F8B8D"/>
                </a:solidFill>
              </a:rPr>
              <a:t>▪  </a:t>
            </a:r>
            <a:r>
              <a:rPr sz="1600">
                <a:solidFill>
                  <a:srgbClr val="1B2430"/>
                </a:solidFill>
                <a:latin typeface="Calibri"/>
              </a:rPr>
              <a:t>Madry, A., Makelov, A., Schmidt, L., Tsipras, D., &amp; Vladu, A. Towards Deep Learning Models Resistant to Adversarial Attacks. ICLR 2018. arXiv:1706.06083.</a:t>
            </a:r>
          </a:p>
          <a:p>
            <a:pPr>
              <a:spcAft>
                <a:spcPts val="900"/>
              </a:spcAft>
            </a:pPr>
            <a:r>
              <a:rPr sz="1600" b="1">
                <a:solidFill>
                  <a:srgbClr val="0F8B8D"/>
                </a:solidFill>
              </a:rPr>
              <a:t>▪  </a:t>
            </a:r>
            <a:r>
              <a:rPr sz="1600">
                <a:solidFill>
                  <a:srgbClr val="1B2430"/>
                </a:solidFill>
                <a:latin typeface="Calibri"/>
              </a:rPr>
              <a:t>Croce, F., &amp; Hein, M. Reliable evaluation of adversarial robustness with an ensemble of diverse parameter-free attacks. ICML 2020. arXiv:2003.01690. (AutoAttack)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Selvaraju, R. R. va boshq. Grad-CAM: Visual Explanations from Deep Networks via Gradient-based Localization. ICCV 2017. arXiv:1610.02391.</a:t>
            </a:r>
          </a:p>
          <a:p>
            <a:pPr>
              <a:spcAft>
                <a:spcPts val="900"/>
              </a:spcAft>
            </a:pPr>
            <a:r>
              <a:rPr sz="1800" b="1">
                <a:solidFill>
                  <a:srgbClr val="0F8B8D"/>
                </a:solidFill>
              </a:rPr>
              <a:t>▪  </a:t>
            </a:r>
            <a:r>
              <a:rPr sz="1800">
                <a:solidFill>
                  <a:srgbClr val="1B2430"/>
                </a:solidFill>
                <a:latin typeface="Calibri"/>
              </a:rPr>
              <a:t>Lundberg, S. M., &amp; Lee, S.-I. A Unified Approach to Interpreting Model Predictions. NeurIPS 2017. arXiv:1705.07874.</a:t>
            </a:r>
          </a:p>
          <a:p>
            <a:pPr>
              <a:spcAft>
                <a:spcPts val="900"/>
              </a:spcAft>
            </a:pPr>
            <a:r>
              <a:rPr sz="1800" b="1">
                <a:solidFill>
                  <a:srgbClr val="0F8B8D"/>
                </a:solidFill>
              </a:rPr>
              <a:t>▪  </a:t>
            </a:r>
            <a:r>
              <a:rPr sz="1800">
                <a:solidFill>
                  <a:srgbClr val="1B2430"/>
                </a:solidFill>
                <a:latin typeface="Calibri"/>
              </a:rPr>
              <a:t>Chouldechova, A. Fair prediction with disparate impact: A study of bias in recidivism prediction instruments. Big Data, 5(2), 2017. arXiv:1703.00056.</a:t>
            </a:r>
          </a:p>
          <a:p>
            <a:pPr>
              <a:spcAft>
                <a:spcPts val="900"/>
              </a:spcAft>
            </a:pPr>
            <a:r>
              <a:rPr sz="1800" b="1">
                <a:solidFill>
                  <a:srgbClr val="0F8B8D"/>
                </a:solidFill>
              </a:rPr>
              <a:t>▪  </a:t>
            </a:r>
            <a:r>
              <a:rPr sz="1800">
                <a:solidFill>
                  <a:srgbClr val="1B2430"/>
                </a:solidFill>
                <a:latin typeface="Calibri"/>
              </a:rPr>
              <a:t>Fairlearn rasmiy hujjatlari: https://fairlearn.org</a:t>
            </a:r>
          </a:p>
          <a:p>
            <a:pPr>
              <a:spcAft>
                <a:spcPts val="900"/>
              </a:spcAft>
            </a:pPr>
            <a:r>
              <a:rPr sz="1800" b="1">
                <a:solidFill>
                  <a:srgbClr val="0F8B8D"/>
                </a:solidFill>
              </a:rPr>
              <a:t>▪  </a:t>
            </a:r>
            <a:r>
              <a:rPr sz="1800">
                <a:solidFill>
                  <a:srgbClr val="1B2430"/>
                </a:solidFill>
                <a:latin typeface="Calibri"/>
              </a:rPr>
              <a:t>torchattacks kutubxonasi: https://github.com/Harry24k/adversarial-attacks-pytorch</a:t>
            </a:r>
          </a:p>
          <a:p>
            <a:pPr>
              <a:spcAft>
                <a:spcPts val="900"/>
              </a:spcAft>
            </a:pPr>
            <a:r>
              <a:rPr sz="1800" b="1">
                <a:solidFill>
                  <a:srgbClr val="0F8B8D"/>
                </a:solidFill>
              </a:rPr>
              <a:t>▪  </a:t>
            </a:r>
            <a:r>
              <a:rPr sz="1800">
                <a:solidFill>
                  <a:srgbClr val="1B2430"/>
                </a:solidFill>
                <a:latin typeface="Calibri"/>
              </a:rPr>
              <a:t>ISO/IEC 42001:2023 Information technology — Artificial intelligence — Management system; ISO/IEC 23894:2023 — Guidance on risk management. https://www.iso.org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Regulation (EU) 2024/1689 (EU AI Act): https://eur-lex.europa.eu/eli/reg/2024/1689/oj</a:t>
            </a:r>
          </a:p>
          <a:p>
            <a:pPr>
              <a:spcAft>
                <a:spcPts val="900"/>
              </a:spcAft>
            </a:pPr>
            <a:r>
              <a:rPr sz="2000" b="1">
                <a:solidFill>
                  <a:srgbClr val="0F8B8D"/>
                </a:solidFill>
              </a:rPr>
              <a:t>▪  </a:t>
            </a:r>
            <a:r>
              <a:rPr sz="2000">
                <a:solidFill>
                  <a:srgbClr val="1B2430"/>
                </a:solidFill>
                <a:latin typeface="Calibri"/>
              </a:rPr>
              <a:t>NIST AI Risk Management Framework (AI RMF 1.0), 2023: https://www.nist.gov/itl/ai-risk-management-framework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A6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https://aiscan.airi.uz/ktm/#/c/mis2104/mavzu/A6</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
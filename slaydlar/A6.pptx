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amaliy mashg'ulotning maqsadi — magistrantlarda o'qitilgan sun'iy intellekt modelini «qora quti» sifatida qabul qilmasdan, uni dushmanona ta'sirga chidamliligi, qarorlarining tushuntirilishi va turli guruhlarga nisbatan xolisligi nuqtai nazaridan tizimli tekshirish ko'nikmasini shakllantirishdir. Mashg'ulot yakunida talaba quyidagilarga qodir bo'ladi:</a:t>
            </a:r>
          </a:p>
          <a:p/>
          <a:p>
            <a:r>
              <a:t>Oq quti (white-box) adversarial hujumlarni — FGSM (Fast Gradient Sign Method) va PGD (Projected Gradient Descent) — PyTorch'da qo'lda va torchattacks kutubxonasi yordamida amalga oshirish, hujum kuchi (epsilon) ga bog'liq holda modelning mustahkamlik egri chizig'ini (robustness curve) qurish.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o'qitish (adversarial training) orqali modelning chidamliligini oshirish va toza aniqlik bilan mustahkam aniqlik orasidagi murosani miqdoriy baholash.</a:t>
            </a:r>
          </a:p>
          <a:p/>
          <a:p>
            <a:r>
              <a:t>Tushuntiriladigan sun'iy intellekt (Explainable AI, XAI) vositalari — Grad-CAM va SHAP — yordamida model qarorlarining asosini vizuallashtirish va tahlil qilish, shu jumladan hujum ostidagi namunalar uchun diqqat xaritasi qanday o'zgarishini ko'rsatish.</a:t>
            </a:r>
          </a:p>
          <a:p/>
          <a:p>
            <a:r>
              <a:t>Fairlearn kutubxonasi yordamida jadvalli ma'lumotlar modelida adolatlilik (fairness) ko'rsatkichlarini — demografik paritet, teng imkoniyat, tenglashtirilgan koeffitsiyentlar — hisoblash va cheklov asosida qayta o'qitish bilan nomutanosiblikni kamaytirish.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Xalqaro standartlar (ISO/IEC 42001, ISO/IEC 23894, EU AI Act) asosidagi etik talablar tekshiruv ro'yxatini (checklist) muayyan tizimga qo'llash va natijalarni hisobot ko'rinishida rasmiylashtirish.</a:t>
            </a:r>
          </a:p>
          <a:p/>
          <a:p>
            <a:r>
              <a:t>Mavzu fanning TN4 (AI tizimlarining ishonchliligi va xavfsizligini ta'minlash), TN6 (tizimni tahlil qilish va baholash) va TN7 (mas'uliyatli AI tamoyillarini qo'llash) o'rganish natijalariga xizmat qiladi hamda M9 va M14 ma'ruzalarining amaliy davomi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neyron tarmoqlar ko'plab vazifalarda insondan yuqori aniqlikka erishgan bo'lsa-da, ularning ishonchliligi aniqlik raqami bilan o'lchanmaydi. 2013-yilda Szegedy va hamkasblari ko'rsatdiki, tasvirga inson ko'zi sezmaydigan darajada kichik, lekin maxsus hisoblangan shovqin qo'shilsa, ImageNet'da 76% aniqlikdagi model «panda»ni ishonch bilan «gibbon» deb tasniflay boshlaydi. Keyinchalik bu hodisa — adversarial misollar (adversarial examples) — faqat laboratoriya qiziqishi emasligi ma'lum bo'ldi: yo'l belgisiga yopishtirilgan bir nechta stiker avtonom avtomobil detektorini chalg'itishi, ovozga qo'shilgan eshitilmas signal aqlli karnayga buyruq berishi, tibbiy tasvirga kiritilgan bir nechta piksel sug'urta firibgarligida ishlatilishi mumkinligi eksperimental tasdiqlandi.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Chuqur neyron tarmoqlar ko'plab vazifalarda insondan yuqori aniqlikka erishgan bo'lsa-da, ularning ishonchliligi aniqlik raqami bilan o'lchanmaydi. 2013-yilda Szegedy va hamkasblari ko'rsatdiki, tasvirga inson ko'zi sezmaydigan darajada kichik, lekin maxsus hisoblangan shovqin qo'shilsa, ImageNet'da 76% aniqlikdagi model «panda»ni ishonch bilan «gibbon» deb tasniflay boshlaydi. Keyinchalik bu hodisa — adversarial misollar (adversarial examples) — faqat laboratoriya qiziqishi emasligi ma'lum bo'ldi: yo'l belgisiga yopishtirilgan bir nechta stiker avtonom avtomobil detektorini chalg'itishi, ovozga qo'shilgan eshitilmas signal aqlli karnayga buyruq berishi, tibbiy tasvirga kiritilgan bir nechta piksel sug'urta firibgarligida ishlatilishi mumkinligi eksperimental tasdiqlandi.</a:t>
            </a:r>
          </a:p>
          <a:p/>
          <a:p>
            <a:r>
              <a:t>Xavfsizlik bilan bir qatorda ikkinchi muammo — shaffoflik. Bank kredit berishni rad etganda, kasalxona tasvirni «xavfli» deb belgilaganda yoki ishga qabul tizimi nomzodni saralaganda, qaror qabul qilingan asos tushuntirilishi kerak. Bu talab endi faqat etik tavsiya emas: Yevropa Ittifoqining sun'iy intellekt to'g'risidagi qonuni (EU AI Act, 2024-yil avgustda kuchga kirgan) yuqori xavfli tizimlar uchun shaffoflik, inson nazorati va texnik hujjatlashtirishni majburiy qiladi, ISO/IEC 42001:2023 standarti esa tashkilotda sun'iy intellektni boshqarish tizimiga (AI Management System) talablarni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Uchinchi muammo — xolislik. 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 Muhandis uchun savol — «model adolatlimi?» emas, balki «qaysi adolatlilik mezoni bo'yicha, qaysi guruhlar uchun, qanday chegarada?» — chunki turli adolatlilik mezonlari matematik jihatdan bir vaqtda qondirilishi mumkin emas.</a:t>
            </a:r>
          </a:p>
          <a:p/>
          <a:p>
            <a:r>
              <a:t>Ushbu mashg'ulotda uchala yo'nalish bitta laboratoriya ishida birlashtiriladi: talaba avval tasvir klassifikatoriga hujum qiladi va uni himoyalaydi, so'ngra uning qarorlarini XAI bilan tushuntiradi, keyin jadvalli ma'lumotlarda adolatlilikni o'lchaydi va tuzatadi, nihoyat, butun tizimni etik tekshiruv ro'yxati bo'yicha baholaydi. Bu ketma-ketlik sanoatdagi «AI assurance» (ishonchlilik kafolati) jarayonini aks ettiradi.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hujumlarni tasniflashda avval tahdid modeli (threat model) aniqlanadi: hujumchi nimani biladi va nimani o'zgartira oladi. Bilim bo'yicha hujumlar oq quti (white-box — model arxitekturasi va og'irliklari ma'lum, gradientlar hisoblanadi), kulrang quti (gray-box — arxitektura ma'lum, og'irliklar yo'q) va qora quti (black-box — faqat so'rov-javob interfeysi) ga bo'linadi. Qora quti hujumlar ko'chuvchanlik (transferability — bir modelga qarshi yasalgan misol boshqasiga ham ta'sir qiladi) yoki so'rovlar asosidagi gradient baholash (ZOO, Square Attack) orqali amalga oshiriladi.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Maqsad bo'yicha: yo'naltirilmagan (untargeted — har qanday noto'g'ri sinf) va yo'naltirilgan (targeted — aniq sinf). Bosqich bo'yicha: chetlab o'tish (evasion — inferens paytida kirishni buzish), zaharlash (poisoning — o'quv to'plamiga buzilgan namunalar kiritish), orqa eshik (backdoor — maxsus trigger bilan faollashadigan yashirin xatti-harakat), model o'g'irlash (extraction) va a'zolik inferensi (membership inference — namuna o'quv to'plamida bo'lganini aniqlash, maxfiylik buzilishi).</a:t>
            </a:r>
          </a:p>
          <a:p/>
          <a:p>
            <a:r>
              <a:t>Buzilish kattaligi odatda L_p normada cheklanadi: L_inf — har bir piksel ko'pi bilan epsilon ga o'zgaradi (eng ko'p ishlatiladi, CIFAR-10 uchun standart epsilon = 8/255), L_2 — umumiy Evklid uzunligi cheklanadi, L_0 — o'zgartirilgan piksellar soni cheklanadi (stiker-hujumlar).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FGSM (Goodfellow va boshq., 2015) bitta gradient qadamidan iborat: x_adv = x + epsilon  sign(grad_x L(f(x), y)). G'oya — yo'qotish funksiyasini kirish bo'yicha chiziqli deb hisoblab, uni L_inf shari ichida maksimal oshiradigan yo'nalish aynan gradient ishorasi bo'lishidir. FGSM tez (bitta orqaga o'tish), lekin kuchsiz: ko'p modellar unga qarshi qisman chidamli.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PGD (Madry va boshq., 2018) — FGSM ning iterativ, tasodifiy boshlang'ich nuqtali umumlashmasi: x_0 = x + U(-epsilon, epsilon), so'ngra K marta x_{k+1} = Proj_{B(x, epsilon)}(x_k + alpha  sign(grad L)), bu yerda Proj — natijani x atrofidagi epsilon-shar ichiga qaytarish (qirqish) va [0, 1] piksel diapazonida ushlab turish. Standart sozlama: K = 10–20, alpha = 2/255. PGD «birinchi tartibli eng kuchli hujum» hisoblanadi va mustahkamlikni baholashning amaldagi standartidir; AutoAttack to'plami esa PGD ning moslashuvchan variantlarini birlashtirib, baholashni yanada ishonchli qiladi.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o'qitish — hozircha eng ishonchli empirik himoya: har mini-paketda avval PGD bilan adversarial namunalar yasaladi, so'ngra model aynan ular ustida o'qitiladi (min-max optimallashtirish). Narxi: o'qitish K+1 baravar qimmat va toza aniqlik 5–15 foiz bandiga pasayadi. Boshqa himoyalar — kirishni oldindan qayta ishlash (JPEG siqish, shovqin kamaytirish), gradient yashirish (gradient masking), sertifikatlangan himoya (randomized smoothing) — turli darajada samarali; gradient yashirish ko'pincha xayoliy xavfsizlik beradi va moslashuvchan hujum bilan buziladi.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Adversarial o'qitish — hozircha eng ishonchli empirik himoya: har mini-paketda avval PGD bilan adversarial namunalar yasaladi, so'ngra model aynan ular ustida o'qitiladi (min-max optimallashtirish). Narxi: o'qitish K+1 baravar qimmat va toza aniqlik 5–15 foiz bandiga pasayadi. Boshqa himoyalar — kirishni oldindan qayta ishlash (JPEG siqish, shovqin kamaytirish), gradient yashirish (gradient masking), sertifikatlangan himoya (randomized smoothing) — turli darajada samarali; gradient yashirish ko'pincha xayoliy xavfsizlik beradi va moslashuvchan hujum bilan buziladi.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XAI usullari global (modelning umumiy xatti-harakati) va lokal (bitta bashorat) tushuntirishlarga, shuningdek modelga xos va modeldan mustaqil (model-agnostic) usullarga bo'linadi.</a:t>
            </a:r>
          </a:p>
          <a:p/>
          <a:p>
            <a:r>
              <a:t>Grad-CAM (Gradient-weighted Class Activation Mapping, Selvaraju va boshq., 2017) — konvolyutsion tarmoqlar uchun lokal usul. 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 Usul tez (bitta orqaga o'tish), lekin faqat qo'pol lokalizatsiya beradi va faqat konvolyutsion/transformer arxitekturalariga mos.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(SHapley Additive exPlanations, Lundberg &amp; Lee, 2017) — kooperativ o'yinlar nazariyasidagi Shepli qiymatlariga asoslangan modeldan mustaqil usul. 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 Aniq hisoblash eksponensial, shuning uchun amalda TreeSHAP (daraxt ansambllari uchun polinomial), KernelSHAP (istalgan model, tanlanma asosida) va DeepSHAP/GradientSHAP (neyron tarmoqlar) ishlatiladi. SHAP jadvalli ma'lumotlarda de-fakto standart: u lokal tushuntirishni (waterfall grafigi) ham, global muhimlikni (beeswarm grafigi) ham beradi.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(SHapley Additive exPlanations, Lundberg &amp; Lee, 2017) — kooperativ o'yinlar nazariyasidagi Shepli qiymatlariga asoslangan modeldan mustaqil usul. 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 Aniq hisoblash eksponensial, shuning uchun amalda TreeSHAP (daraxt ansambllari uchun polinomial), KernelSHAP (istalgan model, tanlanma asosida) va DeepSHAP/GradientSHAP (neyron tarmoqlar) ishlatiladi. SHAP jadvalli ma'lumotlarda de-fakto standart: u lokal tushuntirishni (waterfall grafigi) ham, global muhimlikni (beeswarm grafigi) ham beradi.</a:t>
            </a:r>
          </a:p>
          <a:p/>
          <a:p>
            <a:r>
              <a:t>XAI ning muhim cheklovi — tushuntirish modelning haqiqiy sababini emas, uning o'ziga bog'liqligini ko'rsatadi; adversarial hujumga uchragan namunada Grad-CAM xaritasi butunlay boshqa joyga «ko'chishi» mumkin, bu esa hujumni aniqlash uchun ham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 (SHapley Additive exPlanations, Lundberg &amp; Lee, 2017) — kooperativ o'yinlar nazariyasidagi Shepli qiymatlariga asoslangan modeldan mustaqil usul. 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 Aniq hisoblash eksponensial, shuning uchun amalda TreeSHAP (daraxt ansambllari uchun polinomial), KernelSHAP (istalgan model, tanlanma asosida) va DeepSHAP/GradientSHAP (neyron tarmoqlar) ishlatiladi. SHAP jadvalli ma'lumotlarda de-fakto standart: u lokal tushuntirishni (waterfall grafigi) ham, global muhimlikni (beeswarm grafigi) ham beradi.</a:t>
            </a:r>
          </a:p>
          <a:p/>
          <a:p>
            <a:r>
              <a:t>XAI ning muhim cheklovi — tushuntirish modelning haqiqiy sababini emas, uning o'ziga bog'liqligini ko'rsatadi; adversarial hujumga uchragan namunada Grad-CAM xaritasi butunlay boshqa joyga «ko'chishi» mumkin, bu esa hujumni aniqlash uchun ham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tahlilida sezgir atribut (sensitive attribute — jins, yosh, millat, hudud) A, haqiqiy natija Y va bashorat Y_hat ko'rib chiqiladi. Asosiy guruh mezonlari:</a:t>
            </a:r>
          </a:p>
          <a:p/>
          <a:p>
            <a:r>
              <a:t>Demografik paritet (demographic parity): P(Y_hat = 1 | A = a) barcha guruhlar uchun teng. Ijobiy qaror ulushi guruhdan bog'liq emas. Farq ko'rsatkichi — demographic_parity_difference, nisbat — ..._ratio (AQSh «to'rtdan besh» qoidasi 0.8 dan yuqori bo'lishini talab qiladi).</a:t>
            </a:r>
          </a:p>
          <a:p/>
          <a:p>
            <a:r>
              <a:t>Teng imkoniyat (equal opportunity): P(Y_hat = 1 | Y = 1, A = a) teng — haqiqiy ijobiy namunalar uchun topish darajasi (TPR) teng.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Tenglashtirilgan koeffitsiyentlar (equalized odds): TPR ham, FPR ham teng.</a:t>
            </a:r>
          </a:p>
          <a:p/>
          <a:p>
            <a:r>
              <a:t>Kalibrlash (calibration): berilgan bashorat ehtimolligi uchun haqiqiy ijobiy ulushi guruhlar bo'yicha teng.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Chouldechova (2017) va Kleinberg va boshq. (2016) isbotladiki, bazaviy ulushlar (P(Y=1|A)) guruhlarda farq qilsa, kalibrlash va tenglashtirilgan koeffitsiyentlarni bir vaqtda qondirish mumkin emas. Shuning uchun muhandis mezonni masala konteksti asosida tanlashi va bu tanlovni hujjatlashtirishi kerak: kreditda ko'pincha teng imkoniyat (haqiqatan to'lay oladiganlar teng topilsin), tibbiy skriningda — teng FNR (kasalni o'tkazib yuborish guruhdan bog'liq bo'lmasin).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Fairlearn kutubxonasi uch turdagi tuzatish beradi: oldindan qayta ishlash (pre-processing — ma'lumotni qayta vaznlash), jarayon ichida (in-processing — ExponentiatedGradient, GridSearch cheklovli optimallashtirish) va keyingi qayta ishlash (post-processing — ThresholdOptimizer, guruhga xos chegaralar). MetricFrame obyekti esa istalgan metrikani guruhlar bo'yicha kesimda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ISO/IEC 42001:2023 — sun'iy intellektni boshqarish tizimi standarti: tashkilot AI siyosati, rollar, xavf baholash, ta'sir baholash (AI impact assessment), hayot sikli nazorati va uzluksiz takomillashtirishni belgilashi kerak. ISO/IEC 23894:2023 — AI uchun xavf menejmenti bo'yicha ko'rsatma (ISO 31000 asosida): xavf manbalari ro'yxati (ma'lumot sifati, shaffoflik yetishmasligi, adversarial ta'sir, avtomatlashtirish tarafkashligi). EU AI Act xavf asosidagi yondashuvni qo'llaydi: taqiqlangan amaliyotlar (ijtimoiy reyting, ish joyida hissiyotni aniqlash), yuqori xavfli tizimlar (ta'lim, bandlik, kredit, tibbiyot, huquqni muhofaza) uchun 9–15-moddalardagi talablar — xavf menejmenti tizimi, ma'lumotlarni boshqarish, texnik hujjatlar, jurnal yuritish, shaffoflik, inson nazorati, aniqlik/mustahkamlik/kiberxavfsizlik. NIST AI Risk Management Framework (AI RMF 1.0, 2023) esa to'rt funksiyani (Govern, Map, Measure, Manage) taklif qiladi. Ushbu hujjatlar asosida mashg'ulotda 20 banddan iborat tekshiruv ro'yxati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ISO/IEC 42001:2023 — sun'iy intellektni boshqarish tizimi standarti: tashkilot AI siyosati, rollar, xavf baholash, ta'sir baholash (AI impact assessment), hayot sikli nazorati va uzluksiz takomillashtirishni belgilashi kerak. ISO/IEC 23894:2023 — AI uchun xavf menejmenti bo'yicha ko'rsatma (ISO 31000 asosida): xavf manbalari ro'yxati (ma'lumot sifati, shaffoflik yetishmasligi, adversarial ta'sir, avtomatlashtirish tarafkashligi). EU AI Act xavf asosidagi yondashuvni qo'llaydi: taqiqlangan amaliyotlar (ijtimoiy reyting, ish joyida hissiyotni aniqlash), yuqori xavfli tizimlar (ta'lim, bandlik, kredit, tibbiyot, huquqni muhofaza) uchun 9–15-moddalardagi talablar — xavf menejmenti tizimi, ma'lumotlarni boshqarish, texnik hujjatlar, jurnal yuritish, shaffoflik, inson nazorati, aniqlik/mustahkamlik/kiberxavfsizlik. NIST AI Risk Management Framework (AI RMF 1.0, 2023) esa to'rt funksiyani (Govern, Map, Measure, Manage) taklif qiladi. Ushbu hujjatlar asosida mashg'ulotda 20 banddan iborat tekshiruv ro'yxati qo'llaniladi.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to'rt qismdan iborat: (A) CIFAR-10 klassifikatoriga FGSM/PGD hujumi va adversarial o'qitish; (B) Grad-CAM va SHAP bilan qarorlarni tushuntirish; (C) Adult (Census Income) jadvalli ma'lumotida Fairlearn bilan adolatlilik tahlili; (D) etik tekshiruv ro'yxatini to'ldirish.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to'rt qismdan iborat: (A) CIFAR-10 klassifikatoriga FGSM/PGD hujumi va adversarial o'qitish; (B) Grad-CAM va SHAP bilan qarorlarni tushuntirish; (C) Adult (Census Income) jadvalli ma'lumotida Fairlearn bilan adolatlilik tahlili; (D) etik tekshiruv ro'yxatini to'ldirish.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Apparat: bitta NVIDIA GPU (8 GB yetarli) yoki CPU (A qismida vaqt 5–8 baravar oshadi; --subset bilan kamaytirish mumkin).</a:t>
            </a:r>
          </a:p>
          <a:p/>
          <a:p>
            <a:r>
              <a:t>Dasturiy ta'minot: Python 3.10+, PyTorch 2.3+, torchvision; pip install torchattacks shap fairlearn scikit-learn pandas matplotlib grad-cam.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CIFAR-10 (avtomatik yuklanadi); Adult — fairlearn.datasets.fetch_adult() orqali OpenML'dan (48 842 yozuv, 14 belgi, maqsad — yillik daromad 50 ming dollardan oshadimi).</a:t>
            </a:r>
          </a:p>
          <a:p/>
          <a:p>
            <a:r>
              <a:t>Oldindan o'qitilgan CIFAR-10 modeli: A5 mashg'ulotidan ResNet-18 checkpoint'i yoki quyidagi skript bilan 15 epoxada o'qitilgan model (toza aniqlik ~90%).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epsilon uchun aniqlik o'lchandi. Toza modelda natija keskin: epsilon = 8/255 da FGSM aniqlikni ~90% dan 15–25% gacha, PGD-10 esa 0–2% gacha tushiradi (taxminiy). torchattacks bilan taqqoslash — o'z-o'zini tekshirish: agar qo'lda yozilgan PGD natijasi kutubxonanikidan sezilarli yuqori bo'lsa, demak hujumda xato bor (eng ko'p uchraydigani — model.eval() unutilgan, gradient detach qilinmagan yoki proyeksiya noto'g'ri). Hujumda PGD ning FGSM dan kuchli ekani iterativ optimallashtirishning afzalligini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epsilon uchun aniqlik o'lchandi. Toza modelda natija keskin: epsilon = 8/255 da FGSM aniqlikni ~90% dan 15–25% gacha, PGD-10 esa 0–2% gacha tushiradi (taxminiy). torchattacks bilan taqqoslash — o'z-o'zini tekshirish: agar qo'lda yozilgan PGD natijasi kutubxonanikidan sezilarli yuqori bo'lsa, demak hujumda xato bor (eng ko'p uchraydigani — model.eval() unutilgan, gradient detach qilinmagan yoki proyeksiya noto'g'ri). Hujumda PGD ning FGSM dan kuchli ekani iterativ optimallashtirishning afzalligini ko'rsatadi.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 Hujum yasashda model.eval() ga o'tish BatchNorm statistikasini buzmaslik uchun kerak; bu kichik tafsilot natijaga 3–5 foiz bandi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 Hujum yasashda model.eval() ga o'tish BatchNorm statistikasini buzmaslik uchun kerak; bu kichik tafsilot natijaga 3–5 foiz bandi ta'sir qiladi.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 Bu ikki xulosa beradi: Grad-CAM modelning nimaga qaraganini ko'rsatadi, lekin uni hujumdan himoya qilmaydi; va xaritaning tarqoqligi (entropiyasi) adversarial namunani aniqlash uchun belgi sifatida ishlatilishi mumkin. Adversarial o'qitilgan adv.pt modelida xaritalar odatda obyekt konturiga yaqinroq va hujumda kamroq ko'chadi — talaba buni ham solishtirishi kerak.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 Bu ikki xulosa beradi: Grad-CAM modelning nimaga qaraganini ko'rsatadi, lekin uni hujumdan himoya qilmaydi; va xaritaning tarqoqligi (entropiyasi) adversarial namunani aniqlash uchun belgi sifatida ishlatilishi mumkin. Adversarial o'qitilgan adv.pt modelida xaritalar odatda obyekt konturiga yaqinroq va hujumda kamroq ko'chadi — talaba buni ham solishtirishi kerak.</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Bazaviy gradient boosting Adult'da ~86–87% aniqlik beradi, lekin MetricFrame guruhlar kesimida ko'rsatadiki, erkaklar uchun ijobiy qaror ulushi (selection_rate) ~0.25, ayollar uchun ~0.07 — demografik paritet farqi ~0.18. Bu farqning bir qismi ma'lumotdagi haqiqiy bazaviy ulushlar farqidan (erkaklar orasida 50K+ ulushi 30%, ayollarda 11%) kelib chiqadi, shuning uchun teng imkoniyat / tenglashtirilgan koeffitsiyentlar mezoni ko'proq ma'noli: TPR farqi odatda 0.08–0.12 atrofida chiqadi. ThresholdOptimizer guruhga xos chegara tanlab EO farqini 0.02–0.03 gacha tushiradi, aniqlik ~1 foiz bandiga pasayadi. ExponentiatedGradient esa cheklovni o'qitish ichida hisobga oladi va tasodifiylashtirilgan klassifikator qaytaradi (shuning uchun random_state). SHAP beeswarm grafigida marital-status, education-num, capital-gain, age yuqori chiqadi; sex belgisining o'zi pastroq, lekin relationship_Husband/Wife kabi vakil belgilar (proxy) orqali jins ta'siri bilvosita davom etadi — bu sezgir atributni shunchaki olib tashlash yetarli emasligining amaliy isboti.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Bazaviy gradient boosting Adult'da ~86–87% aniqlik beradi, lekin MetricFrame guruhlar kesimida ko'rsatadiki, erkaklar uchun ijobiy qaror ulushi (selection_rate) ~0.25, ayollar uchun ~0.07 — demografik paritet farqi ~0.18. Bu farqning bir qismi ma'lumotdagi haqiqiy bazaviy ulushlar farqidan (erkaklar orasida 50K+ ulushi 30%, ayollarda 11%) kelib chiqadi, shuning uchun teng imkoniyat / tenglashtirilgan koeffitsiyentlar mezoni ko'proq ma'noli: TPR farqi odatda 0.08–0.12 atrofida chiqadi. ThresholdOptimizer guruhga xos chegara tanlab EO farqini 0.02–0.03 gacha tushiradi, aniqlik ~1 foiz bandiga pasayadi. ExponentiatedGradient esa cheklovni o'qitish ichida hisobga oladi va tasodifiylashtirilgan klassifikator qaytaradi (shuning uchun random_state). SHAP beeswarm grafigida marital-status, education-num, capital-gain, age yuqori chiqadi; sex belgisining o'zi pastroq, lekin relationship_Husband/Wife kabi vakil belgilar (proxy) orqali jins ta'siri bilvosita davom etadi — bu sezgir atributni shunchaki olib tashlash yetarli emasligining amaliy isboti.</a:t>
            </a:r>
          </a:p>
          <a:p/>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20 bandli ro'yxatni (ISO/IEC 42001, ISO/IEC 23894, EU AI Act 9–15-moddalari va NIST AI RMF asosida tuzilgan) 1-5 qadamlarda qurilgan tizim uchun to'ldiradi; har band uchun «Bajarilgan / Qisman / Yo'q», dalil (fayl, grafik, raqam) va chora ko'rsatiladi.</a:t>
            </a:r>
          </a:p>
          <a:p/>
          <a:p>
            <a:r>
              <a:t>Nima bo'ldi va nega. 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20 bandli ro'yxatni (ISO/IEC 42001, ISO/IEC 23894, EU AI Act 9–15-moddalari va NIST AI RMF asosida tuzilgan) 1-5 qadamlarda qurilgan tizim uchun to'ldiradi; har band uchun «Bajarilgan / Qisman / Yo'q», dalil (fayl, grafik, raqam) va chora ko'rsatiladi.</a:t>
            </a:r>
          </a:p>
          <a:p/>
          <a:p>
            <a:r>
              <a:t>Nima bo'ldi va nega. 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20 bandli ro'yxatni (ISO/IEC 42001, ISO/IEC 23894, EU AI Act 9–15-moddalari va NIST AI RMF asosida tuzilgan) 1-5 qadamlarda qurilgan tizim uchun to'ldiradi; har band uchun «Bajarilgan / Qisman / Yo'q», dalil (fayl, grafik, raqam) va chora ko'rsatiladi.</a:t>
            </a:r>
          </a:p>
          <a:p/>
          <a:p>
            <a:r>
              <a:t>Nima bo'ldi va nega. 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 quyidagi 20 bandli ro'yxatni (ISO/IEC 42001, ISO/IEC 23894, EU AI Act 9–15-moddalari va NIST AI RMF asosida tuzilgan) 1-5 qadamlarda qurilgan tizim uchun to'ldiradi; har band uchun «Bajarilgan / Qisman / Yo'q», dalil (fayl, grafik, raqam) va chora ko'rsatiladi.</a:t>
            </a:r>
          </a:p>
          <a:p/>
          <a:p>
            <a:r>
              <a:t>Nima bo'ldi va nega. 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qiymatlar ResNet-18/CIFAR-10 va GBM/Adult uchun taxminiy mo'ljal; talaba o'z natijalarini shu shaklda keltiradi.</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qiymatlar ResNet-18/CIFAR-10 va GBM/Adult uchun taxminiy mo'ljal; talaba o'z natijalarini shu shaklda keltiradi.</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Tahdid modeli: hujumchi bilimi, buzilish normasi va epsilon, himoya chorasi (yarim sahifa).</a:t>
            </a:r>
          </a:p>
          <a:p/>
          <a:p>
            <a:r>
              <a:t>Mustahkamlik egri chizig'i: epsilon ga bog'liq aniqlik grafigi (FGSM va PGD, toza va adversarial model — 4 chiziq) + jadval.</a:t>
            </a:r>
          </a:p>
          <a:p/>
          <a:p>
            <a:r>
              <a:t>Grad-CAM paneli (kamida 8 namuna, toza va adversarial) va kuzatuvlar tahlili.</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jadvali (uchta model), SHAP beeswarm grafigi, vakil belgilar tahlili, tanlangan mezon asosi.</a:t>
            </a:r>
          </a:p>
          <a:p/>
          <a:p>
            <a:r>
              <a:t>To'ldirilgan 20 bandli tekshiruv ro'yxati dalillar bilan.</a:t>
            </a:r>
          </a:p>
          <a:p/>
          <a:p>
            <a:r>
              <a:t>Xulosa: tizim qaysi sharoitda ishlatilishi mumkin va qaysi sharoitda mumkin emas.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Mustahkamlik natijalari ko'rsatadiki, standart o'qitilgan model L_inf buzilishining juda kichik qiymatlarida ham ishonchsiz: epsilon = 2/255 (255 darajali shkalada 2 birlik, inson ko'zi uchun mutlaqo sezilmas) PGD aniqlikni 90% dan 35% gacha tushiradi. Bu yuqori o'lchamli fazoda chiziqli xatti-harakatning oqibati: har pikselga kichik o'zgarish qo'shilsa, ularning yig'indisi logitni sezilarli siljitadi. Adversarial o'qitish egri chiziqni butunlay o'zgartiradi, lekin ikki narxga: toza aniqlik 8–10 foiz bandiga tushadi va o'qitish narxi sakkiz baravar oshadi. Sanoatda bu murosani tizim konteksti hal qiladi — tibbiy triaj yoki moliyaviy firibgarlikni aniqlashda mustahkamlik ustun, foto-galereyani tartiblashda esa toza aniqlik.</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Mustahkamlik natijalari ko'rsatadiki, standart o'qitilgan model L_inf buzilishining juda kichik qiymatlarida ham ishonchsiz: epsilon = 2/255 (255 darajali shkalada 2 birlik, inson ko'zi uchun mutlaqo sezilmas) PGD aniqlikni 90% dan 35% gacha tushiradi. Bu yuqori o'lchamli fazoda chiziqli xatti-harakatning oqibati: har pikselga kichik o'zgarish qo'shilsa, ularning yig'indisi logitni sezilarli siljitadi. Adversarial o'qitish egri chiziqni butunlay o'zgartiradi, lekin ikki narxga: toza aniqlik 8–10 foiz bandiga tushadi va o'qitish narxi sakkiz baravar oshadi. Sanoatda bu murosani tizim konteksti hal qiladi — tibbiy triaj yoki moliyaviy firibgarlikni aniqlashda mustahkamlik ustun, foto-galereyani tartiblashda esa toza aniqlik.</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Muhim cheklov: adversarial o'qitish faqat o'qitilgan tahdid modeli doirasida himoya beradi. L_inf 8/255 ga qarshi o'qitilgan model L_2 hujumiga yoki fizik stikerlarga zaif qolishi mumkin; shuningdek, 16/255 da aniqlik yana 18% gacha tushadi. Shuning uchun himoyani «yopilgan» deb emas, «ma'lum chegara ichida baholangan» deb hujjatlashtirish kerak. Muqobil yondashuvlar — sertifikatlangan mustahkamlik (randomized smoothing kichik L_2 radiusda matematik kafolat beradi), kirishni aniqlash detektorlari va ansambl usullari — har biri o'z cheklovlariga ega.</a:t>
            </a:r>
          </a:p>
          <a:p/>
          <a:p>
            <a:r>
              <a:t>XAI tahlili modelning haqiqiy asoslarini ochib beradi va ayni paytda uning chegaralarini ko'rsatadi. Grad-CAM xaritasi hujum ostida ko'chishi tushuntirishning o'zi ham hujumga zaifligini bildiradi; shuning uchun tushuntirishlarni foydalanuvchiga ko'rsatishdan oldin ularning barqarorligini (kichik shovqinda xarita qanchalik o'zgaradi) va sodiqligini (muhim deb ko'rsatilgan hududni o'chirish bashoratni qanchalik o'zgartiradi — deletion/insertion metrikalari) o'lchash kerak.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natijalari eng muhim uslubiy xulosani beradi: «sezgir atributni olib tashlash» (fairness through unawareness) ishlamaydi, chunki SHAP vakil belgilar orqali ta'sir saqlanishini ko'rsatadi. Tuzatish usullari EO farqini beshdan bir qismga tushiradi, lekin aniqlik 1–1.5 foiz bandiga pasayadi va demografik paritet to'liq yo'qolmaydi — bu mezonlarning mos kelmaslik teoremasining amaliy namoyishi. Post-processing usuli oddiy va mavjud modelga qo'llaniladi, lekin inferens vaqtida sezgir atributni talab qiladi, bu ba'zi yurisdiksiyalarda huquqiy muammo tug'diradi; in-processing usuli esa buni talab qilmaydi, lekin qayta o'qitishni va tasodifiylashtirilgan qarorlarni qabul qilishni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Hujumni normallashtirilgan fazoda bajarish. epsilon = 8/255 faqat [0, 1] piksel fazosida ma'noga ega; normalizatsiya tashqarida bo'lsa, hujum haqiqatdan 4 baravar kuchliroq yoki kuchsizroq chiqadi. Normalizatsiyani model ichiga oling.</a:t>
            </a:r>
          </a:p>
          <a:p/>
          <a:p>
            <a:r>
              <a:t>Hujumda model.train() rejimi. BatchNorm va Dropout tasodifiylik kiritadi, gradientlar noto'g'ri bo'ladi, hujum zaiflashadi va «soxta mustahkamlik» ko'rinadi. Hujum yasashdan oldin doimo eval().</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a:p/>
          <a:p>
            <a:r>
              <a:t>Bitta epsilon da baholash. Mustahkamlik — egri chiziq, nuqta emas. Kamida 4–5 epsilon qiymati va kamida ikkita hujum turi.</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Grad-CAM uchun noto'g'ri qatlam. Juda erta qatlam — shovqinli xarita, juda kech (to'liq bog'langan) — xarita yo'q. Oxirgi konvolyutsion blok (ResNet'da layer4[-1]) standart tanlov; ViT uchun oxirgi LayerNorm va reshape transformatsiyasi kerak.</a:t>
            </a:r>
          </a:p>
          <a:p/>
          <a:p>
            <a:r>
              <a:t>SHAP'ni butun test to'plamida KernelSHAP bilan hisoblash. Soatlab vaqt oladi. Daraxt modellari uchun TreeSHAP, neyron tarmoqlar uchun DeepSHAP/GradientSHAP; KernelSHAP faqat kichik tanlanma uchun.</a:t>
            </a:r>
          </a:p>
          <a:p/>
          <a:p>
            <a:r>
              <a:t>Sezgir atributni o'chirib «adolatli» deb e'lon qilish. Vakil belgilar ta'sirni saqlaydi; har doim guruhlar kesimida o'lchang, atribut modelda bo'lmasa ham baholashda ishlating.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a:p/>
          <a:p>
            <a:r>
              <a:t>Kichik guruhlarda shovqinli metrika. Agar guruhda 50 tadan kam namuna bo'lsa, TPR farqi tasodifiy bo'lishi mumkin; ishonch intervallarini (bootstrap) keltiring.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Tekshiruv ro'yxatini rasmiyat uchun to'ldirish. Har band dalil (fayl, grafik, raqam, mas'ul shaxs) talab qiladi; dalilsiz «bajarilgan» belgi auditda qabul qilinmaydi.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5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6900000" y="43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53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4" name="Picture 63" descr="bfd939b6a51de754.jpg"/>
          <p:cNvPicPr>
            <a:picLocks noChangeAspect="1"/>
          </p:cNvPicPr>
          <p:nvPr/>
        </p:nvPicPr>
        <p:blipFill>
          <a:blip r:embed="rId2"/>
          <a:srcRect l="8672" r="8672"/>
          <a:stretch>
            <a:fillRect/>
          </a:stretch>
        </p:blipFill>
        <p:spPr>
          <a:xfrm>
            <a:off x="7850000" y="1500000"/>
            <a:ext cx="3300000" cy="3300000"/>
          </a:xfrm>
          <a:prstGeom prst="ellipse">
            <a:avLst/>
          </a:prstGeom>
          <a:ln w="19050">
            <a:solidFill>
              <a:srgbClr val="22D3EE"/>
            </a:solidFill>
          </a:ln>
        </p:spPr>
      </p:pic>
      <p:sp>
        <p:nvSpPr>
          <p:cNvPr id="65" name="TextBox 64"/>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Pierre André Leclercq · Wikimedia Commons · CC BY-SA 4.0</a:t>
            </a:r>
          </a:p>
        </p:txBody>
      </p:sp>
      <p:sp>
        <p:nvSpPr>
          <p:cNvPr id="66" name="Rounded Rectangle 65"/>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LABORATORIYA ISHI · A6 · 2 soat</a:t>
            </a:r>
          </a:p>
        </p:txBody>
      </p:sp>
      <p:sp>
        <p:nvSpPr>
          <p:cNvPr id="67" name="TextBox 66"/>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8" name="TextBox 67"/>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 tizimlarining xavfsizligi va ishonchliligini tahlil qilish</a:t>
            </a:r>
          </a:p>
        </p:txBody>
      </p:sp>
      <p:sp>
        <p:nvSpPr>
          <p:cNvPr id="69" name="Rectangle 68"/>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8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3"/>
                                        </p:tgtEl>
                                        <p:attrNameLst>
                                          <p:attrName>style.visibility</p:attrName>
                                        </p:attrNameLst>
                                      </p:cBhvr>
                                      <p:to>
                                        <p:strVal val="visible"/>
                                      </p:to>
                                    </p:set>
                                    <p:animEffect transition="in" filter="fade">
                                      <p:cBhvr>
                                        <p:cTn id="242" dur="550"/>
                                        <p:tgtEl>
                                          <p:spTgt spid="63"/>
                                        </p:tgtEl>
                                      </p:cBhvr>
                                    </p:animEffect>
                                    <p:anim calcmode="lin" valueType="num">
                                      <p:cBhvr additive="base">
                                        <p:cTn id="243" dur="550" fill="hold"/>
                                        <p:tgtEl>
                                          <p:spTgt spid="63"/>
                                        </p:tgtEl>
                                        <p:attrNameLst>
                                          <p:attrName>ppt_w</p:attrName>
                                        </p:attrNameLst>
                                      </p:cBhvr>
                                      <p:tavLst>
                                        <p:tav tm="0">
                                          <p:val>
                                            <p:strVal val="0"/>
                                          </p:val>
                                        </p:tav>
                                        <p:tav tm="100000">
                                          <p:val>
                                            <p:strVal val="#ppt_w"/>
                                          </p:val>
                                        </p:tav>
                                      </p:tavLst>
                                    </p:anim>
                                    <p:anim calcmode="lin" valueType="num">
                                      <p:cBhvr additive="base">
                                        <p:cTn id="244" dur="550" fill="hold"/>
                                        <p:tgtEl>
                                          <p:spTgt spid="63"/>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53" presetClass="entr" presetSubtype="16"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anim calcmode="lin" valueType="num">
                                      <p:cBhvr additive="base">
                                        <p:cTn id="249" dur="550" fill="hold"/>
                                        <p:tgtEl>
                                          <p:spTgt spid="62"/>
                                        </p:tgtEl>
                                        <p:attrNameLst>
                                          <p:attrName>ppt_w</p:attrName>
                                        </p:attrNameLst>
                                      </p:cBhvr>
                                      <p:tavLst>
                                        <p:tav tm="0">
                                          <p:val>
                                            <p:strVal val="0"/>
                                          </p:val>
                                        </p:tav>
                                        <p:tav tm="100000">
                                          <p:val>
                                            <p:strVal val="#ppt_w"/>
                                          </p:val>
                                        </p:tav>
                                      </p:tavLst>
                                    </p:anim>
                                    <p:anim calcmode="lin" valueType="num">
                                      <p:cBhvr additive="base">
                                        <p:cTn id="250" dur="550" fill="hold"/>
                                        <p:tgtEl>
                                          <p:spTgt spid="62"/>
                                        </p:tgtEl>
                                        <p:attrNameLst>
                                          <p:attrName>ppt_h</p:attrName>
                                        </p:attrNameLst>
                                      </p:cBhvr>
                                      <p:tavLst>
                                        <p:tav tm="0">
                                          <p:val>
                                            <p:strVal val="0"/>
                                          </p:val>
                                        </p:tav>
                                        <p:tav tm="100000">
                                          <p:val>
                                            <p:strVal val="#ppt_h"/>
                                          </p:val>
                                        </p:tav>
                                      </p:tavLst>
                                    </p:anim>
                                  </p:childTnLst>
                                </p:cTn>
                              </p:par>
                            </p:childTnLst>
                          </p:cTn>
                        </p:par>
                        <p:par>
                          <p:cTn id="251" fill="hold">
                            <p:stCondLst>
                              <p:cond delay="200"/>
                            </p:stCondLst>
                            <p:childTnLst>
                              <p:par>
                                <p:cTn id="252" presetID="53" presetClass="entr" presetSubtype="16" fill="hold" grpId="0" nodeType="afterEffect">
                                  <p:stCondLst>
                                    <p:cond delay="0"/>
                                  </p:stCondLst>
                                  <p:childTnLst>
                                    <p:set>
                                      <p:cBhvr>
                                        <p:cTn id="253" dur="1" fill="hold">
                                          <p:stCondLst>
                                            <p:cond delay="0"/>
                                          </p:stCondLst>
                                        </p:cTn>
                                        <p:tgtEl>
                                          <p:spTgt spid="64"/>
                                        </p:tgtEl>
                                        <p:attrNameLst>
                                          <p:attrName>style.visibility</p:attrName>
                                        </p:attrNameLst>
                                      </p:cBhvr>
                                      <p:to>
                                        <p:strVal val="visible"/>
                                      </p:to>
                                    </p:set>
                                    <p:animEffect transition="in" filter="fade">
                                      <p:cBhvr>
                                        <p:cTn id="254" dur="550"/>
                                        <p:tgtEl>
                                          <p:spTgt spid="64"/>
                                        </p:tgtEl>
                                      </p:cBhvr>
                                    </p:animEffect>
                                    <p:anim calcmode="lin" valueType="num">
                                      <p:cBhvr additive="base">
                                        <p:cTn id="255" dur="550" fill="hold"/>
                                        <p:tgtEl>
                                          <p:spTgt spid="64"/>
                                        </p:tgtEl>
                                        <p:attrNameLst>
                                          <p:attrName>ppt_w</p:attrName>
                                        </p:attrNameLst>
                                      </p:cBhvr>
                                      <p:tavLst>
                                        <p:tav tm="0">
                                          <p:val>
                                            <p:strVal val="0"/>
                                          </p:val>
                                        </p:tav>
                                        <p:tav tm="100000">
                                          <p:val>
                                            <p:strVal val="#ppt_w"/>
                                          </p:val>
                                        </p:tav>
                                      </p:tavLst>
                                    </p:anim>
                                    <p:anim calcmode="lin" valueType="num">
                                      <p:cBhvr additive="base">
                                        <p:cTn id="256" dur="550" fill="hold"/>
                                        <p:tgtEl>
                                          <p:spTgt spid="64"/>
                                        </p:tgtEl>
                                        <p:attrNameLst>
                                          <p:attrName>ppt_h</p:attrName>
                                        </p:attrNameLst>
                                      </p:cBhvr>
                                      <p:tavLst>
                                        <p:tav tm="0">
                                          <p:val>
                                            <p:strVal val="0"/>
                                          </p:val>
                                        </p:tav>
                                        <p:tav tm="100000">
                                          <p:val>
                                            <p:strVal val="#ppt_h"/>
                                          </p:val>
                                        </p:tav>
                                      </p:tavLst>
                                    </p:anim>
                                  </p:childTnLst>
                                </p:cTn>
                              </p:par>
                            </p:childTnLst>
                          </p:cTn>
                        </p:par>
                        <p:par>
                          <p:cTn id="257" fill="hold">
                            <p:stCondLst>
                              <p:cond delay="200"/>
                            </p:stCondLst>
                            <p:childTnLst>
                              <p:par>
                                <p:cTn id="258" presetID="10" presetClass="entr" presetSubtype="0" fill="hold" grpId="0" nodeType="afterEffect">
                                  <p:stCondLst>
                                    <p:cond delay="0"/>
                                  </p:stCondLst>
                                  <p:childTnLst>
                                    <p:set>
                                      <p:cBhvr>
                                        <p:cTn id="259" dur="1" fill="hold">
                                          <p:stCondLst>
                                            <p:cond delay="0"/>
                                          </p:stCondLst>
                                        </p:cTn>
                                        <p:tgtEl>
                                          <p:spTgt spid="65"/>
                                        </p:tgtEl>
                                        <p:attrNameLst>
                                          <p:attrName>style.visibility</p:attrName>
                                        </p:attrNameLst>
                                      </p:cBhvr>
                                      <p:to>
                                        <p:strVal val="visible"/>
                                      </p:to>
                                    </p:set>
                                    <p:animEffect transition="in" filter="fade">
                                      <p:cBhvr>
                                        <p:cTn id="260" dur="550"/>
                                        <p:tgtEl>
                                          <p:spTgt spid="65"/>
                                        </p:tgtEl>
                                      </p:cBhvr>
                                    </p:animEffect>
                                  </p:childTnLst>
                                </p:cTn>
                              </p:par>
                            </p:childTnLst>
                          </p:cTn>
                        </p:par>
                        <p:par>
                          <p:cTn id="261" fill="hold">
                            <p:stCondLst>
                              <p:cond delay="350"/>
                            </p:stCondLst>
                            <p:childTnLst>
                              <p:par>
                                <p:cTn id="262" presetID="10" presetClass="entr" presetSubtype="0" fill="hold" grpId="0" nodeType="afterEffect">
                                  <p:stCondLst>
                                    <p:cond delay="0"/>
                                  </p:stCondLst>
                                  <p:childTnLst>
                                    <p:set>
                                      <p:cBhvr>
                                        <p:cTn id="263" dur="1" fill="hold">
                                          <p:stCondLst>
                                            <p:cond delay="0"/>
                                          </p:stCondLst>
                                        </p:cTn>
                                        <p:tgtEl>
                                          <p:spTgt spid="67"/>
                                        </p:tgtEl>
                                        <p:attrNameLst>
                                          <p:attrName>style.visibility</p:attrName>
                                        </p:attrNameLst>
                                      </p:cBhvr>
                                      <p:to>
                                        <p:strVal val="visible"/>
                                      </p:to>
                                    </p:set>
                                    <p:animEffect transition="in" filter="fade">
                                      <p:cBhvr>
                                        <p:cTn id="264" dur="550"/>
                                        <p:tgtEl>
                                          <p:spTgt spid="67"/>
                                        </p:tgtEl>
                                      </p:cBhvr>
                                    </p:animEffect>
                                  </p:childTnLst>
                                </p:cTn>
                              </p:par>
                            </p:childTnLst>
                          </p:cTn>
                        </p:par>
                        <p:par>
                          <p:cTn id="265" fill="hold">
                            <p:stCondLst>
                              <p:cond delay="500"/>
                            </p:stCondLst>
                            <p:childTnLst>
                              <p:par>
                                <p:cTn id="266" presetID="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 calcmode="lin" valueType="num">
                                      <p:cBhvr additive="base">
                                        <p:cTn id="269" dur="550" fill="hold"/>
                                        <p:tgtEl>
                                          <p:spTgt spid="66"/>
                                        </p:tgtEl>
                                        <p:attrNameLst>
                                          <p:attrName>ppt_x</p:attrName>
                                        </p:attrNameLst>
                                      </p:cBhvr>
                                      <p:tavLst>
                                        <p:tav tm="0">
                                          <p:val>
                                            <p:strVal val="0-#ppt_w/2"/>
                                          </p:val>
                                        </p:tav>
                                        <p:tav tm="100000">
                                          <p:val>
                                            <p:strVal val="#ppt_x"/>
                                          </p:val>
                                        </p:tav>
                                      </p:tavLst>
                                    </p:anim>
                                    <p:anim calcmode="lin" valueType="num">
                                      <p:cBhvr additive="base">
                                        <p:cTn id="270" dur="550" fill="hold"/>
                                        <p:tgtEl>
                                          <p:spTgt spid="66"/>
                                        </p:tgtEl>
                                        <p:attrNameLst>
                                          <p:attrName>ppt_y</p:attrName>
                                        </p:attrNameLst>
                                      </p:cBhvr>
                                      <p:tavLst>
                                        <p:tav tm="0">
                                          <p:val>
                                            <p:strVal val="#ppt_y"/>
                                          </p:val>
                                        </p:tav>
                                        <p:tav tm="100000">
                                          <p:val>
                                            <p:strVal val="#ppt_y"/>
                                          </p:val>
                                        </p:tav>
                                      </p:tavLst>
                                    </p:anim>
                                  </p:childTnLst>
                                </p:cTn>
                              </p:par>
                            </p:childTnLst>
                          </p:cTn>
                        </p:par>
                        <p:par>
                          <p:cTn id="271" fill="hold">
                            <p:stCondLst>
                              <p:cond delay="650"/>
                            </p:stCondLst>
                            <p:childTnLst>
                              <p:par>
                                <p:cTn id="272" presetID="42" presetClass="entr" presetSubtype="0" fill="hold" grpId="0" nodeType="afterEffect">
                                  <p:stCondLst>
                                    <p:cond delay="0"/>
                                  </p:stCondLst>
                                  <p:childTnLst>
                                    <p:set>
                                      <p:cBhvr>
                                        <p:cTn id="273" dur="1" fill="hold">
                                          <p:stCondLst>
                                            <p:cond delay="0"/>
                                          </p:stCondLst>
                                        </p:cTn>
                                        <p:tgtEl>
                                          <p:spTgt spid="68"/>
                                        </p:tgtEl>
                                        <p:attrNameLst>
                                          <p:attrName>style.visibility</p:attrName>
                                        </p:attrNameLst>
                                      </p:cBhvr>
                                      <p:to>
                                        <p:strVal val="visible"/>
                                      </p:to>
                                    </p:set>
                                    <p:animEffect transition="in" filter="fade">
                                      <p:cBhvr>
                                        <p:cTn id="274" dur="550"/>
                                        <p:tgtEl>
                                          <p:spTgt spid="68"/>
                                        </p:tgtEl>
                                      </p:cBhvr>
                                    </p:animEffect>
                                    <p:anim calcmode="lin" valueType="num">
                                      <p:cBhvr additive="base">
                                        <p:cTn id="275" dur="550" fill="hold"/>
                                        <p:tgtEl>
                                          <p:spTgt spid="68"/>
                                        </p:tgtEl>
                                        <p:attrNameLst>
                                          <p:attrName>ppt_x</p:attrName>
                                        </p:attrNameLst>
                                      </p:cBhvr>
                                      <p:tavLst>
                                        <p:tav tm="0">
                                          <p:val>
                                            <p:strVal val="#ppt_x"/>
                                          </p:val>
                                        </p:tav>
                                        <p:tav tm="100000">
                                          <p:val>
                                            <p:strVal val="#ppt_x"/>
                                          </p:val>
                                        </p:tav>
                                      </p:tavLst>
                                    </p:anim>
                                    <p:anim calcmode="lin" valueType="num">
                                      <p:cBhvr additive="base">
                                        <p:cTn id="276" dur="550" fill="hold"/>
                                        <p:tgtEl>
                                          <p:spTgt spid="68"/>
                                        </p:tgtEl>
                                        <p:attrNameLst>
                                          <p:attrName>ppt_y</p:attrName>
                                        </p:attrNameLst>
                                      </p:cBhvr>
                                      <p:tavLst>
                                        <p:tav tm="0">
                                          <p:val>
                                            <p:strVal val="#ppt_y+.08"/>
                                          </p:val>
                                        </p:tav>
                                        <p:tav tm="100000">
                                          <p:val>
                                            <p:strVal val="#ppt_y"/>
                                          </p:val>
                                        </p:tav>
                                      </p:tavLst>
                                    </p:anim>
                                  </p:childTnLst>
                                </p:cTn>
                              </p:par>
                            </p:childTnLst>
                          </p:cTn>
                        </p:par>
                        <p:par>
                          <p:cTn id="277" fill="hold">
                            <p:stCondLst>
                              <p:cond delay="800"/>
                            </p:stCondLst>
                            <p:childTnLst>
                              <p:par>
                                <p:cTn id="278" presetID="22" presetClass="entr" presetSubtype="8" fill="hold" grpId="0" nodeType="afterEffect">
                                  <p:stCondLst>
                                    <p:cond delay="0"/>
                                  </p:stCondLst>
                                  <p:childTnLst>
                                    <p:set>
                                      <p:cBhvr>
                                        <p:cTn id="279" dur="1" fill="hold">
                                          <p:stCondLst>
                                            <p:cond delay="0"/>
                                          </p:stCondLst>
                                        </p:cTn>
                                        <p:tgtEl>
                                          <p:spTgt spid="69"/>
                                        </p:tgtEl>
                                        <p:attrNameLst>
                                          <p:attrName>style.visibility</p:attrName>
                                        </p:attrNameLst>
                                      </p:cBhvr>
                                      <p:to>
                                        <p:strVal val="visible"/>
                                      </p:to>
                                    </p:set>
                                    <p:animEffect transition="in" filter="wipe(left)">
                                      <p:cBhvr>
                                        <p:cTn id="281" dur="800"/>
                                        <p:tgtEl>
                                          <p:spTgt spid="69"/>
                                        </p:tgtEl>
                                      </p:cBhvr>
                                    </p:animEffect>
                                  </p:childTnLst>
                                </p:cTn>
                              </p:par>
                            </p:childTnLst>
                          </p:cTn>
                        </p:par>
                        <p:par>
                          <p:cTn id="282" fill="hold">
                            <p:stCondLst>
                              <p:cond delay="950"/>
                            </p:stCondLst>
                            <p:childTnLst>
                              <p:par>
                                <p:cTn id="283" presetID="10" presetClass="entr" presetSubtype="0" fill="hold" grpId="0" nodeType="afterEffect">
                                  <p:stCondLst>
                                    <p:cond delay="0"/>
                                  </p:stCondLst>
                                  <p:childTnLst>
                                    <p:set>
                                      <p:cBhvr>
                                        <p:cTn id="284" dur="1" fill="hold">
                                          <p:stCondLst>
                                            <p:cond delay="0"/>
                                          </p:stCondLst>
                                        </p:cTn>
                                        <p:tgtEl>
                                          <p:spTgt spid="70"/>
                                        </p:tgtEl>
                                        <p:attrNameLst>
                                          <p:attrName>style.visibility</p:attrName>
                                        </p:attrNameLst>
                                      </p:cBhvr>
                                      <p:to>
                                        <p:strVal val="visible"/>
                                      </p:to>
                                    </p:set>
                                    <p:animEffect transition="in" filter="fade">
                                      <p:cBhvr>
                                        <p:cTn id="285" dur="55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P spid="62" grpId="0" animBg="1"/>
      <p:bldP spid="65" grpId="0" animBg="1"/>
      <p:bldP spid="67" grpId="0" animBg="1"/>
      <p:bldP spid="66" grpId="0" animBg="1"/>
      <p:bldP spid="68" grpId="0" animBg="1"/>
      <p:bldP spid="69" grpId="0" animBg="1"/>
      <p:bldP spid="7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 REJASI</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3" name="Rounded Rectangle 22"/>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Mavzuning maqsadi va o'rganish natijalari</a:t>
            </a:r>
          </a:p>
        </p:txBody>
      </p:sp>
      <p:sp>
        <p:nvSpPr>
          <p:cNvPr id="27" name="Rounded Rectangle 26"/>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Kirish</a:t>
            </a:r>
          </a:p>
        </p:txBody>
      </p:sp>
      <p:sp>
        <p:nvSpPr>
          <p:cNvPr id="31" name="Rounded Rectangle 30"/>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Nazariy asoslar</a:t>
            </a:r>
          </a:p>
        </p:txBody>
      </p:sp>
      <p:sp>
        <p:nvSpPr>
          <p:cNvPr id="35" name="Rounded Rectangle 34"/>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8" name="TextBox 37"/>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Amaliy misol</a:t>
            </a:r>
          </a:p>
        </p:txBody>
      </p:sp>
      <p:sp>
        <p:nvSpPr>
          <p:cNvPr id="39" name="Rounded Rectangle 38"/>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2" name="TextBox 41"/>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Natijalarni tahlil qilish</a:t>
            </a:r>
          </a:p>
        </p:txBody>
      </p:sp>
      <p:sp>
        <p:nvSpPr>
          <p:cNvPr id="43" name="Rounded Rectangle 42"/>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6" name="TextBox 45"/>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50"/>
                                        <p:tgtEl>
                                          <p:spTgt spid="27"/>
                                        </p:tgtEl>
                                      </p:cBhvr>
                                    </p:animEffect>
                                    <p:anim calcmode="lin" valueType="num">
                                      <p:cBhvr additive="base">
                                        <p:cTn id="40" dur="550" fill="hold"/>
                                        <p:tgtEl>
                                          <p:spTgt spid="27"/>
                                        </p:tgtEl>
                                        <p:attrNameLst>
                                          <p:attrName>ppt_x</p:attrName>
                                        </p:attrNameLst>
                                      </p:cBhvr>
                                      <p:tavLst>
                                        <p:tav tm="0">
                                          <p:val>
                                            <p:strVal val="#ppt_x"/>
                                          </p:val>
                                        </p:tav>
                                        <p:tav tm="100000">
                                          <p:val>
                                            <p:strVal val="#ppt_x"/>
                                          </p:val>
                                        </p:tav>
                                      </p:tavLst>
                                    </p:anim>
                                    <p:anim calcmode="lin" valueType="num">
                                      <p:cBhvr additive="base">
                                        <p:cTn id="41" dur="550" fill="hold"/>
                                        <p:tgtEl>
                                          <p:spTgt spid="27"/>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50"/>
                                        <p:tgtEl>
                                          <p:spTgt spid="28"/>
                                        </p:tgtEl>
                                      </p:cBhvr>
                                    </p:animEffect>
                                    <p:anim calcmode="lin" valueType="num">
                                      <p:cBhvr additive="base">
                                        <p:cTn id="46" dur="550" fill="hold"/>
                                        <p:tgtEl>
                                          <p:spTgt spid="28"/>
                                        </p:tgtEl>
                                        <p:attrNameLst>
                                          <p:attrName>ppt_x</p:attrName>
                                        </p:attrNameLst>
                                      </p:cBhvr>
                                      <p:tavLst>
                                        <p:tav tm="0">
                                          <p:val>
                                            <p:strVal val="#ppt_x"/>
                                          </p:val>
                                        </p:tav>
                                        <p:tav tm="100000">
                                          <p:val>
                                            <p:strVal val="#ppt_x"/>
                                          </p:val>
                                        </p:tav>
                                      </p:tavLst>
                                    </p:anim>
                                    <p:anim calcmode="lin" valueType="num">
                                      <p:cBhvr additive="base">
                                        <p:cTn id="47" dur="550" fill="hold"/>
                                        <p:tgtEl>
                                          <p:spTgt spid="28"/>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9"/>
                                        </p:tgtEl>
                                        <p:attrNameLst>
                                          <p:attrName>style.visibility</p:attrName>
                                        </p:attrNameLst>
                                      </p:cBhvr>
                                      <p:to>
                                        <p:strVal val="visible"/>
                                      </p:to>
                                    </p:set>
                                    <p:animEffect transition="in" filter="fade">
                                      <p:cBhvr>
                                        <p:cTn id="51" dur="550"/>
                                        <p:tgtEl>
                                          <p:spTgt spid="29"/>
                                        </p:tgtEl>
                                      </p:cBhvr>
                                    </p:animEffect>
                                    <p:anim calcmode="lin" valueType="num">
                                      <p:cBhvr additive="base">
                                        <p:cTn id="52" dur="550" fill="hold"/>
                                        <p:tgtEl>
                                          <p:spTgt spid="29"/>
                                        </p:tgtEl>
                                        <p:attrNameLst>
                                          <p:attrName>ppt_w</p:attrName>
                                        </p:attrNameLst>
                                      </p:cBhvr>
                                      <p:tavLst>
                                        <p:tav tm="0">
                                          <p:val>
                                            <p:strVal val="0"/>
                                          </p:val>
                                        </p:tav>
                                        <p:tav tm="100000">
                                          <p:val>
                                            <p:strVal val="#ppt_w"/>
                                          </p:val>
                                        </p:tav>
                                      </p:tavLst>
                                    </p:anim>
                                    <p:anim calcmode="lin" valueType="num">
                                      <p:cBhvr additive="base">
                                        <p:cTn id="53" dur="550" fill="hold"/>
                                        <p:tgtEl>
                                          <p:spTgt spid="29"/>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50"/>
                                        <p:tgtEl>
                                          <p:spTgt spid="30"/>
                                        </p:tgtEl>
                                      </p:cBhvr>
                                    </p:animEffect>
                                    <p:anim calcmode="lin" valueType="num">
                                      <p:cBhvr additive="base">
                                        <p:cTn id="58" dur="550" fill="hold"/>
                                        <p:tgtEl>
                                          <p:spTgt spid="30"/>
                                        </p:tgtEl>
                                        <p:attrNameLst>
                                          <p:attrName>ppt_x</p:attrName>
                                        </p:attrNameLst>
                                      </p:cBhvr>
                                      <p:tavLst>
                                        <p:tav tm="0">
                                          <p:val>
                                            <p:strVal val="#ppt_x"/>
                                          </p:val>
                                        </p:tav>
                                        <p:tav tm="100000">
                                          <p:val>
                                            <p:strVal val="#ppt_x"/>
                                          </p:val>
                                        </p:tav>
                                      </p:tavLst>
                                    </p:anim>
                                    <p:anim calcmode="lin" valueType="num">
                                      <p:cBhvr additive="base">
                                        <p:cTn id="59" dur="550" fill="hold"/>
                                        <p:tgtEl>
                                          <p:spTgt spid="30"/>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550"/>
                                        <p:tgtEl>
                                          <p:spTgt spid="31"/>
                                        </p:tgtEl>
                                      </p:cBhvr>
                                    </p:animEffect>
                                    <p:anim calcmode="lin" valueType="num">
                                      <p:cBhvr additive="base">
                                        <p:cTn id="64" dur="550" fill="hold"/>
                                        <p:tgtEl>
                                          <p:spTgt spid="31"/>
                                        </p:tgtEl>
                                        <p:attrNameLst>
                                          <p:attrName>ppt_x</p:attrName>
                                        </p:attrNameLst>
                                      </p:cBhvr>
                                      <p:tavLst>
                                        <p:tav tm="0">
                                          <p:val>
                                            <p:strVal val="#ppt_x"/>
                                          </p:val>
                                        </p:tav>
                                        <p:tav tm="100000">
                                          <p:val>
                                            <p:strVal val="#ppt_x"/>
                                          </p:val>
                                        </p:tav>
                                      </p:tavLst>
                                    </p:anim>
                                    <p:anim calcmode="lin" valueType="num">
                                      <p:cBhvr additive="base">
                                        <p:cTn id="65" dur="550" fill="hold"/>
                                        <p:tgtEl>
                                          <p:spTgt spid="31"/>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550"/>
                                        <p:tgtEl>
                                          <p:spTgt spid="32"/>
                                        </p:tgtEl>
                                      </p:cBhvr>
                                    </p:animEffect>
                                    <p:anim calcmode="lin" valueType="num">
                                      <p:cBhvr additive="base">
                                        <p:cTn id="70" dur="550" fill="hold"/>
                                        <p:tgtEl>
                                          <p:spTgt spid="32"/>
                                        </p:tgtEl>
                                        <p:attrNameLst>
                                          <p:attrName>ppt_x</p:attrName>
                                        </p:attrNameLst>
                                      </p:cBhvr>
                                      <p:tavLst>
                                        <p:tav tm="0">
                                          <p:val>
                                            <p:strVal val="#ppt_x"/>
                                          </p:val>
                                        </p:tav>
                                        <p:tav tm="100000">
                                          <p:val>
                                            <p:strVal val="#ppt_x"/>
                                          </p:val>
                                        </p:tav>
                                      </p:tavLst>
                                    </p:anim>
                                    <p:anim calcmode="lin" valueType="num">
                                      <p:cBhvr additive="base">
                                        <p:cTn id="71" dur="550" fill="hold"/>
                                        <p:tgtEl>
                                          <p:spTgt spid="32"/>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550"/>
                                        <p:tgtEl>
                                          <p:spTgt spid="33"/>
                                        </p:tgtEl>
                                      </p:cBhvr>
                                    </p:animEffect>
                                    <p:anim calcmode="lin" valueType="num">
                                      <p:cBhvr additive="base">
                                        <p:cTn id="76" dur="550" fill="hold"/>
                                        <p:tgtEl>
                                          <p:spTgt spid="33"/>
                                        </p:tgtEl>
                                        <p:attrNameLst>
                                          <p:attrName>ppt_w</p:attrName>
                                        </p:attrNameLst>
                                      </p:cBhvr>
                                      <p:tavLst>
                                        <p:tav tm="0">
                                          <p:val>
                                            <p:strVal val="0"/>
                                          </p:val>
                                        </p:tav>
                                        <p:tav tm="100000">
                                          <p:val>
                                            <p:strVal val="#ppt_w"/>
                                          </p:val>
                                        </p:tav>
                                      </p:tavLst>
                                    </p:anim>
                                    <p:anim calcmode="lin" valueType="num">
                                      <p:cBhvr additive="base">
                                        <p:cTn id="77" dur="550" fill="hold"/>
                                        <p:tgtEl>
                                          <p:spTgt spid="33"/>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550"/>
                                        <p:tgtEl>
                                          <p:spTgt spid="34"/>
                                        </p:tgtEl>
                                      </p:cBhvr>
                                    </p:animEffect>
                                    <p:anim calcmode="lin" valueType="num">
                                      <p:cBhvr additive="base">
                                        <p:cTn id="82" dur="550" fill="hold"/>
                                        <p:tgtEl>
                                          <p:spTgt spid="34"/>
                                        </p:tgtEl>
                                        <p:attrNameLst>
                                          <p:attrName>ppt_x</p:attrName>
                                        </p:attrNameLst>
                                      </p:cBhvr>
                                      <p:tavLst>
                                        <p:tav tm="0">
                                          <p:val>
                                            <p:strVal val="#ppt_x"/>
                                          </p:val>
                                        </p:tav>
                                        <p:tav tm="100000">
                                          <p:val>
                                            <p:strVal val="#ppt_x"/>
                                          </p:val>
                                        </p:tav>
                                      </p:tavLst>
                                    </p:anim>
                                    <p:anim calcmode="lin" valueType="num">
                                      <p:cBhvr additive="base">
                                        <p:cTn id="83" dur="550" fill="hold"/>
                                        <p:tgtEl>
                                          <p:spTgt spid="34"/>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550"/>
                                        <p:tgtEl>
                                          <p:spTgt spid="35"/>
                                        </p:tgtEl>
                                      </p:cBhvr>
                                    </p:animEffect>
                                    <p:anim calcmode="lin" valueType="num">
                                      <p:cBhvr additive="base">
                                        <p:cTn id="88" dur="550" fill="hold"/>
                                        <p:tgtEl>
                                          <p:spTgt spid="35"/>
                                        </p:tgtEl>
                                        <p:attrNameLst>
                                          <p:attrName>ppt_x</p:attrName>
                                        </p:attrNameLst>
                                      </p:cBhvr>
                                      <p:tavLst>
                                        <p:tav tm="0">
                                          <p:val>
                                            <p:strVal val="#ppt_x"/>
                                          </p:val>
                                        </p:tav>
                                        <p:tav tm="100000">
                                          <p:val>
                                            <p:strVal val="#ppt_x"/>
                                          </p:val>
                                        </p:tav>
                                      </p:tavLst>
                                    </p:anim>
                                    <p:anim calcmode="lin" valueType="num">
                                      <p:cBhvr additive="base">
                                        <p:cTn id="89" dur="550" fill="hold"/>
                                        <p:tgtEl>
                                          <p:spTgt spid="35"/>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6"/>
                                        </p:tgtEl>
                                        <p:attrNameLst>
                                          <p:attrName>style.visibility</p:attrName>
                                        </p:attrNameLst>
                                      </p:cBhvr>
                                      <p:to>
                                        <p:strVal val="visible"/>
                                      </p:to>
                                    </p:set>
                                    <p:animEffect transition="in" filter="fade">
                                      <p:cBhvr>
                                        <p:cTn id="93" dur="550"/>
                                        <p:tgtEl>
                                          <p:spTgt spid="36"/>
                                        </p:tgtEl>
                                      </p:cBhvr>
                                    </p:animEffect>
                                    <p:anim calcmode="lin" valueType="num">
                                      <p:cBhvr additive="base">
                                        <p:cTn id="94" dur="550" fill="hold"/>
                                        <p:tgtEl>
                                          <p:spTgt spid="36"/>
                                        </p:tgtEl>
                                        <p:attrNameLst>
                                          <p:attrName>ppt_x</p:attrName>
                                        </p:attrNameLst>
                                      </p:cBhvr>
                                      <p:tavLst>
                                        <p:tav tm="0">
                                          <p:val>
                                            <p:strVal val="#ppt_x"/>
                                          </p:val>
                                        </p:tav>
                                        <p:tav tm="100000">
                                          <p:val>
                                            <p:strVal val="#ppt_x"/>
                                          </p:val>
                                        </p:tav>
                                      </p:tavLst>
                                    </p:anim>
                                    <p:anim calcmode="lin" valueType="num">
                                      <p:cBhvr additive="base">
                                        <p:cTn id="95" dur="550" fill="hold"/>
                                        <p:tgtEl>
                                          <p:spTgt spid="36"/>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7"/>
                                        </p:tgtEl>
                                        <p:attrNameLst>
                                          <p:attrName>style.visibility</p:attrName>
                                        </p:attrNameLst>
                                      </p:cBhvr>
                                      <p:to>
                                        <p:strVal val="visible"/>
                                      </p:to>
                                    </p:set>
                                    <p:animEffect transition="in" filter="fade">
                                      <p:cBhvr>
                                        <p:cTn id="99" dur="550"/>
                                        <p:tgtEl>
                                          <p:spTgt spid="37"/>
                                        </p:tgtEl>
                                      </p:cBhvr>
                                    </p:animEffect>
                                    <p:anim calcmode="lin" valueType="num">
                                      <p:cBhvr additive="base">
                                        <p:cTn id="100" dur="550" fill="hold"/>
                                        <p:tgtEl>
                                          <p:spTgt spid="37"/>
                                        </p:tgtEl>
                                        <p:attrNameLst>
                                          <p:attrName>ppt_w</p:attrName>
                                        </p:attrNameLst>
                                      </p:cBhvr>
                                      <p:tavLst>
                                        <p:tav tm="0">
                                          <p:val>
                                            <p:strVal val="0"/>
                                          </p:val>
                                        </p:tav>
                                        <p:tav tm="100000">
                                          <p:val>
                                            <p:strVal val="#ppt_w"/>
                                          </p:val>
                                        </p:tav>
                                      </p:tavLst>
                                    </p:anim>
                                    <p:anim calcmode="lin" valueType="num">
                                      <p:cBhvr additive="base">
                                        <p:cTn id="101" dur="550" fill="hold"/>
                                        <p:tgtEl>
                                          <p:spTgt spid="37"/>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550"/>
                                        <p:tgtEl>
                                          <p:spTgt spid="38"/>
                                        </p:tgtEl>
                                      </p:cBhvr>
                                    </p:animEffect>
                                    <p:anim calcmode="lin" valueType="num">
                                      <p:cBhvr additive="base">
                                        <p:cTn id="106" dur="550" fill="hold"/>
                                        <p:tgtEl>
                                          <p:spTgt spid="38"/>
                                        </p:tgtEl>
                                        <p:attrNameLst>
                                          <p:attrName>ppt_x</p:attrName>
                                        </p:attrNameLst>
                                      </p:cBhvr>
                                      <p:tavLst>
                                        <p:tav tm="0">
                                          <p:val>
                                            <p:strVal val="#ppt_x"/>
                                          </p:val>
                                        </p:tav>
                                        <p:tav tm="100000">
                                          <p:val>
                                            <p:strVal val="#ppt_x"/>
                                          </p:val>
                                        </p:tav>
                                      </p:tavLst>
                                    </p:anim>
                                    <p:anim calcmode="lin" valueType="num">
                                      <p:cBhvr additive="base">
                                        <p:cTn id="107" dur="550" fill="hold"/>
                                        <p:tgtEl>
                                          <p:spTgt spid="38"/>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9"/>
                                        </p:tgtEl>
                                        <p:attrNameLst>
                                          <p:attrName>style.visibility</p:attrName>
                                        </p:attrNameLst>
                                      </p:cBhvr>
                                      <p:to>
                                        <p:strVal val="visible"/>
                                      </p:to>
                                    </p:set>
                                    <p:animEffect transition="in" filter="fade">
                                      <p:cBhvr>
                                        <p:cTn id="111" dur="550"/>
                                        <p:tgtEl>
                                          <p:spTgt spid="39"/>
                                        </p:tgtEl>
                                      </p:cBhvr>
                                    </p:animEffect>
                                    <p:anim calcmode="lin" valueType="num">
                                      <p:cBhvr additive="base">
                                        <p:cTn id="112" dur="550" fill="hold"/>
                                        <p:tgtEl>
                                          <p:spTgt spid="39"/>
                                        </p:tgtEl>
                                        <p:attrNameLst>
                                          <p:attrName>ppt_x</p:attrName>
                                        </p:attrNameLst>
                                      </p:cBhvr>
                                      <p:tavLst>
                                        <p:tav tm="0">
                                          <p:val>
                                            <p:strVal val="#ppt_x"/>
                                          </p:val>
                                        </p:tav>
                                        <p:tav tm="100000">
                                          <p:val>
                                            <p:strVal val="#ppt_x"/>
                                          </p:val>
                                        </p:tav>
                                      </p:tavLst>
                                    </p:anim>
                                    <p:anim calcmode="lin" valueType="num">
                                      <p:cBhvr additive="base">
                                        <p:cTn id="113" dur="550" fill="hold"/>
                                        <p:tgtEl>
                                          <p:spTgt spid="39"/>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50"/>
                                        <p:tgtEl>
                                          <p:spTgt spid="40"/>
                                        </p:tgtEl>
                                      </p:cBhvr>
                                    </p:animEffect>
                                    <p:anim calcmode="lin" valueType="num">
                                      <p:cBhvr additive="base">
                                        <p:cTn id="118" dur="550" fill="hold"/>
                                        <p:tgtEl>
                                          <p:spTgt spid="40"/>
                                        </p:tgtEl>
                                        <p:attrNameLst>
                                          <p:attrName>ppt_x</p:attrName>
                                        </p:attrNameLst>
                                      </p:cBhvr>
                                      <p:tavLst>
                                        <p:tav tm="0">
                                          <p:val>
                                            <p:strVal val="#ppt_x"/>
                                          </p:val>
                                        </p:tav>
                                        <p:tav tm="100000">
                                          <p:val>
                                            <p:strVal val="#ppt_x"/>
                                          </p:val>
                                        </p:tav>
                                      </p:tavLst>
                                    </p:anim>
                                    <p:anim calcmode="lin" valueType="num">
                                      <p:cBhvr additive="base">
                                        <p:cTn id="119" dur="550" fill="hold"/>
                                        <p:tgtEl>
                                          <p:spTgt spid="40"/>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1"/>
                                        </p:tgtEl>
                                        <p:attrNameLst>
                                          <p:attrName>style.visibility</p:attrName>
                                        </p:attrNameLst>
                                      </p:cBhvr>
                                      <p:to>
                                        <p:strVal val="visible"/>
                                      </p:to>
                                    </p:set>
                                    <p:animEffect transition="in" filter="fade">
                                      <p:cBhvr>
                                        <p:cTn id="123" dur="550"/>
                                        <p:tgtEl>
                                          <p:spTgt spid="41"/>
                                        </p:tgtEl>
                                      </p:cBhvr>
                                    </p:animEffect>
                                    <p:anim calcmode="lin" valueType="num">
                                      <p:cBhvr additive="base">
                                        <p:cTn id="124" dur="550" fill="hold"/>
                                        <p:tgtEl>
                                          <p:spTgt spid="41"/>
                                        </p:tgtEl>
                                        <p:attrNameLst>
                                          <p:attrName>ppt_w</p:attrName>
                                        </p:attrNameLst>
                                      </p:cBhvr>
                                      <p:tavLst>
                                        <p:tav tm="0">
                                          <p:val>
                                            <p:strVal val="0"/>
                                          </p:val>
                                        </p:tav>
                                        <p:tav tm="100000">
                                          <p:val>
                                            <p:strVal val="#ppt_w"/>
                                          </p:val>
                                        </p:tav>
                                      </p:tavLst>
                                    </p:anim>
                                    <p:anim calcmode="lin" valueType="num">
                                      <p:cBhvr additive="base">
                                        <p:cTn id="125" dur="550" fill="hold"/>
                                        <p:tgtEl>
                                          <p:spTgt spid="41"/>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29" dur="550"/>
                                        <p:tgtEl>
                                          <p:spTgt spid="42"/>
                                        </p:tgtEl>
                                      </p:cBhvr>
                                    </p:animEffect>
                                    <p:anim calcmode="lin" valueType="num">
                                      <p:cBhvr additive="base">
                                        <p:cTn id="130" dur="550" fill="hold"/>
                                        <p:tgtEl>
                                          <p:spTgt spid="42"/>
                                        </p:tgtEl>
                                        <p:attrNameLst>
                                          <p:attrName>ppt_x</p:attrName>
                                        </p:attrNameLst>
                                      </p:cBhvr>
                                      <p:tavLst>
                                        <p:tav tm="0">
                                          <p:val>
                                            <p:strVal val="#ppt_x"/>
                                          </p:val>
                                        </p:tav>
                                        <p:tav tm="100000">
                                          <p:val>
                                            <p:strVal val="#ppt_x"/>
                                          </p:val>
                                        </p:tav>
                                      </p:tavLst>
                                    </p:anim>
                                    <p:anim calcmode="lin" valueType="num">
                                      <p:cBhvr additive="base">
                                        <p:cTn id="131" dur="550" fill="hold"/>
                                        <p:tgtEl>
                                          <p:spTgt spid="42"/>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3"/>
                                        </p:tgtEl>
                                        <p:attrNameLst>
                                          <p:attrName>style.visibility</p:attrName>
                                        </p:attrNameLst>
                                      </p:cBhvr>
                                      <p:to>
                                        <p:strVal val="visible"/>
                                      </p:to>
                                    </p:set>
                                    <p:animEffect transition="in" filter="fade">
                                      <p:cBhvr>
                                        <p:cTn id="135" dur="550"/>
                                        <p:tgtEl>
                                          <p:spTgt spid="43"/>
                                        </p:tgtEl>
                                      </p:cBhvr>
                                    </p:animEffect>
                                    <p:anim calcmode="lin" valueType="num">
                                      <p:cBhvr additive="base">
                                        <p:cTn id="136" dur="550" fill="hold"/>
                                        <p:tgtEl>
                                          <p:spTgt spid="43"/>
                                        </p:tgtEl>
                                        <p:attrNameLst>
                                          <p:attrName>ppt_x</p:attrName>
                                        </p:attrNameLst>
                                      </p:cBhvr>
                                      <p:tavLst>
                                        <p:tav tm="0">
                                          <p:val>
                                            <p:strVal val="#ppt_x"/>
                                          </p:val>
                                        </p:tav>
                                        <p:tav tm="100000">
                                          <p:val>
                                            <p:strVal val="#ppt_x"/>
                                          </p:val>
                                        </p:tav>
                                      </p:tavLst>
                                    </p:anim>
                                    <p:anim calcmode="lin" valueType="num">
                                      <p:cBhvr additive="base">
                                        <p:cTn id="137" dur="550" fill="hold"/>
                                        <p:tgtEl>
                                          <p:spTgt spid="43"/>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4"/>
                                        </p:tgtEl>
                                        <p:attrNameLst>
                                          <p:attrName>style.visibility</p:attrName>
                                        </p:attrNameLst>
                                      </p:cBhvr>
                                      <p:to>
                                        <p:strVal val="visible"/>
                                      </p:to>
                                    </p:set>
                                    <p:animEffect transition="in" filter="fade">
                                      <p:cBhvr>
                                        <p:cTn id="141" dur="550"/>
                                        <p:tgtEl>
                                          <p:spTgt spid="44"/>
                                        </p:tgtEl>
                                      </p:cBhvr>
                                    </p:animEffect>
                                    <p:anim calcmode="lin" valueType="num">
                                      <p:cBhvr additive="base">
                                        <p:cTn id="142" dur="550" fill="hold"/>
                                        <p:tgtEl>
                                          <p:spTgt spid="44"/>
                                        </p:tgtEl>
                                        <p:attrNameLst>
                                          <p:attrName>ppt_x</p:attrName>
                                        </p:attrNameLst>
                                      </p:cBhvr>
                                      <p:tavLst>
                                        <p:tav tm="0">
                                          <p:val>
                                            <p:strVal val="#ppt_x"/>
                                          </p:val>
                                        </p:tav>
                                        <p:tav tm="100000">
                                          <p:val>
                                            <p:strVal val="#ppt_x"/>
                                          </p:val>
                                        </p:tav>
                                      </p:tavLst>
                                    </p:anim>
                                    <p:anim calcmode="lin" valueType="num">
                                      <p:cBhvr additive="base">
                                        <p:cTn id="143" dur="550" fill="hold"/>
                                        <p:tgtEl>
                                          <p:spTgt spid="44"/>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fade">
                                      <p:cBhvr>
                                        <p:cTn id="147" dur="550"/>
                                        <p:tgtEl>
                                          <p:spTgt spid="45"/>
                                        </p:tgtEl>
                                      </p:cBhvr>
                                    </p:animEffect>
                                    <p:anim calcmode="lin" valueType="num">
                                      <p:cBhvr additive="base">
                                        <p:cTn id="148" dur="550" fill="hold"/>
                                        <p:tgtEl>
                                          <p:spTgt spid="45"/>
                                        </p:tgtEl>
                                        <p:attrNameLst>
                                          <p:attrName>ppt_w</p:attrName>
                                        </p:attrNameLst>
                                      </p:cBhvr>
                                      <p:tavLst>
                                        <p:tav tm="0">
                                          <p:val>
                                            <p:strVal val="0"/>
                                          </p:val>
                                        </p:tav>
                                        <p:tav tm="100000">
                                          <p:val>
                                            <p:strVal val="#ppt_w"/>
                                          </p:val>
                                        </p:tav>
                                      </p:tavLst>
                                    </p:anim>
                                    <p:anim calcmode="lin" valueType="num">
                                      <p:cBhvr additive="base">
                                        <p:cTn id="149" dur="550" fill="hold"/>
                                        <p:tgtEl>
                                          <p:spTgt spid="45"/>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6"/>
                                        </p:tgtEl>
                                        <p:attrNameLst>
                                          <p:attrName>style.visibility</p:attrName>
                                        </p:attrNameLst>
                                      </p:cBhvr>
                                      <p:to>
                                        <p:strVal val="visible"/>
                                      </p:to>
                                    </p:set>
                                    <p:animEffect transition="in" filter="fade">
                                      <p:cBhvr>
                                        <p:cTn id="153" dur="550"/>
                                        <p:tgtEl>
                                          <p:spTgt spid="46"/>
                                        </p:tgtEl>
                                      </p:cBhvr>
                                    </p:animEffect>
                                    <p:anim calcmode="lin" valueType="num">
                                      <p:cBhvr additive="base">
                                        <p:cTn id="154" dur="550" fill="hold"/>
                                        <p:tgtEl>
                                          <p:spTgt spid="46"/>
                                        </p:tgtEl>
                                        <p:attrNameLst>
                                          <p:attrName>ppt_x</p:attrName>
                                        </p:attrNameLst>
                                      </p:cBhvr>
                                      <p:tavLst>
                                        <p:tav tm="0">
                                          <p:val>
                                            <p:strVal val="#ppt_x"/>
                                          </p:val>
                                        </p:tav>
                                        <p:tav tm="100000">
                                          <p:val>
                                            <p:strVal val="#ppt_x"/>
                                          </p:val>
                                        </p:tav>
                                      </p:tavLst>
                                    </p:anim>
                                    <p:anim calcmode="lin" valueType="num">
                                      <p:cBhvr additive="base">
                                        <p:cTn id="155" dur="550" fill="hold"/>
                                        <p:tgtEl>
                                          <p:spTgt spid="4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0801f74d66dce05a.jpg"/>
          <p:cNvPicPr>
            <a:picLocks noChangeAspect="1"/>
          </p:cNvPicPr>
          <p:nvPr/>
        </p:nvPicPr>
        <p:blipFill>
          <a:blip r:embed="rId2"/>
          <a:srcRect l="14073" r="14073"/>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Petar Milošević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Mavzuning maqsadi va o'rganish natijalari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Ushbu amaliy mashg'ulotning maqsadi — magistrantlarda o'qitilgan sun'iy intellekt modelini «qora quti» sifatida qabul qilmasdan, uni dushmanona ta'sirga chidamliligi, qarorlarining tushuntirilishi va turli guruhlarga nisbatan xolisligi nuqtai nazaridan…</a:t>
            </a:r>
          </a:p>
          <a:p>
            <a:pPr>
              <a:spcBef>
                <a:spcPts val="400"/>
              </a:spcBef>
            </a:pPr>
            <a:r>
              <a:rPr sz="1400">
                <a:solidFill>
                  <a:srgbClr val="AEBBD9"/>
                </a:solidFill>
                <a:latin typeface="Segoe UI"/>
              </a:rPr>
              <a:t>Mashg'ulot yakunida talaba quyidagilarga qodir bo'ladi:</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Oq quti (white-box) adversarial hujumlarni.</a:t>
            </a:r>
          </a:p>
          <a:p>
            <a:pPr>
              <a:spcBef>
                <a:spcPts val="400"/>
              </a:spcBef>
            </a:pPr>
            <a:r>
              <a:rPr sz="1400">
                <a:solidFill>
                  <a:srgbClr val="AEBBD9"/>
                </a:solidFill>
                <a:latin typeface="Segoe UI"/>
              </a:rPr>
              <a:t>FGSM (Fast Gradient Sign Method) va PGD (Projected Gradient Descent) — PyTorch'da qo'lda va torchattacks kutubxonasi yordamida amalga oshirish, hujum kuchi (epsilon) ga bog'liq holda modelning mustahkamlik egri chizig'ini (robustness curve) qurish.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400" b="0">
                <a:solidFill>
                  <a:srgbClr val="E8EEFA"/>
                </a:solidFill>
                <a:latin typeface="Segoe UI"/>
              </a:rPr>
              <a:t>Adversarial o'qitish (adversarial training) orqali modelning chidamliligini oshirish va toza aniqlik bilan mustahkam aniqlik orasidagi murosani miqdoriy baholash.</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Tushuntiriladigan sun'iy intellekt (Explainable AI, XAI) vositalari.</a:t>
            </a:r>
          </a:p>
          <a:p>
            <a:pPr>
              <a:spcBef>
                <a:spcPts val="400"/>
              </a:spcBef>
            </a:pPr>
            <a:r>
              <a:rPr sz="1400">
                <a:solidFill>
                  <a:srgbClr val="AEBBD9"/>
                </a:solidFill>
                <a:latin typeface="Segoe UI"/>
              </a:rPr>
              <a:t>Grad-CAM va SHAP — yordamida model qarorlarining asosini vizuallashtirish va tahlil qilish, shu jumladan hujum ostidagi namunalar uchun diqqat xaritasi qanday o'zgarishini ko'rsatish.</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Fairlearn kutubxonasi yordamida jadvalli ma'lumotlar modelida adolatlilik (fairness) ko'rsatkichlarini — demografik paritet, teng imkoniyat, tenglashtirilgan koeffitsiyentlar — hisoblash va cheklov asosida qayta o'qitish bilan nomutanosiblikni kamaytirish.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Mavzuning maqsadi va o'rganish natijalari</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1875656"/>
            <a:ext cx="50000" cy="177934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2565328"/>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27" name="TextBox 26"/>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Xalqaro standartlar (ISO/IEC 42001, ISO/IEC 23894, EU AI Act) asosidagi etik talablar tekshiruv ro'yxatini (checklist) muayyan tizimga qo'llash va natijalarni hisobot ko'rinishida rasmiylashtirish.</a:t>
            </a:r>
          </a:p>
        </p:txBody>
      </p:sp>
      <p:sp>
        <p:nvSpPr>
          <p:cNvPr id="28" name="Rounded Rectangle 27"/>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925000"/>
            <a:ext cx="50000" cy="177934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46146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1" name="TextBox 30"/>
          <p:cNvSpPr txBox="1"/>
          <p:nvPr/>
        </p:nvSpPr>
        <p:spPr>
          <a:xfrm>
            <a:off x="1300000" y="3885000"/>
            <a:ext cx="5900000" cy="1859344"/>
          </a:xfrm>
          <a:prstGeom prst="rect">
            <a:avLst/>
          </a:prstGeom>
          <a:noFill/>
        </p:spPr>
        <p:txBody>
          <a:bodyPr wrap="square" anchor="ctr">
            <a:spAutoFit/>
          </a:bodyPr>
          <a:lstStyle/>
          <a:p>
            <a:r>
              <a:rPr sz="1600" b="0">
                <a:solidFill>
                  <a:srgbClr val="E8EEFA"/>
                </a:solidFill>
                <a:latin typeface="Segoe UI"/>
              </a:rPr>
              <a:t>Mavzu fanning TN4 (AI tizimlarining ishonchliligi va xavfsizligini ta'minlash), TN6 (tizimni tahlil qilish va baholash) va TN7 (mas'uliyatli AI tamoyillarini qo'llash) o'rganish natijalariga xizmat qiladi hamda M9 va M14 ma'ruzalarining amaliy davomi…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8"/>
                                        </p:tgtEl>
                                        <p:attrNameLst>
                                          <p:attrName>style.visibility</p:attrName>
                                        </p:attrNameLst>
                                      </p:cBhvr>
                                      <p:to>
                                        <p:strVal val="visible"/>
                                      </p:to>
                                    </p:set>
                                    <p:animEffect transition="in" filter="fade">
                                      <p:cBhvr>
                                        <p:cTn id="59" dur="550"/>
                                        <p:tgtEl>
                                          <p:spTgt spid="28"/>
                                        </p:tgtEl>
                                      </p:cBhvr>
                                    </p:animEffect>
                                    <p:anim calcmode="lin" valueType="num">
                                      <p:cBhvr additive="base">
                                        <p:cTn id="60" dur="550" fill="hold"/>
                                        <p:tgtEl>
                                          <p:spTgt spid="28"/>
                                        </p:tgtEl>
                                        <p:attrNameLst>
                                          <p:attrName>ppt_x</p:attrName>
                                        </p:attrNameLst>
                                      </p:cBhvr>
                                      <p:tavLst>
                                        <p:tav tm="0">
                                          <p:val>
                                            <p:strVal val="#ppt_x"/>
                                          </p:val>
                                        </p:tav>
                                        <p:tav tm="100000">
                                          <p:val>
                                            <p:strVal val="#ppt_x"/>
                                          </p:val>
                                        </p:tav>
                                      </p:tavLst>
                                    </p:anim>
                                    <p:anim calcmode="lin" valueType="num">
                                      <p:cBhvr additive="base">
                                        <p:cTn id="61" dur="550" fill="hold"/>
                                        <p:tgtEl>
                                          <p:spTgt spid="28"/>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50"/>
                                        <p:tgtEl>
                                          <p:spTgt spid="29"/>
                                        </p:tgtEl>
                                      </p:cBhvr>
                                    </p:animEffect>
                                    <p:anim calcmode="lin" valueType="num">
                                      <p:cBhvr additive="base">
                                        <p:cTn id="66" dur="550" fill="hold"/>
                                        <p:tgtEl>
                                          <p:spTgt spid="29"/>
                                        </p:tgtEl>
                                        <p:attrNameLst>
                                          <p:attrName>ppt_x</p:attrName>
                                        </p:attrNameLst>
                                      </p:cBhvr>
                                      <p:tavLst>
                                        <p:tav tm="0">
                                          <p:val>
                                            <p:strVal val="#ppt_x"/>
                                          </p:val>
                                        </p:tav>
                                        <p:tav tm="100000">
                                          <p:val>
                                            <p:strVal val="#ppt_x"/>
                                          </p:val>
                                        </p:tav>
                                      </p:tavLst>
                                    </p:anim>
                                    <p:anim calcmode="lin" valueType="num">
                                      <p:cBhvr additive="base">
                                        <p:cTn id="67" dur="550" fill="hold"/>
                                        <p:tgtEl>
                                          <p:spTgt spid="29"/>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50"/>
                                        <p:tgtEl>
                                          <p:spTgt spid="30"/>
                                        </p:tgtEl>
                                      </p:cBhvr>
                                    </p:animEffect>
                                    <p:anim calcmode="lin" valueType="num">
                                      <p:cBhvr additive="base">
                                        <p:cTn id="72" dur="550" fill="hold"/>
                                        <p:tgtEl>
                                          <p:spTgt spid="30"/>
                                        </p:tgtEl>
                                        <p:attrNameLst>
                                          <p:attrName>ppt_w</p:attrName>
                                        </p:attrNameLst>
                                      </p:cBhvr>
                                      <p:tavLst>
                                        <p:tav tm="0">
                                          <p:val>
                                            <p:strVal val="0"/>
                                          </p:val>
                                        </p:tav>
                                        <p:tav tm="100000">
                                          <p:val>
                                            <p:strVal val="#ppt_w"/>
                                          </p:val>
                                        </p:tav>
                                      </p:tavLst>
                                    </p:anim>
                                    <p:anim calcmode="lin" valueType="num">
                                      <p:cBhvr additive="base">
                                        <p:cTn id="73" dur="550" fill="hold"/>
                                        <p:tgtEl>
                                          <p:spTgt spid="30"/>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50"/>
                                        <p:tgtEl>
                                          <p:spTgt spid="31"/>
                                        </p:tgtEl>
                                      </p:cBhvr>
                                    </p:animEffect>
                                    <p:anim calcmode="lin" valueType="num">
                                      <p:cBhvr additive="base">
                                        <p:cTn id="78" dur="550" fill="hold"/>
                                        <p:tgtEl>
                                          <p:spTgt spid="31"/>
                                        </p:tgtEl>
                                        <p:attrNameLst>
                                          <p:attrName>ppt_x</p:attrName>
                                        </p:attrNameLst>
                                      </p:cBhvr>
                                      <p:tavLst>
                                        <p:tav tm="0">
                                          <p:val>
                                            <p:strVal val="#ppt_x"/>
                                          </p:val>
                                        </p:tav>
                                        <p:tav tm="100000">
                                          <p:val>
                                            <p:strVal val="#ppt_x"/>
                                          </p:val>
                                        </p:tav>
                                      </p:tavLst>
                                    </p:anim>
                                    <p:anim calcmode="lin" valueType="num">
                                      <p:cBhvr additive="base">
                                        <p:cTn id="79"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923f15f8f207f4a9.jpg"/>
          <p:cNvPicPr>
            <a:picLocks noChangeAspect="1"/>
          </p:cNvPicPr>
          <p:nvPr/>
        </p:nvPicPr>
        <p:blipFill>
          <a:blip r:embed="rId2"/>
          <a:srcRect l="8346" r="8346"/>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TimeBusinessNews · Wikimedia Commons · CC BY-SA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Kirish</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Chuqur neyron tarmoqlar ko'plab vazifalarda insondan yuqori aniqlikka erishgan bo'lsa-da, ularning ishonchliligi aniqlik raqami bilan o'lchanmaydi.</a:t>
            </a:r>
          </a:p>
          <a:p>
            <a:pPr>
              <a:spcBef>
                <a:spcPts val="400"/>
              </a:spcBef>
            </a:pPr>
            <a:r>
              <a:rPr sz="1400">
                <a:solidFill>
                  <a:srgbClr val="AEBBD9"/>
                </a:solidFill>
                <a:latin typeface="Segoe UI"/>
              </a:rPr>
              <a:t>2013-yilda Szegedy va hamkasblari ko'rsatdiki, tasvirga inson ko'zi sezmaydigan darajada kichik, lekin maxsus hisoblangan shovqin qo'shilsa, ImageNet'da 76% aniqlikdagi model «panda»ni ishonch bilan «gibbon» deb tasniflay boshlaydi.</a:t>
            </a:r>
          </a:p>
        </p:txBody>
      </p:sp>
      <p:sp>
        <p:nvSpPr>
          <p:cNvPr id="30" name="Rounded Rectangle 29"/>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Xavfsizlik bilan bir qatorda ikkinchi muammo — shaffoflik.</a:t>
            </a:r>
          </a:p>
          <a:p>
            <a:pPr>
              <a:spcBef>
                <a:spcPts val="400"/>
              </a:spcBef>
            </a:pPr>
            <a:r>
              <a:rPr sz="1400">
                <a:solidFill>
                  <a:srgbClr val="AEBBD9"/>
                </a:solidFill>
                <a:latin typeface="Segoe UI"/>
              </a:rPr>
              <a:t>Bank kredit berishni rad etganda, kasalxona tasvirni «xavfli» deb belgilaganda yoki ishga qabul tizimi nomzodni saralaganda, qaror qabul qilingan asos tushuntirilishi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Kirish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959476"/>
            <a:ext cx="50000" cy="169552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0723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8" name="TextBox 27"/>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Uchinchi muammo — xolislik.</a:t>
            </a:r>
          </a:p>
          <a:p>
            <a:pPr>
              <a:spcBef>
                <a:spcPts val="400"/>
              </a:spcBef>
            </a:pPr>
            <a:r>
              <a:rPr sz="1300">
                <a:solidFill>
                  <a:srgbClr val="AEBBD9"/>
                </a:solidFill>
                <a:latin typeface="Segoe UI"/>
              </a:rPr>
              <a:t>Model o'quv ma'lumotlaridagi tarixiy nomutanosibliklarni o'rganib, ularni kuchaytirishi mumkin. 2018-yilda ommaga oshkor bo'lgan Amazon ishga qabul tizimi misoli (ayollar rezyumelarini pasaytirgani uchun loyiha to'xtatilgan) va COMPAS retsidiv bashorati tizimi atrofidagi ProPublica tahlili bu muammoning real oqibatlarini ko'rsatdi.</a:t>
            </a:r>
          </a:p>
        </p:txBody>
      </p:sp>
      <p:sp>
        <p:nvSpPr>
          <p:cNvPr id="29" name="Rounded Rectangle 28"/>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69552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57276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Ushbu mashg'ulotda uchala yo'nalish bitta laboratoriya ishida birlashtiriladi: talaba avval tasvir klassifikatoriga hujum qiladi va uni himoyalaydi, so'ngra uning qarorlarini XAI bilan tushuntiradi, keyin jadvalli ma'lumotlarda adolatlilikni o'lchaydi va…</a:t>
            </a:r>
          </a:p>
          <a:p>
            <a:pPr>
              <a:spcBef>
                <a:spcPts val="400"/>
              </a:spcBef>
            </a:pPr>
            <a:r>
              <a:rPr sz="1300">
                <a:solidFill>
                  <a:srgbClr val="AEBBD9"/>
                </a:solidFill>
                <a:latin typeface="Segoe UI"/>
              </a:rPr>
              <a:t>Bu ketma-ketlik sanoatdagi «AI assurance» (ishonchlilik kafolati) jarayonini aks ettiradi.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bdb61c7c4036ccae.jpg"/>
          <p:cNvPicPr>
            <a:picLocks noChangeAspect="1"/>
          </p:cNvPicPr>
          <p:nvPr/>
        </p:nvPicPr>
        <p:blipFill>
          <a:blip r:embed="rId2"/>
          <a:srcRect l="19217" r="19217"/>
          <a:stretch>
            <a:fillRect/>
          </a:stretch>
        </p:blipFill>
        <p:spPr>
          <a:xfrm>
            <a:off x="6300000" y="800000"/>
            <a:ext cx="5300000" cy="4950000"/>
          </a:xfrm>
          <a:prstGeom prst="roundRect">
            <a:avLst/>
          </a:prstGeom>
          <a:ln w="19050">
            <a:solidFill>
              <a:srgbClr val="22D3EE"/>
            </a:solidFill>
          </a:ln>
        </p:spPr>
      </p:pic>
      <p:sp>
        <p:nvSpPr>
          <p:cNvPr id="38" name="TextBox 37"/>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AntanO · Wikimedia Commons · CC BY-SA 4.0</a:t>
            </a:r>
          </a:p>
        </p:txBody>
      </p:sp>
      <p:sp>
        <p:nvSpPr>
          <p:cNvPr id="39" name="TextBox 38"/>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0" name="TextBox 39"/>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1" name="TextBox 40"/>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Nazariy asoslar</a:t>
            </a:r>
          </a:p>
        </p:txBody>
      </p:sp>
      <p:sp>
        <p:nvSpPr>
          <p:cNvPr id="42" name="Rectangle 41"/>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150"/>
                            </p:stCondLst>
                            <p:childTnLst>
                              <p:par>
                                <p:cTn id="136" presetID="53" presetClass="entr" presetSubtype="16"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anim calcmode="lin" valueType="num">
                                      <p:cBhvr additive="base">
                                        <p:cTn id="139" dur="550" fill="hold"/>
                                        <p:tgtEl>
                                          <p:spTgt spid="36"/>
                                        </p:tgtEl>
                                        <p:attrNameLst>
                                          <p:attrName>ppt_w</p:attrName>
                                        </p:attrNameLst>
                                      </p:cBhvr>
                                      <p:tavLst>
                                        <p:tav tm="0">
                                          <p:val>
                                            <p:strVal val="0"/>
                                          </p:val>
                                        </p:tav>
                                        <p:tav tm="100000">
                                          <p:val>
                                            <p:strVal val="#ppt_w"/>
                                          </p:val>
                                        </p:tav>
                                      </p:tavLst>
                                    </p:anim>
                                    <p:anim calcmode="lin" valueType="num">
                                      <p:cBhvr additive="base">
                                        <p:cTn id="140" dur="550" fill="hold"/>
                                        <p:tgtEl>
                                          <p:spTgt spid="36"/>
                                        </p:tgtEl>
                                        <p:attrNameLst>
                                          <p:attrName>ppt_h</p:attrName>
                                        </p:attrNameLst>
                                      </p:cBhvr>
                                      <p:tavLst>
                                        <p:tav tm="0">
                                          <p:val>
                                            <p:strVal val="0"/>
                                          </p:val>
                                        </p:tav>
                                        <p:tav tm="100000">
                                          <p:val>
                                            <p:strVal val="#ppt_h"/>
                                          </p:val>
                                        </p:tav>
                                      </p:tavLst>
                                    </p:anim>
                                  </p:childTnLst>
                                </p:cTn>
                              </p:par>
                            </p:childTnLst>
                          </p:cTn>
                        </p:par>
                        <p:par>
                          <p:cTn id="141" fill="hold">
                            <p:stCondLst>
                              <p:cond delay="150"/>
                            </p:stCondLst>
                            <p:childTnLst>
                              <p:par>
                                <p:cTn id="142" presetID="53" presetClass="entr" presetSubtype="16" fill="hold" grpId="0" nodeType="afterEffect">
                                  <p:stCondLst>
                                    <p:cond delay="0"/>
                                  </p:stCondLst>
                                  <p:childTnLst>
                                    <p:set>
                                      <p:cBhvr>
                                        <p:cTn id="143" dur="1" fill="hold">
                                          <p:stCondLst>
                                            <p:cond delay="0"/>
                                          </p:stCondLst>
                                        </p:cTn>
                                        <p:tgtEl>
                                          <p:spTgt spid="37"/>
                                        </p:tgtEl>
                                        <p:attrNameLst>
                                          <p:attrName>style.visibility</p:attrName>
                                        </p:attrNameLst>
                                      </p:cBhvr>
                                      <p:to>
                                        <p:strVal val="visible"/>
                                      </p:to>
                                    </p:set>
                                    <p:animEffect transition="in" filter="fade">
                                      <p:cBhvr>
                                        <p:cTn id="144" dur="550"/>
                                        <p:tgtEl>
                                          <p:spTgt spid="37"/>
                                        </p:tgtEl>
                                      </p:cBhvr>
                                    </p:animEffect>
                                    <p:anim calcmode="lin" valueType="num">
                                      <p:cBhvr additive="base">
                                        <p:cTn id="145" dur="550" fill="hold"/>
                                        <p:tgtEl>
                                          <p:spTgt spid="37"/>
                                        </p:tgtEl>
                                        <p:attrNameLst>
                                          <p:attrName>ppt_w</p:attrName>
                                        </p:attrNameLst>
                                      </p:cBhvr>
                                      <p:tavLst>
                                        <p:tav tm="0">
                                          <p:val>
                                            <p:strVal val="0"/>
                                          </p:val>
                                        </p:tav>
                                        <p:tav tm="100000">
                                          <p:val>
                                            <p:strVal val="#ppt_w"/>
                                          </p:val>
                                        </p:tav>
                                      </p:tavLst>
                                    </p:anim>
                                    <p:anim calcmode="lin" valueType="num">
                                      <p:cBhvr additive="base">
                                        <p:cTn id="146" dur="550" fill="hold"/>
                                        <p:tgtEl>
                                          <p:spTgt spid="37"/>
                                        </p:tgtEl>
                                        <p:attrNameLst>
                                          <p:attrName>ppt_h</p:attrName>
                                        </p:attrNameLst>
                                      </p:cBhvr>
                                      <p:tavLst>
                                        <p:tav tm="0">
                                          <p:val>
                                            <p:strVal val="0"/>
                                          </p:val>
                                        </p:tav>
                                        <p:tav tm="100000">
                                          <p:val>
                                            <p:strVal val="#ppt_h"/>
                                          </p:val>
                                        </p:tav>
                                      </p:tavLst>
                                    </p:anim>
                                  </p:childTnLst>
                                </p:cTn>
                              </p:par>
                            </p:childTnLst>
                          </p:cTn>
                        </p:par>
                        <p:par>
                          <p:cTn id="147" fill="hold">
                            <p:stCondLst>
                              <p:cond delay="150"/>
                            </p:stCondLst>
                            <p:childTnLst>
                              <p:par>
                                <p:cTn id="148" presetID="10" presetClass="entr" presetSubtype="0" fill="hold" grpId="0" nodeType="afterEffect">
                                  <p:stCondLst>
                                    <p:cond delay="0"/>
                                  </p:stCondLst>
                                  <p:childTnLst>
                                    <p:set>
                                      <p:cBhvr>
                                        <p:cTn id="149" dur="1" fill="hold">
                                          <p:stCondLst>
                                            <p:cond delay="0"/>
                                          </p:stCondLst>
                                        </p:cTn>
                                        <p:tgtEl>
                                          <p:spTgt spid="38"/>
                                        </p:tgtEl>
                                        <p:attrNameLst>
                                          <p:attrName>style.visibility</p:attrName>
                                        </p:attrNameLst>
                                      </p:cBhvr>
                                      <p:to>
                                        <p:strVal val="visible"/>
                                      </p:to>
                                    </p:set>
                                    <p:animEffect transition="in" filter="fade">
                                      <p:cBhvr>
                                        <p:cTn id="150" dur="550"/>
                                        <p:tgtEl>
                                          <p:spTgt spid="38"/>
                                        </p:tgtEl>
                                      </p:cBhvr>
                                    </p:animEffect>
                                  </p:childTnLst>
                                </p:cTn>
                              </p:par>
                            </p:childTnLst>
                          </p:cTn>
                        </p:par>
                        <p:par>
                          <p:cTn id="151" fill="hold">
                            <p:stCondLst>
                              <p:cond delay="350"/>
                            </p:stCondLst>
                            <p:childTnLst>
                              <p:par>
                                <p:cTn id="152" presetID="53" presetClass="entr" presetSubtype="16"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anim calcmode="lin" valueType="num">
                                      <p:cBhvr additive="base">
                                        <p:cTn id="155" dur="550" fill="hold"/>
                                        <p:tgtEl>
                                          <p:spTgt spid="39"/>
                                        </p:tgtEl>
                                        <p:attrNameLst>
                                          <p:attrName>ppt_w</p:attrName>
                                        </p:attrNameLst>
                                      </p:cBhvr>
                                      <p:tavLst>
                                        <p:tav tm="0">
                                          <p:val>
                                            <p:strVal val="0"/>
                                          </p:val>
                                        </p:tav>
                                        <p:tav tm="100000">
                                          <p:val>
                                            <p:strVal val="#ppt_w"/>
                                          </p:val>
                                        </p:tav>
                                      </p:tavLst>
                                    </p:anim>
                                    <p:anim calcmode="lin" valueType="num">
                                      <p:cBhvr additive="base">
                                        <p:cTn id="156" dur="550" fill="hold"/>
                                        <p:tgtEl>
                                          <p:spTgt spid="39"/>
                                        </p:tgtEl>
                                        <p:attrNameLst>
                                          <p:attrName>ppt_h</p:attrName>
                                        </p:attrNameLst>
                                      </p:cBhvr>
                                      <p:tavLst>
                                        <p:tav tm="0">
                                          <p:val>
                                            <p:strVal val="0"/>
                                          </p:val>
                                        </p:tav>
                                        <p:tav tm="100000">
                                          <p:val>
                                            <p:strVal val="#ppt_h"/>
                                          </p:val>
                                        </p:tav>
                                      </p:tavLst>
                                    </p:anim>
                                  </p:childTnLst>
                                </p:cTn>
                              </p:par>
                            </p:childTnLst>
                          </p:cTn>
                        </p:par>
                        <p:par>
                          <p:cTn id="157" fill="hold">
                            <p:stCondLst>
                              <p:cond delay="450"/>
                            </p:stCondLst>
                            <p:childTnLst>
                              <p:par>
                                <p:cTn id="158" presetID="10" presetClass="entr" presetSubtype="0" fill="hold" grpId="0" nodeType="afterEffect">
                                  <p:stCondLst>
                                    <p:cond delay="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0" dur="550"/>
                                        <p:tgtEl>
                                          <p:spTgt spid="40"/>
                                        </p:tgtEl>
                                      </p:cBhvr>
                                    </p:animEffect>
                                  </p:childTnLst>
                                </p:cTn>
                              </p:par>
                            </p:childTnLst>
                          </p:cTn>
                        </p:par>
                        <p:par>
                          <p:cTn id="161" fill="hold">
                            <p:stCondLst>
                              <p:cond delay="550"/>
                            </p:stCondLst>
                            <p:childTnLst>
                              <p:par>
                                <p:cTn id="162" presetID="2" presetClass="entr" presetSubtype="8"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5" dur="550" fill="hold"/>
                                        <p:tgtEl>
                                          <p:spTgt spid="41"/>
                                        </p:tgtEl>
                                        <p:attrNameLst>
                                          <p:attrName>ppt_x</p:attrName>
                                        </p:attrNameLst>
                                      </p:cBhvr>
                                      <p:tavLst>
                                        <p:tav tm="0">
                                          <p:val>
                                            <p:strVal val="0-#ppt_w/2"/>
                                          </p:val>
                                        </p:tav>
                                        <p:tav tm="100000">
                                          <p:val>
                                            <p:strVal val="#ppt_x"/>
                                          </p:val>
                                        </p:tav>
                                      </p:tavLst>
                                    </p:anim>
                                    <p:anim calcmode="lin" valueType="num">
                                      <p:cBhvr additive="base">
                                        <p:cTn id="166" dur="550" fill="hold"/>
                                        <p:tgtEl>
                                          <p:spTgt spid="41"/>
                                        </p:tgtEl>
                                        <p:attrNameLst>
                                          <p:attrName>ppt_y</p:attrName>
                                        </p:attrNameLst>
                                      </p:cBhvr>
                                      <p:tavLst>
                                        <p:tav tm="0">
                                          <p:val>
                                            <p:strVal val="#ppt_y"/>
                                          </p:val>
                                        </p:tav>
                                        <p:tav tm="100000">
                                          <p:val>
                                            <p:strVal val="#ppt_y"/>
                                          </p:val>
                                        </p:tav>
                                      </p:tavLst>
                                    </p:anim>
                                  </p:childTnLst>
                                </p:cTn>
                              </p:par>
                            </p:childTnLst>
                          </p:cTn>
                        </p:par>
                        <p:par>
                          <p:cTn id="167" fill="hold">
                            <p:stCondLst>
                              <p:cond delay="650"/>
                            </p:stCondLst>
                            <p:childTnLst>
                              <p:par>
                                <p:cTn id="168" presetID="22" presetClass="entr" presetSubtype="8" fill="hold" grpId="0" nodeType="afterEffect">
                                  <p:stCondLst>
                                    <p:cond delay="0"/>
                                  </p:stCondLst>
                                  <p:childTnLst>
                                    <p:set>
                                      <p:cBhvr>
                                        <p:cTn id="169" dur="1" fill="hold">
                                          <p:stCondLst>
                                            <p:cond delay="0"/>
                                          </p:stCondLst>
                                        </p:cTn>
                                        <p:tgtEl>
                                          <p:spTgt spid="42"/>
                                        </p:tgtEl>
                                        <p:attrNameLst>
                                          <p:attrName>style.visibility</p:attrName>
                                        </p:attrNameLst>
                                      </p:cBhvr>
                                      <p:to>
                                        <p:strVal val="visible"/>
                                      </p:to>
                                    </p:set>
                                    <p:animEffect transition="in" filter="wipe(left)">
                                      <p:cBhvr>
                                        <p:cTn id="171" dur="8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Adversarial hujumlar taksonomiyasi va tahdid modeli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Adversarial hujumlarni tasniflashda avval tahdid modeli (threat model) aniqlanadi: hujumchi nimani biladi va nimani o'zgartira oladi.</a:t>
            </a:r>
          </a:p>
          <a:p>
            <a:pPr>
              <a:spcBef>
                <a:spcPts val="400"/>
              </a:spcBef>
            </a:pPr>
            <a:r>
              <a:rPr sz="1600">
                <a:solidFill>
                  <a:srgbClr val="AEBBD9"/>
                </a:solidFill>
                <a:latin typeface="Segoe UI"/>
              </a:rPr>
              <a:t>Bilim bo'yicha hujumlar oq quti (white-box — model arxitekturasi va og'irliklari ma'lum, gradientlar hisoblanadi), kulrang quti (gray-box — arxitektura ma'lum, og'irliklar yo'q) va qora quti (black-box — faqat so'rov-javob interfeysi) ga bo'linadi.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Adversarial hujumlar taksonomiyasi va tahdid modeli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741544"/>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9827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Maqsad bo'yicha: yo'naltirilmagan (untargeted — har qanday noto'g'ri sinf) va yo'naltirilgan (targeted — aniq sinf).</a:t>
            </a:r>
          </a:p>
          <a:p>
            <a:pPr>
              <a:spcBef>
                <a:spcPts val="400"/>
              </a:spcBef>
            </a:pPr>
            <a:r>
              <a:rPr sz="1300">
                <a:solidFill>
                  <a:srgbClr val="AEBBD9"/>
                </a:solidFill>
                <a:latin typeface="Segoe UI"/>
              </a:rPr>
              <a:t>Bosqich bo'yicha: chetlab o'tish (evasion — inferens paytida kirishni buzish), zaharlash (poisoning — o'quv to'plamiga buzilgan namunalar kiritish), orqa eshik (backdoor — maxsus trigger bilan faollashadigan yashirin xatti-harakat), model o'g'irlash (extraction) va a'zolik inferensi (membership inference — namuna o'quv to'plamida bo'lganini aniqlash, maxfiylik buzilishi).</a:t>
            </a:r>
          </a:p>
        </p:txBody>
      </p:sp>
      <p:sp>
        <p:nvSpPr>
          <p:cNvPr id="32" name="Rounded Rectangle 31"/>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8172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5" name="TextBox 34"/>
          <p:cNvSpPr txBox="1"/>
          <p:nvPr/>
        </p:nvSpPr>
        <p:spPr>
          <a:xfrm>
            <a:off x="1300000" y="3885000"/>
            <a:ext cx="5900000" cy="1993456"/>
          </a:xfrm>
          <a:prstGeom prst="rect">
            <a:avLst/>
          </a:prstGeom>
          <a:noFill/>
        </p:spPr>
        <p:txBody>
          <a:bodyPr wrap="square" anchor="ctr">
            <a:spAutoFit/>
          </a:bodyPr>
          <a:lstStyle/>
          <a:p>
            <a:r>
              <a:rPr sz="1300" b="0">
                <a:solidFill>
                  <a:srgbClr val="E8EEFA"/>
                </a:solidFill>
                <a:latin typeface="Segoe UI"/>
              </a:rPr>
              <a:t>Buzilish kattaligi odatda L_p normada cheklanadi: L_inf — har bir piksel ko'pi bilan epsilon ga o'zgaradi (eng ko'p ishlatiladi, CIFAR-10 uchun standart epsilon = 8/255), L_2 — umumiy Evklid uzunligi cheklanadi, L_0 — o'zgartirilgan piksellar soni cheklanadi…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FGSM va PGD matematikasi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FGSM (Goodfellow va boshq., 2015) bitta gradient qadamidan iborat: x_adv = x + epsilon  sign(grad_x L(f(x), y)).</a:t>
            </a:r>
          </a:p>
          <a:p>
            <a:pPr>
              <a:spcBef>
                <a:spcPts val="400"/>
              </a:spcBef>
            </a:pPr>
            <a:r>
              <a:rPr sz="1600">
                <a:solidFill>
                  <a:srgbClr val="AEBBD9"/>
                </a:solidFill>
                <a:latin typeface="Segoe UI"/>
              </a:rPr>
              <a:t>G'oya — yo'qotish funksiyasini kirish bo'yicha chiziqli deb hisoblab, uni L_inf shari ichida maksimal oshiradigan yo'nalish aynan gradient ishorasi bo'lishidir. FGSM tez (bitta orqaga o'tish), lekin kuchsiz: ko'p modellar unga qarshi qisman chidamli.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FGSM va PGD matematikasi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531520"/>
            <a:ext cx="50000" cy="25169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PGD (Madry va boshq., 2018) — FGSM ning iterativ, tasodifiy boshlang'ich nuqtali umumlashmasi: x_0 = x + U(-epsilon, epsilon), so'ngra K marta x_{k+1} = Proj_{B(x, epsilon)}(x_k + alpha  sign(grad L)), bu yerda Proj — natijani x atrofidagi epsilon-shar ichiga…</a:t>
            </a:r>
          </a:p>
          <a:p>
            <a:pPr>
              <a:spcBef>
                <a:spcPts val="400"/>
              </a:spcBef>
            </a:pPr>
            <a:r>
              <a:rPr sz="1400">
                <a:solidFill>
                  <a:srgbClr val="AEBBD9"/>
                </a:solidFill>
                <a:latin typeface="Segoe UI"/>
              </a:rPr>
              <a:t>Standart sozlama: K = 10–20, alpha = 2/255. PGD «birinchi tartibli eng kuchli hujum» hisoblanadi va mustahkamlikni baholashning amaldagi standartidir; AutoAttack to'plami esa PGD ning moslashuvchan variantlarini birlashtirib, baholashni yanada ishonchli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FGSM va PGD matematikasi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766216"/>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Adversarial o'qitish — hozircha eng ishonchli empirik himoya: har mini-paketda avval PGD bilan adversarial namunalar yasaladi, so'ngra model aynan ular ustida o'qitiladi (min-max optimallashtirish).</a:t>
            </a:r>
          </a:p>
          <a:p>
            <a:pPr>
              <a:spcBef>
                <a:spcPts val="400"/>
              </a:spcBef>
            </a:pPr>
            <a:r>
              <a:rPr sz="1600">
                <a:solidFill>
                  <a:srgbClr val="AEBBD9"/>
                </a:solidFill>
                <a:latin typeface="Segoe UI"/>
              </a:rPr>
              <a:t>Narxi: o'qitish K+1 baravar qimmat va toza aniqlik 5–15 foiz bandiga pasayadi.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FGSM va PGD matematikasi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graphicFrame>
        <p:nvGraphicFramePr>
          <p:cNvPr id="26" name="Table 25"/>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220000"/>
                <a:gridCol w="2220000"/>
                <a:gridCol w="2220000"/>
                <a:gridCol w="2220000"/>
                <a:gridCol w="2220000"/>
              </a:tblGrid>
              <a:tr h="520000">
                <a:tc>
                  <a:txBody>
                    <a:bodyPr/>
                    <a:lstStyle/>
                    <a:p>
                      <a:r>
                        <a:rPr sz="1400" b="1">
                          <a:solidFill>
                            <a:srgbClr val="22D3EE"/>
                          </a:solidFill>
                          <a:latin typeface="Segoe UI"/>
                        </a:rPr>
                        <a:t>Hujum</a:t>
                      </a:r>
                    </a:p>
                  </a:txBody>
                  <a:tcPr>
                    <a:solidFill>
                      <a:srgbClr val="1C2755"/>
                    </a:solidFill>
                  </a:tcPr>
                </a:tc>
                <a:tc>
                  <a:txBody>
                    <a:bodyPr/>
                    <a:lstStyle/>
                    <a:p>
                      <a:r>
                        <a:rPr sz="1400" b="1">
                          <a:solidFill>
                            <a:srgbClr val="22D3EE"/>
                          </a:solidFill>
                          <a:latin typeface="Segoe UI"/>
                        </a:rPr>
                        <a:t>Turi</a:t>
                      </a:r>
                    </a:p>
                  </a:txBody>
                  <a:tcPr>
                    <a:solidFill>
                      <a:srgbClr val="1C2755"/>
                    </a:solidFill>
                  </a:tcPr>
                </a:tc>
                <a:tc>
                  <a:txBody>
                    <a:bodyPr/>
                    <a:lstStyle/>
                    <a:p>
                      <a:r>
                        <a:rPr sz="1400" b="1">
                          <a:solidFill>
                            <a:srgbClr val="22D3EE"/>
                          </a:solidFill>
                          <a:latin typeface="Segoe UI"/>
                        </a:rPr>
                        <a:t>Qadamlar</a:t>
                      </a:r>
                    </a:p>
                  </a:txBody>
                  <a:tcPr>
                    <a:solidFill>
                      <a:srgbClr val="1C2755"/>
                    </a:solidFill>
                  </a:tcPr>
                </a:tc>
                <a:tc>
                  <a:txBody>
                    <a:bodyPr/>
                    <a:lstStyle/>
                    <a:p>
                      <a:r>
                        <a:rPr sz="1400" b="1">
                          <a:solidFill>
                            <a:srgbClr val="22D3EE"/>
                          </a:solidFill>
                          <a:latin typeface="Segoe UI"/>
                        </a:rPr>
                        <a:t>Kuch</a:t>
                      </a:r>
                    </a:p>
                  </a:txBody>
                  <a:tcPr>
                    <a:solidFill>
                      <a:srgbClr val="1C2755"/>
                    </a:solidFill>
                  </a:tcPr>
                </a:tc>
                <a:tc>
                  <a:txBody>
                    <a:bodyPr/>
                    <a:lstStyle/>
                    <a:p>
                      <a:r>
                        <a:rPr sz="1400" b="1">
                          <a:solidFill>
                            <a:srgbClr val="22D3EE"/>
                          </a:solidFill>
                          <a:latin typeface="Segoe UI"/>
                        </a:rPr>
                        <a:t>Hisoblash narxi</a:t>
                      </a:r>
                    </a:p>
                  </a:txBody>
                  <a:tcPr>
                    <a:solidFill>
                      <a:srgbClr val="1C2755"/>
                    </a:solidFill>
                  </a:tcPr>
                </a:tc>
              </a:tr>
              <a:tr h="520000">
                <a:tc>
                  <a:txBody>
                    <a:bodyPr/>
                    <a:lstStyle/>
                    <a:p>
                      <a:r>
                        <a:rPr sz="1400" b="0">
                          <a:solidFill>
                            <a:srgbClr val="E8EEFA"/>
                          </a:solidFill>
                          <a:latin typeface="Segoe UI"/>
                        </a:rPr>
                        <a:t>FGSM</a:t>
                      </a:r>
                    </a:p>
                  </a:txBody>
                  <a:tcPr>
                    <a:solidFill>
                      <a:srgbClr val="111834"/>
                    </a:solidFill>
                  </a:tcPr>
                </a:tc>
                <a:tc>
                  <a:txBody>
                    <a:bodyPr/>
                    <a:lstStyle/>
                    <a:p>
                      <a:r>
                        <a:rPr sz="1400" b="0">
                          <a:solidFill>
                            <a:srgbClr val="E8EEFA"/>
                          </a:solidFill>
                          <a:latin typeface="Segoe UI"/>
                        </a:rPr>
                        <a:t>Oq quti, L_inf</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Past</a:t>
                      </a:r>
                    </a:p>
                  </a:txBody>
                  <a:tcPr>
                    <a:solidFill>
                      <a:srgbClr val="111834"/>
                    </a:solidFill>
                  </a:tcPr>
                </a:tc>
                <a:tc>
                  <a:txBody>
                    <a:bodyPr/>
                    <a:lstStyle/>
                    <a:p>
                      <a:r>
                        <a:rPr sz="1400" b="0">
                          <a:solidFill>
                            <a:srgbClr val="E8EEFA"/>
                          </a:solidFill>
                          <a:latin typeface="Segoe UI"/>
                        </a:rPr>
                        <a:t>1 orqaga o'tish</a:t>
                      </a:r>
                    </a:p>
                  </a:txBody>
                  <a:tcPr>
                    <a:solidFill>
                      <a:srgbClr val="111834"/>
                    </a:solidFill>
                  </a:tcPr>
                </a:tc>
              </a:tr>
              <a:tr h="520000">
                <a:tc>
                  <a:txBody>
                    <a:bodyPr/>
                    <a:lstStyle/>
                    <a:p>
                      <a:r>
                        <a:rPr sz="1400" b="0">
                          <a:solidFill>
                            <a:srgbClr val="E8EEFA"/>
                          </a:solidFill>
                          <a:latin typeface="Segoe UI"/>
                        </a:rPr>
                        <a:t>PGD</a:t>
                      </a:r>
                    </a:p>
                  </a:txBody>
                  <a:tcPr>
                    <a:solidFill>
                      <a:srgbClr val="161F40"/>
                    </a:solidFill>
                  </a:tcPr>
                </a:tc>
                <a:tc>
                  <a:txBody>
                    <a:bodyPr/>
                    <a:lstStyle/>
                    <a:p>
                      <a:r>
                        <a:rPr sz="1400" b="0">
                          <a:solidFill>
                            <a:srgbClr val="E8EEFA"/>
                          </a:solidFill>
                          <a:latin typeface="Segoe UI"/>
                        </a:rPr>
                        <a:t>Oq quti, L_inf / L_2</a:t>
                      </a:r>
                    </a:p>
                  </a:txBody>
                  <a:tcPr>
                    <a:solidFill>
                      <a:srgbClr val="161F40"/>
                    </a:solidFill>
                  </a:tcPr>
                </a:tc>
                <a:tc>
                  <a:txBody>
                    <a:bodyPr/>
                    <a:lstStyle/>
                    <a:p>
                      <a:r>
                        <a:rPr sz="1400" b="0">
                          <a:solidFill>
                            <a:srgbClr val="E8EEFA"/>
                          </a:solidFill>
                          <a:latin typeface="Segoe UI"/>
                        </a:rPr>
                        <a:t>10–100</a:t>
                      </a:r>
                    </a:p>
                  </a:txBody>
                  <a:tcPr>
                    <a:solidFill>
                      <a:srgbClr val="161F40"/>
                    </a:solidFill>
                  </a:tcPr>
                </a:tc>
                <a:tc>
                  <a:txBody>
                    <a:bodyPr/>
                    <a:lstStyle/>
                    <a:p>
                      <a:r>
                        <a:rPr sz="1400" b="0">
                          <a:solidFill>
                            <a:srgbClr val="E8EEFA"/>
                          </a:solidFill>
                          <a:latin typeface="Segoe UI"/>
                        </a:rPr>
                        <a:t>Yuqori</a:t>
                      </a:r>
                    </a:p>
                  </a:txBody>
                  <a:tcPr>
                    <a:solidFill>
                      <a:srgbClr val="161F40"/>
                    </a:solidFill>
                  </a:tcPr>
                </a:tc>
                <a:tc>
                  <a:txBody>
                    <a:bodyPr/>
                    <a:lstStyle/>
                    <a:p>
                      <a:r>
                        <a:rPr sz="1400" b="0">
                          <a:solidFill>
                            <a:srgbClr val="E8EEFA"/>
                          </a:solidFill>
                          <a:latin typeface="Segoe UI"/>
                        </a:rPr>
                        <a:t>K orqaga o'tish</a:t>
                      </a:r>
                    </a:p>
                  </a:txBody>
                  <a:tcPr>
                    <a:solidFill>
                      <a:srgbClr val="161F40"/>
                    </a:solidFill>
                  </a:tcPr>
                </a:tc>
              </a:tr>
              <a:tr h="520000">
                <a:tc>
                  <a:txBody>
                    <a:bodyPr/>
                    <a:lstStyle/>
                    <a:p>
                      <a:r>
                        <a:rPr sz="1400" b="0">
                          <a:solidFill>
                            <a:srgbClr val="E8EEFA"/>
                          </a:solidFill>
                          <a:latin typeface="Segoe UI"/>
                        </a:rPr>
                        <a:t>C&amp;W</a:t>
                      </a:r>
                    </a:p>
                  </a:txBody>
                  <a:tcPr>
                    <a:solidFill>
                      <a:srgbClr val="111834"/>
                    </a:solidFill>
                  </a:tcPr>
                </a:tc>
                <a:tc>
                  <a:txBody>
                    <a:bodyPr/>
                    <a:lstStyle/>
                    <a:p>
                      <a:r>
                        <a:rPr sz="1400" b="0">
                          <a:solidFill>
                            <a:srgbClr val="E8EEFA"/>
                          </a:solidFill>
                          <a:latin typeface="Segoe UI"/>
                        </a:rPr>
                        <a:t>Oq quti, L_2</a:t>
                      </a:r>
                    </a:p>
                  </a:txBody>
                  <a:tcPr>
                    <a:solidFill>
                      <a:srgbClr val="111834"/>
                    </a:solidFill>
                  </a:tcPr>
                </a:tc>
                <a:tc>
                  <a:txBody>
                    <a:bodyPr/>
                    <a:lstStyle/>
                    <a:p>
                      <a:r>
                        <a:rPr sz="1400" b="0">
                          <a:solidFill>
                            <a:srgbClr val="E8EEFA"/>
                          </a:solidFill>
                          <a:latin typeface="Segoe UI"/>
                        </a:rPr>
                        <a:t>100–1000</a:t>
                      </a:r>
                    </a:p>
                  </a:txBody>
                  <a:tcPr>
                    <a:solidFill>
                      <a:srgbClr val="111834"/>
                    </a:solidFill>
                  </a:tcPr>
                </a:tc>
                <a:tc>
                  <a:txBody>
                    <a:bodyPr/>
                    <a:lstStyle/>
                    <a:p>
                      <a:r>
                        <a:rPr sz="1400" b="0">
                          <a:solidFill>
                            <a:srgbClr val="E8EEFA"/>
                          </a:solidFill>
                          <a:latin typeface="Segoe UI"/>
                        </a:rPr>
                        <a:t>Juda yuqori, kichik buzilish</a:t>
                      </a:r>
                    </a:p>
                  </a:txBody>
                  <a:tcPr>
                    <a:solidFill>
                      <a:srgbClr val="111834"/>
                    </a:solidFill>
                  </a:tcPr>
                </a:tc>
                <a:tc>
                  <a:txBody>
                    <a:bodyPr/>
                    <a:lstStyle/>
                    <a:p>
                      <a:r>
                        <a:rPr sz="1400" b="0">
                          <a:solidFill>
                            <a:srgbClr val="E8EEFA"/>
                          </a:solidFill>
                          <a:latin typeface="Segoe UI"/>
                        </a:rPr>
                        <a:t>Qimmat</a:t>
                      </a:r>
                    </a:p>
                  </a:txBody>
                  <a:tcPr>
                    <a:solidFill>
                      <a:srgbClr val="111834"/>
                    </a:solidFill>
                  </a:tcPr>
                </a:tc>
              </a:tr>
              <a:tr h="520000">
                <a:tc>
                  <a:txBody>
                    <a:bodyPr/>
                    <a:lstStyle/>
                    <a:p>
                      <a:r>
                        <a:rPr sz="1400" b="0">
                          <a:solidFill>
                            <a:srgbClr val="E8EEFA"/>
                          </a:solidFill>
                          <a:latin typeface="Segoe UI"/>
                        </a:rPr>
                        <a:t>AutoAttack</a:t>
                      </a:r>
                    </a:p>
                  </a:txBody>
                  <a:tcPr>
                    <a:solidFill>
                      <a:srgbClr val="161F40"/>
                    </a:solidFill>
                  </a:tcPr>
                </a:tc>
                <a:tc>
                  <a:txBody>
                    <a:bodyPr/>
                    <a:lstStyle/>
                    <a:p>
                      <a:r>
                        <a:rPr sz="1400" b="0">
                          <a:solidFill>
                            <a:srgbClr val="E8EEFA"/>
                          </a:solidFill>
                          <a:latin typeface="Segoe UI"/>
                        </a:rPr>
                        <a:t>Oq quti ansambli</a:t>
                      </a:r>
                    </a:p>
                  </a:txBody>
                  <a:tcPr>
                    <a:solidFill>
                      <a:srgbClr val="161F40"/>
                    </a:solidFill>
                  </a:tcPr>
                </a:tc>
                <a:tc>
                  <a:txBody>
                    <a:bodyPr/>
                    <a:lstStyle/>
                    <a:p>
                      <a:r>
                        <a:rPr sz="1400" b="0">
                          <a:solidFill>
                            <a:srgbClr val="E8EEFA"/>
                          </a:solidFill>
                          <a:latin typeface="Segoe UI"/>
                        </a:rPr>
                        <a:t>O'zgaruvchan</a:t>
                      </a:r>
                    </a:p>
                  </a:txBody>
                  <a:tcPr>
                    <a:solidFill>
                      <a:srgbClr val="161F40"/>
                    </a:solidFill>
                  </a:tcPr>
                </a:tc>
                <a:tc>
                  <a:txBody>
                    <a:bodyPr/>
                    <a:lstStyle/>
                    <a:p>
                      <a:r>
                        <a:rPr sz="1400" b="0">
                          <a:solidFill>
                            <a:srgbClr val="E8EEFA"/>
                          </a:solidFill>
                          <a:latin typeface="Segoe UI"/>
                        </a:rPr>
                        <a:t>Standart baholash</a:t>
                      </a:r>
                    </a:p>
                  </a:txBody>
                  <a:tcPr>
                    <a:solidFill>
                      <a:srgbClr val="161F40"/>
                    </a:solidFill>
                  </a:tcPr>
                </a:tc>
                <a:tc>
                  <a:txBody>
                    <a:bodyPr/>
                    <a:lstStyle/>
                    <a:p>
                      <a:r>
                        <a:rPr sz="1400" b="0">
                          <a:solidFill>
                            <a:srgbClr val="E8EEFA"/>
                          </a:solidFill>
                          <a:latin typeface="Segoe UI"/>
                        </a:rPr>
                        <a:t>Qimmat</a:t>
                      </a:r>
                    </a:p>
                  </a:txBody>
                  <a:tcPr>
                    <a:solidFill>
                      <a:srgbClr val="161F40"/>
                    </a:solidFill>
                  </a:tcPr>
                </a:tc>
              </a:tr>
              <a:tr h="520000">
                <a:tc>
                  <a:txBody>
                    <a:bodyPr/>
                    <a:lstStyle/>
                    <a:p>
                      <a:r>
                        <a:rPr sz="1400" b="0">
                          <a:solidFill>
                            <a:srgbClr val="E8EEFA"/>
                          </a:solidFill>
                          <a:latin typeface="Segoe UI"/>
                        </a:rPr>
                        <a:t>Square Attack</a:t>
                      </a:r>
                    </a:p>
                  </a:txBody>
                  <a:tcPr>
                    <a:solidFill>
                      <a:srgbClr val="111834"/>
                    </a:solidFill>
                  </a:tcPr>
                </a:tc>
                <a:tc>
                  <a:txBody>
                    <a:bodyPr/>
                    <a:lstStyle/>
                    <a:p>
                      <a:r>
                        <a:rPr sz="1400" b="0">
                          <a:solidFill>
                            <a:srgbClr val="E8EEFA"/>
                          </a:solidFill>
                          <a:latin typeface="Segoe UI"/>
                        </a:rPr>
                        <a:t>Qora quti</a:t>
                      </a:r>
                    </a:p>
                  </a:txBody>
                  <a:tcPr>
                    <a:solidFill>
                      <a:srgbClr val="111834"/>
                    </a:solidFill>
                  </a:tcPr>
                </a:tc>
                <a:tc>
                  <a:txBody>
                    <a:bodyPr/>
                    <a:lstStyle/>
                    <a:p>
                      <a:r>
                        <a:rPr sz="1400" b="0">
                          <a:solidFill>
                            <a:srgbClr val="E8EEFA"/>
                          </a:solidFill>
                          <a:latin typeface="Segoe UI"/>
                        </a:rPr>
                        <a:t>1000+ so'rov</a:t>
                      </a:r>
                    </a:p>
                  </a:txBody>
                  <a:tcPr>
                    <a:solidFill>
                      <a:srgbClr val="111834"/>
                    </a:solidFill>
                  </a:tcPr>
                </a:tc>
                <a:tc>
                  <a:txBody>
                    <a:bodyPr/>
                    <a:lstStyle/>
                    <a:p>
                      <a:r>
                        <a:rPr sz="1400" b="0">
                          <a:solidFill>
                            <a:srgbClr val="E8EEFA"/>
                          </a:solidFill>
                          <a:latin typeface="Segoe UI"/>
                        </a:rPr>
                        <a:t>O'rta</a:t>
                      </a:r>
                    </a:p>
                  </a:txBody>
                  <a:tcPr>
                    <a:solidFill>
                      <a:srgbClr val="111834"/>
                    </a:solidFill>
                  </a:tcPr>
                </a:tc>
                <a:tc>
                  <a:txBody>
                    <a:bodyPr/>
                    <a:lstStyle/>
                    <a:p>
                      <a:r>
                        <a:rPr sz="1400" b="0">
                          <a:solidFill>
                            <a:srgbClr val="E8EEFA"/>
                          </a:solidFill>
                          <a:latin typeface="Segoe UI"/>
                        </a:rPr>
                        <a:t>Faqat so'rovlar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Tushuntiriladigan sun'iy intellekt: Grad-CAM va SHAP</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XAI usullari global (modelning umumiy xatti-harakati) va lokal (bitta bashorat) tushuntirishlarga, shuningdek modelga xos va modeldan mustaqil (model-agnostic) usullarga bo'linadi.</a:t>
            </a:r>
          </a:p>
        </p:txBody>
      </p:sp>
      <p:sp>
        <p:nvSpPr>
          <p:cNvPr id="32" name="Rounded Rectangle 31"/>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Grad-CAM (Gradient-weighted Class Activation Mapping, Selvaraju va boshq., 2017) — konvolyutsion tarmoqlar uchun lokal usul.</a:t>
            </a:r>
          </a:p>
          <a:p>
            <a:pPr>
              <a:spcBef>
                <a:spcPts val="400"/>
              </a:spcBef>
            </a:pPr>
            <a:r>
              <a:rPr sz="1400">
                <a:solidFill>
                  <a:srgbClr val="AEBBD9"/>
                </a:solidFill>
                <a:latin typeface="Segoe UI"/>
              </a:rPr>
              <a:t>Tanlangan sinf logitining oxirgi konvolyutsion qatlam faollashuvlari A^k bo'yicha gradienti olinadi, har kanal uchun fazoviy o'rtacha olinib vazn alpha_k hisoblanadi, so'ngra L = ReLU(sum_k alpha_k  A^k) xaritasi kirish o'lchamiga kattalashtiriladi. Natija — modelning «qayerga qaragani» issiqlik xaritasi.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Tushuntiriladigan sun'iy intellekt: Grad-CAM va SHAP</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766216"/>
            <a:ext cx="50000" cy="2047568"/>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726216"/>
            <a:ext cx="5900000" cy="2127568"/>
          </a:xfrm>
          <a:prstGeom prst="rect">
            <a:avLst/>
          </a:prstGeom>
          <a:noFill/>
        </p:spPr>
        <p:txBody>
          <a:bodyPr wrap="square" anchor="ctr">
            <a:spAutoFit/>
          </a:bodyPr>
          <a:lstStyle/>
          <a:p>
            <a:r>
              <a:rPr sz="1500" b="1">
                <a:solidFill>
                  <a:srgbClr val="E8EEFA"/>
                </a:solidFill>
                <a:latin typeface="Segoe UI"/>
              </a:rPr>
              <a:t>SHAP (SHapley Additive exPlanations, Lundberg &amp; Lee, 2017) — kooperativ o'yinlar nazariyasidagi Shepli qiymatlariga asoslangan modeldan mustaqil usul.</a:t>
            </a:r>
          </a:p>
          <a:p>
            <a:pPr>
              <a:spcBef>
                <a:spcPts val="400"/>
              </a:spcBef>
            </a:pPr>
            <a:r>
              <a:rPr sz="1400">
                <a:solidFill>
                  <a:srgbClr val="AEBBD9"/>
                </a:solidFill>
                <a:latin typeface="Segoe UI"/>
              </a:rPr>
              <a:t>Har bir belgining (feature) hissasi barcha mumkin bo'lgan belgilar kombinatsiyalari ustidan o'rtachalashtirilgan marginal hissa sifatida aniqlanadi; bu yagona usulki, u lokal aniqlik (hissalar yig'indisi bashoratga teng), yo'qlik (ishtirok etmagan belgi hissasi nol) va izchillik aksiomalarini bir vaqtda qondiradi.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Tushuntiriladigan sun'iy intellekt: Grad-CAM va SHAP</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842128"/>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54856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8" name="TextBox 27"/>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Aniq hisoblash eksponensial, shuning uchun amalda TreeSHAP (daraxt ansambllari uchun polinomial), KernelSHAP (istalgan model, tanlanma asosida) va DeepSHAP/GradientSHAP (neyron tarmoqlar) ishlatiladi.</a:t>
            </a:r>
          </a:p>
          <a:p>
            <a:pPr>
              <a:spcBef>
                <a:spcPts val="400"/>
              </a:spcBef>
            </a:pPr>
            <a:r>
              <a:rPr sz="1400">
                <a:solidFill>
                  <a:srgbClr val="AEBBD9"/>
                </a:solidFill>
                <a:latin typeface="Segoe UI"/>
              </a:rPr>
              <a:t>SHAP jadvalli ma'lumotlarda de-fakto standart: u lokal tushuntirishni (waterfall grafigi) ham, global muhimlikni (beeswarm grafigi) ham beradi.</a:t>
            </a:r>
          </a:p>
        </p:txBody>
      </p:sp>
      <p:sp>
        <p:nvSpPr>
          <p:cNvPr id="29" name="Rounded Rectangle 28"/>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8128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631436"/>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3885000"/>
            <a:ext cx="5900000" cy="1892872"/>
          </a:xfrm>
          <a:prstGeom prst="rect">
            <a:avLst/>
          </a:prstGeom>
          <a:noFill/>
        </p:spPr>
        <p:txBody>
          <a:bodyPr wrap="square" anchor="ctr">
            <a:spAutoFit/>
          </a:bodyPr>
          <a:lstStyle/>
          <a:p>
            <a:r>
              <a:rPr sz="1400" b="0">
                <a:solidFill>
                  <a:srgbClr val="E8EEFA"/>
                </a:solidFill>
                <a:latin typeface="Segoe UI"/>
              </a:rPr>
              <a:t>XAI ning muhim cheklovi — tushuntirish modelning haqiqiy sababini emas, uning o'ziga bog'liqligini ko'rsatadi; adversarial hujumga uchragan namunada Grad-CAM xaritasi butunlay boshqa joyga «ko'chishi» mumkin, bu esa hujumni aniqlash uchun ham ishlatiladi.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Tushuntiriladigan sun'iy intellekt: Grad-CAM va SHAP</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graphicFrame>
        <p:nvGraphicFramePr>
          <p:cNvPr id="23" name="Table 22"/>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Xususiyat</a:t>
                      </a:r>
                    </a:p>
                  </a:txBody>
                  <a:tcPr>
                    <a:solidFill>
                      <a:srgbClr val="1C2755"/>
                    </a:solidFill>
                  </a:tcPr>
                </a:tc>
                <a:tc>
                  <a:txBody>
                    <a:bodyPr/>
                    <a:lstStyle/>
                    <a:p>
                      <a:r>
                        <a:rPr sz="1400" b="1">
                          <a:solidFill>
                            <a:srgbClr val="22D3EE"/>
                          </a:solidFill>
                          <a:latin typeface="Segoe UI"/>
                        </a:rPr>
                        <a:t>Grad-CAM</a:t>
                      </a:r>
                    </a:p>
                  </a:txBody>
                  <a:tcPr>
                    <a:solidFill>
                      <a:srgbClr val="1C2755"/>
                    </a:solidFill>
                  </a:tcPr>
                </a:tc>
                <a:tc>
                  <a:txBody>
                    <a:bodyPr/>
                    <a:lstStyle/>
                    <a:p>
                      <a:r>
                        <a:rPr sz="1400" b="1">
                          <a:solidFill>
                            <a:srgbClr val="22D3EE"/>
                          </a:solidFill>
                          <a:latin typeface="Segoe UI"/>
                        </a:rPr>
                        <a:t>SHAP (KernelSHAP)</a:t>
                      </a:r>
                    </a:p>
                  </a:txBody>
                  <a:tcPr>
                    <a:solidFill>
                      <a:srgbClr val="1C2755"/>
                    </a:solidFill>
                  </a:tcPr>
                </a:tc>
                <a:tc>
                  <a:txBody>
                    <a:bodyPr/>
                    <a:lstStyle/>
                    <a:p>
                      <a:r>
                        <a:rPr sz="1400" b="1">
                          <a:solidFill>
                            <a:srgbClr val="22D3EE"/>
                          </a:solidFill>
                          <a:latin typeface="Segoe UI"/>
                        </a:rPr>
                        <a:t>LIME</a:t>
                      </a:r>
                    </a:p>
                  </a:txBody>
                  <a:tcPr>
                    <a:solidFill>
                      <a:srgbClr val="1C2755"/>
                    </a:solidFill>
                  </a:tcPr>
                </a:tc>
              </a:tr>
              <a:tr h="520000">
                <a:tc>
                  <a:txBody>
                    <a:bodyPr/>
                    <a:lstStyle/>
                    <a:p>
                      <a:r>
                        <a:rPr sz="1400" b="0">
                          <a:solidFill>
                            <a:srgbClr val="E8EEFA"/>
                          </a:solidFill>
                          <a:latin typeface="Segoe UI"/>
                        </a:rPr>
                        <a:t>Model turi</a:t>
                      </a:r>
                    </a:p>
                  </a:txBody>
                  <a:tcPr>
                    <a:solidFill>
                      <a:srgbClr val="111834"/>
                    </a:solidFill>
                  </a:tcPr>
                </a:tc>
                <a:tc>
                  <a:txBody>
                    <a:bodyPr/>
                    <a:lstStyle/>
                    <a:p>
                      <a:r>
                        <a:rPr sz="1400" b="0">
                          <a:solidFill>
                            <a:srgbClr val="E8EEFA"/>
                          </a:solidFill>
                          <a:latin typeface="Segoe UI"/>
                        </a:rPr>
                        <a:t>CNN, ViT</a:t>
                      </a:r>
                    </a:p>
                  </a:txBody>
                  <a:tcPr>
                    <a:solidFill>
                      <a:srgbClr val="111834"/>
                    </a:solidFill>
                  </a:tcPr>
                </a:tc>
                <a:tc>
                  <a:txBody>
                    <a:bodyPr/>
                    <a:lstStyle/>
                    <a:p>
                      <a:r>
                        <a:rPr sz="1400" b="0">
                          <a:solidFill>
                            <a:srgbClr val="E8EEFA"/>
                          </a:solidFill>
                          <a:latin typeface="Segoe UI"/>
                        </a:rPr>
                        <a:t>Istalgan</a:t>
                      </a:r>
                    </a:p>
                  </a:txBody>
                  <a:tcPr>
                    <a:solidFill>
                      <a:srgbClr val="111834"/>
                    </a:solidFill>
                  </a:tcPr>
                </a:tc>
                <a:tc>
                  <a:txBody>
                    <a:bodyPr/>
                    <a:lstStyle/>
                    <a:p>
                      <a:r>
                        <a:rPr sz="1400" b="0">
                          <a:solidFill>
                            <a:srgbClr val="E8EEFA"/>
                          </a:solidFill>
                          <a:latin typeface="Segoe UI"/>
                        </a:rPr>
                        <a:t>Istalgan</a:t>
                      </a:r>
                    </a:p>
                  </a:txBody>
                  <a:tcPr>
                    <a:solidFill>
                      <a:srgbClr val="111834"/>
                    </a:solidFill>
                  </a:tcPr>
                </a:tc>
              </a:tr>
              <a:tr h="520000">
                <a:tc>
                  <a:txBody>
                    <a:bodyPr/>
                    <a:lstStyle/>
                    <a:p>
                      <a:r>
                        <a:rPr sz="1400" b="0">
                          <a:solidFill>
                            <a:srgbClr val="E8EEFA"/>
                          </a:solidFill>
                          <a:latin typeface="Segoe UI"/>
                        </a:rPr>
                        <a:t>Nazariy kafolat</a:t>
                      </a:r>
                    </a:p>
                  </a:txBody>
                  <a:tcPr>
                    <a:solidFill>
                      <a:srgbClr val="161F40"/>
                    </a:solidFill>
                  </a:tcPr>
                </a:tc>
                <a:tc>
                  <a:txBody>
                    <a:bodyPr/>
                    <a:lstStyle/>
                    <a:p>
                      <a:r>
                        <a:rPr sz="1400" b="0">
                          <a:solidFill>
                            <a:srgbClr val="E8EEFA"/>
                          </a:solidFill>
                          <a:latin typeface="Segoe UI"/>
                        </a:rPr>
                        <a:t>Yo'q</a:t>
                      </a:r>
                    </a:p>
                  </a:txBody>
                  <a:tcPr>
                    <a:solidFill>
                      <a:srgbClr val="161F40"/>
                    </a:solidFill>
                  </a:tcPr>
                </a:tc>
                <a:tc>
                  <a:txBody>
                    <a:bodyPr/>
                    <a:lstStyle/>
                    <a:p>
                      <a:r>
                        <a:rPr sz="1400" b="0">
                          <a:solidFill>
                            <a:srgbClr val="E8EEFA"/>
                          </a:solidFill>
                          <a:latin typeface="Segoe UI"/>
                        </a:rPr>
                        <a:t>Shepli aksiomalari</a:t>
                      </a:r>
                    </a:p>
                  </a:txBody>
                  <a:tcPr>
                    <a:solidFill>
                      <a:srgbClr val="161F40"/>
                    </a:solidFill>
                  </a:tcPr>
                </a:tc>
                <a:tc>
                  <a:txBody>
                    <a:bodyPr/>
                    <a:lstStyle/>
                    <a:p>
                      <a:r>
                        <a:rPr sz="1400" b="0">
                          <a:solidFill>
                            <a:srgbClr val="E8EEFA"/>
                          </a:solidFill>
                          <a:latin typeface="Segoe UI"/>
                        </a:rPr>
                        <a:t>Yo'q</a:t>
                      </a:r>
                    </a:p>
                  </a:txBody>
                  <a:tcPr>
                    <a:solidFill>
                      <a:srgbClr val="161F40"/>
                    </a:solidFill>
                  </a:tcPr>
                </a:tc>
              </a:tr>
              <a:tr h="520000">
                <a:tc>
                  <a:txBody>
                    <a:bodyPr/>
                    <a:lstStyle/>
                    <a:p>
                      <a:r>
                        <a:rPr sz="1400" b="0">
                          <a:solidFill>
                            <a:srgbClr val="E8EEFA"/>
                          </a:solidFill>
                          <a:latin typeface="Segoe UI"/>
                        </a:rPr>
                        <a:t>Hisoblash narxi</a:t>
                      </a:r>
                    </a:p>
                  </a:txBody>
                  <a:tcPr>
                    <a:solidFill>
                      <a:srgbClr val="111834"/>
                    </a:solidFill>
                  </a:tcPr>
                </a:tc>
                <a:tc>
                  <a:txBody>
                    <a:bodyPr/>
                    <a:lstStyle/>
                    <a:p>
                      <a:r>
                        <a:rPr sz="1400" b="0">
                          <a:solidFill>
                            <a:srgbClr val="E8EEFA"/>
                          </a:solidFill>
                          <a:latin typeface="Segoe UI"/>
                        </a:rPr>
                        <a:t>Juda past</a:t>
                      </a:r>
                    </a:p>
                  </a:txBody>
                  <a:tcPr>
                    <a:solidFill>
                      <a:srgbClr val="111834"/>
                    </a:solidFill>
                  </a:tcPr>
                </a:tc>
                <a:tc>
                  <a:txBody>
                    <a:bodyPr/>
                    <a:lstStyle/>
                    <a:p>
                      <a:r>
                        <a:rPr sz="1400" b="0">
                          <a:solidFill>
                            <a:srgbClr val="E8EEFA"/>
                          </a:solidFill>
                          <a:latin typeface="Segoe UI"/>
                        </a:rPr>
                        <a:t>Yuqori (yuzlab so'rov)</a:t>
                      </a:r>
                    </a:p>
                  </a:txBody>
                  <a:tcPr>
                    <a:solidFill>
                      <a:srgbClr val="111834"/>
                    </a:solidFill>
                  </a:tcPr>
                </a:tc>
                <a:tc>
                  <a:txBody>
                    <a:bodyPr/>
                    <a:lstStyle/>
                    <a:p>
                      <a:r>
                        <a:rPr sz="1400" b="0">
                          <a:solidFill>
                            <a:srgbClr val="E8EEFA"/>
                          </a:solidFill>
                          <a:latin typeface="Segoe UI"/>
                        </a:rPr>
                        <a:t>O'rta</a:t>
                      </a:r>
                    </a:p>
                  </a:txBody>
                  <a:tcPr>
                    <a:solidFill>
                      <a:srgbClr val="111834"/>
                    </a:solidFill>
                  </a:tcPr>
                </a:tc>
              </a:tr>
              <a:tr h="520000">
                <a:tc>
                  <a:txBody>
                    <a:bodyPr/>
                    <a:lstStyle/>
                    <a:p>
                      <a:r>
                        <a:rPr sz="1400" b="0">
                          <a:solidFill>
                            <a:srgbClr val="E8EEFA"/>
                          </a:solidFill>
                          <a:latin typeface="Segoe UI"/>
                        </a:rPr>
                        <a:t>Barqarorlik</a:t>
                      </a:r>
                    </a:p>
                  </a:txBody>
                  <a:tcPr>
                    <a:solidFill>
                      <a:srgbClr val="161F40"/>
                    </a:solidFill>
                  </a:tcPr>
                </a:tc>
                <a:tc>
                  <a:txBody>
                    <a:bodyPr/>
                    <a:lstStyle/>
                    <a:p>
                      <a:r>
                        <a:rPr sz="1400" b="0">
                          <a:solidFill>
                            <a:srgbClr val="E8EEFA"/>
                          </a:solidFill>
                          <a:latin typeface="Segoe UI"/>
                        </a:rPr>
                        <a:t>O'rta</a:t>
                      </a:r>
                    </a:p>
                  </a:txBody>
                  <a:tcPr>
                    <a:solidFill>
                      <a:srgbClr val="161F40"/>
                    </a:solidFill>
                  </a:tcPr>
                </a:tc>
                <a:tc>
                  <a:txBody>
                    <a:bodyPr/>
                    <a:lstStyle/>
                    <a:p>
                      <a:r>
                        <a:rPr sz="1400" b="0">
                          <a:solidFill>
                            <a:srgbClr val="E8EEFA"/>
                          </a:solidFill>
                          <a:latin typeface="Segoe UI"/>
                        </a:rPr>
                        <a:t>Yuqori</a:t>
                      </a:r>
                    </a:p>
                  </a:txBody>
                  <a:tcPr>
                    <a:solidFill>
                      <a:srgbClr val="161F40"/>
                    </a:solidFill>
                  </a:tcPr>
                </a:tc>
                <a:tc>
                  <a:txBody>
                    <a:bodyPr/>
                    <a:lstStyle/>
                    <a:p>
                      <a:r>
                        <a:rPr sz="1400" b="0">
                          <a:solidFill>
                            <a:srgbClr val="E8EEFA"/>
                          </a:solidFill>
                          <a:latin typeface="Segoe UI"/>
                        </a:rPr>
                        <a:t>Past (tasodifiy tanlanma)</a:t>
                      </a:r>
                    </a:p>
                  </a:txBody>
                  <a:tcPr>
                    <a:solidFill>
                      <a:srgbClr val="161F40"/>
                    </a:solidFill>
                  </a:tcPr>
                </a:tc>
              </a:tr>
              <a:tr h="520000">
                <a:tc>
                  <a:txBody>
                    <a:bodyPr/>
                    <a:lstStyle/>
                    <a:p>
                      <a:r>
                        <a:rPr sz="1400" b="0">
                          <a:solidFill>
                            <a:srgbClr val="E8EEFA"/>
                          </a:solidFill>
                          <a:latin typeface="Segoe UI"/>
                        </a:rPr>
                        <a:t>Odatiy soha</a:t>
                      </a:r>
                    </a:p>
                  </a:txBody>
                  <a:tcPr>
                    <a:solidFill>
                      <a:srgbClr val="111834"/>
                    </a:solidFill>
                  </a:tcPr>
                </a:tc>
                <a:tc>
                  <a:txBody>
                    <a:bodyPr/>
                    <a:lstStyle/>
                    <a:p>
                      <a:r>
                        <a:rPr sz="1400" b="0">
                          <a:solidFill>
                            <a:srgbClr val="E8EEFA"/>
                          </a:solidFill>
                          <a:latin typeface="Segoe UI"/>
                        </a:rPr>
                        <a:t>Tibbiy tasvir, detektorlar</a:t>
                      </a:r>
                    </a:p>
                  </a:txBody>
                  <a:tcPr>
                    <a:solidFill>
                      <a:srgbClr val="111834"/>
                    </a:solidFill>
                  </a:tcPr>
                </a:tc>
                <a:tc>
                  <a:txBody>
                    <a:bodyPr/>
                    <a:lstStyle/>
                    <a:p>
                      <a:r>
                        <a:rPr sz="1400" b="0">
                          <a:solidFill>
                            <a:srgbClr val="E8EEFA"/>
                          </a:solidFill>
                          <a:latin typeface="Segoe UI"/>
                        </a:rPr>
                        <a:t>Kredit, tibbiy jadval</a:t>
                      </a:r>
                    </a:p>
                  </a:txBody>
                  <a:tcPr>
                    <a:solidFill>
                      <a:srgbClr val="111834"/>
                    </a:solidFill>
                  </a:tcPr>
                </a:tc>
                <a:tc>
                  <a:txBody>
                    <a:bodyPr/>
                    <a:lstStyle/>
                    <a:p>
                      <a:r>
                        <a:rPr sz="1400" b="0">
                          <a:solidFill>
                            <a:srgbClr val="E8EEFA"/>
                          </a:solidFill>
                          <a:latin typeface="Segoe UI"/>
                        </a:rPr>
                        <a:t>Matn, prototiplar</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Adolatlilik mezonlari va ularning mos kelmasligi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Adolatlilik tahlilida sezgir atribut (sensitive attribute — jins, yosh, millat, hudud) A, haqiqiy natija Y va bashorat Y_hat ko'rib chiqiladi.</a:t>
            </a:r>
          </a:p>
          <a:p>
            <a:pPr>
              <a:spcBef>
                <a:spcPts val="400"/>
              </a:spcBef>
            </a:pPr>
            <a:r>
              <a:rPr sz="1400">
                <a:solidFill>
                  <a:srgbClr val="AEBBD9"/>
                </a:solidFill>
                <a:latin typeface="Segoe UI"/>
              </a:rPr>
              <a:t>Asosiy guruh mezonlari:</a:t>
            </a:r>
          </a:p>
        </p:txBody>
      </p:sp>
      <p:sp>
        <p:nvSpPr>
          <p:cNvPr id="33" name="Rounded Rectangle 32"/>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Demografik paritet (demographic parity).</a:t>
            </a:r>
          </a:p>
          <a:p>
            <a:pPr>
              <a:spcBef>
                <a:spcPts val="400"/>
              </a:spcBef>
            </a:pPr>
            <a:r>
              <a:rPr sz="1400">
                <a:solidFill>
                  <a:srgbClr val="AEBBD9"/>
                </a:solidFill>
                <a:latin typeface="Segoe UI"/>
              </a:rPr>
              <a:t>P(Y_hat = 1 | A = a) barcha guruhlar uchun teng. Ijobiy qaror ulushi guruhdan bog'liq emas. Farq ko'rsatkichi — demographic_parity_difference, nisbat — ..._ratio (AQSh «to'rtdan besh» qoidasi 0.8 dan yuqori bo'lishini talab qiladi).</a:t>
            </a:r>
          </a:p>
        </p:txBody>
      </p:sp>
      <p:sp>
        <p:nvSpPr>
          <p:cNvPr id="37" name="Rounded Rectangle 36"/>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40" name="TextBox 39"/>
          <p:cNvSpPr txBox="1"/>
          <p:nvPr/>
        </p:nvSpPr>
        <p:spPr>
          <a:xfrm>
            <a:off x="1300000" y="4691740"/>
            <a:ext cx="5900000" cy="1423480"/>
          </a:xfrm>
          <a:prstGeom prst="rect">
            <a:avLst/>
          </a:prstGeom>
          <a:noFill/>
        </p:spPr>
        <p:txBody>
          <a:bodyPr wrap="square" anchor="ctr">
            <a:spAutoFit/>
          </a:bodyPr>
          <a:lstStyle/>
          <a:p>
            <a:r>
              <a:rPr sz="1500" b="1">
                <a:solidFill>
                  <a:srgbClr val="E8EEFA"/>
                </a:solidFill>
                <a:latin typeface="Segoe UI"/>
              </a:rPr>
              <a:t>Teng imkoniyat (equal opportunity).</a:t>
            </a:r>
          </a:p>
          <a:p>
            <a:pPr>
              <a:spcBef>
                <a:spcPts val="400"/>
              </a:spcBef>
            </a:pPr>
            <a:r>
              <a:rPr sz="1400">
                <a:solidFill>
                  <a:srgbClr val="AEBBD9"/>
                </a:solidFill>
                <a:latin typeface="Segoe UI"/>
              </a:rPr>
              <a:t>P(Y_hat = 1 | Y = 1, A = a) teng — haqiqiy ijobiy namunalar uchun topish darajasi (TPR) teng.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Adolatlilik mezonlari va ularning mos kelmasligi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600328"/>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80328"/>
            <a:ext cx="50000" cy="9746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967664"/>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2640328"/>
            <a:ext cx="5900000" cy="1054672"/>
          </a:xfrm>
          <a:prstGeom prst="rect">
            <a:avLst/>
          </a:prstGeom>
          <a:noFill/>
        </p:spPr>
        <p:txBody>
          <a:bodyPr wrap="square" anchor="ctr">
            <a:spAutoFit/>
          </a:bodyPr>
          <a:lstStyle/>
          <a:p>
            <a:r>
              <a:rPr sz="1700" b="1">
                <a:solidFill>
                  <a:srgbClr val="E8EEFA"/>
                </a:solidFill>
                <a:latin typeface="Segoe UI"/>
              </a:rPr>
              <a:t>Tenglashtirilgan koeffitsiyentlar (equalized odds).</a:t>
            </a:r>
          </a:p>
          <a:p>
            <a:pPr>
              <a:spcBef>
                <a:spcPts val="400"/>
              </a:spcBef>
            </a:pPr>
            <a:r>
              <a:rPr sz="1600">
                <a:solidFill>
                  <a:srgbClr val="AEBBD9"/>
                </a:solidFill>
                <a:latin typeface="Segoe UI"/>
              </a:rPr>
              <a:t>TPR ham, FPR ham teng.</a:t>
            </a:r>
          </a:p>
        </p:txBody>
      </p:sp>
      <p:sp>
        <p:nvSpPr>
          <p:cNvPr id="34" name="Rounded Rectangle 33"/>
          <p:cNvSpPr/>
          <p:nvPr/>
        </p:nvSpPr>
        <p:spPr>
          <a:xfrm>
            <a:off x="550000" y="3845000"/>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9746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212336"/>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7" name="TextBox 36"/>
          <p:cNvSpPr txBox="1"/>
          <p:nvPr/>
        </p:nvSpPr>
        <p:spPr>
          <a:xfrm>
            <a:off x="1300000" y="3885000"/>
            <a:ext cx="5900000" cy="1054672"/>
          </a:xfrm>
          <a:prstGeom prst="rect">
            <a:avLst/>
          </a:prstGeom>
          <a:noFill/>
        </p:spPr>
        <p:txBody>
          <a:bodyPr wrap="square" anchor="ctr">
            <a:spAutoFit/>
          </a:bodyPr>
          <a:lstStyle/>
          <a:p>
            <a:r>
              <a:rPr sz="1700" b="1">
                <a:solidFill>
                  <a:srgbClr val="E8EEFA"/>
                </a:solidFill>
                <a:latin typeface="Segoe UI"/>
              </a:rPr>
              <a:t>Kalibrlash (calibration).</a:t>
            </a:r>
          </a:p>
          <a:p>
            <a:pPr>
              <a:spcBef>
                <a:spcPts val="400"/>
              </a:spcBef>
            </a:pPr>
            <a:r>
              <a:rPr sz="1600">
                <a:solidFill>
                  <a:srgbClr val="AEBBD9"/>
                </a:solidFill>
                <a:latin typeface="Segoe UI"/>
              </a:rPr>
              <a:t>Berilgan bashorat ehtimolligi uchun haqiqiy ijobiy ulushi guruhlar bo'yicha teng.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Adolatlilik mezonlari va ularning mos kelmasligi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48868"/>
            <a:ext cx="50000" cy="228226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0" name="TextBox 29"/>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Chouldechova (2017) va Kleinberg va boshq. (2016) isbotladiki, bazaviy ulushlar (P(Y=1|A)) guruhlarda farq qilsa, kalibrlash va tenglashtirilgan koeffitsiyentlarni bir vaqtda qondirish mumkin emas.</a:t>
            </a:r>
          </a:p>
          <a:p>
            <a:pPr>
              <a:spcBef>
                <a:spcPts val="400"/>
              </a:spcBef>
            </a:pPr>
            <a:r>
              <a:rPr sz="1400">
                <a:solidFill>
                  <a:srgbClr val="AEBBD9"/>
                </a:solidFill>
                <a:latin typeface="Segoe UI"/>
              </a:rPr>
              <a:t>Shuning uchun muhandis mezonni masala konteksti asosida tanlashi va bu tanlovni hujjatlashtirishi kerak: kreditda ko'pincha teng imkoniyat (haqiqatan to'lay oladiganlar teng topilsin), tibbiy skriningda — teng FNR (kasalni o'tkazib yuborish guruhdan bog'liq bo'lmasin).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Adolatlilik mezonlari va ularning mos kelmasligi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Fairlearn kutubxonasi uch turdagi tuzatish beradi: oldindan qayta ishlash (pre-processing — ma'lumotni qayta vaznlash), jarayon ichida (in-processing — ExponentiatedGradient, GridSearch cheklovli optimallashtirish) va keyingi qayta ishlash (post-processing —…</a:t>
            </a:r>
          </a:p>
          <a:p>
            <a:pPr>
              <a:spcBef>
                <a:spcPts val="400"/>
              </a:spcBef>
            </a:pPr>
            <a:r>
              <a:rPr sz="1600">
                <a:solidFill>
                  <a:srgbClr val="AEBBD9"/>
                </a:solidFill>
                <a:latin typeface="Segoe UI"/>
              </a:rPr>
              <a:t>MetricFrame obyekti esa istalgan metrikani guruhlar bo'yicha kesimda hisoblaydi.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talablar va xalqaro standartlar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ISO/IEC 42001:2023 — sun'iy intellektni boshqarish tizimi standarti: tashkilot AI siyosati, rollar, xavf baholash, ta'sir baholash (AI impact assessment), hayot sikli nazorati va uzluksiz takomillashtirishni belgilashi kerak.</a:t>
            </a:r>
          </a:p>
          <a:p>
            <a:pPr>
              <a:spcBef>
                <a:spcPts val="400"/>
              </a:spcBef>
            </a:pPr>
            <a:r>
              <a:rPr sz="1600">
                <a:solidFill>
                  <a:srgbClr val="AEBBD9"/>
                </a:solidFill>
                <a:latin typeface="Segoe UI"/>
              </a:rPr>
              <a:t>ISO/IEC 23894:2023 — AI uchun xavf menejmenti bo'yicha ko'rsatma (ISO 31000 asosida): xavf manbalari ro'yxati (ma'lumot sifati, shaffoflik yetishmasligi, adversarial ta'sir, avtomatlashtirish tarafkashligi).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NAZARIY ASOSLAR</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Etik talablar va xalqaro standartlar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1" name="TextBox 30"/>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EU AI Act xavf asosidagi yondashuvni qo'llaydi: taqiqlangan amaliyotlar (ijtimoiy reyting, ish joyida hissiyotni aniqlash), yuqori xavfli tizimlar (ta'lim, bandlik, kredit, tibbiyot, huquqni muhofaza) uchun 9–15-moddalardagi talablar — xavf menejmenti tizimi…</a:t>
            </a:r>
          </a:p>
          <a:p>
            <a:pPr>
              <a:spcBef>
                <a:spcPts val="400"/>
              </a:spcBef>
            </a:pPr>
            <a:r>
              <a:rPr sz="1400">
                <a:solidFill>
                  <a:srgbClr val="AEBBD9"/>
                </a:solidFill>
                <a:latin typeface="Segoe UI"/>
              </a:rPr>
              <a:t>NIST AI Risk Management Framework (AI RMF 1.0, 2023) esa to'rt funksiyani (Govern, Map, Measure, Manage) taklif qiladi. Ushbu hujjatlar asosida mashg'ulotda 20 banddan iborat tekshiruv ro'yxati qo'llaniladi.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bd5960a4d84faaaa.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Xnatedawgx · Wikimedia Commons · CC BY-SA 4.0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Amaliy misol</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Amaliy misol</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28</a:t>
            </a:r>
          </a:p>
        </p:txBody>
      </p:sp>
      <p:sp>
        <p:nvSpPr>
          <p:cNvPr id="23" name="Rounded Rectangle 22"/>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6" name="TextBox 25"/>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Topshiriq to'rt qismdan iborat: (A) CIFAR-10 klassifikatoriga FGSM/PGD hujumi va adversarial o'qitish; (B) Grad-CAM va SHAP bilan qarorlarni tushuntirish; (C) Adult (Census Income) jadvalli ma'lumotida Fairlearn bilan adolatlilik tahlili; (D) etik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ppt_x</p:attrName>
                                        </p:attrNameLst>
                                      </p:cBhvr>
                                      <p:tavLst>
                                        <p:tav tm="0">
                                          <p:val>
                                            <p:strVal val="#ppt_x"/>
                                          </p:val>
                                        </p:tav>
                                        <p:tav tm="100000">
                                          <p:val>
                                            <p:strVal val="#ppt_x"/>
                                          </p:val>
                                        </p:tav>
                                      </p:tavLst>
                                    </p:anim>
                                    <p:anim calcmode="lin" valueType="num">
                                      <p:cBhvr additive="base">
                                        <p:cTn id="17" dur="550" fill="hold"/>
                                        <p:tgtEl>
                                          <p:spTgt spid="23"/>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ppt_x</p:attrName>
                                        </p:attrNameLst>
                                      </p:cBhvr>
                                      <p:tavLst>
                                        <p:tav tm="0">
                                          <p:val>
                                            <p:strVal val="#ppt_x"/>
                                          </p:val>
                                        </p:tav>
                                        <p:tav tm="100000">
                                          <p:val>
                                            <p:strVal val="#ppt_x"/>
                                          </p:val>
                                        </p:tav>
                                      </p:tavLst>
                                    </p:anim>
                                    <p:anim calcmode="lin" valueType="num">
                                      <p:cBhvr additive="base">
                                        <p:cTn id="23" dur="550" fill="hold"/>
                                        <p:tgtEl>
                                          <p:spTgt spid="24"/>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anim calcmode="lin" valueType="num">
                                      <p:cBhvr additive="base">
                                        <p:cTn id="28" dur="550" fill="hold"/>
                                        <p:tgtEl>
                                          <p:spTgt spid="25"/>
                                        </p:tgtEl>
                                        <p:attrNameLst>
                                          <p:attrName>ppt_w</p:attrName>
                                        </p:attrNameLst>
                                      </p:cBhvr>
                                      <p:tavLst>
                                        <p:tav tm="0">
                                          <p:val>
                                            <p:strVal val="0"/>
                                          </p:val>
                                        </p:tav>
                                        <p:tav tm="100000">
                                          <p:val>
                                            <p:strVal val="#ppt_w"/>
                                          </p:val>
                                        </p:tav>
                                      </p:tavLst>
                                    </p:anim>
                                    <p:anim calcmode="lin" valueType="num">
                                      <p:cBhvr additive="base">
                                        <p:cTn id="29" dur="550" fill="hold"/>
                                        <p:tgtEl>
                                          <p:spTgt spid="25"/>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50"/>
                                        <p:tgtEl>
                                          <p:spTgt spid="26"/>
                                        </p:tgtEl>
                                      </p:cBhvr>
                                    </p:animEffect>
                                    <p:anim calcmode="lin" valueType="num">
                                      <p:cBhvr additive="base">
                                        <p:cTn id="34" dur="550" fill="hold"/>
                                        <p:tgtEl>
                                          <p:spTgt spid="26"/>
                                        </p:tgtEl>
                                        <p:attrNameLst>
                                          <p:attrName>ppt_x</p:attrName>
                                        </p:attrNameLst>
                                      </p:cBhvr>
                                      <p:tavLst>
                                        <p:tav tm="0">
                                          <p:val>
                                            <p:strVal val="#ppt_x"/>
                                          </p:val>
                                        </p:tav>
                                        <p:tav tm="100000">
                                          <p:val>
                                            <p:strVal val="#ppt_x"/>
                                          </p:val>
                                        </p:tav>
                                      </p:tavLst>
                                    </p:anim>
                                    <p:anim calcmode="lin" valueType="num">
                                      <p:cBhvr additive="base">
                                        <p:cTn id="35"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 qilinadigan muhit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332104"/>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12104"/>
            <a:ext cx="50000" cy="124289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83355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372104"/>
            <a:ext cx="5900000" cy="1322896"/>
          </a:xfrm>
          <a:prstGeom prst="rect">
            <a:avLst/>
          </a:prstGeom>
          <a:noFill/>
        </p:spPr>
        <p:txBody>
          <a:bodyPr wrap="square" anchor="ctr">
            <a:spAutoFit/>
          </a:bodyPr>
          <a:lstStyle/>
          <a:p>
            <a:r>
              <a:rPr sz="1700" b="1">
                <a:solidFill>
                  <a:srgbClr val="E8EEFA"/>
                </a:solidFill>
                <a:latin typeface="Segoe UI"/>
              </a:rPr>
              <a:t>Apparat.</a:t>
            </a:r>
          </a:p>
          <a:p>
            <a:pPr>
              <a:spcBef>
                <a:spcPts val="400"/>
              </a:spcBef>
            </a:pPr>
            <a:r>
              <a:rPr sz="1600">
                <a:solidFill>
                  <a:srgbClr val="AEBBD9"/>
                </a:solidFill>
                <a:latin typeface="Segoe UI"/>
              </a:rPr>
              <a:t>Bitta NVIDIA GPU (8 GB yetarli) yoki CPU (A qismida vaqt 5–8 baravar oshadi; --subset bilan kamaytirish mumkin).</a:t>
            </a:r>
          </a:p>
        </p:txBody>
      </p:sp>
      <p:sp>
        <p:nvSpPr>
          <p:cNvPr id="32" name="Rounded Rectangle 31"/>
          <p:cNvSpPr/>
          <p:nvPr/>
        </p:nvSpPr>
        <p:spPr>
          <a:xfrm>
            <a:off x="550000" y="3845000"/>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24289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34644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1322896"/>
          </a:xfrm>
          <a:prstGeom prst="rect">
            <a:avLst/>
          </a:prstGeom>
          <a:noFill/>
        </p:spPr>
        <p:txBody>
          <a:bodyPr wrap="square" anchor="ctr">
            <a:spAutoFit/>
          </a:bodyPr>
          <a:lstStyle/>
          <a:p>
            <a:r>
              <a:rPr sz="1700" b="1">
                <a:solidFill>
                  <a:srgbClr val="E8EEFA"/>
                </a:solidFill>
                <a:latin typeface="Segoe UI"/>
              </a:rPr>
              <a:t>Dasturiy ta'minot.</a:t>
            </a:r>
          </a:p>
          <a:p>
            <a:pPr>
              <a:spcBef>
                <a:spcPts val="400"/>
              </a:spcBef>
            </a:pPr>
            <a:r>
              <a:rPr sz="1600">
                <a:solidFill>
                  <a:srgbClr val="AEBBD9"/>
                </a:solidFill>
                <a:latin typeface="Segoe UI"/>
              </a:rPr>
              <a:t>Python 3.10+, PyTorch 2.3+, torchvision; pip install torchattacks shap fairlearn scikit-learn pandas matplotlib grad-cam.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Talab qilinadigan muhit</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14388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9944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103880"/>
            <a:ext cx="5900000" cy="1591120"/>
          </a:xfrm>
          <a:prstGeom prst="rect">
            <a:avLst/>
          </a:prstGeom>
          <a:noFill/>
        </p:spPr>
        <p:txBody>
          <a:bodyPr wrap="square" anchor="ctr">
            <a:spAutoFit/>
          </a:bodyPr>
          <a:lstStyle/>
          <a:p>
            <a:r>
              <a:rPr sz="1700" b="1">
                <a:solidFill>
                  <a:srgbClr val="E8EEFA"/>
                </a:solidFill>
                <a:latin typeface="Segoe UI"/>
              </a:rPr>
              <a:t>Ma'lumotlar.</a:t>
            </a:r>
          </a:p>
          <a:p>
            <a:pPr>
              <a:spcBef>
                <a:spcPts val="400"/>
              </a:spcBef>
            </a:pPr>
            <a:r>
              <a:rPr sz="1600">
                <a:solidFill>
                  <a:srgbClr val="AEBBD9"/>
                </a:solidFill>
                <a:latin typeface="Segoe UI"/>
              </a:rPr>
              <a:t>CIFAR-10 (avtomatik yuklanadi); Adult — fairlearn.datasets.fetch_adult() orqali OpenML'dan (48 842 yozuv, 14 belgi, maqsad — yillik daromad 50 ming dollardan oshadimi).</a:t>
            </a:r>
          </a:p>
        </p:txBody>
      </p:sp>
      <p:sp>
        <p:nvSpPr>
          <p:cNvPr id="32" name="Rounded Rectangle 31"/>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111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48056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5" name="TextBox 34"/>
          <p:cNvSpPr txBox="1"/>
          <p:nvPr/>
        </p:nvSpPr>
        <p:spPr>
          <a:xfrm>
            <a:off x="1300000" y="3885000"/>
            <a:ext cx="5900000" cy="1591120"/>
          </a:xfrm>
          <a:prstGeom prst="rect">
            <a:avLst/>
          </a:prstGeom>
          <a:noFill/>
        </p:spPr>
        <p:txBody>
          <a:bodyPr wrap="square" anchor="ctr">
            <a:spAutoFit/>
          </a:bodyPr>
          <a:lstStyle/>
          <a:p>
            <a:r>
              <a:rPr sz="1700" b="1">
                <a:solidFill>
                  <a:srgbClr val="E8EEFA"/>
                </a:solidFill>
                <a:latin typeface="Segoe UI"/>
              </a:rPr>
              <a:t>Oldindan o'qitilgan CIFAR-10 modeli.</a:t>
            </a:r>
          </a:p>
          <a:p>
            <a:pPr>
              <a:spcBef>
                <a:spcPts val="400"/>
              </a:spcBef>
            </a:pPr>
            <a:r>
              <a:rPr sz="1600">
                <a:solidFill>
                  <a:srgbClr val="AEBBD9"/>
                </a:solidFill>
                <a:latin typeface="Segoe UI"/>
              </a:rPr>
              <a:t>A5 mashg'ulotidan ResNet-18 checkpoint'i yoki quyidagi skript bilan 15 epoxada o'qitilgan model (toza aniqlik ~90%).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model va toza aniqlik</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Normalizatsiyani model ichiga joylashtirdik — bu adversarial tadqiqotlarda muhim: hujum [0, 1] piksel fazosida epsilon = 8/255 chegarasi bilan ishlashi kerak, aks holda normallashtirilgan fazodagi epsilon jismoniy ma'noga ega bo'lmaydi. 15 epoxadan so'ng toza aniqlik taxminan 90–92% (RTX 3090 da ~6 daqiqa). Bu raqam A qismidagi barcha taqqoslashlar uchun asos.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model va toza aniqlik — kod 1</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32</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common.py</a:t>
            </a:r>
          </a:p>
          <a:p>
            <a:r>
              <a:rPr sz="1200">
                <a:solidFill>
                  <a:srgbClr val="DBE4F5"/>
                </a:solidFill>
                <a:latin typeface="Consolas"/>
              </a:rPr>
              <a:t>import torch, torch.nn as nn, torchvision, torchvision.transforms as T</a:t>
            </a:r>
          </a:p>
          <a:p>
            <a:r>
              <a:rPr sz="1200">
                <a:solidFill>
                  <a:srgbClr val="DBE4F5"/>
                </a:solidFill>
                <a:latin typeface="Consolas"/>
              </a:rPr>
              <a:t>from torch.utils.data import DataLoader</a:t>
            </a:r>
          </a:p>
          <a:p>
            <a:r>
              <a:rPr sz="1200">
                <a:solidFill>
                  <a:srgbClr val="DBE4F5"/>
                </a:solidFill>
                <a:latin typeface="Consolas"/>
              </a:rPr>
              <a:t>dev = torch.device("cuda" if torch.cuda.is_available() else "cpu")</a:t>
            </a:r>
          </a:p>
          <a:p>
            <a:r>
              <a:rPr sz="1200">
                <a:solidFill>
                  <a:srgbClr val="DBE4F5"/>
                </a:solidFill>
                <a:latin typeface="Consolas"/>
              </a:rPr>
              <a:t>MEAN, STD = (0.4914, 0.4822, 0.4465), (0.2470, 0.2435, 0.2616)</a:t>
            </a:r>
          </a:p>
          <a:p>
            <a:r>
              <a:rPr sz="1200">
                <a:solidFill>
                  <a:srgbClr val="DBE4F5"/>
                </a:solidFill>
                <a:latin typeface="Consolas"/>
              </a:rPr>
              <a:t> </a:t>
            </a:r>
          </a:p>
          <a:p>
            <a:r>
              <a:rPr sz="1200">
                <a:solidFill>
                  <a:srgbClr val="DBE4F5"/>
                </a:solidFill>
                <a:latin typeface="Consolas"/>
              </a:rPr>
              <a:t>class Normalized(nn.Module):</a:t>
            </a:r>
          </a:p>
          <a:p>
            <a:r>
              <a:rPr sz="1200">
                <a:solidFill>
                  <a:srgbClr val="DBE4F5"/>
                </a:solidFill>
                <a:latin typeface="Consolas"/>
              </a:rPr>
              <a:t>    """Normalizatsiya model ichida — hujum [0,1] piksel fazosida ishlashi uchun."""</a:t>
            </a:r>
          </a:p>
          <a:p>
            <a:r>
              <a:rPr sz="1200">
                <a:solidFill>
                  <a:srgbClr val="DBE4F5"/>
                </a:solidFill>
                <a:latin typeface="Consolas"/>
              </a:rPr>
              <a:t>    def __init__(self, net):</a:t>
            </a:r>
          </a:p>
          <a:p>
            <a:r>
              <a:rPr sz="1200">
                <a:solidFill>
                  <a:srgbClr val="DBE4F5"/>
                </a:solidFill>
                <a:latin typeface="Consolas"/>
              </a:rPr>
              <a:t>        super().__init__(); self.net = net</a:t>
            </a:r>
          </a:p>
          <a:p>
            <a:r>
              <a:rPr sz="1200">
                <a:solidFill>
                  <a:srgbClr val="DBE4F5"/>
                </a:solidFill>
                <a:latin typeface="Consolas"/>
              </a:rPr>
              <a:t>        self.register_buffer("m", torch.tensor(MEAN).view(1, 3, 1, 1))</a:t>
            </a:r>
          </a:p>
          <a:p>
            <a:r>
              <a:rPr sz="1200">
                <a:solidFill>
                  <a:srgbClr val="DBE4F5"/>
                </a:solidFill>
                <a:latin typeface="Consolas"/>
              </a:rPr>
              <a:t>        self.register_buffer("s", torch.tensor(STD).view(1, 3, 1, 1))</a:t>
            </a:r>
          </a:p>
          <a:p>
            <a:r>
              <a:rPr sz="1200">
                <a:solidFill>
                  <a:srgbClr val="DBE4F5"/>
                </a:solidFill>
                <a:latin typeface="Consolas"/>
              </a:rPr>
              <a:t>    def forward(self, x): return self.net((x - self.m) / self.s)</a:t>
            </a:r>
          </a:p>
          <a:p>
            <a:r>
              <a:rPr sz="1200">
                <a:solidFill>
                  <a:srgbClr val="DBE4F5"/>
                </a:solidFill>
                <a:latin typeface="Consolas"/>
              </a:rPr>
              <a:t> </a:t>
            </a:r>
          </a:p>
          <a:p>
            <a:r>
              <a:rPr sz="1200">
                <a:solidFill>
                  <a:srgbClr val="DBE4F5"/>
                </a:solidFill>
                <a:latin typeface="Consolas"/>
              </a:rPr>
              <a:t>def loaders(bs=128):</a:t>
            </a:r>
          </a:p>
          <a:p>
            <a:r>
              <a:rPr sz="1200">
                <a:solidFill>
                  <a:srgbClr val="DBE4F5"/>
                </a:solidFill>
                <a:latin typeface="Consolas"/>
              </a:rPr>
              <a:t>    tr = T.Compose([T.RandomCrop(32, padding=4), T.RandomHorizontalFlip(), T.ToTensor()])</a:t>
            </a:r>
          </a:p>
          <a:p>
            <a:r>
              <a:rPr sz="1200">
                <a:solidFill>
                  <a:srgbClr val="DBE4F5"/>
                </a:solidFill>
                <a:latin typeface="Consolas"/>
              </a:rPr>
              <a:t>    te = T.ToTensor()</a:t>
            </a:r>
          </a:p>
          <a:p>
            <a:r>
              <a:rPr sz="1200">
                <a:solidFill>
                  <a:srgbClr val="DBE4F5"/>
                </a:solidFill>
                <a:latin typeface="Consolas"/>
              </a:rPr>
              <a:t>    a = torchvision.datasets.CIFAR10("./data", train=True, download=True, transform=tr)</a:t>
            </a:r>
          </a:p>
          <a:p>
            <a:r>
              <a:rPr sz="1200">
                <a:solidFill>
                  <a:srgbClr val="DBE4F5"/>
                </a:solidFill>
                <a:latin typeface="Consolas"/>
              </a:rPr>
              <a:t>    b = torchvision.datasets.CIFAR10("./data", train=False, download=True, transform=te)</a:t>
            </a:r>
          </a:p>
          <a:p>
            <a:r>
              <a:rPr sz="1200">
                <a:solidFill>
                  <a:srgbClr val="DBE4F5"/>
                </a:solidFill>
                <a:latin typeface="Consolas"/>
              </a:rPr>
              <a:t>    return DataLoader(a, bs, shuffle=True, num_workers=4), DataLoader(b, 256, num_workers=4)</a:t>
            </a:r>
          </a:p>
          <a:p>
            <a:r>
              <a:rPr sz="12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1-qadam. Bazaviy model va toza aniqlik — kod 2</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train_clean.py</a:t>
            </a:r>
          </a:p>
          <a:p>
            <a:r>
              <a:rPr sz="1200">
                <a:solidFill>
                  <a:srgbClr val="DBE4F5"/>
                </a:solidFill>
                <a:latin typeface="Consolas"/>
              </a:rPr>
              <a:t>import torch, torch.nn as nn</a:t>
            </a:r>
          </a:p>
          <a:p>
            <a:r>
              <a:rPr sz="1200">
                <a:solidFill>
                  <a:srgbClr val="DBE4F5"/>
                </a:solidFill>
                <a:latin typeface="Consolas"/>
              </a:rPr>
              <a:t>from common import *</a:t>
            </a:r>
          </a:p>
          <a:p>
            <a:r>
              <a:rPr sz="1200">
                <a:solidFill>
                  <a:srgbClr val="DBE4F5"/>
                </a:solidFill>
                <a:latin typeface="Consolas"/>
              </a:rPr>
              <a:t>tr, te = loaders(); model = make_model()</a:t>
            </a:r>
          </a:p>
          <a:p>
            <a:r>
              <a:rPr sz="1200">
                <a:solidFill>
                  <a:srgbClr val="DBE4F5"/>
                </a:solidFill>
                <a:latin typeface="Consolas"/>
              </a:rPr>
              <a:t>opt = torch.optim.SGD(model.parameters(), lr=0.1, momentum=0.9, weight_decay=5e-4)</a:t>
            </a:r>
          </a:p>
          <a:p>
            <a:r>
              <a:rPr sz="1200">
                <a:solidFill>
                  <a:srgbClr val="DBE4F5"/>
                </a:solidFill>
                <a:latin typeface="Consolas"/>
              </a:rPr>
              <a:t>sched = torch.optim.lr_scheduler.OneCycleLR(opt, 0.1, epochs=15, steps_per_epoch=len(tr))</a:t>
            </a:r>
          </a:p>
          <a:p>
            <a:r>
              <a:rPr sz="1200">
                <a:solidFill>
                  <a:srgbClr val="DBE4F5"/>
                </a:solidFill>
                <a:latin typeface="Consolas"/>
              </a:rPr>
              <a:t>lossf = nn.CrossEntropyLoss()</a:t>
            </a:r>
          </a:p>
          <a:p>
            <a:r>
              <a:rPr sz="1200">
                <a:solidFill>
                  <a:srgbClr val="DBE4F5"/>
                </a:solidFill>
                <a:latin typeface="Consolas"/>
              </a:rPr>
              <a:t>for ep in range(15):</a:t>
            </a:r>
          </a:p>
          <a:p>
            <a:r>
              <a:rPr sz="1200">
                <a:solidFill>
                  <a:srgbClr val="DBE4F5"/>
                </a:solidFill>
                <a:latin typeface="Consolas"/>
              </a:rPr>
              <a:t>    model.train()</a:t>
            </a:r>
          </a:p>
          <a:p>
            <a:r>
              <a:rPr sz="1200">
                <a:solidFill>
                  <a:srgbClr val="DBE4F5"/>
                </a:solidFill>
                <a:latin typeface="Consolas"/>
              </a:rPr>
              <a:t>    for x, y in tr:</a:t>
            </a:r>
          </a:p>
          <a:p>
            <a:r>
              <a:rPr sz="1200">
                <a:solidFill>
                  <a:srgbClr val="DBE4F5"/>
                </a:solidFill>
                <a:latin typeface="Consolas"/>
              </a:rPr>
              <a:t>        x, y = x.to(dev), y.to(dev)</a:t>
            </a:r>
          </a:p>
          <a:p>
            <a:r>
              <a:rPr sz="1200">
                <a:solidFill>
                  <a:srgbClr val="DBE4F5"/>
                </a:solidFill>
                <a:latin typeface="Consolas"/>
              </a:rPr>
              <a:t>        opt.zero_grad(); lossf(model(x), y).backward(); opt.step(); sched.step()</a:t>
            </a:r>
          </a:p>
          <a:p>
            <a:r>
              <a:rPr sz="1200">
                <a:solidFill>
                  <a:srgbClr val="DBE4F5"/>
                </a:solidFill>
                <a:latin typeface="Consolas"/>
              </a:rPr>
              <a:t>    print(ep, "clean acc", round(accuracy(model, te), 4))</a:t>
            </a:r>
          </a:p>
          <a:p>
            <a:r>
              <a:rPr sz="1200">
                <a:solidFill>
                  <a:srgbClr val="DBE4F5"/>
                </a:solidFill>
                <a:latin typeface="Consolas"/>
              </a:rPr>
              <a:t>torch.save(model.state_dict(), "clean.pt")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FGSM va PGD ni qo'lda amalga oshirish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Har epsilon uchun aniqlik o'lchandi. Toza modelda natija keskin: epsilon = 8/255 da FGSM aniqlikni ~90% dan 15–25% gacha, PGD-10 esa 0–2% gacha tushiradi (taxminiy). torchattacks bilan taqqoslash — o'z-o'zini tekshirish: agar qo'lda yozilgan PGD natijasi kutubxonanikidan sezilarli yuqori bo'lsa, demak hujumda xato bor (eng ko'p uchraydigani — model.eval() unutilgan, gradient detach qilinmagan yoki proyeksiya noto'g'ri).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FGSM va PGD ni qo'lda amalga oshirish — kod 1</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4" name="Rounded Rectangle 23"/>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0000" y="1700000"/>
            <a:ext cx="10700000" cy="4500000"/>
          </a:xfrm>
          <a:prstGeom prst="rect">
            <a:avLst/>
          </a:prstGeom>
          <a:noFill/>
        </p:spPr>
        <p:txBody>
          <a:bodyPr wrap="square">
            <a:spAutoFit/>
          </a:bodyPr>
          <a:lstStyle/>
          <a:p>
            <a:r>
              <a:rPr sz="1200">
                <a:solidFill>
                  <a:srgbClr val="6EE7B7"/>
                </a:solidFill>
                <a:latin typeface="Consolas"/>
              </a:rPr>
              <a:t># attacks.py</a:t>
            </a:r>
          </a:p>
          <a:p>
            <a:r>
              <a:rPr sz="1200">
                <a:solidFill>
                  <a:srgbClr val="DBE4F5"/>
                </a:solidFill>
                <a:latin typeface="Consolas"/>
              </a:rPr>
              <a:t>import torch, torch.nn.functional as F</a:t>
            </a:r>
          </a:p>
          <a:p>
            <a:r>
              <a:rPr sz="1200">
                <a:solidFill>
                  <a:srgbClr val="DBE4F5"/>
                </a:solidFill>
                <a:latin typeface="Consolas"/>
              </a:rPr>
              <a:t> </a:t>
            </a:r>
          </a:p>
          <a:p>
            <a:r>
              <a:rPr sz="1200">
                <a:solidFill>
                  <a:srgbClr val="DBE4F5"/>
                </a:solidFill>
                <a:latin typeface="Consolas"/>
              </a:rPr>
              <a:t>def fgsm(model, x, y, eps):</a:t>
            </a:r>
          </a:p>
          <a:p>
            <a:r>
              <a:rPr sz="1200">
                <a:solidFill>
                  <a:srgbClr val="DBE4F5"/>
                </a:solidFill>
                <a:latin typeface="Consolas"/>
              </a:rPr>
              <a:t>    x = x.clone().detach().requires_grad_(True)</a:t>
            </a:r>
          </a:p>
          <a:p>
            <a:r>
              <a:rPr sz="1200">
                <a:solidFill>
                  <a:srgbClr val="DBE4F5"/>
                </a:solidFill>
                <a:latin typeface="Consolas"/>
              </a:rPr>
              <a:t>    loss = F.cross_entropy(model(x), y)</a:t>
            </a:r>
          </a:p>
          <a:p>
            <a:r>
              <a:rPr sz="1200">
                <a:solidFill>
                  <a:srgbClr val="DBE4F5"/>
                </a:solidFill>
                <a:latin typeface="Consolas"/>
              </a:rPr>
              <a:t>    grad, = torch.autograd.grad(loss, x)</a:t>
            </a:r>
          </a:p>
          <a:p>
            <a:r>
              <a:rPr sz="1200">
                <a:solidFill>
                  <a:srgbClr val="DBE4F5"/>
                </a:solidFill>
                <a:latin typeface="Consolas"/>
              </a:rPr>
              <a:t>    return (x + eps * grad.sign()).clamp(0, 1).detach()</a:t>
            </a:r>
          </a:p>
          <a:p>
            <a:r>
              <a:rPr sz="1200">
                <a:solidFill>
                  <a:srgbClr val="DBE4F5"/>
                </a:solidFill>
                <a:latin typeface="Consolas"/>
              </a:rPr>
              <a:t> </a:t>
            </a:r>
          </a:p>
          <a:p>
            <a:r>
              <a:rPr sz="1200">
                <a:solidFill>
                  <a:srgbClr val="DBE4F5"/>
                </a:solidFill>
                <a:latin typeface="Consolas"/>
              </a:rPr>
              <a:t>def pgd(model, x, y, eps, alpha=2/255, steps=10, random_start=True):</a:t>
            </a:r>
          </a:p>
          <a:p>
            <a:r>
              <a:rPr sz="1200">
                <a:solidFill>
                  <a:srgbClr val="DBE4F5"/>
                </a:solidFill>
                <a:latin typeface="Consolas"/>
              </a:rPr>
              <a:t>    x0 = x.clone().detach()</a:t>
            </a:r>
          </a:p>
          <a:p>
            <a:r>
              <a:rPr sz="1200">
                <a:solidFill>
                  <a:srgbClr val="DBE4F5"/>
                </a:solidFill>
                <a:latin typeface="Consolas"/>
              </a:rPr>
              <a:t>    xa = x0 + torch.empty_like(x0).uniform_(-eps, eps) if random_start else x0.clone()</a:t>
            </a:r>
          </a:p>
          <a:p>
            <a:r>
              <a:rPr sz="1200">
                <a:solidFill>
                  <a:srgbClr val="DBE4F5"/>
                </a:solidFill>
                <a:latin typeface="Consolas"/>
              </a:rPr>
              <a:t>    xa = xa.clamp(0, 1)</a:t>
            </a:r>
          </a:p>
          <a:p>
            <a:r>
              <a:rPr sz="1200">
                <a:solidFill>
                  <a:srgbClr val="DBE4F5"/>
                </a:solidFill>
                <a:latin typeface="Consolas"/>
              </a:rPr>
              <a:t>    for _ in range(steps):</a:t>
            </a:r>
          </a:p>
          <a:p>
            <a:r>
              <a:rPr sz="1200">
                <a:solidFill>
                  <a:srgbClr val="DBE4F5"/>
                </a:solidFill>
                <a:latin typeface="Consolas"/>
              </a:rPr>
              <a:t>        xa.requires_grad_(True)</a:t>
            </a:r>
          </a:p>
          <a:p>
            <a:r>
              <a:rPr sz="1200">
                <a:solidFill>
                  <a:srgbClr val="DBE4F5"/>
                </a:solidFill>
                <a:latin typeface="Consolas"/>
              </a:rPr>
              <a:t>        loss = F.cross_entropy(model(xa), y)</a:t>
            </a:r>
          </a:p>
          <a:p>
            <a:r>
              <a:rPr sz="1200">
                <a:solidFill>
                  <a:srgbClr val="DBE4F5"/>
                </a:solidFill>
                <a:latin typeface="Consolas"/>
              </a:rPr>
              <a:t>        grad, = torch.autograd.grad(loss, xa)</a:t>
            </a:r>
          </a:p>
          <a:p>
            <a:r>
              <a:rPr sz="1200">
                <a:solidFill>
                  <a:srgbClr val="DBE4F5"/>
                </a:solidFill>
                <a:latin typeface="Consolas"/>
              </a:rPr>
              <a:t>        xa = xa.detach() + alpha * grad.sign()</a:t>
            </a:r>
          </a:p>
          <a:p>
            <a:r>
              <a:rPr sz="1200">
                <a:solidFill>
                  <a:srgbClr val="DBE4F5"/>
                </a:solidFill>
                <a:latin typeface="Consolas"/>
              </a:rPr>
              <a:t>        xa = torch.min(torch.max(xa, x0 - eps), x0 + eps).clamp(0, 1)   # proyeksiya</a:t>
            </a:r>
          </a:p>
          <a:p>
            <a:r>
              <a:rPr sz="1200">
                <a:solidFill>
                  <a:srgbClr val="DBE4F5"/>
                </a:solidFill>
                <a:latin typeface="Consolas"/>
              </a:rPr>
              <a:t>    return xa.detach()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50"/>
                                        <p:tgtEl>
                                          <p:spTgt spid="26"/>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550"/>
                                        <p:tgtEl>
                                          <p:spTgt spid="27"/>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4" dur="8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2-qadam. FGSM va PGD ni qo'lda amalga oshirish — kod 2</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0" name="Rounded Rectangle 19"/>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eval_attacks.py</a:t>
            </a:r>
          </a:p>
          <a:p>
            <a:r>
              <a:rPr sz="1000">
                <a:solidFill>
                  <a:srgbClr val="DBE4F5"/>
                </a:solidFill>
                <a:latin typeface="Consolas"/>
              </a:rPr>
              <a:t>import torch, json, torchattacks</a:t>
            </a:r>
          </a:p>
          <a:p>
            <a:r>
              <a:rPr sz="1000">
                <a:solidFill>
                  <a:srgbClr val="DBE4F5"/>
                </a:solidFill>
                <a:latin typeface="Consolas"/>
              </a:rPr>
              <a:t>from common import *; from attacks import fgsm, pgd</a:t>
            </a:r>
          </a:p>
          <a:p>
            <a:r>
              <a:rPr sz="1000">
                <a:solidFill>
                  <a:srgbClr val="DBE4F5"/>
                </a:solidFill>
                <a:latin typeface="Consolas"/>
              </a:rPr>
              <a:t>_, te = loaders(); model = make_model(); model.load_state_dict(torch.load("clean.pt")); model.eval()</a:t>
            </a:r>
          </a:p>
          <a:p>
            <a:r>
              <a:rPr sz="1000">
                <a:solidFill>
                  <a:srgbClr val="DBE4F5"/>
                </a:solidFill>
                <a:latin typeface="Consolas"/>
              </a:rPr>
              <a:t>res = {"clean": accuracy(model, te)}</a:t>
            </a:r>
          </a:p>
          <a:p>
            <a:r>
              <a:rPr sz="1000">
                <a:solidFill>
                  <a:srgbClr val="DBE4F5"/>
                </a:solidFill>
                <a:latin typeface="Consolas"/>
              </a:rPr>
              <a:t>for eps in [1/255, 2/255, 4/255, 8/255, 16/255]:</a:t>
            </a:r>
          </a:p>
          <a:p>
            <a:r>
              <a:rPr sz="1000">
                <a:solidFill>
                  <a:srgbClr val="DBE4F5"/>
                </a:solidFill>
                <a:latin typeface="Consolas"/>
              </a:rPr>
              <a:t>    res[f"fgsm_{round(eps*255)}"] = accuracy(model, te, lambda x, y: fgsm(model, x, y, eps))</a:t>
            </a:r>
          </a:p>
          <a:p>
            <a:r>
              <a:rPr sz="1000">
                <a:solidFill>
                  <a:srgbClr val="DBE4F5"/>
                </a:solidFill>
                <a:latin typeface="Consolas"/>
              </a:rPr>
              <a:t>    res[f"pgd10_{round(eps*255)}"] = accuracy(model, te, lambda x, y: pgd(model, x, y, eps))</a:t>
            </a:r>
          </a:p>
          <a:p>
            <a:r>
              <a:rPr sz="1000">
                <a:solidFill>
                  <a:srgbClr val="6EE7B7"/>
                </a:solidFill>
                <a:latin typeface="Consolas"/>
              </a:rPr>
              <a:t># kutubxona bilan tekshirish (natija qo'lda yozilgan bilan 1% ichida mos kelishi kerak)</a:t>
            </a:r>
          </a:p>
          <a:p>
            <a:r>
              <a:rPr sz="1000">
                <a:solidFill>
                  <a:srgbClr val="DBE4F5"/>
                </a:solidFill>
                <a:latin typeface="Consolas"/>
              </a:rPr>
              <a:t>atk = torchattacks.PGD(model, eps=8/255, alpha=2/255, steps=10, random_start=True)</a:t>
            </a:r>
          </a:p>
          <a:p>
            <a:r>
              <a:rPr sz="1000">
                <a:solidFill>
                  <a:srgbClr val="DBE4F5"/>
                </a:solidFill>
                <a:latin typeface="Consolas"/>
              </a:rPr>
              <a:t>res["pgd10_8_torchattacks"] = accuracy(model, te, atk)</a:t>
            </a:r>
          </a:p>
          <a:p>
            <a:r>
              <a:rPr sz="1000">
                <a:solidFill>
                  <a:srgbClr val="DBE4F5"/>
                </a:solidFill>
                <a:latin typeface="Consolas"/>
              </a:rPr>
              <a:t>print(json.dumps(res, indent=1))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50"/>
                                        <p:tgtEl>
                                          <p:spTgt spid="22"/>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550"/>
                                        <p:tgtEl>
                                          <p:spTgt spid="23"/>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wipe(left)">
                                      <p:cBhvr>
                                        <p:cTn id="34"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1" grpId="0" animBg="1"/>
      <p:bldP spid="22" grpId="0" animBg="1"/>
      <p:bldP spid="23" grpId="0" animBg="1"/>
      <p:bldP spid="24"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Adversarial o'qitish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Nima bo'ldi va nega.</a:t>
            </a:r>
          </a:p>
          <a:p>
            <a:pPr>
              <a:spcBef>
                <a:spcPts val="400"/>
              </a:spcBef>
            </a:pPr>
            <a:r>
              <a:rPr sz="1600">
                <a:solidFill>
                  <a:srgbClr val="AEBBD9"/>
                </a:solidFill>
                <a:latin typeface="Segoe UI"/>
              </a:rPr>
              <a:t>Har qadamda 7 ta PGD iteratsiyasi qo'shimcha orqaga o'tish talab qiladi, shuning uchun o'qitish ~8 baravar sekin (RTX 3090 da ~50 daqiqa). Natija: toza aniqlik 80–84% gacha pasayadi, lekin PGD-10 (8/255) ostidagi aniqlik 0–2% dan 45–50% gacha ko'tariladi (taxminiy; adabiyotdagi ResNet-18 uchun odatiy natija). Bu — mustahkamlik va aniqlik orasidagi klassik murosa.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3-qadam. Adversarial o'qitish — kod</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38</a:t>
            </a:r>
          </a:p>
        </p:txBody>
      </p:sp>
      <p:sp>
        <p:nvSpPr>
          <p:cNvPr id="26" name="Rounded Rectangle 25"/>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train_adv.py — Madry uslubidagi PGD adversarial o'qitish</a:t>
            </a:r>
          </a:p>
          <a:p>
            <a:r>
              <a:rPr sz="1000">
                <a:solidFill>
                  <a:srgbClr val="DBE4F5"/>
                </a:solidFill>
                <a:latin typeface="Consolas"/>
              </a:rPr>
              <a:t>import torch, torch.nn as nn</a:t>
            </a:r>
          </a:p>
          <a:p>
            <a:r>
              <a:rPr sz="1000">
                <a:solidFill>
                  <a:srgbClr val="DBE4F5"/>
                </a:solidFill>
                <a:latin typeface="Consolas"/>
              </a:rPr>
              <a:t>from common import *; from attacks import pgd</a:t>
            </a:r>
          </a:p>
          <a:p>
            <a:r>
              <a:rPr sz="1000">
                <a:solidFill>
                  <a:srgbClr val="DBE4F5"/>
                </a:solidFill>
                <a:latin typeface="Consolas"/>
              </a:rPr>
              <a:t>tr, te = loaders(); model = make_model()</a:t>
            </a:r>
          </a:p>
          <a:p>
            <a:r>
              <a:rPr sz="1000">
                <a:solidFill>
                  <a:srgbClr val="DBE4F5"/>
                </a:solidFill>
                <a:latin typeface="Consolas"/>
              </a:rPr>
              <a:t>opt = torch.optim.SGD(model.parameters(), lr=0.1, momentum=0.9, weight_decay=5e-4)</a:t>
            </a:r>
          </a:p>
          <a:p>
            <a:r>
              <a:rPr sz="1000">
                <a:solidFill>
                  <a:srgbClr val="DBE4F5"/>
                </a:solidFill>
                <a:latin typeface="Consolas"/>
              </a:rPr>
              <a:t>sched = torch.optim.lr_scheduler.OneCycleLR(opt, 0.1, epochs=20, steps_per_epoch=len(tr))</a:t>
            </a:r>
          </a:p>
          <a:p>
            <a:r>
              <a:rPr sz="1000">
                <a:solidFill>
                  <a:srgbClr val="DBE4F5"/>
                </a:solidFill>
                <a:latin typeface="Consolas"/>
              </a:rPr>
              <a:t>lossf = nn.CrossEntropyLoss(); EPS = 8/255</a:t>
            </a:r>
          </a:p>
          <a:p>
            <a:r>
              <a:rPr sz="1000">
                <a:solidFill>
                  <a:srgbClr val="DBE4F5"/>
                </a:solidFill>
                <a:latin typeface="Consolas"/>
              </a:rPr>
              <a:t>for ep in range(20):</a:t>
            </a:r>
          </a:p>
          <a:p>
            <a:r>
              <a:rPr sz="1000">
                <a:solidFill>
                  <a:srgbClr val="DBE4F5"/>
                </a:solidFill>
                <a:latin typeface="Consolas"/>
              </a:rPr>
              <a:t>    model.train()</a:t>
            </a:r>
          </a:p>
          <a:p>
            <a:r>
              <a:rPr sz="1000">
                <a:solidFill>
                  <a:srgbClr val="DBE4F5"/>
                </a:solidFill>
                <a:latin typeface="Consolas"/>
              </a:rPr>
              <a:t>    for x, y in tr:</a:t>
            </a:r>
          </a:p>
          <a:p>
            <a:r>
              <a:rPr sz="1000">
                <a:solidFill>
                  <a:srgbClr val="DBE4F5"/>
                </a:solidFill>
                <a:latin typeface="Consolas"/>
              </a:rPr>
              <a:t>        x, y = x.to(dev), y.to(dev)</a:t>
            </a:r>
          </a:p>
          <a:p>
            <a:r>
              <a:rPr sz="1000">
                <a:solidFill>
                  <a:srgbClr val="DBE4F5"/>
                </a:solidFill>
                <a:latin typeface="Consolas"/>
              </a:rPr>
              <a:t>        model.eval(); xa = pgd(model, x, y, EPS, steps=7); model.train()   # BN statistikasi uchun eval</a:t>
            </a:r>
          </a:p>
          <a:p>
            <a:r>
              <a:rPr sz="1000">
                <a:solidFill>
                  <a:srgbClr val="DBE4F5"/>
                </a:solidFill>
                <a:latin typeface="Consolas"/>
              </a:rPr>
              <a:t>        opt.zero_grad(); lossf(model(xa), y).backward(); opt.step(); sched.step()</a:t>
            </a:r>
          </a:p>
          <a:p>
            <a:r>
              <a:rPr sz="1000">
                <a:solidFill>
                  <a:srgbClr val="DBE4F5"/>
                </a:solidFill>
                <a:latin typeface="Consolas"/>
              </a:rPr>
              <a:t>    print(ep, "clean", round(accuracy(model, te), 4), "pgd10", round(accuracy(model, te, lambda a, b: pgd(model, a, b, E</a:t>
            </a:r>
          </a:p>
          <a:p>
            <a:r>
              <a:rPr sz="1000">
                <a:solidFill>
                  <a:srgbClr val="DBE4F5"/>
                </a:solidFill>
                <a:latin typeface="Consolas"/>
              </a:rPr>
              <a:t>torch.save(model.state_dict(), "adv.pt")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550"/>
                                        <p:tgtEl>
                                          <p:spTgt spid="28"/>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550"/>
                                        <p:tgtEl>
                                          <p:spTgt spid="29"/>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4" dur="8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Grad-CAM: toza va hujum ostidagi namunalarda</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39</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Nima bo'ldi va nega.</a:t>
            </a:r>
          </a:p>
          <a:p>
            <a:pPr>
              <a:spcBef>
                <a:spcPts val="400"/>
              </a:spcBef>
            </a:pPr>
            <a:r>
              <a:rPr sz="1300">
                <a:solidFill>
                  <a:srgbClr val="AEBBD9"/>
                </a:solidFill>
                <a:latin typeface="Segoe UI"/>
              </a:rPr>
              <a:t>Yuqori ikki qator — toza tasvir va uning Grad-CAM xaritasi, pastki ikki qator — PGD bilan buzilgan tasvir (ko'zga toza bilan bir xil) va uning xaritasi. Kutilgan kuzatuv: toza namunada issiqlik obyektning o'zida (masalan, it boshida) to'plangan; adversarial namunada bashorat noto'g'ri va xarita fon yoki tasodifiy hududga ko'chgan, ba'zan esa «parchalanib» ketgan.</a:t>
            </a:r>
          </a:p>
        </p:txBody>
      </p:sp>
      <p:sp>
        <p:nvSpPr>
          <p:cNvPr id="29" name="Rounded Rectangle 28"/>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Bu ikki xulosa beradi: Grad-CAM modelning nimaga qaraganini ko'rsatadi, lekin uni hujumdan himoya qilmaydi; va xaritaning tarqoqligi (entropiyasi) adversarial namunani aniqlash uchun belgi sifatida ishlatilishi mumkin.</a:t>
            </a:r>
          </a:p>
          <a:p>
            <a:pPr>
              <a:spcBef>
                <a:spcPts val="400"/>
              </a:spcBef>
            </a:pPr>
            <a:r>
              <a:rPr sz="1300">
                <a:solidFill>
                  <a:srgbClr val="AEBBD9"/>
                </a:solidFill>
                <a:latin typeface="Segoe UI"/>
              </a:rPr>
              <a:t>Adversarial o'qitilgan adv.pt modelida xaritalar odatda obyekt konturiga yaqinroq va hujumda kamroq ko'chadi — talaba buni ham solishtirishi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4-qadam. Grad-CAM: toza va hujum ostidagi namunalarda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40</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xai_gradcam.py</a:t>
            </a:r>
          </a:p>
          <a:p>
            <a:r>
              <a:rPr sz="1000">
                <a:solidFill>
                  <a:srgbClr val="DBE4F5"/>
                </a:solidFill>
                <a:latin typeface="Consolas"/>
              </a:rPr>
              <a:t>import torch, numpy as np, matplotlib.pyplot as plt</a:t>
            </a:r>
          </a:p>
          <a:p>
            <a:r>
              <a:rPr sz="1000">
                <a:solidFill>
                  <a:srgbClr val="DBE4F5"/>
                </a:solidFill>
                <a:latin typeface="Consolas"/>
              </a:rPr>
              <a:t>from pytorch_grad_cam import GradCAM</a:t>
            </a:r>
          </a:p>
          <a:p>
            <a:r>
              <a:rPr sz="1000">
                <a:solidFill>
                  <a:srgbClr val="DBE4F5"/>
                </a:solidFill>
                <a:latin typeface="Consolas"/>
              </a:rPr>
              <a:t>from pytorch_grad_cam.utils.image import show_cam_on_image</a:t>
            </a:r>
          </a:p>
          <a:p>
            <a:r>
              <a:rPr sz="1000">
                <a:solidFill>
                  <a:srgbClr val="DBE4F5"/>
                </a:solidFill>
                <a:latin typeface="Consolas"/>
              </a:rPr>
              <a:t>from common import *; from attacks import pgd</a:t>
            </a:r>
          </a:p>
          <a:p>
            <a:r>
              <a:rPr sz="1000">
                <a:solidFill>
                  <a:srgbClr val="DBE4F5"/>
                </a:solidFill>
                <a:latin typeface="Consolas"/>
              </a:rPr>
              <a:t>_, te = loaders(); model = make_model(); model.load_state_dict(torch.load("clean.pt")); model.eval()</a:t>
            </a:r>
          </a:p>
          <a:p>
            <a:r>
              <a:rPr sz="1000">
                <a:solidFill>
                  <a:srgbClr val="DBE4F5"/>
                </a:solidFill>
                <a:latin typeface="Consolas"/>
              </a:rPr>
              <a:t>x, y = next(iter(te)); x, y = x[:8].to(dev), y[:8].to(dev)</a:t>
            </a:r>
          </a:p>
          <a:p>
            <a:r>
              <a:rPr sz="1000">
                <a:solidFill>
                  <a:srgbClr val="DBE4F5"/>
                </a:solidFill>
                <a:latin typeface="Consolas"/>
              </a:rPr>
              <a:t>xa = pgd(model, x, y, 8/255)</a:t>
            </a:r>
          </a:p>
          <a:p>
            <a:r>
              <a:rPr sz="1000">
                <a:solidFill>
                  <a:srgbClr val="DBE4F5"/>
                </a:solidFill>
                <a:latin typeface="Consolas"/>
              </a:rPr>
              <a:t>cam = GradCAM(model=model, target_layers=[model.net.layer4[-1]])</a:t>
            </a:r>
          </a:p>
          <a:p>
            <a:r>
              <a:rPr sz="1000">
                <a:solidFill>
                  <a:srgbClr val="DBE4F5"/>
                </a:solidFill>
                <a:latin typeface="Consolas"/>
              </a:rPr>
              <a:t>fig, ax = plt.subplots(4, 8, figsize=(16, 8))</a:t>
            </a:r>
          </a:p>
          <a:p>
            <a:r>
              <a:rPr sz="1000">
                <a:solidFill>
                  <a:srgbClr val="DBE4F5"/>
                </a:solidFill>
                <a:latin typeface="Consolas"/>
              </a:rPr>
              <a:t>for i in range(8):</a:t>
            </a:r>
          </a:p>
          <a:p>
            <a:r>
              <a:rPr sz="1000">
                <a:solidFill>
                  <a:srgbClr val="DBE4F5"/>
                </a:solidFill>
                <a:latin typeface="Consolas"/>
              </a:rPr>
              <a:t>    for r, img in ((0, x[i:i+1]), (2, xa[i:i+1])):</a:t>
            </a:r>
          </a:p>
          <a:p>
            <a:r>
              <a:rPr sz="1000">
                <a:solidFill>
                  <a:srgbClr val="DBE4F5"/>
                </a:solidFill>
                <a:latin typeface="Consolas"/>
              </a:rPr>
              <a:t>        pred = model(img).argmax(1).item()</a:t>
            </a:r>
          </a:p>
          <a:p>
            <a:r>
              <a:rPr sz="1000">
                <a:solidFill>
                  <a:srgbClr val="DBE4F5"/>
                </a:solidFill>
                <a:latin typeface="Consolas"/>
              </a:rPr>
              <a:t>        heat = cam(input_tensor=img)[0]</a:t>
            </a:r>
          </a:p>
          <a:p>
            <a:r>
              <a:rPr sz="1000">
                <a:solidFill>
                  <a:srgbClr val="DBE4F5"/>
                </a:solidFill>
                <a:latin typeface="Consolas"/>
              </a:rPr>
              <a:t>        rgb = img[0].permute(1, 2, 0).cpu().numpy()</a:t>
            </a:r>
          </a:p>
          <a:p>
            <a:r>
              <a:rPr sz="1000">
                <a:solidFill>
                  <a:srgbClr val="DBE4F5"/>
                </a:solidFill>
                <a:latin typeface="Consolas"/>
              </a:rPr>
              <a:t>        ax[r, i].imshow(rgb); ax[r, i].set_title(f"pred={pred} true={y[i].item()}", fontsize=8)</a:t>
            </a:r>
          </a:p>
          <a:p>
            <a:r>
              <a:rPr sz="1000">
                <a:solidFill>
                  <a:srgbClr val="DBE4F5"/>
                </a:solidFill>
                <a:latin typeface="Consolas"/>
              </a:rPr>
              <a:t>        ax[r+1, i].imshow(show_cam_on_image(rgb, heat, use_rgb=True))</a:t>
            </a:r>
          </a:p>
          <a:p>
            <a:r>
              <a:rPr sz="1000">
                <a:solidFill>
                  <a:srgbClr val="DBE4F5"/>
                </a:solidFill>
                <a:latin typeface="Consolas"/>
              </a:rPr>
              <a:t>for a in ax.flat: a.axis("off")</a:t>
            </a:r>
          </a:p>
          <a:p>
            <a:r>
              <a:rPr sz="1000">
                <a:solidFill>
                  <a:srgbClr val="DBE4F5"/>
                </a:solidFill>
                <a:latin typeface="Consolas"/>
              </a:rPr>
              <a:t>plt.tight_layout(); plt.savefig("gradcam_clean_vs_adv.png", dpi=150)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Adult ma'lumotida Fairlearn bilan adolatlilik tahlili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41</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523612"/>
            <a:ext cx="50000" cy="21313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38930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Nima bo'ldi va nega.</a:t>
            </a:r>
          </a:p>
          <a:p>
            <a:pPr>
              <a:spcBef>
                <a:spcPts val="400"/>
              </a:spcBef>
            </a:pPr>
            <a:r>
              <a:rPr sz="1300">
                <a:solidFill>
                  <a:srgbClr val="AEBBD9"/>
                </a:solidFill>
                <a:latin typeface="Segoe UI"/>
              </a:rPr>
              <a:t>Bazaviy gradient boosting Adult'da ~86–87% aniqlik beradi, lekin MetricFrame guruhlar kesimida ko'rsatadiki, erkaklar uchun ijobiy qaror ulushi (selection_rate) ~0.25, ayollar uchun ~0.07 — demografik paritet farqi ~0.18. Bu farqning bir qismi ma'lumotdagi haqiqiy bazaviy ulushlar farqidan (erkaklar orasida 50K+ ulushi 30%, ayollarda 11%) kelib chiqadi, shuning uchun teng imkoniyat / tenglashtirilgan koeffitsiyentlar mezoni ko'proq ma'noli: TPR farqi odatda 0.08–0.12 atrofida chiqadi.</a:t>
            </a:r>
          </a:p>
        </p:txBody>
      </p:sp>
      <p:sp>
        <p:nvSpPr>
          <p:cNvPr id="29" name="Rounded Rectangle 28"/>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213138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79069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2211388"/>
          </a:xfrm>
          <a:prstGeom prst="rect">
            <a:avLst/>
          </a:prstGeom>
          <a:noFill/>
        </p:spPr>
        <p:txBody>
          <a:bodyPr wrap="square" anchor="ctr">
            <a:spAutoFit/>
          </a:bodyPr>
          <a:lstStyle/>
          <a:p>
            <a:r>
              <a:rPr sz="1400" b="1">
                <a:solidFill>
                  <a:srgbClr val="E8EEFA"/>
                </a:solidFill>
                <a:latin typeface="Segoe UI"/>
              </a:rPr>
              <a:t>ThresholdOptimizer guruhga xos chegara tanlab EO farqini 0.02–0.03 gacha tushiradi, aniqlik ~1 foiz bandiga pasayadi.</a:t>
            </a:r>
          </a:p>
          <a:p>
            <a:pPr>
              <a:spcBef>
                <a:spcPts val="400"/>
              </a:spcBef>
            </a:pPr>
            <a:r>
              <a:rPr sz="1300">
                <a:solidFill>
                  <a:srgbClr val="AEBBD9"/>
                </a:solidFill>
                <a:latin typeface="Segoe UI"/>
              </a:rPr>
              <a:t>ExponentiatedGradient esa cheklovni o'qitish ichida hisobga oladi va tasodifiylashtirilgan klassifikator qaytaradi (shuning uchun random_state).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5-qadam. Adult ma'lumotida Fairlearn bilan adolatlilik tahlili — kod</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42</a:t>
            </a:r>
          </a:p>
        </p:txBody>
      </p:sp>
      <p:sp>
        <p:nvSpPr>
          <p:cNvPr id="23" name="Rounded Rectangle 22"/>
          <p:cNvSpPr/>
          <p:nvPr/>
        </p:nvSpPr>
        <p:spPr>
          <a:xfrm>
            <a:off x="550000" y="1330000"/>
            <a:ext cx="11100000" cy="4950000"/>
          </a:xfrm>
          <a:prstGeom prst="roundRect">
            <a:avLst>
              <a:gd name="adj" fmla="val 3000"/>
            </a:avLst>
          </a:prstGeom>
          <a:solidFill>
            <a:srgbClr val="050814"/>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50000" y="145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0000" y="145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210000" y="145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0000" y="1700000"/>
            <a:ext cx="10700000" cy="4500000"/>
          </a:xfrm>
          <a:prstGeom prst="rect">
            <a:avLst/>
          </a:prstGeom>
          <a:noFill/>
        </p:spPr>
        <p:txBody>
          <a:bodyPr wrap="square">
            <a:spAutoFit/>
          </a:bodyPr>
          <a:lstStyle/>
          <a:p>
            <a:r>
              <a:rPr sz="1000">
                <a:solidFill>
                  <a:srgbClr val="6EE7B7"/>
                </a:solidFill>
                <a:latin typeface="Consolas"/>
              </a:rPr>
              <a:t># fairness_adult.py</a:t>
            </a:r>
          </a:p>
          <a:p>
            <a:r>
              <a:rPr sz="1000">
                <a:solidFill>
                  <a:srgbClr val="DBE4F5"/>
                </a:solidFill>
                <a:latin typeface="Consolas"/>
              </a:rPr>
              <a:t>import pandas as pd, numpy as np, shap</a:t>
            </a:r>
          </a:p>
          <a:p>
            <a:r>
              <a:rPr sz="1000">
                <a:solidFill>
                  <a:srgbClr val="DBE4F5"/>
                </a:solidFill>
                <a:latin typeface="Consolas"/>
              </a:rPr>
              <a:t>from fairlearn.datasets import fetch_adult</a:t>
            </a:r>
          </a:p>
          <a:p>
            <a:r>
              <a:rPr sz="1000">
                <a:solidFill>
                  <a:srgbClr val="DBE4F5"/>
                </a:solidFill>
                <a:latin typeface="Consolas"/>
              </a:rPr>
              <a:t>from fairlearn.metrics import (MetricFrame, demographic_parity_difference, equalized_odds_difference,</a:t>
            </a:r>
          </a:p>
          <a:p>
            <a:r>
              <a:rPr sz="1000">
                <a:solidFill>
                  <a:srgbClr val="DBE4F5"/>
                </a:solidFill>
                <a:latin typeface="Consolas"/>
              </a:rPr>
              <a:t>                               selection_rate, true_positive_rate, false_positive_rate)</a:t>
            </a:r>
          </a:p>
          <a:p>
            <a:r>
              <a:rPr sz="1000">
                <a:solidFill>
                  <a:srgbClr val="DBE4F5"/>
                </a:solidFill>
                <a:latin typeface="Consolas"/>
              </a:rPr>
              <a:t>from fairlearn.reductions import ExponentiatedGradient, EqualizedOdds</a:t>
            </a:r>
          </a:p>
          <a:p>
            <a:r>
              <a:rPr sz="1000">
                <a:solidFill>
                  <a:srgbClr val="DBE4F5"/>
                </a:solidFill>
                <a:latin typeface="Consolas"/>
              </a:rPr>
              <a:t>from fairlearn.postprocessing import ThresholdOptimizer</a:t>
            </a:r>
          </a:p>
          <a:p>
            <a:r>
              <a:rPr sz="1000">
                <a:solidFill>
                  <a:srgbClr val="DBE4F5"/>
                </a:solidFill>
                <a:latin typeface="Consolas"/>
              </a:rPr>
              <a:t>from sklearn.model_selection import train_test_split</a:t>
            </a:r>
          </a:p>
          <a:p>
            <a:r>
              <a:rPr sz="1000">
                <a:solidFill>
                  <a:srgbClr val="DBE4F5"/>
                </a:solidFill>
                <a:latin typeface="Consolas"/>
              </a:rPr>
              <a:t>from sklearn.metrics import accuracy_score</a:t>
            </a:r>
          </a:p>
          <a:p>
            <a:r>
              <a:rPr sz="1000">
                <a:solidFill>
                  <a:srgbClr val="DBE4F5"/>
                </a:solidFill>
                <a:latin typeface="Consolas"/>
              </a:rPr>
              <a:t>from sklearn.ensemble import GradientBoostingClassifier</a:t>
            </a:r>
          </a:p>
          <a:p>
            <a:r>
              <a:rPr sz="1000">
                <a:solidFill>
                  <a:srgbClr val="DBE4F5"/>
                </a:solidFill>
                <a:latin typeface="Consolas"/>
              </a:rPr>
              <a:t> </a:t>
            </a:r>
          </a:p>
          <a:p>
            <a:r>
              <a:rPr sz="1000">
                <a:solidFill>
                  <a:srgbClr val="DBE4F5"/>
                </a:solidFill>
                <a:latin typeface="Consolas"/>
              </a:rPr>
              <a:t>data = fetch_adult(as_frame=True)</a:t>
            </a:r>
          </a:p>
          <a:p>
            <a:r>
              <a:rPr sz="1000">
                <a:solidFill>
                  <a:srgbClr val="DBE4F5"/>
                </a:solidFill>
                <a:latin typeface="Consolas"/>
              </a:rPr>
              <a:t>X = pd.get_dummies(data.data.drop(columns=["fnlwgt"]), drop_first=True).astype(float)</a:t>
            </a:r>
          </a:p>
          <a:p>
            <a:r>
              <a:rPr sz="1000">
                <a:solidFill>
                  <a:srgbClr val="DBE4F5"/>
                </a:solidFill>
                <a:latin typeface="Consolas"/>
              </a:rPr>
              <a:t>y = (data.target == "&gt;50K").astype(int).values</a:t>
            </a:r>
          </a:p>
          <a:p>
            <a:r>
              <a:rPr sz="1000">
                <a:solidFill>
                  <a:srgbClr val="DBE4F5"/>
                </a:solidFill>
                <a:latin typeface="Consolas"/>
              </a:rPr>
              <a:t>sex = data.data["sex"].values              # sezgir atribut: tahlil uchun; modelga belgi sifatida ham kiradi</a:t>
            </a:r>
          </a:p>
          <a:p>
            <a:r>
              <a:rPr sz="1000">
                <a:solidFill>
                  <a:srgbClr val="DBE4F5"/>
                </a:solidFill>
                <a:latin typeface="Consolas"/>
              </a:rPr>
              <a:t>Xtr, Xte, ytr, yte, str_, ste = train_test_split(X, y, sex, test_size=0.3, random_state=0, stratify=y)</a:t>
            </a:r>
          </a:p>
          <a:p>
            <a:r>
              <a:rPr sz="1000">
                <a:solidFill>
                  <a:srgbClr val="DBE4F5"/>
                </a:solidFill>
                <a:latin typeface="Consolas"/>
              </a:rPr>
              <a:t> </a:t>
            </a:r>
          </a:p>
          <a:p>
            <a:r>
              <a:rPr sz="1000">
                <a:solidFill>
                  <a:srgbClr val="DBE4F5"/>
                </a:solidFill>
                <a:latin typeface="Consolas"/>
              </a:rPr>
              <a:t>clf = GradientBoostingClassifier(n_estimators=200, max_depth=3, random_state=0).fit(Xtr, ytr)</a:t>
            </a:r>
          </a:p>
          <a:p>
            <a:r>
              <a:rPr sz="1000">
                <a:solidFill>
                  <a:srgbClr val="DBE4F5"/>
                </a:solidFill>
                <a:latin typeface="Consolas"/>
              </a:rPr>
              <a:t>pred = clf.predict(Xte)</a:t>
            </a:r>
          </a:p>
          <a:p>
            <a:r>
              <a:rPr sz="1000">
                <a:solidFill>
                  <a:srgbClr val="DBE4F5"/>
                </a:solidFill>
                <a:latin typeface="Consolas"/>
              </a:rPr>
              <a:t> </a:t>
            </a:r>
          </a:p>
          <a:p>
            <a:r>
              <a:rPr sz="1000">
                <a:solidFill>
                  <a:srgbClr val="6EE7B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10" presetClass="entr" presetSubtype="0"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childTnLst>
                                </p:cTn>
                              </p:par>
                            </p:childTnLst>
                          </p:cTn>
                        </p:par>
                        <p:par>
                          <p:cTn id="22" fill="hold">
                            <p:stCondLst>
                              <p:cond delay="200"/>
                            </p:stCondLst>
                            <p:childTnLst>
                              <p:par>
                                <p:cTn id="23" presetID="10" presetClass="entr" presetSubtype="0" fill="hold" grpId="0" nodeType="after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50"/>
                                        <p:tgtEl>
                                          <p:spTgt spid="25"/>
                                        </p:tgtEl>
                                      </p:cBhvr>
                                    </p:animEffect>
                                  </p:childTnLst>
                                </p:cTn>
                              </p:par>
                            </p:childTnLst>
                          </p:cTn>
                        </p:par>
                        <p:par>
                          <p:cTn id="26" fill="hold">
                            <p:stCondLst>
                              <p:cond delay="200"/>
                            </p:stCondLst>
                            <p:childTnLst>
                              <p:par>
                                <p:cTn id="27" presetID="10" presetClass="entr" presetSubtype="0" fill="hold" grpId="0" nodeType="after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550"/>
                                        <p:tgtEl>
                                          <p:spTgt spid="26"/>
                                        </p:tgtEl>
                                      </p:cBhvr>
                                    </p:animEffect>
                                  </p:childTnLst>
                                </p:cTn>
                              </p:par>
                            </p:childTnLst>
                          </p:cTn>
                        </p:par>
                        <p:par>
                          <p:cTn id="30" fill="hold">
                            <p:stCondLst>
                              <p:cond delay="350"/>
                            </p:stCondLst>
                            <p:childTnLst>
                              <p:par>
                                <p:cTn id="31" presetID="22" presetClass="entr" presetSubtype="8" fill="hold" grpId="0" nodeType="after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wipe(left)">
                                      <p:cBhvr>
                                        <p:cTn id="34" dur="8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4" grpId="0" animBg="1"/>
      <p:bldP spid="25" grpId="0" animBg="1"/>
      <p:bldP spid="26" grpId="0" animBg="1"/>
      <p:bldP spid="27"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Etik talablar tekshiruv ro'yxati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43</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036824"/>
            <a:ext cx="5900000" cy="1658176"/>
          </a:xfrm>
          <a:prstGeom prst="rect">
            <a:avLst/>
          </a:prstGeom>
          <a:noFill/>
        </p:spPr>
        <p:txBody>
          <a:bodyPr wrap="square" anchor="ctr">
            <a:spAutoFit/>
          </a:bodyPr>
          <a:lstStyle/>
          <a:p>
            <a:r>
              <a:rPr sz="1400" b="0">
                <a:solidFill>
                  <a:srgbClr val="E8EEFA"/>
                </a:solidFill>
                <a:latin typeface="Segoe UI"/>
              </a:rPr>
              <a:t>Talaba quyidagi 20 bandli ro'yxatni (ISO/IEC 42001, ISO/IEC 23894, EU AI Act 9–15-moddalari va NIST AI RMF asosida tuzilgan) 1-5 qadamlarda qurilgan tizim uchun to'ldiradi; har band uchun «Bajarilgan / Qisman / Yo'q», dalil (fayl, grafik, raqam) va chora…</a:t>
            </a:r>
          </a:p>
        </p:txBody>
      </p:sp>
      <p:sp>
        <p:nvSpPr>
          <p:cNvPr id="33" name="Rounded Rectangle 32"/>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6" name="TextBox 35"/>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Nima bo'ldi va nega.</a:t>
            </a:r>
          </a:p>
          <a:p>
            <a:pPr>
              <a:spcBef>
                <a:spcPts val="400"/>
              </a:spcBef>
            </a:pPr>
            <a:r>
              <a:rPr sz="1400">
                <a:solidFill>
                  <a:srgbClr val="AEBBD9"/>
                </a:solidFill>
                <a:latin typeface="Segoe UI"/>
              </a:rPr>
              <a:t>Ro'yxat texnik o'lchovlarni (7, 8, 11) tashkiliy talablar bilan (1, 12, 19) bog'laydi. Laboratoriya tizimida 1–11 va 20-bandlar bevosita bajarilishi mumkin; 12–19-bandlar uchun talaba reja va mas'uliyat taqsimotini yozadi. Bu A7 yakuniy loyihasida «adolatlilik» bosqichining asosi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Etik talablar tekshiruv ro'yxati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44</a:t>
            </a:r>
          </a:p>
        </p:txBody>
      </p:sp>
      <p:graphicFrame>
        <p:nvGraphicFramePr>
          <p:cNvPr id="23" name="Table 22"/>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a:t>
                      </a:r>
                    </a:p>
                  </a:txBody>
                  <a:tcPr>
                    <a:solidFill>
                      <a:srgbClr val="1C2755"/>
                    </a:solidFill>
                  </a:tcPr>
                </a:tc>
                <a:tc>
                  <a:txBody>
                    <a:bodyPr/>
                    <a:lstStyle/>
                    <a:p>
                      <a:r>
                        <a:rPr sz="1200" b="1">
                          <a:solidFill>
                            <a:srgbClr val="22D3EE"/>
                          </a:solidFill>
                          <a:latin typeface="Segoe UI"/>
                        </a:rPr>
                        <a:t>Band</a:t>
                      </a:r>
                    </a:p>
                  </a:txBody>
                  <a:tcPr>
                    <a:solidFill>
                      <a:srgbClr val="1C2755"/>
                    </a:solidFill>
                  </a:tcPr>
                </a:tc>
                <a:tc>
                  <a:txBody>
                    <a:bodyPr/>
                    <a:lstStyle/>
                    <a:p>
                      <a:r>
                        <a:rPr sz="1200" b="1">
                          <a:solidFill>
                            <a:srgbClr val="22D3EE"/>
                          </a:solidFill>
                          <a:latin typeface="Segoe UI"/>
                        </a:rPr>
                        <a:t>Manba</a:t>
                      </a:r>
                    </a:p>
                  </a:txBody>
                  <a:tcPr>
                    <a:solidFill>
                      <a:srgbClr val="1C2755"/>
                    </a:solidFill>
                  </a:tcPr>
                </a:tc>
              </a:tr>
              <a:tr h="520000">
                <a:tc>
                  <a:txBody>
                    <a:bodyPr/>
                    <a:lstStyle/>
                    <a:p>
                      <a:r>
                        <a:rPr sz="1200" b="0">
                          <a:solidFill>
                            <a:srgbClr val="E8EEFA"/>
                          </a:solidFill>
                          <a:latin typeface="Segoe UI"/>
                        </a:rPr>
                        <a:t>1</a:t>
                      </a:r>
                    </a:p>
                  </a:txBody>
                  <a:tcPr>
                    <a:solidFill>
                      <a:srgbClr val="111834"/>
                    </a:solidFill>
                  </a:tcPr>
                </a:tc>
                <a:tc>
                  <a:txBody>
                    <a:bodyPr/>
                    <a:lstStyle/>
                    <a:p>
                      <a:r>
                        <a:rPr sz="1200" b="0">
                          <a:solidFill>
                            <a:srgbClr val="E8EEFA"/>
                          </a:solidFill>
                          <a:latin typeface="Segoe UI"/>
                        </a:rPr>
                        <a:t>Tizimning maqsadi, foydalanuvchilari va ta'sir ko'lami hujjatlashtirilgan</a:t>
                      </a:r>
                    </a:p>
                  </a:txBody>
                  <a:tcPr>
                    <a:solidFill>
                      <a:srgbClr val="111834"/>
                    </a:solidFill>
                  </a:tcPr>
                </a:tc>
                <a:tc>
                  <a:txBody>
                    <a:bodyPr/>
                    <a:lstStyle/>
                    <a:p>
                      <a:r>
                        <a:rPr sz="1200" b="0">
                          <a:solidFill>
                            <a:srgbClr val="E8EEFA"/>
                          </a:solidFill>
                          <a:latin typeface="Segoe UI"/>
                        </a:rPr>
                        <a:t>ISO 42001 A.6; AI Act 11-m.</a:t>
                      </a:r>
                    </a:p>
                  </a:txBody>
                  <a:tcPr>
                    <a:solidFill>
                      <a:srgbClr val="111834"/>
                    </a:solidFill>
                  </a:tcPr>
                </a:tc>
              </a:tr>
              <a:tr h="520000">
                <a:tc>
                  <a:txBody>
                    <a:bodyPr/>
                    <a:lstStyle/>
                    <a:p>
                      <a:r>
                        <a:rPr sz="1200" b="0">
                          <a:solidFill>
                            <a:srgbClr val="E8EEFA"/>
                          </a:solidFill>
                          <a:latin typeface="Segoe UI"/>
                        </a:rPr>
                        <a:t>2</a:t>
                      </a:r>
                    </a:p>
                  </a:txBody>
                  <a:tcPr>
                    <a:solidFill>
                      <a:srgbClr val="161F40"/>
                    </a:solidFill>
                  </a:tcPr>
                </a:tc>
                <a:tc>
                  <a:txBody>
                    <a:bodyPr/>
                    <a:lstStyle/>
                    <a:p>
                      <a:r>
                        <a:rPr sz="1200" b="0">
                          <a:solidFill>
                            <a:srgbClr val="E8EEFA"/>
                          </a:solidFill>
                          <a:latin typeface="Segoe UI"/>
                        </a:rPr>
                        <a:t>Xavf darajasi (taqiqlangan / yuqori / cheklangan / minimal) aniqlangan va asoslangan</a:t>
                      </a:r>
                    </a:p>
                  </a:txBody>
                  <a:tcPr>
                    <a:solidFill>
                      <a:srgbClr val="161F40"/>
                    </a:solidFill>
                  </a:tcPr>
                </a:tc>
                <a:tc>
                  <a:txBody>
                    <a:bodyPr/>
                    <a:lstStyle/>
                    <a:p>
                      <a:r>
                        <a:rPr sz="1200" b="0">
                          <a:solidFill>
                            <a:srgbClr val="E8EEFA"/>
                          </a:solidFill>
                          <a:latin typeface="Segoe UI"/>
                        </a:rPr>
                        <a:t>AI Act 6-m.</a:t>
                      </a:r>
                    </a:p>
                  </a:txBody>
                  <a:tcPr>
                    <a:solidFill>
                      <a:srgbClr val="161F40"/>
                    </a:solidFill>
                  </a:tcPr>
                </a:tc>
              </a:tr>
              <a:tr h="520000">
                <a:tc>
                  <a:txBody>
                    <a:bodyPr/>
                    <a:lstStyle/>
                    <a:p>
                      <a:r>
                        <a:rPr sz="1200" b="0">
                          <a:solidFill>
                            <a:srgbClr val="E8EEFA"/>
                          </a:solidFill>
                          <a:latin typeface="Segoe UI"/>
                        </a:rPr>
                        <a:t>3</a:t>
                      </a:r>
                    </a:p>
                  </a:txBody>
                  <a:tcPr>
                    <a:solidFill>
                      <a:srgbClr val="111834"/>
                    </a:solidFill>
                  </a:tcPr>
                </a:tc>
                <a:tc>
                  <a:txBody>
                    <a:bodyPr/>
                    <a:lstStyle/>
                    <a:p>
                      <a:r>
                        <a:rPr sz="1200" b="0">
                          <a:solidFill>
                            <a:srgbClr val="E8EEFA"/>
                          </a:solidFill>
                          <a:latin typeface="Segoe UI"/>
                        </a:rPr>
                        <a:t>Ma'lumot manbai, yig'ish usuli va litsenziyasi hujjatlashtirilgan</a:t>
                      </a:r>
                    </a:p>
                  </a:txBody>
                  <a:tcPr>
                    <a:solidFill>
                      <a:srgbClr val="111834"/>
                    </a:solidFill>
                  </a:tcPr>
                </a:tc>
                <a:tc>
                  <a:txBody>
                    <a:bodyPr/>
                    <a:lstStyle/>
                    <a:p>
                      <a:r>
                        <a:rPr sz="1200" b="0">
                          <a:solidFill>
                            <a:srgbClr val="E8EEFA"/>
                          </a:solidFill>
                          <a:latin typeface="Segoe UI"/>
                        </a:rPr>
                        <a:t>AI Act 10-m.</a:t>
                      </a:r>
                    </a:p>
                  </a:txBody>
                  <a:tcPr>
                    <a:solidFill>
                      <a:srgbClr val="111834"/>
                    </a:solidFill>
                  </a:tcPr>
                </a:tc>
              </a:tr>
              <a:tr h="520000">
                <a:tc>
                  <a:txBody>
                    <a:bodyPr/>
                    <a:lstStyle/>
                    <a:p>
                      <a:r>
                        <a:rPr sz="1200" b="0">
                          <a:solidFill>
                            <a:srgbClr val="E8EEFA"/>
                          </a:solidFill>
                          <a:latin typeface="Segoe UI"/>
                        </a:rPr>
                        <a:t>4</a:t>
                      </a:r>
                    </a:p>
                  </a:txBody>
                  <a:tcPr>
                    <a:solidFill>
                      <a:srgbClr val="161F40"/>
                    </a:solidFill>
                  </a:tcPr>
                </a:tc>
                <a:tc>
                  <a:txBody>
                    <a:bodyPr/>
                    <a:lstStyle/>
                    <a:p>
                      <a:r>
                        <a:rPr sz="1200" b="0">
                          <a:solidFill>
                            <a:srgbClr val="E8EEFA"/>
                          </a:solidFill>
                          <a:latin typeface="Segoe UI"/>
                        </a:rPr>
                        <a:t>Ma'lumotdagi guruhlar vakilligi (representativeness) tahlil qilingan</a:t>
                      </a:r>
                    </a:p>
                  </a:txBody>
                  <a:tcPr>
                    <a:solidFill>
                      <a:srgbClr val="161F40"/>
                    </a:solidFill>
                  </a:tcPr>
                </a:tc>
                <a:tc>
                  <a:txBody>
                    <a:bodyPr/>
                    <a:lstStyle/>
                    <a:p>
                      <a:r>
                        <a:rPr sz="1200" b="0">
                          <a:solidFill>
                            <a:srgbClr val="E8EEFA"/>
                          </a:solidFill>
                          <a:latin typeface="Segoe UI"/>
                        </a:rPr>
                        <a:t>AI Act 10-m.; ISO 23894</a:t>
                      </a:r>
                    </a:p>
                  </a:txBody>
                  <a:tcPr>
                    <a:solidFill>
                      <a:srgbClr val="161F40"/>
                    </a:solidFill>
                  </a:tcPr>
                </a:tc>
              </a:tr>
              <a:tr h="520000">
                <a:tc>
                  <a:txBody>
                    <a:bodyPr/>
                    <a:lstStyle/>
                    <a:p>
                      <a:r>
                        <a:rPr sz="1200" b="0">
                          <a:solidFill>
                            <a:srgbClr val="E8EEFA"/>
                          </a:solidFill>
                          <a:latin typeface="Segoe UI"/>
                        </a:rPr>
                        <a:t>5</a:t>
                      </a:r>
                    </a:p>
                  </a:txBody>
                  <a:tcPr>
                    <a:solidFill>
                      <a:srgbClr val="111834"/>
                    </a:solidFill>
                  </a:tcPr>
                </a:tc>
                <a:tc>
                  <a:txBody>
                    <a:bodyPr/>
                    <a:lstStyle/>
                    <a:p>
                      <a:r>
                        <a:rPr sz="1200" b="0">
                          <a:solidFill>
                            <a:srgbClr val="E8EEFA"/>
                          </a:solidFill>
                          <a:latin typeface="Segoe UI"/>
                        </a:rPr>
                        <a:t>Sezgir atributlar va ularning vakil belgilari (proxy) aniqlangan</a:t>
                      </a:r>
                    </a:p>
                  </a:txBody>
                  <a:tcPr>
                    <a:solidFill>
                      <a:srgbClr val="111834"/>
                    </a:solidFill>
                  </a:tcPr>
                </a:tc>
                <a:tc>
                  <a:txBody>
                    <a:bodyPr/>
                    <a:lstStyle/>
                    <a:p>
                      <a:r>
                        <a:rPr sz="1200" b="0">
                          <a:solidFill>
                            <a:srgbClr val="E8EEFA"/>
                          </a:solidFill>
                          <a:latin typeface="Segoe UI"/>
                        </a:rPr>
                        <a:t>NIST RMF Map</a:t>
                      </a:r>
                    </a:p>
                  </a:txBody>
                  <a:tcPr>
                    <a:solidFill>
                      <a:srgbClr val="111834"/>
                    </a:solidFill>
                  </a:tcPr>
                </a:tc>
              </a:tr>
              <a:tr h="520000">
                <a:tc>
                  <a:txBody>
                    <a:bodyPr/>
                    <a:lstStyle/>
                    <a:p>
                      <a:r>
                        <a:rPr sz="1200" b="0">
                          <a:solidFill>
                            <a:srgbClr val="E8EEFA"/>
                          </a:solidFill>
                          <a:latin typeface="Segoe UI"/>
                        </a:rPr>
                        <a:t>6</a:t>
                      </a:r>
                    </a:p>
                  </a:txBody>
                  <a:tcPr>
                    <a:solidFill>
                      <a:srgbClr val="161F40"/>
                    </a:solidFill>
                  </a:tcPr>
                </a:tc>
                <a:tc>
                  <a:txBody>
                    <a:bodyPr/>
                    <a:lstStyle/>
                    <a:p>
                      <a:r>
                        <a:rPr sz="1200" b="0">
                          <a:solidFill>
                            <a:srgbClr val="E8EEFA"/>
                          </a:solidFill>
                          <a:latin typeface="Segoe UI"/>
                        </a:rPr>
                        <a:t>Adolatlilik mezoni tanlangan va tanlov asoslangan</a:t>
                      </a:r>
                    </a:p>
                  </a:txBody>
                  <a:tcPr>
                    <a:solidFill>
                      <a:srgbClr val="161F40"/>
                    </a:solidFill>
                  </a:tcPr>
                </a:tc>
                <a:tc>
                  <a:txBody>
                    <a:bodyPr/>
                    <a:lstStyle/>
                    <a:p>
                      <a:r>
                        <a:rPr sz="1200" b="0">
                          <a:solidFill>
                            <a:srgbClr val="E8EEFA"/>
                          </a:solidFill>
                          <a:latin typeface="Segoe UI"/>
                        </a:rPr>
                        <a:t>ISO 42001 A.7</a:t>
                      </a:r>
                    </a:p>
                  </a:txBody>
                  <a:tcPr>
                    <a:solidFill>
                      <a:srgbClr val="161F40"/>
                    </a:solidFill>
                  </a:tcPr>
                </a:tc>
              </a:tr>
              <a:tr h="520000">
                <a:tc>
                  <a:txBody>
                    <a:bodyPr/>
                    <a:lstStyle/>
                    <a:p>
                      <a:r>
                        <a:rPr sz="1200" b="0">
                          <a:solidFill>
                            <a:srgbClr val="E8EEFA"/>
                          </a:solidFill>
                          <a:latin typeface="Segoe UI"/>
                        </a:rPr>
                        <a:t>7</a:t>
                      </a:r>
                    </a:p>
                  </a:txBody>
                  <a:tcPr>
                    <a:solidFill>
                      <a:srgbClr val="111834"/>
                    </a:solidFill>
                  </a:tcPr>
                </a:tc>
                <a:tc>
                  <a:txBody>
                    <a:bodyPr/>
                    <a:lstStyle/>
                    <a:p>
                      <a:r>
                        <a:rPr sz="1200" b="0">
                          <a:solidFill>
                            <a:srgbClr val="E8EEFA"/>
                          </a:solidFill>
                          <a:latin typeface="Segoe UI"/>
                        </a:rPr>
                        <a:t>Adolatlilik ko'rsatkichlari guruhlar bo'yicha o'lchangan va chegaralar belgilangan</a:t>
                      </a:r>
                    </a:p>
                  </a:txBody>
                  <a:tcPr>
                    <a:solidFill>
                      <a:srgbClr val="111834"/>
                    </a:solidFill>
                  </a:tcPr>
                </a:tc>
                <a:tc>
                  <a:txBody>
                    <a:bodyPr/>
                    <a:lstStyle/>
                    <a:p>
                      <a:r>
                        <a:rPr sz="1200" b="0">
                          <a:solidFill>
                            <a:srgbClr val="E8EEFA"/>
                          </a:solidFill>
                          <a:latin typeface="Segoe UI"/>
                        </a:rPr>
                        <a:t>AI Act 10-m.</a:t>
                      </a:r>
                    </a:p>
                  </a:txBody>
                  <a:tcPr>
                    <a:solidFill>
                      <a:srgbClr val="111834"/>
                    </a:solidFill>
                  </a:tcPr>
                </a:tc>
              </a:tr>
              <a:tr h="520000">
                <a:tc>
                  <a:txBody>
                    <a:bodyPr/>
                    <a:lstStyle/>
                    <a:p>
                      <a:r>
                        <a:rPr sz="1200" b="0">
                          <a:solidFill>
                            <a:srgbClr val="E8EEFA"/>
                          </a:solidFill>
                          <a:latin typeface="Segoe UI"/>
                        </a:rPr>
                        <a:t>8</a:t>
                      </a:r>
                    </a:p>
                  </a:txBody>
                  <a:tcPr>
                    <a:solidFill>
                      <a:srgbClr val="161F40"/>
                    </a:solidFill>
                  </a:tcPr>
                </a:tc>
                <a:tc>
                  <a:txBody>
                    <a:bodyPr/>
                    <a:lstStyle/>
                    <a:p>
                      <a:r>
                        <a:rPr sz="1200" b="0">
                          <a:solidFill>
                            <a:srgbClr val="E8EEFA"/>
                          </a:solidFill>
                          <a:latin typeface="Segoe UI"/>
                        </a:rPr>
                        <a:t>Toza va adversarial aniqlik o'lchangan, tahdid modeli yozilgan</a:t>
                      </a:r>
                    </a:p>
                  </a:txBody>
                  <a:tcPr>
                    <a:solidFill>
                      <a:srgbClr val="161F40"/>
                    </a:solidFill>
                  </a:tcPr>
                </a:tc>
                <a:tc>
                  <a:txBody>
                    <a:bodyPr/>
                    <a:lstStyle/>
                    <a:p>
                      <a:r>
                        <a:rPr sz="1200" b="0">
                          <a:solidFill>
                            <a:srgbClr val="E8EEFA"/>
                          </a:solidFill>
                          <a:latin typeface="Segoe UI"/>
                        </a:rPr>
                        <a:t>AI Act 15-m.</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Etik talablar tekshiruv ro'yxati (davomi)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45</a:t>
            </a:r>
          </a:p>
        </p:txBody>
      </p:sp>
      <p:graphicFrame>
        <p:nvGraphicFramePr>
          <p:cNvPr id="24" name="Table 23"/>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a:t>
                      </a:r>
                    </a:p>
                  </a:txBody>
                  <a:tcPr>
                    <a:solidFill>
                      <a:srgbClr val="1C2755"/>
                    </a:solidFill>
                  </a:tcPr>
                </a:tc>
                <a:tc>
                  <a:txBody>
                    <a:bodyPr/>
                    <a:lstStyle/>
                    <a:p>
                      <a:r>
                        <a:rPr sz="1200" b="1">
                          <a:solidFill>
                            <a:srgbClr val="22D3EE"/>
                          </a:solidFill>
                          <a:latin typeface="Segoe UI"/>
                        </a:rPr>
                        <a:t>Band</a:t>
                      </a:r>
                    </a:p>
                  </a:txBody>
                  <a:tcPr>
                    <a:solidFill>
                      <a:srgbClr val="1C2755"/>
                    </a:solidFill>
                  </a:tcPr>
                </a:tc>
                <a:tc>
                  <a:txBody>
                    <a:bodyPr/>
                    <a:lstStyle/>
                    <a:p>
                      <a:r>
                        <a:rPr sz="1200" b="1">
                          <a:solidFill>
                            <a:srgbClr val="22D3EE"/>
                          </a:solidFill>
                          <a:latin typeface="Segoe UI"/>
                        </a:rPr>
                        <a:t>Manba</a:t>
                      </a:r>
                    </a:p>
                  </a:txBody>
                  <a:tcPr>
                    <a:solidFill>
                      <a:srgbClr val="1C2755"/>
                    </a:solidFill>
                  </a:tcPr>
                </a:tc>
              </a:tr>
              <a:tr h="520000">
                <a:tc>
                  <a:txBody>
                    <a:bodyPr/>
                    <a:lstStyle/>
                    <a:p>
                      <a:r>
                        <a:rPr sz="1200" b="0">
                          <a:solidFill>
                            <a:srgbClr val="E8EEFA"/>
                          </a:solidFill>
                          <a:latin typeface="Segoe UI"/>
                        </a:rPr>
                        <a:t>9</a:t>
                      </a:r>
                    </a:p>
                  </a:txBody>
                  <a:tcPr>
                    <a:solidFill>
                      <a:srgbClr val="111834"/>
                    </a:solidFill>
                  </a:tcPr>
                </a:tc>
                <a:tc>
                  <a:txBody>
                    <a:bodyPr/>
                    <a:lstStyle/>
                    <a:p>
                      <a:r>
                        <a:rPr sz="1200" b="0">
                          <a:solidFill>
                            <a:srgbClr val="E8EEFA"/>
                          </a:solidFill>
                          <a:latin typeface="Segoe UI"/>
                        </a:rPr>
                        <a:t>Himoya chorasi (adversarial o'qitish, kirish nazorati) joriy qilingan va sinovdan o'tgan</a:t>
                      </a:r>
                    </a:p>
                  </a:txBody>
                  <a:tcPr>
                    <a:solidFill>
                      <a:srgbClr val="111834"/>
                    </a:solidFill>
                  </a:tcPr>
                </a:tc>
                <a:tc>
                  <a:txBody>
                    <a:bodyPr/>
                    <a:lstStyle/>
                    <a:p>
                      <a:r>
                        <a:rPr sz="1200" b="0">
                          <a:solidFill>
                            <a:srgbClr val="E8EEFA"/>
                          </a:solidFill>
                          <a:latin typeface="Segoe UI"/>
                        </a:rPr>
                        <a:t>AI Act 15-m.</a:t>
                      </a:r>
                    </a:p>
                  </a:txBody>
                  <a:tcPr>
                    <a:solidFill>
                      <a:srgbClr val="111834"/>
                    </a:solidFill>
                  </a:tcPr>
                </a:tc>
              </a:tr>
              <a:tr h="520000">
                <a:tc>
                  <a:txBody>
                    <a:bodyPr/>
                    <a:lstStyle/>
                    <a:p>
                      <a:r>
                        <a:rPr sz="1200" b="0">
                          <a:solidFill>
                            <a:srgbClr val="E8EEFA"/>
                          </a:solidFill>
                          <a:latin typeface="Segoe UI"/>
                        </a:rPr>
                        <a:t>10</a:t>
                      </a:r>
                    </a:p>
                  </a:txBody>
                  <a:tcPr>
                    <a:solidFill>
                      <a:srgbClr val="161F40"/>
                    </a:solidFill>
                  </a:tcPr>
                </a:tc>
                <a:tc>
                  <a:txBody>
                    <a:bodyPr/>
                    <a:lstStyle/>
                    <a:p>
                      <a:r>
                        <a:rPr sz="1200" b="0">
                          <a:solidFill>
                            <a:srgbClr val="E8EEFA"/>
                          </a:solidFill>
                          <a:latin typeface="Segoe UI"/>
                        </a:rPr>
                        <a:t>Qarorlar uchun tushuntirish mexanizmi (XAI) mavjud va foydalanuvchiga mos</a:t>
                      </a:r>
                    </a:p>
                  </a:txBody>
                  <a:tcPr>
                    <a:solidFill>
                      <a:srgbClr val="161F40"/>
                    </a:solidFill>
                  </a:tcPr>
                </a:tc>
                <a:tc>
                  <a:txBody>
                    <a:bodyPr/>
                    <a:lstStyle/>
                    <a:p>
                      <a:r>
                        <a:rPr sz="1200" b="0">
                          <a:solidFill>
                            <a:srgbClr val="E8EEFA"/>
                          </a:solidFill>
                          <a:latin typeface="Segoe UI"/>
                        </a:rPr>
                        <a:t>AI Act 13-m.</a:t>
                      </a:r>
                    </a:p>
                  </a:txBody>
                  <a:tcPr>
                    <a:solidFill>
                      <a:srgbClr val="161F40"/>
                    </a:solidFill>
                  </a:tcPr>
                </a:tc>
              </a:tr>
              <a:tr h="520000">
                <a:tc>
                  <a:txBody>
                    <a:bodyPr/>
                    <a:lstStyle/>
                    <a:p>
                      <a:r>
                        <a:rPr sz="1200" b="0">
                          <a:solidFill>
                            <a:srgbClr val="E8EEFA"/>
                          </a:solidFill>
                          <a:latin typeface="Segoe UI"/>
                        </a:rPr>
                        <a:t>11</a:t>
                      </a:r>
                    </a:p>
                  </a:txBody>
                  <a:tcPr>
                    <a:solidFill>
                      <a:srgbClr val="111834"/>
                    </a:solidFill>
                  </a:tcPr>
                </a:tc>
                <a:tc>
                  <a:txBody>
                    <a:bodyPr/>
                    <a:lstStyle/>
                    <a:p>
                      <a:r>
                        <a:rPr sz="1200" b="0">
                          <a:solidFill>
                            <a:srgbClr val="E8EEFA"/>
                          </a:solidFill>
                          <a:latin typeface="Segoe UI"/>
                        </a:rPr>
                        <a:t>Tushuntirishlarning ishonchliligi (barqarorlik, sodiqlik) tekshirilgan</a:t>
                      </a:r>
                    </a:p>
                  </a:txBody>
                  <a:tcPr>
                    <a:solidFill>
                      <a:srgbClr val="111834"/>
                    </a:solidFill>
                  </a:tcPr>
                </a:tc>
                <a:tc>
                  <a:txBody>
                    <a:bodyPr/>
                    <a:lstStyle/>
                    <a:p>
                      <a:r>
                        <a:rPr sz="1200" b="0">
                          <a:solidFill>
                            <a:srgbClr val="E8EEFA"/>
                          </a:solidFill>
                          <a:latin typeface="Segoe UI"/>
                        </a:rPr>
                        <a:t>ISO 23894</a:t>
                      </a:r>
                    </a:p>
                  </a:txBody>
                  <a:tcPr>
                    <a:solidFill>
                      <a:srgbClr val="111834"/>
                    </a:solidFill>
                  </a:tcPr>
                </a:tc>
              </a:tr>
              <a:tr h="520000">
                <a:tc>
                  <a:txBody>
                    <a:bodyPr/>
                    <a:lstStyle/>
                    <a:p>
                      <a:r>
                        <a:rPr sz="1200" b="0">
                          <a:solidFill>
                            <a:srgbClr val="E8EEFA"/>
                          </a:solidFill>
                          <a:latin typeface="Segoe UI"/>
                        </a:rPr>
                        <a:t>12</a:t>
                      </a:r>
                    </a:p>
                  </a:txBody>
                  <a:tcPr>
                    <a:solidFill>
                      <a:srgbClr val="161F40"/>
                    </a:solidFill>
                  </a:tcPr>
                </a:tc>
                <a:tc>
                  <a:txBody>
                    <a:bodyPr/>
                    <a:lstStyle/>
                    <a:p>
                      <a:r>
                        <a:rPr sz="1200" b="0">
                          <a:solidFill>
                            <a:srgbClr val="E8EEFA"/>
                          </a:solidFill>
                          <a:latin typeface="Segoe UI"/>
                        </a:rPr>
                        <a:t>Inson nazorati nuqtalari (human-in-the-loop) aniqlangan</a:t>
                      </a:r>
                    </a:p>
                  </a:txBody>
                  <a:tcPr>
                    <a:solidFill>
                      <a:srgbClr val="161F40"/>
                    </a:solidFill>
                  </a:tcPr>
                </a:tc>
                <a:tc>
                  <a:txBody>
                    <a:bodyPr/>
                    <a:lstStyle/>
                    <a:p>
                      <a:r>
                        <a:rPr sz="1200" b="0">
                          <a:solidFill>
                            <a:srgbClr val="E8EEFA"/>
                          </a:solidFill>
                          <a:latin typeface="Segoe UI"/>
                        </a:rPr>
                        <a:t>AI Act 14-m.</a:t>
                      </a:r>
                    </a:p>
                  </a:txBody>
                  <a:tcPr>
                    <a:solidFill>
                      <a:srgbClr val="161F40"/>
                    </a:solidFill>
                  </a:tcPr>
                </a:tc>
              </a:tr>
              <a:tr h="520000">
                <a:tc>
                  <a:txBody>
                    <a:bodyPr/>
                    <a:lstStyle/>
                    <a:p>
                      <a:r>
                        <a:rPr sz="1200" b="0">
                          <a:solidFill>
                            <a:srgbClr val="E8EEFA"/>
                          </a:solidFill>
                          <a:latin typeface="Segoe UI"/>
                        </a:rPr>
                        <a:t>13</a:t>
                      </a:r>
                    </a:p>
                  </a:txBody>
                  <a:tcPr>
                    <a:solidFill>
                      <a:srgbClr val="111834"/>
                    </a:solidFill>
                  </a:tcPr>
                </a:tc>
                <a:tc>
                  <a:txBody>
                    <a:bodyPr/>
                    <a:lstStyle/>
                    <a:p>
                      <a:r>
                        <a:rPr sz="1200" b="0">
                          <a:solidFill>
                            <a:srgbClr val="E8EEFA"/>
                          </a:solidFill>
                          <a:latin typeface="Segoe UI"/>
                        </a:rPr>
                        <a:t>Foydalanuvchi AI bilan muloqotda ekanini biladi</a:t>
                      </a:r>
                    </a:p>
                  </a:txBody>
                  <a:tcPr>
                    <a:solidFill>
                      <a:srgbClr val="111834"/>
                    </a:solidFill>
                  </a:tcPr>
                </a:tc>
                <a:tc>
                  <a:txBody>
                    <a:bodyPr/>
                    <a:lstStyle/>
                    <a:p>
                      <a:r>
                        <a:rPr sz="1200" b="0">
                          <a:solidFill>
                            <a:srgbClr val="E8EEFA"/>
                          </a:solidFill>
                          <a:latin typeface="Segoe UI"/>
                        </a:rPr>
                        <a:t>AI Act 50-m.</a:t>
                      </a:r>
                    </a:p>
                  </a:txBody>
                  <a:tcPr>
                    <a:solidFill>
                      <a:srgbClr val="111834"/>
                    </a:solidFill>
                  </a:tcPr>
                </a:tc>
              </a:tr>
              <a:tr h="520000">
                <a:tc>
                  <a:txBody>
                    <a:bodyPr/>
                    <a:lstStyle/>
                    <a:p>
                      <a:r>
                        <a:rPr sz="1200" b="0">
                          <a:solidFill>
                            <a:srgbClr val="E8EEFA"/>
                          </a:solidFill>
                          <a:latin typeface="Segoe UI"/>
                        </a:rPr>
                        <a:t>14</a:t>
                      </a:r>
                    </a:p>
                  </a:txBody>
                  <a:tcPr>
                    <a:solidFill>
                      <a:srgbClr val="161F40"/>
                    </a:solidFill>
                  </a:tcPr>
                </a:tc>
                <a:tc>
                  <a:txBody>
                    <a:bodyPr/>
                    <a:lstStyle/>
                    <a:p>
                      <a:r>
                        <a:rPr sz="1200" b="0">
                          <a:solidFill>
                            <a:srgbClr val="E8EEFA"/>
                          </a:solidFill>
                          <a:latin typeface="Segoe UI"/>
                        </a:rPr>
                        <a:t>Kirish ma'lumotlari va qarorlar jurnalga yoziladi (audit izi)</a:t>
                      </a:r>
                    </a:p>
                  </a:txBody>
                  <a:tcPr>
                    <a:solidFill>
                      <a:srgbClr val="161F40"/>
                    </a:solidFill>
                  </a:tcPr>
                </a:tc>
                <a:tc>
                  <a:txBody>
                    <a:bodyPr/>
                    <a:lstStyle/>
                    <a:p>
                      <a:r>
                        <a:rPr sz="1200" b="0">
                          <a:solidFill>
                            <a:srgbClr val="E8EEFA"/>
                          </a:solidFill>
                          <a:latin typeface="Segoe UI"/>
                        </a:rPr>
                        <a:t>AI Act 12-m.</a:t>
                      </a:r>
                    </a:p>
                  </a:txBody>
                  <a:tcPr>
                    <a:solidFill>
                      <a:srgbClr val="161F40"/>
                    </a:solidFill>
                  </a:tcPr>
                </a:tc>
              </a:tr>
              <a:tr h="520000">
                <a:tc>
                  <a:txBody>
                    <a:bodyPr/>
                    <a:lstStyle/>
                    <a:p>
                      <a:r>
                        <a:rPr sz="1200" b="0">
                          <a:solidFill>
                            <a:srgbClr val="E8EEFA"/>
                          </a:solidFill>
                          <a:latin typeface="Segoe UI"/>
                        </a:rPr>
                        <a:t>15</a:t>
                      </a:r>
                    </a:p>
                  </a:txBody>
                  <a:tcPr>
                    <a:solidFill>
                      <a:srgbClr val="111834"/>
                    </a:solidFill>
                  </a:tcPr>
                </a:tc>
                <a:tc>
                  <a:txBody>
                    <a:bodyPr/>
                    <a:lstStyle/>
                    <a:p>
                      <a:r>
                        <a:rPr sz="1200" b="0">
                          <a:solidFill>
                            <a:srgbClr val="E8EEFA"/>
                          </a:solidFill>
                          <a:latin typeface="Segoe UI"/>
                        </a:rPr>
                        <a:t>Ishlab chiqarishda drift va adolatlilik monitoringi rejalashtirilgan</a:t>
                      </a:r>
                    </a:p>
                  </a:txBody>
                  <a:tcPr>
                    <a:solidFill>
                      <a:srgbClr val="111834"/>
                    </a:solidFill>
                  </a:tcPr>
                </a:tc>
                <a:tc>
                  <a:txBody>
                    <a:bodyPr/>
                    <a:lstStyle/>
                    <a:p>
                      <a:r>
                        <a:rPr sz="1200" b="0">
                          <a:solidFill>
                            <a:srgbClr val="E8EEFA"/>
                          </a:solidFill>
                          <a:latin typeface="Segoe UI"/>
                        </a:rPr>
                        <a:t>ISO 42001 A.6.2.6</a:t>
                      </a:r>
                    </a:p>
                  </a:txBody>
                  <a:tcPr>
                    <a:solidFill>
                      <a:srgbClr val="111834"/>
                    </a:solidFill>
                  </a:tcPr>
                </a:tc>
              </a:tr>
              <a:tr h="520000">
                <a:tc>
                  <a:txBody>
                    <a:bodyPr/>
                    <a:lstStyle/>
                    <a:p>
                      <a:r>
                        <a:rPr sz="1200" b="0">
                          <a:solidFill>
                            <a:srgbClr val="E8EEFA"/>
                          </a:solidFill>
                          <a:latin typeface="Segoe UI"/>
                        </a:rPr>
                        <a:t>16</a:t>
                      </a:r>
                    </a:p>
                  </a:txBody>
                  <a:tcPr>
                    <a:solidFill>
                      <a:srgbClr val="161F40"/>
                    </a:solidFill>
                  </a:tcPr>
                </a:tc>
                <a:tc>
                  <a:txBody>
                    <a:bodyPr/>
                    <a:lstStyle/>
                    <a:p>
                      <a:r>
                        <a:rPr sz="1200" b="0">
                          <a:solidFill>
                            <a:srgbClr val="E8EEFA"/>
                          </a:solidFill>
                          <a:latin typeface="Segoe UI"/>
                        </a:rPr>
                        <a:t>Shaxsiy ma'lumotlar minimallashtirilgan, a'zolik inferensi xavfi baholangan</a:t>
                      </a:r>
                    </a:p>
                  </a:txBody>
                  <a:tcPr>
                    <a:solidFill>
                      <a:srgbClr val="161F40"/>
                    </a:solidFill>
                  </a:tcPr>
                </a:tc>
                <a:tc>
                  <a:txBody>
                    <a:bodyPr/>
                    <a:lstStyle/>
                    <a:p>
                      <a:r>
                        <a:rPr sz="1200" b="0">
                          <a:solidFill>
                            <a:srgbClr val="E8EEFA"/>
                          </a:solidFill>
                          <a:latin typeface="Segoe UI"/>
                        </a:rPr>
                        <a:t>GDPR; ISO 23894</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wipe(left)">
                                      <p:cBhvr>
                                        <p:cTn id="16" dur="8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6-qadam. Etik talablar tekshiruv ro'yxati (davomi)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46</a:t>
            </a:r>
          </a:p>
        </p:txBody>
      </p:sp>
      <p:graphicFrame>
        <p:nvGraphicFramePr>
          <p:cNvPr id="23" name="Table 22"/>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200" b="1">
                          <a:solidFill>
                            <a:srgbClr val="22D3EE"/>
                          </a:solidFill>
                          <a:latin typeface="Segoe UI"/>
                        </a:rPr>
                        <a:t>№</a:t>
                      </a:r>
                    </a:p>
                  </a:txBody>
                  <a:tcPr>
                    <a:solidFill>
                      <a:srgbClr val="1C2755"/>
                    </a:solidFill>
                  </a:tcPr>
                </a:tc>
                <a:tc>
                  <a:txBody>
                    <a:bodyPr/>
                    <a:lstStyle/>
                    <a:p>
                      <a:r>
                        <a:rPr sz="1200" b="1">
                          <a:solidFill>
                            <a:srgbClr val="22D3EE"/>
                          </a:solidFill>
                          <a:latin typeface="Segoe UI"/>
                        </a:rPr>
                        <a:t>Band</a:t>
                      </a:r>
                    </a:p>
                  </a:txBody>
                  <a:tcPr>
                    <a:solidFill>
                      <a:srgbClr val="1C2755"/>
                    </a:solidFill>
                  </a:tcPr>
                </a:tc>
                <a:tc>
                  <a:txBody>
                    <a:bodyPr/>
                    <a:lstStyle/>
                    <a:p>
                      <a:r>
                        <a:rPr sz="1200" b="1">
                          <a:solidFill>
                            <a:srgbClr val="22D3EE"/>
                          </a:solidFill>
                          <a:latin typeface="Segoe UI"/>
                        </a:rPr>
                        <a:t>Manba</a:t>
                      </a:r>
                    </a:p>
                  </a:txBody>
                  <a:tcPr>
                    <a:solidFill>
                      <a:srgbClr val="1C2755"/>
                    </a:solidFill>
                  </a:tcPr>
                </a:tc>
              </a:tr>
              <a:tr h="520000">
                <a:tc>
                  <a:txBody>
                    <a:bodyPr/>
                    <a:lstStyle/>
                    <a:p>
                      <a:r>
                        <a:rPr sz="1200" b="0">
                          <a:solidFill>
                            <a:srgbClr val="E8EEFA"/>
                          </a:solidFill>
                          <a:latin typeface="Segoe UI"/>
                        </a:rPr>
                        <a:t>17</a:t>
                      </a:r>
                    </a:p>
                  </a:txBody>
                  <a:tcPr>
                    <a:solidFill>
                      <a:srgbClr val="111834"/>
                    </a:solidFill>
                  </a:tcPr>
                </a:tc>
                <a:tc>
                  <a:txBody>
                    <a:bodyPr/>
                    <a:lstStyle/>
                    <a:p>
                      <a:r>
                        <a:rPr sz="1200" b="0">
                          <a:solidFill>
                            <a:srgbClr val="E8EEFA"/>
                          </a:solidFill>
                          <a:latin typeface="Segoe UI"/>
                        </a:rPr>
                        <a:t>Model kartasi (model card) va ma'lumot varaqasi (datasheet) tayyorlangan</a:t>
                      </a:r>
                    </a:p>
                  </a:txBody>
                  <a:tcPr>
                    <a:solidFill>
                      <a:srgbClr val="111834"/>
                    </a:solidFill>
                  </a:tcPr>
                </a:tc>
                <a:tc>
                  <a:txBody>
                    <a:bodyPr/>
                    <a:lstStyle/>
                    <a:p>
                      <a:r>
                        <a:rPr sz="1200" b="0">
                          <a:solidFill>
                            <a:srgbClr val="E8EEFA"/>
                          </a:solidFill>
                          <a:latin typeface="Segoe UI"/>
                        </a:rPr>
                        <a:t>ISO 42001 A.6.2.7</a:t>
                      </a:r>
                    </a:p>
                  </a:txBody>
                  <a:tcPr>
                    <a:solidFill>
                      <a:srgbClr val="111834"/>
                    </a:solidFill>
                  </a:tcPr>
                </a:tc>
              </a:tr>
              <a:tr h="520000">
                <a:tc>
                  <a:txBody>
                    <a:bodyPr/>
                    <a:lstStyle/>
                    <a:p>
                      <a:r>
                        <a:rPr sz="1200" b="0">
                          <a:solidFill>
                            <a:srgbClr val="E8EEFA"/>
                          </a:solidFill>
                          <a:latin typeface="Segoe UI"/>
                        </a:rPr>
                        <a:t>18</a:t>
                      </a:r>
                    </a:p>
                  </a:txBody>
                  <a:tcPr>
                    <a:solidFill>
                      <a:srgbClr val="161F40"/>
                    </a:solidFill>
                  </a:tcPr>
                </a:tc>
                <a:tc>
                  <a:txBody>
                    <a:bodyPr/>
                    <a:lstStyle/>
                    <a:p>
                      <a:r>
                        <a:rPr sz="1200" b="0">
                          <a:solidFill>
                            <a:srgbClr val="E8EEFA"/>
                          </a:solidFill>
                          <a:latin typeface="Segoe UI"/>
                        </a:rPr>
                        <a:t>Nosozlik rejimi (fallback) va o'chirish tartibi aniqlangan</a:t>
                      </a:r>
                    </a:p>
                  </a:txBody>
                  <a:tcPr>
                    <a:solidFill>
                      <a:srgbClr val="161F40"/>
                    </a:solidFill>
                  </a:tcPr>
                </a:tc>
                <a:tc>
                  <a:txBody>
                    <a:bodyPr/>
                    <a:lstStyle/>
                    <a:p>
                      <a:r>
                        <a:rPr sz="1200" b="0">
                          <a:solidFill>
                            <a:srgbClr val="E8EEFA"/>
                          </a:solidFill>
                          <a:latin typeface="Segoe UI"/>
                        </a:rPr>
                        <a:t>AI Act 9-m.</a:t>
                      </a:r>
                    </a:p>
                  </a:txBody>
                  <a:tcPr>
                    <a:solidFill>
                      <a:srgbClr val="161F40"/>
                    </a:solidFill>
                  </a:tcPr>
                </a:tc>
              </a:tr>
              <a:tr h="520000">
                <a:tc>
                  <a:txBody>
                    <a:bodyPr/>
                    <a:lstStyle/>
                    <a:p>
                      <a:r>
                        <a:rPr sz="1200" b="0">
                          <a:solidFill>
                            <a:srgbClr val="E8EEFA"/>
                          </a:solidFill>
                          <a:latin typeface="Segoe UI"/>
                        </a:rPr>
                        <a:t>19</a:t>
                      </a:r>
                    </a:p>
                  </a:txBody>
                  <a:tcPr>
                    <a:solidFill>
                      <a:srgbClr val="111834"/>
                    </a:solidFill>
                  </a:tcPr>
                </a:tc>
                <a:tc>
                  <a:txBody>
                    <a:bodyPr/>
                    <a:lstStyle/>
                    <a:p>
                      <a:r>
                        <a:rPr sz="1200" b="0">
                          <a:solidFill>
                            <a:srgbClr val="E8EEFA"/>
                          </a:solidFill>
                          <a:latin typeface="Segoe UI"/>
                        </a:rPr>
                        <a:t>Mas'ul shaxslar va shikoyat qilish mexanizmi belgilangan</a:t>
                      </a:r>
                    </a:p>
                  </a:txBody>
                  <a:tcPr>
                    <a:solidFill>
                      <a:srgbClr val="111834"/>
                    </a:solidFill>
                  </a:tcPr>
                </a:tc>
                <a:tc>
                  <a:txBody>
                    <a:bodyPr/>
                    <a:lstStyle/>
                    <a:p>
                      <a:r>
                        <a:rPr sz="1200" b="0">
                          <a:solidFill>
                            <a:srgbClr val="E8EEFA"/>
                          </a:solidFill>
                          <a:latin typeface="Segoe UI"/>
                        </a:rPr>
                        <a:t>ISO 42001 5.3</a:t>
                      </a:r>
                    </a:p>
                  </a:txBody>
                  <a:tcPr>
                    <a:solidFill>
                      <a:srgbClr val="111834"/>
                    </a:solidFill>
                  </a:tcPr>
                </a:tc>
              </a:tr>
              <a:tr h="520000">
                <a:tc>
                  <a:txBody>
                    <a:bodyPr/>
                    <a:lstStyle/>
                    <a:p>
                      <a:r>
                        <a:rPr sz="1200" b="0">
                          <a:solidFill>
                            <a:srgbClr val="E8EEFA"/>
                          </a:solidFill>
                          <a:latin typeface="Segoe UI"/>
                        </a:rPr>
                        <a:t>20</a:t>
                      </a:r>
                    </a:p>
                  </a:txBody>
                  <a:tcPr>
                    <a:solidFill>
                      <a:srgbClr val="161F40"/>
                    </a:solidFill>
                  </a:tcPr>
                </a:tc>
                <a:tc>
                  <a:txBody>
                    <a:bodyPr/>
                    <a:lstStyle/>
                    <a:p>
                      <a:r>
                        <a:rPr sz="1200" b="0">
                          <a:solidFill>
                            <a:srgbClr val="E8EEFA"/>
                          </a:solidFill>
                          <a:latin typeface="Segoe UI"/>
                        </a:rPr>
                        <a:t>Baholash takrorlanuvchan (kod, urug', versiyalar qayd etilgan)</a:t>
                      </a:r>
                    </a:p>
                  </a:txBody>
                  <a:tcPr>
                    <a:solidFill>
                      <a:srgbClr val="161F40"/>
                    </a:solidFill>
                  </a:tcPr>
                </a:tc>
                <a:tc>
                  <a:txBody>
                    <a:bodyPr/>
                    <a:lstStyle/>
                    <a:p>
                      <a:r>
                        <a:rPr sz="1200" b="0">
                          <a:solidFill>
                            <a:srgbClr val="E8EEFA"/>
                          </a:solidFill>
                          <a:latin typeface="Segoe UI"/>
                        </a:rPr>
                        <a:t>NIST RMF Measure</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Kutilgan natijalar jadvali</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47</a:t>
            </a:r>
          </a:p>
        </p:txBody>
      </p:sp>
      <p:sp>
        <p:nvSpPr>
          <p:cNvPr id="21" name="Rounded Rectangle 20"/>
          <p:cNvSpPr/>
          <p:nvPr/>
        </p:nvSpPr>
        <p:spPr>
          <a:xfrm>
            <a:off x="550000" y="3530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3610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60000" y="3610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4" name="TextBox 23"/>
          <p:cNvSpPr txBox="1"/>
          <p:nvPr/>
        </p:nvSpPr>
        <p:spPr>
          <a:xfrm>
            <a:off x="1300000" y="3570000"/>
            <a:ext cx="10250000" cy="440000"/>
          </a:xfrm>
          <a:prstGeom prst="rect">
            <a:avLst/>
          </a:prstGeom>
          <a:noFill/>
        </p:spPr>
        <p:txBody>
          <a:bodyPr wrap="square" anchor="ctr">
            <a:spAutoFit/>
          </a:bodyPr>
          <a:lstStyle/>
          <a:p>
            <a:r>
              <a:rPr sz="1600" b="0">
                <a:solidFill>
                  <a:srgbClr val="E8EEFA"/>
                </a:solidFill>
                <a:latin typeface="Segoe UI"/>
              </a:rPr>
              <a:t>Quyidagi qiymatlar ResNet-18/CIFAR-10 va GBM/Adult uchun taxminiy mo'ljal; talaba o'z natijalarini shu shaklda keltiradi.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ppt_x</p:attrName>
                                        </p:attrNameLst>
                                      </p:cBhvr>
                                      <p:tavLst>
                                        <p:tav tm="0">
                                          <p:val>
                                            <p:strVal val="#ppt_x"/>
                                          </p:val>
                                        </p:tav>
                                        <p:tav tm="100000">
                                          <p:val>
                                            <p:strVal val="#ppt_x"/>
                                          </p:val>
                                        </p:tav>
                                      </p:tavLst>
                                    </p:anim>
                                    <p:anim calcmode="lin" valueType="num">
                                      <p:cBhvr additive="base">
                                        <p:cTn id="17" dur="550" fill="hold"/>
                                        <p:tgtEl>
                                          <p:spTgt spid="21"/>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ppt_x</p:attrName>
                                        </p:attrNameLst>
                                      </p:cBhvr>
                                      <p:tavLst>
                                        <p:tav tm="0">
                                          <p:val>
                                            <p:strVal val="#ppt_x"/>
                                          </p:val>
                                        </p:tav>
                                        <p:tav tm="100000">
                                          <p:val>
                                            <p:strVal val="#ppt_x"/>
                                          </p:val>
                                        </p:tav>
                                      </p:tavLst>
                                    </p:anim>
                                    <p:anim calcmode="lin" valueType="num">
                                      <p:cBhvr additive="base">
                                        <p:cTn id="23" dur="550" fill="hold"/>
                                        <p:tgtEl>
                                          <p:spTgt spid="22"/>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anim calcmode="lin" valueType="num">
                                      <p:cBhvr additive="base">
                                        <p:cTn id="28" dur="550" fill="hold"/>
                                        <p:tgtEl>
                                          <p:spTgt spid="23"/>
                                        </p:tgtEl>
                                        <p:attrNameLst>
                                          <p:attrName>ppt_w</p:attrName>
                                        </p:attrNameLst>
                                      </p:cBhvr>
                                      <p:tavLst>
                                        <p:tav tm="0">
                                          <p:val>
                                            <p:strVal val="0"/>
                                          </p:val>
                                        </p:tav>
                                        <p:tav tm="100000">
                                          <p:val>
                                            <p:strVal val="#ppt_w"/>
                                          </p:val>
                                        </p:tav>
                                      </p:tavLst>
                                    </p:anim>
                                    <p:anim calcmode="lin" valueType="num">
                                      <p:cBhvr additive="base">
                                        <p:cTn id="29" dur="550" fill="hold"/>
                                        <p:tgtEl>
                                          <p:spTgt spid="23"/>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50"/>
                                        <p:tgtEl>
                                          <p:spTgt spid="24"/>
                                        </p:tgtEl>
                                      </p:cBhvr>
                                    </p:animEffect>
                                    <p:anim calcmode="lin" valueType="num">
                                      <p:cBhvr additive="base">
                                        <p:cTn id="34" dur="550" fill="hold"/>
                                        <p:tgtEl>
                                          <p:spTgt spid="24"/>
                                        </p:tgtEl>
                                        <p:attrNameLst>
                                          <p:attrName>ppt_x</p:attrName>
                                        </p:attrNameLst>
                                      </p:cBhvr>
                                      <p:tavLst>
                                        <p:tav tm="0">
                                          <p:val>
                                            <p:strVal val="#ppt_x"/>
                                          </p:val>
                                        </p:tav>
                                        <p:tav tm="100000">
                                          <p:val>
                                            <p:strVal val="#ppt_x"/>
                                          </p:val>
                                        </p:tav>
                                      </p:tavLst>
                                    </p:anim>
                                    <p:anim calcmode="lin" valueType="num">
                                      <p:cBhvr additive="base">
                                        <p:cTn id="35"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2" grpId="0" animBg="1"/>
      <p:bldP spid="23" grpId="0" animBg="1"/>
      <p:bldP spid="24" grpId="0" animBg="1"/>
    </p:bld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Kutilgan natijalar jadvali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48</a:t>
            </a:r>
          </a:p>
        </p:txBody>
      </p:sp>
      <p:graphicFrame>
        <p:nvGraphicFramePr>
          <p:cNvPr id="25" name="Table 24"/>
          <p:cNvGraphicFramePr>
            <a:graphicFrameLocks noGrp="1"/>
          </p:cNvGraphicFramePr>
          <p:nvPr/>
        </p:nvGraphicFramePr>
        <p:xfrm>
          <a:off x="550000" y="1400000"/>
          <a:ext cx="11100000" cy="4160000"/>
        </p:xfrm>
        <a:graphic>
          <a:graphicData uri="http://schemas.openxmlformats.org/drawingml/2006/table">
            <a:tbl>
              <a:tblPr firstRow="1" bandRow="1">
                <a:tableStyleId>{5C22544A-7EE6-4342-B048-85BDC9FD1C3A}</a:tableStyleId>
              </a:tblPr>
              <a:tblGrid>
                <a:gridCol w="3700000"/>
                <a:gridCol w="3700000"/>
                <a:gridCol w="3700000"/>
              </a:tblGrid>
              <a:tr h="520000">
                <a:tc>
                  <a:txBody>
                    <a:bodyPr/>
                    <a:lstStyle/>
                    <a:p>
                      <a:r>
                        <a:rPr sz="1400" b="1">
                          <a:solidFill>
                            <a:srgbClr val="22D3EE"/>
                          </a:solidFill>
                          <a:latin typeface="Segoe UI"/>
                        </a:rPr>
                        <a:t>O'lchov</a:t>
                      </a:r>
                    </a:p>
                  </a:txBody>
                  <a:tcPr>
                    <a:solidFill>
                      <a:srgbClr val="1C2755"/>
                    </a:solidFill>
                  </a:tcPr>
                </a:tc>
                <a:tc>
                  <a:txBody>
                    <a:bodyPr/>
                    <a:lstStyle/>
                    <a:p>
                      <a:r>
                        <a:rPr sz="1400" b="1">
                          <a:solidFill>
                            <a:srgbClr val="22D3EE"/>
                          </a:solidFill>
                          <a:latin typeface="Segoe UI"/>
                        </a:rPr>
                        <a:t>Toza model</a:t>
                      </a:r>
                    </a:p>
                  </a:txBody>
                  <a:tcPr>
                    <a:solidFill>
                      <a:srgbClr val="1C2755"/>
                    </a:solidFill>
                  </a:tcPr>
                </a:tc>
                <a:tc>
                  <a:txBody>
                    <a:bodyPr/>
                    <a:lstStyle/>
                    <a:p>
                      <a:r>
                        <a:rPr sz="1400" b="1">
                          <a:solidFill>
                            <a:srgbClr val="22D3EE"/>
                          </a:solidFill>
                          <a:latin typeface="Segoe UI"/>
                        </a:rPr>
                        <a:t>Adversarial o'qitilgan model</a:t>
                      </a:r>
                    </a:p>
                  </a:txBody>
                  <a:tcPr>
                    <a:solidFill>
                      <a:srgbClr val="1C2755"/>
                    </a:solidFill>
                  </a:tcPr>
                </a:tc>
              </a:tr>
              <a:tr h="520000">
                <a:tc>
                  <a:txBody>
                    <a:bodyPr/>
                    <a:lstStyle/>
                    <a:p>
                      <a:r>
                        <a:rPr sz="1400" b="0">
                          <a:solidFill>
                            <a:srgbClr val="E8EEFA"/>
                          </a:solidFill>
                          <a:latin typeface="Segoe UI"/>
                        </a:rPr>
                        <a:t>Toza aniqlik</a:t>
                      </a:r>
                    </a:p>
                  </a:txBody>
                  <a:tcPr>
                    <a:solidFill>
                      <a:srgbClr val="111834"/>
                    </a:solidFill>
                  </a:tcPr>
                </a:tc>
                <a:tc>
                  <a:txBody>
                    <a:bodyPr/>
                    <a:lstStyle/>
                    <a:p>
                      <a:r>
                        <a:rPr sz="1400" b="0">
                          <a:solidFill>
                            <a:srgbClr val="E8EEFA"/>
                          </a:solidFill>
                          <a:latin typeface="Segoe UI"/>
                        </a:rPr>
                        <a:t>91%</a:t>
                      </a:r>
                    </a:p>
                  </a:txBody>
                  <a:tcPr>
                    <a:solidFill>
                      <a:srgbClr val="111834"/>
                    </a:solidFill>
                  </a:tcPr>
                </a:tc>
                <a:tc>
                  <a:txBody>
                    <a:bodyPr/>
                    <a:lstStyle/>
                    <a:p>
                      <a:r>
                        <a:rPr sz="1400" b="0">
                          <a:solidFill>
                            <a:srgbClr val="E8EEFA"/>
                          </a:solidFill>
                          <a:latin typeface="Segoe UI"/>
                        </a:rPr>
                        <a:t>82%</a:t>
                      </a:r>
                    </a:p>
                  </a:txBody>
                  <a:tcPr>
                    <a:solidFill>
                      <a:srgbClr val="111834"/>
                    </a:solidFill>
                  </a:tcPr>
                </a:tc>
              </a:tr>
              <a:tr h="520000">
                <a:tc>
                  <a:txBody>
                    <a:bodyPr/>
                    <a:lstStyle/>
                    <a:p>
                      <a:r>
                        <a:rPr sz="1400" b="0">
                          <a:solidFill>
                            <a:srgbClr val="E8EEFA"/>
                          </a:solidFill>
                          <a:latin typeface="Segoe UI"/>
                        </a:rPr>
                        <a:t>FGSM, eps=2/255</a:t>
                      </a:r>
                    </a:p>
                  </a:txBody>
                  <a:tcPr>
                    <a:solidFill>
                      <a:srgbClr val="161F40"/>
                    </a:solidFill>
                  </a:tcPr>
                </a:tc>
                <a:tc>
                  <a:txBody>
                    <a:bodyPr/>
                    <a:lstStyle/>
                    <a:p>
                      <a:r>
                        <a:rPr sz="1400" b="0">
                          <a:solidFill>
                            <a:srgbClr val="E8EEFA"/>
                          </a:solidFill>
                          <a:latin typeface="Segoe UI"/>
                        </a:rPr>
                        <a:t>60%</a:t>
                      </a:r>
                    </a:p>
                  </a:txBody>
                  <a:tcPr>
                    <a:solidFill>
                      <a:srgbClr val="161F40"/>
                    </a:solidFill>
                  </a:tcPr>
                </a:tc>
                <a:tc>
                  <a:txBody>
                    <a:bodyPr/>
                    <a:lstStyle/>
                    <a:p>
                      <a:r>
                        <a:rPr sz="1400" b="0">
                          <a:solidFill>
                            <a:srgbClr val="E8EEFA"/>
                          </a:solidFill>
                          <a:latin typeface="Segoe UI"/>
                        </a:rPr>
                        <a:t>78%</a:t>
                      </a:r>
                    </a:p>
                  </a:txBody>
                  <a:tcPr>
                    <a:solidFill>
                      <a:srgbClr val="161F40"/>
                    </a:solidFill>
                  </a:tcPr>
                </a:tc>
              </a:tr>
              <a:tr h="520000">
                <a:tc>
                  <a:txBody>
                    <a:bodyPr/>
                    <a:lstStyle/>
                    <a:p>
                      <a:r>
                        <a:rPr sz="1400" b="0">
                          <a:solidFill>
                            <a:srgbClr val="E8EEFA"/>
                          </a:solidFill>
                          <a:latin typeface="Segoe UI"/>
                        </a:rPr>
                        <a:t>FGSM, eps=8/255</a:t>
                      </a:r>
                    </a:p>
                  </a:txBody>
                  <a:tcPr>
                    <a:solidFill>
                      <a:srgbClr val="111834"/>
                    </a:solidFill>
                  </a:tcPr>
                </a:tc>
                <a:tc>
                  <a:txBody>
                    <a:bodyPr/>
                    <a:lstStyle/>
                    <a:p>
                      <a:r>
                        <a:rPr sz="1400" b="0">
                          <a:solidFill>
                            <a:srgbClr val="E8EEFA"/>
                          </a:solidFill>
                          <a:latin typeface="Segoe UI"/>
                        </a:rPr>
                        <a:t>20%</a:t>
                      </a:r>
                    </a:p>
                  </a:txBody>
                  <a:tcPr>
                    <a:solidFill>
                      <a:srgbClr val="111834"/>
                    </a:solidFill>
                  </a:tcPr>
                </a:tc>
                <a:tc>
                  <a:txBody>
                    <a:bodyPr/>
                    <a:lstStyle/>
                    <a:p>
                      <a:r>
                        <a:rPr sz="1400" b="0">
                          <a:solidFill>
                            <a:srgbClr val="E8EEFA"/>
                          </a:solidFill>
                          <a:latin typeface="Segoe UI"/>
                        </a:rPr>
                        <a:t>58%</a:t>
                      </a:r>
                    </a:p>
                  </a:txBody>
                  <a:tcPr>
                    <a:solidFill>
                      <a:srgbClr val="111834"/>
                    </a:solidFill>
                  </a:tcPr>
                </a:tc>
              </a:tr>
              <a:tr h="520000">
                <a:tc>
                  <a:txBody>
                    <a:bodyPr/>
                    <a:lstStyle/>
                    <a:p>
                      <a:r>
                        <a:rPr sz="1400" b="0">
                          <a:solidFill>
                            <a:srgbClr val="E8EEFA"/>
                          </a:solidFill>
                          <a:latin typeface="Segoe UI"/>
                        </a:rPr>
                        <a:t>PGD-10, eps=2/255</a:t>
                      </a:r>
                    </a:p>
                  </a:txBody>
                  <a:tcPr>
                    <a:solidFill>
                      <a:srgbClr val="161F40"/>
                    </a:solidFill>
                  </a:tcPr>
                </a:tc>
                <a:tc>
                  <a:txBody>
                    <a:bodyPr/>
                    <a:lstStyle/>
                    <a:p>
                      <a:r>
                        <a:rPr sz="1400" b="0">
                          <a:solidFill>
                            <a:srgbClr val="E8EEFA"/>
                          </a:solidFill>
                          <a:latin typeface="Segoe UI"/>
                        </a:rPr>
                        <a:t>35%</a:t>
                      </a:r>
                    </a:p>
                  </a:txBody>
                  <a:tcPr>
                    <a:solidFill>
                      <a:srgbClr val="161F40"/>
                    </a:solidFill>
                  </a:tcPr>
                </a:tc>
                <a:tc>
                  <a:txBody>
                    <a:bodyPr/>
                    <a:lstStyle/>
                    <a:p>
                      <a:r>
                        <a:rPr sz="1400" b="0">
                          <a:solidFill>
                            <a:srgbClr val="E8EEFA"/>
                          </a:solidFill>
                          <a:latin typeface="Segoe UI"/>
                        </a:rPr>
                        <a:t>75%</a:t>
                      </a:r>
                    </a:p>
                  </a:txBody>
                  <a:tcPr>
                    <a:solidFill>
                      <a:srgbClr val="161F40"/>
                    </a:solidFill>
                  </a:tcPr>
                </a:tc>
              </a:tr>
              <a:tr h="520000">
                <a:tc>
                  <a:txBody>
                    <a:bodyPr/>
                    <a:lstStyle/>
                    <a:p>
                      <a:r>
                        <a:rPr sz="1400" b="0">
                          <a:solidFill>
                            <a:srgbClr val="E8EEFA"/>
                          </a:solidFill>
                          <a:latin typeface="Segoe UI"/>
                        </a:rPr>
                        <a:t>PGD-10, eps=8/255</a:t>
                      </a:r>
                    </a:p>
                  </a:txBody>
                  <a:tcPr>
                    <a:solidFill>
                      <a:srgbClr val="111834"/>
                    </a:solidFill>
                  </a:tcPr>
                </a:tc>
                <a:tc>
                  <a:txBody>
                    <a:bodyPr/>
                    <a:lstStyle/>
                    <a:p>
                      <a:r>
                        <a:rPr sz="1400" b="0">
                          <a:solidFill>
                            <a:srgbClr val="E8EEFA"/>
                          </a:solidFill>
                          <a:latin typeface="Segoe UI"/>
                        </a:rPr>
                        <a:t>1%</a:t>
                      </a:r>
                    </a:p>
                  </a:txBody>
                  <a:tcPr>
                    <a:solidFill>
                      <a:srgbClr val="111834"/>
                    </a:solidFill>
                  </a:tcPr>
                </a:tc>
                <a:tc>
                  <a:txBody>
                    <a:bodyPr/>
                    <a:lstStyle/>
                    <a:p>
                      <a:r>
                        <a:rPr sz="1400" b="0">
                          <a:solidFill>
                            <a:srgbClr val="E8EEFA"/>
                          </a:solidFill>
                          <a:latin typeface="Segoe UI"/>
                        </a:rPr>
                        <a:t>47%</a:t>
                      </a:r>
                    </a:p>
                  </a:txBody>
                  <a:tcPr>
                    <a:solidFill>
                      <a:srgbClr val="111834"/>
                    </a:solidFill>
                  </a:tcPr>
                </a:tc>
              </a:tr>
              <a:tr h="520000">
                <a:tc>
                  <a:txBody>
                    <a:bodyPr/>
                    <a:lstStyle/>
                    <a:p>
                      <a:r>
                        <a:rPr sz="1400" b="0">
                          <a:solidFill>
                            <a:srgbClr val="E8EEFA"/>
                          </a:solidFill>
                          <a:latin typeface="Segoe UI"/>
                        </a:rPr>
                        <a:t>PGD-10, eps=16/255</a:t>
                      </a:r>
                    </a:p>
                  </a:txBody>
                  <a:tcPr>
                    <a:solidFill>
                      <a:srgbClr val="161F40"/>
                    </a:solidFill>
                  </a:tcPr>
                </a:tc>
                <a:tc>
                  <a:txBody>
                    <a:bodyPr/>
                    <a:lstStyle/>
                    <a:p>
                      <a:r>
                        <a:rPr sz="1400" b="0">
                          <a:solidFill>
                            <a:srgbClr val="E8EEFA"/>
                          </a:solidFill>
                          <a:latin typeface="Segoe UI"/>
                        </a:rPr>
                        <a:t>0%</a:t>
                      </a:r>
                    </a:p>
                  </a:txBody>
                  <a:tcPr>
                    <a:solidFill>
                      <a:srgbClr val="161F40"/>
                    </a:solidFill>
                  </a:tcPr>
                </a:tc>
                <a:tc>
                  <a:txBody>
                    <a:bodyPr/>
                    <a:lstStyle/>
                    <a:p>
                      <a:r>
                        <a:rPr sz="1400" b="0">
                          <a:solidFill>
                            <a:srgbClr val="E8EEFA"/>
                          </a:solidFill>
                          <a:latin typeface="Segoe UI"/>
                        </a:rPr>
                        <a:t>18%</a:t>
                      </a:r>
                    </a:p>
                  </a:txBody>
                  <a:tcPr>
                    <a:solidFill>
                      <a:srgbClr val="161F40"/>
                    </a:solidFill>
                  </a:tcPr>
                </a:tc>
              </a:tr>
              <a:tr h="520000">
                <a:tc>
                  <a:txBody>
                    <a:bodyPr/>
                    <a:lstStyle/>
                    <a:p>
                      <a:r>
                        <a:rPr sz="1400" b="0">
                          <a:solidFill>
                            <a:srgbClr val="E8EEFA"/>
                          </a:solidFill>
                          <a:latin typeface="Segoe UI"/>
                        </a:rPr>
                        <a:t>O'qitish vaqti (RTX 3090)</a:t>
                      </a:r>
                    </a:p>
                  </a:txBody>
                  <a:tcPr>
                    <a:solidFill>
                      <a:srgbClr val="111834"/>
                    </a:solidFill>
                  </a:tcPr>
                </a:tc>
                <a:tc>
                  <a:txBody>
                    <a:bodyPr/>
                    <a:lstStyle/>
                    <a:p>
                      <a:r>
                        <a:rPr sz="1400" b="0">
                          <a:solidFill>
                            <a:srgbClr val="E8EEFA"/>
                          </a:solidFill>
                          <a:latin typeface="Segoe UI"/>
                        </a:rPr>
                        <a:t>6 daq</a:t>
                      </a:r>
                    </a:p>
                  </a:txBody>
                  <a:tcPr>
                    <a:solidFill>
                      <a:srgbClr val="111834"/>
                    </a:solidFill>
                  </a:tcPr>
                </a:tc>
                <a:tc>
                  <a:txBody>
                    <a:bodyPr/>
                    <a:lstStyle/>
                    <a:p>
                      <a:r>
                        <a:rPr sz="1400" b="0">
                          <a:solidFill>
                            <a:srgbClr val="E8EEFA"/>
                          </a:solidFill>
                          <a:latin typeface="Segoe UI"/>
                        </a:rPr>
                        <a:t>50 daq</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Kutilgan natijalar jadvali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49</a:t>
            </a:r>
          </a:p>
        </p:txBody>
      </p:sp>
      <p:graphicFrame>
        <p:nvGraphicFramePr>
          <p:cNvPr id="25" name="Table 24"/>
          <p:cNvGraphicFramePr>
            <a:graphicFrameLocks noGrp="1"/>
          </p:cNvGraphicFramePr>
          <p:nvPr/>
        </p:nvGraphicFramePr>
        <p:xfrm>
          <a:off x="550000" y="1400000"/>
          <a:ext cx="11100000" cy="312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400" b="1">
                          <a:solidFill>
                            <a:srgbClr val="22D3EE"/>
                          </a:solidFill>
                          <a:latin typeface="Segoe UI"/>
                        </a:rPr>
                        <a:t>Adult, ko'rsatkich</a:t>
                      </a:r>
                    </a:p>
                  </a:txBody>
                  <a:tcPr>
                    <a:solidFill>
                      <a:srgbClr val="1C2755"/>
                    </a:solidFill>
                  </a:tcPr>
                </a:tc>
                <a:tc>
                  <a:txBody>
                    <a:bodyPr/>
                    <a:lstStyle/>
                    <a:p>
                      <a:r>
                        <a:rPr sz="1400" b="1">
                          <a:solidFill>
                            <a:srgbClr val="22D3EE"/>
                          </a:solidFill>
                          <a:latin typeface="Segoe UI"/>
                        </a:rPr>
                        <a:t>Baseline GBM</a:t>
                      </a:r>
                    </a:p>
                  </a:txBody>
                  <a:tcPr>
                    <a:solidFill>
                      <a:srgbClr val="1C2755"/>
                    </a:solidFill>
                  </a:tcPr>
                </a:tc>
                <a:tc>
                  <a:txBody>
                    <a:bodyPr/>
                    <a:lstStyle/>
                    <a:p>
                      <a:r>
                        <a:rPr sz="1400" b="1">
                          <a:solidFill>
                            <a:srgbClr val="22D3EE"/>
                          </a:solidFill>
                          <a:latin typeface="Segoe UI"/>
                        </a:rPr>
                        <a:t>ThresholdOptimizer</a:t>
                      </a:r>
                    </a:p>
                  </a:txBody>
                  <a:tcPr>
                    <a:solidFill>
                      <a:srgbClr val="1C2755"/>
                    </a:solidFill>
                  </a:tcPr>
                </a:tc>
                <a:tc>
                  <a:txBody>
                    <a:bodyPr/>
                    <a:lstStyle/>
                    <a:p>
                      <a:r>
                        <a:rPr sz="1400" b="1">
                          <a:solidFill>
                            <a:srgbClr val="22D3EE"/>
                          </a:solidFill>
                          <a:latin typeface="Segoe UI"/>
                        </a:rPr>
                        <a:t>ExponentiatedGradient</a:t>
                      </a:r>
                    </a:p>
                  </a:txBody>
                  <a:tcPr>
                    <a:solidFill>
                      <a:srgbClr val="1C2755"/>
                    </a:solidFill>
                  </a:tcPr>
                </a:tc>
              </a:tr>
              <a:tr h="520000">
                <a:tc>
                  <a:txBody>
                    <a:bodyPr/>
                    <a:lstStyle/>
                    <a:p>
                      <a:r>
                        <a:rPr sz="1400" b="0">
                          <a:solidFill>
                            <a:srgbClr val="E8EEFA"/>
                          </a:solidFill>
                          <a:latin typeface="Segoe UI"/>
                        </a:rPr>
                        <a:t>Aniqlik</a:t>
                      </a:r>
                    </a:p>
                  </a:txBody>
                  <a:tcPr>
                    <a:solidFill>
                      <a:srgbClr val="111834"/>
                    </a:solidFill>
                  </a:tcPr>
                </a:tc>
                <a:tc>
                  <a:txBody>
                    <a:bodyPr/>
                    <a:lstStyle/>
                    <a:p>
                      <a:r>
                        <a:rPr sz="1400" b="0">
                          <a:solidFill>
                            <a:srgbClr val="E8EEFA"/>
                          </a:solidFill>
                          <a:latin typeface="Segoe UI"/>
                        </a:rPr>
                        <a:t>0.868</a:t>
                      </a:r>
                    </a:p>
                  </a:txBody>
                  <a:tcPr>
                    <a:solidFill>
                      <a:srgbClr val="111834"/>
                    </a:solidFill>
                  </a:tcPr>
                </a:tc>
                <a:tc>
                  <a:txBody>
                    <a:bodyPr/>
                    <a:lstStyle/>
                    <a:p>
                      <a:r>
                        <a:rPr sz="1400" b="0">
                          <a:solidFill>
                            <a:srgbClr val="E8EEFA"/>
                          </a:solidFill>
                          <a:latin typeface="Segoe UI"/>
                        </a:rPr>
                        <a:t>0.858</a:t>
                      </a:r>
                    </a:p>
                  </a:txBody>
                  <a:tcPr>
                    <a:solidFill>
                      <a:srgbClr val="111834"/>
                    </a:solidFill>
                  </a:tcPr>
                </a:tc>
                <a:tc>
                  <a:txBody>
                    <a:bodyPr/>
                    <a:lstStyle/>
                    <a:p>
                      <a:r>
                        <a:rPr sz="1400" b="0">
                          <a:solidFill>
                            <a:srgbClr val="E8EEFA"/>
                          </a:solidFill>
                          <a:latin typeface="Segoe UI"/>
                        </a:rPr>
                        <a:t>0.852</a:t>
                      </a:r>
                    </a:p>
                  </a:txBody>
                  <a:tcPr>
                    <a:solidFill>
                      <a:srgbClr val="111834"/>
                    </a:solidFill>
                  </a:tcPr>
                </a:tc>
              </a:tr>
              <a:tr h="520000">
                <a:tc>
                  <a:txBody>
                    <a:bodyPr/>
                    <a:lstStyle/>
                    <a:p>
                      <a:r>
                        <a:rPr sz="1400" b="0">
                          <a:solidFill>
                            <a:srgbClr val="E8EEFA"/>
                          </a:solidFill>
                          <a:latin typeface="Segoe UI"/>
                        </a:rPr>
                        <a:t>Selection rate (erkak / ayol)</a:t>
                      </a:r>
                    </a:p>
                  </a:txBody>
                  <a:tcPr>
                    <a:solidFill>
                      <a:srgbClr val="161F40"/>
                    </a:solidFill>
                  </a:tcPr>
                </a:tc>
                <a:tc>
                  <a:txBody>
                    <a:bodyPr/>
                    <a:lstStyle/>
                    <a:p>
                      <a:r>
                        <a:rPr sz="1400" b="0">
                          <a:solidFill>
                            <a:srgbClr val="E8EEFA"/>
                          </a:solidFill>
                          <a:latin typeface="Segoe UI"/>
                        </a:rPr>
                        <a:t>0.25 / 0.07</a:t>
                      </a:r>
                    </a:p>
                  </a:txBody>
                  <a:tcPr>
                    <a:solidFill>
                      <a:srgbClr val="161F40"/>
                    </a:solidFill>
                  </a:tcPr>
                </a:tc>
                <a:tc>
                  <a:txBody>
                    <a:bodyPr/>
                    <a:lstStyle/>
                    <a:p>
                      <a:r>
                        <a:rPr sz="1400" b="0">
                          <a:solidFill>
                            <a:srgbClr val="E8EEFA"/>
                          </a:solidFill>
                          <a:latin typeface="Segoe UI"/>
                        </a:rPr>
                        <a:t>0.21 / 0.10</a:t>
                      </a:r>
                    </a:p>
                  </a:txBody>
                  <a:tcPr>
                    <a:solidFill>
                      <a:srgbClr val="161F40"/>
                    </a:solidFill>
                  </a:tcPr>
                </a:tc>
                <a:tc>
                  <a:txBody>
                    <a:bodyPr/>
                    <a:lstStyle/>
                    <a:p>
                      <a:r>
                        <a:rPr sz="1400" b="0">
                          <a:solidFill>
                            <a:srgbClr val="E8EEFA"/>
                          </a:solidFill>
                          <a:latin typeface="Segoe UI"/>
                        </a:rPr>
                        <a:t>0.20 / 0.11</a:t>
                      </a:r>
                    </a:p>
                  </a:txBody>
                  <a:tcPr>
                    <a:solidFill>
                      <a:srgbClr val="161F40"/>
                    </a:solidFill>
                  </a:tcPr>
                </a:tc>
              </a:tr>
              <a:tr h="520000">
                <a:tc>
                  <a:txBody>
                    <a:bodyPr/>
                    <a:lstStyle/>
                    <a:p>
                      <a:r>
                        <a:rPr sz="1400" b="0">
                          <a:solidFill>
                            <a:srgbClr val="E8EEFA"/>
                          </a:solidFill>
                          <a:latin typeface="Segoe UI"/>
                        </a:rPr>
                        <a:t>TPR (erkak / ayol)</a:t>
                      </a:r>
                    </a:p>
                  </a:txBody>
                  <a:tcPr>
                    <a:solidFill>
                      <a:srgbClr val="111834"/>
                    </a:solidFill>
                  </a:tcPr>
                </a:tc>
                <a:tc>
                  <a:txBody>
                    <a:bodyPr/>
                    <a:lstStyle/>
                    <a:p>
                      <a:r>
                        <a:rPr sz="1400" b="0">
                          <a:solidFill>
                            <a:srgbClr val="E8EEFA"/>
                          </a:solidFill>
                          <a:latin typeface="Segoe UI"/>
                        </a:rPr>
                        <a:t>0.66 / 0.55</a:t>
                      </a:r>
                    </a:p>
                  </a:txBody>
                  <a:tcPr>
                    <a:solidFill>
                      <a:srgbClr val="111834"/>
                    </a:solidFill>
                  </a:tcPr>
                </a:tc>
                <a:tc>
                  <a:txBody>
                    <a:bodyPr/>
                    <a:lstStyle/>
                    <a:p>
                      <a:r>
                        <a:rPr sz="1400" b="0">
                          <a:solidFill>
                            <a:srgbClr val="E8EEFA"/>
                          </a:solidFill>
                          <a:latin typeface="Segoe UI"/>
                        </a:rPr>
                        <a:t>0.62 / 0.61</a:t>
                      </a:r>
                    </a:p>
                  </a:txBody>
                  <a:tcPr>
                    <a:solidFill>
                      <a:srgbClr val="111834"/>
                    </a:solidFill>
                  </a:tcPr>
                </a:tc>
                <a:tc>
                  <a:txBody>
                    <a:bodyPr/>
                    <a:lstStyle/>
                    <a:p>
                      <a:r>
                        <a:rPr sz="1400" b="0">
                          <a:solidFill>
                            <a:srgbClr val="E8EEFA"/>
                          </a:solidFill>
                          <a:latin typeface="Segoe UI"/>
                        </a:rPr>
                        <a:t>0.61 / 0.60</a:t>
                      </a:r>
                    </a:p>
                  </a:txBody>
                  <a:tcPr>
                    <a:solidFill>
                      <a:srgbClr val="111834"/>
                    </a:solidFill>
                  </a:tcPr>
                </a:tc>
              </a:tr>
              <a:tr h="520000">
                <a:tc>
                  <a:txBody>
                    <a:bodyPr/>
                    <a:lstStyle/>
                    <a:p>
                      <a:r>
                        <a:rPr sz="1400" b="0">
                          <a:solidFill>
                            <a:srgbClr val="E8EEFA"/>
                          </a:solidFill>
                          <a:latin typeface="Segoe UI"/>
                        </a:rPr>
                        <a:t>DP difference</a:t>
                      </a:r>
                    </a:p>
                  </a:txBody>
                  <a:tcPr>
                    <a:solidFill>
                      <a:srgbClr val="161F40"/>
                    </a:solidFill>
                  </a:tcPr>
                </a:tc>
                <a:tc>
                  <a:txBody>
                    <a:bodyPr/>
                    <a:lstStyle/>
                    <a:p>
                      <a:r>
                        <a:rPr sz="1400" b="0">
                          <a:solidFill>
                            <a:srgbClr val="E8EEFA"/>
                          </a:solidFill>
                          <a:latin typeface="Segoe UI"/>
                        </a:rPr>
                        <a:t>0.18</a:t>
                      </a:r>
                    </a:p>
                  </a:txBody>
                  <a:tcPr>
                    <a:solidFill>
                      <a:srgbClr val="161F40"/>
                    </a:solidFill>
                  </a:tcPr>
                </a:tc>
                <a:tc>
                  <a:txBody>
                    <a:bodyPr/>
                    <a:lstStyle/>
                    <a:p>
                      <a:r>
                        <a:rPr sz="1400" b="0">
                          <a:solidFill>
                            <a:srgbClr val="E8EEFA"/>
                          </a:solidFill>
                          <a:latin typeface="Segoe UI"/>
                        </a:rPr>
                        <a:t>0.11</a:t>
                      </a:r>
                    </a:p>
                  </a:txBody>
                  <a:tcPr>
                    <a:solidFill>
                      <a:srgbClr val="161F40"/>
                    </a:solidFill>
                  </a:tcPr>
                </a:tc>
                <a:tc>
                  <a:txBody>
                    <a:bodyPr/>
                    <a:lstStyle/>
                    <a:p>
                      <a:r>
                        <a:rPr sz="1400" b="0">
                          <a:solidFill>
                            <a:srgbClr val="E8EEFA"/>
                          </a:solidFill>
                          <a:latin typeface="Segoe UI"/>
                        </a:rPr>
                        <a:t>0.09</a:t>
                      </a:r>
                    </a:p>
                  </a:txBody>
                  <a:tcPr>
                    <a:solidFill>
                      <a:srgbClr val="161F40"/>
                    </a:solidFill>
                  </a:tcPr>
                </a:tc>
              </a:tr>
              <a:tr h="520000">
                <a:tc>
                  <a:txBody>
                    <a:bodyPr/>
                    <a:lstStyle/>
                    <a:p>
                      <a:r>
                        <a:rPr sz="1400" b="0">
                          <a:solidFill>
                            <a:srgbClr val="E8EEFA"/>
                          </a:solidFill>
                          <a:latin typeface="Segoe UI"/>
                        </a:rPr>
                        <a:t>EO difference</a:t>
                      </a:r>
                    </a:p>
                  </a:txBody>
                  <a:tcPr>
                    <a:solidFill>
                      <a:srgbClr val="111834"/>
                    </a:solidFill>
                  </a:tcPr>
                </a:tc>
                <a:tc>
                  <a:txBody>
                    <a:bodyPr/>
                    <a:lstStyle/>
                    <a:p>
                      <a:r>
                        <a:rPr sz="1400" b="0">
                          <a:solidFill>
                            <a:srgbClr val="E8EEFA"/>
                          </a:solidFill>
                          <a:latin typeface="Segoe UI"/>
                        </a:rPr>
                        <a:t>0.11</a:t>
                      </a:r>
                    </a:p>
                  </a:txBody>
                  <a:tcPr>
                    <a:solidFill>
                      <a:srgbClr val="111834"/>
                    </a:solidFill>
                  </a:tcPr>
                </a:tc>
                <a:tc>
                  <a:txBody>
                    <a:bodyPr/>
                    <a:lstStyle/>
                    <a:p>
                      <a:r>
                        <a:rPr sz="1400" b="0">
                          <a:solidFill>
                            <a:srgbClr val="E8EEFA"/>
                          </a:solidFill>
                          <a:latin typeface="Segoe UI"/>
                        </a:rPr>
                        <a:t>0.02</a:t>
                      </a:r>
                    </a:p>
                  </a:txBody>
                  <a:tcPr>
                    <a:solidFill>
                      <a:srgbClr val="111834"/>
                    </a:solidFill>
                  </a:tcPr>
                </a:tc>
                <a:tc>
                  <a:txBody>
                    <a:bodyPr/>
                    <a:lstStyle/>
                    <a:p>
                      <a:r>
                        <a:rPr sz="1400" b="0">
                          <a:solidFill>
                            <a:srgbClr val="E8EEFA"/>
                          </a:solidFill>
                          <a:latin typeface="Segoe UI"/>
                        </a:rPr>
                        <a:t>0.02</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50</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77992"/>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57992"/>
            <a:ext cx="50000" cy="9746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34532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017992"/>
            <a:ext cx="5900000" cy="1054672"/>
          </a:xfrm>
          <a:prstGeom prst="rect">
            <a:avLst/>
          </a:prstGeom>
          <a:noFill/>
        </p:spPr>
        <p:txBody>
          <a:bodyPr wrap="square" anchor="ctr">
            <a:spAutoFit/>
          </a:bodyPr>
          <a:lstStyle/>
          <a:p>
            <a:r>
              <a:rPr sz="1700" b="1">
                <a:solidFill>
                  <a:srgbClr val="E8EEFA"/>
                </a:solidFill>
                <a:latin typeface="Segoe UI"/>
              </a:rPr>
              <a:t>Tahdid modeli.</a:t>
            </a:r>
          </a:p>
          <a:p>
            <a:pPr>
              <a:spcBef>
                <a:spcPts val="400"/>
              </a:spcBef>
            </a:pPr>
            <a:r>
              <a:rPr sz="1600">
                <a:solidFill>
                  <a:srgbClr val="AEBBD9"/>
                </a:solidFill>
                <a:latin typeface="Segoe UI"/>
              </a:rPr>
              <a:t>Hujumchi bilimi, buzilish normasi va epsilon, himoya chorasi (yarim sahifa).</a:t>
            </a:r>
          </a:p>
        </p:txBody>
      </p:sp>
      <p:sp>
        <p:nvSpPr>
          <p:cNvPr id="32" name="Rounded Rectangle 31"/>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302664"/>
            <a:ext cx="50000" cy="9746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262664"/>
            <a:ext cx="5900000" cy="1054672"/>
          </a:xfrm>
          <a:prstGeom prst="rect">
            <a:avLst/>
          </a:prstGeom>
          <a:noFill/>
        </p:spPr>
        <p:txBody>
          <a:bodyPr wrap="square" anchor="ctr">
            <a:spAutoFit/>
          </a:bodyPr>
          <a:lstStyle/>
          <a:p>
            <a:r>
              <a:rPr sz="1700" b="1">
                <a:solidFill>
                  <a:srgbClr val="E8EEFA"/>
                </a:solidFill>
                <a:latin typeface="Segoe UI"/>
              </a:rPr>
              <a:t>Mustahkamlik egri chizig'i.</a:t>
            </a:r>
          </a:p>
          <a:p>
            <a:pPr>
              <a:spcBef>
                <a:spcPts val="400"/>
              </a:spcBef>
            </a:pPr>
            <a:r>
              <a:rPr sz="1600">
                <a:solidFill>
                  <a:srgbClr val="AEBBD9"/>
                </a:solidFill>
                <a:latin typeface="Segoe UI"/>
              </a:rPr>
              <a:t>Epsilon ga bog'liq aniqlik grafigi (FGSM va PGD, toza va adversarial model — 4 chiziq) + jadval.</a:t>
            </a:r>
          </a:p>
        </p:txBody>
      </p:sp>
      <p:sp>
        <p:nvSpPr>
          <p:cNvPr id="36" name="Rounded Rectangle 35"/>
          <p:cNvSpPr/>
          <p:nvPr/>
        </p:nvSpPr>
        <p:spPr>
          <a:xfrm>
            <a:off x="550000" y="4467336"/>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0000" y="4547336"/>
            <a:ext cx="50000" cy="9746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0000" y="48346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9" name="TextBox 38"/>
          <p:cNvSpPr txBox="1"/>
          <p:nvPr/>
        </p:nvSpPr>
        <p:spPr>
          <a:xfrm>
            <a:off x="1300000" y="4507336"/>
            <a:ext cx="5900000" cy="1054672"/>
          </a:xfrm>
          <a:prstGeom prst="rect">
            <a:avLst/>
          </a:prstGeom>
          <a:noFill/>
        </p:spPr>
        <p:txBody>
          <a:bodyPr wrap="square" anchor="ctr">
            <a:spAutoFit/>
          </a:bodyPr>
          <a:lstStyle/>
          <a:p>
            <a:r>
              <a:rPr sz="1600" b="0">
                <a:solidFill>
                  <a:srgbClr val="E8EEFA"/>
                </a:solidFill>
                <a:latin typeface="Segoe UI"/>
              </a:rPr>
              <a:t>Grad-CAM paneli (kamida 8 namuna, toza va adversarial) va kuzatuvlar tahlili.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550"/>
                                        <p:tgtEl>
                                          <p:spTgt spid="36"/>
                                        </p:tgtEl>
                                      </p:cBhvr>
                                    </p:animEffect>
                                    <p:anim calcmode="lin" valueType="num">
                                      <p:cBhvr additive="base">
                                        <p:cTn id="84" dur="550" fill="hold"/>
                                        <p:tgtEl>
                                          <p:spTgt spid="36"/>
                                        </p:tgtEl>
                                        <p:attrNameLst>
                                          <p:attrName>ppt_x</p:attrName>
                                        </p:attrNameLst>
                                      </p:cBhvr>
                                      <p:tavLst>
                                        <p:tav tm="0">
                                          <p:val>
                                            <p:strVal val="#ppt_x"/>
                                          </p:val>
                                        </p:tav>
                                        <p:tav tm="100000">
                                          <p:val>
                                            <p:strVal val="#ppt_x"/>
                                          </p:val>
                                        </p:tav>
                                      </p:tavLst>
                                    </p:anim>
                                    <p:anim calcmode="lin" valueType="num">
                                      <p:cBhvr additive="base">
                                        <p:cTn id="85" dur="550" fill="hold"/>
                                        <p:tgtEl>
                                          <p:spTgt spid="36"/>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7"/>
                                        </p:tgtEl>
                                        <p:attrNameLst>
                                          <p:attrName>style.visibility</p:attrName>
                                        </p:attrNameLst>
                                      </p:cBhvr>
                                      <p:to>
                                        <p:strVal val="visible"/>
                                      </p:to>
                                    </p:set>
                                    <p:animEffect transition="in" filter="fade">
                                      <p:cBhvr>
                                        <p:cTn id="89" dur="550"/>
                                        <p:tgtEl>
                                          <p:spTgt spid="37"/>
                                        </p:tgtEl>
                                      </p:cBhvr>
                                    </p:animEffect>
                                    <p:anim calcmode="lin" valueType="num">
                                      <p:cBhvr additive="base">
                                        <p:cTn id="90" dur="550" fill="hold"/>
                                        <p:tgtEl>
                                          <p:spTgt spid="37"/>
                                        </p:tgtEl>
                                        <p:attrNameLst>
                                          <p:attrName>ppt_x</p:attrName>
                                        </p:attrNameLst>
                                      </p:cBhvr>
                                      <p:tavLst>
                                        <p:tav tm="0">
                                          <p:val>
                                            <p:strVal val="#ppt_x"/>
                                          </p:val>
                                        </p:tav>
                                        <p:tav tm="100000">
                                          <p:val>
                                            <p:strVal val="#ppt_x"/>
                                          </p:val>
                                        </p:tav>
                                      </p:tavLst>
                                    </p:anim>
                                    <p:anim calcmode="lin" valueType="num">
                                      <p:cBhvr additive="base">
                                        <p:cTn id="91" dur="550" fill="hold"/>
                                        <p:tgtEl>
                                          <p:spTgt spid="37"/>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50"/>
                                        <p:tgtEl>
                                          <p:spTgt spid="38"/>
                                        </p:tgtEl>
                                      </p:cBhvr>
                                    </p:animEffect>
                                    <p:anim calcmode="lin" valueType="num">
                                      <p:cBhvr additive="base">
                                        <p:cTn id="96" dur="550" fill="hold"/>
                                        <p:tgtEl>
                                          <p:spTgt spid="38"/>
                                        </p:tgtEl>
                                        <p:attrNameLst>
                                          <p:attrName>ppt_w</p:attrName>
                                        </p:attrNameLst>
                                      </p:cBhvr>
                                      <p:tavLst>
                                        <p:tav tm="0">
                                          <p:val>
                                            <p:strVal val="0"/>
                                          </p:val>
                                        </p:tav>
                                        <p:tav tm="100000">
                                          <p:val>
                                            <p:strVal val="#ppt_w"/>
                                          </p:val>
                                        </p:tav>
                                      </p:tavLst>
                                    </p:anim>
                                    <p:anim calcmode="lin" valueType="num">
                                      <p:cBhvr additive="base">
                                        <p:cTn id="97" dur="550" fill="hold"/>
                                        <p:tgtEl>
                                          <p:spTgt spid="38"/>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fade">
                                      <p:cBhvr>
                                        <p:cTn id="101" dur="550"/>
                                        <p:tgtEl>
                                          <p:spTgt spid="39"/>
                                        </p:tgtEl>
                                      </p:cBhvr>
                                    </p:animEffect>
                                    <p:anim calcmode="lin" valueType="num">
                                      <p:cBhvr additive="base">
                                        <p:cTn id="102" dur="550" fill="hold"/>
                                        <p:tgtEl>
                                          <p:spTgt spid="39"/>
                                        </p:tgtEl>
                                        <p:attrNameLst>
                                          <p:attrName>ppt_x</p:attrName>
                                        </p:attrNameLst>
                                      </p:cBhvr>
                                      <p:tavLst>
                                        <p:tav tm="0">
                                          <p:val>
                                            <p:strVal val="#ppt_x"/>
                                          </p:val>
                                        </p:tav>
                                        <p:tav tm="100000">
                                          <p:val>
                                            <p:strVal val="#ppt_x"/>
                                          </p:val>
                                        </p:tav>
                                      </p:tavLst>
                                    </p:anim>
                                    <p:anim calcmode="lin" valueType="num">
                                      <p:cBhvr additive="base">
                                        <p:cTn id="103" dur="550" fill="hold"/>
                                        <p:tgtEl>
                                          <p:spTgt spid="3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Hisobot shakli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977992"/>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057992"/>
            <a:ext cx="50000" cy="9746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3453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2017992"/>
            <a:ext cx="5900000" cy="1054672"/>
          </a:xfrm>
          <a:prstGeom prst="rect">
            <a:avLst/>
          </a:prstGeom>
          <a:noFill/>
        </p:spPr>
        <p:txBody>
          <a:bodyPr wrap="square" anchor="ctr">
            <a:spAutoFit/>
          </a:bodyPr>
          <a:lstStyle/>
          <a:p>
            <a:r>
              <a:rPr sz="1600" b="0">
                <a:solidFill>
                  <a:srgbClr val="E8EEFA"/>
                </a:solidFill>
                <a:latin typeface="Segoe UI"/>
              </a:rPr>
              <a:t>Adolatlilik jadvali (uchta model), SHAP beeswarm grafigi, vakil belgilar tahlili, tanlangan mezon asosi.</a:t>
            </a:r>
          </a:p>
        </p:txBody>
      </p:sp>
      <p:sp>
        <p:nvSpPr>
          <p:cNvPr id="31" name="Rounded Rectangle 30"/>
          <p:cNvSpPr/>
          <p:nvPr/>
        </p:nvSpPr>
        <p:spPr>
          <a:xfrm>
            <a:off x="550000" y="3222664"/>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302664"/>
            <a:ext cx="50000" cy="9746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262664"/>
            <a:ext cx="5900000" cy="1054672"/>
          </a:xfrm>
          <a:prstGeom prst="rect">
            <a:avLst/>
          </a:prstGeom>
          <a:noFill/>
        </p:spPr>
        <p:txBody>
          <a:bodyPr wrap="square" anchor="ctr">
            <a:spAutoFit/>
          </a:bodyPr>
          <a:lstStyle/>
          <a:p>
            <a:r>
              <a:rPr sz="1600" b="0">
                <a:solidFill>
                  <a:srgbClr val="E8EEFA"/>
                </a:solidFill>
                <a:latin typeface="Segoe UI"/>
              </a:rPr>
              <a:t>To'ldirilgan 20 bandli tekshiruv ro'yxati dalillar bilan.</a:t>
            </a:r>
          </a:p>
        </p:txBody>
      </p:sp>
      <p:sp>
        <p:nvSpPr>
          <p:cNvPr id="35" name="Rounded Rectangle 34"/>
          <p:cNvSpPr/>
          <p:nvPr/>
        </p:nvSpPr>
        <p:spPr>
          <a:xfrm>
            <a:off x="550000" y="4467336"/>
            <a:ext cx="6750000" cy="11346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547336"/>
            <a:ext cx="50000" cy="974672"/>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834672"/>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8" name="TextBox 37"/>
          <p:cNvSpPr txBox="1"/>
          <p:nvPr/>
        </p:nvSpPr>
        <p:spPr>
          <a:xfrm>
            <a:off x="1300000" y="4507336"/>
            <a:ext cx="5900000" cy="1054672"/>
          </a:xfrm>
          <a:prstGeom prst="rect">
            <a:avLst/>
          </a:prstGeom>
          <a:noFill/>
        </p:spPr>
        <p:txBody>
          <a:bodyPr wrap="square" anchor="ctr">
            <a:spAutoFit/>
          </a:bodyPr>
          <a:lstStyle/>
          <a:p>
            <a:r>
              <a:rPr sz="1700" b="1">
                <a:solidFill>
                  <a:srgbClr val="E8EEFA"/>
                </a:solidFill>
                <a:latin typeface="Segoe UI"/>
              </a:rPr>
              <a:t>Xulosa.</a:t>
            </a:r>
          </a:p>
          <a:p>
            <a:pPr>
              <a:spcBef>
                <a:spcPts val="400"/>
              </a:spcBef>
            </a:pPr>
            <a:r>
              <a:rPr sz="1600">
                <a:solidFill>
                  <a:srgbClr val="AEBBD9"/>
                </a:solidFill>
                <a:latin typeface="Segoe UI"/>
              </a:rPr>
              <a:t>Tizim qaysi sharoitda ishlatilishi mumkin va qaysi sharoitda mumkin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AMALIY MISOL</a:t>
            </a:r>
          </a:p>
        </p:txBody>
      </p:sp>
      <p:sp>
        <p:nvSpPr>
          <p:cNvPr id="17" name="TextBox 16"/>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Baholash mezoni (jami 100 ball)</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52</a:t>
            </a:r>
          </a:p>
        </p:txBody>
      </p:sp>
      <p:graphicFrame>
        <p:nvGraphicFramePr>
          <p:cNvPr id="21" name="Table 20"/>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5550000"/>
                <a:gridCol w="555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Ball</a:t>
                      </a:r>
                    </a:p>
                  </a:txBody>
                  <a:tcPr>
                    <a:solidFill>
                      <a:srgbClr val="1C2755"/>
                    </a:solidFill>
                  </a:tcPr>
                </a:tc>
              </a:tr>
              <a:tr h="520000">
                <a:tc>
                  <a:txBody>
                    <a:bodyPr/>
                    <a:lstStyle/>
                    <a:p>
                      <a:r>
                        <a:rPr sz="1200" b="0">
                          <a:solidFill>
                            <a:srgbClr val="E8EEFA"/>
                          </a:solidFill>
                          <a:latin typeface="Segoe UI"/>
                        </a:rPr>
                        <a:t>FGSM/PGD qo'lda to'g'ri amalga oshirilgan, torchattacks bilan mos (1% ichida)</a:t>
                      </a:r>
                    </a:p>
                  </a:txBody>
                  <a:tcPr>
                    <a:solidFill>
                      <a:srgbClr val="111834"/>
                    </a:solidFill>
                  </a:tcPr>
                </a:tc>
                <a:tc>
                  <a:txBody>
                    <a:bodyPr/>
                    <a:lstStyle/>
                    <a:p>
                      <a:r>
                        <a:rPr sz="1200" b="0">
                          <a:solidFill>
                            <a:srgbClr val="E8EEFA"/>
                          </a:solidFill>
                          <a:latin typeface="Segoe UI"/>
                        </a:rPr>
                        <a:t>15</a:t>
                      </a:r>
                    </a:p>
                  </a:txBody>
                  <a:tcPr>
                    <a:solidFill>
                      <a:srgbClr val="111834"/>
                    </a:solidFill>
                  </a:tcPr>
                </a:tc>
              </a:tr>
              <a:tr h="520000">
                <a:tc>
                  <a:txBody>
                    <a:bodyPr/>
                    <a:lstStyle/>
                    <a:p>
                      <a:r>
                        <a:rPr sz="1200" b="0">
                          <a:solidFill>
                            <a:srgbClr val="E8EEFA"/>
                          </a:solidFill>
                          <a:latin typeface="Segoe UI"/>
                        </a:rPr>
                        <a:t>Mustahkamlik egri chizig'i to'liq (5 epsilon × 2 hujum × 2 model)</a:t>
                      </a:r>
                    </a:p>
                  </a:txBody>
                  <a:tcPr>
                    <a:solidFill>
                      <a:srgbClr val="161F40"/>
                    </a:solidFill>
                  </a:tcPr>
                </a:tc>
                <a:tc>
                  <a:txBody>
                    <a:bodyPr/>
                    <a:lstStyle/>
                    <a:p>
                      <a:r>
                        <a:rPr sz="1200" b="0">
                          <a:solidFill>
                            <a:srgbClr val="E8EEFA"/>
                          </a:solidFill>
                          <a:latin typeface="Segoe UI"/>
                        </a:rPr>
                        <a:t>10</a:t>
                      </a:r>
                    </a:p>
                  </a:txBody>
                  <a:tcPr>
                    <a:solidFill>
                      <a:srgbClr val="161F40"/>
                    </a:solidFill>
                  </a:tcPr>
                </a:tc>
              </a:tr>
              <a:tr h="520000">
                <a:tc>
                  <a:txBody>
                    <a:bodyPr/>
                    <a:lstStyle/>
                    <a:p>
                      <a:r>
                        <a:rPr sz="1200" b="0">
                          <a:solidFill>
                            <a:srgbClr val="E8EEFA"/>
                          </a:solidFill>
                          <a:latin typeface="Segoe UI"/>
                        </a:rPr>
                        <a:t>Adversarial o'qitish bajarilgan, muroza miqdoriy ko'rsatilgan</a:t>
                      </a:r>
                    </a:p>
                  </a:txBody>
                  <a:tcPr>
                    <a:solidFill>
                      <a:srgbClr val="111834"/>
                    </a:solidFill>
                  </a:tcPr>
                </a:tc>
                <a:tc>
                  <a:txBody>
                    <a:bodyPr/>
                    <a:lstStyle/>
                    <a:p>
                      <a:r>
                        <a:rPr sz="1200" b="0">
                          <a:solidFill>
                            <a:srgbClr val="E8EEFA"/>
                          </a:solidFill>
                          <a:latin typeface="Segoe UI"/>
                        </a:rPr>
                        <a:t>15</a:t>
                      </a:r>
                    </a:p>
                  </a:txBody>
                  <a:tcPr>
                    <a:solidFill>
                      <a:srgbClr val="111834"/>
                    </a:solidFill>
                  </a:tcPr>
                </a:tc>
              </a:tr>
              <a:tr h="520000">
                <a:tc>
                  <a:txBody>
                    <a:bodyPr/>
                    <a:lstStyle/>
                    <a:p>
                      <a:r>
                        <a:rPr sz="1200" b="0">
                          <a:solidFill>
                            <a:srgbClr val="E8EEFA"/>
                          </a:solidFill>
                          <a:latin typeface="Segoe UI"/>
                        </a:rPr>
                        <a:t>Grad-CAM paneli va tahlil (xarita ko'chishi izohlangan)</a:t>
                      </a:r>
                    </a:p>
                  </a:txBody>
                  <a:tcPr>
                    <a:solidFill>
                      <a:srgbClr val="161F40"/>
                    </a:solidFill>
                  </a:tcPr>
                </a:tc>
                <a:tc>
                  <a:txBody>
                    <a:bodyPr/>
                    <a:lstStyle/>
                    <a:p>
                      <a:r>
                        <a:rPr sz="1200" b="0">
                          <a:solidFill>
                            <a:srgbClr val="E8EEFA"/>
                          </a:solidFill>
                          <a:latin typeface="Segoe UI"/>
                        </a:rPr>
                        <a:t>10</a:t>
                      </a:r>
                    </a:p>
                  </a:txBody>
                  <a:tcPr>
                    <a:solidFill>
                      <a:srgbClr val="161F40"/>
                    </a:solidFill>
                  </a:tcPr>
                </a:tc>
              </a:tr>
              <a:tr h="520000">
                <a:tc>
                  <a:txBody>
                    <a:bodyPr/>
                    <a:lstStyle/>
                    <a:p>
                      <a:r>
                        <a:rPr sz="1200" b="0">
                          <a:solidFill>
                            <a:srgbClr val="E8EEFA"/>
                          </a:solidFill>
                          <a:latin typeface="Segoe UI"/>
                        </a:rPr>
                        <a:t>Fairlearn: MetricFrame, 2 ta tuzatish usuli, mezon tanlovi asoslangan</a:t>
                      </a:r>
                    </a:p>
                  </a:txBody>
                  <a:tcPr>
                    <a:solidFill>
                      <a:srgbClr val="111834"/>
                    </a:solidFill>
                  </a:tcPr>
                </a:tc>
                <a:tc>
                  <a:txBody>
                    <a:bodyPr/>
                    <a:lstStyle/>
                    <a:p>
                      <a:r>
                        <a:rPr sz="1200" b="0">
                          <a:solidFill>
                            <a:srgbClr val="E8EEFA"/>
                          </a:solidFill>
                          <a:latin typeface="Segoe UI"/>
                        </a:rPr>
                        <a:t>20</a:t>
                      </a:r>
                    </a:p>
                  </a:txBody>
                  <a:tcPr>
                    <a:solidFill>
                      <a:srgbClr val="111834"/>
                    </a:solidFill>
                  </a:tcPr>
                </a:tc>
              </a:tr>
              <a:tr h="520000">
                <a:tc>
                  <a:txBody>
                    <a:bodyPr/>
                    <a:lstStyle/>
                    <a:p>
                      <a:r>
                        <a:rPr sz="1200" b="0">
                          <a:solidFill>
                            <a:srgbClr val="E8EEFA"/>
                          </a:solidFill>
                          <a:latin typeface="Segoe UI"/>
                        </a:rPr>
                        <a:t>SHAP tahlili va vakil belgilar (proxy) aniqlangan</a:t>
                      </a:r>
                    </a:p>
                  </a:txBody>
                  <a:tcPr>
                    <a:solidFill>
                      <a:srgbClr val="161F40"/>
                    </a:solidFill>
                  </a:tcPr>
                </a:tc>
                <a:tc>
                  <a:txBody>
                    <a:bodyPr/>
                    <a:lstStyle/>
                    <a:p>
                      <a:r>
                        <a:rPr sz="1200" b="0">
                          <a:solidFill>
                            <a:srgbClr val="E8EEFA"/>
                          </a:solidFill>
                          <a:latin typeface="Segoe UI"/>
                        </a:rPr>
                        <a:t>10</a:t>
                      </a:r>
                    </a:p>
                  </a:txBody>
                  <a:tcPr>
                    <a:solidFill>
                      <a:srgbClr val="161F40"/>
                    </a:solidFill>
                  </a:tcPr>
                </a:tc>
              </a:tr>
              <a:tr h="520000">
                <a:tc>
                  <a:txBody>
                    <a:bodyPr/>
                    <a:lstStyle/>
                    <a:p>
                      <a:r>
                        <a:rPr sz="1200" b="0">
                          <a:solidFill>
                            <a:srgbClr val="E8EEFA"/>
                          </a:solidFill>
                          <a:latin typeface="Segoe UI"/>
                        </a:rPr>
                        <a:t>Etik tekshiruv ro'yxati dalillar bilan to'ldirilgan</a:t>
                      </a:r>
                    </a:p>
                  </a:txBody>
                  <a:tcPr>
                    <a:solidFill>
                      <a:srgbClr val="111834"/>
                    </a:solidFill>
                  </a:tcPr>
                </a:tc>
                <a:tc>
                  <a:txBody>
                    <a:bodyPr/>
                    <a:lstStyle/>
                    <a:p>
                      <a:r>
                        <a:rPr sz="1200" b="0">
                          <a:solidFill>
                            <a:srgbClr val="E8EEFA"/>
                          </a:solidFill>
                          <a:latin typeface="Segoe UI"/>
                        </a:rPr>
                        <a:t>10</a:t>
                      </a:r>
                    </a:p>
                  </a:txBody>
                  <a:tcPr>
                    <a:solidFill>
                      <a:srgbClr val="111834"/>
                    </a:solidFill>
                  </a:tcPr>
                </a:tc>
              </a:tr>
              <a:tr h="520000">
                <a:tc>
                  <a:txBody>
                    <a:bodyPr/>
                    <a:lstStyle/>
                    <a:p>
                      <a:r>
                        <a:rPr sz="1200" b="0">
                          <a:solidFill>
                            <a:srgbClr val="E8EEFA"/>
                          </a:solidFill>
                          <a:latin typeface="Segoe UI"/>
                        </a:rPr>
                        <a:t>Hisobot sifati, takrorlanuvchanlik (urug', versiyalar)</a:t>
                      </a:r>
                    </a:p>
                  </a:txBody>
                  <a:tcPr>
                    <a:solidFill>
                      <a:srgbClr val="161F40"/>
                    </a:solidFill>
                  </a:tcPr>
                </a:tc>
                <a:tc>
                  <a:txBody>
                    <a:bodyPr/>
                    <a:lstStyle/>
                    <a:p>
                      <a:r>
                        <a:rPr sz="1200" b="0">
                          <a:solidFill>
                            <a:srgbClr val="E8EEFA"/>
                          </a:solidFill>
                          <a:latin typeface="Segoe UI"/>
                        </a:rPr>
                        <a:t>10</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ipe(left)">
                                      <p:cBhvr>
                                        <p:cTn id="16" dur="8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704647d698882c1b.jpg"/>
          <p:cNvPicPr>
            <a:picLocks noChangeAspect="1"/>
          </p:cNvPicPr>
          <p:nvPr/>
        </p:nvPicPr>
        <p:blipFill>
          <a:blip r:embed="rId2"/>
          <a:srcRect l="10141" r="10141"/>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Nikodem Nijaki · Wikimedia Commons · CC BY-SA 3.0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Natijalarni tahlil qilish</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18" name="Rectangle 17"/>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0" name="Rounded Rectangle 19"/>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54</a:t>
            </a:r>
          </a:p>
        </p:txBody>
      </p:sp>
      <p:sp>
        <p:nvSpPr>
          <p:cNvPr id="21" name="Rounded Rectangle 20"/>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3" name="TextBox 22"/>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4" name="Rounded Rectangle 23"/>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5" name="Rounded Rectangle 24"/>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1741544"/>
            <a:ext cx="50000" cy="191345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60000" y="249827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8" name="TextBox 27"/>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Mustahkamlik natijalari ko'rsatadiki, standart o'qitilgan model L_inf buzilishining juda kichik qiymatlarida ham ishonchsiz: epsilon = 2/255 (255 darajali shkalada 2 birlik, inson ko'zi uchun mutlaqo sezilmas) PGD aniqlikni 90% dan 35% gacha tushiradi.</a:t>
            </a:r>
          </a:p>
          <a:p>
            <a:pPr>
              <a:spcBef>
                <a:spcPts val="400"/>
              </a:spcBef>
            </a:pPr>
            <a:r>
              <a:rPr sz="1300">
                <a:solidFill>
                  <a:srgbClr val="AEBBD9"/>
                </a:solidFill>
                <a:latin typeface="Segoe UI"/>
              </a:rPr>
              <a:t>Bu yuqori o'lchamli fazoda chiziqli xatti-harakatning oqibati: har pikselga kichik o'zgarish qo'shilsa, ularning yig'indisi logitni sezilarli siljitadi.</a:t>
            </a:r>
          </a:p>
        </p:txBody>
      </p:sp>
      <p:sp>
        <p:nvSpPr>
          <p:cNvPr id="29" name="Rounded Rectangle 28"/>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925000"/>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46817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Adversarial o'qitish egri chiziqni butunlay o'zgartiradi, lekin ikki narxga: toza aniqlik 8–10 foiz bandiga tushadi va o'qitish narxi sakkiz baravar oshadi.</a:t>
            </a:r>
          </a:p>
          <a:p>
            <a:pPr>
              <a:spcBef>
                <a:spcPts val="400"/>
              </a:spcBef>
            </a:pPr>
            <a:r>
              <a:rPr sz="1300">
                <a:solidFill>
                  <a:srgbClr val="AEBBD9"/>
                </a:solidFill>
                <a:latin typeface="Segoe UI"/>
              </a:rPr>
              <a:t>Sanoatda bu murosani tizim konteksti hal qiladi — tibbiy triaj yoki moliyaviy firibgarlikni aniqlashda mustahkamlik ustun, foto-galereyani tartiblashda esa toza aniqlik.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7"/>
                                        </p:tgtEl>
                                        <p:attrNameLst>
                                          <p:attrName>style.visibility</p:attrName>
                                        </p:attrNameLst>
                                      </p:cBhvr>
                                      <p:to>
                                        <p:strVal val="visible"/>
                                      </p:to>
                                    </p:set>
                                    <p:animEffect transition="in" filter="fade">
                                      <p:cBhvr>
                                        <p:cTn id="6" dur="550"/>
                                        <p:tgtEl>
                                          <p:spTgt spid="17"/>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wipe(left)">
                                      <p:cBhvr>
                                        <p:cTn id="11" dur="800"/>
                                        <p:tgtEl>
                                          <p:spTgt spid="18"/>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550"/>
                                        <p:tgtEl>
                                          <p:spTgt spid="21"/>
                                        </p:tgtEl>
                                      </p:cBhvr>
                                    </p:animEffect>
                                    <p:anim calcmode="lin" valueType="num">
                                      <p:cBhvr additive="base">
                                        <p:cTn id="16" dur="550" fill="hold"/>
                                        <p:tgtEl>
                                          <p:spTgt spid="21"/>
                                        </p:tgtEl>
                                        <p:attrNameLst>
                                          <p:attrName>ppt_w</p:attrName>
                                        </p:attrNameLst>
                                      </p:cBhvr>
                                      <p:tavLst>
                                        <p:tav tm="0">
                                          <p:val>
                                            <p:strVal val="0"/>
                                          </p:val>
                                        </p:tav>
                                        <p:tav tm="100000">
                                          <p:val>
                                            <p:strVal val="#ppt_w"/>
                                          </p:val>
                                        </p:tav>
                                      </p:tavLst>
                                    </p:anim>
                                    <p:anim calcmode="lin" valueType="num">
                                      <p:cBhvr additive="base">
                                        <p:cTn id="17" dur="550" fill="hold"/>
                                        <p:tgtEl>
                                          <p:spTgt spid="21"/>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50"/>
                                        <p:tgtEl>
                                          <p:spTgt spid="22"/>
                                        </p:tgtEl>
                                      </p:cBhvr>
                                    </p:animEffect>
                                    <p:anim calcmode="lin" valueType="num">
                                      <p:cBhvr additive="base">
                                        <p:cTn id="22" dur="550" fill="hold"/>
                                        <p:tgtEl>
                                          <p:spTgt spid="22"/>
                                        </p:tgtEl>
                                        <p:attrNameLst>
                                          <p:attrName>ppt_w</p:attrName>
                                        </p:attrNameLst>
                                      </p:cBhvr>
                                      <p:tavLst>
                                        <p:tav tm="0">
                                          <p:val>
                                            <p:strVal val="0"/>
                                          </p:val>
                                        </p:tav>
                                        <p:tav tm="100000">
                                          <p:val>
                                            <p:strVal val="#ppt_w"/>
                                          </p:val>
                                        </p:tav>
                                      </p:tavLst>
                                    </p:anim>
                                    <p:anim calcmode="lin" valueType="num">
                                      <p:cBhvr additive="base">
                                        <p:cTn id="23" dur="550" fill="hold"/>
                                        <p:tgtEl>
                                          <p:spTgt spid="22"/>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550"/>
                                        <p:tgtEl>
                                          <p:spTgt spid="23"/>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50"/>
                                        <p:tgtEl>
                                          <p:spTgt spid="25"/>
                                        </p:tgtEl>
                                      </p:cBhvr>
                                    </p:animEffect>
                                    <p:anim calcmode="lin" valueType="num">
                                      <p:cBhvr additive="base">
                                        <p:cTn id="36" dur="550" fill="hold"/>
                                        <p:tgtEl>
                                          <p:spTgt spid="25"/>
                                        </p:tgtEl>
                                        <p:attrNameLst>
                                          <p:attrName>ppt_x</p:attrName>
                                        </p:attrNameLst>
                                      </p:cBhvr>
                                      <p:tavLst>
                                        <p:tav tm="0">
                                          <p:val>
                                            <p:strVal val="#ppt_x"/>
                                          </p:val>
                                        </p:tav>
                                        <p:tav tm="100000">
                                          <p:val>
                                            <p:strVal val="#ppt_x"/>
                                          </p:val>
                                        </p:tav>
                                      </p:tavLst>
                                    </p:anim>
                                    <p:anim calcmode="lin" valueType="num">
                                      <p:cBhvr additive="base">
                                        <p:cTn id="37" dur="550" fill="hold"/>
                                        <p:tgtEl>
                                          <p:spTgt spid="25"/>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6"/>
                                        </p:tgtEl>
                                        <p:attrNameLst>
                                          <p:attrName>style.visibility</p:attrName>
                                        </p:attrNameLst>
                                      </p:cBhvr>
                                      <p:to>
                                        <p:strVal val="visible"/>
                                      </p:to>
                                    </p:set>
                                    <p:animEffect transition="in" filter="fade">
                                      <p:cBhvr>
                                        <p:cTn id="41" dur="550"/>
                                        <p:tgtEl>
                                          <p:spTgt spid="26"/>
                                        </p:tgtEl>
                                      </p:cBhvr>
                                    </p:animEffect>
                                    <p:anim calcmode="lin" valueType="num">
                                      <p:cBhvr additive="base">
                                        <p:cTn id="42" dur="550" fill="hold"/>
                                        <p:tgtEl>
                                          <p:spTgt spid="26"/>
                                        </p:tgtEl>
                                        <p:attrNameLst>
                                          <p:attrName>ppt_x</p:attrName>
                                        </p:attrNameLst>
                                      </p:cBhvr>
                                      <p:tavLst>
                                        <p:tav tm="0">
                                          <p:val>
                                            <p:strVal val="#ppt_x"/>
                                          </p:val>
                                        </p:tav>
                                        <p:tav tm="100000">
                                          <p:val>
                                            <p:strVal val="#ppt_x"/>
                                          </p:val>
                                        </p:tav>
                                      </p:tavLst>
                                    </p:anim>
                                    <p:anim calcmode="lin" valueType="num">
                                      <p:cBhvr additive="base">
                                        <p:cTn id="43" dur="550" fill="hold"/>
                                        <p:tgtEl>
                                          <p:spTgt spid="26"/>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550"/>
                                        <p:tgtEl>
                                          <p:spTgt spid="27"/>
                                        </p:tgtEl>
                                      </p:cBhvr>
                                    </p:animEffect>
                                    <p:anim calcmode="lin" valueType="num">
                                      <p:cBhvr additive="base">
                                        <p:cTn id="48" dur="550" fill="hold"/>
                                        <p:tgtEl>
                                          <p:spTgt spid="27"/>
                                        </p:tgtEl>
                                        <p:attrNameLst>
                                          <p:attrName>ppt_w</p:attrName>
                                        </p:attrNameLst>
                                      </p:cBhvr>
                                      <p:tavLst>
                                        <p:tav tm="0">
                                          <p:val>
                                            <p:strVal val="0"/>
                                          </p:val>
                                        </p:tav>
                                        <p:tav tm="100000">
                                          <p:val>
                                            <p:strVal val="#ppt_w"/>
                                          </p:val>
                                        </p:tav>
                                      </p:tavLst>
                                    </p:anim>
                                    <p:anim calcmode="lin" valueType="num">
                                      <p:cBhvr additive="base">
                                        <p:cTn id="49" dur="550" fill="hold"/>
                                        <p:tgtEl>
                                          <p:spTgt spid="27"/>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8"/>
                                        </p:tgtEl>
                                        <p:attrNameLst>
                                          <p:attrName>style.visibility</p:attrName>
                                        </p:attrNameLst>
                                      </p:cBhvr>
                                      <p:to>
                                        <p:strVal val="visible"/>
                                      </p:to>
                                    </p:set>
                                    <p:animEffect transition="in" filter="fade">
                                      <p:cBhvr>
                                        <p:cTn id="53" dur="550"/>
                                        <p:tgtEl>
                                          <p:spTgt spid="28"/>
                                        </p:tgtEl>
                                      </p:cBhvr>
                                    </p:animEffect>
                                    <p:anim calcmode="lin" valueType="num">
                                      <p:cBhvr additive="base">
                                        <p:cTn id="54" dur="550" fill="hold"/>
                                        <p:tgtEl>
                                          <p:spTgt spid="28"/>
                                        </p:tgtEl>
                                        <p:attrNameLst>
                                          <p:attrName>ppt_x</p:attrName>
                                        </p:attrNameLst>
                                      </p:cBhvr>
                                      <p:tavLst>
                                        <p:tav tm="0">
                                          <p:val>
                                            <p:strVal val="#ppt_x"/>
                                          </p:val>
                                        </p:tav>
                                        <p:tav tm="100000">
                                          <p:val>
                                            <p:strVal val="#ppt_x"/>
                                          </p:val>
                                        </p:tav>
                                      </p:tavLst>
                                    </p:anim>
                                    <p:anim calcmode="lin" valueType="num">
                                      <p:cBhvr additive="base">
                                        <p:cTn id="55" dur="550" fill="hold"/>
                                        <p:tgtEl>
                                          <p:spTgt spid="28"/>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50"/>
                                        <p:tgtEl>
                                          <p:spTgt spid="29"/>
                                        </p:tgtEl>
                                      </p:cBhvr>
                                    </p:animEffect>
                                    <p:anim calcmode="lin" valueType="num">
                                      <p:cBhvr additive="base">
                                        <p:cTn id="60" dur="550" fill="hold"/>
                                        <p:tgtEl>
                                          <p:spTgt spid="29"/>
                                        </p:tgtEl>
                                        <p:attrNameLst>
                                          <p:attrName>ppt_x</p:attrName>
                                        </p:attrNameLst>
                                      </p:cBhvr>
                                      <p:tavLst>
                                        <p:tav tm="0">
                                          <p:val>
                                            <p:strVal val="#ppt_x"/>
                                          </p:val>
                                        </p:tav>
                                        <p:tav tm="100000">
                                          <p:val>
                                            <p:strVal val="#ppt_x"/>
                                          </p:val>
                                        </p:tav>
                                      </p:tavLst>
                                    </p:anim>
                                    <p:anim calcmode="lin" valueType="num">
                                      <p:cBhvr additive="base">
                                        <p:cTn id="61" dur="550" fill="hold"/>
                                        <p:tgtEl>
                                          <p:spTgt spid="29"/>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0"/>
                                        </p:tgtEl>
                                        <p:attrNameLst>
                                          <p:attrName>style.visibility</p:attrName>
                                        </p:attrNameLst>
                                      </p:cBhvr>
                                      <p:to>
                                        <p:strVal val="visible"/>
                                      </p:to>
                                    </p:set>
                                    <p:animEffect transition="in" filter="fade">
                                      <p:cBhvr>
                                        <p:cTn id="65" dur="550"/>
                                        <p:tgtEl>
                                          <p:spTgt spid="30"/>
                                        </p:tgtEl>
                                      </p:cBhvr>
                                    </p:animEffect>
                                    <p:anim calcmode="lin" valueType="num">
                                      <p:cBhvr additive="base">
                                        <p:cTn id="66" dur="550" fill="hold"/>
                                        <p:tgtEl>
                                          <p:spTgt spid="30"/>
                                        </p:tgtEl>
                                        <p:attrNameLst>
                                          <p:attrName>ppt_x</p:attrName>
                                        </p:attrNameLst>
                                      </p:cBhvr>
                                      <p:tavLst>
                                        <p:tav tm="0">
                                          <p:val>
                                            <p:strVal val="#ppt_x"/>
                                          </p:val>
                                        </p:tav>
                                        <p:tav tm="100000">
                                          <p:val>
                                            <p:strVal val="#ppt_x"/>
                                          </p:val>
                                        </p:tav>
                                      </p:tavLst>
                                    </p:anim>
                                    <p:anim calcmode="lin" valueType="num">
                                      <p:cBhvr additive="base">
                                        <p:cTn id="67" dur="550" fill="hold"/>
                                        <p:tgtEl>
                                          <p:spTgt spid="30"/>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50"/>
                                        <p:tgtEl>
                                          <p:spTgt spid="31"/>
                                        </p:tgtEl>
                                      </p:cBhvr>
                                    </p:animEffect>
                                    <p:anim calcmode="lin" valueType="num">
                                      <p:cBhvr additive="base">
                                        <p:cTn id="72" dur="550" fill="hold"/>
                                        <p:tgtEl>
                                          <p:spTgt spid="31"/>
                                        </p:tgtEl>
                                        <p:attrNameLst>
                                          <p:attrName>ppt_w</p:attrName>
                                        </p:attrNameLst>
                                      </p:cBhvr>
                                      <p:tavLst>
                                        <p:tav tm="0">
                                          <p:val>
                                            <p:strVal val="0"/>
                                          </p:val>
                                        </p:tav>
                                        <p:tav tm="100000">
                                          <p:val>
                                            <p:strVal val="#ppt_w"/>
                                          </p:val>
                                        </p:tav>
                                      </p:tavLst>
                                    </p:anim>
                                    <p:anim calcmode="lin" valueType="num">
                                      <p:cBhvr additive="base">
                                        <p:cTn id="73" dur="550" fill="hold"/>
                                        <p:tgtEl>
                                          <p:spTgt spid="31"/>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50"/>
                                        <p:tgtEl>
                                          <p:spTgt spid="32"/>
                                        </p:tgtEl>
                                      </p:cBhvr>
                                    </p:animEffect>
                                    <p:anim calcmode="lin" valueType="num">
                                      <p:cBhvr additive="base">
                                        <p:cTn id="78" dur="550" fill="hold"/>
                                        <p:tgtEl>
                                          <p:spTgt spid="32"/>
                                        </p:tgtEl>
                                        <p:attrNameLst>
                                          <p:attrName>ppt_x</p:attrName>
                                        </p:attrNameLst>
                                      </p:cBhvr>
                                      <p:tavLst>
                                        <p:tav tm="0">
                                          <p:val>
                                            <p:strVal val="#ppt_x"/>
                                          </p:val>
                                        </p:tav>
                                        <p:tav tm="100000">
                                          <p:val>
                                            <p:strVal val="#ppt_x"/>
                                          </p:val>
                                        </p:tav>
                                      </p:tavLst>
                                    </p:anim>
                                    <p:anim calcmode="lin" valueType="num">
                                      <p:cBhvr additive="base">
                                        <p:cTn id="79"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21" grpId="0" animBg="1"/>
      <p:bldP spid="24" grpId="0" animBg="1"/>
      <p:bldP spid="23"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741544"/>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4982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Muhim cheklov: adversarial o'qitish faqat o'qitilgan tahdid modeli doirasida himoya beradi.</a:t>
            </a:r>
          </a:p>
          <a:p>
            <a:pPr>
              <a:spcBef>
                <a:spcPts val="400"/>
              </a:spcBef>
            </a:pPr>
            <a:r>
              <a:rPr sz="1300">
                <a:solidFill>
                  <a:srgbClr val="AEBBD9"/>
                </a:solidFill>
                <a:latin typeface="Segoe UI"/>
              </a:rPr>
              <a:t>L_inf 8/255 ga qarshi o'qitilgan model L_2 hujumiga yoki fizik stikerlarga zaif qolishi mumkin; shuningdek, 16/255 da aniqlik yana 18% gacha tushadi. Shuning uchun himoyani «yopilgan» deb emas, «ma'lum chegara ichida baholangan» deb hujjatlashtirish kerak.</a:t>
            </a:r>
          </a:p>
        </p:txBody>
      </p:sp>
      <p:sp>
        <p:nvSpPr>
          <p:cNvPr id="33" name="Rounded Rectangle 32"/>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91345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68172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6" name="TextBox 35"/>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XAI tahlili modelning haqiqiy asoslarini ochib beradi va ayni paytda uning chegaralarini ko'rsatadi.</a:t>
            </a:r>
          </a:p>
          <a:p>
            <a:pPr>
              <a:spcBef>
                <a:spcPts val="400"/>
              </a:spcBef>
            </a:pPr>
            <a:r>
              <a:rPr sz="1300">
                <a:solidFill>
                  <a:srgbClr val="AEBBD9"/>
                </a:solidFill>
                <a:latin typeface="Segoe UI"/>
              </a:rPr>
              <a:t>Grad-CAM xaritasi hujum ostida ko'chishi tushuntirishning o'zi ham hujumga zaifligini bildiradi; shuning uchun tushuntirishlarni foydalanuvchiga ko'rsatishdan oldin ularning barqarorligini (kichik shovqinda xarita qanchalik o'zgaradi) va sodiqligini (muhim deb ko'rsatilgan hududni o'chirish bashoratni qanchalik o'zgartiradi — deletion/insertion metrikalari) o'lchash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Natijalarni tahlil qilish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56</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5a9199bcc2f943dd.jpg"/>
          <p:cNvPicPr>
            <a:picLocks noChangeAspect="1"/>
          </p:cNvPicPr>
          <p:nvPr/>
        </p:nvPicPr>
        <p:blipFill>
          <a:blip r:embed="rId2"/>
          <a:srcRect t="10648" b="106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Michael Barera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497992"/>
            <a:ext cx="50000" cy="2584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1" name="TextBox 30"/>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Adolatlilik natijalari eng muhim uslubiy xulosani beradi: «sezgir atributni olib tashlash» (fairness through unawareness) ishlamaydi, chunki SHAP vakil belgilar orqali ta'sir saqlanishini ko'rsatadi.</a:t>
            </a:r>
          </a:p>
          <a:p>
            <a:pPr>
              <a:spcBef>
                <a:spcPts val="400"/>
              </a:spcBef>
            </a:pPr>
            <a:r>
              <a:rPr sz="1600">
                <a:solidFill>
                  <a:srgbClr val="AEBBD9"/>
                </a:solidFill>
                <a:latin typeface="Segoe UI"/>
              </a:rPr>
              <a:t>Tuzatish usullari EO farqini beshdan bir qismga tushiradi, lekin aniqlik 1–1.5 foiz bandiga pasayadi va demografik paritet to'liq yo'qolmaydi — bu mezonlarning mos kelmaslik teoremasining amaliy namoyishi.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be3f0e9ea1e66717.jpg"/>
          <p:cNvPicPr>
            <a:picLocks noChangeAspect="1"/>
          </p:cNvPicPr>
          <p:nvPr/>
        </p:nvPicPr>
        <p:blipFill>
          <a:blip r:embed="rId2"/>
          <a:srcRect t="18807" b="18807"/>
          <a:stretch>
            <a:fillRect/>
          </a:stretch>
        </p:blipFill>
        <p:spPr>
          <a:xfrm>
            <a:off x="6300000" y="800000"/>
            <a:ext cx="5300000" cy="4950000"/>
          </a:xfrm>
          <a:prstGeom prst="roundRect">
            <a:avLst/>
          </a:prstGeom>
          <a:ln w="19050">
            <a:solidFill>
              <a:srgbClr val="22D3EE"/>
            </a:solidFill>
          </a:ln>
        </p:spPr>
      </p:pic>
      <p:sp>
        <p:nvSpPr>
          <p:cNvPr id="44" name="TextBox 43"/>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Lin Pan · Wikimedia Commons · CC BY-SA 3.0</a:t>
            </a:r>
          </a:p>
        </p:txBody>
      </p:sp>
      <p:sp>
        <p:nvSpPr>
          <p:cNvPr id="45" name="TextBox 44"/>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6" name="TextBox 45"/>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BO‘LIM</a:t>
            </a:r>
          </a:p>
        </p:txBody>
      </p:sp>
      <p:sp>
        <p:nvSpPr>
          <p:cNvPr id="47" name="TextBox 46"/>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Keng tarqalgan xatolar va amaliy tavsiyalar</a:t>
            </a:r>
          </a:p>
        </p:txBody>
      </p:sp>
      <p:sp>
        <p:nvSpPr>
          <p:cNvPr id="48" name="Rectangle 47"/>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150"/>
                            </p:stCondLst>
                            <p:childTnLst>
                              <p:par>
                                <p:cTn id="160" presetID="53" presetClass="entr" presetSubtype="16"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anim calcmode="lin" valueType="num">
                                      <p:cBhvr additive="base">
                                        <p:cTn id="163" dur="550" fill="hold"/>
                                        <p:tgtEl>
                                          <p:spTgt spid="42"/>
                                        </p:tgtEl>
                                        <p:attrNameLst>
                                          <p:attrName>ppt_w</p:attrName>
                                        </p:attrNameLst>
                                      </p:cBhvr>
                                      <p:tavLst>
                                        <p:tav tm="0">
                                          <p:val>
                                            <p:strVal val="0"/>
                                          </p:val>
                                        </p:tav>
                                        <p:tav tm="100000">
                                          <p:val>
                                            <p:strVal val="#ppt_w"/>
                                          </p:val>
                                        </p:tav>
                                      </p:tavLst>
                                    </p:anim>
                                    <p:anim calcmode="lin" valueType="num">
                                      <p:cBhvr additive="base">
                                        <p:cTn id="164" dur="550" fill="hold"/>
                                        <p:tgtEl>
                                          <p:spTgt spid="42"/>
                                        </p:tgtEl>
                                        <p:attrNameLst>
                                          <p:attrName>ppt_h</p:attrName>
                                        </p:attrNameLst>
                                      </p:cBhvr>
                                      <p:tavLst>
                                        <p:tav tm="0">
                                          <p:val>
                                            <p:strVal val="0"/>
                                          </p:val>
                                        </p:tav>
                                        <p:tav tm="100000">
                                          <p:val>
                                            <p:strVal val="#ppt_h"/>
                                          </p:val>
                                        </p:tav>
                                      </p:tavLst>
                                    </p:anim>
                                  </p:childTnLst>
                                </p:cTn>
                              </p:par>
                            </p:childTnLst>
                          </p:cTn>
                        </p:par>
                        <p:par>
                          <p:cTn id="165" fill="hold">
                            <p:stCondLst>
                              <p:cond delay="150"/>
                            </p:stCondLst>
                            <p:childTnLst>
                              <p:par>
                                <p:cTn id="166" presetID="53" presetClass="entr" presetSubtype="16" fill="hold" grpId="0" nodeType="afterEffect">
                                  <p:stCondLst>
                                    <p:cond delay="0"/>
                                  </p:stCondLst>
                                  <p:childTnLst>
                                    <p:set>
                                      <p:cBhvr>
                                        <p:cTn id="167" dur="1" fill="hold">
                                          <p:stCondLst>
                                            <p:cond delay="0"/>
                                          </p:stCondLst>
                                        </p:cTn>
                                        <p:tgtEl>
                                          <p:spTgt spid="43"/>
                                        </p:tgtEl>
                                        <p:attrNameLst>
                                          <p:attrName>style.visibility</p:attrName>
                                        </p:attrNameLst>
                                      </p:cBhvr>
                                      <p:to>
                                        <p:strVal val="visible"/>
                                      </p:to>
                                    </p:set>
                                    <p:animEffect transition="in" filter="fade">
                                      <p:cBhvr>
                                        <p:cTn id="168" dur="550"/>
                                        <p:tgtEl>
                                          <p:spTgt spid="43"/>
                                        </p:tgtEl>
                                      </p:cBhvr>
                                    </p:animEffect>
                                    <p:anim calcmode="lin" valueType="num">
                                      <p:cBhvr additive="base">
                                        <p:cTn id="169" dur="550" fill="hold"/>
                                        <p:tgtEl>
                                          <p:spTgt spid="43"/>
                                        </p:tgtEl>
                                        <p:attrNameLst>
                                          <p:attrName>ppt_w</p:attrName>
                                        </p:attrNameLst>
                                      </p:cBhvr>
                                      <p:tavLst>
                                        <p:tav tm="0">
                                          <p:val>
                                            <p:strVal val="0"/>
                                          </p:val>
                                        </p:tav>
                                        <p:tav tm="100000">
                                          <p:val>
                                            <p:strVal val="#ppt_w"/>
                                          </p:val>
                                        </p:tav>
                                      </p:tavLst>
                                    </p:anim>
                                    <p:anim calcmode="lin" valueType="num">
                                      <p:cBhvr additive="base">
                                        <p:cTn id="170" dur="550" fill="hold"/>
                                        <p:tgtEl>
                                          <p:spTgt spid="43"/>
                                        </p:tgtEl>
                                        <p:attrNameLst>
                                          <p:attrName>ppt_h</p:attrName>
                                        </p:attrNameLst>
                                      </p:cBhvr>
                                      <p:tavLst>
                                        <p:tav tm="0">
                                          <p:val>
                                            <p:strVal val="0"/>
                                          </p:val>
                                        </p:tav>
                                        <p:tav tm="100000">
                                          <p:val>
                                            <p:strVal val="#ppt_h"/>
                                          </p:val>
                                        </p:tav>
                                      </p:tavLst>
                                    </p:anim>
                                  </p:childTnLst>
                                </p:cTn>
                              </p:par>
                            </p:childTnLst>
                          </p:cTn>
                        </p:par>
                        <p:par>
                          <p:cTn id="171" fill="hold">
                            <p:stCondLst>
                              <p:cond delay="150"/>
                            </p:stCondLst>
                            <p:childTnLst>
                              <p:par>
                                <p:cTn id="172" presetID="10" presetClass="entr" presetSubtype="0"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childTnLst>
                                </p:cTn>
                              </p:par>
                            </p:childTnLst>
                          </p:cTn>
                        </p:par>
                        <p:par>
                          <p:cTn id="175" fill="hold">
                            <p:stCondLst>
                              <p:cond delay="350"/>
                            </p:stCondLst>
                            <p:childTnLst>
                              <p:par>
                                <p:cTn id="176" presetID="53" presetClass="entr" presetSubtype="16"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anim calcmode="lin" valueType="num">
                                      <p:cBhvr additive="base">
                                        <p:cTn id="179" dur="550" fill="hold"/>
                                        <p:tgtEl>
                                          <p:spTgt spid="45"/>
                                        </p:tgtEl>
                                        <p:attrNameLst>
                                          <p:attrName>ppt_w</p:attrName>
                                        </p:attrNameLst>
                                      </p:cBhvr>
                                      <p:tavLst>
                                        <p:tav tm="0">
                                          <p:val>
                                            <p:strVal val="0"/>
                                          </p:val>
                                        </p:tav>
                                        <p:tav tm="100000">
                                          <p:val>
                                            <p:strVal val="#ppt_w"/>
                                          </p:val>
                                        </p:tav>
                                      </p:tavLst>
                                    </p:anim>
                                    <p:anim calcmode="lin" valueType="num">
                                      <p:cBhvr additive="base">
                                        <p:cTn id="180" dur="550" fill="hold"/>
                                        <p:tgtEl>
                                          <p:spTgt spid="45"/>
                                        </p:tgtEl>
                                        <p:attrNameLst>
                                          <p:attrName>ppt_h</p:attrName>
                                        </p:attrNameLst>
                                      </p:cBhvr>
                                      <p:tavLst>
                                        <p:tav tm="0">
                                          <p:val>
                                            <p:strVal val="0"/>
                                          </p:val>
                                        </p:tav>
                                        <p:tav tm="100000">
                                          <p:val>
                                            <p:strVal val="#ppt_h"/>
                                          </p:val>
                                        </p:tav>
                                      </p:tavLst>
                                    </p:anim>
                                  </p:childTnLst>
                                </p:cTn>
                              </p:par>
                            </p:childTnLst>
                          </p:cTn>
                        </p:par>
                        <p:par>
                          <p:cTn id="181" fill="hold">
                            <p:stCondLst>
                              <p:cond delay="450"/>
                            </p:stCondLst>
                            <p:childTnLst>
                              <p:par>
                                <p:cTn id="182" presetID="10" presetClass="entr" presetSubtype="0"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Effect transition="in" filter="fade">
                                      <p:cBhvr>
                                        <p:cTn id="184" dur="550"/>
                                        <p:tgtEl>
                                          <p:spTgt spid="46"/>
                                        </p:tgtEl>
                                      </p:cBhvr>
                                    </p:animEffect>
                                  </p:childTnLst>
                                </p:cTn>
                              </p:par>
                            </p:childTnLst>
                          </p:cTn>
                        </p:par>
                        <p:par>
                          <p:cTn id="185" fill="hold">
                            <p:stCondLst>
                              <p:cond delay="550"/>
                            </p:stCondLst>
                            <p:childTnLst>
                              <p:par>
                                <p:cTn id="186" presetID="2" presetClass="entr" presetSubtype="8"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 calcmode="lin" valueType="num">
                                      <p:cBhvr additive="base">
                                        <p:cTn id="189" dur="550" fill="hold"/>
                                        <p:tgtEl>
                                          <p:spTgt spid="47"/>
                                        </p:tgtEl>
                                        <p:attrNameLst>
                                          <p:attrName>ppt_x</p:attrName>
                                        </p:attrNameLst>
                                      </p:cBhvr>
                                      <p:tavLst>
                                        <p:tav tm="0">
                                          <p:val>
                                            <p:strVal val="0-#ppt_w/2"/>
                                          </p:val>
                                        </p:tav>
                                        <p:tav tm="100000">
                                          <p:val>
                                            <p:strVal val="#ppt_x"/>
                                          </p:val>
                                        </p:tav>
                                      </p:tavLst>
                                    </p:anim>
                                    <p:anim calcmode="lin" valueType="num">
                                      <p:cBhvr additive="base">
                                        <p:cTn id="190" dur="550" fill="hold"/>
                                        <p:tgtEl>
                                          <p:spTgt spid="47"/>
                                        </p:tgtEl>
                                        <p:attrNameLst>
                                          <p:attrName>ppt_y</p:attrName>
                                        </p:attrNameLst>
                                      </p:cBhvr>
                                      <p:tavLst>
                                        <p:tav tm="0">
                                          <p:val>
                                            <p:strVal val="#ppt_y"/>
                                          </p:val>
                                        </p:tav>
                                        <p:tav tm="100000">
                                          <p:val>
                                            <p:strVal val="#ppt_y"/>
                                          </p:val>
                                        </p:tav>
                                      </p:tavLst>
                                    </p:anim>
                                  </p:childTnLst>
                                </p:cTn>
                              </p:par>
                            </p:childTnLst>
                          </p:cTn>
                        </p:par>
                        <p:par>
                          <p:cTn id="191" fill="hold">
                            <p:stCondLst>
                              <p:cond delay="650"/>
                            </p:stCondLst>
                            <p:childTnLst>
                              <p:par>
                                <p:cTn id="192" presetID="22" presetClass="entr" presetSubtype="8" fill="hold" grpId="0" nodeType="afterEffect">
                                  <p:stCondLst>
                                    <p:cond delay="0"/>
                                  </p:stCondLst>
                                  <p:childTnLst>
                                    <p:set>
                                      <p:cBhvr>
                                        <p:cTn id="193" dur="1" fill="hold">
                                          <p:stCondLst>
                                            <p:cond delay="0"/>
                                          </p:stCondLst>
                                        </p:cTn>
                                        <p:tgtEl>
                                          <p:spTgt spid="48"/>
                                        </p:tgtEl>
                                        <p:attrNameLst>
                                          <p:attrName>style.visibility</p:attrName>
                                        </p:attrNameLst>
                                      </p:cBhvr>
                                      <p:to>
                                        <p:strVal val="visible"/>
                                      </p:to>
                                    </p:set>
                                    <p:animEffect transition="in" filter="wipe(left)">
                                      <p:cBhvr>
                                        <p:cTn id="195" dur="8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4" grpId="0" animBg="1"/>
      <p:bldP spid="45" grpId="0" animBg="1"/>
      <p:bldP spid="46" grpId="0" animBg="1"/>
      <p:bldP spid="47" grpId="0" animBg="1"/>
      <p:bldP spid="48" grpId="0" animBg="1"/>
    </p:bld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b2bfc0986944eed.jpg"/>
          <p:cNvPicPr>
            <a:picLocks noChangeAspect="1"/>
          </p:cNvPicPr>
          <p:nvPr/>
        </p:nvPicPr>
        <p:blipFill>
          <a:blip r:embed="rId2"/>
          <a:srcRect l="23199" r="2319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Jannua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06388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143880"/>
            <a:ext cx="50000" cy="15111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994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103880"/>
            <a:ext cx="5900000" cy="1591120"/>
          </a:xfrm>
          <a:prstGeom prst="rect">
            <a:avLst/>
          </a:prstGeom>
          <a:noFill/>
        </p:spPr>
        <p:txBody>
          <a:bodyPr wrap="square" anchor="ctr">
            <a:spAutoFit/>
          </a:bodyPr>
          <a:lstStyle/>
          <a:p>
            <a:r>
              <a:rPr sz="1600" b="0">
                <a:solidFill>
                  <a:srgbClr val="E8EEFA"/>
                </a:solidFill>
                <a:latin typeface="Segoe UI"/>
              </a:rPr>
              <a:t>Hujumni normallashtirilgan fazoda bajarish. epsilon = 8/255 faqat [0, 1] piksel fazosida ma'noga ega; normalizatsiya tashqarida bo'lsa, hujum haqiqatdan 4 baravar kuchliroq yoki kuchsizroq chiqadi. Normalizatsiyani model ichiga oling.</a:t>
            </a:r>
          </a:p>
        </p:txBody>
      </p:sp>
      <p:sp>
        <p:nvSpPr>
          <p:cNvPr id="31" name="Rounded Rectangle 30"/>
          <p:cNvSpPr/>
          <p:nvPr/>
        </p:nvSpPr>
        <p:spPr>
          <a:xfrm>
            <a:off x="550000" y="384500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51112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48056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591120"/>
          </a:xfrm>
          <a:prstGeom prst="rect">
            <a:avLst/>
          </a:prstGeom>
          <a:noFill/>
        </p:spPr>
        <p:txBody>
          <a:bodyPr wrap="square" anchor="ctr">
            <a:spAutoFit/>
          </a:bodyPr>
          <a:lstStyle/>
          <a:p>
            <a:r>
              <a:rPr sz="1600" b="0">
                <a:solidFill>
                  <a:srgbClr val="E8EEFA"/>
                </a:solidFill>
                <a:latin typeface="Segoe UI"/>
              </a:rPr>
              <a:t>Hujumda model.train() rejimi. BatchNorm va Dropout tasodifiylik kiritadi, gradientlar noto'g'ri bo'ladi, hujum zaiflashadi va «soxta mustahkamlik» ko'rinadi. Hujum yasashdan oldin doimo eval().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75656"/>
            <a:ext cx="50000" cy="177934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6532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Gradient yashirishni himoya deb qabul qilish. Kirishga kvantlash yoki tasodifiy transformatsiya qo'shilganda PGD aniqligi oshgandek ko'rinadi, lekin BPDA/EOT moslashuvchan hujumlar uni buzadi. Har qanday himoyani moslashuvchan hujum bilan sinang, AutoAttack natijasini keltiring.</a:t>
            </a:r>
          </a:p>
        </p:txBody>
      </p:sp>
      <p:sp>
        <p:nvSpPr>
          <p:cNvPr id="32" name="Rounded Rectangle 31"/>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77934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1467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5" name="TextBox 34"/>
          <p:cNvSpPr txBox="1"/>
          <p:nvPr/>
        </p:nvSpPr>
        <p:spPr>
          <a:xfrm>
            <a:off x="1300000" y="3885000"/>
            <a:ext cx="5900000" cy="1859344"/>
          </a:xfrm>
          <a:prstGeom prst="rect">
            <a:avLst/>
          </a:prstGeom>
          <a:noFill/>
        </p:spPr>
        <p:txBody>
          <a:bodyPr wrap="square" anchor="ctr">
            <a:spAutoFit/>
          </a:bodyPr>
          <a:lstStyle/>
          <a:p>
            <a:r>
              <a:rPr sz="1700" b="1">
                <a:solidFill>
                  <a:srgbClr val="E8EEFA"/>
                </a:solidFill>
                <a:latin typeface="Segoe UI"/>
              </a:rPr>
              <a:t>Bitta epsilon da baholash. Mustahkamlik.</a:t>
            </a:r>
          </a:p>
          <a:p>
            <a:pPr>
              <a:spcBef>
                <a:spcPts val="400"/>
              </a:spcBef>
            </a:pPr>
            <a:r>
              <a:rPr sz="1600">
                <a:solidFill>
                  <a:srgbClr val="AEBBD9"/>
                </a:solidFill>
                <a:latin typeface="Segoe UI"/>
              </a:rPr>
              <a:t>Egri chiziq, nuqta emas. Kamida 4–5 epsilon qiymati va kamida ikkita hujum turi.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60</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d947ebd7f8bba68b.jpg"/>
          <p:cNvPicPr>
            <a:picLocks noChangeAspect="1"/>
          </p:cNvPicPr>
          <p:nvPr/>
        </p:nvPicPr>
        <p:blipFill>
          <a:blip r:embed="rId2"/>
          <a:srcRect l="6059" r="6059"/>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jailbird · Wikimedia Commons · CC BY-SA 3.0 de</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1504780"/>
            <a:ext cx="50000" cy="13434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197652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Grad-CAM uchun noto'g'ri qatlam. Juda erta qatlam.</a:t>
            </a:r>
          </a:p>
          <a:p>
            <a:pPr>
              <a:spcBef>
                <a:spcPts val="400"/>
              </a:spcBef>
            </a:pPr>
            <a:r>
              <a:rPr sz="1400">
                <a:solidFill>
                  <a:srgbClr val="AEBBD9"/>
                </a:solidFill>
                <a:latin typeface="Segoe UI"/>
              </a:rPr>
              <a:t>Shovqinli xarita, juda kech (to'liq bog'langan) — xarita yo'q. Oxirgi konvolyutsion blok (ResNet'da layer4[-1]) standart tanlov; ViT uchun oxirgi LayerNorm va reshape transformatsiyasi kerak.</a:t>
            </a:r>
          </a:p>
        </p:txBody>
      </p:sp>
      <p:sp>
        <p:nvSpPr>
          <p:cNvPr id="33" name="Rounded Rectangle 32"/>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118260"/>
            <a:ext cx="50000" cy="134348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359000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6" name="TextBox 35"/>
          <p:cNvSpPr txBox="1"/>
          <p:nvPr/>
        </p:nvSpPr>
        <p:spPr>
          <a:xfrm>
            <a:off x="1300000" y="3078260"/>
            <a:ext cx="5900000" cy="1423480"/>
          </a:xfrm>
          <a:prstGeom prst="rect">
            <a:avLst/>
          </a:prstGeom>
          <a:noFill/>
        </p:spPr>
        <p:txBody>
          <a:bodyPr wrap="square" anchor="ctr">
            <a:spAutoFit/>
          </a:bodyPr>
          <a:lstStyle/>
          <a:p>
            <a:r>
              <a:rPr sz="1400" b="0">
                <a:solidFill>
                  <a:srgbClr val="E8EEFA"/>
                </a:solidFill>
                <a:latin typeface="Segoe UI"/>
              </a:rPr>
              <a:t>SHAP'ni butun test to'plamida KernelSHAP bilan hisoblash. Soatlab vaqt oladi. Daraxt modellari uchun TreeSHAP, neyron tarmoqlar uchun DeepSHAP/GradientSHAP; KernelSHAP faqat kichik tanlanma uchun.</a:t>
            </a:r>
          </a:p>
        </p:txBody>
      </p:sp>
      <p:sp>
        <p:nvSpPr>
          <p:cNvPr id="37" name="Rounded Rectangle 36"/>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0000" y="473174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000" y="520348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40" name="TextBox 39"/>
          <p:cNvSpPr txBox="1"/>
          <p:nvPr/>
        </p:nvSpPr>
        <p:spPr>
          <a:xfrm>
            <a:off x="1300000" y="4691740"/>
            <a:ext cx="5900000" cy="1423480"/>
          </a:xfrm>
          <a:prstGeom prst="rect">
            <a:avLst/>
          </a:prstGeom>
          <a:noFill/>
        </p:spPr>
        <p:txBody>
          <a:bodyPr wrap="square" anchor="ctr">
            <a:spAutoFit/>
          </a:bodyPr>
          <a:lstStyle/>
          <a:p>
            <a:r>
              <a:rPr sz="1400" b="0">
                <a:solidFill>
                  <a:srgbClr val="E8EEFA"/>
                </a:solidFill>
                <a:latin typeface="Segoe UI"/>
              </a:rPr>
              <a:t>Sezgir atributni o'chirib «adolatli» deb e'lon qilish. Vakil belgilar ta'sirni saqlaydi; har doim guruhlar kesimida o'lchang, atribut modelda bo'lmasa ham baholashda ishlating.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fade">
                                      <p:cBhvr>
                                        <p:cTn id="83" dur="550"/>
                                        <p:tgtEl>
                                          <p:spTgt spid="37"/>
                                        </p:tgtEl>
                                      </p:cBhvr>
                                    </p:animEffect>
                                    <p:anim calcmode="lin" valueType="num">
                                      <p:cBhvr additive="base">
                                        <p:cTn id="84" dur="550" fill="hold"/>
                                        <p:tgtEl>
                                          <p:spTgt spid="37"/>
                                        </p:tgtEl>
                                        <p:attrNameLst>
                                          <p:attrName>ppt_x</p:attrName>
                                        </p:attrNameLst>
                                      </p:cBhvr>
                                      <p:tavLst>
                                        <p:tav tm="0">
                                          <p:val>
                                            <p:strVal val="#ppt_x"/>
                                          </p:val>
                                        </p:tav>
                                        <p:tav tm="100000">
                                          <p:val>
                                            <p:strVal val="#ppt_x"/>
                                          </p:val>
                                        </p:tav>
                                      </p:tavLst>
                                    </p:anim>
                                    <p:anim calcmode="lin" valueType="num">
                                      <p:cBhvr additive="base">
                                        <p:cTn id="85" dur="550" fill="hold"/>
                                        <p:tgtEl>
                                          <p:spTgt spid="37"/>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550"/>
                                        <p:tgtEl>
                                          <p:spTgt spid="38"/>
                                        </p:tgtEl>
                                      </p:cBhvr>
                                    </p:animEffect>
                                    <p:anim calcmode="lin" valueType="num">
                                      <p:cBhvr additive="base">
                                        <p:cTn id="90" dur="550" fill="hold"/>
                                        <p:tgtEl>
                                          <p:spTgt spid="38"/>
                                        </p:tgtEl>
                                        <p:attrNameLst>
                                          <p:attrName>ppt_x</p:attrName>
                                        </p:attrNameLst>
                                      </p:cBhvr>
                                      <p:tavLst>
                                        <p:tav tm="0">
                                          <p:val>
                                            <p:strVal val="#ppt_x"/>
                                          </p:val>
                                        </p:tav>
                                        <p:tav tm="100000">
                                          <p:val>
                                            <p:strVal val="#ppt_x"/>
                                          </p:val>
                                        </p:tav>
                                      </p:tavLst>
                                    </p:anim>
                                    <p:anim calcmode="lin" valueType="num">
                                      <p:cBhvr additive="base">
                                        <p:cTn id="91" dur="550" fill="hold"/>
                                        <p:tgtEl>
                                          <p:spTgt spid="38"/>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9"/>
                                        </p:tgtEl>
                                        <p:attrNameLst>
                                          <p:attrName>style.visibility</p:attrName>
                                        </p:attrNameLst>
                                      </p:cBhvr>
                                      <p:to>
                                        <p:strVal val="visible"/>
                                      </p:to>
                                    </p:set>
                                    <p:animEffect transition="in" filter="fade">
                                      <p:cBhvr>
                                        <p:cTn id="95" dur="550"/>
                                        <p:tgtEl>
                                          <p:spTgt spid="39"/>
                                        </p:tgtEl>
                                      </p:cBhvr>
                                    </p:animEffect>
                                    <p:anim calcmode="lin" valueType="num">
                                      <p:cBhvr additive="base">
                                        <p:cTn id="96" dur="550" fill="hold"/>
                                        <p:tgtEl>
                                          <p:spTgt spid="39"/>
                                        </p:tgtEl>
                                        <p:attrNameLst>
                                          <p:attrName>ppt_w</p:attrName>
                                        </p:attrNameLst>
                                      </p:cBhvr>
                                      <p:tavLst>
                                        <p:tav tm="0">
                                          <p:val>
                                            <p:strVal val="0"/>
                                          </p:val>
                                        </p:tav>
                                        <p:tav tm="100000">
                                          <p:val>
                                            <p:strVal val="#ppt_w"/>
                                          </p:val>
                                        </p:tav>
                                      </p:tavLst>
                                    </p:anim>
                                    <p:anim calcmode="lin" valueType="num">
                                      <p:cBhvr additive="base">
                                        <p:cTn id="97" dur="550" fill="hold"/>
                                        <p:tgtEl>
                                          <p:spTgt spid="39"/>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50"/>
                                        <p:tgtEl>
                                          <p:spTgt spid="40"/>
                                        </p:tgtEl>
                                      </p:cBhvr>
                                    </p:animEffect>
                                    <p:anim calcmode="lin" valueType="num">
                                      <p:cBhvr additive="base">
                                        <p:cTn id="102" dur="550" fill="hold"/>
                                        <p:tgtEl>
                                          <p:spTgt spid="40"/>
                                        </p:tgtEl>
                                        <p:attrNameLst>
                                          <p:attrName>ppt_x</p:attrName>
                                        </p:attrNameLst>
                                      </p:cBhvr>
                                      <p:tavLst>
                                        <p:tav tm="0">
                                          <p:val>
                                            <p:strVal val="#ppt_x"/>
                                          </p:val>
                                        </p:tav>
                                        <p:tav tm="100000">
                                          <p:val>
                                            <p:strVal val="#ppt_x"/>
                                          </p:val>
                                        </p:tav>
                                      </p:tavLst>
                                    </p:anim>
                                    <p:anim calcmode="lin" valueType="num">
                                      <p:cBhvr additive="base">
                                        <p:cTn id="103" dur="550" fill="hold"/>
                                        <p:tgtEl>
                                          <p:spTgt spid="4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1687361bcc8ed33c.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Moniruj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95656"/>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75656"/>
            <a:ext cx="50000" cy="177934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6532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0" name="TextBox 29"/>
          <p:cNvSpPr txBox="1"/>
          <p:nvPr/>
        </p:nvSpPr>
        <p:spPr>
          <a:xfrm>
            <a:off x="1300000" y="1835656"/>
            <a:ext cx="5900000" cy="1859344"/>
          </a:xfrm>
          <a:prstGeom prst="rect">
            <a:avLst/>
          </a:prstGeom>
          <a:noFill/>
        </p:spPr>
        <p:txBody>
          <a:bodyPr wrap="square" anchor="ctr">
            <a:spAutoFit/>
          </a:bodyPr>
          <a:lstStyle/>
          <a:p>
            <a:r>
              <a:rPr sz="1600" b="0">
                <a:solidFill>
                  <a:srgbClr val="E8EEFA"/>
                </a:solidFill>
                <a:latin typeface="Segoe UI"/>
              </a:rPr>
              <a:t>Adolatlilik mezonini asoslamasdan tanlash. Demografik paritet va tenglashtirilgan koeffitsiyentlar qarama-qarshi tuzatishlar talab qilishi mumkin. Mezonni masala va zarar turi (noto'g'ri rad etish yoki noto'g'ri qabul qilish qaysi biri og'irroq) asosida tanlang va hujjatlashtiring.</a:t>
            </a:r>
          </a:p>
        </p:txBody>
      </p:sp>
      <p:sp>
        <p:nvSpPr>
          <p:cNvPr id="31" name="Rounded Rectangle 30"/>
          <p:cNvSpPr/>
          <p:nvPr/>
        </p:nvSpPr>
        <p:spPr>
          <a:xfrm>
            <a:off x="550000" y="3845000"/>
            <a:ext cx="6750000" cy="193934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77934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14672"/>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4" name="TextBox 33"/>
          <p:cNvSpPr txBox="1"/>
          <p:nvPr/>
        </p:nvSpPr>
        <p:spPr>
          <a:xfrm>
            <a:off x="1300000" y="3885000"/>
            <a:ext cx="5900000" cy="1859344"/>
          </a:xfrm>
          <a:prstGeom prst="rect">
            <a:avLst/>
          </a:prstGeom>
          <a:noFill/>
        </p:spPr>
        <p:txBody>
          <a:bodyPr wrap="square" anchor="ctr">
            <a:spAutoFit/>
          </a:bodyPr>
          <a:lstStyle/>
          <a:p>
            <a:r>
              <a:rPr sz="1600" b="0">
                <a:solidFill>
                  <a:srgbClr val="E8EEFA"/>
                </a:solidFill>
                <a:latin typeface="Segoe UI"/>
              </a:rPr>
              <a:t>Kichik guruhlarda shovqinli metrika. Agar guruhda 50 tadan kam namuna bo'lsa, TPR farqi tasodifiy bo'lishi mumkin; ishonch intervallarini (bootstrap) keltiring.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250000"/>
            <a:ext cx="9800000" cy="650000"/>
          </a:xfrm>
          <a:prstGeom prst="rect">
            <a:avLst/>
          </a:prstGeom>
          <a:noFill/>
        </p:spPr>
        <p:txBody>
          <a:bodyPr wrap="square" anchor="ctr" lIns="50800" rIns="50800">
            <a:spAutoFit/>
          </a:bodyPr>
          <a:lstStyle/>
          <a:p>
            <a:pPr algn="l"/>
            <a:r>
              <a:rPr sz="2600" b="1">
                <a:solidFill>
                  <a:srgbClr val="E8EEFA"/>
                </a:solidFill>
                <a:latin typeface="Segoe UI"/>
              </a:rPr>
              <a:t>Keng tarqalgan xatolar va amaliy tavsiyalar</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b7bd69bee69eb7d.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Alexander Klink · Wikimedia Commons · CC BY 3.0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3088552"/>
            <a:ext cx="6750000" cy="140289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3168552"/>
            <a:ext cx="50000" cy="124289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10</a:t>
            </a:r>
          </a:p>
        </p:txBody>
      </p:sp>
      <p:sp>
        <p:nvSpPr>
          <p:cNvPr id="32" name="TextBox 31"/>
          <p:cNvSpPr txBox="1"/>
          <p:nvPr/>
        </p:nvSpPr>
        <p:spPr>
          <a:xfrm>
            <a:off x="1300000" y="3128552"/>
            <a:ext cx="5900000" cy="1322896"/>
          </a:xfrm>
          <a:prstGeom prst="rect">
            <a:avLst/>
          </a:prstGeom>
          <a:noFill/>
        </p:spPr>
        <p:txBody>
          <a:bodyPr wrap="square" anchor="ctr">
            <a:spAutoFit/>
          </a:bodyPr>
          <a:lstStyle/>
          <a:p>
            <a:r>
              <a:rPr sz="1600" b="0">
                <a:solidFill>
                  <a:srgbClr val="E8EEFA"/>
                </a:solidFill>
                <a:latin typeface="Segoe UI"/>
              </a:rPr>
              <a:t>Tekshiruv ro'yxatini rasmiyat uchun to'ldirish. Har band dalil (fayl, grafik, raqam, mas'ul shaxs) talab qiladi; dalilsiz «bajarilgan» belgi auditda qabul qilinmaydi.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LABORATORIYA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Virtual laboratoriya va kodlar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A6 · Sun'iy intellekt tizimlarining xavfsizligi va ishonchliligini tahlil qilish</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63</a:t>
            </a:r>
          </a:p>
        </p:txBody>
      </p:sp>
      <p:sp>
        <p:nvSpPr>
          <p:cNvPr id="24" name="Rounded Rectangle 23"/>
          <p:cNvSpPr/>
          <p:nvPr/>
        </p:nvSpPr>
        <p:spPr>
          <a:xfrm>
            <a:off x="8150000" y="1450000"/>
            <a:ext cx="3500000" cy="3500000"/>
          </a:xfrm>
          <a:prstGeom prst="roundRect">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mage.png"/>
          <p:cNvPicPr>
            <a:picLocks noChangeAspect="1"/>
          </p:cNvPicPr>
          <p:nvPr/>
        </p:nvPicPr>
        <p:blipFill>
          <a:blip r:embed="rId2"/>
          <a:stretch>
            <a:fillRect/>
          </a:stretch>
        </p:blipFill>
        <p:spPr>
          <a:xfrm>
            <a:off x="8300000" y="1600000"/>
            <a:ext cx="3200000" cy="3200000"/>
          </a:xfrm>
          <a:prstGeom prst="rect">
            <a:avLst/>
          </a:prstGeom>
        </p:spPr>
      </p:pic>
      <p:sp>
        <p:nvSpPr>
          <p:cNvPr id="26" name="TextBox 25"/>
          <p:cNvSpPr txBox="1"/>
          <p:nvPr/>
        </p:nvSpPr>
        <p:spPr>
          <a:xfrm>
            <a:off x="600000" y="1500000"/>
            <a:ext cx="7300000" cy="4600000"/>
          </a:xfrm>
          <a:prstGeom prst="rect">
            <a:avLst/>
          </a:prstGeom>
          <a:noFill/>
        </p:spPr>
        <p:txBody>
          <a:bodyPr wrap="square" anchor="t" lIns="50800" rIns="50800">
            <a:spAutoFit/>
          </a:bodyPr>
          <a:lstStyle/>
          <a:p>
            <a:pPr algn="l"/>
            <a:r>
              <a:rPr sz="1800" b="0">
                <a:solidFill>
                  <a:srgbClr val="E8EEFA"/>
                </a:solidFill>
                <a:latin typeface="Segoe UI"/>
              </a:rPr>
              <a:t>Saytda bajarish: https://aiscan.airi.uz/ktm/ → Mavzular → A6 → 🧪 Virtual bajarish (7 bosqich)</a:t>
            </a:r>
          </a:p>
          <a:p>
            <a:pPr algn="l"/>
            <a:r>
              <a:rPr sz="1800" b="0">
                <a:solidFill>
                  <a:srgbClr val="E8EEFA"/>
                </a:solidFill>
                <a:latin typeface="Segoe UI"/>
              </a:rPr>
              <a:t>Kodlarni ko‘chirib olish — QR kod yoki:</a:t>
            </a:r>
          </a:p>
          <a:p>
            <a:pPr algn="l"/>
            <a:r>
              <a:rPr sz="1800" b="0">
                <a:solidFill>
                  <a:srgbClr val="E8EEFA"/>
                </a:solidFill>
                <a:latin typeface="Segoe UI"/>
              </a:rPr>
              <a:t>git clone https://github.com/sayka7/ktm_labs.git</a:t>
            </a:r>
          </a:p>
          <a:p>
            <a:pPr algn="l"/>
            <a:r>
              <a:rPr sz="1800" b="0">
                <a:solidFill>
                  <a:srgbClr val="E8EEFA"/>
                </a:solidFill>
                <a:latin typeface="Segoe UI"/>
              </a:rPr>
              <a:t>Mustaqil topshiriq: 20 variantdan o‘zingizniki (jurnal raqami bo‘yicha)</a:t>
            </a:r>
          </a:p>
          <a:p>
            <a:pPr algn="l"/>
            <a:r>
              <a:rPr sz="1800" b="0">
                <a:solidFill>
                  <a:srgbClr val="E8EEFA"/>
                </a:solidFill>
                <a:latin typeface="Segoe U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20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20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350"/>
                            </p:stCondLst>
                            <p:childTnLst>
                              <p:par>
                                <p:cTn id="25" presetID="42"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anim calcmode="lin" valueType="num">
                                      <p:cBhvr additive="base">
                                        <p:cTn id="28" dur="550" fill="hold"/>
                                        <p:tgtEl>
                                          <p:spTgt spid="26"/>
                                        </p:tgtEl>
                                        <p:attrNameLst>
                                          <p:attrName>ppt_x</p:attrName>
                                        </p:attrNameLst>
                                      </p:cBhvr>
                                      <p:tavLst>
                                        <p:tav tm="0">
                                          <p:val>
                                            <p:strVal val="#ppt_x"/>
                                          </p:val>
                                        </p:tav>
                                        <p:tav tm="100000">
                                          <p:val>
                                            <p:strVal val="#ppt_x"/>
                                          </p:val>
                                        </p:tav>
                                      </p:tavLst>
                                    </p:anim>
                                    <p:anim calcmode="lin" valueType="num">
                                      <p:cBhvr additive="base">
                                        <p:cTn id="29" dur="550" fill="hold"/>
                                        <p:tgtEl>
                                          <p:spTgt spid="2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6" grpId="0" animBg="1"/>
    </p:bld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45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10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0" name="Rectangle 89"/>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2" name="TextBox 91"/>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https://aiscan.airi.uz/ktm/#/c/mis2104/mavzu/A6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6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200"/>
                            </p:stCondLst>
                            <p:childTnLst>
                              <p:par>
                                <p:cTn id="348" presetID="53" presetClass="entr" presetSubtype="16"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anim calcmode="lin" valueType="num">
                                      <p:cBhvr additive="base">
                                        <p:cTn id="351" dur="550" fill="hold"/>
                                        <p:tgtEl>
                                          <p:spTgt spid="89"/>
                                        </p:tgtEl>
                                        <p:attrNameLst>
                                          <p:attrName>ppt_w</p:attrName>
                                        </p:attrNameLst>
                                      </p:cBhvr>
                                      <p:tavLst>
                                        <p:tav tm="0">
                                          <p:val>
                                            <p:strVal val="0"/>
                                          </p:val>
                                        </p:tav>
                                        <p:tav tm="100000">
                                          <p:val>
                                            <p:strVal val="#ppt_w"/>
                                          </p:val>
                                        </p:tav>
                                      </p:tavLst>
                                    </p:anim>
                                    <p:anim calcmode="lin" valueType="num">
                                      <p:cBhvr additive="base">
                                        <p:cTn id="352" dur="550" fill="hold"/>
                                        <p:tgtEl>
                                          <p:spTgt spid="89"/>
                                        </p:tgtEl>
                                        <p:attrNameLst>
                                          <p:attrName>ppt_h</p:attrName>
                                        </p:attrNameLst>
                                      </p:cBhvr>
                                      <p:tavLst>
                                        <p:tav tm="0">
                                          <p:val>
                                            <p:strVal val="0"/>
                                          </p:val>
                                        </p:tav>
                                        <p:tav tm="100000">
                                          <p:val>
                                            <p:strVal val="#ppt_h"/>
                                          </p:val>
                                        </p:tav>
                                      </p:tavLst>
                                    </p:anim>
                                  </p:childTnLst>
                                </p:cTn>
                              </p:par>
                            </p:childTnLst>
                          </p:cTn>
                        </p:par>
                        <p:par>
                          <p:cTn id="353" fill="hold">
                            <p:stCondLst>
                              <p:cond delay="350"/>
                            </p:stCondLst>
                            <p:childTnLst>
                              <p:par>
                                <p:cTn id="354" presetID="22" presetClass="entr" presetSubtype="8" fill="hold" grpId="0" nodeType="afterEffect">
                                  <p:stCondLst>
                                    <p:cond delay="0"/>
                                  </p:stCondLst>
                                  <p:childTnLst>
                                    <p:set>
                                      <p:cBhvr>
                                        <p:cTn id="355" dur="1" fill="hold">
                                          <p:stCondLst>
                                            <p:cond delay="0"/>
                                          </p:stCondLst>
                                        </p:cTn>
                                        <p:tgtEl>
                                          <p:spTgt spid="90"/>
                                        </p:tgtEl>
                                        <p:attrNameLst>
                                          <p:attrName>style.visibility</p:attrName>
                                        </p:attrNameLst>
                                      </p:cBhvr>
                                      <p:to>
                                        <p:strVal val="visible"/>
                                      </p:to>
                                    </p:set>
                                    <p:animEffect transition="in" filter="wipe(left)">
                                      <p:cBhvr>
                                        <p:cTn id="357" dur="800"/>
                                        <p:tgtEl>
                                          <p:spTgt spid="90"/>
                                        </p:tgtEl>
                                      </p:cBhvr>
                                    </p:animEffect>
                                  </p:childTnLst>
                                </p:cTn>
                              </p:par>
                            </p:childTnLst>
                          </p:cTn>
                        </p:par>
                        <p:par>
                          <p:cTn id="358" fill="hold">
                            <p:stCondLst>
                              <p:cond delay="500"/>
                            </p:stCondLst>
                            <p:childTnLst>
                              <p:par>
                                <p:cTn id="359" presetID="42" presetClass="entr" presetSubtype="0" fill="hold" grpId="0" nodeType="afterEffect">
                                  <p:stCondLst>
                                    <p:cond delay="0"/>
                                  </p:stCondLst>
                                  <p:childTnLst>
                                    <p:set>
                                      <p:cBhvr>
                                        <p:cTn id="360" dur="1" fill="hold">
                                          <p:stCondLst>
                                            <p:cond delay="0"/>
                                          </p:stCondLst>
                                        </p:cTn>
                                        <p:tgtEl>
                                          <p:spTgt spid="91"/>
                                        </p:tgtEl>
                                        <p:attrNameLst>
                                          <p:attrName>style.visibility</p:attrName>
                                        </p:attrNameLst>
                                      </p:cBhvr>
                                      <p:to>
                                        <p:strVal val="visible"/>
                                      </p:to>
                                    </p:set>
                                    <p:animEffect transition="in" filter="fade">
                                      <p:cBhvr>
                                        <p:cTn id="361" dur="550"/>
                                        <p:tgtEl>
                                          <p:spTgt spid="91"/>
                                        </p:tgtEl>
                                      </p:cBhvr>
                                    </p:animEffect>
                                    <p:anim calcmode="lin" valueType="num">
                                      <p:cBhvr additive="base">
                                        <p:cTn id="362" dur="550" fill="hold"/>
                                        <p:tgtEl>
                                          <p:spTgt spid="91"/>
                                        </p:tgtEl>
                                        <p:attrNameLst>
                                          <p:attrName>ppt_x</p:attrName>
                                        </p:attrNameLst>
                                      </p:cBhvr>
                                      <p:tavLst>
                                        <p:tav tm="0">
                                          <p:val>
                                            <p:strVal val="#ppt_x"/>
                                          </p:val>
                                        </p:tav>
                                        <p:tav tm="100000">
                                          <p:val>
                                            <p:strVal val="#ppt_x"/>
                                          </p:val>
                                        </p:tav>
                                      </p:tavLst>
                                    </p:anim>
                                    <p:anim calcmode="lin" valueType="num">
                                      <p:cBhvr additive="base">
                                        <p:cTn id="363" dur="550" fill="hold"/>
                                        <p:tgtEl>
                                          <p:spTgt spid="91"/>
                                        </p:tgtEl>
                                        <p:attrNameLst>
                                          <p:attrName>ppt_y</p:attrName>
                                        </p:attrNameLst>
                                      </p:cBhvr>
                                      <p:tavLst>
                                        <p:tav tm="0">
                                          <p:val>
                                            <p:strVal val="#ppt_y+.08"/>
                                          </p:val>
                                        </p:tav>
                                        <p:tav tm="100000">
                                          <p:val>
                                            <p:strVal val="#ppt_y"/>
                                          </p:val>
                                        </p:tav>
                                      </p:tavLst>
                                    </p:anim>
                                  </p:childTnLst>
                                </p:cTn>
                              </p:par>
                            </p:childTnLst>
                          </p:cTn>
                        </p:par>
                        <p:par>
                          <p:cTn id="364" fill="hold">
                            <p:stCondLst>
                              <p:cond delay="650"/>
                            </p:stCondLst>
                            <p:childTnLst>
                              <p:par>
                                <p:cTn id="365" presetID="10" presetClass="entr" presetSubtype="0" fill="hold" grpId="0" nodeType="afterEffect">
                                  <p:stCondLst>
                                    <p:cond delay="0"/>
                                  </p:stCondLst>
                                  <p:childTnLst>
                                    <p:set>
                                      <p:cBhvr>
                                        <p:cTn id="366" dur="1" fill="hold">
                                          <p:stCondLst>
                                            <p:cond delay="0"/>
                                          </p:stCondLst>
                                        </p:cTn>
                                        <p:tgtEl>
                                          <p:spTgt spid="92"/>
                                        </p:tgtEl>
                                        <p:attrNameLst>
                                          <p:attrName>style.visibility</p:attrName>
                                        </p:attrNameLst>
                                      </p:cBhvr>
                                      <p:to>
                                        <p:strVal val="visible"/>
                                      </p:to>
                                    </p:set>
                                    <p:animEffect transition="in" filter="fade">
                                      <p:cBhvr>
                                        <p:cTn id="367" dur="55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
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a:p/>
          <a:p>
            <a:r>
              <a:t>Amaliy masalani muhandislik talablari tiliga o'tkazish: foydalanuvchi, muvaffaqiyat mezoni, xizmat darajasi ko'rsatkichlari (SLO — kechikish, o'tkazuvchanlik, aniqlik, mavjudlik), xavf toifasi va cheklovlarni rasmiylashtirish.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To'liq ML mahsulot ketma-ketligini — ma'lumot → model → API → monitoring → adolatlilik — komponentlarga ajratib, har biri uchun texnologiya tanlovini asoslash va ular orasidagi interfeyslarni (ma'lumot sxemasi, model artefakti, API kontrakti, metrika formati) aniqlash.</a:t>
            </a:r>
          </a:p>
          <a:p/>
          <a:p>
            <a:r>
              <a:t>Jamoada rollarni (ma'lumot muhandisi, ML muhandisi, platforma/MLOps muhandisi, sifat va mas'uliyatli AI bo'yicha mas'ul, texnik yetakchi) taqsimlab, bosqichli reja bo'yicha Git, konteynerlar va avtomatlashtirilgan tekshiruvlar yordamida birgalikda ishlash.</a:t>
            </a:r>
          </a:p>
          <a:p/>
          <a:p>
            <a:r>
              <a:t>Tizimni o'lchanadigan tarzda topshirish: unumdorlik (p50/p99 kechikish, so'rov/soniya), resurs sarfi, aniqlik, drift va adolatlilik ko'rsatkichlarini bitta boshqaruv panelida ko'rsatish.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Loyihani standart hujjat (loyiha pasporti, arxitektura hujjati, model kartasi, ekspluatatsiya yo'riqnomasi) va 15 daqiqalik himoya shaklida taqdim etish, rubrika bo'yicha o'zini va boshqa jamoalarni baholash.</a:t>
            </a:r>
          </a:p>
          <a:p/>
          <a:p>
            <a:r>
              <a:t>Mavzu fanning barcha o'rganish natijalariga (TN1–TN7) yakunlovchi sifatida xizmat qiladi va A1–A6 amaliy mashg'ulotlarining natijalarini bevosita qayta ishlatadi.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Sanoat tajribasi ko'rsatadiki, ML loyihalarining katta qismi ishlab chiqarishga yetib bormaydi — turli so'rovlarda bu ulush 50% dan 85% gacha baholanadi. Sabab kamdan-kam hollarda modelning aniqligi bo'ladi; odatda muammo tizim darajasida: ma'lumot quvuri sinadi, model artefakti versiyasiz yo'qoladi, API ishlab chiqarish yukiga chidamaydi, kechikish SLO'dan oshadi, bir necha oydan keyin ma'lumot taqsimoti o'zgarib (drift) model jim-jitlik bilan yomonlashadi, yoki tizim muayyan guruh foydalanuvchilarga nisbatan nomutanosib qarorlar chiqarib, ishonchini yo'qotadi. Sculley va hamkasblarining mashhur «Hidden Technical Debt in Machine Learning Systems» (2015) maqolasida ta'kidlanganidek, ML tizimida model kodi butun tizimning kichik qismi, qolgan qismi — ma'lumot yig'ish, konfiguratsiya, xizmat infratuzilmasi, monitoring va tahlil vositalari.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Sanoat tajribasi ko'rsatadiki, ML loyihalarining katta qismi ishlab chiqarishga yetib bormaydi — turli so'rovlarda bu ulush 50% dan 85% gacha baholanadi. Sabab kamdan-kam hollarda modelning aniqligi bo'ladi; odatda muammo tizim darajasida: ma'lumot quvuri sinadi, model artefakti versiyasiz yo'qoladi, API ishlab chiqarish yukiga chidamaydi, kechikish SLO'dan oshadi, bir necha oydan keyin ma'lumot taqsimoti o'zgarib (drift) model jim-jitlik bilan yomonlashadi, yoki tizim muayyan guruh foydalanuvchilarga nisbatan nomutanosib qarorlar chiqarib, ishonchini yo'qotadi. Sculley va hamkasblarining mashhur «Hidden Technical Debt in Machine Learning Systems» (2015) maqolasida ta'kidlanganidek, ML tizimida model kodi butun tizimning kichik qismi, qolgan qismi — ma'lumot yig'ish, konfiguratsiya, xizmat infratuzilmasi, monitoring va tahlil vositalari.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Shu sababli yakuniy loyiha «model o'qitish» emas, balki «tizim qurish» sifatida qo'yiladi. Talabalar 3–4 kishilik guruhlarda haqiqiy muammoga o'xshash masalani tanlaydi va uni boshidan oxirigacha olib boradi. Baholashda modelning aniqligi faqat bitta mezon (umumiy ballning taxminan beshdan biri); qolgan ballar ma'lumot sifati, tizim arxitekturasi, unumdorlik o'lchovlari, ekspluatatsiyaga tayyorlik, ishonchlilik va adolatlilik tahlili hamda jamoaviy ish va hujjatlashtirish uchun beriladi.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 mavzusi uchun uchta yo'nalish taklif qilinadi: (1) shahar transporti — Toshkent avtobus bekatlarida yo'lovchi oqimi yoki kelish vaqtini bashorat qilish; (2) tibbiy tasvir triaji — ko'krak qafasi rentgenogrammalarida patologiyani birlamchi saralash; (3) sanoat monitoringi — jihozlar sensorlari bo'yicha nosozlikni oldindan aniqlash. Guruh o'z mavzusini ham taklif qilishi mumkin, agar u ochiq ma'lumotlar to'plamiga ega bo'lsa va ketma-ketlikning barcha besh bosqichini o'z ichiga olsa. Ushbu matnda ikkinchi yo'nalish — tibbiy tasvir triaji — to'liq ishlangan namuna sifatida keltiriladi, chunki u yuqori xavfli AI toifasiga kiradi va shu sababli monitoring va adolatlilik bosqichlari ayniqsa ma'noli bo'ladi.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To'liq ML mahsulot ketma-ketligi beshta bosqichdan iborat bo'lib, har bosqich keyingisiga aniq belgilangan artefakt orqali bog'lanadi.</a:t>
            </a:r>
          </a:p>
          <a:p/>
          <a:p>
            <a:r>
              <a:t>Ma'lumot bosqichi xom manbadan o'quv-sinov to'plamiga olib keladi: yig'ish, tozalash, belgilash (labeling), versiyalash (DVC yoki LakeFS), sxema tekshiruvi (Great Expectations, Pandera) va ma'lumot varaqasi (datasheet). Chiqish artefakti — versiyalangan, sxemasi tasdiqlangan to'plam va uning statistik profili. Model bosqichi eksperimentlar (MLflow yoki Weights &amp; Biases), o'qitish (A5 dagi DDP), baholash (aniqlik, kalibrlash, kesimlar bo'yicha metrikalar), optimallashtirish (A3 dagi ONNX/TensorRT, kvantlash) va reestrga joylash (Model Registry) ni o'z ichiga oladi. Chiqish artefakti — versiyalangan model fayli, model kartasi va baholash hisoboti. API bosqichi modelni xizmatga aylantiradi: inferens serveri (FastAPI + ONNX Runtime, Triton, TorchServe), konteyner (Docker), orkestratsiya (Kubernetes, A4), kirish nazorati va kontrakt (OpenAPI). Chiqish — joylashtirilgan xizmat va uning SLO'si. Monitoring bosqichi tizim metrikalarini (kechikish, xatolar, resurs), ma'lumot metrikalarini (kirish taqsimoti, drift) va model metrikalarini (bashorat taqsimoti, kechiktirilgan haqiqiy natijalar bilan aniqlik) yig'adi — Prometheus + Grafana, Evidently. Chiqish — boshqaruv paneli va ogohlantirish qoidalari. Adolatlilik bosqichi (A6) kesimlar bo'yicha metrikalar, tushuntirishlar, xavf baholash va etik tekshiruv ro'yxatini ishlab chiqarish monitoringiga ulaydi.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 bosqichi xom manbadan o'quv-sinov to'plamiga olib keladi: yig'ish, tozalash, belgilash (labeling), versiyalash (DVC yoki LakeFS), sxema tekshiruvi (Great Expectations, Pandera) va ma'lumot varaqasi (datasheet). Chiqish artefakti — versiyalangan, sxemasi tasdiqlangan to'plam va uning statistik profili. Model bosqichi eksperimentlar (MLflow yoki Weights &amp; Biases), o'qitish (A5 dagi DDP), baholash (aniqlik, kalibrlash, kesimlar bo'yicha metrikalar), optimallashtirish (A3 dagi ONNX/TensorRT, kvantlash) va reestrga joylash (Model Registry) ni o'z ichiga oladi. Chiqish artefakti — versiyalangan model fayli, model kartasi va baholash hisoboti. API bosqichi modelni xizmatga aylantiradi: inferens serveri (FastAPI + ONNX Runtime, Triton, TorchServe), konteyner (Docker), orkestratsiya (Kubernetes, A4), kirish nazorati va kontrakt (OpenAPI). Chiqish — joylashtirilgan xizmat va uning SLO'si. Monitoring bosqichi tizim metrikalarini (kechikish, xatolar, resurs), ma'lumot metrikalarini (kirish taqsimoti, drift) va model metrikalarini (bashorat taqsimoti, kechiktirilgan haqiqiy natijalar bilan aniqlik) yig'adi — Prometheus + Grafana, Evidently. Chiqish — boshqaruv paneli va ogohlantirish qoidalari. Adolatlilik bosqichi (A6) kesimlar bo'yicha metrikalar, tushuntirishlar, xavf baholash va etik tekshiruv ro'yxatini ishlab chiqarish monitoringiga ulaydi.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 bosqichi xom manbadan o'quv-sinov to'plamiga olib keladi: yig'ish, tozalash, belgilash (labeling), versiyalash (DVC yoki LakeFS), sxema tekshiruvi (Great Expectations, Pandera) va ma'lumot varaqasi (datasheet). Chiqish artefakti — versiyalangan, sxemasi tasdiqlangan to'plam va uning statistik profili. Model bosqichi eksperimentlar (MLflow yoki Weights &amp; Biases), o'qitish (A5 dagi DDP), baholash (aniqlik, kalibrlash, kesimlar bo'yicha metrikalar), optimallashtirish (A3 dagi ONNX/TensorRT, kvantlash) va reestrga joylash (Model Registry) ni o'z ichiga oladi. Chiqish artefakti — versiyalangan model fayli, model kartasi va baholash hisoboti. API bosqichi modelni xizmatga aylantiradi: inferens serveri (FastAPI + ONNX Runtime, Triton, TorchServe), konteyner (Docker), orkestratsiya (Kubernetes, A4), kirish nazorati va kontrakt (OpenAPI). Chiqish — joylashtirilgan xizmat va uning SLO'si. Monitoring bosqichi tizim metrikalarini (kechikish, xatolar, resurs), ma'lumot metrikalarini (kirish taqsimoti, drift) va model metrikalarini (bashorat taqsimoti, kechiktirilgan haqiqiy natijalar bilan aniqlik) yig'adi — Prometheus + Grafana, Evidently. Chiqish — boshqaruv paneli va ogohlantirish qoidalari. Adolatlilik bosqichi (A6) kesimlar bo'yicha metrikalar, tushuntirishlar, xavf baholash va etik tekshiruv ro'yxatini ishlab chiqarish monitoringiga ulaydi.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Tizimni loyihalash talablarni rasmiylashtirishdan boshlanadi. Funksional talablar — tizim nima qiladi (rentgenogrammani qabul qiladi, patologiya ehtimolini va issiqlik xaritasini qaytaradi, navbatda ustuvorlik beradi). Nofunksional talablar — qanday qiladi: p99 kechikish 500 ms dan kam, 50 so'rov/soniya o'tkazuvchanlik, 99.5% mavjudlik, 8 GB GPU xotirasi chegarasi, shaxsiy ma'lumotlar tashqariga chiqmasligi. Xizmat darajasi ko'rsatkichlari (Service Level Indicator, SLI) o'lchanadigan miqdorlar, SLO — ularning maqsadli qiymatlari, xato byudjeti (error budget) — SLO'dan chetga chiqishning ruxsat etilgan ulushi. ML tizimlarida bunga model SLO'si qo'shiladi: masalan, «sezgirlik (recall) 0.90 dan past tushmasin, kesimlar bo'yicha sezgirlik farqi 0.05 dan oshmasin, PSI drift ko'rsatkichi 0.2 dan oshsa ogohlantirish».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Tizimni loyihalash talablarni rasmiylashtirishdan boshlanadi. Funksional talablar — tizim nima qiladi (rentgenogrammani qabul qiladi, patologiya ehtimolini va issiqlik xaritasini qaytaradi, navbatda ustuvorlik beradi). Nofunksional talablar — qanday qiladi: p99 kechikish 500 ms dan kam, 50 so'rov/soniya o'tkazuvchanlik, 99.5% mavjudlik, 8 GB GPU xotirasi chegarasi, shaxsiy ma'lumotlar tashqariga chiqmasligi. Xizmat darajasi ko'rsatkichlari (Service Level Indicator, SLI) o'lchanadigan miqdorlar, SLO — ularning maqsadli qiymatlari, xato byudjeti (error budget) — SLO'dan chetga chiqishning ruxsat etilgan ulushi. ML tizimlarida bunga model SLO'si qo'shiladi: masalan, «sezgirlik (recall) 0.90 dan past tushmasin, kesimlar bo'yicha sezgirlik farqi 0.05 dan oshmasin, PSI drift ko'rsatkichi 0.2 dan oshsa ogohlantirish».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Muvaffaqiyat mezoni biznes tilida ham ifodalanishi kerak: triaj tizimi uchun bu — «radiolog navbatida xavfli holatlar o'rtacha kutish vaqtini 40% qisqartirish», transport uchun — «bekatda kutish vaqtini bashorat xatosi 2 daqiqadan kam». Bu mezon modelning qaysi metrikasini optimallashtirish kerakligini belgilaydi (triajda — yuqori sezgirlik, aniqlik hisobiga).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Guruh 3–4 kishidan iborat. Rollar: texnik yetakchi (tech lead — arxitektura qarorlari, integratsiya, himoya) — bir vaqtda boshqa rolni ham bajaradi; ma'lumot muhandisi; ML muhandisi; platforma/MLOps muhandisi; mas'uliyatli AI mas'uli (sifat, xavfsizlik, adolatlilik, hujjatlar). 3 kishilik guruhda oxirgi ikki rol birlashtiriladi. Har bir a'zo kamida ikki bosqichda kod yozishi shart — «faqat slayd tayyorlagan» a'zo rubrikada individual ball yo'qotadi.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 uslubi: bitta Git ombori (monorepo), main himoyalangan, har o'zgarish pull request orqali va kamida bitta boshqa a'zo ko'rib chiqishi bilan; CI (GitHub Actions yoki GitLab CI) da lint, birlik testlar va Docker obrazini yig'ish; haftalik 15 daqiqalik sinxronizatsiya o'qituvchi bilan; vazifalar doskasi (GitHub Projects). Barcha muhim qarorlar docs/adr/ papkasida arxitektura qarorlari yozuvi (Architecture Decision Record, ADR) sifatida qayd etiladi: kontekst, variantlar, qaror, oqibatlar.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 to'rt haftaga mo'ljallangan bo'lib, A5–A6 mashg'ulotlari bilan parallel boshlanadi:</a:t>
            </a:r>
          </a:p>
          <a:p/>
          <a:p>
            <a:r>
              <a:t>Ish uslubi: bitta Git ombori (monorepo), main himoyalangan, har o'zgarish pull request orqali va kamida bitta boshqa a'zo ko'rib chiqishi bilan; CI (GitHub Actions yoki GitLab CI) da lint, birlik testlar va Docker obrazini yig'ish; haftalik 15 daqiqalik sinxronizatsiya o'qituvchi bilan; vazifalar doskasi (GitHub Projects). Barcha muhim qarorlar docs/adr/ papkasida arxitektura qarorlari yozuvi (Architecture Decision Record, ADR) sifatida qayd etiladi: kontekst, variantlar, qaror, oqibatlar.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Hujjatlar to'plami to'rt qismdan iborat va omborning docs/ papkasida Markdown ko'rinishida saqlanadi.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Himoya 25 daqiqa: 12 daqiqa taqdimot (muammo va talablar — 2 daqiqa, arxitektura va qarorlar — 3, jonli namoyish — 4, o'lchovlar va tahlil — 3), 8 daqiqa savol-javob, 5 daqiqa kod ko'rib chiqish (komissiya omborda istalgan faylni ochishni so'raydi va muallifdan tushuntirishni talab qiladi). Jonli namoyish majburiy: so'rov yuborish, javob va tushuntirish olish, Grafana panelida so'rovning aks etishi, drift simulyatsiyasi va ogohlantirish. Namoyish oldindan yozib olingan video bilan almashtirilishi mumkin emas (faqat zaxira sifatida). Har a'zo kamida bitta savolga javob beradi; individual ball shu javoblar va kod ko'rib chiqishdagi ishtirok bo'yicha tuzatiladi (±15 ball doirasida).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 tibbiy tasvir triaji loyihasi to'liq ssenariy sifatida keltiriladi. Guruh uni namunaviy yechim sifatida ishlatishi yoki o'z mavzusida xuddi shu tuzilmani takrorlashi mumkin. Kod — skeletlar: ishlaydigan, lekin guruh to'ldirishi kerak bo'lgan joylar TODO bilan belgilangan.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 tibbiy tasvir triaji loyihasi to'liq ssenariy sifatida keltiriladi. Guruh uni namunaviy yechim sifatida ishlatishi yoki o'z mavzusida xuddi shu tuzilmani takrorlashi mumkin. Kod — skeletlar: ishlaydigan, lekin guruh to'ldirishi kerak bo'lgan joylar TODO bilan belgilangan.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Viloyat ko'p tarmoqli shifoxonasida kuniga 300–400 ko'krak qafasi rentgenogrammasi olinadi, ikki radiolog ularni navbat bo'yicha ko'radi; shoshilinch holatlar (pnevmotoraks, yirik infiltrat) ba'zan navbatda bir necha soat kutadi. Maqsad — har bir yangi tasvir uchun «e'tibor talab qiladi» ehtimolini hisoblab, radiolog ish ro'yxatini qayta tartiblash. Tizim tashxis qo'ymaydi, faqat navbatni tartiblaydi — bu EU AI Act bo'yicha baribir yuqori xavfli toifa (tibbiy qurilma bilan bog'liq), demak inson nazorati, jurnal yuritish va kesimlar bo'yicha baholash majburiy.</a:t>
            </a:r>
          </a:p>
          <a:p/>
          <a:p>
            <a:r>
              <a:t>Ma'lumot: NIH ChestX-ray14 ochiq to'plami (112 120 frontal rentgenogramma, 30 805 bemor, 14 patologiya yorlig'i, bemor yoshi va jinsi metadatada; yorliqlar matnli hisobotlardan avtomatik olingan, shuning uchun shovqinli). O'quv masala ikkilik qilib soddalashtiriladi: «No Finding» va qolgan har qanday topilma. Talablar: p99 kechikish 300 ms (GPU) yoki 800 ms (CPU), 20 so'rov/soniya, sezgirlik ≥ 0.90 (chegara shunga moslanadi), jins va yosh guruhlari bo'yicha sezgirlik farqi ≤ 0.05, PSI drift ≥ 0.2 da ogohlantirish, barcha so'rovlar anonim identifikator bilan jurnalga yoziladi.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Bitta GPU'li server (8 GB yetarli; o'qitish CPU'da ham mumkin, 224×224 tasvirlar va to'plamning 20 ming tasvirlik qismi bilan), Docker 24+, docker compose, Python 3.10+, pip install torch torchvision onnx onnxruntime-gpu fastapi uvicorn prometheus-client pandas pyarrow pandera mlflow fairlearn evidently locust. Kubernetes uchun minikube yoki laboratoriya klasteri (ixtiyoriy, qo'shimcha ball).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Ikki muhandislik qarori shu yerda qabul qilindi. Birinchisi — bo'lish bemor identifikatori bo'yicha: bitta bemorning bir nechta tasviri bo'ladi va ular tasodifiy bo'linsa, test «sizadi» (leakage), aniqlik 3–5 foiz bandiga soxta oshadi — bu tibbiy ML'dagi eng ko'p uchraydigan xato. Ikkinchisi — sxema tekshiruvi Manifest.validate: keyinchalik yangi ma'lumot kelganda (masalan, shifoxonaning o'z arxivi) noto'g'ri yosh yoki noma'lum jins qiymati quvurni jim buzmaydi, balki aniq xato beradi. Guruhdagi split × sex jadvalidan kesimlar vakilligi ko'rinadi (NIH'da erkaklar ~56%, topilma ulushi jinslar bo'yicha yaqin, lekin yosh guruhlari bo'yicha sezilarli farq qiladi — 60+ yoshda topilma ulushi yuqoriroq).</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DenseNet-121 — ko'krak rentgenogrammalari uchun adabiyotda standart (CheXNet) tanlov; ImageNet og'irliklaridan boshlash kichik to'plamda yaqinlashishni tezlashtiradi. pos_weight ijobiy sinfning kamligini (NIH'da topilma ulushi ~46%, ammo soddalashtirilgan qismda farq qilishi mumkin) hisobga oladi. MLflow har ishga tushirishni parametr, metrika va artefakt bilan qayd etadi — himoyada «qaysi eksperiment nima berdi» savoliga jurnal javob beradi. Kutilgan natija (taxminiy): to'liq to'plamda 8 epoxa, A100 da ~40 daqiqa, val AUC 0.78–0.82 (yorliqlar shovqinli bo'lgani uchun bundan yuqori chiqmaydi); 20 ming tasvirlik qismda AUC 0.72–0.76. Chegara sezgirlik 0.90 uchun tanlanganda aniqlik (precision) ~0.55–0.60 bo'ladi — triaj uchun bu qabul qilinadigan muroza, chunki yolg'on ijobiy faqat navbatda yuqoriroq o'rinni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DenseNet-121 — ko'krak rentgenogrammalari uchun adabiyotda standart (CheXNet) tanlov; ImageNet og'irliklaridan boshlash kichik to'plamda yaqinlashishni tezlashtiradi. pos_weight ijobiy sinfning kamligini (NIH'da topilma ulushi ~46%, ammo soddalashtirilgan qismda farq qilishi mumkin) hisobga oladi. MLflow har ishga tushirishni parametr, metrika va artefakt bilan qayd etadi — himoyada «qaysi eksperiment nima berdi» savoliga jurnal javob beradi. Kutilgan natija (taxminiy): to'liq to'plamda 8 epoxa, A100 da ~40 daqiqa, val AUC 0.78–0.82 (yorliqlar shovqinli bo'lgani uchun bundan yuqori chiqmaydi); 20 ming tasvirlik qismda AUC 0.72–0.76. Chegara sezgirlik 0.90 uchun tanlanganda aniqlik (precision) ~0.55–0.60 bo'ladi — triaj uchun bu qabul qilinadigan muroza, chunki yolg'on ijobiy faqat navbatda yuqoriroq o'rinni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DenseNet-121 — ko'krak rentgenogrammalari uchun adabiyotda standart (CheXNet) tanlov; ImageNet og'irliklaridan boshlash kichik to'plamda yaqinlashishni tezlashtiradi. pos_weight ijobiy sinfning kamligini (NIH'da topilma ulushi ~46%, ammo soddalashtirilgan qismda farq qilishi mumkin) hisobga oladi. MLflow har ishga tushirishni parametr, metrika va artefakt bilan qayd etadi — himoyada «qaysi eksperiment nima berdi» savoliga jurnal javob beradi. Kutilgan natija (taxminiy): to'liq to'plamda 8 epoxa, A100 da ~40 daqiqa, val AUC 0.78–0.82 (yorliqlar shovqinli bo'lgani uchun bundan yuqori chiqmaydi); 20 ming tasvirlik qismda AUC 0.72–0.76. Chegara sezgirlik 0.90 uchun tanlanganda aniqlik (precision) ~0.55–0.60 bo'ladi — triaj uchun bu qabul qilinadigan muroza, chunki yolg'on ijobiy faqat navbatda yuqoriroq o'rinni bildiradi.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Server uchta vazifani bir vaqtda bajaradi: inferens, kuzatuv va audit izi. Prometheus metrikalari — tizim SLI'lari (kechikish gistogrammasi p99 hisoblash uchun, holat bo'yicha so'rovlar soni) va model SLI'lari (triage_score gistogrammasi bashorat taqsimotini kuzatish imkonini beradi — haqiqiy natijalar bo'lmaganda drift belgisining o'zi shu). Jurnalga tasvir emas, uning xeshi yoziladi — shaxsiy ma'lumotni minimallashtirish; jins va yosh sarlavhadan olinadi, chunki adolatlilik monitoringi kesimlarni talab qiladi, lekin modelga kirmaydi. Javobdagi disclaimer va priority (ehtimol emas, harakat) — foydalanuvchi interfeysi uchun qaror shakli, bu AI Act shaffoflik talabining bir qismi.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Server uchta vazifani bir vaqtda bajaradi: inferens, kuzatuv va audit izi. Prometheus metrikalari — tizim SLI'lari (kechikish gistogrammasi p99 hisoblash uchun, holat bo'yicha so'rovlar soni) va model SLI'lari (triage_score gistogrammasi bashorat taqsimotini kuzatish imkonini beradi — haqiqiy natijalar bo'lmaganda drift belgisining o'zi shu). Jurnalga tasvir emas, uning xeshi yoziladi — shaxsiy ma'lumotni minimallashtirish; jins va yosh sarlavhadan olinadi, chunki adolatlilik monitoringi kesimlarni talab qiladi, lekin modelga kirmaydi. Javobdagi disclaimer va priority (ehtimol emas, harakat) — foydalanuvchi interfeysi uchun qaror shakli, bu AI Act shaffoflik talabining bir qismi.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Docker obrazi root bo'lmagan foydalanuvchi bilan ishlaydi, HEALTHCHECK orkestrator uchun tiriklik belgisi beradi. Locust 40 virtual foydalanuvchi bilan 3 daqiqa yuk beradi; Grafana'da histogram_quantile(0.99, rate(triage_latency_seconds_bucket[1m])) ifodasi p99 ni ko'rsatadi. Kutilgan natija (taxminiy): RTX 3090 + ONNX Runtime CUDA, DenseNet-121 FP32, bitta so'rov — p50 ~25 ms, p99 ~60 ms; 40 foydalanuvchida ~25 so'rov/soniya, p99 ~120 ms — SLO (300 ms) bajarildi. CPU'da (8 yadro, ONNX Runtime) p50 ~180 ms, p99 ~450 ms, 8–10 so'rov/soniya — 20 so'rov/soniya SLO uchun 2–3 replika kerak bo'ladi, bu arxitektura hujjatida masshtablash siyosati sifatida yoziladi. Drift simulyatsiyasi uchun guruh test tasvirlarini kontrastini 30% pasaytirib (boshqa apparat taqlidi) yuboradi — PSI 0.2 dan oshib ogohlantirish yonishi namoyishda ko'rsatiladi.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Docker obrazi root bo'lmagan foydalanuvchi bilan ishlaydi, HEALTHCHECK orkestrator uchun tiriklik belgisi beradi. Locust 40 virtual foydalanuvchi bilan 3 daqiqa yuk beradi; Grafana'da histogram_quantile(0.99, rate(triage_latency_seconds_bucket[1m])) ifodasi p99 ni ko'rsatadi. Kutilgan natija (taxminiy): RTX 3090 + ONNX Runtime CUDA, DenseNet-121 FP32, bitta so'rov — p50 ~25 ms, p99 ~60 ms; 40 foydalanuvchida ~25 so'rov/soniya, p99 ~120 ms — SLO (300 ms) bajarildi. CPU'da (8 yadro, ONNX Runtime) p50 ~180 ms, p99 ~450 ms, 8–10 so'rov/soniya — 20 so'rov/soniya SLO uchun 2–3 replika kerak bo'ladi, bu arxitektura hujjatida masshtablash siyosati sifatida yoziladi. Drift simulyatsiyasi uchun guruh test tasvirlarini kontrastini 30% pasaytirib (boshqa apparat taqlidi) yuboradi — PSI 0.2 dan oshib ogohlantirish yonishi namoyishda ko'rsatiladi.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NIH to'plamida odatiy kuzatuv: jinslar bo'yicha AUC va TPR farqi kichik (0.01–0.03), yosh guruhlari bo'yicha esa sezilarli — 0–18 yosh guruhida namunalar kam va TPR 0.08–0.12 ga past bo'lishi mumkin (taxminiy). Bu holda guruh ikki yo'ldan birini tanlashi va ADR'da asoslashi kerak: bolalar tasvirlari uchun alohida chegara (post-processing) yoki tizim ko'lamini «18 yoshdan katta bemorlar» bilan cheklab, model kartasida mo'ljallanmagan foydalanish sifatida yozish. Ikkinchi yo'l ko'pincha to'g'riroq — ma'lumot yetarli bo'lmaganda tizim chegarasini halol belgilash tuzatishdan yaxshi. Mustahkamlik qismida A6 dagi PGD kodi qayta ishlatiladi; tibbiy tasvirlar uchun realistik tahdid — kichik epsilon (1–4/255) va JPEG siqish, shuning uchun egri chiziq shu diapazonda quriladi.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NIH to'plamida odatiy kuzatuv: jinslar bo'yicha AUC va TPR farqi kichik (0.01–0.03), yosh guruhlari bo'yicha esa sezilarli — 0–18 yosh guruhida namunalar kam va TPR 0.08–0.12 ga past bo'lishi mumkin (taxminiy). Bu holda guruh ikki yo'ldan birini tanlashi va ADR'da asoslashi kerak: bolalar tasvirlari uchun alohida chegara (post-processing) yoki tizim ko'lamini «18 yoshdan katta bemorlar» bilan cheklab, model kartasida mo'ljallanmagan foydalanish sifatida yozish. Ikkinchi yo'l ko'pincha to'g'riroq — ma'lumot yetarli bo'lmaganda tizim chegarasini halol belgilash tuzatishdan yaxshi. Mustahkamlik qismida A6 dagi PGD kodi qayta ishlatiladi; tibbiy tasvirlar uchun realistik tahdid — kichik epsilon (1–4/255) va JPEG siqish, shuning uchun egri chiziq shu diapazonda quriladi.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baho: 90–100 — a'lo, 75–89 — yaxshi, 60–74 — qoniqarli, 60 dan past — loyiha qayta topshiriladi (ikki haftada, maksimal 70 ball). Individual tuzatish: Git hissasi, kod ko'rib chiqishdagi javoblar va himoyadagi ishtirok asosida ±15 ball; a'zo loyihaning hech bir qismini tushuntira olmasa, uning balli guruh ballining 50% idan oshmaydi.</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baho: 90–100 — a'lo, 75–89 — yaxshi, 60–74 — qoniqarli, 60 dan past — loyiha qayta topshiriladi (ikki haftada, maksimal 70 ball). Individual tuzatish: Git hissasi, kod ko'rib chiqishdagi javoblar va himoyadagi ishtirok asosida ±15 ball; a'zo loyihaning hech bir qismini tushuntira olmasa, uning balli guruh ballining 50% idan oshmaydi.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baho: 90–100 — a'lo, 75–89 — yaxshi, 60–74 — qoniqarli, 60 dan past — loyiha qayta topshiriladi (ikki haftada, maksimal 70 ball). Individual tuzatish: Git hissasi, kod ko'rib chiqishdagi javoblar va himoyadagi ishtirok asosida ±15 ball; a'zo loyihaning hech bir qismini tushuntira olmasa, uning balli guruh ballining 50% idan oshmaydi.</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Namunaviy loyihaning kutilgan natijalari bir nechta tizimli saboq beradi. Birinchidan, model metrikasi (AUC 0.77) adabiyotdagi eng yaxshi natijalardan (0.80–0.85 ko'p yorliqli masalada) past, lekin bu loyiha uchun muammo emas — SLO tizim konteksti asosida belgilangan va u bajarilgan. Talabalar ko'pincha AUC ni oshirishga haftalab vaqt sarflab, monitoring va hujjatlarni oxirgi kunga qoldiradi; rubrika bu xatoni ballar taqsimoti bilan oldini oladi.</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Namunaviy loyihaning kutilgan natijalari bir nechta tizimli saboq beradi. Birinchidan, model metrikasi (AUC 0.77) adabiyotdagi eng yaxshi natijalardan (0.80–0.85 ko'p yorliqli masalada) past, lekin bu loyiha uchun muammo emas — SLO tizim konteksti asosida belgilangan va u bajarilgan. Talabalar ko'pincha AUC ni oshirishga haftalab vaqt sarflab, monitoring va hujjatlarni oxirgi kunga qoldiradi; rubrika bu xatoni ballar taqsimoti bilan oldini oladi.</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Ikkinchidan, unumdorlik natijalari ko'rsatadiki, bitta GPU'da ONNX Runtime bilan DenseNet-121 kechikish SLO'sini 2–3 baravar zaxira bilan bajaradi; haqiqiy cheklov tarmoq va tasvirni dekodlash (JPEG/PNG o'qish, o'lchamni o'zgartirish) bo'lib chiqadi — p99 ning katta qismi aynan oldindan qayta ishlashga ketadi. Bu A3 va A4 dagi saboqni takrorlaydi: tizim kechikishi model kechikishi emas. CPU'da joylashtirish esa replikalar sonini oshirishni talab qiladi va bu K8s HPA (Horizontal Pod Autoscaler) bilan hal qilinadi — qo'shimcha ball olgan guruhlar buni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Uchinchidan, adolatlilik tahlili tizim ko'lamini cheklash qaroriga olib keldi (18 yoshgacha bemorlar chiqarildi). Bu loyihaning eng muhim muhandislik qarorlaridan biri — u «modelni tuzatish» o'rniga «tizimning halol chegarasini belgilash» ni tanlashni o'rgatadi va model kartasida mo'ljallanmagan foydalanish sifatida hujjatlashtiriladi. Mustahkamlik natijasi (PGD ostida AUC 0.61) esa modelning kirish nazoratisiz himoyasiz ekanini ko'rsatadi; triaj tizimi yopiq shifoxona tarmog'ida ishlagani uchun tahdid modeli bu xavfni «past ehtimolli, o'rta ta'sirli» deb baholashi va chora sifatida tasvir manbai autentifikatsiyasini (DICOM modality identifikatori) yozishi mumkin.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Cheklovlar: NIH yorliqlari shovqinli, demak baholash o'zi ham noaniq — ishlab chiqarish tizimida radiolog tomonidan tasdiqlangan «oltin» to'plam kerak. Simulyatsiya qilingan drift haqiqiy apparat o'zgarishini to'liq aks ettirmaydi. Muqobil arxitekturalar: Triton Inference Server dinamik paketlash bilan o'tkazuvchanlikni 3–4 baravar oshiradi; Evidently yoki NannyML drift tahlilini chuqurlashtiradi; Kubeflow Pipelines butun ketma-ketlikni avtomatlashtiradi — bular qo'shimcha ball uchun yo'nalishlar.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5839ac3e1183d0b2.jpg"/>
          <p:cNvPicPr>
            <a:picLocks noChangeAspect="1"/>
          </p:cNvPicPr>
          <p:nvPr/>
        </p:nvPicPr>
        <p:blipFill>
          <a:blip r:embed="rId2"/>
          <a:srcRect t="5508" b="5508"/>
          <a:stretch>
            <a:fillRect/>
          </a:stretch>
        </p:blipFill>
        <p:spPr>
          <a:xfrm>
            <a:off x="7850000" y="1500000"/>
            <a:ext cx="3300000" cy="3300000"/>
          </a:xfrm>
          <a:prstGeom prst="ellipse">
            <a:avLst/>
          </a:prstGeom>
          <a:ln w="19050">
            <a:solidFill>
              <a:srgbClr val="22D3EE"/>
            </a:solidFill>
          </a:ln>
        </p:spPr>
      </p:pic>
      <p:sp>
        <p:nvSpPr>
          <p:cNvPr id="65" name="TextBox 64"/>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Hicks R, Lau E, Binns D · Wikimedia Commons · CC BY 2.5</a:t>
            </a:r>
          </a:p>
        </p:txBody>
      </p:sp>
      <p:sp>
        <p:nvSpPr>
          <p:cNvPr id="66" name="Rounded Rectangle 65"/>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A7 · 2 soat</a:t>
            </a:r>
          </a:p>
        </p:txBody>
      </p:sp>
      <p:sp>
        <p:nvSpPr>
          <p:cNvPr id="67" name="TextBox 66"/>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8" name="TextBox 67"/>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Yakuniy kompleks loyihani shakllantirish</a:t>
            </a:r>
          </a:p>
        </p:txBody>
      </p:sp>
      <p:sp>
        <p:nvSpPr>
          <p:cNvPr id="69" name="Rectangle 68"/>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3"/>
                                        </p:tgtEl>
                                        <p:attrNameLst>
                                          <p:attrName>style.visibility</p:attrName>
                                        </p:attrNameLst>
                                      </p:cBhvr>
                                      <p:to>
                                        <p:strVal val="visible"/>
                                      </p:to>
                                    </p:set>
                                    <p:animEffect transition="in" filter="fade">
                                      <p:cBhvr>
                                        <p:cTn id="242" dur="550"/>
                                        <p:tgtEl>
                                          <p:spTgt spid="63"/>
                                        </p:tgtEl>
                                      </p:cBhvr>
                                    </p:animEffect>
                                    <p:anim calcmode="lin" valueType="num">
                                      <p:cBhvr additive="base">
                                        <p:cTn id="243" dur="550" fill="hold"/>
                                        <p:tgtEl>
                                          <p:spTgt spid="63"/>
                                        </p:tgtEl>
                                        <p:attrNameLst>
                                          <p:attrName>ppt_w</p:attrName>
                                        </p:attrNameLst>
                                      </p:cBhvr>
                                      <p:tavLst>
                                        <p:tav tm="0">
                                          <p:val>
                                            <p:strVal val="0"/>
                                          </p:val>
                                        </p:tav>
                                        <p:tav tm="100000">
                                          <p:val>
                                            <p:strVal val="#ppt_w"/>
                                          </p:val>
                                        </p:tav>
                                      </p:tavLst>
                                    </p:anim>
                                    <p:anim calcmode="lin" valueType="num">
                                      <p:cBhvr additive="base">
                                        <p:cTn id="244" dur="550" fill="hold"/>
                                        <p:tgtEl>
                                          <p:spTgt spid="63"/>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53" presetClass="entr" presetSubtype="16"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anim calcmode="lin" valueType="num">
                                      <p:cBhvr additive="base">
                                        <p:cTn id="249" dur="550" fill="hold"/>
                                        <p:tgtEl>
                                          <p:spTgt spid="62"/>
                                        </p:tgtEl>
                                        <p:attrNameLst>
                                          <p:attrName>ppt_w</p:attrName>
                                        </p:attrNameLst>
                                      </p:cBhvr>
                                      <p:tavLst>
                                        <p:tav tm="0">
                                          <p:val>
                                            <p:strVal val="0"/>
                                          </p:val>
                                        </p:tav>
                                        <p:tav tm="100000">
                                          <p:val>
                                            <p:strVal val="#ppt_w"/>
                                          </p:val>
                                        </p:tav>
                                      </p:tavLst>
                                    </p:anim>
                                    <p:anim calcmode="lin" valueType="num">
                                      <p:cBhvr additive="base">
                                        <p:cTn id="250" dur="550" fill="hold"/>
                                        <p:tgtEl>
                                          <p:spTgt spid="62"/>
                                        </p:tgtEl>
                                        <p:attrNameLst>
                                          <p:attrName>ppt_h</p:attrName>
                                        </p:attrNameLst>
                                      </p:cBhvr>
                                      <p:tavLst>
                                        <p:tav tm="0">
                                          <p:val>
                                            <p:strVal val="0"/>
                                          </p:val>
                                        </p:tav>
                                        <p:tav tm="100000">
                                          <p:val>
                                            <p:strVal val="#ppt_h"/>
                                          </p:val>
                                        </p:tav>
                                      </p:tavLst>
                                    </p:anim>
                                  </p:childTnLst>
                                </p:cTn>
                              </p:par>
                            </p:childTnLst>
                          </p:cTn>
                        </p:par>
                        <p:par>
                          <p:cTn id="251" fill="hold">
                            <p:stCondLst>
                              <p:cond delay="200"/>
                            </p:stCondLst>
                            <p:childTnLst>
                              <p:par>
                                <p:cTn id="252" presetID="53" presetClass="entr" presetSubtype="16" fill="hold" grpId="0" nodeType="afterEffect">
                                  <p:stCondLst>
                                    <p:cond delay="0"/>
                                  </p:stCondLst>
                                  <p:childTnLst>
                                    <p:set>
                                      <p:cBhvr>
                                        <p:cTn id="253" dur="1" fill="hold">
                                          <p:stCondLst>
                                            <p:cond delay="0"/>
                                          </p:stCondLst>
                                        </p:cTn>
                                        <p:tgtEl>
                                          <p:spTgt spid="64"/>
                                        </p:tgtEl>
                                        <p:attrNameLst>
                                          <p:attrName>style.visibility</p:attrName>
                                        </p:attrNameLst>
                                      </p:cBhvr>
                                      <p:to>
                                        <p:strVal val="visible"/>
                                      </p:to>
                                    </p:set>
                                    <p:animEffect transition="in" filter="fade">
                                      <p:cBhvr>
                                        <p:cTn id="254" dur="550"/>
                                        <p:tgtEl>
                                          <p:spTgt spid="64"/>
                                        </p:tgtEl>
                                      </p:cBhvr>
                                    </p:animEffect>
                                    <p:anim calcmode="lin" valueType="num">
                                      <p:cBhvr additive="base">
                                        <p:cTn id="255" dur="550" fill="hold"/>
                                        <p:tgtEl>
                                          <p:spTgt spid="64"/>
                                        </p:tgtEl>
                                        <p:attrNameLst>
                                          <p:attrName>ppt_w</p:attrName>
                                        </p:attrNameLst>
                                      </p:cBhvr>
                                      <p:tavLst>
                                        <p:tav tm="0">
                                          <p:val>
                                            <p:strVal val="0"/>
                                          </p:val>
                                        </p:tav>
                                        <p:tav tm="100000">
                                          <p:val>
                                            <p:strVal val="#ppt_w"/>
                                          </p:val>
                                        </p:tav>
                                      </p:tavLst>
                                    </p:anim>
                                    <p:anim calcmode="lin" valueType="num">
                                      <p:cBhvr additive="base">
                                        <p:cTn id="256" dur="550" fill="hold"/>
                                        <p:tgtEl>
                                          <p:spTgt spid="64"/>
                                        </p:tgtEl>
                                        <p:attrNameLst>
                                          <p:attrName>ppt_h</p:attrName>
                                        </p:attrNameLst>
                                      </p:cBhvr>
                                      <p:tavLst>
                                        <p:tav tm="0">
                                          <p:val>
                                            <p:strVal val="0"/>
                                          </p:val>
                                        </p:tav>
                                        <p:tav tm="100000">
                                          <p:val>
                                            <p:strVal val="#ppt_h"/>
                                          </p:val>
                                        </p:tav>
                                      </p:tavLst>
                                    </p:anim>
                                  </p:childTnLst>
                                </p:cTn>
                              </p:par>
                            </p:childTnLst>
                          </p:cTn>
                        </p:par>
                        <p:par>
                          <p:cTn id="257" fill="hold">
                            <p:stCondLst>
                              <p:cond delay="200"/>
                            </p:stCondLst>
                            <p:childTnLst>
                              <p:par>
                                <p:cTn id="258" presetID="10" presetClass="entr" presetSubtype="0" fill="hold" grpId="0" nodeType="afterEffect">
                                  <p:stCondLst>
                                    <p:cond delay="0"/>
                                  </p:stCondLst>
                                  <p:childTnLst>
                                    <p:set>
                                      <p:cBhvr>
                                        <p:cTn id="259" dur="1" fill="hold">
                                          <p:stCondLst>
                                            <p:cond delay="0"/>
                                          </p:stCondLst>
                                        </p:cTn>
                                        <p:tgtEl>
                                          <p:spTgt spid="65"/>
                                        </p:tgtEl>
                                        <p:attrNameLst>
                                          <p:attrName>style.visibility</p:attrName>
                                        </p:attrNameLst>
                                      </p:cBhvr>
                                      <p:to>
                                        <p:strVal val="visible"/>
                                      </p:to>
                                    </p:set>
                                    <p:animEffect transition="in" filter="fade">
                                      <p:cBhvr>
                                        <p:cTn id="260" dur="550"/>
                                        <p:tgtEl>
                                          <p:spTgt spid="65"/>
                                        </p:tgtEl>
                                      </p:cBhvr>
                                    </p:animEffect>
                                  </p:childTnLst>
                                </p:cTn>
                              </p:par>
                            </p:childTnLst>
                          </p:cTn>
                        </p:par>
                        <p:par>
                          <p:cTn id="261" fill="hold">
                            <p:stCondLst>
                              <p:cond delay="350"/>
                            </p:stCondLst>
                            <p:childTnLst>
                              <p:par>
                                <p:cTn id="262" presetID="10" presetClass="entr" presetSubtype="0" fill="hold" grpId="0" nodeType="afterEffect">
                                  <p:stCondLst>
                                    <p:cond delay="0"/>
                                  </p:stCondLst>
                                  <p:childTnLst>
                                    <p:set>
                                      <p:cBhvr>
                                        <p:cTn id="263" dur="1" fill="hold">
                                          <p:stCondLst>
                                            <p:cond delay="0"/>
                                          </p:stCondLst>
                                        </p:cTn>
                                        <p:tgtEl>
                                          <p:spTgt spid="67"/>
                                        </p:tgtEl>
                                        <p:attrNameLst>
                                          <p:attrName>style.visibility</p:attrName>
                                        </p:attrNameLst>
                                      </p:cBhvr>
                                      <p:to>
                                        <p:strVal val="visible"/>
                                      </p:to>
                                    </p:set>
                                    <p:animEffect transition="in" filter="fade">
                                      <p:cBhvr>
                                        <p:cTn id="264" dur="550"/>
                                        <p:tgtEl>
                                          <p:spTgt spid="67"/>
                                        </p:tgtEl>
                                      </p:cBhvr>
                                    </p:animEffect>
                                  </p:childTnLst>
                                </p:cTn>
                              </p:par>
                            </p:childTnLst>
                          </p:cTn>
                        </p:par>
                        <p:par>
                          <p:cTn id="265" fill="hold">
                            <p:stCondLst>
                              <p:cond delay="500"/>
                            </p:stCondLst>
                            <p:childTnLst>
                              <p:par>
                                <p:cTn id="266" presetID="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 calcmode="lin" valueType="num">
                                      <p:cBhvr additive="base">
                                        <p:cTn id="269" dur="550" fill="hold"/>
                                        <p:tgtEl>
                                          <p:spTgt spid="66"/>
                                        </p:tgtEl>
                                        <p:attrNameLst>
                                          <p:attrName>ppt_x</p:attrName>
                                        </p:attrNameLst>
                                      </p:cBhvr>
                                      <p:tavLst>
                                        <p:tav tm="0">
                                          <p:val>
                                            <p:strVal val="0-#ppt_w/2"/>
                                          </p:val>
                                        </p:tav>
                                        <p:tav tm="100000">
                                          <p:val>
                                            <p:strVal val="#ppt_x"/>
                                          </p:val>
                                        </p:tav>
                                      </p:tavLst>
                                    </p:anim>
                                    <p:anim calcmode="lin" valueType="num">
                                      <p:cBhvr additive="base">
                                        <p:cTn id="270" dur="550" fill="hold"/>
                                        <p:tgtEl>
                                          <p:spTgt spid="66"/>
                                        </p:tgtEl>
                                        <p:attrNameLst>
                                          <p:attrName>ppt_y</p:attrName>
                                        </p:attrNameLst>
                                      </p:cBhvr>
                                      <p:tavLst>
                                        <p:tav tm="0">
                                          <p:val>
                                            <p:strVal val="#ppt_y"/>
                                          </p:val>
                                        </p:tav>
                                        <p:tav tm="100000">
                                          <p:val>
                                            <p:strVal val="#ppt_y"/>
                                          </p:val>
                                        </p:tav>
                                      </p:tavLst>
                                    </p:anim>
                                  </p:childTnLst>
                                </p:cTn>
                              </p:par>
                            </p:childTnLst>
                          </p:cTn>
                        </p:par>
                        <p:par>
                          <p:cTn id="271" fill="hold">
                            <p:stCondLst>
                              <p:cond delay="650"/>
                            </p:stCondLst>
                            <p:childTnLst>
                              <p:par>
                                <p:cTn id="272" presetID="42" presetClass="entr" presetSubtype="0" fill="hold" grpId="0" nodeType="afterEffect">
                                  <p:stCondLst>
                                    <p:cond delay="0"/>
                                  </p:stCondLst>
                                  <p:childTnLst>
                                    <p:set>
                                      <p:cBhvr>
                                        <p:cTn id="273" dur="1" fill="hold">
                                          <p:stCondLst>
                                            <p:cond delay="0"/>
                                          </p:stCondLst>
                                        </p:cTn>
                                        <p:tgtEl>
                                          <p:spTgt spid="68"/>
                                        </p:tgtEl>
                                        <p:attrNameLst>
                                          <p:attrName>style.visibility</p:attrName>
                                        </p:attrNameLst>
                                      </p:cBhvr>
                                      <p:to>
                                        <p:strVal val="visible"/>
                                      </p:to>
                                    </p:set>
                                    <p:animEffect transition="in" filter="fade">
                                      <p:cBhvr>
                                        <p:cTn id="274" dur="550"/>
                                        <p:tgtEl>
                                          <p:spTgt spid="68"/>
                                        </p:tgtEl>
                                      </p:cBhvr>
                                    </p:animEffect>
                                    <p:anim calcmode="lin" valueType="num">
                                      <p:cBhvr additive="base">
                                        <p:cTn id="275" dur="550" fill="hold"/>
                                        <p:tgtEl>
                                          <p:spTgt spid="68"/>
                                        </p:tgtEl>
                                        <p:attrNameLst>
                                          <p:attrName>ppt_x</p:attrName>
                                        </p:attrNameLst>
                                      </p:cBhvr>
                                      <p:tavLst>
                                        <p:tav tm="0">
                                          <p:val>
                                            <p:strVal val="#ppt_x"/>
                                          </p:val>
                                        </p:tav>
                                        <p:tav tm="100000">
                                          <p:val>
                                            <p:strVal val="#ppt_x"/>
                                          </p:val>
                                        </p:tav>
                                      </p:tavLst>
                                    </p:anim>
                                    <p:anim calcmode="lin" valueType="num">
                                      <p:cBhvr additive="base">
                                        <p:cTn id="276" dur="550" fill="hold"/>
                                        <p:tgtEl>
                                          <p:spTgt spid="68"/>
                                        </p:tgtEl>
                                        <p:attrNameLst>
                                          <p:attrName>ppt_y</p:attrName>
                                        </p:attrNameLst>
                                      </p:cBhvr>
                                      <p:tavLst>
                                        <p:tav tm="0">
                                          <p:val>
                                            <p:strVal val="#ppt_y+.08"/>
                                          </p:val>
                                        </p:tav>
                                        <p:tav tm="100000">
                                          <p:val>
                                            <p:strVal val="#ppt_y"/>
                                          </p:val>
                                        </p:tav>
                                      </p:tavLst>
                                    </p:anim>
                                  </p:childTnLst>
                                </p:cTn>
                              </p:par>
                            </p:childTnLst>
                          </p:cTn>
                        </p:par>
                        <p:par>
                          <p:cTn id="277" fill="hold">
                            <p:stCondLst>
                              <p:cond delay="800"/>
                            </p:stCondLst>
                            <p:childTnLst>
                              <p:par>
                                <p:cTn id="278" presetID="22" presetClass="entr" presetSubtype="8" fill="hold" grpId="0" nodeType="afterEffect">
                                  <p:stCondLst>
                                    <p:cond delay="0"/>
                                  </p:stCondLst>
                                  <p:childTnLst>
                                    <p:set>
                                      <p:cBhvr>
                                        <p:cTn id="279" dur="1" fill="hold">
                                          <p:stCondLst>
                                            <p:cond delay="0"/>
                                          </p:stCondLst>
                                        </p:cTn>
                                        <p:tgtEl>
                                          <p:spTgt spid="69"/>
                                        </p:tgtEl>
                                        <p:attrNameLst>
                                          <p:attrName>style.visibility</p:attrName>
                                        </p:attrNameLst>
                                      </p:cBhvr>
                                      <p:to>
                                        <p:strVal val="visible"/>
                                      </p:to>
                                    </p:set>
                                    <p:animEffect transition="in" filter="wipe(left)">
                                      <p:cBhvr>
                                        <p:cTn id="281" dur="800"/>
                                        <p:tgtEl>
                                          <p:spTgt spid="69"/>
                                        </p:tgtEl>
                                      </p:cBhvr>
                                    </p:animEffect>
                                  </p:childTnLst>
                                </p:cTn>
                              </p:par>
                            </p:childTnLst>
                          </p:cTn>
                        </p:par>
                        <p:par>
                          <p:cTn id="282" fill="hold">
                            <p:stCondLst>
                              <p:cond delay="950"/>
                            </p:stCondLst>
                            <p:childTnLst>
                              <p:par>
                                <p:cTn id="283" presetID="10" presetClass="entr" presetSubtype="0" fill="hold" grpId="0" nodeType="afterEffect">
                                  <p:stCondLst>
                                    <p:cond delay="0"/>
                                  </p:stCondLst>
                                  <p:childTnLst>
                                    <p:set>
                                      <p:cBhvr>
                                        <p:cTn id="284" dur="1" fill="hold">
                                          <p:stCondLst>
                                            <p:cond delay="0"/>
                                          </p:stCondLst>
                                        </p:cTn>
                                        <p:tgtEl>
                                          <p:spTgt spid="70"/>
                                        </p:tgtEl>
                                        <p:attrNameLst>
                                          <p:attrName>style.visibility</p:attrName>
                                        </p:attrNameLst>
                                      </p:cBhvr>
                                      <p:to>
                                        <p:strVal val="visible"/>
                                      </p:to>
                                    </p:set>
                                    <p:animEffect transition="in" filter="fade">
                                      <p:cBhvr>
                                        <p:cTn id="285" dur="5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P spid="62" grpId="0" animBg="1"/>
      <p:bldP spid="65" grpId="0" animBg="1"/>
      <p:bldP spid="67" grpId="0" animBg="1"/>
      <p:bldP spid="66" grpId="0" animBg="1"/>
      <p:bldP spid="68" grpId="0" animBg="1"/>
      <p:bldP spid="69" grpId="0" animBg="1"/>
      <p:bldP spid="7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4" name="Rounded Rectangle 23"/>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8" name="Rounded Rectangle 27"/>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2" name="Rounded Rectangle 3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6" name="Rounded Rectangle 3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9" name="TextBox 3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40" name="Rounded Rectangle 39"/>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3" name="TextBox 42"/>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4" name="Rounded Rectangle 43"/>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7" name="TextBox 46"/>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50"/>
                                        <p:tgtEl>
                                          <p:spTgt spid="36"/>
                                        </p:tgtEl>
                                      </p:cBhvr>
                                    </p:animEffect>
                                    <p:anim calcmode="lin" valueType="num">
                                      <p:cBhvr additive="base">
                                        <p:cTn id="88" dur="550" fill="hold"/>
                                        <p:tgtEl>
                                          <p:spTgt spid="36"/>
                                        </p:tgtEl>
                                        <p:attrNameLst>
                                          <p:attrName>ppt_x</p:attrName>
                                        </p:attrNameLst>
                                      </p:cBhvr>
                                      <p:tavLst>
                                        <p:tav tm="0">
                                          <p:val>
                                            <p:strVal val="#ppt_x"/>
                                          </p:val>
                                        </p:tav>
                                        <p:tav tm="100000">
                                          <p:val>
                                            <p:strVal val="#ppt_x"/>
                                          </p:val>
                                        </p:tav>
                                      </p:tavLst>
                                    </p:anim>
                                    <p:anim calcmode="lin" valueType="num">
                                      <p:cBhvr additive="base">
                                        <p:cTn id="89" dur="550" fill="hold"/>
                                        <p:tgtEl>
                                          <p:spTgt spid="36"/>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550"/>
                                        <p:tgtEl>
                                          <p:spTgt spid="37"/>
                                        </p:tgtEl>
                                      </p:cBhvr>
                                    </p:animEffect>
                                    <p:anim calcmode="lin" valueType="num">
                                      <p:cBhvr additive="base">
                                        <p:cTn id="94" dur="550" fill="hold"/>
                                        <p:tgtEl>
                                          <p:spTgt spid="37"/>
                                        </p:tgtEl>
                                        <p:attrNameLst>
                                          <p:attrName>ppt_x</p:attrName>
                                        </p:attrNameLst>
                                      </p:cBhvr>
                                      <p:tavLst>
                                        <p:tav tm="0">
                                          <p:val>
                                            <p:strVal val="#ppt_x"/>
                                          </p:val>
                                        </p:tav>
                                        <p:tav tm="100000">
                                          <p:val>
                                            <p:strVal val="#ppt_x"/>
                                          </p:val>
                                        </p:tav>
                                      </p:tavLst>
                                    </p:anim>
                                    <p:anim calcmode="lin" valueType="num">
                                      <p:cBhvr additive="base">
                                        <p:cTn id="95" dur="550" fill="hold"/>
                                        <p:tgtEl>
                                          <p:spTgt spid="37"/>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50"/>
                                        <p:tgtEl>
                                          <p:spTgt spid="38"/>
                                        </p:tgtEl>
                                      </p:cBhvr>
                                    </p:animEffect>
                                    <p:anim calcmode="lin" valueType="num">
                                      <p:cBhvr additive="base">
                                        <p:cTn id="100" dur="550" fill="hold"/>
                                        <p:tgtEl>
                                          <p:spTgt spid="38"/>
                                        </p:tgtEl>
                                        <p:attrNameLst>
                                          <p:attrName>ppt_w</p:attrName>
                                        </p:attrNameLst>
                                      </p:cBhvr>
                                      <p:tavLst>
                                        <p:tav tm="0">
                                          <p:val>
                                            <p:strVal val="0"/>
                                          </p:val>
                                        </p:tav>
                                        <p:tav tm="100000">
                                          <p:val>
                                            <p:strVal val="#ppt_w"/>
                                          </p:val>
                                        </p:tav>
                                      </p:tavLst>
                                    </p:anim>
                                    <p:anim calcmode="lin" valueType="num">
                                      <p:cBhvr additive="base">
                                        <p:cTn id="101" dur="550" fill="hold"/>
                                        <p:tgtEl>
                                          <p:spTgt spid="38"/>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50"/>
                                        <p:tgtEl>
                                          <p:spTgt spid="39"/>
                                        </p:tgtEl>
                                      </p:cBhvr>
                                    </p:animEffect>
                                    <p:anim calcmode="lin" valueType="num">
                                      <p:cBhvr additive="base">
                                        <p:cTn id="106" dur="550" fill="hold"/>
                                        <p:tgtEl>
                                          <p:spTgt spid="39"/>
                                        </p:tgtEl>
                                        <p:attrNameLst>
                                          <p:attrName>ppt_x</p:attrName>
                                        </p:attrNameLst>
                                      </p:cBhvr>
                                      <p:tavLst>
                                        <p:tav tm="0">
                                          <p:val>
                                            <p:strVal val="#ppt_x"/>
                                          </p:val>
                                        </p:tav>
                                        <p:tav tm="100000">
                                          <p:val>
                                            <p:strVal val="#ppt_x"/>
                                          </p:val>
                                        </p:tav>
                                      </p:tavLst>
                                    </p:anim>
                                    <p:anim calcmode="lin" valueType="num">
                                      <p:cBhvr additive="base">
                                        <p:cTn id="107" dur="550" fill="hold"/>
                                        <p:tgtEl>
                                          <p:spTgt spid="39"/>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50"/>
                                        <p:tgtEl>
                                          <p:spTgt spid="40"/>
                                        </p:tgtEl>
                                      </p:cBhvr>
                                    </p:animEffect>
                                    <p:anim calcmode="lin" valueType="num">
                                      <p:cBhvr additive="base">
                                        <p:cTn id="112" dur="550" fill="hold"/>
                                        <p:tgtEl>
                                          <p:spTgt spid="40"/>
                                        </p:tgtEl>
                                        <p:attrNameLst>
                                          <p:attrName>ppt_x</p:attrName>
                                        </p:attrNameLst>
                                      </p:cBhvr>
                                      <p:tavLst>
                                        <p:tav tm="0">
                                          <p:val>
                                            <p:strVal val="#ppt_x"/>
                                          </p:val>
                                        </p:tav>
                                        <p:tav tm="100000">
                                          <p:val>
                                            <p:strVal val="#ppt_x"/>
                                          </p:val>
                                        </p:tav>
                                      </p:tavLst>
                                    </p:anim>
                                    <p:anim calcmode="lin" valueType="num">
                                      <p:cBhvr additive="base">
                                        <p:cTn id="113" dur="550" fill="hold"/>
                                        <p:tgtEl>
                                          <p:spTgt spid="40"/>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1"/>
                                        </p:tgtEl>
                                        <p:attrNameLst>
                                          <p:attrName>style.visibility</p:attrName>
                                        </p:attrNameLst>
                                      </p:cBhvr>
                                      <p:to>
                                        <p:strVal val="visible"/>
                                      </p:to>
                                    </p:set>
                                    <p:animEffect transition="in" filter="fade">
                                      <p:cBhvr>
                                        <p:cTn id="117" dur="550"/>
                                        <p:tgtEl>
                                          <p:spTgt spid="41"/>
                                        </p:tgtEl>
                                      </p:cBhvr>
                                    </p:animEffect>
                                    <p:anim calcmode="lin" valueType="num">
                                      <p:cBhvr additive="base">
                                        <p:cTn id="118" dur="550" fill="hold"/>
                                        <p:tgtEl>
                                          <p:spTgt spid="41"/>
                                        </p:tgtEl>
                                        <p:attrNameLst>
                                          <p:attrName>ppt_x</p:attrName>
                                        </p:attrNameLst>
                                      </p:cBhvr>
                                      <p:tavLst>
                                        <p:tav tm="0">
                                          <p:val>
                                            <p:strVal val="#ppt_x"/>
                                          </p:val>
                                        </p:tav>
                                        <p:tav tm="100000">
                                          <p:val>
                                            <p:strVal val="#ppt_x"/>
                                          </p:val>
                                        </p:tav>
                                      </p:tavLst>
                                    </p:anim>
                                    <p:anim calcmode="lin" valueType="num">
                                      <p:cBhvr additive="base">
                                        <p:cTn id="119" dur="550" fill="hold"/>
                                        <p:tgtEl>
                                          <p:spTgt spid="41"/>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50"/>
                                        <p:tgtEl>
                                          <p:spTgt spid="42"/>
                                        </p:tgtEl>
                                      </p:cBhvr>
                                    </p:animEffect>
                                    <p:anim calcmode="lin" valueType="num">
                                      <p:cBhvr additive="base">
                                        <p:cTn id="124" dur="550" fill="hold"/>
                                        <p:tgtEl>
                                          <p:spTgt spid="42"/>
                                        </p:tgtEl>
                                        <p:attrNameLst>
                                          <p:attrName>ppt_w</p:attrName>
                                        </p:attrNameLst>
                                      </p:cBhvr>
                                      <p:tavLst>
                                        <p:tav tm="0">
                                          <p:val>
                                            <p:strVal val="0"/>
                                          </p:val>
                                        </p:tav>
                                        <p:tav tm="100000">
                                          <p:val>
                                            <p:strVal val="#ppt_w"/>
                                          </p:val>
                                        </p:tav>
                                      </p:tavLst>
                                    </p:anim>
                                    <p:anim calcmode="lin" valueType="num">
                                      <p:cBhvr additive="base">
                                        <p:cTn id="125" dur="550" fill="hold"/>
                                        <p:tgtEl>
                                          <p:spTgt spid="42"/>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50"/>
                                        <p:tgtEl>
                                          <p:spTgt spid="43"/>
                                        </p:tgtEl>
                                      </p:cBhvr>
                                    </p:animEffect>
                                    <p:anim calcmode="lin" valueType="num">
                                      <p:cBhvr additive="base">
                                        <p:cTn id="130" dur="550" fill="hold"/>
                                        <p:tgtEl>
                                          <p:spTgt spid="43"/>
                                        </p:tgtEl>
                                        <p:attrNameLst>
                                          <p:attrName>ppt_x</p:attrName>
                                        </p:attrNameLst>
                                      </p:cBhvr>
                                      <p:tavLst>
                                        <p:tav tm="0">
                                          <p:val>
                                            <p:strVal val="#ppt_x"/>
                                          </p:val>
                                        </p:tav>
                                        <p:tav tm="100000">
                                          <p:val>
                                            <p:strVal val="#ppt_x"/>
                                          </p:val>
                                        </p:tav>
                                      </p:tavLst>
                                    </p:anim>
                                    <p:anim calcmode="lin" valueType="num">
                                      <p:cBhvr additive="base">
                                        <p:cTn id="131" dur="550" fill="hold"/>
                                        <p:tgtEl>
                                          <p:spTgt spid="43"/>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550"/>
                                        <p:tgtEl>
                                          <p:spTgt spid="44"/>
                                        </p:tgtEl>
                                      </p:cBhvr>
                                    </p:animEffect>
                                    <p:anim calcmode="lin" valueType="num">
                                      <p:cBhvr additive="base">
                                        <p:cTn id="136" dur="550" fill="hold"/>
                                        <p:tgtEl>
                                          <p:spTgt spid="44"/>
                                        </p:tgtEl>
                                        <p:attrNameLst>
                                          <p:attrName>ppt_x</p:attrName>
                                        </p:attrNameLst>
                                      </p:cBhvr>
                                      <p:tavLst>
                                        <p:tav tm="0">
                                          <p:val>
                                            <p:strVal val="#ppt_x"/>
                                          </p:val>
                                        </p:tav>
                                        <p:tav tm="100000">
                                          <p:val>
                                            <p:strVal val="#ppt_x"/>
                                          </p:val>
                                        </p:tav>
                                      </p:tavLst>
                                    </p:anim>
                                    <p:anim calcmode="lin" valueType="num">
                                      <p:cBhvr additive="base">
                                        <p:cTn id="137" dur="550" fill="hold"/>
                                        <p:tgtEl>
                                          <p:spTgt spid="44"/>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5"/>
                                        </p:tgtEl>
                                        <p:attrNameLst>
                                          <p:attrName>style.visibility</p:attrName>
                                        </p:attrNameLst>
                                      </p:cBhvr>
                                      <p:to>
                                        <p:strVal val="visible"/>
                                      </p:to>
                                    </p:set>
                                    <p:animEffect transition="in" filter="fade">
                                      <p:cBhvr>
                                        <p:cTn id="141" dur="550"/>
                                        <p:tgtEl>
                                          <p:spTgt spid="45"/>
                                        </p:tgtEl>
                                      </p:cBhvr>
                                    </p:animEffect>
                                    <p:anim calcmode="lin" valueType="num">
                                      <p:cBhvr additive="base">
                                        <p:cTn id="142" dur="550" fill="hold"/>
                                        <p:tgtEl>
                                          <p:spTgt spid="45"/>
                                        </p:tgtEl>
                                        <p:attrNameLst>
                                          <p:attrName>ppt_x</p:attrName>
                                        </p:attrNameLst>
                                      </p:cBhvr>
                                      <p:tavLst>
                                        <p:tav tm="0">
                                          <p:val>
                                            <p:strVal val="#ppt_x"/>
                                          </p:val>
                                        </p:tav>
                                        <p:tav tm="100000">
                                          <p:val>
                                            <p:strVal val="#ppt_x"/>
                                          </p:val>
                                        </p:tav>
                                      </p:tavLst>
                                    </p:anim>
                                    <p:anim calcmode="lin" valueType="num">
                                      <p:cBhvr additive="base">
                                        <p:cTn id="143" dur="550" fill="hold"/>
                                        <p:tgtEl>
                                          <p:spTgt spid="45"/>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550"/>
                                        <p:tgtEl>
                                          <p:spTgt spid="46"/>
                                        </p:tgtEl>
                                      </p:cBhvr>
                                    </p:animEffect>
                                    <p:anim calcmode="lin" valueType="num">
                                      <p:cBhvr additive="base">
                                        <p:cTn id="148" dur="550" fill="hold"/>
                                        <p:tgtEl>
                                          <p:spTgt spid="46"/>
                                        </p:tgtEl>
                                        <p:attrNameLst>
                                          <p:attrName>ppt_w</p:attrName>
                                        </p:attrNameLst>
                                      </p:cBhvr>
                                      <p:tavLst>
                                        <p:tav tm="0">
                                          <p:val>
                                            <p:strVal val="0"/>
                                          </p:val>
                                        </p:tav>
                                        <p:tav tm="100000">
                                          <p:val>
                                            <p:strVal val="#ppt_w"/>
                                          </p:val>
                                        </p:tav>
                                      </p:tavLst>
                                    </p:anim>
                                    <p:anim calcmode="lin" valueType="num">
                                      <p:cBhvr additive="base">
                                        <p:cTn id="149" dur="550" fill="hold"/>
                                        <p:tgtEl>
                                          <p:spTgt spid="46"/>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7"/>
                                        </p:tgtEl>
                                        <p:attrNameLst>
                                          <p:attrName>style.visibility</p:attrName>
                                        </p:attrNameLst>
                                      </p:cBhvr>
                                      <p:to>
                                        <p:strVal val="visible"/>
                                      </p:to>
                                    </p:set>
                                    <p:animEffect transition="in" filter="fade">
                                      <p:cBhvr>
                                        <p:cTn id="153" dur="550"/>
                                        <p:tgtEl>
                                          <p:spTgt spid="47"/>
                                        </p:tgtEl>
                                      </p:cBhvr>
                                    </p:animEffect>
                                    <p:anim calcmode="lin" valueType="num">
                                      <p:cBhvr additive="base">
                                        <p:cTn id="154" dur="550" fill="hold"/>
                                        <p:tgtEl>
                                          <p:spTgt spid="47"/>
                                        </p:tgtEl>
                                        <p:attrNameLst>
                                          <p:attrName>ppt_x</p:attrName>
                                        </p:attrNameLst>
                                      </p:cBhvr>
                                      <p:tavLst>
                                        <p:tav tm="0">
                                          <p:val>
                                            <p:strVal val="#ppt_x"/>
                                          </p:val>
                                        </p:tav>
                                        <p:tav tm="100000">
                                          <p:val>
                                            <p:strVal val="#ppt_x"/>
                                          </p:val>
                                        </p:tav>
                                      </p:tavLst>
                                    </p:anim>
                                    <p:anim calcmode="lin" valueType="num">
                                      <p:cBhvr additive="base">
                                        <p:cTn id="155" dur="550" fill="hold"/>
                                        <p:tgtEl>
                                          <p:spTgt spid="4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6d3503295edbc98.jpg"/>
          <p:cNvPicPr>
            <a:picLocks noChangeAspect="1"/>
          </p:cNvPicPr>
          <p:nvPr/>
        </p:nvPicPr>
        <p:blipFill>
          <a:blip r:embed="rId2"/>
          <a:srcRect l="23316" r="23316"/>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Sixflashphoto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Yakuniy amaliy mashg'ulotning maqsadi — semestr davomida o'zlashtirilgan bilim va ko'nikmalarni (arxitektura tahlili, parallel hisoblash, optimallashtirish, konteynerlashtirish, taqsimlangan tizimlar, xavfsizlik va adolatlilik) bitta yaxlit muhandislik…</a:t>
            </a:r>
          </a:p>
          <a:p>
            <a:pPr>
              <a:spcBef>
                <a:spcPts val="400"/>
              </a:spcBef>
            </a:pPr>
            <a:r>
              <a:rPr sz="1400">
                <a:solidFill>
                  <a:srgbClr val="AEBBD9"/>
                </a:solidFill>
                <a:latin typeface="Segoe UI"/>
              </a:rPr>
              <a:t>Mashg'ulot yakunida talaba quyidagilarga qodir bo'ladi:</a:t>
            </a:r>
          </a:p>
        </p:txBody>
      </p:sp>
      <p:sp>
        <p:nvSpPr>
          <p:cNvPr id="32" name="Rounded Rectangle 31"/>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Amaliy masalani muhandislik talablari tiliga o'tkazish.</a:t>
            </a:r>
          </a:p>
          <a:p>
            <a:pPr>
              <a:spcBef>
                <a:spcPts val="400"/>
              </a:spcBef>
            </a:pPr>
            <a:r>
              <a:rPr sz="1400">
                <a:solidFill>
                  <a:srgbClr val="AEBBD9"/>
                </a:solidFill>
                <a:latin typeface="Segoe UI"/>
              </a:rPr>
              <a:t>Foydalanuvchi, muvaffaqiyat mezoni, xizmat darajasi ko'rsatkichlari (SLO — kechikish, o'tkazuvchanlik, aniqlik, mavjudlik), xavf toifasi va cheklovlarni rasmiylashtirish.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55051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630510"/>
            <a:ext cx="50000" cy="12596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06034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1590510"/>
            <a:ext cx="5900000" cy="1339660"/>
          </a:xfrm>
          <a:prstGeom prst="rect">
            <a:avLst/>
          </a:prstGeom>
          <a:noFill/>
        </p:spPr>
        <p:txBody>
          <a:bodyPr wrap="square" anchor="ctr">
            <a:spAutoFit/>
          </a:bodyPr>
          <a:lstStyle/>
          <a:p>
            <a:r>
              <a:rPr sz="1400" b="1">
                <a:solidFill>
                  <a:srgbClr val="E8EEFA"/>
                </a:solidFill>
                <a:latin typeface="Segoe UI"/>
              </a:rPr>
              <a:t>To'liq ML mahsulot ketma-ketligini.</a:t>
            </a:r>
          </a:p>
          <a:p>
            <a:pPr>
              <a:spcBef>
                <a:spcPts val="400"/>
              </a:spcBef>
            </a:pPr>
            <a:r>
              <a:rPr sz="1300">
                <a:solidFill>
                  <a:srgbClr val="AEBBD9"/>
                </a:solidFill>
                <a:latin typeface="Segoe UI"/>
              </a:rPr>
              <a:t>Ma'lumot → model → API → monitoring → adolatlilik — komponentlarga ajratib, har biri uchun texnologiya tanlovini asoslash va ular orasidagi interfeyslarni (ma'lumot sxemasi, model artefakti, API kontrakti, metrika formati) aniqlash.</a:t>
            </a:r>
          </a:p>
        </p:txBody>
      </p:sp>
      <p:sp>
        <p:nvSpPr>
          <p:cNvPr id="30" name="Rounded Rectangle 29"/>
          <p:cNvSpPr/>
          <p:nvPr/>
        </p:nvSpPr>
        <p:spPr>
          <a:xfrm>
            <a:off x="550000" y="308017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160170"/>
            <a:ext cx="50000" cy="12596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3120170"/>
            <a:ext cx="5900000" cy="1339660"/>
          </a:xfrm>
          <a:prstGeom prst="rect">
            <a:avLst/>
          </a:prstGeom>
          <a:noFill/>
        </p:spPr>
        <p:txBody>
          <a:bodyPr wrap="square" anchor="ctr">
            <a:spAutoFit/>
          </a:bodyPr>
          <a:lstStyle/>
          <a:p>
            <a:r>
              <a:rPr sz="1300" b="0">
                <a:solidFill>
                  <a:srgbClr val="E8EEFA"/>
                </a:solidFill>
                <a:latin typeface="Segoe UI"/>
              </a:rPr>
              <a:t>Jamoada rollarni (ma'lumot muhandisi, ML muhandisi, platforma/MLOps muhandisi, sifat va mas'uliyatli AI bo'yicha mas'ul, texnik yetakchi) taqsimlab, bosqichli reja bo'yicha Git, konteynerlar va avtomatlashtirilgan tekshiruvlar yordamida birgalikda ishlash.</a:t>
            </a:r>
          </a:p>
        </p:txBody>
      </p:sp>
      <p:sp>
        <p:nvSpPr>
          <p:cNvPr id="34" name="Rounded Rectangle 33"/>
          <p:cNvSpPr/>
          <p:nvPr/>
        </p:nvSpPr>
        <p:spPr>
          <a:xfrm>
            <a:off x="550000" y="460983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89830"/>
            <a:ext cx="50000" cy="12596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511966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7" name="TextBox 36"/>
          <p:cNvSpPr txBox="1"/>
          <p:nvPr/>
        </p:nvSpPr>
        <p:spPr>
          <a:xfrm>
            <a:off x="1300000" y="4649830"/>
            <a:ext cx="5900000" cy="1339660"/>
          </a:xfrm>
          <a:prstGeom prst="rect">
            <a:avLst/>
          </a:prstGeom>
          <a:noFill/>
        </p:spPr>
        <p:txBody>
          <a:bodyPr wrap="square" anchor="ctr">
            <a:spAutoFit/>
          </a:bodyPr>
          <a:lstStyle/>
          <a:p>
            <a:r>
              <a:rPr sz="1400" b="1">
                <a:solidFill>
                  <a:srgbClr val="E8EEFA"/>
                </a:solidFill>
                <a:latin typeface="Segoe UI"/>
              </a:rPr>
              <a:t>Tizimni o'lchanadigan tarzda topshirish.</a:t>
            </a:r>
          </a:p>
          <a:p>
            <a:pPr>
              <a:spcBef>
                <a:spcPts val="400"/>
              </a:spcBef>
            </a:pPr>
            <a:r>
              <a:rPr sz="1300">
                <a:solidFill>
                  <a:srgbClr val="AEBBD9"/>
                </a:solidFill>
                <a:latin typeface="Segoe UI"/>
              </a:rPr>
              <a:t>Unumdorlik (p50/p99 kechikish, so'rov/soniya), resurs sarfi, aniqlik, drift va adolatlilik ko'rsatkichlarini bitta boshqaruv panelida ko'rsatish.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550"/>
                                        <p:tgtEl>
                                          <p:spTgt spid="34"/>
                                        </p:tgtEl>
                                      </p:cBhvr>
                                    </p:animEffect>
                                    <p:anim calcmode="lin" valueType="num">
                                      <p:cBhvr additive="base">
                                        <p:cTn id="84" dur="550" fill="hold"/>
                                        <p:tgtEl>
                                          <p:spTgt spid="34"/>
                                        </p:tgtEl>
                                        <p:attrNameLst>
                                          <p:attrName>ppt_x</p:attrName>
                                        </p:attrNameLst>
                                      </p:cBhvr>
                                      <p:tavLst>
                                        <p:tav tm="0">
                                          <p:val>
                                            <p:strVal val="#ppt_x"/>
                                          </p:val>
                                        </p:tav>
                                        <p:tav tm="100000">
                                          <p:val>
                                            <p:strVal val="#ppt_x"/>
                                          </p:val>
                                        </p:tav>
                                      </p:tavLst>
                                    </p:anim>
                                    <p:anim calcmode="lin" valueType="num">
                                      <p:cBhvr additive="base">
                                        <p:cTn id="85" dur="550" fill="hold"/>
                                        <p:tgtEl>
                                          <p:spTgt spid="34"/>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5"/>
                                        </p:tgtEl>
                                        <p:attrNameLst>
                                          <p:attrName>style.visibility</p:attrName>
                                        </p:attrNameLst>
                                      </p:cBhvr>
                                      <p:to>
                                        <p:strVal val="visible"/>
                                      </p:to>
                                    </p:set>
                                    <p:animEffect transition="in" filter="fade">
                                      <p:cBhvr>
                                        <p:cTn id="89" dur="550"/>
                                        <p:tgtEl>
                                          <p:spTgt spid="35"/>
                                        </p:tgtEl>
                                      </p:cBhvr>
                                    </p:animEffect>
                                    <p:anim calcmode="lin" valueType="num">
                                      <p:cBhvr additive="base">
                                        <p:cTn id="90" dur="550" fill="hold"/>
                                        <p:tgtEl>
                                          <p:spTgt spid="35"/>
                                        </p:tgtEl>
                                        <p:attrNameLst>
                                          <p:attrName>ppt_x</p:attrName>
                                        </p:attrNameLst>
                                      </p:cBhvr>
                                      <p:tavLst>
                                        <p:tav tm="0">
                                          <p:val>
                                            <p:strVal val="#ppt_x"/>
                                          </p:val>
                                        </p:tav>
                                        <p:tav tm="100000">
                                          <p:val>
                                            <p:strVal val="#ppt_x"/>
                                          </p:val>
                                        </p:tav>
                                      </p:tavLst>
                                    </p:anim>
                                    <p:anim calcmode="lin" valueType="num">
                                      <p:cBhvr additive="base">
                                        <p:cTn id="91" dur="550" fill="hold"/>
                                        <p:tgtEl>
                                          <p:spTgt spid="35"/>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50"/>
                                        <p:tgtEl>
                                          <p:spTgt spid="36"/>
                                        </p:tgtEl>
                                      </p:cBhvr>
                                    </p:animEffect>
                                    <p:anim calcmode="lin" valueType="num">
                                      <p:cBhvr additive="base">
                                        <p:cTn id="96" dur="550" fill="hold"/>
                                        <p:tgtEl>
                                          <p:spTgt spid="36"/>
                                        </p:tgtEl>
                                        <p:attrNameLst>
                                          <p:attrName>ppt_w</p:attrName>
                                        </p:attrNameLst>
                                      </p:cBhvr>
                                      <p:tavLst>
                                        <p:tav tm="0">
                                          <p:val>
                                            <p:strVal val="0"/>
                                          </p:val>
                                        </p:tav>
                                        <p:tav tm="100000">
                                          <p:val>
                                            <p:strVal val="#ppt_w"/>
                                          </p:val>
                                        </p:tav>
                                      </p:tavLst>
                                    </p:anim>
                                    <p:anim calcmode="lin" valueType="num">
                                      <p:cBhvr additive="base">
                                        <p:cTn id="97" dur="550" fill="hold"/>
                                        <p:tgtEl>
                                          <p:spTgt spid="36"/>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550"/>
                                        <p:tgtEl>
                                          <p:spTgt spid="37"/>
                                        </p:tgtEl>
                                      </p:cBhvr>
                                    </p:animEffect>
                                    <p:anim calcmode="lin" valueType="num">
                                      <p:cBhvr additive="base">
                                        <p:cTn id="102" dur="550" fill="hold"/>
                                        <p:tgtEl>
                                          <p:spTgt spid="37"/>
                                        </p:tgtEl>
                                        <p:attrNameLst>
                                          <p:attrName>ppt_x</p:attrName>
                                        </p:attrNameLst>
                                      </p:cBhvr>
                                      <p:tavLst>
                                        <p:tav tm="0">
                                          <p:val>
                                            <p:strVal val="#ppt_x"/>
                                          </p:val>
                                        </p:tav>
                                        <p:tav tm="100000">
                                          <p:val>
                                            <p:strVal val="#ppt_x"/>
                                          </p:val>
                                        </p:tav>
                                      </p:tavLst>
                                    </p:anim>
                                    <p:anim calcmode="lin" valueType="num">
                                      <p:cBhvr additive="base">
                                        <p:cTn id="103"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e45d62a9c45ba3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Esquilo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143880"/>
            <a:ext cx="50000" cy="151112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9944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1" name="TextBox 30"/>
          <p:cNvSpPr txBox="1"/>
          <p:nvPr/>
        </p:nvSpPr>
        <p:spPr>
          <a:xfrm>
            <a:off x="1300000" y="2103880"/>
            <a:ext cx="5900000" cy="1591120"/>
          </a:xfrm>
          <a:prstGeom prst="rect">
            <a:avLst/>
          </a:prstGeom>
          <a:noFill/>
        </p:spPr>
        <p:txBody>
          <a:bodyPr wrap="square" anchor="ctr">
            <a:spAutoFit/>
          </a:bodyPr>
          <a:lstStyle/>
          <a:p>
            <a:r>
              <a:rPr sz="1600" b="0">
                <a:solidFill>
                  <a:srgbClr val="E8EEFA"/>
                </a:solidFill>
                <a:latin typeface="Segoe UI"/>
              </a:rPr>
              <a:t>Loyihani standart hujjat (loyiha pasporti, arxitektura hujjati, model kartasi, ekspluatatsiya yo'riqnomasi) va 15 daqiqalik himoya shaklida taqdim etish, rubrika bo'yicha o'zini va boshqa jamoalarni baholash.</a:t>
            </a:r>
          </a:p>
        </p:txBody>
      </p:sp>
      <p:sp>
        <p:nvSpPr>
          <p:cNvPr id="32" name="Rounded Rectangle 31"/>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48056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5" name="TextBox 34"/>
          <p:cNvSpPr txBox="1"/>
          <p:nvPr/>
        </p:nvSpPr>
        <p:spPr>
          <a:xfrm>
            <a:off x="1300000" y="3885000"/>
            <a:ext cx="5900000" cy="1591120"/>
          </a:xfrm>
          <a:prstGeom prst="rect">
            <a:avLst/>
          </a:prstGeom>
          <a:noFill/>
        </p:spPr>
        <p:txBody>
          <a:bodyPr wrap="square" anchor="ctr">
            <a:spAutoFit/>
          </a:bodyPr>
          <a:lstStyle/>
          <a:p>
            <a:r>
              <a:rPr sz="1600" b="0">
                <a:solidFill>
                  <a:srgbClr val="E8EEFA"/>
                </a:solidFill>
                <a:latin typeface="Segoe UI"/>
              </a:rPr>
              <a:t>Mavzu fanning barcha o'rganish natijalariga (TN1–TN7) yakunlovchi sifatida xizmat qiladi va A1–A6 amaliy mashg'ulotlarining natijalarini bevosita qayta ishlatadi.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3cba350ac73d0318.jpg"/>
          <p:cNvPicPr>
            <a:picLocks noChangeAspect="1"/>
          </p:cNvPicPr>
          <p:nvPr/>
        </p:nvPicPr>
        <p:blipFill>
          <a:blip r:embed="rId2"/>
          <a:srcRect t="16710" b="16710"/>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Laboratoires Servier · Wikimedia Commons · CC BY-SA 3.0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95656"/>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75656"/>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6532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35656"/>
            <a:ext cx="5900000" cy="1859344"/>
          </a:xfrm>
          <a:prstGeom prst="rect">
            <a:avLst/>
          </a:prstGeom>
          <a:noFill/>
        </p:spPr>
        <p:txBody>
          <a:bodyPr wrap="square" anchor="ctr">
            <a:spAutoFit/>
          </a:bodyPr>
          <a:lstStyle/>
          <a:p>
            <a:r>
              <a:rPr sz="1600" b="0">
                <a:solidFill>
                  <a:srgbClr val="E8EEFA"/>
                </a:solidFill>
                <a:latin typeface="Segoe UI"/>
              </a:rPr>
              <a:t>Sanoat tajribasi ko'rsatadiki, ML loyihalarining katta qismi ishlab chiqarishga yetib bormaydi — turli so'rovlarda bu ulush 50% dan 85% gacha baholanadi.</a:t>
            </a:r>
          </a:p>
        </p:txBody>
      </p:sp>
      <p:sp>
        <p:nvSpPr>
          <p:cNvPr id="32" name="Rounded Rectangle 31"/>
          <p:cNvSpPr/>
          <p:nvPr/>
        </p:nvSpPr>
        <p:spPr>
          <a:xfrm>
            <a:off x="550000" y="3845000"/>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7793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1467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859344"/>
          </a:xfrm>
          <a:prstGeom prst="rect">
            <a:avLst/>
          </a:prstGeom>
          <a:noFill/>
        </p:spPr>
        <p:txBody>
          <a:bodyPr wrap="square" anchor="ctr">
            <a:spAutoFit/>
          </a:bodyPr>
          <a:lstStyle/>
          <a:p>
            <a:r>
              <a:rPr sz="1600" b="0">
                <a:solidFill>
                  <a:srgbClr val="E8EEFA"/>
                </a:solidFill>
                <a:latin typeface="Segoe UI"/>
              </a:rPr>
              <a:t>Sabab kamdan-kam hollarda modelning aniqligi bo'ladi; odatda muammo tizim darajasida: ma'lumot quvuri sinadi, model artefakti versiyasiz yo'qoladi, API ishlab chiqarish yukiga chidamaydi, kechikish SLO'dan oshadi, bir necha oydan keyin ma'lumot taqsimoti…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Shu sababli yakuniy loyiha «model o'qitish» emas, balki «tizim qurish» sifatida qo'yiladi.</a:t>
            </a:r>
          </a:p>
          <a:p>
            <a:pPr>
              <a:spcBef>
                <a:spcPts val="400"/>
              </a:spcBef>
            </a:pPr>
            <a:r>
              <a:rPr sz="1400">
                <a:solidFill>
                  <a:srgbClr val="AEBBD9"/>
                </a:solidFill>
                <a:latin typeface="Segoe UI"/>
              </a:rPr>
              <a:t>Talabalar 3–4 kishilik guruhlarda haqiqiy muammoga o'xshash masalani tanlaydi va uni boshidan oxirigacha olib boradi. Baholashda modelning aniqligi faqat bitta mezon (umumiy ballning taxminan beshdan biri); qolgan ballar ma'lumot sifati, tizim arxitekturasi, unumdorlik o'lchovlari, ekspluatatsiyaga tayyorlik, ishonchlilik va adolatlilik tahlili hamda jamoaviy ish va hujjatlashtirish uchun beriladi.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5438a5fd6ea7c363.jpg"/>
          <p:cNvPicPr>
            <a:picLocks noChangeAspect="1"/>
          </p:cNvPicPr>
          <p:nvPr/>
        </p:nvPicPr>
        <p:blipFill>
          <a:blip r:embed="rId2"/>
          <a:srcRect t="13231" b="13231"/>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Julan Shirwod Nueva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Loyiha mavzusi uchun uchta yo'nalish taklif qilinadi: (1) shahar transporti — Toshkent avtobus bekatlarida yo'lovchi oqimi yoki kelish vaqtini bashorat qilish; (2) tibbiy tasvir triaji — ko'krak qafasi rentgenogrammalarida patologiyani birlamchi saralash; (3)…</a:t>
            </a:r>
          </a:p>
          <a:p>
            <a:pPr>
              <a:spcBef>
                <a:spcPts val="400"/>
              </a:spcBef>
            </a:pPr>
            <a:r>
              <a:rPr sz="1600">
                <a:solidFill>
                  <a:srgbClr val="AEBBD9"/>
                </a:solidFill>
                <a:latin typeface="Segoe UI"/>
              </a:rPr>
              <a:t>Guruh o'z mavzusini ham taklif qilishi mumkin, agar u ochiq ma'lumotlar to'plamiga ega bo'lsa va ketma-ketlikning barcha besh bosqichini o'z ichiga olsa.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3d6a8083ec01f5d8.jpg"/>
          <p:cNvPicPr>
            <a:picLocks noChangeAspect="1"/>
          </p:cNvPicPr>
          <p:nvPr/>
        </p:nvPicPr>
        <p:blipFill>
          <a:blip r:embed="rId2"/>
          <a:srcRect t="17530" b="17530"/>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Wilhelm Röntgen · Wikimedia Commons · Public domain</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AI-enabled Computer System: besh bosqichli ketma-ketlik va interfeyslar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600" b="0">
                <a:solidFill>
                  <a:srgbClr val="E8EEFA"/>
                </a:solidFill>
                <a:latin typeface="Segoe UI"/>
              </a:rPr>
              <a:t>To'liq ML mahsulot ketma-ketligi beshta bosqichdan iborat bo'lib, har bosqich keyingisiga aniq belgilangan artefakt orqali bog'lanadi.</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700" b="1">
                <a:solidFill>
                  <a:srgbClr val="E8EEFA"/>
                </a:solidFill>
                <a:latin typeface="Segoe UI"/>
              </a:rPr>
              <a:t>Ma'lumot bosqichi xom manbadan o'quv-sinov to'plamiga olib keladi: yig'ish, tozalash, belgilash (labeling), versiyalash (DVC yoki LakeFS), sxema tekshiruvi (Great Expectations, Pandera) va ma'lumot varaqasi (datasheet).</a:t>
            </a:r>
          </a:p>
          <a:p>
            <a:pPr>
              <a:spcBef>
                <a:spcPts val="400"/>
              </a:spcBef>
            </a:pPr>
            <a:r>
              <a:rPr sz="1600">
                <a:solidFill>
                  <a:srgbClr val="AEBBD9"/>
                </a:solidFill>
                <a:latin typeface="Segoe UI"/>
              </a:rPr>
              <a:t>Chiqish artefakti — versiyalangan, sxemasi tasdiqlangan to'plam va uning statistik profili.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AI-enabled Computer System: besh bosqichli ketma-ketlik va interfeyslar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Model bosqichi eksperimentlar (MLflow yoki Weights &amp; Biases), o'qitish (A5 dagi DDP), baholash (aniqlik, kalibrlash, kesimlar bo'yicha metrikalar), optimallashtirish (A3 dagi ONNX/TensorRT, kvantlash) va reestrga joylash (Model Registry) ni o'z ichiga oladi.</a:t>
            </a:r>
          </a:p>
          <a:p>
            <a:pPr>
              <a:spcBef>
                <a:spcPts val="400"/>
              </a:spcBef>
            </a:pPr>
            <a:r>
              <a:rPr sz="1600">
                <a:solidFill>
                  <a:srgbClr val="AEBBD9"/>
                </a:solidFill>
                <a:latin typeface="Segoe UI"/>
              </a:rPr>
              <a:t>Chiqish artefakti — versiyalangan model fayli, model kartasi va baholash hisoboti.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AI-enabled Computer System: besh bosqichli ketma-ketlik va interfeyslar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graphicFrame>
        <p:nvGraphicFramePr>
          <p:cNvPr id="24" name="Table 23"/>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Bosqich</a:t>
                      </a:r>
                    </a:p>
                  </a:txBody>
                  <a:tcPr>
                    <a:solidFill>
                      <a:srgbClr val="1C2755"/>
                    </a:solidFill>
                  </a:tcPr>
                </a:tc>
                <a:tc>
                  <a:txBody>
                    <a:bodyPr/>
                    <a:lstStyle/>
                    <a:p>
                      <a:r>
                        <a:rPr sz="1400" b="1">
                          <a:solidFill>
                            <a:srgbClr val="22D3EE"/>
                          </a:solidFill>
                          <a:latin typeface="Segoe UI"/>
                        </a:rPr>
                        <a:t>Asosiy vositalar</a:t>
                      </a:r>
                    </a:p>
                  </a:txBody>
                  <a:tcPr>
                    <a:solidFill>
                      <a:srgbClr val="1C2755"/>
                    </a:solidFill>
                  </a:tcPr>
                </a:tc>
                <a:tc>
                  <a:txBody>
                    <a:bodyPr/>
                    <a:lstStyle/>
                    <a:p>
                      <a:r>
                        <a:rPr sz="1400" b="1">
                          <a:solidFill>
                            <a:srgbClr val="22D3EE"/>
                          </a:solidFill>
                          <a:latin typeface="Segoe UI"/>
                        </a:rPr>
                        <a:t>Kirish artefakti</a:t>
                      </a:r>
                    </a:p>
                  </a:txBody>
                  <a:tcPr>
                    <a:solidFill>
                      <a:srgbClr val="1C2755"/>
                    </a:solidFill>
                  </a:tcPr>
                </a:tc>
                <a:tc>
                  <a:txBody>
                    <a:bodyPr/>
                    <a:lstStyle/>
                    <a:p>
                      <a:r>
                        <a:rPr sz="1400" b="1">
                          <a:solidFill>
                            <a:srgbClr val="22D3EE"/>
                          </a:solidFill>
                          <a:latin typeface="Segoe UI"/>
                        </a:rPr>
                        <a:t>Chiqish artefakti</a:t>
                      </a:r>
                    </a:p>
                  </a:txBody>
                  <a:tcPr>
                    <a:solidFill>
                      <a:srgbClr val="1C2755"/>
                    </a:solidFill>
                  </a:tcPr>
                </a:tc>
                <a:tc>
                  <a:txBody>
                    <a:bodyPr/>
                    <a:lstStyle/>
                    <a:p>
                      <a:r>
                        <a:rPr sz="1400" b="1">
                          <a:solidFill>
                            <a:srgbClr val="22D3EE"/>
                          </a:solidFill>
                          <a:latin typeface="Segoe UI"/>
                        </a:rPr>
                        <a:t>Mas'ul rol</a:t>
                      </a:r>
                    </a:p>
                  </a:txBody>
                  <a:tcPr>
                    <a:solidFill>
                      <a:srgbClr val="1C2755"/>
                    </a:solidFill>
                  </a:tcPr>
                </a:tc>
              </a:tr>
              <a:tr h="520000">
                <a:tc>
                  <a:txBody>
                    <a:bodyPr/>
                    <a:lstStyle/>
                    <a:p>
                      <a:r>
                        <a:rPr sz="1400" b="0">
                          <a:solidFill>
                            <a:srgbClr val="E8EEFA"/>
                          </a:solidFill>
                          <a:latin typeface="Segoe UI"/>
                        </a:rPr>
                        <a:t>Ma'lumot</a:t>
                      </a:r>
                    </a:p>
                  </a:txBody>
                  <a:tcPr>
                    <a:solidFill>
                      <a:srgbClr val="111834"/>
                    </a:solidFill>
                  </a:tcPr>
                </a:tc>
                <a:tc>
                  <a:txBody>
                    <a:bodyPr/>
                    <a:lstStyle/>
                    <a:p>
                      <a:r>
                        <a:rPr sz="1400" b="0">
                          <a:solidFill>
                            <a:srgbClr val="E8EEFA"/>
                          </a:solidFill>
                          <a:latin typeface="Segoe UI"/>
                        </a:rPr>
                        <a:t>pandas, DVC, Pandera, Label Studio</a:t>
                      </a:r>
                    </a:p>
                  </a:txBody>
                  <a:tcPr>
                    <a:solidFill>
                      <a:srgbClr val="111834"/>
                    </a:solidFill>
                  </a:tcPr>
                </a:tc>
                <a:tc>
                  <a:txBody>
                    <a:bodyPr/>
                    <a:lstStyle/>
                    <a:p>
                      <a:r>
                        <a:rPr sz="1400" b="0">
                          <a:solidFill>
                            <a:srgbClr val="E8EEFA"/>
                          </a:solidFill>
                          <a:latin typeface="Segoe UI"/>
                        </a:rPr>
                        <a:t>Xom fayllar</a:t>
                      </a:r>
                    </a:p>
                  </a:txBody>
                  <a:tcPr>
                    <a:solidFill>
                      <a:srgbClr val="111834"/>
                    </a:solidFill>
                  </a:tcPr>
                </a:tc>
                <a:tc>
                  <a:txBody>
                    <a:bodyPr/>
                    <a:lstStyle/>
                    <a:p>
                      <a:r>
                        <a:rPr sz="1400" b="0">
                          <a:solidFill>
                            <a:srgbClr val="E8EEFA"/>
                          </a:solidFill>
                          <a:latin typeface="Segoe UI"/>
                        </a:rPr>
                        <a:t>Versiyalangan to'plam + datasheet</a:t>
                      </a:r>
                    </a:p>
                  </a:txBody>
                  <a:tcPr>
                    <a:solidFill>
                      <a:srgbClr val="111834"/>
                    </a:solidFill>
                  </a:tcPr>
                </a:tc>
                <a:tc>
                  <a:txBody>
                    <a:bodyPr/>
                    <a:lstStyle/>
                    <a:p>
                      <a:r>
                        <a:rPr sz="1400" b="0">
                          <a:solidFill>
                            <a:srgbClr val="E8EEFA"/>
                          </a:solidFill>
                          <a:latin typeface="Segoe UI"/>
                        </a:rPr>
                        <a:t>Ma'lumot muhandisi</a:t>
                      </a:r>
                    </a:p>
                  </a:txBody>
                  <a:tcPr>
                    <a:solidFill>
                      <a:srgbClr val="111834"/>
                    </a:solidFill>
                  </a:tcPr>
                </a:tc>
              </a:tr>
              <a:tr h="520000">
                <a:tc>
                  <a:txBody>
                    <a:bodyPr/>
                    <a:lstStyle/>
                    <a:p>
                      <a:r>
                        <a:rPr sz="1400" b="0">
                          <a:solidFill>
                            <a:srgbClr val="E8EEFA"/>
                          </a:solidFill>
                          <a:latin typeface="Segoe UI"/>
                        </a:rPr>
                        <a:t>Model</a:t>
                      </a:r>
                    </a:p>
                  </a:txBody>
                  <a:tcPr>
                    <a:solidFill>
                      <a:srgbClr val="161F40"/>
                    </a:solidFill>
                  </a:tcPr>
                </a:tc>
                <a:tc>
                  <a:txBody>
                    <a:bodyPr/>
                    <a:lstStyle/>
                    <a:p>
                      <a:r>
                        <a:rPr sz="1400" b="0">
                          <a:solidFill>
                            <a:srgbClr val="E8EEFA"/>
                          </a:solidFill>
                          <a:latin typeface="Segoe UI"/>
                        </a:rPr>
                        <a:t>PyTorch, MLflow, ONNX</a:t>
                      </a:r>
                    </a:p>
                  </a:txBody>
                  <a:tcPr>
                    <a:solidFill>
                      <a:srgbClr val="161F40"/>
                    </a:solidFill>
                  </a:tcPr>
                </a:tc>
                <a:tc>
                  <a:txBody>
                    <a:bodyPr/>
                    <a:lstStyle/>
                    <a:p>
                      <a:r>
                        <a:rPr sz="1400" b="0">
                          <a:solidFill>
                            <a:srgbClr val="E8EEFA"/>
                          </a:solidFill>
                          <a:latin typeface="Segoe UI"/>
                        </a:rPr>
                        <a:t>To'plam</a:t>
                      </a:r>
                    </a:p>
                  </a:txBody>
                  <a:tcPr>
                    <a:solidFill>
                      <a:srgbClr val="161F40"/>
                    </a:solidFill>
                  </a:tcPr>
                </a:tc>
                <a:tc>
                  <a:txBody>
                    <a:bodyPr/>
                    <a:lstStyle/>
                    <a:p>
                      <a:r>
                        <a:rPr sz="1400" b="0">
                          <a:solidFill>
                            <a:srgbClr val="E8EEFA"/>
                          </a:solidFill>
                          <a:latin typeface="Segoe UI"/>
                        </a:rPr>
                        <a:t>Model artefakti + model card</a:t>
                      </a:r>
                    </a:p>
                  </a:txBody>
                  <a:tcPr>
                    <a:solidFill>
                      <a:srgbClr val="161F40"/>
                    </a:solidFill>
                  </a:tcPr>
                </a:tc>
                <a:tc>
                  <a:txBody>
                    <a:bodyPr/>
                    <a:lstStyle/>
                    <a:p>
                      <a:r>
                        <a:rPr sz="1400" b="0">
                          <a:solidFill>
                            <a:srgbClr val="E8EEFA"/>
                          </a:solidFill>
                          <a:latin typeface="Segoe UI"/>
                        </a:rPr>
                        <a:t>ML muhandisi</a:t>
                      </a:r>
                    </a:p>
                  </a:txBody>
                  <a:tcPr>
                    <a:solidFill>
                      <a:srgbClr val="161F40"/>
                    </a:solidFill>
                  </a:tcPr>
                </a:tc>
              </a:tr>
              <a:tr h="520000">
                <a:tc>
                  <a:txBody>
                    <a:bodyPr/>
                    <a:lstStyle/>
                    <a:p>
                      <a:r>
                        <a:rPr sz="1400" b="0">
                          <a:solidFill>
                            <a:srgbClr val="E8EEFA"/>
                          </a:solidFill>
                          <a:latin typeface="Segoe UI"/>
                        </a:rPr>
                        <a:t>API</a:t>
                      </a:r>
                    </a:p>
                  </a:txBody>
                  <a:tcPr>
                    <a:solidFill>
                      <a:srgbClr val="111834"/>
                    </a:solidFill>
                  </a:tcPr>
                </a:tc>
                <a:tc>
                  <a:txBody>
                    <a:bodyPr/>
                    <a:lstStyle/>
                    <a:p>
                      <a:r>
                        <a:rPr sz="1400" b="0">
                          <a:solidFill>
                            <a:srgbClr val="E8EEFA"/>
                          </a:solidFill>
                          <a:latin typeface="Segoe UI"/>
                        </a:rPr>
                        <a:t>FastAPI, ONNX Runtime, Docker, K8s</a:t>
                      </a:r>
                    </a:p>
                  </a:txBody>
                  <a:tcPr>
                    <a:solidFill>
                      <a:srgbClr val="111834"/>
                    </a:solidFill>
                  </a:tcPr>
                </a:tc>
                <a:tc>
                  <a:txBody>
                    <a:bodyPr/>
                    <a:lstStyle/>
                    <a:p>
                      <a:r>
                        <a:rPr sz="1400" b="0">
                          <a:solidFill>
                            <a:srgbClr val="E8EEFA"/>
                          </a:solidFill>
                          <a:latin typeface="Segoe UI"/>
                        </a:rPr>
                        <a:t>Model artefakti</a:t>
                      </a:r>
                    </a:p>
                  </a:txBody>
                  <a:tcPr>
                    <a:solidFill>
                      <a:srgbClr val="111834"/>
                    </a:solidFill>
                  </a:tcPr>
                </a:tc>
                <a:tc>
                  <a:txBody>
                    <a:bodyPr/>
                    <a:lstStyle/>
                    <a:p>
                      <a:r>
                        <a:rPr sz="1400" b="0">
                          <a:solidFill>
                            <a:srgbClr val="E8EEFA"/>
                          </a:solidFill>
                          <a:latin typeface="Segoe UI"/>
                        </a:rPr>
                        <a:t>Xizmat + OpenAPI + SLO</a:t>
                      </a:r>
                    </a:p>
                  </a:txBody>
                  <a:tcPr>
                    <a:solidFill>
                      <a:srgbClr val="111834"/>
                    </a:solidFill>
                  </a:tcPr>
                </a:tc>
                <a:tc>
                  <a:txBody>
                    <a:bodyPr/>
                    <a:lstStyle/>
                    <a:p>
                      <a:r>
                        <a:rPr sz="1400" b="0">
                          <a:solidFill>
                            <a:srgbClr val="E8EEFA"/>
                          </a:solidFill>
                          <a:latin typeface="Segoe UI"/>
                        </a:rPr>
                        <a:t>Platforma muhandisi</a:t>
                      </a:r>
                    </a:p>
                  </a:txBody>
                  <a:tcPr>
                    <a:solidFill>
                      <a:srgbClr val="111834"/>
                    </a:solidFill>
                  </a:tcPr>
                </a:tc>
              </a:tr>
              <a:tr h="520000">
                <a:tc>
                  <a:txBody>
                    <a:bodyPr/>
                    <a:lstStyle/>
                    <a:p>
                      <a:r>
                        <a:rPr sz="1400" b="0">
                          <a:solidFill>
                            <a:srgbClr val="E8EEFA"/>
                          </a:solidFill>
                          <a:latin typeface="Segoe UI"/>
                        </a:rPr>
                        <a:t>Monitoring</a:t>
                      </a:r>
                    </a:p>
                  </a:txBody>
                  <a:tcPr>
                    <a:solidFill>
                      <a:srgbClr val="161F40"/>
                    </a:solidFill>
                  </a:tcPr>
                </a:tc>
                <a:tc>
                  <a:txBody>
                    <a:bodyPr/>
                    <a:lstStyle/>
                    <a:p>
                      <a:r>
                        <a:rPr sz="1400" b="0">
                          <a:solidFill>
                            <a:srgbClr val="E8EEFA"/>
                          </a:solidFill>
                          <a:latin typeface="Segoe UI"/>
                        </a:rPr>
                        <a:t>Prometheus, Grafana, Evidently</a:t>
                      </a:r>
                    </a:p>
                  </a:txBody>
                  <a:tcPr>
                    <a:solidFill>
                      <a:srgbClr val="161F40"/>
                    </a:solidFill>
                  </a:tcPr>
                </a:tc>
                <a:tc>
                  <a:txBody>
                    <a:bodyPr/>
                    <a:lstStyle/>
                    <a:p>
                      <a:r>
                        <a:rPr sz="1400" b="0">
                          <a:solidFill>
                            <a:srgbClr val="E8EEFA"/>
                          </a:solidFill>
                          <a:latin typeface="Segoe UI"/>
                        </a:rPr>
                        <a:t>Xizmat loglari</a:t>
                      </a:r>
                    </a:p>
                  </a:txBody>
                  <a:tcPr>
                    <a:solidFill>
                      <a:srgbClr val="161F40"/>
                    </a:solidFill>
                  </a:tcPr>
                </a:tc>
                <a:tc>
                  <a:txBody>
                    <a:bodyPr/>
                    <a:lstStyle/>
                    <a:p>
                      <a:r>
                        <a:rPr sz="1400" b="0">
                          <a:solidFill>
                            <a:srgbClr val="E8EEFA"/>
                          </a:solidFill>
                          <a:latin typeface="Segoe UI"/>
                        </a:rPr>
                        <a:t>Panel + ogohlantirishlar</a:t>
                      </a:r>
                    </a:p>
                  </a:txBody>
                  <a:tcPr>
                    <a:solidFill>
                      <a:srgbClr val="161F40"/>
                    </a:solidFill>
                  </a:tcPr>
                </a:tc>
                <a:tc>
                  <a:txBody>
                    <a:bodyPr/>
                    <a:lstStyle/>
                    <a:p>
                      <a:r>
                        <a:rPr sz="1400" b="0">
                          <a:solidFill>
                            <a:srgbClr val="E8EEFA"/>
                          </a:solidFill>
                          <a:latin typeface="Segoe UI"/>
                        </a:rPr>
                        <a:t>Platforma muhandisi</a:t>
                      </a:r>
                    </a:p>
                  </a:txBody>
                  <a:tcPr>
                    <a:solidFill>
                      <a:srgbClr val="161F40"/>
                    </a:solidFill>
                  </a:tcPr>
                </a:tc>
              </a:tr>
              <a:tr h="520000">
                <a:tc>
                  <a:txBody>
                    <a:bodyPr/>
                    <a:lstStyle/>
                    <a:p>
                      <a:r>
                        <a:rPr sz="1400" b="0">
                          <a:solidFill>
                            <a:srgbClr val="E8EEFA"/>
                          </a:solidFill>
                          <a:latin typeface="Segoe UI"/>
                        </a:rPr>
                        <a:t>Adolatlilik</a:t>
                      </a:r>
                    </a:p>
                  </a:txBody>
                  <a:tcPr>
                    <a:solidFill>
                      <a:srgbClr val="111834"/>
                    </a:solidFill>
                  </a:tcPr>
                </a:tc>
                <a:tc>
                  <a:txBody>
                    <a:bodyPr/>
                    <a:lstStyle/>
                    <a:p>
                      <a:r>
                        <a:rPr sz="1400" b="0">
                          <a:solidFill>
                            <a:srgbClr val="E8EEFA"/>
                          </a:solidFill>
                          <a:latin typeface="Segoe UI"/>
                        </a:rPr>
                        <a:t>Fairlearn, SHAP, Grad-CAM</a:t>
                      </a:r>
                    </a:p>
                  </a:txBody>
                  <a:tcPr>
                    <a:solidFill>
                      <a:srgbClr val="111834"/>
                    </a:solidFill>
                  </a:tcPr>
                </a:tc>
                <a:tc>
                  <a:txBody>
                    <a:bodyPr/>
                    <a:lstStyle/>
                    <a:p>
                      <a:r>
                        <a:rPr sz="1400" b="0">
                          <a:solidFill>
                            <a:srgbClr val="E8EEFA"/>
                          </a:solidFill>
                          <a:latin typeface="Segoe UI"/>
                        </a:rPr>
                        <a:t>Bashoratlar + metadata</a:t>
                      </a:r>
                    </a:p>
                  </a:txBody>
                  <a:tcPr>
                    <a:solidFill>
                      <a:srgbClr val="111834"/>
                    </a:solidFill>
                  </a:tcPr>
                </a:tc>
                <a:tc>
                  <a:txBody>
                    <a:bodyPr/>
                    <a:lstStyle/>
                    <a:p>
                      <a:r>
                        <a:rPr sz="1400" b="0">
                          <a:solidFill>
                            <a:srgbClr val="E8EEFA"/>
                          </a:solidFill>
                          <a:latin typeface="Segoe UI"/>
                        </a:rPr>
                        <a:t>Fairness hisoboti + checklist</a:t>
                      </a:r>
                    </a:p>
                  </a:txBody>
                  <a:tcPr>
                    <a:solidFill>
                      <a:srgbClr val="111834"/>
                    </a:solidFill>
                  </a:tcPr>
                </a:tc>
                <a:tc>
                  <a:txBody>
                    <a:bodyPr/>
                    <a:lstStyle/>
                    <a:p>
                      <a:r>
                        <a:rPr sz="1400" b="0">
                          <a:solidFill>
                            <a:srgbClr val="E8EEFA"/>
                          </a:solidFill>
                          <a:latin typeface="Segoe UI"/>
                        </a:rPr>
                        <a:t>Mas'uliyatli AI mas'uli</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Talablar muhandisligi va SLO</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e45d62a9c45ba3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Esquilo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Tizimni loyihalash talablarni rasmiylashtirishdan boshlanadi.</a:t>
            </a:r>
          </a:p>
          <a:p>
            <a:pPr>
              <a:spcBef>
                <a:spcPts val="400"/>
              </a:spcBef>
            </a:pPr>
            <a:r>
              <a:rPr sz="1600">
                <a:solidFill>
                  <a:srgbClr val="AEBBD9"/>
                </a:solidFill>
                <a:latin typeface="Segoe UI"/>
              </a:rPr>
              <a:t>Funksional talablar — tizim nima qiladi (rentgenogrammani qabul qiladi, patologiya ehtimolini va issiqlik xaritasini qaytaradi, navbatda ustuvorlik beradi). Nofunksional talablar — qanday qiladi: p99 kechikish 500 ms dan kam, 50 so'rov/soniya o'tkazuvchanlik, 99.5% mavjudlik, 8 GB GPU xotirasi chegarasi, shaxsiy ma'lumotlar tashqariga chiqmasligi.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Talablar muhandisligi va SLO</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Xizmat darajasi ko'rsatkichlari (Service Level Indicator, SLI) o'lchanadigan miqdorlar, SLO — ularning maqsadli qiymatlari, xato byudjeti (error budget) — SLO'dan chetga chiqishning ruxsat etilgan ulushi.</a:t>
            </a:r>
          </a:p>
          <a:p>
            <a:pPr>
              <a:spcBef>
                <a:spcPts val="400"/>
              </a:spcBef>
            </a:pPr>
            <a:r>
              <a:rPr sz="1600">
                <a:solidFill>
                  <a:srgbClr val="AEBBD9"/>
                </a:solidFill>
                <a:latin typeface="Segoe UI"/>
              </a:rPr>
              <a:t>ML tizimlarida bunga model SLO'si qo'shiladi: masalan, «sezgirlik (recall) 0.90 dan past tushmasin, kesimlar bo'yicha sezgirlik farqi 0.05 dan oshmasin, PSI drift ko'rsatkichi 0.2 dan oshsa ogohlantirish».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Talablar muhandisligi va SLO</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Muvaffaqiyat mezoni biznes tilida ham ifodalanishi kerak: triaj tizimi uchun bu — «radiolog navbatida xavfli holatlar o'rtacha kutish vaqtini 40% qisqartirish», transport uchun — «bekatda kutish vaqtini bashorat xatosi 2 daqiqadan kam».</a:t>
            </a:r>
          </a:p>
          <a:p>
            <a:pPr>
              <a:spcBef>
                <a:spcPts val="400"/>
              </a:spcBef>
            </a:pPr>
            <a:r>
              <a:rPr sz="1600">
                <a:solidFill>
                  <a:srgbClr val="AEBBD9"/>
                </a:solidFill>
                <a:latin typeface="Segoe UI"/>
              </a:rPr>
              <a:t>Bu mezon modelning qaysi metrikasini optimallashtirish kerakligini belgilaydi (triajda — yuqori sezgirlik, aniqlik hisobiga).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Jamoa rollari, bosqichlar va ish uslubi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5438a5fd6ea7c363.jpg"/>
          <p:cNvPicPr>
            <a:picLocks noChangeAspect="1"/>
          </p:cNvPicPr>
          <p:nvPr/>
        </p:nvPicPr>
        <p:blipFill>
          <a:blip r:embed="rId2"/>
          <a:srcRect t="13231" b="13231"/>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Julan Shirwod Nueva · Wikimedia Commons · CC BY-SA 4.0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726216"/>
            <a:ext cx="5900000" cy="2127568"/>
          </a:xfrm>
          <a:prstGeom prst="rect">
            <a:avLst/>
          </a:prstGeom>
          <a:noFill/>
        </p:spPr>
        <p:txBody>
          <a:bodyPr wrap="square" anchor="ctr">
            <a:spAutoFit/>
          </a:bodyPr>
          <a:lstStyle/>
          <a:p>
            <a:r>
              <a:rPr sz="1500" b="1">
                <a:solidFill>
                  <a:srgbClr val="E8EEFA"/>
                </a:solidFill>
                <a:latin typeface="Segoe UI"/>
              </a:rPr>
              <a:t>Guruh 3–4 kishidan iborat.</a:t>
            </a:r>
          </a:p>
          <a:p>
            <a:pPr>
              <a:spcBef>
                <a:spcPts val="400"/>
              </a:spcBef>
            </a:pPr>
            <a:r>
              <a:rPr sz="1400">
                <a:solidFill>
                  <a:srgbClr val="AEBBD9"/>
                </a:solidFill>
                <a:latin typeface="Segoe UI"/>
              </a:rPr>
              <a:t>Rollar: texnik yetakchi (tech lead — arxitektura qarorlari, integratsiya, himoya) — bir vaqtda boshqa rolni ham bajaradi; ma'lumot muhandisi; ML muhandisi; platforma/MLOps muhandisi; mas'uliyatli AI mas'uli (sifat, xavfsizlik, adolatlilik, hujjatlar). 3 kishilik guruhda oxirgi ikki rol birlashtiriladi. Har bir a'zo kamida ikki bosqichda kod yozishi shart — «faqat slayd tayyorlagan» a'zo rubrikada individual ball yo'qotadi.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Jamoa rollari, bosqichlar va ish uslubi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363880"/>
            <a:ext cx="50000" cy="28522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Ish uslubi: bitta Git ombori (monorepo), main himoyalangan, har o'zgarish pull request orqali va kamida bitta boshqa a'zo ko'rib chiqishi bilan; CI (GitHub Actions yoki GitLab CI) da lint, birlik testlar va Docker obrazini yig'ish; haftalik 15 daqiqalik…</a:t>
            </a:r>
          </a:p>
          <a:p>
            <a:pPr>
              <a:spcBef>
                <a:spcPts val="400"/>
              </a:spcBef>
            </a:pPr>
            <a:r>
              <a:rPr sz="1600">
                <a:solidFill>
                  <a:srgbClr val="AEBBD9"/>
                </a:solidFill>
                <a:latin typeface="Segoe UI"/>
              </a:rPr>
              <a:t>Barcha muhim qarorlar docs/adr/ papkasida arxitektura qarorlari yozuvi (Architecture Decision Record, ADR) sifatida qayd etiladi: kontekst, variantlar, qaror, oqibatlar.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Jamoa rollari, bosqichlar va ish uslubi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graphicFrame>
        <p:nvGraphicFramePr>
          <p:cNvPr id="22" name="Table 21"/>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Hafta</a:t>
                      </a:r>
                    </a:p>
                  </a:txBody>
                  <a:tcPr>
                    <a:solidFill>
                      <a:srgbClr val="1C2755"/>
                    </a:solidFill>
                  </a:tcPr>
                </a:tc>
                <a:tc>
                  <a:txBody>
                    <a:bodyPr/>
                    <a:lstStyle/>
                    <a:p>
                      <a:r>
                        <a:rPr sz="1200" b="1">
                          <a:solidFill>
                            <a:srgbClr val="22D3EE"/>
                          </a:solidFill>
                          <a:latin typeface="Segoe UI"/>
                        </a:rPr>
                        <a:t>Bosqich</a:t>
                      </a:r>
                    </a:p>
                  </a:txBody>
                  <a:tcPr>
                    <a:solidFill>
                      <a:srgbClr val="1C2755"/>
                    </a:solidFill>
                  </a:tcPr>
                </a:tc>
                <a:tc>
                  <a:txBody>
                    <a:bodyPr/>
                    <a:lstStyle/>
                    <a:p>
                      <a:r>
                        <a:rPr sz="1200" b="1">
                          <a:solidFill>
                            <a:srgbClr val="22D3EE"/>
                          </a:solidFill>
                          <a:latin typeface="Segoe UI"/>
                        </a:rPr>
                        <a:t>Natija (gate)</a:t>
                      </a:r>
                    </a:p>
                  </a:txBody>
                  <a:tcPr>
                    <a:solidFill>
                      <a:srgbClr val="1C2755"/>
                    </a:solidFill>
                  </a:tcPr>
                </a:tc>
              </a:tr>
              <a:tr h="520000">
                <a:tc>
                  <a:txBody>
                    <a:bodyPr/>
                    <a:lstStyle/>
                    <a:p>
                      <a:r>
                        <a:rPr sz="1200" b="0">
                          <a:solidFill>
                            <a:srgbClr val="E8EEFA"/>
                          </a:solidFill>
                          <a:latin typeface="Segoe UI"/>
                        </a:rPr>
                        <a:t>1</a:t>
                      </a:r>
                    </a:p>
                  </a:txBody>
                  <a:tcPr>
                    <a:solidFill>
                      <a:srgbClr val="111834"/>
                    </a:solidFill>
                  </a:tcPr>
                </a:tc>
                <a:tc>
                  <a:txBody>
                    <a:bodyPr/>
                    <a:lstStyle/>
                    <a:p>
                      <a:r>
                        <a:rPr sz="1200" b="0">
                          <a:solidFill>
                            <a:srgbClr val="E8EEFA"/>
                          </a:solidFill>
                          <a:latin typeface="Segoe UI"/>
                        </a:rPr>
                        <a:t>Masala tanlash, talablar, ma'lumot auditi, arxitektura eskizi</a:t>
                      </a:r>
                    </a:p>
                  </a:txBody>
                  <a:tcPr>
                    <a:solidFill>
                      <a:srgbClr val="111834"/>
                    </a:solidFill>
                  </a:tcPr>
                </a:tc>
                <a:tc>
                  <a:txBody>
                    <a:bodyPr/>
                    <a:lstStyle/>
                    <a:p>
                      <a:r>
                        <a:rPr sz="1200" b="0">
                          <a:solidFill>
                            <a:srgbClr val="E8EEFA"/>
                          </a:solidFill>
                          <a:latin typeface="Segoe UI"/>
                        </a:rPr>
                        <a:t>Loyiha pasporti tasdiqlandi; ma'lumot yuklandi va profillandi</a:t>
                      </a:r>
                    </a:p>
                  </a:txBody>
                  <a:tcPr>
                    <a:solidFill>
                      <a:srgbClr val="111834"/>
                    </a:solidFill>
                  </a:tcPr>
                </a:tc>
              </a:tr>
              <a:tr h="520000">
                <a:tc>
                  <a:txBody>
                    <a:bodyPr/>
                    <a:lstStyle/>
                    <a:p>
                      <a:r>
                        <a:rPr sz="1200" b="0">
                          <a:solidFill>
                            <a:srgbClr val="E8EEFA"/>
                          </a:solidFill>
                          <a:latin typeface="Segoe UI"/>
                        </a:rPr>
                        <a:t>2</a:t>
                      </a:r>
                    </a:p>
                  </a:txBody>
                  <a:tcPr>
                    <a:solidFill>
                      <a:srgbClr val="161F40"/>
                    </a:solidFill>
                  </a:tcPr>
                </a:tc>
                <a:tc>
                  <a:txBody>
                    <a:bodyPr/>
                    <a:lstStyle/>
                    <a:p>
                      <a:r>
                        <a:rPr sz="1200" b="0">
                          <a:solidFill>
                            <a:srgbClr val="E8EEFA"/>
                          </a:solidFill>
                          <a:latin typeface="Segoe UI"/>
                        </a:rPr>
                        <a:t>Bazaviy model, eksperiment jurnali, API skeleti, Docker</a:t>
                      </a:r>
                    </a:p>
                  </a:txBody>
                  <a:tcPr>
                    <a:solidFill>
                      <a:srgbClr val="161F40"/>
                    </a:solidFill>
                  </a:tcPr>
                </a:tc>
                <a:tc>
                  <a:txBody>
                    <a:bodyPr/>
                    <a:lstStyle/>
                    <a:p>
                      <a:r>
                        <a:rPr sz="1200" b="0">
                          <a:solidFill>
                            <a:srgbClr val="E8EEFA"/>
                          </a:solidFill>
                          <a:latin typeface="Segoe UI"/>
                        </a:rPr>
                        <a:t>Baseline metrikasi; /predict lokal ishlaydi; CI testlar o'tadi</a:t>
                      </a:r>
                    </a:p>
                  </a:txBody>
                  <a:tcPr>
                    <a:solidFill>
                      <a:srgbClr val="161F40"/>
                    </a:solidFill>
                  </a:tcPr>
                </a:tc>
              </a:tr>
              <a:tr h="520000">
                <a:tc>
                  <a:txBody>
                    <a:bodyPr/>
                    <a:lstStyle/>
                    <a:p>
                      <a:r>
                        <a:rPr sz="1200" b="0">
                          <a:solidFill>
                            <a:srgbClr val="E8EEFA"/>
                          </a:solidFill>
                          <a:latin typeface="Segoe UI"/>
                        </a:rPr>
                        <a:t>3</a:t>
                      </a:r>
                    </a:p>
                  </a:txBody>
                  <a:tcPr>
                    <a:solidFill>
                      <a:srgbClr val="111834"/>
                    </a:solidFill>
                  </a:tcPr>
                </a:tc>
                <a:tc>
                  <a:txBody>
                    <a:bodyPr/>
                    <a:lstStyle/>
                    <a:p>
                      <a:r>
                        <a:rPr sz="1200" b="0">
                          <a:solidFill>
                            <a:srgbClr val="E8EEFA"/>
                          </a:solidFill>
                          <a:latin typeface="Segoe UI"/>
                        </a:rPr>
                        <a:t>Optimallashtirish (ONNX/kvantlash), K8s joylashtirish, monitoring paneli, yuk sinovi</a:t>
                      </a:r>
                    </a:p>
                  </a:txBody>
                  <a:tcPr>
                    <a:solidFill>
                      <a:srgbClr val="111834"/>
                    </a:solidFill>
                  </a:tcPr>
                </a:tc>
                <a:tc>
                  <a:txBody>
                    <a:bodyPr/>
                    <a:lstStyle/>
                    <a:p>
                      <a:r>
                        <a:rPr sz="1200" b="0">
                          <a:solidFill>
                            <a:srgbClr val="E8EEFA"/>
                          </a:solidFill>
                          <a:latin typeface="Segoe UI"/>
                        </a:rPr>
                        <a:t>SLO o'lchandi; Grafana paneli; drift simulyatsiyasi</a:t>
                      </a:r>
                    </a:p>
                  </a:txBody>
                  <a:tcPr>
                    <a:solidFill>
                      <a:srgbClr val="111834"/>
                    </a:solidFill>
                  </a:tcPr>
                </a:tc>
              </a:tr>
              <a:tr h="520000">
                <a:tc>
                  <a:txBody>
                    <a:bodyPr/>
                    <a:lstStyle/>
                    <a:p>
                      <a:r>
                        <a:rPr sz="1200" b="0">
                          <a:solidFill>
                            <a:srgbClr val="E8EEFA"/>
                          </a:solidFill>
                          <a:latin typeface="Segoe UI"/>
                        </a:rPr>
                        <a:t>4</a:t>
                      </a:r>
                    </a:p>
                  </a:txBody>
                  <a:tcPr>
                    <a:solidFill>
                      <a:srgbClr val="161F40"/>
                    </a:solidFill>
                  </a:tcPr>
                </a:tc>
                <a:tc>
                  <a:txBody>
                    <a:bodyPr/>
                    <a:lstStyle/>
                    <a:p>
                      <a:r>
                        <a:rPr sz="1200" b="0">
                          <a:solidFill>
                            <a:srgbClr val="E8EEFA"/>
                          </a:solidFill>
                          <a:latin typeface="Segoe UI"/>
                        </a:rPr>
                        <a:t>Adolatlilik va mustahkamlik tahlili, model kartasi, hujjatlar, himoya mashqi</a:t>
                      </a:r>
                    </a:p>
                  </a:txBody>
                  <a:tcPr>
                    <a:solidFill>
                      <a:srgbClr val="161F40"/>
                    </a:solidFill>
                  </a:tcPr>
                </a:tc>
                <a:tc>
                  <a:txBody>
                    <a:bodyPr/>
                    <a:lstStyle/>
                    <a:p>
                      <a:r>
                        <a:rPr sz="1200" b="0">
                          <a:solidFill>
                            <a:srgbClr val="E8EEFA"/>
                          </a:solidFill>
                          <a:latin typeface="Segoe UI"/>
                        </a:rPr>
                        <a:t>Fairness hisoboti; to'liq hujjatlar to'plami; himoya</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Loyiha hujjati shabloni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4" name="Rounded Rectangle 2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Hujjatlar to'plami to'rt qismdan iborat va omborning docs/ papkasida Markdown ko'rinishida saqlanadi.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tartibi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Himoya 25 daqiqa: 12 daqiqa taqdimot (muammo va talablar — 2 daqiqa, arxitektura va qarorlar — 3, jonli namoyish — 4, o'lchovlar va tahlil — 3), 8 daqiqa savol-javob, 5 daqiqa kod ko'rib chiqish (komissiya omborda istalgan faylni ochishni so'raydi va…</a:t>
            </a:r>
          </a:p>
          <a:p>
            <a:pPr>
              <a:spcBef>
                <a:spcPts val="400"/>
              </a:spcBef>
            </a:pPr>
            <a:r>
              <a:rPr sz="1400">
                <a:solidFill>
                  <a:srgbClr val="AEBBD9"/>
                </a:solidFill>
                <a:latin typeface="Segoe UI"/>
              </a:rPr>
              <a:t>Jonli namoyish majburiy: so'rov yuborish, javob va tushuntirish olish, Grafana panelida so'rovning aks etishi, drift simulyatsiyasi va ogohlantirish. Namoyish oldindan yozib olingan video bilan almashtirilishi mumkin emas (faqat zaxira sifatida).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eb3a7a777cad12a2.jpg"/>
          <p:cNvPicPr>
            <a:picLocks noChangeAspect="1"/>
          </p:cNvPicPr>
          <p:nvPr/>
        </p:nvPicPr>
        <p:blipFill>
          <a:blip r:embed="rId2"/>
          <a:srcRect l="13989" r="13989"/>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Tulane Public Relations · Wikimedia Commons · CC BY 2.0</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3e45d62a9c45ba3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Esquilo · Wikimedia Commons · CC BY-SA 3.0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00328"/>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Quyida tibbiy tasvir triaji loyihasi to'liq ssenariy sifatida keltiriladi.</a:t>
            </a:r>
          </a:p>
          <a:p>
            <a:pPr>
              <a:spcBef>
                <a:spcPts val="400"/>
              </a:spcBef>
            </a:pPr>
            <a:r>
              <a:rPr sz="1600">
                <a:solidFill>
                  <a:srgbClr val="AEBBD9"/>
                </a:solidFill>
                <a:latin typeface="Segoe UI"/>
              </a:rPr>
              <a:t>Guruh uni namunaviy yechim sifatida ishlatishi yoki o'z mavzusida xuddi shu tuzilmani takrorlashi mumkin. Kod — skeletlar: ishlaydigan, lekin guruh to'ldirishi kerak bo'lgan joylar TODO bilan belgilangan.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Ssenariy: ko'krak qafasi rentgenogrammalarini birlamchi saralash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Viloyat ko'p tarmoqli shifoxonasida kuniga 300–400 ko'krak qafasi rentgenogrammasi olinadi, ikki radiolog ularni navbat bo'yicha ko'radi; shoshilinch holatlar (pnevmotoraks, yirik infiltrat) ba'zan navbatda bir necha soat kutadi.</a:t>
            </a:r>
          </a:p>
          <a:p>
            <a:pPr>
              <a:spcBef>
                <a:spcPts val="400"/>
              </a:spcBef>
            </a:pPr>
            <a:r>
              <a:rPr sz="1400">
                <a:solidFill>
                  <a:srgbClr val="AEBBD9"/>
                </a:solidFill>
                <a:latin typeface="Segoe UI"/>
              </a:rPr>
              <a:t>Maqsad — har bir yangi tasvir uchun «e'tibor talab qiladi» ehtimolini hisoblab, radiolog ish ro'yxatini qayta tartiblash.</a:t>
            </a:r>
          </a:p>
        </p:txBody>
      </p:sp>
      <p:sp>
        <p:nvSpPr>
          <p:cNvPr id="32" name="Rounded Rectangle 31"/>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Ma'lumot: NIH ChestX-ray14 ochiq to'plami (112 120 frontal rentgenogramma, 30 805 bemor, 14 patologiya yorlig'i, bemor yoshi va jinsi metadatada; yorliqlar matnli hisobotlardan avtomatik olingan, shuning uchun shovqinli).</a:t>
            </a:r>
          </a:p>
          <a:p>
            <a:pPr>
              <a:spcBef>
                <a:spcPts val="400"/>
              </a:spcBef>
            </a:pPr>
            <a:r>
              <a:rPr sz="1400">
                <a:solidFill>
                  <a:srgbClr val="AEBBD9"/>
                </a:solidFill>
                <a:latin typeface="Segoe UI"/>
              </a:rPr>
              <a:t>O'quv masala ikkilik qilib soddalashtiriladi: «No Finding» va qolgan har qanday topilma.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 qilinadigan muhit</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Bitta GPU'li server (8 GB yetarli; o'qitish CPU'da ham mumkin, 224×224 tasvirlar va to'plamning 20 ming tasvirlik qismi bilan), Docker 24+, docker compose, Python 3.10+, pip install torch torchvision onnx onnxruntime-gpu fastapi uvicorn prometheus-client…</a:t>
            </a:r>
          </a:p>
          <a:p>
            <a:pPr>
              <a:spcBef>
                <a:spcPts val="400"/>
              </a:spcBef>
            </a:pPr>
            <a:r>
              <a:rPr sz="1600">
                <a:solidFill>
                  <a:srgbClr val="AEBBD9"/>
                </a:solidFill>
                <a:latin typeface="Segoe UI"/>
              </a:rPr>
              <a:t>Kubernetes uchun minikube yoki laboratoriya klasteri (ixtiyoriy, qo'shimcha ball).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Omborning tuzilmasi va ma'lumot quvuri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5438a5fd6ea7c363.jpg"/>
          <p:cNvPicPr>
            <a:picLocks noChangeAspect="1"/>
          </p:cNvPicPr>
          <p:nvPr/>
        </p:nvPicPr>
        <p:blipFill>
          <a:blip r:embed="rId2"/>
          <a:srcRect t="13231" b="13231"/>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Julan Shirwod Nueva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Ikki muhandislik qarori shu yerda qabul qilindi. Birinchisi — bo'lish bemor identifikatori bo'yicha: bitta bemorning bir nechta tasviri bo'ladi va ular tasodifiy bo'linsa, test «sizadi» (leakage), aniqlik 3–5 foiz bandiga soxta oshadi — bu tibbiy ML'dagi eng ko'p uchraydigan xato. Ikkinchisi — sxema tekshiruvi Manifest.validate: keyinchalik yangi ma'lumot kelganda (masalan, shifoxonaning o'z arxivi) noto'g'ri yosh yoki noma'lum jins qiymati quvurni jim buzmaydi, balki aniq xato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Omborning tuzilmasi va ma'lumot quvuri — kod 1</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200">
                <a:solidFill>
                  <a:srgbClr val="DBE4F5"/>
                </a:solidFill>
                <a:latin typeface="Consolas"/>
              </a:rPr>
              <a:t>triage/</a:t>
            </a:r>
          </a:p>
          <a:p>
            <a:r>
              <a:rPr sz="1200">
                <a:solidFill>
                  <a:srgbClr val="DBE4F5"/>
                </a:solidFill>
                <a:latin typeface="Consolas"/>
              </a:rPr>
              <a:t>  data/          # DVC bilan boshqariladi: raw/, processed/, splits.parquet</a:t>
            </a:r>
          </a:p>
          <a:p>
            <a:r>
              <a:rPr sz="1200">
                <a:solidFill>
                  <a:srgbClr val="DBE4F5"/>
                </a:solidFill>
                <a:latin typeface="Consolas"/>
              </a:rPr>
              <a:t>  src/</a:t>
            </a:r>
          </a:p>
          <a:p>
            <a:r>
              <a:rPr sz="1200">
                <a:solidFill>
                  <a:srgbClr val="DBE4F5"/>
                </a:solidFill>
                <a:latin typeface="Consolas"/>
              </a:rPr>
              <a:t>    data/        prepare.py  schema.py</a:t>
            </a:r>
          </a:p>
          <a:p>
            <a:r>
              <a:rPr sz="1200">
                <a:solidFill>
                  <a:srgbClr val="DBE4F5"/>
                </a:solidFill>
                <a:latin typeface="Consolas"/>
              </a:rPr>
              <a:t>    model/       train.py    export_onnx.py  evaluate.py</a:t>
            </a:r>
          </a:p>
          <a:p>
            <a:r>
              <a:rPr sz="1200">
                <a:solidFill>
                  <a:srgbClr val="DBE4F5"/>
                </a:solidFill>
                <a:latin typeface="Consolas"/>
              </a:rPr>
              <a:t>    serve/       app.py      inference.py    metrics.py</a:t>
            </a:r>
          </a:p>
          <a:p>
            <a:r>
              <a:rPr sz="1200">
                <a:solidFill>
                  <a:srgbClr val="DBE4F5"/>
                </a:solidFill>
                <a:latin typeface="Consolas"/>
              </a:rPr>
              <a:t>    monitor/     drift.py    fairness_report.py</a:t>
            </a:r>
          </a:p>
          <a:p>
            <a:r>
              <a:rPr sz="1200">
                <a:solidFill>
                  <a:srgbClr val="DBE4F5"/>
                </a:solidFill>
                <a:latin typeface="Consolas"/>
              </a:rPr>
              <a:t>  tests/         test_schema.py  test_api.py  test_inference.py</a:t>
            </a:r>
          </a:p>
          <a:p>
            <a:r>
              <a:rPr sz="1200">
                <a:solidFill>
                  <a:srgbClr val="DBE4F5"/>
                </a:solidFill>
                <a:latin typeface="Consolas"/>
              </a:rPr>
              <a:t>  deploy/        Dockerfile  docker-compose.yml  k8s/  prometheus.yml  grafana/</a:t>
            </a:r>
          </a:p>
          <a:p>
            <a:r>
              <a:rPr sz="1200">
                <a:solidFill>
                  <a:srgbClr val="DBE4F5"/>
                </a:solidFill>
                <a:latin typeface="Consolas"/>
              </a:rPr>
              <a:t>  docs/          passport.md  architecture.md  model_card.md  runbook.md  adr/</a:t>
            </a:r>
          </a:p>
          <a:p>
            <a:r>
              <a:rPr sz="1200">
                <a:solidFill>
                  <a:srgbClr val="DBE4F5"/>
                </a:solidFill>
                <a:latin typeface="Consolas"/>
              </a:rPr>
              <a:t>  .github/workflows/ci.yml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Omborning tuzilmasi va ma'lumot quvuri — kod 2</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src/data/schema.py — ma'lumot sxemasi: har qator ushbu shartlarga javob berishi shart</a:t>
            </a:r>
          </a:p>
          <a:p>
            <a:r>
              <a:rPr sz="1200">
                <a:solidFill>
                  <a:srgbClr val="DBE4F5"/>
                </a:solidFill>
                <a:latin typeface="Consolas"/>
              </a:rPr>
              <a:t>import pandera as pa</a:t>
            </a:r>
          </a:p>
          <a:p>
            <a:r>
              <a:rPr sz="1200">
                <a:solidFill>
                  <a:srgbClr val="DBE4F5"/>
                </a:solidFill>
                <a:latin typeface="Consolas"/>
              </a:rPr>
              <a:t>from pandera import Column, Check</a:t>
            </a:r>
          </a:p>
          <a:p>
            <a:r>
              <a:rPr sz="1200">
                <a:solidFill>
                  <a:srgbClr val="DBE4F5"/>
                </a:solidFill>
                <a:latin typeface="Consolas"/>
              </a:rPr>
              <a:t>Manifest = pa.DataFrameSchema({</a:t>
            </a:r>
          </a:p>
          <a:p>
            <a:r>
              <a:rPr sz="1200">
                <a:solidFill>
                  <a:srgbClr val="DBE4F5"/>
                </a:solidFill>
                <a:latin typeface="Consolas"/>
              </a:rPr>
              <a:t>    "image_id":   Column(str, Check.str_matches(r"^\d{8}_\d{3}\.png$"), unique=True),</a:t>
            </a:r>
          </a:p>
          <a:p>
            <a:r>
              <a:rPr sz="1200">
                <a:solidFill>
                  <a:srgbClr val="DBE4F5"/>
                </a:solidFill>
                <a:latin typeface="Consolas"/>
              </a:rPr>
              <a:t>    "patient_id": Column(int, Check.ge(0)),</a:t>
            </a:r>
          </a:p>
          <a:p>
            <a:r>
              <a:rPr sz="1200">
                <a:solidFill>
                  <a:srgbClr val="DBE4F5"/>
                </a:solidFill>
                <a:latin typeface="Consolas"/>
              </a:rPr>
              <a:t>    "age":        Column(int, Check.in_range(0, 100)),</a:t>
            </a:r>
          </a:p>
          <a:p>
            <a:r>
              <a:rPr sz="1200">
                <a:solidFill>
                  <a:srgbClr val="DBE4F5"/>
                </a:solidFill>
                <a:latin typeface="Consolas"/>
              </a:rPr>
              <a:t>    "sex":        Column(str, Check.isin(["M", "F"])),</a:t>
            </a:r>
          </a:p>
          <a:p>
            <a:r>
              <a:rPr sz="1200">
                <a:solidFill>
                  <a:srgbClr val="DBE4F5"/>
                </a:solidFill>
                <a:latin typeface="Consolas"/>
              </a:rPr>
              <a:t>    "finding":    Column(int, Check.isin([0, 1])),</a:t>
            </a:r>
          </a:p>
          <a:p>
            <a:r>
              <a:rPr sz="1200">
                <a:solidFill>
                  <a:srgbClr val="DBE4F5"/>
                </a:solidFill>
                <a:latin typeface="Consolas"/>
              </a:rPr>
              <a:t>    "split":      Column(str, Check.isin(["train", "val", "test"])),</a:t>
            </a:r>
          </a:p>
          <a:p>
            <a:r>
              <a:rPr sz="1200">
                <a:solidFill>
                  <a:srgbClr val="DBE4F5"/>
                </a:solidFill>
                <a:latin typeface="Consolas"/>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Model o'qitish va eksperiment jurnali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DenseNet-121 — ko'krak rentgenogrammalari uchun adabiyotda standart (CheXNet) tanlov; ImageNet og'irliklaridan boshlash kichik to'plamda yaqinlashishni tezlashtiradi. pos_weight ijobiy sinfning kamligini (NIH'da topilma ulushi ~46%, ammo soddalashtirilgan qismda farq qilishi mumkin) hisobga oladi. MLflow har ishga tushirishni parametr, metrika va artefakt bilan qayd etadi — himoyada «qaysi eksperiment nima berdi» savoliga jurnal javob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Model o'qitish va eksperiment jurnali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Kutilgan natija (taxminiy): to'liq to'plamda 8 epoxa, A100 da ~40 daqiqa, val AUC 0.78–0.82 (yorliqlar shovqinli bo'lgani uchun bundan yuqori chiqmaydi); 20 ming tasvirlik qismda AUC 0.72–0.76.</a:t>
            </a:r>
          </a:p>
          <a:p>
            <a:pPr>
              <a:spcBef>
                <a:spcPts val="400"/>
              </a:spcBef>
            </a:pPr>
            <a:r>
              <a:rPr sz="1600">
                <a:solidFill>
                  <a:srgbClr val="AEBBD9"/>
                </a:solidFill>
                <a:latin typeface="Segoe UI"/>
              </a:rPr>
              <a:t>Chegara sezgirlik 0.90 uchun tanlanganda aniqlik (precision) ~0.55–0.60 bo'ladi — triaj uchun bu qabul qilinadigan muroza, chunki yolg'on ijobiy faqat navbatda yuqoriroq o'rinni bildiradi.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Model o'qitish va eksperiment jurnali — kod</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6" name="Rounded Rectangle 25"/>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src/model/train.py — skelet; A5 dagi DDP shu yerga qo'shiladi (torchrun bilan ishga tushirish)</a:t>
            </a:r>
          </a:p>
          <a:p>
            <a:r>
              <a:rPr sz="1000">
                <a:solidFill>
                  <a:srgbClr val="DBE4F5"/>
                </a:solidFill>
                <a:latin typeface="Consolas"/>
              </a:rPr>
              <a:t>import torch, torch.nn as nn, torchvision, mlflow, pandas as pd</a:t>
            </a:r>
          </a:p>
          <a:p>
            <a:r>
              <a:rPr sz="1000">
                <a:solidFill>
                  <a:srgbClr val="DBE4F5"/>
                </a:solidFill>
                <a:latin typeface="Consolas"/>
              </a:rPr>
              <a:t>from torch.utils.data import Dataset, DataLoader</a:t>
            </a:r>
          </a:p>
          <a:p>
            <a:r>
              <a:rPr sz="1000">
                <a:solidFill>
                  <a:srgbClr val="DBE4F5"/>
                </a:solidFill>
                <a:latin typeface="Consolas"/>
              </a:rPr>
              <a:t>from PIL import Image</a:t>
            </a:r>
          </a:p>
          <a:p>
            <a:r>
              <a:rPr sz="1000">
                <a:solidFill>
                  <a:srgbClr val="DBE4F5"/>
                </a:solidFill>
                <a:latin typeface="Consolas"/>
              </a:rPr>
              <a:t>import torchvision.transforms as T</a:t>
            </a:r>
          </a:p>
          <a:p>
            <a:r>
              <a:rPr sz="1000">
                <a:solidFill>
                  <a:srgbClr val="DBE4F5"/>
                </a:solidFill>
                <a:latin typeface="Consolas"/>
              </a:rPr>
              <a:t>from sklearn.metrics import roc_auc_score</a:t>
            </a:r>
          </a:p>
          <a:p>
            <a:r>
              <a:rPr sz="1000">
                <a:solidFill>
                  <a:srgbClr val="DBE4F5"/>
                </a:solidFill>
                <a:latin typeface="Consolas"/>
              </a:rPr>
              <a:t> </a:t>
            </a:r>
          </a:p>
          <a:p>
            <a:r>
              <a:rPr sz="1000">
                <a:solidFill>
                  <a:srgbClr val="DBE4F5"/>
                </a:solidFill>
                <a:latin typeface="Consolas"/>
              </a:rPr>
              <a:t>class CXR(Dataset):</a:t>
            </a:r>
          </a:p>
          <a:p>
            <a:r>
              <a:rPr sz="1000">
                <a:solidFill>
                  <a:srgbClr val="DBE4F5"/>
                </a:solidFill>
                <a:latin typeface="Consolas"/>
              </a:rPr>
              <a:t>    def __init__(self, split, tf):</a:t>
            </a:r>
          </a:p>
          <a:p>
            <a:r>
              <a:rPr sz="1000">
                <a:solidFill>
                  <a:srgbClr val="DBE4F5"/>
                </a:solidFill>
                <a:latin typeface="Consolas"/>
              </a:rPr>
              <a:t>        m = pd.read_parquet("data/processed/manifest.parquet"); self.df = m[m.split == split].reset_index(drop=True); se</a:t>
            </a:r>
          </a:p>
          <a:p>
            <a:r>
              <a:rPr sz="1000">
                <a:solidFill>
                  <a:srgbClr val="DBE4F5"/>
                </a:solidFill>
                <a:latin typeface="Consolas"/>
              </a:rPr>
              <a:t>    def __len__(self): return len(self.df)</a:t>
            </a:r>
          </a:p>
          <a:p>
            <a:r>
              <a:rPr sz="1000">
                <a:solidFill>
                  <a:srgbClr val="DBE4F5"/>
                </a:solidFill>
                <a:latin typeface="Consolas"/>
              </a:rPr>
              <a:t>    def __getitem__(self, i):</a:t>
            </a:r>
          </a:p>
          <a:p>
            <a:r>
              <a:rPr sz="1000">
                <a:solidFill>
                  <a:srgbClr val="DBE4F5"/>
                </a:solidFill>
                <a:latin typeface="Consolas"/>
              </a:rPr>
              <a:t>        r = self.df.iloc[i]</a:t>
            </a:r>
          </a:p>
          <a:p>
            <a:r>
              <a:rPr sz="1000">
                <a:solidFill>
                  <a:srgbClr val="DBE4F5"/>
                </a:solidFill>
                <a:latin typeface="Consolas"/>
              </a:rPr>
              <a:t>        return self.tf(Image.open(f"data/raw/images/{r.image_id}").convert("RGB")), r.finding</a:t>
            </a:r>
          </a:p>
          <a:p>
            <a:r>
              <a:rPr sz="1000">
                <a:solidFill>
                  <a:srgbClr val="DBE4F5"/>
                </a:solidFill>
                <a:latin typeface="Consolas"/>
              </a:rPr>
              <a:t> </a:t>
            </a:r>
          </a:p>
          <a:p>
            <a:r>
              <a:rPr sz="1000">
                <a:solidFill>
                  <a:srgbClr val="DBE4F5"/>
                </a:solidFill>
                <a:latin typeface="Consolas"/>
              </a:rPr>
              <a:t>dev = "cuda" if torch.cuda.is_available() else "cpu"</a:t>
            </a:r>
          </a:p>
          <a:p>
            <a:r>
              <a:rPr sz="1000">
                <a:solidFill>
                  <a:srgbClr val="DBE4F5"/>
                </a:solidFill>
                <a:latin typeface="Consolas"/>
              </a:rPr>
              <a:t>tf_tr = T.Compose([T.Resize(256), T.RandomResizedCrop(224, scale=(0.8, 1)), T.RandomRotation(7), T.ToTensor(),</a:t>
            </a:r>
          </a:p>
          <a:p>
            <a:r>
              <a:rPr sz="1000">
                <a:solidFill>
                  <a:srgbClr val="DBE4F5"/>
                </a:solidFill>
                <a:latin typeface="Consolas"/>
              </a:rPr>
              <a:t>                   T.Normalize([0.485, 0.456, 0.406], [0.229, 0.224, 0.225])])</a:t>
            </a:r>
          </a:p>
          <a:p>
            <a:r>
              <a:rPr sz="1000">
                <a:solidFill>
                  <a:srgbClr val="DBE4F5"/>
                </a:solidFill>
                <a:latin typeface="Consolas"/>
              </a:rPr>
              <a:t>tf_te = T.Compose([T.Resize(256), T.CenterCrop(224), T.ToTensor(), T.Normalize([0.485, 0.456, 0.406], [0.229, 0.224, 0.2</a:t>
            </a:r>
          </a:p>
          <a:p>
            <a:r>
              <a:rPr sz="1000">
                <a:solidFill>
                  <a:srgbClr val="DBE4F5"/>
                </a:solidFill>
                <a:latin typeface="Consolas"/>
              </a:rPr>
              <a:t>tr = DataLoader(CXR("train", tf_tr), 64, shuffle=True, num_workers=8, pin_memory=True)</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50"/>
                                        <p:tgtEl>
                                          <p:spTgt spid="28"/>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50"/>
                                        <p:tgtEl>
                                          <p:spTgt spid="29"/>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4" dur="8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ONNX eksporti va inferens serveri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e45d62a9c45ba3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Esquilo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Nima bo'ldi va nega.</a:t>
            </a:r>
          </a:p>
          <a:p>
            <a:pPr>
              <a:spcBef>
                <a:spcPts val="400"/>
              </a:spcBef>
            </a:pPr>
            <a:r>
              <a:rPr sz="1300">
                <a:solidFill>
                  <a:srgbClr val="AEBBD9"/>
                </a:solidFill>
                <a:latin typeface="Segoe UI"/>
              </a:rPr>
              <a:t>Server uchta vazifani bir vaqtda bajaradi: inferens, kuzatuv va audit izi. Prometheus metrikalari — tizim SLI'lari (kechikish gistogrammasi p99 hisoblash uchun, holat bo'yicha so'rovlar soni) va model SLI'lari (triage_score gistogrammasi bashorat taqsimotini kuzatish imkonini beradi — haqiqiy natijalar bo'lmaganda drift belgisining o'zi shu).</a:t>
            </a:r>
          </a:p>
        </p:txBody>
      </p:sp>
      <p:sp>
        <p:nvSpPr>
          <p:cNvPr id="32" name="Rounded Rectangle 31"/>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Jurnalga tasvir emas, uning xeshi yoziladi — shaxsiy ma'lumotni minimallashtirish; jins va yosh sarlavhadan olinadi, chunki adolatlilik monitoringi kesimlarni talab qiladi, lekin modelga kirmaydi.</a:t>
            </a:r>
          </a:p>
          <a:p>
            <a:pPr>
              <a:spcBef>
                <a:spcPts val="400"/>
              </a:spcBef>
            </a:pPr>
            <a:r>
              <a:rPr sz="1300">
                <a:solidFill>
                  <a:srgbClr val="AEBBD9"/>
                </a:solidFill>
                <a:latin typeface="Segoe UI"/>
              </a:rPr>
              <a:t>Javobdagi disclaimer va priority (ehtimol emas, harakat) — foydalanuvchi interfeysi uchun qaror shakli, bu AI Act shaffoflik talabining bir qismi.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ONNX eksporti va inferens serveri — kod 1</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src/model/export_onnx.py</a:t>
            </a:r>
          </a:p>
          <a:p>
            <a:r>
              <a:rPr sz="1000">
                <a:solidFill>
                  <a:srgbClr val="DBE4F5"/>
                </a:solidFill>
                <a:latin typeface="Consolas"/>
              </a:rPr>
              <a:t>import torch, torchvision, torch.nn as nn, onnxruntime as ort, numpy as np</a:t>
            </a:r>
          </a:p>
          <a:p>
            <a:r>
              <a:rPr sz="1000">
                <a:solidFill>
                  <a:srgbClr val="DBE4F5"/>
                </a:solidFill>
                <a:latin typeface="Consolas"/>
              </a:rPr>
              <a:t>m = torchvision.models.densenet121(); m.classifier = nn.Linear(1024, 1)</a:t>
            </a:r>
          </a:p>
          <a:p>
            <a:r>
              <a:rPr sz="1000">
                <a:solidFill>
                  <a:srgbClr val="DBE4F5"/>
                </a:solidFill>
                <a:latin typeface="Consolas"/>
              </a:rPr>
              <a:t>m.load_state_dict(torch.load("models/best.pt", map_location="cpu")); m.eval()</a:t>
            </a:r>
          </a:p>
          <a:p>
            <a:r>
              <a:rPr sz="1000">
                <a:solidFill>
                  <a:srgbClr val="DBE4F5"/>
                </a:solidFill>
                <a:latin typeface="Consolas"/>
              </a:rPr>
              <a:t>x = torch.randn(1, 3, 224, 224)</a:t>
            </a:r>
          </a:p>
          <a:p>
            <a:r>
              <a:rPr sz="1000">
                <a:solidFill>
                  <a:srgbClr val="DBE4F5"/>
                </a:solidFill>
                <a:latin typeface="Consolas"/>
              </a:rPr>
              <a:t>torch.onnx.export(m, x, "models/triage.onnx", input_names=["image"], output_names=["logit"],</a:t>
            </a:r>
          </a:p>
          <a:p>
            <a:r>
              <a:rPr sz="1000">
                <a:solidFill>
                  <a:srgbClr val="DBE4F5"/>
                </a:solidFill>
                <a:latin typeface="Consolas"/>
              </a:rPr>
              <a:t>                  dynamic_axes={"image": {0: "b"}, "logit": {0: "b"}}, opset_version=17)</a:t>
            </a:r>
          </a:p>
          <a:p>
            <a:r>
              <a:rPr sz="1000">
                <a:solidFill>
                  <a:srgbClr val="DBE4F5"/>
                </a:solidFill>
                <a:latin typeface="Consolas"/>
              </a:rPr>
              <a:t>s = ort.InferenceSession("models/triage.onnx", providers=["CPUExecutionProvider"])</a:t>
            </a:r>
          </a:p>
          <a:p>
            <a:r>
              <a:rPr sz="1000">
                <a:solidFill>
                  <a:srgbClr val="DBE4F5"/>
                </a:solidFill>
                <a:latin typeface="Consolas"/>
              </a:rPr>
              <a:t>print("maks farq:", np.abs(s.run(None, {"image": x.numpy()})[0] - m(x).detach().numpy()).max())</a:t>
            </a:r>
          </a:p>
          <a:p>
            <a:r>
              <a:rPr sz="1000">
                <a:solidFill>
                  <a:srgbClr val="6EE7B7"/>
                </a:solidFill>
                <a:latin typeface="Consolas"/>
              </a:rPr>
              <a:t># TODO (A3): FP16/INT8 variantlarini yarating va kechikish/aniqlikni jadvalga kiriting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ONNX eksporti va inferens serveri — kod 2</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6" name="Rounded Rectangle 25"/>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src/serve/app.py — FastAPI + ONNX Runtime + Prometheus metrikalari + audit jurnali</a:t>
            </a:r>
          </a:p>
          <a:p>
            <a:r>
              <a:rPr sz="1000">
                <a:solidFill>
                  <a:srgbClr val="DBE4F5"/>
                </a:solidFill>
                <a:latin typeface="Consolas"/>
              </a:rPr>
              <a:t>import io, time, uuid, json, hashlib, numpy as np, onnxruntime as ort</a:t>
            </a:r>
          </a:p>
          <a:p>
            <a:r>
              <a:rPr sz="1000">
                <a:solidFill>
                  <a:srgbClr val="DBE4F5"/>
                </a:solidFill>
                <a:latin typeface="Consolas"/>
              </a:rPr>
              <a:t>from fastapi import FastAPI, UploadFile, File, Header, HTTPException, Response</a:t>
            </a:r>
          </a:p>
          <a:p>
            <a:r>
              <a:rPr sz="1000">
                <a:solidFill>
                  <a:srgbClr val="DBE4F5"/>
                </a:solidFill>
                <a:latin typeface="Consolas"/>
              </a:rPr>
              <a:t>from PIL import Image</a:t>
            </a:r>
          </a:p>
          <a:p>
            <a:r>
              <a:rPr sz="1000">
                <a:solidFill>
                  <a:srgbClr val="DBE4F5"/>
                </a:solidFill>
                <a:latin typeface="Consolas"/>
              </a:rPr>
              <a:t>from prometheus_client import Counter, Histogram, Gauge, generate_latest, CONTENT_TYPE_LATEST</a:t>
            </a:r>
          </a:p>
          <a:p>
            <a:r>
              <a:rPr sz="1000">
                <a:solidFill>
                  <a:srgbClr val="DBE4F5"/>
                </a:solidFill>
                <a:latin typeface="Consolas"/>
              </a:rPr>
              <a:t> </a:t>
            </a:r>
          </a:p>
          <a:p>
            <a:r>
              <a:rPr sz="1000">
                <a:solidFill>
                  <a:srgbClr val="DBE4F5"/>
                </a:solidFill>
                <a:latin typeface="Consolas"/>
              </a:rPr>
              <a:t>MODEL_VERSION = "triage-1.2.0"; THRESHOLD = 0.31      # TODO: validatsiyadan olingan chegara</a:t>
            </a:r>
          </a:p>
          <a:p>
            <a:r>
              <a:rPr sz="1000">
                <a:solidFill>
                  <a:srgbClr val="DBE4F5"/>
                </a:solidFill>
                <a:latin typeface="Consolas"/>
              </a:rPr>
              <a:t>app = FastAPI(title="CXR Triage API", version=MODEL_VERSION)</a:t>
            </a:r>
          </a:p>
          <a:p>
            <a:r>
              <a:rPr sz="1000">
                <a:solidFill>
                  <a:srgbClr val="DBE4F5"/>
                </a:solidFill>
                <a:latin typeface="Consolas"/>
              </a:rPr>
              <a:t>sess = ort.InferenceSession("models/triage.onnx",</a:t>
            </a:r>
          </a:p>
          <a:p>
            <a:r>
              <a:rPr sz="1000">
                <a:solidFill>
                  <a:srgbClr val="DBE4F5"/>
                </a:solidFill>
                <a:latin typeface="Consolas"/>
              </a:rPr>
              <a:t>        providers=["CUDAExecutionProvider", "CPUExecutionProvider"])</a:t>
            </a:r>
          </a:p>
          <a:p>
            <a:r>
              <a:rPr sz="1000">
                <a:solidFill>
                  <a:srgbClr val="DBE4F5"/>
                </a:solidFill>
                <a:latin typeface="Consolas"/>
              </a:rPr>
              <a:t>REQ = Counter("triage_requests_total", "so'rovlar", ["status"])</a:t>
            </a:r>
          </a:p>
          <a:p>
            <a:r>
              <a:rPr sz="1000">
                <a:solidFill>
                  <a:srgbClr val="DBE4F5"/>
                </a:solidFill>
                <a:latin typeface="Consolas"/>
              </a:rPr>
              <a:t>LAT = Histogram("triage_latency_seconds", "to'liq kechikish", buckets=(.05, .1, .2, .3, .5, .8, 1, 2))</a:t>
            </a:r>
          </a:p>
          <a:p>
            <a:r>
              <a:rPr sz="1000">
                <a:solidFill>
                  <a:srgbClr val="DBE4F5"/>
                </a:solidFill>
                <a:latin typeface="Consolas"/>
              </a:rPr>
              <a:t>SCORE = Histogram("triage_score", "bashorat ehtimoli taqsimoti", buckets=[i/10 for i in range(11)])</a:t>
            </a:r>
          </a:p>
          <a:p>
            <a:r>
              <a:rPr sz="1000">
                <a:solidFill>
                  <a:srgbClr val="DBE4F5"/>
                </a:solidFill>
                <a:latin typeface="Consolas"/>
              </a:rPr>
              <a:t>POS_RATE = Gauge("triage_positive_rate_1h", "so'nggi soatda ijobiy ulushi")   # drift.py yangilaydi</a:t>
            </a:r>
          </a:p>
          <a:p>
            <a:r>
              <a:rPr sz="1000">
                <a:solidFill>
                  <a:srgbClr val="DBE4F5"/>
                </a:solidFill>
                <a:latin typeface="Consolas"/>
              </a:rPr>
              <a:t>MEAN, STD = np.array([0.485, 0.456, 0.406]), np.array([0.229, 0.224, 0.225])</a:t>
            </a:r>
          </a:p>
          <a:p>
            <a:r>
              <a:rPr sz="1000">
                <a:solidFill>
                  <a:srgbClr val="DBE4F5"/>
                </a:solidFill>
                <a:latin typeface="Consolas"/>
              </a:rPr>
              <a:t> </a:t>
            </a:r>
          </a:p>
          <a:p>
            <a:r>
              <a:rPr sz="1000">
                <a:solidFill>
                  <a:srgbClr val="DBE4F5"/>
                </a:solidFill>
                <a:latin typeface="Consolas"/>
              </a:rPr>
              <a:t>def preprocess(b: bytes) -&gt; np.ndarray:</a:t>
            </a:r>
          </a:p>
          <a:p>
            <a:r>
              <a:rPr sz="1000">
                <a:solidFill>
                  <a:srgbClr val="DBE4F5"/>
                </a:solidFill>
                <a:latin typeface="Consolas"/>
              </a:rPr>
              <a:t>    im = Image.open(io.BytesIO(b)).convert("RGB")</a:t>
            </a:r>
          </a:p>
          <a:p>
            <a:r>
              <a:rPr sz="1000">
                <a:solidFill>
                  <a:srgbClr val="DBE4F5"/>
                </a:solidFill>
                <a:latin typeface="Consolas"/>
              </a:rPr>
              <a:t>    w, h = im.size; s = 256 / min(w, h); im = im.resize((round(w*s), round(h*s)))</a:t>
            </a:r>
          </a:p>
          <a:p>
            <a:r>
              <a:rPr sz="1000">
                <a:solidFill>
                  <a:srgbClr val="DBE4F5"/>
                </a:solidFill>
                <a:latin typeface="Consolas"/>
              </a:rPr>
              <a:t>    l, t = (im.width - 224)//2, (im.height - 224)//2; im = im.crop((l, t, l+224, t+224))</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50"/>
                                        <p:tgtEl>
                                          <p:spTgt spid="28"/>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50"/>
                                        <p:tgtEl>
                                          <p:spTgt spid="29"/>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4" dur="8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Konteynerlashtirish, yuk sinovi va monitoring</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Docker obrazi root bo'lmagan foydalanuvchi bilan ishlaydi, HEALTHCHECK orkestrator uchun tiriklik belgisi beradi. Locust 40 virtual foydalanuvchi bilan 3 daqiqa yuk beradi; Grafana'da histogram_quantile(0.99, rate(triage_latency_seconds_bucket[1m])) ifodasi p99 ni ko'rsatadi. Kutilgan natija (taxminiy): RTX 3090 + ONNX Runtime CUDA, DenseNet-121 FP32, bitta so'rov — p50 ~25 ms, p99 ~60 ms; 40 foydalanuvchida ~25 so'rov/soniya, p99 ~120 ms — SLO (300 ms) bajarildi.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Konteynerlashtirish, yuk sinovi va monitoring</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CPU'da (8 yadro, ONNX Runtime) p50 ~180 ms, p99 ~450 ms, 8–10 so'rov/soniya — 20 so'rov/soniya SLO uchun 2–3 replika kerak bo'ladi, bu arxitektura hujjatida masshtablash siyosati sifatida yoziladi.</a:t>
            </a:r>
          </a:p>
          <a:p>
            <a:pPr>
              <a:spcBef>
                <a:spcPts val="400"/>
              </a:spcBef>
            </a:pPr>
            <a:r>
              <a:rPr sz="1600">
                <a:solidFill>
                  <a:srgbClr val="AEBBD9"/>
                </a:solidFill>
                <a:latin typeface="Segoe UI"/>
              </a:rPr>
              <a:t>Drift simulyatsiyasi uchun guruh test tasvirlarini kontrastini 30% pasaytirib (boshqa apparat taqlidi) yuboradi — PSI 0.2 dan oshib ogohlantirish yonishi namoyishda ko'rsatiladi.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Konteynerlashtirish, yuk sinovi va monitoring — kod 1</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deploy/Dockerfile</a:t>
            </a:r>
          </a:p>
          <a:p>
            <a:r>
              <a:rPr sz="1000">
                <a:solidFill>
                  <a:srgbClr val="DBE4F5"/>
                </a:solidFill>
                <a:latin typeface="Consolas"/>
              </a:rPr>
              <a:t>FROM nvidia/cuda:12.4.1-cudnn-runtime-ubuntu22.04</a:t>
            </a:r>
          </a:p>
          <a:p>
            <a:r>
              <a:rPr sz="1000">
                <a:solidFill>
                  <a:srgbClr val="DBE4F5"/>
                </a:solidFill>
                <a:latin typeface="Consolas"/>
              </a:rPr>
              <a:t>RUN apt-get update &amp;&amp; apt-get install -y python3 python3-pip &amp;&amp; rm -rf /var/lib/apt/lists/*</a:t>
            </a:r>
          </a:p>
          <a:p>
            <a:r>
              <a:rPr sz="1000">
                <a:solidFill>
                  <a:srgbClr val="DBE4F5"/>
                </a:solidFill>
                <a:latin typeface="Consolas"/>
              </a:rPr>
              <a:t>WORKDIR /app</a:t>
            </a:r>
          </a:p>
          <a:p>
            <a:r>
              <a:rPr sz="1000">
                <a:solidFill>
                  <a:srgbClr val="DBE4F5"/>
                </a:solidFill>
                <a:latin typeface="Consolas"/>
              </a:rPr>
              <a:t>COPY requirements.txt .</a:t>
            </a:r>
          </a:p>
          <a:p>
            <a:r>
              <a:rPr sz="1000">
                <a:solidFill>
                  <a:srgbClr val="DBE4F5"/>
                </a:solidFill>
                <a:latin typeface="Consolas"/>
              </a:rPr>
              <a:t>RUN pip3 install --no-cache-dir -r requirements.txt</a:t>
            </a:r>
          </a:p>
          <a:p>
            <a:r>
              <a:rPr sz="1000">
                <a:solidFill>
                  <a:srgbClr val="DBE4F5"/>
                </a:solidFill>
                <a:latin typeface="Consolas"/>
              </a:rPr>
              <a:t>COPY src/serve ./src/serve</a:t>
            </a:r>
          </a:p>
          <a:p>
            <a:r>
              <a:rPr sz="1000">
                <a:solidFill>
                  <a:srgbClr val="DBE4F5"/>
                </a:solidFill>
                <a:latin typeface="Consolas"/>
              </a:rPr>
              <a:t>COPY models/triage.onnx ./models/</a:t>
            </a:r>
          </a:p>
          <a:p>
            <a:r>
              <a:rPr sz="1000">
                <a:solidFill>
                  <a:srgbClr val="DBE4F5"/>
                </a:solidFill>
                <a:latin typeface="Consolas"/>
              </a:rPr>
              <a:t>RUN mkdir -p logs &amp;&amp; useradd -m svc &amp;&amp; chown -R svc /app</a:t>
            </a:r>
          </a:p>
          <a:p>
            <a:r>
              <a:rPr sz="1000">
                <a:solidFill>
                  <a:srgbClr val="DBE4F5"/>
                </a:solidFill>
                <a:latin typeface="Consolas"/>
              </a:rPr>
              <a:t>USER svc</a:t>
            </a:r>
          </a:p>
          <a:p>
            <a:r>
              <a:rPr sz="1000">
                <a:solidFill>
                  <a:srgbClr val="DBE4F5"/>
                </a:solidFill>
                <a:latin typeface="Consolas"/>
              </a:rPr>
              <a:t>EXPOSE 8000</a:t>
            </a:r>
          </a:p>
          <a:p>
            <a:r>
              <a:rPr sz="1000">
                <a:solidFill>
                  <a:srgbClr val="DBE4F5"/>
                </a:solidFill>
                <a:latin typeface="Consolas"/>
              </a:rPr>
              <a:t>HEALTHCHECK CMD python3 -c "import urllib.request;urllib.request.urlopen('http://localhost:8000/health')"</a:t>
            </a:r>
          </a:p>
          <a:p>
            <a:r>
              <a:rPr sz="1000">
                <a:solidFill>
                  <a:srgbClr val="DBE4F5"/>
                </a:solidFill>
                <a:latin typeface="Consolas"/>
              </a:rPr>
              <a:t>CMD ["uvicorn", "src.serve.app:app", "--host", "0.0.0.0", "--port", "8000", "--workers", "2"]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Konteynerlashtirish, yuk sinovi va monitoring — kod 2</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sp>
        <p:nvSpPr>
          <p:cNvPr id="26" name="Rounded Rectangle 25"/>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deploy/docker-compose.yml</a:t>
            </a:r>
          </a:p>
          <a:p>
            <a:r>
              <a:rPr sz="1000">
                <a:solidFill>
                  <a:srgbClr val="DBE4F5"/>
                </a:solidFill>
                <a:latin typeface="Consolas"/>
              </a:rPr>
              <a:t>services:</a:t>
            </a:r>
          </a:p>
          <a:p>
            <a:r>
              <a:rPr sz="1000">
                <a:solidFill>
                  <a:srgbClr val="DBE4F5"/>
                </a:solidFill>
                <a:latin typeface="Consolas"/>
              </a:rPr>
              <a:t>  api:</a:t>
            </a:r>
          </a:p>
          <a:p>
            <a:r>
              <a:rPr sz="1000">
                <a:solidFill>
                  <a:srgbClr val="DBE4F5"/>
                </a:solidFill>
                <a:latin typeface="Consolas"/>
              </a:rPr>
              <a:t>    build: {context: .., dockerfile: deploy/Dockerfile}</a:t>
            </a:r>
          </a:p>
          <a:p>
            <a:r>
              <a:rPr sz="1000">
                <a:solidFill>
                  <a:srgbClr val="DBE4F5"/>
                </a:solidFill>
                <a:latin typeface="Consolas"/>
              </a:rPr>
              <a:t>    ports: ["8000:8000"]</a:t>
            </a:r>
          </a:p>
          <a:p>
            <a:r>
              <a:rPr sz="1000">
                <a:solidFill>
                  <a:srgbClr val="DBE4F5"/>
                </a:solidFill>
                <a:latin typeface="Consolas"/>
              </a:rPr>
              <a:t>    volumes: ["../logs:/app/logs"]</a:t>
            </a:r>
          </a:p>
          <a:p>
            <a:r>
              <a:rPr sz="1000">
                <a:solidFill>
                  <a:srgbClr val="DBE4F5"/>
                </a:solidFill>
                <a:latin typeface="Consolas"/>
              </a:rPr>
              <a:t>    deploy: {resources: {reservations: {devices: [{driver: nvidia, count: 1, capabilities: [gpu]}]}}}</a:t>
            </a:r>
          </a:p>
          <a:p>
            <a:r>
              <a:rPr sz="1000">
                <a:solidFill>
                  <a:srgbClr val="DBE4F5"/>
                </a:solidFill>
                <a:latin typeface="Consolas"/>
              </a:rPr>
              <a:t>  prometheus:</a:t>
            </a:r>
          </a:p>
          <a:p>
            <a:r>
              <a:rPr sz="1000">
                <a:solidFill>
                  <a:srgbClr val="DBE4F5"/>
                </a:solidFill>
                <a:latin typeface="Consolas"/>
              </a:rPr>
              <a:t>    image: prom/prometheus:v2.53.0</a:t>
            </a:r>
          </a:p>
          <a:p>
            <a:r>
              <a:rPr sz="1000">
                <a:solidFill>
                  <a:srgbClr val="DBE4F5"/>
                </a:solidFill>
                <a:latin typeface="Consolas"/>
              </a:rPr>
              <a:t>    volumes: ["./prometheus.yml:/etc/prometheus/prometheus.yml"]</a:t>
            </a:r>
          </a:p>
          <a:p>
            <a:r>
              <a:rPr sz="1000">
                <a:solidFill>
                  <a:srgbClr val="DBE4F5"/>
                </a:solidFill>
                <a:latin typeface="Consolas"/>
              </a:rPr>
              <a:t>    ports: ["9090:9090"]</a:t>
            </a:r>
          </a:p>
          <a:p>
            <a:r>
              <a:rPr sz="1000">
                <a:solidFill>
                  <a:srgbClr val="DBE4F5"/>
                </a:solidFill>
                <a:latin typeface="Consolas"/>
              </a:rPr>
              <a:t>  grafana:</a:t>
            </a:r>
          </a:p>
          <a:p>
            <a:r>
              <a:rPr sz="1000">
                <a:solidFill>
                  <a:srgbClr val="DBE4F5"/>
                </a:solidFill>
                <a:latin typeface="Consolas"/>
              </a:rPr>
              <a:t>    image: grafana/grafana:11.1.0</a:t>
            </a:r>
          </a:p>
          <a:p>
            <a:r>
              <a:rPr sz="1000">
                <a:solidFill>
                  <a:srgbClr val="DBE4F5"/>
                </a:solidFill>
                <a:latin typeface="Consolas"/>
              </a:rPr>
              <a:t>    ports: ["3000:3000"]</a:t>
            </a:r>
          </a:p>
          <a:p>
            <a:r>
              <a:rPr sz="1000">
                <a:solidFill>
                  <a:srgbClr val="DBE4F5"/>
                </a:solidFill>
                <a:latin typeface="Consolas"/>
              </a:rPr>
              <a:t>    volumes: ["./grafana:/etc/grafana/provisioning"]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50"/>
                                        <p:tgtEl>
                                          <p:spTgt spid="28"/>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50"/>
                                        <p:tgtEl>
                                          <p:spTgt spid="29"/>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4" dur="8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5-qadam. Adolatlilik va mustahkamlik hisoboti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40</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5438a5fd6ea7c363.jpg"/>
          <p:cNvPicPr>
            <a:picLocks noChangeAspect="1"/>
          </p:cNvPicPr>
          <p:nvPr/>
        </p:nvPicPr>
        <p:blipFill>
          <a:blip r:embed="rId2"/>
          <a:srcRect t="13231" b="13231"/>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Julan Shirwod Nueva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Nima bo'ldi va nega.</a:t>
            </a:r>
          </a:p>
          <a:p>
            <a:pPr>
              <a:spcBef>
                <a:spcPts val="400"/>
              </a:spcBef>
            </a:pPr>
            <a:r>
              <a:rPr sz="1300">
                <a:solidFill>
                  <a:srgbClr val="AEBBD9"/>
                </a:solidFill>
                <a:latin typeface="Segoe UI"/>
              </a:rPr>
              <a:t>NIH to'plamida odatiy kuzatuv: jinslar bo'yicha AUC va TPR farqi kichik (0.01–0.03), yosh guruhlari bo'yicha esa sezilarli — 0–18 yosh guruhida namunalar kam va TPR 0.08–0.12 ga past bo'lishi mumkin (taxminiy). Bu holda guruh ikki yo'ldan birini tanlashi va ADR'da asoslashi kerak: bolalar tasvirlari uchun alohida chegara (post-processing) yoki tizim ko'lamini «18 yoshdan katta bemorlar» bilan cheklab, model kartasida mo'ljallanmagan foydalanish sifatida yozish.</a:t>
            </a:r>
          </a:p>
        </p:txBody>
      </p:sp>
      <p:sp>
        <p:nvSpPr>
          <p:cNvPr id="31" name="Rounded Rectangle 30"/>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Ikkinchi yo'l ko'pincha to'g'riroq — ma'lumot yetarli bo'lmaganda tizim chegarasini halol belgilash tuzatishdan yaxshi.</a:t>
            </a:r>
          </a:p>
          <a:p>
            <a:pPr>
              <a:spcBef>
                <a:spcPts val="400"/>
              </a:spcBef>
            </a:pPr>
            <a:r>
              <a:rPr sz="1300">
                <a:solidFill>
                  <a:srgbClr val="AEBBD9"/>
                </a:solidFill>
                <a:latin typeface="Segoe UI"/>
              </a:rPr>
              <a:t>Mustahkamlik qismida A6 dagi PGD kodi qayta ishlatiladi; tibbiy tasvirlar uchun realistik tahdid — kichik epsilon (1–4/255) va JPEG siqish, shuning uchun egri chiziq shu diapazonda quriladi.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5-qadam. Adolatlilik va mustahkamlik hisoboti — kod</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41</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src/monitor/fairness_report.py — test to'plami bashoratlari bo'yicha kesimlar tahlili</a:t>
            </a:r>
          </a:p>
          <a:p>
            <a:r>
              <a:rPr sz="1000">
                <a:solidFill>
                  <a:srgbClr val="DBE4F5"/>
                </a:solidFill>
                <a:latin typeface="Consolas"/>
              </a:rPr>
              <a:t>import numpy as np, pandas as pd</a:t>
            </a:r>
          </a:p>
          <a:p>
            <a:r>
              <a:rPr sz="1000">
                <a:solidFill>
                  <a:srgbClr val="DBE4F5"/>
                </a:solidFill>
                <a:latin typeface="Consolas"/>
              </a:rPr>
              <a:t>from fairlearn.metrics import MetricFrame, true_positive_rate, false_positive_rate, selection_rate</a:t>
            </a:r>
          </a:p>
          <a:p>
            <a:r>
              <a:rPr sz="1000">
                <a:solidFill>
                  <a:srgbClr val="DBE4F5"/>
                </a:solidFill>
                <a:latin typeface="Consolas"/>
              </a:rPr>
              <a:t>from sklearn.metrics import roc_auc_score</a:t>
            </a:r>
          </a:p>
          <a:p>
            <a:r>
              <a:rPr sz="1000">
                <a:solidFill>
                  <a:srgbClr val="DBE4F5"/>
                </a:solidFill>
                <a:latin typeface="Consolas"/>
              </a:rPr>
              <a:t>df = pd.read_parquet("data/processed/test_predictions.parquet")   # evaluate.py saqlaydi: score, finding, sex, age</a:t>
            </a:r>
          </a:p>
          <a:p>
            <a:r>
              <a:rPr sz="1000">
                <a:solidFill>
                  <a:srgbClr val="DBE4F5"/>
                </a:solidFill>
                <a:latin typeface="Consolas"/>
              </a:rPr>
              <a:t>df["age_group"] = pd.cut(df.age, [0, 18, 40, 60, 100], labels=["0-18", "19-40", "41-60", "61+"])</a:t>
            </a:r>
          </a:p>
          <a:p>
            <a:r>
              <a:rPr sz="1000">
                <a:solidFill>
                  <a:srgbClr val="DBE4F5"/>
                </a:solidFill>
                <a:latin typeface="Consolas"/>
              </a:rPr>
              <a:t>df["pred"] = (df.score &gt;= 0.31).astype(int)</a:t>
            </a:r>
          </a:p>
          <a:p>
            <a:r>
              <a:rPr sz="1000">
                <a:solidFill>
                  <a:srgbClr val="DBE4F5"/>
                </a:solidFill>
                <a:latin typeface="Consolas"/>
              </a:rPr>
              <a:t>for attr in ["sex", "age_group"]:</a:t>
            </a:r>
          </a:p>
          <a:p>
            <a:r>
              <a:rPr sz="1000">
                <a:solidFill>
                  <a:srgbClr val="DBE4F5"/>
                </a:solidFill>
                <a:latin typeface="Consolas"/>
              </a:rPr>
              <a:t>    mf = MetricFrame(metrics={"n": lambda y, p: len(y), "tpr": true_positive_rate, "fpr": false_positive_rate,</a:t>
            </a:r>
          </a:p>
          <a:p>
            <a:r>
              <a:rPr sz="1000">
                <a:solidFill>
                  <a:srgbClr val="DBE4F5"/>
                </a:solidFill>
                <a:latin typeface="Consolas"/>
              </a:rPr>
              <a:t>                              "sel": selection_rate}, y_true=df.finding, y_pred=df.pred, sensitive_features=df[attr])</a:t>
            </a:r>
          </a:p>
          <a:p>
            <a:r>
              <a:rPr sz="1000">
                <a:solidFill>
                  <a:srgbClr val="DBE4F5"/>
                </a:solidFill>
                <a:latin typeface="Consolas"/>
              </a:rPr>
              <a:t>    auc = df.groupby(attr).apply(lambda g: roc_auc_score(g.finding, g.score))</a:t>
            </a:r>
          </a:p>
          <a:p>
            <a:r>
              <a:rPr sz="1000">
                <a:solidFill>
                  <a:srgbClr val="DBE4F5"/>
                </a:solidFill>
                <a:latin typeface="Consolas"/>
              </a:rPr>
              <a:t>    rep = mf.by_group.assign(auc=auc).round(3)</a:t>
            </a:r>
          </a:p>
          <a:p>
            <a:r>
              <a:rPr sz="1000">
                <a:solidFill>
                  <a:srgbClr val="DBE4F5"/>
                </a:solidFill>
                <a:latin typeface="Consolas"/>
              </a:rPr>
              <a:t>    print(f"\n== {attr}\n", rep, "\nTPR farqi (max-min):", round(mf.difference()["tpr"], 3))</a:t>
            </a:r>
          </a:p>
          <a:p>
            <a:r>
              <a:rPr sz="1000">
                <a:solidFill>
                  <a:srgbClr val="6EE7B7"/>
                </a:solidFill>
                <a:latin typeface="Consolas"/>
              </a:rPr>
              <a:t># TODO: TPR farqi &gt; 0.05 bo'lsa — guruhga xos chegara (ThresholdOptimizer) yoki qayta vaznlash;</a:t>
            </a:r>
          </a:p>
          <a:p>
            <a:r>
              <a:rPr sz="1000">
                <a:solidFill>
                  <a:srgbClr val="6EE7B7"/>
                </a:solidFill>
                <a:latin typeface="Consolas"/>
              </a:rPr>
              <a:t>#       bootstrap ishonch intervallari; A6 PGD mustahkamlik egri chizig'i (eps 1/255..4/255) shu hisobotga qo'shiladi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Loyiha hujjati: to'ldirilgan pasport namunasi (qisqartirilgan)</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42</a:t>
            </a:r>
          </a:p>
        </p:txBody>
      </p:sp>
      <p:graphicFrame>
        <p:nvGraphicFramePr>
          <p:cNvPr id="23" name="Table 22"/>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000" b="1">
                          <a:solidFill>
                            <a:srgbClr val="22D3EE"/>
                          </a:solidFill>
                          <a:latin typeface="Segoe UI"/>
                        </a:rPr>
                        <a:t>Maydon</a:t>
                      </a:r>
                    </a:p>
                  </a:txBody>
                  <a:tcPr>
                    <a:solidFill>
                      <a:srgbClr val="1C2755"/>
                    </a:solidFill>
                  </a:tcPr>
                </a:tc>
                <a:tc>
                  <a:txBody>
                    <a:bodyPr/>
                    <a:lstStyle/>
                    <a:p>
                      <a:r>
                        <a:rPr sz="1000" b="1">
                          <a:solidFill>
                            <a:srgbClr val="22D3EE"/>
                          </a:solidFill>
                          <a:latin typeface="Segoe UI"/>
                        </a:rPr>
                        <a:t>Mazmun</a:t>
                      </a:r>
                    </a:p>
                  </a:txBody>
                  <a:tcPr>
                    <a:solidFill>
                      <a:srgbClr val="1C2755"/>
                    </a:solidFill>
                  </a:tcPr>
                </a:tc>
              </a:tr>
              <a:tr h="520000">
                <a:tc>
                  <a:txBody>
                    <a:bodyPr/>
                    <a:lstStyle/>
                    <a:p>
                      <a:r>
                        <a:rPr sz="1000" b="0">
                          <a:solidFill>
                            <a:srgbClr val="E8EEFA"/>
                          </a:solidFill>
                          <a:latin typeface="Segoe UI"/>
                        </a:rPr>
                        <a:t>Nomi</a:t>
                      </a:r>
                    </a:p>
                  </a:txBody>
                  <a:tcPr>
                    <a:solidFill>
                      <a:srgbClr val="111834"/>
                    </a:solidFill>
                  </a:tcPr>
                </a:tc>
                <a:tc>
                  <a:txBody>
                    <a:bodyPr/>
                    <a:lstStyle/>
                    <a:p>
                      <a:r>
                        <a:rPr sz="1000" b="0">
                          <a:solidFill>
                            <a:srgbClr val="E8EEFA"/>
                          </a:solidFill>
                          <a:latin typeface="Segoe UI"/>
                        </a:rPr>
                        <a:t>CXR Triage — rentgenogrammalarni birlamchi saralash</a:t>
                      </a:r>
                    </a:p>
                  </a:txBody>
                  <a:tcPr>
                    <a:solidFill>
                      <a:srgbClr val="111834"/>
                    </a:solidFill>
                  </a:tcPr>
                </a:tc>
              </a:tr>
              <a:tr h="520000">
                <a:tc>
                  <a:txBody>
                    <a:bodyPr/>
                    <a:lstStyle/>
                    <a:p>
                      <a:r>
                        <a:rPr sz="1000" b="0">
                          <a:solidFill>
                            <a:srgbClr val="E8EEFA"/>
                          </a:solidFill>
                          <a:latin typeface="Segoe UI"/>
                        </a:rPr>
                        <a:t>Foydalanuvchi</a:t>
                      </a:r>
                    </a:p>
                  </a:txBody>
                  <a:tcPr>
                    <a:solidFill>
                      <a:srgbClr val="161F40"/>
                    </a:solidFill>
                  </a:tcPr>
                </a:tc>
                <a:tc>
                  <a:txBody>
                    <a:bodyPr/>
                    <a:lstStyle/>
                    <a:p>
                      <a:r>
                        <a:rPr sz="1000" b="0">
                          <a:solidFill>
                            <a:srgbClr val="E8EEFA"/>
                          </a:solidFill>
                          <a:latin typeface="Segoe UI"/>
                        </a:rPr>
                        <a:t>Radiologiya bo'limi; ish ro'yxatini tartiblash moduli</a:t>
                      </a:r>
                    </a:p>
                  </a:txBody>
                  <a:tcPr>
                    <a:solidFill>
                      <a:srgbClr val="161F40"/>
                    </a:solidFill>
                  </a:tcPr>
                </a:tc>
              </a:tr>
              <a:tr h="520000">
                <a:tc>
                  <a:txBody>
                    <a:bodyPr/>
                    <a:lstStyle/>
                    <a:p>
                      <a:r>
                        <a:rPr sz="1000" b="0">
                          <a:solidFill>
                            <a:srgbClr val="E8EEFA"/>
                          </a:solidFill>
                          <a:latin typeface="Segoe UI"/>
                        </a:rPr>
                        <a:t>Muvaffaqiyat mezoni</a:t>
                      </a:r>
                    </a:p>
                  </a:txBody>
                  <a:tcPr>
                    <a:solidFill>
                      <a:srgbClr val="111834"/>
                    </a:solidFill>
                  </a:tcPr>
                </a:tc>
                <a:tc>
                  <a:txBody>
                    <a:bodyPr/>
                    <a:lstStyle/>
                    <a:p>
                      <a:r>
                        <a:rPr sz="1000" b="0">
                          <a:solidFill>
                            <a:srgbClr val="E8EEFA"/>
                          </a:solidFill>
                          <a:latin typeface="Segoe UI"/>
                        </a:rPr>
                        <a:t>Xavfli holatlarning o'rtacha kutish vaqti 40% ga qisqaradi (simulyatsiyada navbat modeli bilan baholanadi)</a:t>
                      </a:r>
                    </a:p>
                  </a:txBody>
                  <a:tcPr>
                    <a:solidFill>
                      <a:srgbClr val="111834"/>
                    </a:solidFill>
                  </a:tcPr>
                </a:tc>
              </a:tr>
              <a:tr h="520000">
                <a:tc>
                  <a:txBody>
                    <a:bodyPr/>
                    <a:lstStyle/>
                    <a:p>
                      <a:r>
                        <a:rPr sz="1000" b="0">
                          <a:solidFill>
                            <a:srgbClr val="E8EEFA"/>
                          </a:solidFill>
                          <a:latin typeface="Segoe UI"/>
                        </a:rPr>
                        <a:t>Model SLO</a:t>
                      </a:r>
                    </a:p>
                  </a:txBody>
                  <a:tcPr>
                    <a:solidFill>
                      <a:srgbClr val="161F40"/>
                    </a:solidFill>
                  </a:tcPr>
                </a:tc>
                <a:tc>
                  <a:txBody>
                    <a:bodyPr/>
                    <a:lstStyle/>
                    <a:p>
                      <a:r>
                        <a:rPr sz="1000" b="0">
                          <a:solidFill>
                            <a:srgbClr val="E8EEFA"/>
                          </a:solidFill>
                          <a:latin typeface="Segoe UI"/>
                        </a:rPr>
                        <a:t>Sezgirlik ≥ 0.90; kesimlar bo'yicha TPR farqi ≤ 0.05; AUC ≥ 0.75</a:t>
                      </a:r>
                    </a:p>
                  </a:txBody>
                  <a:tcPr>
                    <a:solidFill>
                      <a:srgbClr val="161F40"/>
                    </a:solidFill>
                  </a:tcPr>
                </a:tc>
              </a:tr>
              <a:tr h="520000">
                <a:tc>
                  <a:txBody>
                    <a:bodyPr/>
                    <a:lstStyle/>
                    <a:p>
                      <a:r>
                        <a:rPr sz="1000" b="0">
                          <a:solidFill>
                            <a:srgbClr val="E8EEFA"/>
                          </a:solidFill>
                          <a:latin typeface="Segoe UI"/>
                        </a:rPr>
                        <a:t>Tizim SLO</a:t>
                      </a:r>
                    </a:p>
                  </a:txBody>
                  <a:tcPr>
                    <a:solidFill>
                      <a:srgbClr val="111834"/>
                    </a:solidFill>
                  </a:tcPr>
                </a:tc>
                <a:tc>
                  <a:txBody>
                    <a:bodyPr/>
                    <a:lstStyle/>
                    <a:p>
                      <a:r>
                        <a:rPr sz="1000" b="0">
                          <a:solidFill>
                            <a:srgbClr val="E8EEFA"/>
                          </a:solidFill>
                          <a:latin typeface="Segoe UI"/>
                        </a:rPr>
                        <a:t>p99 ≤ 300 ms (GPU); ≥ 20 so'rov/s; mavjudlik 99.5%</a:t>
                      </a:r>
                    </a:p>
                  </a:txBody>
                  <a:tcPr>
                    <a:solidFill>
                      <a:srgbClr val="111834"/>
                    </a:solidFill>
                  </a:tcPr>
                </a:tc>
              </a:tr>
              <a:tr h="520000">
                <a:tc>
                  <a:txBody>
                    <a:bodyPr/>
                    <a:lstStyle/>
                    <a:p>
                      <a:r>
                        <a:rPr sz="1000" b="0">
                          <a:solidFill>
                            <a:srgbClr val="E8EEFA"/>
                          </a:solidFill>
                          <a:latin typeface="Segoe UI"/>
                        </a:rPr>
                        <a:t>Xavf toifasi</a:t>
                      </a:r>
                    </a:p>
                  </a:txBody>
                  <a:tcPr>
                    <a:solidFill>
                      <a:srgbClr val="161F40"/>
                    </a:solidFill>
                  </a:tcPr>
                </a:tc>
                <a:tc>
                  <a:txBody>
                    <a:bodyPr/>
                    <a:lstStyle/>
                    <a:p>
                      <a:r>
                        <a:rPr sz="1000" b="0">
                          <a:solidFill>
                            <a:srgbClr val="E8EEFA"/>
                          </a:solidFill>
                          <a:latin typeface="Segoe UI"/>
                        </a:rPr>
                        <a:t>Yuqori (EU AI Act, III ilova — tibbiyot); inson nazorati: radiolog har tasvirni baribir ko'radi</a:t>
                      </a:r>
                    </a:p>
                  </a:txBody>
                  <a:tcPr>
                    <a:solidFill>
                      <a:srgbClr val="161F40"/>
                    </a:solidFill>
                  </a:tcPr>
                </a:tc>
              </a:tr>
              <a:tr h="520000">
                <a:tc>
                  <a:txBody>
                    <a:bodyPr/>
                    <a:lstStyle/>
                    <a:p>
                      <a:r>
                        <a:rPr sz="1000" b="0">
                          <a:solidFill>
                            <a:srgbClr val="E8EEFA"/>
                          </a:solidFill>
                          <a:latin typeface="Segoe UI"/>
                        </a:rPr>
                        <a:t>Ma'lumot</a:t>
                      </a:r>
                    </a:p>
                  </a:txBody>
                  <a:tcPr>
                    <a:solidFill>
                      <a:srgbClr val="111834"/>
                    </a:solidFill>
                  </a:tcPr>
                </a:tc>
                <a:tc>
                  <a:txBody>
                    <a:bodyPr/>
                    <a:lstStyle/>
                    <a:p>
                      <a:r>
                        <a:rPr sz="1000" b="0">
                          <a:solidFill>
                            <a:srgbClr val="E8EEFA"/>
                          </a:solidFill>
                          <a:latin typeface="Segoe UI"/>
                        </a:rPr>
                        <a:t>NIH ChestX-ray14, CC0 litsenziya; yorliqlar shovqinli (NLP bilan olingan) — cheklov sifatida qayd etilgan</a:t>
                      </a:r>
                    </a:p>
                  </a:txBody>
                  <a:tcPr>
                    <a:solidFill>
                      <a:srgbClr val="111834"/>
                    </a:solidFill>
                  </a:tcPr>
                </a:tc>
              </a:tr>
              <a:tr h="520000">
                <a:tc>
                  <a:txBody>
                    <a:bodyPr/>
                    <a:lstStyle/>
                    <a:p>
                      <a:r>
                        <a:rPr sz="1000" b="0">
                          <a:solidFill>
                            <a:srgbClr val="E8EEFA"/>
                          </a:solidFill>
                          <a:latin typeface="Segoe UI"/>
                        </a:rPr>
                        <a:t>Mo'ljallanmagan foydalanish</a:t>
                      </a:r>
                    </a:p>
                  </a:txBody>
                  <a:tcPr>
                    <a:solidFill>
                      <a:srgbClr val="161F40"/>
                    </a:solidFill>
                  </a:tcPr>
                </a:tc>
                <a:tc>
                  <a:txBody>
                    <a:bodyPr/>
                    <a:lstStyle/>
                    <a:p>
                      <a:r>
                        <a:rPr sz="1000" b="0">
                          <a:solidFill>
                            <a:srgbClr val="E8EEFA"/>
                          </a:solidFill>
                          <a:latin typeface="Segoe UI"/>
                        </a:rPr>
                        <a:t>Tashxis qo'yish; 18 yoshgacha bemorlar; lateral proyeksiya; portativ apparat tasvirlari (test qilinmagan)</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Himoyada ko'rsatiladigan kutilgan natijalar jadvali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43</a:t>
            </a:r>
          </a:p>
        </p:txBody>
      </p:sp>
      <p:graphicFrame>
        <p:nvGraphicFramePr>
          <p:cNvPr id="22" name="Table 21"/>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Ko'rsatkich</a:t>
                      </a:r>
                    </a:p>
                  </a:txBody>
                  <a:tcPr>
                    <a:solidFill>
                      <a:srgbClr val="1C2755"/>
                    </a:solidFill>
                  </a:tcPr>
                </a:tc>
                <a:tc>
                  <a:txBody>
                    <a:bodyPr/>
                    <a:lstStyle/>
                    <a:p>
                      <a:r>
                        <a:rPr sz="1200" b="1">
                          <a:solidFill>
                            <a:srgbClr val="22D3EE"/>
                          </a:solidFill>
                          <a:latin typeface="Segoe UI"/>
                        </a:rPr>
                        <a:t>Maqsad (SLO)</a:t>
                      </a:r>
                    </a:p>
                  </a:txBody>
                  <a:tcPr>
                    <a:solidFill>
                      <a:srgbClr val="1C2755"/>
                    </a:solidFill>
                  </a:tcPr>
                </a:tc>
                <a:tc>
                  <a:txBody>
                    <a:bodyPr/>
                    <a:lstStyle/>
                    <a:p>
                      <a:r>
                        <a:rPr sz="1200" b="1">
                          <a:solidFill>
                            <a:srgbClr val="22D3EE"/>
                          </a:solidFill>
                          <a:latin typeface="Segoe UI"/>
                        </a:rPr>
                        <a:t>Kutilgan (taxminiy)</a:t>
                      </a:r>
                    </a:p>
                  </a:txBody>
                  <a:tcPr>
                    <a:solidFill>
                      <a:srgbClr val="1C2755"/>
                    </a:solidFill>
                  </a:tcPr>
                </a:tc>
                <a:tc>
                  <a:txBody>
                    <a:bodyPr/>
                    <a:lstStyle/>
                    <a:p>
                      <a:r>
                        <a:rPr sz="1200" b="1">
                          <a:solidFill>
                            <a:srgbClr val="22D3EE"/>
                          </a:solidFill>
                          <a:latin typeface="Segoe UI"/>
                        </a:rPr>
                        <a:t>Qayerdan olinadi</a:t>
                      </a:r>
                    </a:p>
                  </a:txBody>
                  <a:tcPr>
                    <a:solidFill>
                      <a:srgbClr val="1C2755"/>
                    </a:solidFill>
                  </a:tcPr>
                </a:tc>
              </a:tr>
              <a:tr h="520000">
                <a:tc>
                  <a:txBody>
                    <a:bodyPr/>
                    <a:lstStyle/>
                    <a:p>
                      <a:r>
                        <a:rPr sz="1200" b="0">
                          <a:solidFill>
                            <a:srgbClr val="E8EEFA"/>
                          </a:solidFill>
                          <a:latin typeface="Segoe UI"/>
                        </a:rPr>
                        <a:t>Val/Test AUC</a:t>
                      </a:r>
                    </a:p>
                  </a:txBody>
                  <a:tcPr>
                    <a:solidFill>
                      <a:srgbClr val="111834"/>
                    </a:solidFill>
                  </a:tcPr>
                </a:tc>
                <a:tc>
                  <a:txBody>
                    <a:bodyPr/>
                    <a:lstStyle/>
                    <a:p>
                      <a:r>
                        <a:rPr sz="1200" b="0">
                          <a:solidFill>
                            <a:srgbClr val="E8EEFA"/>
                          </a:solidFill>
                          <a:latin typeface="Segoe UI"/>
                        </a:rPr>
                        <a:t>≥ 0.75</a:t>
                      </a:r>
                    </a:p>
                  </a:txBody>
                  <a:tcPr>
                    <a:solidFill>
                      <a:srgbClr val="111834"/>
                    </a:solidFill>
                  </a:tcPr>
                </a:tc>
                <a:tc>
                  <a:txBody>
                    <a:bodyPr/>
                    <a:lstStyle/>
                    <a:p>
                      <a:r>
                        <a:rPr sz="1200" b="0">
                          <a:solidFill>
                            <a:srgbClr val="E8EEFA"/>
                          </a:solidFill>
                          <a:latin typeface="Segoe UI"/>
                        </a:rPr>
                        <a:t>0.78 / 0.77</a:t>
                      </a:r>
                    </a:p>
                  </a:txBody>
                  <a:tcPr>
                    <a:solidFill>
                      <a:srgbClr val="111834"/>
                    </a:solidFill>
                  </a:tcPr>
                </a:tc>
                <a:tc>
                  <a:txBody>
                    <a:bodyPr/>
                    <a:lstStyle/>
                    <a:p>
                      <a:r>
                        <a:rPr sz="1200" b="0">
                          <a:solidFill>
                            <a:srgbClr val="E8EEFA"/>
                          </a:solidFill>
                          <a:latin typeface="Segoe UI"/>
                        </a:rPr>
                        <a:t>evaluate.py, MLflow</a:t>
                      </a:r>
                    </a:p>
                  </a:txBody>
                  <a:tcPr>
                    <a:solidFill>
                      <a:srgbClr val="111834"/>
                    </a:solidFill>
                  </a:tcPr>
                </a:tc>
              </a:tr>
              <a:tr h="520000">
                <a:tc>
                  <a:txBody>
                    <a:bodyPr/>
                    <a:lstStyle/>
                    <a:p>
                      <a:r>
                        <a:rPr sz="1200" b="0">
                          <a:solidFill>
                            <a:srgbClr val="E8EEFA"/>
                          </a:solidFill>
                          <a:latin typeface="Segoe UI"/>
                        </a:rPr>
                        <a:t>Sezgirlik @ chegara 0.31</a:t>
                      </a:r>
                    </a:p>
                  </a:txBody>
                  <a:tcPr>
                    <a:solidFill>
                      <a:srgbClr val="161F40"/>
                    </a:solidFill>
                  </a:tcPr>
                </a:tc>
                <a:tc>
                  <a:txBody>
                    <a:bodyPr/>
                    <a:lstStyle/>
                    <a:p>
                      <a:r>
                        <a:rPr sz="1200" b="0">
                          <a:solidFill>
                            <a:srgbClr val="E8EEFA"/>
                          </a:solidFill>
                          <a:latin typeface="Segoe UI"/>
                        </a:rPr>
                        <a:t>≥ 0.90</a:t>
                      </a:r>
                    </a:p>
                  </a:txBody>
                  <a:tcPr>
                    <a:solidFill>
                      <a:srgbClr val="161F40"/>
                    </a:solidFill>
                  </a:tcPr>
                </a:tc>
                <a:tc>
                  <a:txBody>
                    <a:bodyPr/>
                    <a:lstStyle/>
                    <a:p>
                      <a:r>
                        <a:rPr sz="1200" b="0">
                          <a:solidFill>
                            <a:srgbClr val="E8EEFA"/>
                          </a:solidFill>
                          <a:latin typeface="Segoe UI"/>
                        </a:rPr>
                        <a:t>0.91</a:t>
                      </a:r>
                    </a:p>
                  </a:txBody>
                  <a:tcPr>
                    <a:solidFill>
                      <a:srgbClr val="161F40"/>
                    </a:solidFill>
                  </a:tcPr>
                </a:tc>
                <a:tc>
                  <a:txBody>
                    <a:bodyPr/>
                    <a:lstStyle/>
                    <a:p>
                      <a:r>
                        <a:rPr sz="1200" b="0">
                          <a:solidFill>
                            <a:srgbClr val="E8EEFA"/>
                          </a:solidFill>
                          <a:latin typeface="Segoe UI"/>
                        </a:rPr>
                        <a:t>evaluate.py</a:t>
                      </a:r>
                    </a:p>
                  </a:txBody>
                  <a:tcPr>
                    <a:solidFill>
                      <a:srgbClr val="161F40"/>
                    </a:solidFill>
                  </a:tcPr>
                </a:tc>
              </a:tr>
              <a:tr h="520000">
                <a:tc>
                  <a:txBody>
                    <a:bodyPr/>
                    <a:lstStyle/>
                    <a:p>
                      <a:r>
                        <a:rPr sz="1200" b="0">
                          <a:solidFill>
                            <a:srgbClr val="E8EEFA"/>
                          </a:solidFill>
                          <a:latin typeface="Segoe UI"/>
                        </a:rPr>
                        <a:t>Aniqlik (precision)</a:t>
                      </a:r>
                    </a:p>
                  </a:txBody>
                  <a:tcPr>
                    <a:solidFill>
                      <a:srgbClr val="111834"/>
                    </a:solidFill>
                  </a:tcPr>
                </a:tc>
                <a:tc>
                  <a:txBody>
                    <a:bodyPr/>
                    <a:lstStyle/>
                    <a:p>
                      <a:r>
                        <a:rPr sz="1200" b="0">
                          <a:solidFill>
                            <a:srgbClr val="E8EEFA"/>
                          </a:solidFill>
                          <a:latin typeface="Segoe UI"/>
                        </a:rPr>
                        <a:t>—</a:t>
                      </a:r>
                    </a:p>
                  </a:txBody>
                  <a:tcPr>
                    <a:solidFill>
                      <a:srgbClr val="111834"/>
                    </a:solidFill>
                  </a:tcPr>
                </a:tc>
                <a:tc>
                  <a:txBody>
                    <a:bodyPr/>
                    <a:lstStyle/>
                    <a:p>
                      <a:r>
                        <a:rPr sz="1200" b="0">
                          <a:solidFill>
                            <a:srgbClr val="E8EEFA"/>
                          </a:solidFill>
                          <a:latin typeface="Segoe UI"/>
                        </a:rPr>
                        <a:t>0.57</a:t>
                      </a:r>
                    </a:p>
                  </a:txBody>
                  <a:tcPr>
                    <a:solidFill>
                      <a:srgbClr val="111834"/>
                    </a:solidFill>
                  </a:tcPr>
                </a:tc>
                <a:tc>
                  <a:txBody>
                    <a:bodyPr/>
                    <a:lstStyle/>
                    <a:p>
                      <a:r>
                        <a:rPr sz="1200" b="0">
                          <a:solidFill>
                            <a:srgbClr val="E8EEFA"/>
                          </a:solidFill>
                          <a:latin typeface="Segoe UI"/>
                        </a:rPr>
                        <a:t>evaluate.py</a:t>
                      </a:r>
                    </a:p>
                  </a:txBody>
                  <a:tcPr>
                    <a:solidFill>
                      <a:srgbClr val="111834"/>
                    </a:solidFill>
                  </a:tcPr>
                </a:tc>
              </a:tr>
              <a:tr h="520000">
                <a:tc>
                  <a:txBody>
                    <a:bodyPr/>
                    <a:lstStyle/>
                    <a:p>
                      <a:r>
                        <a:rPr sz="1200" b="0">
                          <a:solidFill>
                            <a:srgbClr val="E8EEFA"/>
                          </a:solidFill>
                          <a:latin typeface="Segoe UI"/>
                        </a:rPr>
                        <a:t>TPR farqi (jins)</a:t>
                      </a:r>
                    </a:p>
                  </a:txBody>
                  <a:tcPr>
                    <a:solidFill>
                      <a:srgbClr val="161F40"/>
                    </a:solidFill>
                  </a:tcPr>
                </a:tc>
                <a:tc>
                  <a:txBody>
                    <a:bodyPr/>
                    <a:lstStyle/>
                    <a:p>
                      <a:r>
                        <a:rPr sz="1200" b="0">
                          <a:solidFill>
                            <a:srgbClr val="E8EEFA"/>
                          </a:solidFill>
                          <a:latin typeface="Segoe UI"/>
                        </a:rPr>
                        <a:t>≤ 0.05</a:t>
                      </a:r>
                    </a:p>
                  </a:txBody>
                  <a:tcPr>
                    <a:solidFill>
                      <a:srgbClr val="161F40"/>
                    </a:solidFill>
                  </a:tcPr>
                </a:tc>
                <a:tc>
                  <a:txBody>
                    <a:bodyPr/>
                    <a:lstStyle/>
                    <a:p>
                      <a:r>
                        <a:rPr sz="1200" b="0">
                          <a:solidFill>
                            <a:srgbClr val="E8EEFA"/>
                          </a:solidFill>
                          <a:latin typeface="Segoe UI"/>
                        </a:rPr>
                        <a:t>0.02</a:t>
                      </a:r>
                    </a:p>
                  </a:txBody>
                  <a:tcPr>
                    <a:solidFill>
                      <a:srgbClr val="161F40"/>
                    </a:solidFill>
                  </a:tcPr>
                </a:tc>
                <a:tc>
                  <a:txBody>
                    <a:bodyPr/>
                    <a:lstStyle/>
                    <a:p>
                      <a:r>
                        <a:rPr sz="1200" b="0">
                          <a:solidFill>
                            <a:srgbClr val="E8EEFA"/>
                          </a:solidFill>
                          <a:latin typeface="Segoe UI"/>
                        </a:rPr>
                        <a:t>fairness_report.py</a:t>
                      </a:r>
                    </a:p>
                  </a:txBody>
                  <a:tcPr>
                    <a:solidFill>
                      <a:srgbClr val="161F40"/>
                    </a:solidFill>
                  </a:tcPr>
                </a:tc>
              </a:tr>
              <a:tr h="520000">
                <a:tc>
                  <a:txBody>
                    <a:bodyPr/>
                    <a:lstStyle/>
                    <a:p>
                      <a:r>
                        <a:rPr sz="1200" b="0">
                          <a:solidFill>
                            <a:srgbClr val="E8EEFA"/>
                          </a:solidFill>
                          <a:latin typeface="Segoe UI"/>
                        </a:rPr>
                        <a:t>TPR farqi (yosh, 19+)</a:t>
                      </a:r>
                    </a:p>
                  </a:txBody>
                  <a:tcPr>
                    <a:solidFill>
                      <a:srgbClr val="111834"/>
                    </a:solidFill>
                  </a:tcPr>
                </a:tc>
                <a:tc>
                  <a:txBody>
                    <a:bodyPr/>
                    <a:lstStyle/>
                    <a:p>
                      <a:r>
                        <a:rPr sz="1200" b="0">
                          <a:solidFill>
                            <a:srgbClr val="E8EEFA"/>
                          </a:solidFill>
                          <a:latin typeface="Segoe UI"/>
                        </a:rPr>
                        <a:t>≤ 0.05</a:t>
                      </a:r>
                    </a:p>
                  </a:txBody>
                  <a:tcPr>
                    <a:solidFill>
                      <a:srgbClr val="111834"/>
                    </a:solidFill>
                  </a:tcPr>
                </a:tc>
                <a:tc>
                  <a:txBody>
                    <a:bodyPr/>
                    <a:lstStyle/>
                    <a:p>
                      <a:r>
                        <a:rPr sz="1200" b="0">
                          <a:solidFill>
                            <a:srgbClr val="E8EEFA"/>
                          </a:solidFill>
                          <a:latin typeface="Segoe UI"/>
                        </a:rPr>
                        <a:t>0.04</a:t>
                      </a:r>
                    </a:p>
                  </a:txBody>
                  <a:tcPr>
                    <a:solidFill>
                      <a:srgbClr val="111834"/>
                    </a:solidFill>
                  </a:tcPr>
                </a:tc>
                <a:tc>
                  <a:txBody>
                    <a:bodyPr/>
                    <a:lstStyle/>
                    <a:p>
                      <a:r>
                        <a:rPr sz="1200" b="0">
                          <a:solidFill>
                            <a:srgbClr val="E8EEFA"/>
                          </a:solidFill>
                          <a:latin typeface="Segoe UI"/>
                        </a:rPr>
                        <a:t>fairness_report.py</a:t>
                      </a:r>
                    </a:p>
                  </a:txBody>
                  <a:tcPr>
                    <a:solidFill>
                      <a:srgbClr val="111834"/>
                    </a:solidFill>
                  </a:tcPr>
                </a:tc>
              </a:tr>
              <a:tr h="520000">
                <a:tc>
                  <a:txBody>
                    <a:bodyPr/>
                    <a:lstStyle/>
                    <a:p>
                      <a:r>
                        <a:rPr sz="1200" b="0">
                          <a:solidFill>
                            <a:srgbClr val="E8EEFA"/>
                          </a:solidFill>
                          <a:latin typeface="Segoe UI"/>
                        </a:rPr>
                        <a:t>p50 / p99 kechikish, GPU, 40 foydalanuvchi</a:t>
                      </a:r>
                    </a:p>
                  </a:txBody>
                  <a:tcPr>
                    <a:solidFill>
                      <a:srgbClr val="161F40"/>
                    </a:solidFill>
                  </a:tcPr>
                </a:tc>
                <a:tc>
                  <a:txBody>
                    <a:bodyPr/>
                    <a:lstStyle/>
                    <a:p>
                      <a:r>
                        <a:rPr sz="1200" b="0">
                          <a:solidFill>
                            <a:srgbClr val="E8EEFA"/>
                          </a:solidFill>
                          <a:latin typeface="Segoe UI"/>
                        </a:rPr>
                        <a:t>p99 ≤ 300 ms</a:t>
                      </a:r>
                    </a:p>
                  </a:txBody>
                  <a:tcPr>
                    <a:solidFill>
                      <a:srgbClr val="161F40"/>
                    </a:solidFill>
                  </a:tcPr>
                </a:tc>
                <a:tc>
                  <a:txBody>
                    <a:bodyPr/>
                    <a:lstStyle/>
                    <a:p>
                      <a:r>
                        <a:rPr sz="1200" b="0">
                          <a:solidFill>
                            <a:srgbClr val="E8EEFA"/>
                          </a:solidFill>
                          <a:latin typeface="Segoe UI"/>
                        </a:rPr>
                        <a:t>30 / 120 ms</a:t>
                      </a:r>
                    </a:p>
                  </a:txBody>
                  <a:tcPr>
                    <a:solidFill>
                      <a:srgbClr val="161F40"/>
                    </a:solidFill>
                  </a:tcPr>
                </a:tc>
                <a:tc>
                  <a:txBody>
                    <a:bodyPr/>
                    <a:lstStyle/>
                    <a:p>
                      <a:r>
                        <a:rPr sz="1200" b="0">
                          <a:solidFill>
                            <a:srgbClr val="E8EEFA"/>
                          </a:solidFill>
                          <a:latin typeface="Segoe UI"/>
                        </a:rPr>
                        <a:t>Locust + Grafana</a:t>
                      </a:r>
                    </a:p>
                  </a:txBody>
                  <a:tcPr>
                    <a:solidFill>
                      <a:srgbClr val="161F40"/>
                    </a:solidFill>
                  </a:tcPr>
                </a:tc>
              </a:tr>
              <a:tr h="520000">
                <a:tc>
                  <a:txBody>
                    <a:bodyPr/>
                    <a:lstStyle/>
                    <a:p>
                      <a:r>
                        <a:rPr sz="1200" b="0">
                          <a:solidFill>
                            <a:srgbClr val="E8EEFA"/>
                          </a:solidFill>
                          <a:latin typeface="Segoe UI"/>
                        </a:rPr>
                        <a:t>O'tkazuvchanlik</a:t>
                      </a:r>
                    </a:p>
                  </a:txBody>
                  <a:tcPr>
                    <a:solidFill>
                      <a:srgbClr val="111834"/>
                    </a:solidFill>
                  </a:tcPr>
                </a:tc>
                <a:tc>
                  <a:txBody>
                    <a:bodyPr/>
                    <a:lstStyle/>
                    <a:p>
                      <a:r>
                        <a:rPr sz="1200" b="0">
                          <a:solidFill>
                            <a:srgbClr val="E8EEFA"/>
                          </a:solidFill>
                          <a:latin typeface="Segoe UI"/>
                        </a:rPr>
                        <a:t>≥ 20 so'rov/s</a:t>
                      </a:r>
                    </a:p>
                  </a:txBody>
                  <a:tcPr>
                    <a:solidFill>
                      <a:srgbClr val="111834"/>
                    </a:solidFill>
                  </a:tcPr>
                </a:tc>
                <a:tc>
                  <a:txBody>
                    <a:bodyPr/>
                    <a:lstStyle/>
                    <a:p>
                      <a:r>
                        <a:rPr sz="1200" b="0">
                          <a:solidFill>
                            <a:srgbClr val="E8EEFA"/>
                          </a:solidFill>
                          <a:latin typeface="Segoe UI"/>
                        </a:rPr>
                        <a:t>25 so'rov/s</a:t>
                      </a:r>
                    </a:p>
                  </a:txBody>
                  <a:tcPr>
                    <a:solidFill>
                      <a:srgbClr val="111834"/>
                    </a:solidFill>
                  </a:tcPr>
                </a:tc>
                <a:tc>
                  <a:txBody>
                    <a:bodyPr/>
                    <a:lstStyle/>
                    <a:p>
                      <a:r>
                        <a:rPr sz="1200" b="0">
                          <a:solidFill>
                            <a:srgbClr val="E8EEFA"/>
                          </a:solidFill>
                          <a:latin typeface="Segoe UI"/>
                        </a:rPr>
                        <a:t>Locust</a:t>
                      </a:r>
                    </a:p>
                  </a:txBody>
                  <a:tcPr>
                    <a:solidFill>
                      <a:srgbClr val="111834"/>
                    </a:solidFill>
                  </a:tcPr>
                </a:tc>
              </a:tr>
              <a:tr h="520000">
                <a:tc>
                  <a:txBody>
                    <a:bodyPr/>
                    <a:lstStyle/>
                    <a:p>
                      <a:r>
                        <a:rPr sz="1200" b="0">
                          <a:solidFill>
                            <a:srgbClr val="E8EEFA"/>
                          </a:solidFill>
                          <a:latin typeface="Segoe UI"/>
                        </a:rPr>
                        <a:t>GPU xotira (ONNX FP32 / FP16)</a:t>
                      </a:r>
                    </a:p>
                  </a:txBody>
                  <a:tcPr>
                    <a:solidFill>
                      <a:srgbClr val="161F40"/>
                    </a:solidFill>
                  </a:tcPr>
                </a:tc>
                <a:tc>
                  <a:txBody>
                    <a:bodyPr/>
                    <a:lstStyle/>
                    <a:p>
                      <a:r>
                        <a:rPr sz="1200" b="0">
                          <a:solidFill>
                            <a:srgbClr val="E8EEFA"/>
                          </a:solidFill>
                          <a:latin typeface="Segoe UI"/>
                        </a:rPr>
                        <a:t>≤ 8 GB</a:t>
                      </a:r>
                    </a:p>
                  </a:txBody>
                  <a:tcPr>
                    <a:solidFill>
                      <a:srgbClr val="161F40"/>
                    </a:solidFill>
                  </a:tcPr>
                </a:tc>
                <a:tc>
                  <a:txBody>
                    <a:bodyPr/>
                    <a:lstStyle/>
                    <a:p>
                      <a:r>
                        <a:rPr sz="1200" b="0">
                          <a:solidFill>
                            <a:srgbClr val="E8EEFA"/>
                          </a:solidFill>
                          <a:latin typeface="Segoe UI"/>
                        </a:rPr>
                        <a:t>1.1 / 0.7 GB</a:t>
                      </a:r>
                    </a:p>
                  </a:txBody>
                  <a:tcPr>
                    <a:solidFill>
                      <a:srgbClr val="161F40"/>
                    </a:solidFill>
                  </a:tcPr>
                </a:tc>
                <a:tc>
                  <a:txBody>
                    <a:bodyPr/>
                    <a:lstStyle/>
                    <a:p>
                      <a:r>
                        <a:rPr sz="1200" b="0">
                          <a:solidFill>
                            <a:srgbClr val="E8EEFA"/>
                          </a:solidFill>
                          <a:latin typeface="Segoe UI"/>
                        </a:rPr>
                        <a:t>nvidia-smi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Himoyada ko'rsatiladigan kutilgan natijalar jadvali (davomi)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44</a:t>
            </a:r>
          </a:p>
        </p:txBody>
      </p:sp>
      <p:graphicFrame>
        <p:nvGraphicFramePr>
          <p:cNvPr id="25" name="Table 24"/>
          <p:cNvGraphicFramePr>
            <a:graphicFrameLocks noGrp="1"/>
          </p:cNvGraphicFramePr>
          <p:nvPr/>
        </p:nvGraphicFramePr>
        <p:xfrm>
          <a:off x="550000" y="1400000"/>
          <a:ext cx="11100000" cy="156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Ko'rsatkich</a:t>
                      </a:r>
                    </a:p>
                  </a:txBody>
                  <a:tcPr>
                    <a:solidFill>
                      <a:srgbClr val="1C2755"/>
                    </a:solidFill>
                  </a:tcPr>
                </a:tc>
                <a:tc>
                  <a:txBody>
                    <a:bodyPr/>
                    <a:lstStyle/>
                    <a:p>
                      <a:r>
                        <a:rPr sz="1200" b="1">
                          <a:solidFill>
                            <a:srgbClr val="22D3EE"/>
                          </a:solidFill>
                          <a:latin typeface="Segoe UI"/>
                        </a:rPr>
                        <a:t>Maqsad (SLO)</a:t>
                      </a:r>
                    </a:p>
                  </a:txBody>
                  <a:tcPr>
                    <a:solidFill>
                      <a:srgbClr val="1C2755"/>
                    </a:solidFill>
                  </a:tcPr>
                </a:tc>
                <a:tc>
                  <a:txBody>
                    <a:bodyPr/>
                    <a:lstStyle/>
                    <a:p>
                      <a:r>
                        <a:rPr sz="1200" b="1">
                          <a:solidFill>
                            <a:srgbClr val="22D3EE"/>
                          </a:solidFill>
                          <a:latin typeface="Segoe UI"/>
                        </a:rPr>
                        <a:t>Kutilgan (taxminiy)</a:t>
                      </a:r>
                    </a:p>
                  </a:txBody>
                  <a:tcPr>
                    <a:solidFill>
                      <a:srgbClr val="1C2755"/>
                    </a:solidFill>
                  </a:tcPr>
                </a:tc>
                <a:tc>
                  <a:txBody>
                    <a:bodyPr/>
                    <a:lstStyle/>
                    <a:p>
                      <a:r>
                        <a:rPr sz="1200" b="1">
                          <a:solidFill>
                            <a:srgbClr val="22D3EE"/>
                          </a:solidFill>
                          <a:latin typeface="Segoe UI"/>
                        </a:rPr>
                        <a:t>Qayerdan olinadi</a:t>
                      </a:r>
                    </a:p>
                  </a:txBody>
                  <a:tcPr>
                    <a:solidFill>
                      <a:srgbClr val="1C2755"/>
                    </a:solidFill>
                  </a:tcPr>
                </a:tc>
              </a:tr>
              <a:tr h="520000">
                <a:tc>
                  <a:txBody>
                    <a:bodyPr/>
                    <a:lstStyle/>
                    <a:p>
                      <a:r>
                        <a:rPr sz="1200" b="0">
                          <a:solidFill>
                            <a:srgbClr val="E8EEFA"/>
                          </a:solidFill>
                          <a:latin typeface="Segoe UI"/>
                        </a:rPr>
                        <a:t>Drift ogohlantirish (kontrast −30%)</a:t>
                      </a:r>
                    </a:p>
                  </a:txBody>
                  <a:tcPr>
                    <a:solidFill>
                      <a:srgbClr val="111834"/>
                    </a:solidFill>
                  </a:tcPr>
                </a:tc>
                <a:tc>
                  <a:txBody>
                    <a:bodyPr/>
                    <a:lstStyle/>
                    <a:p>
                      <a:r>
                        <a:rPr sz="1200" b="0">
                          <a:solidFill>
                            <a:srgbClr val="E8EEFA"/>
                          </a:solidFill>
                          <a:latin typeface="Segoe UI"/>
                        </a:rPr>
                        <a:t>PSI ≥ 0.2</a:t>
                      </a:r>
                    </a:p>
                  </a:txBody>
                  <a:tcPr>
                    <a:solidFill>
                      <a:srgbClr val="111834"/>
                    </a:solidFill>
                  </a:tcPr>
                </a:tc>
                <a:tc>
                  <a:txBody>
                    <a:bodyPr/>
                    <a:lstStyle/>
                    <a:p>
                      <a:r>
                        <a:rPr sz="1200" b="0">
                          <a:solidFill>
                            <a:srgbClr val="E8EEFA"/>
                          </a:solidFill>
                          <a:latin typeface="Segoe UI"/>
                        </a:rPr>
                        <a:t>PSI 0.35, ogohlantirish yondi</a:t>
                      </a:r>
                    </a:p>
                  </a:txBody>
                  <a:tcPr>
                    <a:solidFill>
                      <a:srgbClr val="111834"/>
                    </a:solidFill>
                  </a:tcPr>
                </a:tc>
                <a:tc>
                  <a:txBody>
                    <a:bodyPr/>
                    <a:lstStyle/>
                    <a:p>
                      <a:r>
                        <a:rPr sz="1200" b="0">
                          <a:solidFill>
                            <a:srgbClr val="E8EEFA"/>
                          </a:solidFill>
                          <a:latin typeface="Segoe UI"/>
                        </a:rPr>
                        <a:t>drift.py</a:t>
                      </a:r>
                    </a:p>
                  </a:txBody>
                  <a:tcPr>
                    <a:solidFill>
                      <a:srgbClr val="111834"/>
                    </a:solidFill>
                  </a:tcPr>
                </a:tc>
              </a:tr>
              <a:tr h="520000">
                <a:tc>
                  <a:txBody>
                    <a:bodyPr/>
                    <a:lstStyle/>
                    <a:p>
                      <a:r>
                        <a:rPr sz="1200" b="0">
                          <a:solidFill>
                            <a:srgbClr val="E8EEFA"/>
                          </a:solidFill>
                          <a:latin typeface="Segoe UI"/>
                        </a:rPr>
                        <a:t>PGD-10, eps=2/255 ostida AUC</a:t>
                      </a:r>
                    </a:p>
                  </a:txBody>
                  <a:tcPr>
                    <a:solidFill>
                      <a:srgbClr val="161F40"/>
                    </a:solidFill>
                  </a:tcPr>
                </a:tc>
                <a:tc>
                  <a:txBody>
                    <a:bodyPr/>
                    <a:lstStyle/>
                    <a:p>
                      <a:r>
                        <a:rPr sz="1200" b="0">
                          <a:solidFill>
                            <a:srgbClr val="E8EEFA"/>
                          </a:solidFill>
                          <a:latin typeface="Segoe UI"/>
                        </a:rPr>
                        <a:t>hujjatlashtirilsin</a:t>
                      </a:r>
                    </a:p>
                  </a:txBody>
                  <a:tcPr>
                    <a:solidFill>
                      <a:srgbClr val="161F40"/>
                    </a:solidFill>
                  </a:tcPr>
                </a:tc>
                <a:tc>
                  <a:txBody>
                    <a:bodyPr/>
                    <a:lstStyle/>
                    <a:p>
                      <a:r>
                        <a:rPr sz="1200" b="0">
                          <a:solidFill>
                            <a:srgbClr val="E8EEFA"/>
                          </a:solidFill>
                          <a:latin typeface="Segoe UI"/>
                        </a:rPr>
                        <a:t>0.61</a:t>
                      </a:r>
                    </a:p>
                  </a:txBody>
                  <a:tcPr>
                    <a:solidFill>
                      <a:srgbClr val="161F40"/>
                    </a:solidFill>
                  </a:tcPr>
                </a:tc>
                <a:tc>
                  <a:txBody>
                    <a:bodyPr/>
                    <a:lstStyle/>
                    <a:p>
                      <a:r>
                        <a:rPr sz="1200" b="0">
                          <a:solidFill>
                            <a:srgbClr val="E8EEFA"/>
                          </a:solidFill>
                          <a:latin typeface="Segoe UI"/>
                        </a:rPr>
                        <a:t>A6 kodi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Batafsil baholash rubrikasi (jami 100 ball, guruh balli; individual tuzatish ±15)</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Yakuniy baho: 90–100 — a'lo, 75–89 — yaxshi, 60–74 — qoniqarli, 60 dan past — loyiha qayta topshiriladi (ikki haftada, maksimal 70 ball).</a:t>
            </a:r>
          </a:p>
          <a:p>
            <a:pPr>
              <a:spcBef>
                <a:spcPts val="400"/>
              </a:spcBef>
            </a:pPr>
            <a:r>
              <a:rPr sz="1600">
                <a:solidFill>
                  <a:srgbClr val="AEBBD9"/>
                </a:solidFill>
                <a:latin typeface="Segoe UI"/>
              </a:rPr>
              <a:t>Individual tuzatish: Git hissasi, kod ko'rib chiqishdagi javoblar va himoyadagi ishtirok asosida ±15 ball; a'zo loyihaning hech bir qismini tushuntira olmasa, uning balli guruh ballining 50% idan oshmaydi.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Batafsil baholash rubrikasi (jami 100 ball, guruh balli; individual tuzatish ±15)</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46</a:t>
            </a:r>
          </a:p>
        </p:txBody>
      </p:sp>
      <p:graphicFrame>
        <p:nvGraphicFramePr>
          <p:cNvPr id="23" name="Table 22"/>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000" b="1">
                          <a:solidFill>
                            <a:srgbClr val="22D3EE"/>
                          </a:solidFill>
                          <a:latin typeface="Segoe UI"/>
                        </a:rPr>
                        <a:t>№</a:t>
                      </a:r>
                    </a:p>
                  </a:txBody>
                  <a:tcPr>
                    <a:solidFill>
                      <a:srgbClr val="1C2755"/>
                    </a:solidFill>
                  </a:tcPr>
                </a:tc>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A'lo (to'liq ball)</a:t>
                      </a:r>
                    </a:p>
                  </a:txBody>
                  <a:tcPr>
                    <a:solidFill>
                      <a:srgbClr val="1C2755"/>
                    </a:solidFill>
                  </a:tcPr>
                </a:tc>
                <a:tc>
                  <a:txBody>
                    <a:bodyPr/>
                    <a:lstStyle/>
                    <a:p>
                      <a:r>
                        <a:rPr sz="1000" b="1">
                          <a:solidFill>
                            <a:srgbClr val="22D3EE"/>
                          </a:solidFill>
                          <a:latin typeface="Segoe UI"/>
                        </a:rPr>
                        <a:t>Qoniqarli (yarim ball)</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1</a:t>
                      </a:r>
                    </a:p>
                  </a:txBody>
                  <a:tcPr>
                    <a:solidFill>
                      <a:srgbClr val="111834"/>
                    </a:solidFill>
                  </a:tcPr>
                </a:tc>
                <a:tc>
                  <a:txBody>
                    <a:bodyPr/>
                    <a:lstStyle/>
                    <a:p>
                      <a:r>
                        <a:rPr sz="1000" b="0">
                          <a:solidFill>
                            <a:srgbClr val="E8EEFA"/>
                          </a:solidFill>
                          <a:latin typeface="Segoe UI"/>
                        </a:rPr>
                        <a:t>Masala va talablar</a:t>
                      </a:r>
                    </a:p>
                  </a:txBody>
                  <a:tcPr>
                    <a:solidFill>
                      <a:srgbClr val="111834"/>
                    </a:solidFill>
                  </a:tcPr>
                </a:tc>
                <a:tc>
                  <a:txBody>
                    <a:bodyPr/>
                    <a:lstStyle/>
                    <a:p>
                      <a:r>
                        <a:rPr sz="1000" b="0">
                          <a:solidFill>
                            <a:srgbClr val="E8EEFA"/>
                          </a:solidFill>
                          <a:latin typeface="Segoe UI"/>
                        </a:rPr>
                        <a:t>Pasport to'liq, SLO o'lchanadigan, xavf toifasi asoslangan, mo'ljallanmagan foydalanish yozilgan</a:t>
                      </a:r>
                    </a:p>
                  </a:txBody>
                  <a:tcPr>
                    <a:solidFill>
                      <a:srgbClr val="111834"/>
                    </a:solidFill>
                  </a:tcPr>
                </a:tc>
                <a:tc>
                  <a:txBody>
                    <a:bodyPr/>
                    <a:lstStyle/>
                    <a:p>
                      <a:r>
                        <a:rPr sz="1000" b="0">
                          <a:solidFill>
                            <a:srgbClr val="E8EEFA"/>
                          </a:solidFill>
                          <a:latin typeface="Segoe UI"/>
                        </a:rPr>
                        <a:t>Talablar umumiy, SLO raqamsiz</a:t>
                      </a:r>
                    </a:p>
                  </a:txBody>
                  <a:tcPr>
                    <a:solidFill>
                      <a:srgbClr val="111834"/>
                    </a:solidFill>
                  </a:tcPr>
                </a:tc>
                <a:tc>
                  <a:txBody>
                    <a:bodyPr/>
                    <a:lstStyle/>
                    <a:p>
                      <a:r>
                        <a:rPr sz="1000" b="0">
                          <a:solidFill>
                            <a:srgbClr val="E8EEFA"/>
                          </a:solidFill>
                          <a:latin typeface="Segoe UI"/>
                        </a:rPr>
                        <a:t>8</a:t>
                      </a:r>
                    </a:p>
                  </a:txBody>
                  <a:tcPr>
                    <a:solidFill>
                      <a:srgbClr val="111834"/>
                    </a:solidFill>
                  </a:tcPr>
                </a:tc>
              </a:tr>
              <a:tr h="520000">
                <a:tc>
                  <a:txBody>
                    <a:bodyPr/>
                    <a:lstStyle/>
                    <a:p>
                      <a:r>
                        <a:rPr sz="1000" b="0">
                          <a:solidFill>
                            <a:srgbClr val="E8EEFA"/>
                          </a:solidFill>
                          <a:latin typeface="Segoe UI"/>
                        </a:rPr>
                        <a:t>2</a:t>
                      </a:r>
                    </a:p>
                  </a:txBody>
                  <a:tcPr>
                    <a:solidFill>
                      <a:srgbClr val="161F40"/>
                    </a:solidFill>
                  </a:tcPr>
                </a:tc>
                <a:tc>
                  <a:txBody>
                    <a:bodyPr/>
                    <a:lstStyle/>
                    <a:p>
                      <a:r>
                        <a:rPr sz="1000" b="0">
                          <a:solidFill>
                            <a:srgbClr val="E8EEFA"/>
                          </a:solidFill>
                          <a:latin typeface="Segoe UI"/>
                        </a:rPr>
                        <a:t>Ma'lumot muhandisligi</a:t>
                      </a:r>
                    </a:p>
                  </a:txBody>
                  <a:tcPr>
                    <a:solidFill>
                      <a:srgbClr val="161F40"/>
                    </a:solidFill>
                  </a:tcPr>
                </a:tc>
                <a:tc>
                  <a:txBody>
                    <a:bodyPr/>
                    <a:lstStyle/>
                    <a:p>
                      <a:r>
                        <a:rPr sz="1000" b="0">
                          <a:solidFill>
                            <a:srgbClr val="E8EEFA"/>
                          </a:solidFill>
                          <a:latin typeface="Segoe UI"/>
                        </a:rPr>
                        <a:t>Bemor/obyekt bo'yicha sizishsiz bo'lish, sxema tekshiruvi, versiyalash, datasheet, vakillik jadvali</a:t>
                      </a:r>
                    </a:p>
                  </a:txBody>
                  <a:tcPr>
                    <a:solidFill>
                      <a:srgbClr val="161F40"/>
                    </a:solidFill>
                  </a:tcPr>
                </a:tc>
                <a:tc>
                  <a:txBody>
                    <a:bodyPr/>
                    <a:lstStyle/>
                    <a:p>
                      <a:r>
                        <a:rPr sz="1000" b="0">
                          <a:solidFill>
                            <a:srgbClr val="E8EEFA"/>
                          </a:solidFill>
                          <a:latin typeface="Segoe UI"/>
                        </a:rPr>
                        <a:t>Bo'lish to'g'ri, lekin tekshiruv/versiyalash yo'q</a:t>
                      </a:r>
                    </a:p>
                  </a:txBody>
                  <a:tcPr>
                    <a:solidFill>
                      <a:srgbClr val="161F40"/>
                    </a:solidFill>
                  </a:tcPr>
                </a:tc>
                <a:tc>
                  <a:txBody>
                    <a:bodyPr/>
                    <a:lstStyle/>
                    <a:p>
                      <a:r>
                        <a:rPr sz="1000" b="0">
                          <a:solidFill>
                            <a:srgbClr val="E8EEFA"/>
                          </a:solidFill>
                          <a:latin typeface="Segoe UI"/>
                        </a:rPr>
                        <a:t>12</a:t>
                      </a:r>
                    </a:p>
                  </a:txBody>
                  <a:tcPr>
                    <a:solidFill>
                      <a:srgbClr val="161F40"/>
                    </a:solidFill>
                  </a:tcPr>
                </a:tc>
              </a:tr>
              <a:tr h="520000">
                <a:tc>
                  <a:txBody>
                    <a:bodyPr/>
                    <a:lstStyle/>
                    <a:p>
                      <a:r>
                        <a:rPr sz="1000" b="0">
                          <a:solidFill>
                            <a:srgbClr val="E8EEFA"/>
                          </a:solidFill>
                          <a:latin typeface="Segoe UI"/>
                        </a:rPr>
                        <a:t>3</a:t>
                      </a:r>
                    </a:p>
                  </a:txBody>
                  <a:tcPr>
                    <a:solidFill>
                      <a:srgbClr val="111834"/>
                    </a:solidFill>
                  </a:tcPr>
                </a:tc>
                <a:tc>
                  <a:txBody>
                    <a:bodyPr/>
                    <a:lstStyle/>
                    <a:p>
                      <a:r>
                        <a:rPr sz="1000" b="0">
                          <a:solidFill>
                            <a:srgbClr val="E8EEFA"/>
                          </a:solidFill>
                          <a:latin typeface="Segoe UI"/>
                        </a:rPr>
                        <a:t>Model va eksperimentlar</a:t>
                      </a:r>
                    </a:p>
                  </a:txBody>
                  <a:tcPr>
                    <a:solidFill>
                      <a:srgbClr val="111834"/>
                    </a:solidFill>
                  </a:tcPr>
                </a:tc>
                <a:tc>
                  <a:txBody>
                    <a:bodyPr/>
                    <a:lstStyle/>
                    <a:p>
                      <a:r>
                        <a:rPr sz="1000" b="0">
                          <a:solidFill>
                            <a:srgbClr val="E8EEFA"/>
                          </a:solidFill>
                          <a:latin typeface="Segoe UI"/>
                        </a:rPr>
                        <a:t>Jurnal (MLflow), kamida 3 eksperiment taqqoslangan, chegara SLO bo'yicha tanlangan, kalibrlash tekshirilgan</a:t>
                      </a:r>
                    </a:p>
                  </a:txBody>
                  <a:tcPr>
                    <a:solidFill>
                      <a:srgbClr val="111834"/>
                    </a:solidFill>
                  </a:tcPr>
                </a:tc>
                <a:tc>
                  <a:txBody>
                    <a:bodyPr/>
                    <a:lstStyle/>
                    <a:p>
                      <a:r>
                        <a:rPr sz="1000" b="0">
                          <a:solidFill>
                            <a:srgbClr val="E8EEFA"/>
                          </a:solidFill>
                          <a:latin typeface="Segoe UI"/>
                        </a:rPr>
                        <a:t>Bitta model, chegara standart 0.5</a:t>
                      </a:r>
                    </a:p>
                  </a:txBody>
                  <a:tcPr>
                    <a:solidFill>
                      <a:srgbClr val="111834"/>
                    </a:solidFill>
                  </a:tcPr>
                </a:tc>
                <a:tc>
                  <a:txBody>
                    <a:bodyPr/>
                    <a:lstStyle/>
                    <a:p>
                      <a:r>
                        <a:rPr sz="1000" b="0">
                          <a:solidFill>
                            <a:srgbClr val="E8EEFA"/>
                          </a:solidFill>
                          <a:latin typeface="Segoe UI"/>
                        </a:rPr>
                        <a:t>12</a:t>
                      </a:r>
                    </a:p>
                  </a:txBody>
                  <a:tcPr>
                    <a:solidFill>
                      <a:srgbClr val="111834"/>
                    </a:solidFill>
                  </a:tcPr>
                </a:tc>
              </a:tr>
              <a:tr h="520000">
                <a:tc>
                  <a:txBody>
                    <a:bodyPr/>
                    <a:lstStyle/>
                    <a:p>
                      <a:r>
                        <a:rPr sz="1000" b="0">
                          <a:solidFill>
                            <a:srgbClr val="E8EEFA"/>
                          </a:solidFill>
                          <a:latin typeface="Segoe UI"/>
                        </a:rPr>
                        <a:t>4</a:t>
                      </a:r>
                    </a:p>
                  </a:txBody>
                  <a:tcPr>
                    <a:solidFill>
                      <a:srgbClr val="161F40"/>
                    </a:solidFill>
                  </a:tcPr>
                </a:tc>
                <a:tc>
                  <a:txBody>
                    <a:bodyPr/>
                    <a:lstStyle/>
                    <a:p>
                      <a:r>
                        <a:rPr sz="1000" b="0">
                          <a:solidFill>
                            <a:srgbClr val="E8EEFA"/>
                          </a:solidFill>
                          <a:latin typeface="Segoe UI"/>
                        </a:rPr>
                        <a:t>Optimallashtirish va unumdorlik</a:t>
                      </a:r>
                    </a:p>
                  </a:txBody>
                  <a:tcPr>
                    <a:solidFill>
                      <a:srgbClr val="161F40"/>
                    </a:solidFill>
                  </a:tcPr>
                </a:tc>
                <a:tc>
                  <a:txBody>
                    <a:bodyPr/>
                    <a:lstStyle/>
                    <a:p>
                      <a:r>
                        <a:rPr sz="1000" b="0">
                          <a:solidFill>
                            <a:srgbClr val="E8EEFA"/>
                          </a:solidFill>
                          <a:latin typeface="Segoe UI"/>
                        </a:rPr>
                        <a:t>ONNX/TensorRT, kamida 2 aniqlik varianti, kechikish/xotira/aniqlik jadvali, yuk sinovi p50/p99</a:t>
                      </a:r>
                    </a:p>
                  </a:txBody>
                  <a:tcPr>
                    <a:solidFill>
                      <a:srgbClr val="161F40"/>
                    </a:solidFill>
                  </a:tcPr>
                </a:tc>
                <a:tc>
                  <a:txBody>
                    <a:bodyPr/>
                    <a:lstStyle/>
                    <a:p>
                      <a:r>
                        <a:rPr sz="1000" b="0">
                          <a:solidFill>
                            <a:srgbClr val="E8EEFA"/>
                          </a:solidFill>
                          <a:latin typeface="Segoe UI"/>
                        </a:rPr>
                        <a:t>Faqat PyTorch inferensi, bitta o'lchov</a:t>
                      </a:r>
                    </a:p>
                  </a:txBody>
                  <a:tcPr>
                    <a:solidFill>
                      <a:srgbClr val="161F40"/>
                    </a:solidFill>
                  </a:tcPr>
                </a:tc>
                <a:tc>
                  <a:txBody>
                    <a:bodyPr/>
                    <a:lstStyle/>
                    <a:p>
                      <a:r>
                        <a:rPr sz="1000" b="0">
                          <a:solidFill>
                            <a:srgbClr val="E8EEFA"/>
                          </a:solidFill>
                          <a:latin typeface="Segoe UI"/>
                        </a:rPr>
                        <a:t>12</a:t>
                      </a:r>
                    </a:p>
                  </a:txBody>
                  <a:tcPr>
                    <a:solidFill>
                      <a:srgbClr val="161F40"/>
                    </a:solidFill>
                  </a:tcPr>
                </a:tc>
              </a:tr>
              <a:tr h="520000">
                <a:tc>
                  <a:txBody>
                    <a:bodyPr/>
                    <a:lstStyle/>
                    <a:p>
                      <a:r>
                        <a:rPr sz="1000" b="0">
                          <a:solidFill>
                            <a:srgbClr val="E8EEFA"/>
                          </a:solidFill>
                          <a:latin typeface="Segoe UI"/>
                        </a:rPr>
                        <a:t>5</a:t>
                      </a:r>
                    </a:p>
                  </a:txBody>
                  <a:tcPr>
                    <a:solidFill>
                      <a:srgbClr val="111834"/>
                    </a:solidFill>
                  </a:tcPr>
                </a:tc>
                <a:tc>
                  <a:txBody>
                    <a:bodyPr/>
                    <a:lstStyle/>
                    <a:p>
                      <a:r>
                        <a:rPr sz="1000" b="0">
                          <a:solidFill>
                            <a:srgbClr val="E8EEFA"/>
                          </a:solidFill>
                          <a:latin typeface="Segoe UI"/>
                        </a:rPr>
                        <a:t>API va joylashtirish</a:t>
                      </a:r>
                    </a:p>
                  </a:txBody>
                  <a:tcPr>
                    <a:solidFill>
                      <a:srgbClr val="111834"/>
                    </a:solidFill>
                  </a:tcPr>
                </a:tc>
                <a:tc>
                  <a:txBody>
                    <a:bodyPr/>
                    <a:lstStyle/>
                    <a:p>
                      <a:r>
                        <a:rPr sz="1000" b="0">
                          <a:solidFill>
                            <a:srgbClr val="E8EEFA"/>
                          </a:solidFill>
                          <a:latin typeface="Segoe UI"/>
                        </a:rPr>
                        <a:t>Docker (root'siz, healthcheck), compose yoki K8s, autentifikatsiya, OpenAPI, CI'da testlar o'tadi</a:t>
                      </a:r>
                    </a:p>
                  </a:txBody>
                  <a:tcPr>
                    <a:solidFill>
                      <a:srgbClr val="111834"/>
                    </a:solidFill>
                  </a:tcPr>
                </a:tc>
                <a:tc>
                  <a:txBody>
                    <a:bodyPr/>
                    <a:lstStyle/>
                    <a:p>
                      <a:r>
                        <a:rPr sz="1000" b="0">
                          <a:solidFill>
                            <a:srgbClr val="E8EEFA"/>
                          </a:solidFill>
                          <a:latin typeface="Segoe UI"/>
                        </a:rPr>
                        <a:t>Lokal uvicorn, testlar yo'q</a:t>
                      </a:r>
                    </a:p>
                  </a:txBody>
                  <a:tcPr>
                    <a:solidFill>
                      <a:srgbClr val="111834"/>
                    </a:solidFill>
                  </a:tcPr>
                </a:tc>
                <a:tc>
                  <a:txBody>
                    <a:bodyPr/>
                    <a:lstStyle/>
                    <a:p>
                      <a:r>
                        <a:rPr sz="1000" b="0">
                          <a:solidFill>
                            <a:srgbClr val="E8EEFA"/>
                          </a:solidFill>
                          <a:latin typeface="Segoe UI"/>
                        </a:rPr>
                        <a:t>12</a:t>
                      </a:r>
                    </a:p>
                  </a:txBody>
                  <a:tcPr>
                    <a:solidFill>
                      <a:srgbClr val="111834"/>
                    </a:solidFill>
                  </a:tcPr>
                </a:tc>
              </a:tr>
              <a:tr h="520000">
                <a:tc>
                  <a:txBody>
                    <a:bodyPr/>
                    <a:lstStyle/>
                    <a:p>
                      <a:r>
                        <a:rPr sz="1000" b="0">
                          <a:solidFill>
                            <a:srgbClr val="E8EEFA"/>
                          </a:solidFill>
                          <a:latin typeface="Segoe UI"/>
                        </a:rPr>
                        <a:t>6</a:t>
                      </a:r>
                    </a:p>
                  </a:txBody>
                  <a:tcPr>
                    <a:solidFill>
                      <a:srgbClr val="161F40"/>
                    </a:solidFill>
                  </a:tcPr>
                </a:tc>
                <a:tc>
                  <a:txBody>
                    <a:bodyPr/>
                    <a:lstStyle/>
                    <a:p>
                      <a:r>
                        <a:rPr sz="1000" b="0">
                          <a:solidFill>
                            <a:srgbClr val="E8EEFA"/>
                          </a:solidFill>
                          <a:latin typeface="Segoe UI"/>
                        </a:rPr>
                        <a:t>Monitoring</a:t>
                      </a:r>
                    </a:p>
                  </a:txBody>
                  <a:tcPr>
                    <a:solidFill>
                      <a:srgbClr val="161F40"/>
                    </a:solidFill>
                  </a:tcPr>
                </a:tc>
                <a:tc>
                  <a:txBody>
                    <a:bodyPr/>
                    <a:lstStyle/>
                    <a:p>
                      <a:r>
                        <a:rPr sz="1000" b="0">
                          <a:solidFill>
                            <a:srgbClr val="E8EEFA"/>
                          </a:solidFill>
                          <a:latin typeface="Segoe UI"/>
                        </a:rPr>
                        <a:t>Prometheus metrikalari, Grafana paneli (tizim + model), drift aniqlash va ogohlantirish namoyishi, audit jurnali</a:t>
                      </a:r>
                    </a:p>
                  </a:txBody>
                  <a:tcPr>
                    <a:solidFill>
                      <a:srgbClr val="161F40"/>
                    </a:solidFill>
                  </a:tcPr>
                </a:tc>
                <a:tc>
                  <a:txBody>
                    <a:bodyPr/>
                    <a:lstStyle/>
                    <a:p>
                      <a:r>
                        <a:rPr sz="1000" b="0">
                          <a:solidFill>
                            <a:srgbClr val="E8EEFA"/>
                          </a:solidFill>
                          <a:latin typeface="Segoe UI"/>
                        </a:rPr>
                        <a:t>Faqat loglar</a:t>
                      </a:r>
                    </a:p>
                  </a:txBody>
                  <a:tcPr>
                    <a:solidFill>
                      <a:srgbClr val="161F40"/>
                    </a:solidFill>
                  </a:tcPr>
                </a:tc>
                <a:tc>
                  <a:txBody>
                    <a:bodyPr/>
                    <a:lstStyle/>
                    <a:p>
                      <a:r>
                        <a:rPr sz="1000" b="0">
                          <a:solidFill>
                            <a:srgbClr val="E8EEFA"/>
                          </a:solidFill>
                          <a:latin typeface="Segoe UI"/>
                        </a:rPr>
                        <a:t>12</a:t>
                      </a:r>
                    </a:p>
                  </a:txBody>
                  <a:tcPr>
                    <a:solidFill>
                      <a:srgbClr val="161F40"/>
                    </a:solidFill>
                  </a:tcPr>
                </a:tc>
              </a:tr>
              <a:tr h="520000">
                <a:tc>
                  <a:txBody>
                    <a:bodyPr/>
                    <a:lstStyle/>
                    <a:p>
                      <a:r>
                        <a:rPr sz="1000" b="0">
                          <a:solidFill>
                            <a:srgbClr val="E8EEFA"/>
                          </a:solidFill>
                          <a:latin typeface="Segoe UI"/>
                        </a:rPr>
                        <a:t>7</a:t>
                      </a:r>
                    </a:p>
                  </a:txBody>
                  <a:tcPr>
                    <a:solidFill>
                      <a:srgbClr val="111834"/>
                    </a:solidFill>
                  </a:tcPr>
                </a:tc>
                <a:tc>
                  <a:txBody>
                    <a:bodyPr/>
                    <a:lstStyle/>
                    <a:p>
                      <a:r>
                        <a:rPr sz="1000" b="0">
                          <a:solidFill>
                            <a:srgbClr val="E8EEFA"/>
                          </a:solidFill>
                          <a:latin typeface="Segoe UI"/>
                        </a:rPr>
                        <a:t>Ishonchlilik va adolatlilik</a:t>
                      </a:r>
                    </a:p>
                  </a:txBody>
                  <a:tcPr>
                    <a:solidFill>
                      <a:srgbClr val="111834"/>
                    </a:solidFill>
                  </a:tcPr>
                </a:tc>
                <a:tc>
                  <a:txBody>
                    <a:bodyPr/>
                    <a:lstStyle/>
                    <a:p>
                      <a:r>
                        <a:rPr sz="1000" b="0">
                          <a:solidFill>
                            <a:srgbClr val="E8EEFA"/>
                          </a:solidFill>
                          <a:latin typeface="Segoe UI"/>
                        </a:rPr>
                        <a:t>Kesimlar bo'yicha metrikalar ishonch intervali bilan, qaror (tuzatish yoki ko'lam cheklash) asoslangan, mustahkamlik egri chizig'i, XAI endpoint, tekshiruv ro'y</a:t>
                      </a:r>
                    </a:p>
                  </a:txBody>
                  <a:tcPr>
                    <a:solidFill>
                      <a:srgbClr val="111834"/>
                    </a:solidFill>
                  </a:tcPr>
                </a:tc>
                <a:tc>
                  <a:txBody>
                    <a:bodyPr/>
                    <a:lstStyle/>
                    <a:p>
                      <a:r>
                        <a:rPr sz="1000" b="0">
                          <a:solidFill>
                            <a:srgbClr val="E8EEFA"/>
                          </a:solidFill>
                          <a:latin typeface="Segoe UI"/>
                        </a:rPr>
                        <a:t>Bitta atribut bo'yicha metrikalar, tahlilsiz</a:t>
                      </a:r>
                    </a:p>
                  </a:txBody>
                  <a:tcPr>
                    <a:solidFill>
                      <a:srgbClr val="111834"/>
                    </a:solidFill>
                  </a:tcPr>
                </a:tc>
                <a:tc>
                  <a:txBody>
                    <a:bodyPr/>
                    <a:lstStyle/>
                    <a:p>
                      <a:r>
                        <a:rPr sz="1000" b="0">
                          <a:solidFill>
                            <a:srgbClr val="E8EEFA"/>
                          </a:solidFill>
                          <a:latin typeface="Segoe UI"/>
                        </a:rPr>
                        <a:t>14</a:t>
                      </a:r>
                    </a:p>
                  </a:txBody>
                  <a:tcPr>
                    <a:solidFill>
                      <a:srgbClr val="111834"/>
                    </a:solidFill>
                  </a:tcPr>
                </a:tc>
              </a:tr>
              <a:tr h="520000">
                <a:tc>
                  <a:txBody>
                    <a:bodyPr/>
                    <a:lstStyle/>
                    <a:p>
                      <a:r>
                        <a:rPr sz="1000" b="0">
                          <a:solidFill>
                            <a:srgbClr val="E8EEFA"/>
                          </a:solidFill>
                          <a:latin typeface="Segoe UI"/>
                        </a:rPr>
                        <a:t>8</a:t>
                      </a:r>
                    </a:p>
                  </a:txBody>
                  <a:tcPr>
                    <a:solidFill>
                      <a:srgbClr val="161F40"/>
                    </a:solidFill>
                  </a:tcPr>
                </a:tc>
                <a:tc>
                  <a:txBody>
                    <a:bodyPr/>
                    <a:lstStyle/>
                    <a:p>
                      <a:r>
                        <a:rPr sz="1000" b="0">
                          <a:solidFill>
                            <a:srgbClr val="E8EEFA"/>
                          </a:solidFill>
                          <a:latin typeface="Segoe UI"/>
                        </a:rPr>
                        <a:t>Hujjatlar</a:t>
                      </a:r>
                    </a:p>
                  </a:txBody>
                  <a:tcPr>
                    <a:solidFill>
                      <a:srgbClr val="161F40"/>
                    </a:solidFill>
                  </a:tcPr>
                </a:tc>
                <a:tc>
                  <a:txBody>
                    <a:bodyPr/>
                    <a:lstStyle/>
                    <a:p>
                      <a:r>
                        <a:rPr sz="1000" b="0">
                          <a:solidFill>
                            <a:srgbClr val="E8EEFA"/>
                          </a:solidFill>
                          <a:latin typeface="Segoe UI"/>
                        </a:rPr>
                        <a:t>4 hujjat to'liq, ADR'lar bor, model kartasi standart formatda, runbook amaliy</a:t>
                      </a:r>
                    </a:p>
                  </a:txBody>
                  <a:tcPr>
                    <a:solidFill>
                      <a:srgbClr val="161F40"/>
                    </a:solidFill>
                  </a:tcPr>
                </a:tc>
                <a:tc>
                  <a:txBody>
                    <a:bodyPr/>
                    <a:lstStyle/>
                    <a:p>
                      <a:r>
                        <a:rPr sz="1000" b="0">
                          <a:solidFill>
                            <a:srgbClr val="E8EEFA"/>
                          </a:solidFill>
                          <a:latin typeface="Segoe UI"/>
                        </a:rPr>
                        <a:t>Hujjatlar qisman</a:t>
                      </a:r>
                    </a:p>
                  </a:txBody>
                  <a:tcPr>
                    <a:solidFill>
                      <a:srgbClr val="161F40"/>
                    </a:solidFill>
                  </a:tcPr>
                </a:tc>
                <a:tc>
                  <a:txBody>
                    <a:bodyPr/>
                    <a:lstStyle/>
                    <a:p>
                      <a:r>
                        <a:rPr sz="1000" b="0">
                          <a:solidFill>
                            <a:srgbClr val="E8EEFA"/>
                          </a:solidFill>
                          <a:latin typeface="Segoe UI"/>
                        </a:rPr>
                        <a:t>8</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Batafsil baholash rubrikasi (jami 100 ball, guruh balli; individual tuzatish ±15) (davomi)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47</a:t>
            </a:r>
          </a:p>
        </p:txBody>
      </p:sp>
      <p:graphicFrame>
        <p:nvGraphicFramePr>
          <p:cNvPr id="22" name="Table 21"/>
          <p:cNvGraphicFramePr>
            <a:graphicFrameLocks noGrp="1"/>
          </p:cNvGraphicFramePr>
          <p:nvPr/>
        </p:nvGraphicFramePr>
        <p:xfrm>
          <a:off x="550000" y="1400000"/>
          <a:ext cx="11100000" cy="156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000" b="1">
                          <a:solidFill>
                            <a:srgbClr val="22D3EE"/>
                          </a:solidFill>
                          <a:latin typeface="Segoe UI"/>
                        </a:rPr>
                        <a:t>№</a:t>
                      </a:r>
                    </a:p>
                  </a:txBody>
                  <a:tcPr>
                    <a:solidFill>
                      <a:srgbClr val="1C2755"/>
                    </a:solidFill>
                  </a:tcPr>
                </a:tc>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A'lo (to'liq ball)</a:t>
                      </a:r>
                    </a:p>
                  </a:txBody>
                  <a:tcPr>
                    <a:solidFill>
                      <a:srgbClr val="1C2755"/>
                    </a:solidFill>
                  </a:tcPr>
                </a:tc>
                <a:tc>
                  <a:txBody>
                    <a:bodyPr/>
                    <a:lstStyle/>
                    <a:p>
                      <a:r>
                        <a:rPr sz="1000" b="1">
                          <a:solidFill>
                            <a:srgbClr val="22D3EE"/>
                          </a:solidFill>
                          <a:latin typeface="Segoe UI"/>
                        </a:rPr>
                        <a:t>Qoniqarli (yarim ball)</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9</a:t>
                      </a:r>
                    </a:p>
                  </a:txBody>
                  <a:tcPr>
                    <a:solidFill>
                      <a:srgbClr val="111834"/>
                    </a:solidFill>
                  </a:tcPr>
                </a:tc>
                <a:tc>
                  <a:txBody>
                    <a:bodyPr/>
                    <a:lstStyle/>
                    <a:p>
                      <a:r>
                        <a:rPr sz="1000" b="0">
                          <a:solidFill>
                            <a:srgbClr val="E8EEFA"/>
                          </a:solidFill>
                          <a:latin typeface="Segoe UI"/>
                        </a:rPr>
                        <a:t>Jamoaviy ish</a:t>
                      </a:r>
                    </a:p>
                  </a:txBody>
                  <a:tcPr>
                    <a:solidFill>
                      <a:srgbClr val="111834"/>
                    </a:solidFill>
                  </a:tcPr>
                </a:tc>
                <a:tc>
                  <a:txBody>
                    <a:bodyPr/>
                    <a:lstStyle/>
                    <a:p>
                      <a:r>
                        <a:rPr sz="1000" b="0">
                          <a:solidFill>
                            <a:srgbClr val="E8EEFA"/>
                          </a:solidFill>
                          <a:latin typeface="Segoe UI"/>
                        </a:rPr>
                        <a:t>Git tarixi barcha a'zolarda, PR ko'rib chiqishlar, vazifalar doskasi, rollar bajarilgan</a:t>
                      </a:r>
                    </a:p>
                  </a:txBody>
                  <a:tcPr>
                    <a:solidFill>
                      <a:srgbClr val="111834"/>
                    </a:solidFill>
                  </a:tcPr>
                </a:tc>
                <a:tc>
                  <a:txBody>
                    <a:bodyPr/>
                    <a:lstStyle/>
                    <a:p>
                      <a:r>
                        <a:rPr sz="1000" b="0">
                          <a:solidFill>
                            <a:srgbClr val="E8EEFA"/>
                          </a:solidFill>
                          <a:latin typeface="Segoe UI"/>
                        </a:rPr>
                        <a:t>Bir-ikki a'zo ustun</a:t>
                      </a:r>
                    </a:p>
                  </a:txBody>
                  <a:tcPr>
                    <a:solidFill>
                      <a:srgbClr val="111834"/>
                    </a:solidFill>
                  </a:tcPr>
                </a:tc>
                <a:tc>
                  <a:txBody>
                    <a:bodyPr/>
                    <a:lstStyle/>
                    <a:p>
                      <a:r>
                        <a:rPr sz="1000" b="0">
                          <a:solidFill>
                            <a:srgbClr val="E8EEFA"/>
                          </a:solidFill>
                          <a:latin typeface="Segoe UI"/>
                        </a:rPr>
                        <a:t>5</a:t>
                      </a:r>
                    </a:p>
                  </a:txBody>
                  <a:tcPr>
                    <a:solidFill>
                      <a:srgbClr val="111834"/>
                    </a:solidFill>
                  </a:tcPr>
                </a:tc>
              </a:tr>
              <a:tr h="520000">
                <a:tc>
                  <a:txBody>
                    <a:bodyPr/>
                    <a:lstStyle/>
                    <a:p>
                      <a:r>
                        <a:rPr sz="1000" b="0">
                          <a:solidFill>
                            <a:srgbClr val="E8EEFA"/>
                          </a:solidFill>
                          <a:latin typeface="Segoe UI"/>
                        </a:rPr>
                        <a:t>10</a:t>
                      </a:r>
                    </a:p>
                  </a:txBody>
                  <a:tcPr>
                    <a:solidFill>
                      <a:srgbClr val="161F40"/>
                    </a:solidFill>
                  </a:tcPr>
                </a:tc>
                <a:tc>
                  <a:txBody>
                    <a:bodyPr/>
                    <a:lstStyle/>
                    <a:p>
                      <a:r>
                        <a:rPr sz="1000" b="0">
                          <a:solidFill>
                            <a:srgbClr val="E8EEFA"/>
                          </a:solidFill>
                          <a:latin typeface="Segoe UI"/>
                        </a:rPr>
                        <a:t>Himoya</a:t>
                      </a:r>
                    </a:p>
                  </a:txBody>
                  <a:tcPr>
                    <a:solidFill>
                      <a:srgbClr val="161F40"/>
                    </a:solidFill>
                  </a:tcPr>
                </a:tc>
                <a:tc>
                  <a:txBody>
                    <a:bodyPr/>
                    <a:lstStyle/>
                    <a:p>
                      <a:r>
                        <a:rPr sz="1000" b="0">
                          <a:solidFill>
                            <a:srgbClr val="E8EEFA"/>
                          </a:solidFill>
                          <a:latin typeface="Segoe UI"/>
                        </a:rPr>
                        <a:t>Vaqtga rioya, jonli namoyish muvaffaqiyatli, savollarga asosli javob, kod ko'rib chiqishda ishonchli</a:t>
                      </a:r>
                    </a:p>
                  </a:txBody>
                  <a:tcPr>
                    <a:solidFill>
                      <a:srgbClr val="161F40"/>
                    </a:solidFill>
                  </a:tcPr>
                </a:tc>
                <a:tc>
                  <a:txBody>
                    <a:bodyPr/>
                    <a:lstStyle/>
                    <a:p>
                      <a:r>
                        <a:rPr sz="1000" b="0">
                          <a:solidFill>
                            <a:srgbClr val="E8EEFA"/>
                          </a:solidFill>
                          <a:latin typeface="Segoe UI"/>
                        </a:rPr>
                        <a:t>Namoyish qisman, javoblar yuzaki</a:t>
                      </a:r>
                    </a:p>
                  </a:txBody>
                  <a:tcPr>
                    <a:solidFill>
                      <a:srgbClr val="161F40"/>
                    </a:solidFill>
                  </a:tcPr>
                </a:tc>
                <a:tc>
                  <a:txBody>
                    <a:bodyPr/>
                    <a:lstStyle/>
                    <a:p>
                      <a:r>
                        <a:rPr sz="1000" b="0">
                          <a:solidFill>
                            <a:srgbClr val="E8EEFA"/>
                          </a:solidFill>
                          <a:latin typeface="Segoe UI"/>
                        </a:rPr>
                        <a:t>5</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5b36ec3d526a9e85.jpg"/>
          <p:cNvPicPr>
            <a:picLocks noChangeAspect="1"/>
          </p:cNvPicPr>
          <p:nvPr/>
        </p:nvPicPr>
        <p:blipFill>
          <a:blip r:embed="rId2"/>
          <a:srcRect l="14700" r="14700"/>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Louis Dubruel · Wikimedia Commons · CC BY-SA 4.0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Namunaviy loyihaning kutilgan natijalari bir nechta tizimli saboq beradi.</a:t>
            </a:r>
          </a:p>
          <a:p>
            <a:pPr>
              <a:spcBef>
                <a:spcPts val="400"/>
              </a:spcBef>
            </a:pPr>
            <a:r>
              <a:rPr sz="1600">
                <a:solidFill>
                  <a:srgbClr val="AEBBD9"/>
                </a:solidFill>
                <a:latin typeface="Segoe UI"/>
              </a:rPr>
              <a:t>Birinchidan, model metrikasi (AUC 0.77) adabiyotdagi eng yaxshi natijalardan (0.80–0.85 ko'p yorliqli masalada) past, lekin bu loyiha uchun muammo emas — SLO tizim konteksti asosida belgilangan va u bajarilgan. Talabalar ko'pincha AUC ni oshirishga haftalab vaqt sarflab, monitoring va hujjatlarni oxirgi kunga qoldiradi; rubrika bu xatoni ballar taqsimoti bilan oldini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3e45d62a9c45ba3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Esquilo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531520"/>
            <a:ext cx="50000" cy="25169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Ikkinchidan, unumdorlik natijalari ko'rsatadiki, bitta GPU'da ONNX Runtime bilan DenseNet-121 kechikish SLO'sini 2–3 baravar zaxira bilan bajaradi; haqiqiy cheklov tarmoq va tasvirni dekodlash (JPEG/PNG o'qish, o'lchamni o'zgartirish) bo'lib chiqadi — p99…</a:t>
            </a:r>
          </a:p>
          <a:p>
            <a:pPr>
              <a:spcBef>
                <a:spcPts val="400"/>
              </a:spcBef>
            </a:pPr>
            <a:r>
              <a:rPr sz="1400">
                <a:solidFill>
                  <a:srgbClr val="AEBBD9"/>
                </a:solidFill>
                <a:latin typeface="Segoe UI"/>
              </a:rPr>
              <a:t>Bu A3 va A4 dagi saboqni takrorlaydi: tizim kechikishi model kechikishi emas. CPU'da joylashtirish esa replikalar sonini oshirishni talab qiladi va bu K8s HPA (Horizontal Pod Autoscaler) bilan hal qilinadi — qo'shimcha ball olgan guruhlar buni ko'rsatadi.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5" name="Rectangle 14"/>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17" name="Rounded Rectangle 16"/>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51</a:t>
            </a:r>
          </a:p>
        </p:txBody>
      </p:sp>
      <p:sp>
        <p:nvSpPr>
          <p:cNvPr id="18" name="Rounded Rectangle 17"/>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0" name="TextBox 19"/>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1" name="Rounded Rectangle 20"/>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2" name="Rounded Rectangle 21"/>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5" name="TextBox 24"/>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Uchinchidan, adolatlilik tahlili tizim ko'lamini cheklash qaroriga olib keldi (18 yoshgacha bemorlar chiqarildi).</a:t>
            </a:r>
          </a:p>
          <a:p>
            <a:pPr>
              <a:spcBef>
                <a:spcPts val="400"/>
              </a:spcBef>
            </a:pPr>
            <a:r>
              <a:rPr sz="1600">
                <a:solidFill>
                  <a:srgbClr val="AEBBD9"/>
                </a:solidFill>
                <a:latin typeface="Segoe UI"/>
              </a:rPr>
              <a:t>Bu loyihaning eng muhim muhandislik qarorlaridan biri — u «modelni tuzatish» o'rniga «tizimning halol chegarasini belgilash» ni tanlashni o'rgatadi va model kartasida mo'ljallanmagan foydalanish sifatida hujjatlashtiriladi.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4"/>
                                        </p:tgtEl>
                                        <p:attrNameLst>
                                          <p:attrName>style.visibility</p:attrName>
                                        </p:attrNameLst>
                                      </p:cBhvr>
                                      <p:to>
                                        <p:strVal val="visible"/>
                                      </p:to>
                                    </p:set>
                                    <p:animEffect transition="in" filter="fade">
                                      <p:cBhvr>
                                        <p:cTn id="6" dur="550"/>
                                        <p:tgtEl>
                                          <p:spTgt spid="14"/>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left)">
                                      <p:cBhvr>
                                        <p:cTn id="11" dur="800"/>
                                        <p:tgtEl>
                                          <p:spTgt spid="15"/>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50"/>
                                        <p:tgtEl>
                                          <p:spTgt spid="18"/>
                                        </p:tgtEl>
                                      </p:cBhvr>
                                    </p:animEffect>
                                    <p:anim calcmode="lin" valueType="num">
                                      <p:cBhvr additive="base">
                                        <p:cTn id="16" dur="550" fill="hold"/>
                                        <p:tgtEl>
                                          <p:spTgt spid="18"/>
                                        </p:tgtEl>
                                        <p:attrNameLst>
                                          <p:attrName>ppt_w</p:attrName>
                                        </p:attrNameLst>
                                      </p:cBhvr>
                                      <p:tavLst>
                                        <p:tav tm="0">
                                          <p:val>
                                            <p:strVal val="0"/>
                                          </p:val>
                                        </p:tav>
                                        <p:tav tm="100000">
                                          <p:val>
                                            <p:strVal val="#ppt_w"/>
                                          </p:val>
                                        </p:tav>
                                      </p:tavLst>
                                    </p:anim>
                                    <p:anim calcmode="lin" valueType="num">
                                      <p:cBhvr additive="base">
                                        <p:cTn id="17" dur="550" fill="hold"/>
                                        <p:tgtEl>
                                          <p:spTgt spid="18"/>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550"/>
                                        <p:tgtEl>
                                          <p:spTgt spid="19"/>
                                        </p:tgtEl>
                                      </p:cBhvr>
                                    </p:animEffect>
                                    <p:anim calcmode="lin" valueType="num">
                                      <p:cBhvr additive="base">
                                        <p:cTn id="22" dur="550" fill="hold"/>
                                        <p:tgtEl>
                                          <p:spTgt spid="19"/>
                                        </p:tgtEl>
                                        <p:attrNameLst>
                                          <p:attrName>ppt_w</p:attrName>
                                        </p:attrNameLst>
                                      </p:cBhvr>
                                      <p:tavLst>
                                        <p:tav tm="0">
                                          <p:val>
                                            <p:strVal val="0"/>
                                          </p:val>
                                        </p:tav>
                                        <p:tav tm="100000">
                                          <p:val>
                                            <p:strVal val="#ppt_w"/>
                                          </p:val>
                                        </p:tav>
                                      </p:tavLst>
                                    </p:anim>
                                    <p:anim calcmode="lin" valueType="num">
                                      <p:cBhvr additive="base">
                                        <p:cTn id="23" dur="550" fill="hold"/>
                                        <p:tgtEl>
                                          <p:spTgt spid="19"/>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50"/>
                                        <p:tgtEl>
                                          <p:spTgt spid="21"/>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50"/>
                                        <p:tgtEl>
                                          <p:spTgt spid="20"/>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550"/>
                                        <p:tgtEl>
                                          <p:spTgt spid="22"/>
                                        </p:tgtEl>
                                      </p:cBhvr>
                                    </p:animEffect>
                                    <p:anim calcmode="lin" valueType="num">
                                      <p:cBhvr additive="base">
                                        <p:cTn id="36" dur="550" fill="hold"/>
                                        <p:tgtEl>
                                          <p:spTgt spid="22"/>
                                        </p:tgtEl>
                                        <p:attrNameLst>
                                          <p:attrName>ppt_x</p:attrName>
                                        </p:attrNameLst>
                                      </p:cBhvr>
                                      <p:tavLst>
                                        <p:tav tm="0">
                                          <p:val>
                                            <p:strVal val="#ppt_x"/>
                                          </p:val>
                                        </p:tav>
                                        <p:tav tm="100000">
                                          <p:val>
                                            <p:strVal val="#ppt_x"/>
                                          </p:val>
                                        </p:tav>
                                      </p:tavLst>
                                    </p:anim>
                                    <p:anim calcmode="lin" valueType="num">
                                      <p:cBhvr additive="base">
                                        <p:cTn id="37" dur="550" fill="hold"/>
                                        <p:tgtEl>
                                          <p:spTgt spid="22"/>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550"/>
                                        <p:tgtEl>
                                          <p:spTgt spid="23"/>
                                        </p:tgtEl>
                                      </p:cBhvr>
                                    </p:animEffect>
                                    <p:anim calcmode="lin" valueType="num">
                                      <p:cBhvr additive="base">
                                        <p:cTn id="42" dur="550" fill="hold"/>
                                        <p:tgtEl>
                                          <p:spTgt spid="23"/>
                                        </p:tgtEl>
                                        <p:attrNameLst>
                                          <p:attrName>ppt_x</p:attrName>
                                        </p:attrNameLst>
                                      </p:cBhvr>
                                      <p:tavLst>
                                        <p:tav tm="0">
                                          <p:val>
                                            <p:strVal val="#ppt_x"/>
                                          </p:val>
                                        </p:tav>
                                        <p:tav tm="100000">
                                          <p:val>
                                            <p:strVal val="#ppt_x"/>
                                          </p:val>
                                        </p:tav>
                                      </p:tavLst>
                                    </p:anim>
                                    <p:anim calcmode="lin" valueType="num">
                                      <p:cBhvr additive="base">
                                        <p:cTn id="43" dur="550" fill="hold"/>
                                        <p:tgtEl>
                                          <p:spTgt spid="23"/>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550"/>
                                        <p:tgtEl>
                                          <p:spTgt spid="24"/>
                                        </p:tgtEl>
                                      </p:cBhvr>
                                    </p:animEffect>
                                    <p:anim calcmode="lin" valueType="num">
                                      <p:cBhvr additive="base">
                                        <p:cTn id="48" dur="550" fill="hold"/>
                                        <p:tgtEl>
                                          <p:spTgt spid="24"/>
                                        </p:tgtEl>
                                        <p:attrNameLst>
                                          <p:attrName>ppt_w</p:attrName>
                                        </p:attrNameLst>
                                      </p:cBhvr>
                                      <p:tavLst>
                                        <p:tav tm="0">
                                          <p:val>
                                            <p:strVal val="0"/>
                                          </p:val>
                                        </p:tav>
                                        <p:tav tm="100000">
                                          <p:val>
                                            <p:strVal val="#ppt_w"/>
                                          </p:val>
                                        </p:tav>
                                      </p:tavLst>
                                    </p:anim>
                                    <p:anim calcmode="lin" valueType="num">
                                      <p:cBhvr additive="base">
                                        <p:cTn id="49" dur="550" fill="hold"/>
                                        <p:tgtEl>
                                          <p:spTgt spid="24"/>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50"/>
                                        <p:tgtEl>
                                          <p:spTgt spid="25"/>
                                        </p:tgtEl>
                                      </p:cBhvr>
                                    </p:animEffect>
                                    <p:anim calcmode="lin" valueType="num">
                                      <p:cBhvr additive="base">
                                        <p:cTn id="54" dur="550" fill="hold"/>
                                        <p:tgtEl>
                                          <p:spTgt spid="25"/>
                                        </p:tgtEl>
                                        <p:attrNameLst>
                                          <p:attrName>ppt_x</p:attrName>
                                        </p:attrNameLst>
                                      </p:cBhvr>
                                      <p:tavLst>
                                        <p:tav tm="0">
                                          <p:val>
                                            <p:strVal val="#ppt_x"/>
                                          </p:val>
                                        </p:tav>
                                        <p:tav tm="100000">
                                          <p:val>
                                            <p:strVal val="#ppt_x"/>
                                          </p:val>
                                        </p:tav>
                                      </p:tavLst>
                                    </p:anim>
                                    <p:anim calcmode="lin" valueType="num">
                                      <p:cBhvr additive="base">
                                        <p:cTn id="55"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8" grpId="0" animBg="1"/>
      <p:bldP spid="21" grpId="0" animBg="1"/>
      <p:bldP spid="20" grpId="0" animBg="1"/>
      <p:bldP spid="22" grpId="0" animBg="1"/>
      <p:bldP spid="23" grpId="0" animBg="1"/>
      <p:bldP spid="24" grpId="0" animBg="1"/>
      <p:bldP spid="25"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Cheklovlar: NIH yorliqlari shovqinli, demak baholash o'zi ham noaniq — ishlab chiqarish tizimida radiolog tomonidan tasdiqlangan «oltin» to'plam kerak.</a:t>
            </a:r>
          </a:p>
          <a:p>
            <a:pPr>
              <a:spcBef>
                <a:spcPts val="400"/>
              </a:spcBef>
            </a:pPr>
            <a:r>
              <a:rPr sz="1400">
                <a:solidFill>
                  <a:srgbClr val="AEBBD9"/>
                </a:solidFill>
                <a:latin typeface="Segoe UI"/>
              </a:rPr>
              <a:t>Simulyatsiya qilingan drift haqiqiy apparat o'zgarishini to'liq aks ettirmaydi. Muqobil arxitekturalar: Triton Inference Server dinamik paketlash bilan o'tkazuvchanlikni 3–4 baravar oshiradi; Evidently yoki NannyML drift tahlilini chuqurlashtiradi; Kubeflow Pipelines butun ketma-ketlikni avtomatlashtiradi — bular qo'shimcha ball uchun yo'nalishlar.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ea2ae7f6b0a216b5.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W.carter · Wikimedia Commons · CC0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5438a5fd6ea7c363.jpg"/>
          <p:cNvPicPr>
            <a:picLocks noChangeAspect="1"/>
          </p:cNvPicPr>
          <p:nvPr/>
        </p:nvPicPr>
        <p:blipFill>
          <a:blip r:embed="rId2"/>
          <a:srcRect t="13231" b="13231"/>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Julan Shirwod Nueva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464780"/>
            <a:ext cx="5900000" cy="1423480"/>
          </a:xfrm>
          <a:prstGeom prst="rect">
            <a:avLst/>
          </a:prstGeom>
          <a:noFill/>
        </p:spPr>
        <p:txBody>
          <a:bodyPr wrap="square" anchor="ctr">
            <a:spAutoFit/>
          </a:bodyPr>
          <a:lstStyle/>
          <a:p>
            <a:r>
              <a:rPr sz="1400" b="0">
                <a:solidFill>
                  <a:srgbClr val="E8EEFA"/>
                </a:solidFill>
                <a:latin typeface="Segoe UI"/>
              </a:rPr>
              <a:t>Modeldan boshlash. Guruh birinchi haftani o'qitishga sarflaydi, talablar va ma'lumot auditi esa qoldiriladi; natijada uchinchi haftada bo'lish sizgani yoki SLO aniqlanmagani ma'lum bo'ladi. Birinchi hafta — faqat pasport, ma'lumot va skelet.</a:t>
            </a:r>
          </a:p>
        </p:txBody>
      </p:sp>
      <p:sp>
        <p:nvSpPr>
          <p:cNvPr id="32" name="Rounded Rectangle 31"/>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078260"/>
            <a:ext cx="5900000" cy="1423480"/>
          </a:xfrm>
          <a:prstGeom prst="rect">
            <a:avLst/>
          </a:prstGeom>
          <a:noFill/>
        </p:spPr>
        <p:txBody>
          <a:bodyPr wrap="square" anchor="ctr">
            <a:spAutoFit/>
          </a:bodyPr>
          <a:lstStyle/>
          <a:p>
            <a:r>
              <a:rPr sz="1400" b="0">
                <a:solidFill>
                  <a:srgbClr val="E8EEFA"/>
                </a:solidFill>
                <a:latin typeface="Segoe UI"/>
              </a:rPr>
              <a:t>Sizish (leakage). Bitta bemor/qurilma/kunning namunalari train va testga bo'linib ketadi. Guruh identifikatori bo'yicha bo'ling va buni testda avtomatik tekshiring (assert set(train.patient_id).isdisjoint(test.patient_id)).</a:t>
            </a:r>
          </a:p>
        </p:txBody>
      </p:sp>
      <p:sp>
        <p:nvSpPr>
          <p:cNvPr id="36" name="Rounded Rectangle 35"/>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691740"/>
            <a:ext cx="5900000" cy="1423480"/>
          </a:xfrm>
          <a:prstGeom prst="rect">
            <a:avLst/>
          </a:prstGeom>
          <a:noFill/>
        </p:spPr>
        <p:txBody>
          <a:bodyPr wrap="square" anchor="ctr">
            <a:spAutoFit/>
          </a:bodyPr>
          <a:lstStyle/>
          <a:p>
            <a:r>
              <a:rPr sz="1500" b="1">
                <a:solidFill>
                  <a:srgbClr val="E8EEFA"/>
                </a:solidFill>
                <a:latin typeface="Segoe UI"/>
              </a:rPr>
              <a:t>Chegara 0.5. Triaj, firibgarlik, nosozlik.</a:t>
            </a:r>
          </a:p>
          <a:p>
            <a:pPr>
              <a:spcBef>
                <a:spcPts val="400"/>
              </a:spcBef>
            </a:pPr>
            <a:r>
              <a:rPr sz="1400">
                <a:solidFill>
                  <a:srgbClr val="AEBBD9"/>
                </a:solidFill>
                <a:latin typeface="Segoe UI"/>
              </a:rPr>
              <a:t>Barchasida chegara biznes mezoniga (sezgirlik, narx) qarab tanlanadi va model kartasida yoziladi.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04780"/>
            <a:ext cx="50000" cy="13434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7652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1464780"/>
            <a:ext cx="5900000" cy="1423480"/>
          </a:xfrm>
          <a:prstGeom prst="rect">
            <a:avLst/>
          </a:prstGeom>
          <a:noFill/>
        </p:spPr>
        <p:txBody>
          <a:bodyPr wrap="square" anchor="ctr">
            <a:spAutoFit/>
          </a:bodyPr>
          <a:lstStyle/>
          <a:p>
            <a:r>
              <a:rPr sz="1400" b="0">
                <a:solidFill>
                  <a:srgbClr val="E8EEFA"/>
                </a:solidFill>
                <a:latin typeface="Segoe UI"/>
              </a:rPr>
              <a:t>«Hammasi mening noutbukimda ishlaydi». Docker obrazi CI'da yig'ilmasa va boshqa mashinada ishlamasa, joylashtirish balli berilmaydi. requirements.txt versiyalari qotirilgan bo'lsin, obraz CI'da yig'ilib, /health testi o'tsin.</a:t>
            </a:r>
          </a:p>
        </p:txBody>
      </p:sp>
      <p:sp>
        <p:nvSpPr>
          <p:cNvPr id="31" name="Rounded Rectangle 30"/>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18260"/>
            <a:ext cx="50000" cy="1343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078260"/>
            <a:ext cx="5900000" cy="1423480"/>
          </a:xfrm>
          <a:prstGeom prst="rect">
            <a:avLst/>
          </a:prstGeom>
          <a:noFill/>
        </p:spPr>
        <p:txBody>
          <a:bodyPr wrap="square" anchor="ctr">
            <a:spAutoFit/>
          </a:bodyPr>
          <a:lstStyle/>
          <a:p>
            <a:r>
              <a:rPr sz="1400" b="0">
                <a:solidFill>
                  <a:srgbClr val="E8EEFA"/>
                </a:solidFill>
                <a:latin typeface="Segoe UI"/>
              </a:rPr>
              <a:t>Monitoring = loglar. Faylga yozilgan satrlar monitoring emas. Kamida kechikish gistogrammasi, so'rovlar soni va bashorat taqsimoti Prometheus formatida bo'lishi, panelda ko'rinishi va kamida bitta ogohlantirish qoidasi ishlashi shart.</a:t>
            </a:r>
          </a:p>
        </p:txBody>
      </p:sp>
      <p:sp>
        <p:nvSpPr>
          <p:cNvPr id="35" name="Rounded Rectangle 34"/>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31740"/>
            <a:ext cx="50000" cy="134348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0348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8" name="TextBox 37"/>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Adolatlilikni oxirgi kun qo'shish. Kesimlar uchun metadata (jins, yosh, hudud) ma'lumot bosqichida saqlanmasa, oxirida tahlil qilib bo'lmaydi. Sxemaga sezgir atributlarni birinchi haftadayoq kiriting.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56</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56824"/>
            <a:ext cx="50000" cy="110878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21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0" name="TextBox 29"/>
          <p:cNvSpPr txBox="1"/>
          <p:nvPr/>
        </p:nvSpPr>
        <p:spPr>
          <a:xfrm>
            <a:off x="1300000" y="1816824"/>
            <a:ext cx="5900000" cy="1188784"/>
          </a:xfrm>
          <a:prstGeom prst="rect">
            <a:avLst/>
          </a:prstGeom>
          <a:noFill/>
        </p:spPr>
        <p:txBody>
          <a:bodyPr wrap="square" anchor="ctr">
            <a:spAutoFit/>
          </a:bodyPr>
          <a:lstStyle/>
          <a:p>
            <a:r>
              <a:rPr sz="1400" b="0">
                <a:solidFill>
                  <a:srgbClr val="E8EEFA"/>
                </a:solidFill>
                <a:latin typeface="Segoe UI"/>
              </a:rPr>
              <a:t>Hujjatlarni taqdimotga almashtirish. Slayd hujjat emas; docs/ papkasidagi to'rt hujjat va ADR'lar baholanadi. Hujjatni kod bilan bir vaqtda, PR ichida yangilang.</a:t>
            </a:r>
          </a:p>
        </p:txBody>
      </p:sp>
      <p:sp>
        <p:nvSpPr>
          <p:cNvPr id="31" name="Rounded Rectangle 30"/>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35608"/>
            <a:ext cx="50000" cy="110878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4" name="TextBox 33"/>
          <p:cNvSpPr txBox="1"/>
          <p:nvPr/>
        </p:nvSpPr>
        <p:spPr>
          <a:xfrm>
            <a:off x="1300000" y="3195608"/>
            <a:ext cx="5900000" cy="1188784"/>
          </a:xfrm>
          <a:prstGeom prst="rect">
            <a:avLst/>
          </a:prstGeom>
          <a:noFill/>
        </p:spPr>
        <p:txBody>
          <a:bodyPr wrap="square" anchor="ctr">
            <a:spAutoFit/>
          </a:bodyPr>
          <a:lstStyle/>
          <a:p>
            <a:r>
              <a:rPr sz="1400" b="0">
                <a:solidFill>
                  <a:srgbClr val="E8EEFA"/>
                </a:solidFill>
                <a:latin typeface="Segoe UI"/>
              </a:rPr>
              <a:t>Bir kishi hamma narsani yozadi. Git tarixi buni ko'rsatadi va individual tuzatishda aks etadi. Vazifalarni rollar bo'yicha bo'ling, PR ko'rib chiqishni almashtirib turing.</a:t>
            </a:r>
          </a:p>
        </p:txBody>
      </p:sp>
      <p:sp>
        <p:nvSpPr>
          <p:cNvPr id="35" name="Rounded Rectangle 34"/>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614392"/>
            <a:ext cx="50000" cy="110878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96878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8" name="TextBox 37"/>
          <p:cNvSpPr txBox="1"/>
          <p:nvPr/>
        </p:nvSpPr>
        <p:spPr>
          <a:xfrm>
            <a:off x="1300000" y="4574392"/>
            <a:ext cx="5900000" cy="1188784"/>
          </a:xfrm>
          <a:prstGeom prst="rect">
            <a:avLst/>
          </a:prstGeom>
          <a:noFill/>
        </p:spPr>
        <p:txBody>
          <a:bodyPr wrap="square" anchor="ctr">
            <a:spAutoFit/>
          </a:bodyPr>
          <a:lstStyle/>
          <a:p>
            <a:r>
              <a:rPr sz="1400" b="0">
                <a:solidFill>
                  <a:srgbClr val="E8EEFA"/>
                </a:solidFill>
                <a:latin typeface="Segoe UI"/>
              </a:rPr>
              <a:t>Jonli namoyishga tayyorgarliksiz chiqish. Namoyishdan oldin konteynerlarni ko'tarish, so'rov skriptini tayyorlash, zaxira video yozib olish — 10 daqiqa, lekin himoyada 5 ballni saqlaydi.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57</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3e45d62a9c45ba3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Esquilo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168552"/>
            <a:ext cx="50000" cy="124289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10</a:t>
            </a:r>
          </a:p>
        </p:txBody>
      </p:sp>
      <p:sp>
        <p:nvSpPr>
          <p:cNvPr id="30" name="TextBox 29"/>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Cheklovlarni yashirish. Komissiya tizim nimani qila olmasligini so'raydi; «hamma narsani qiladi» javobi ballni pasaytiradi, halol va asosli cheklovlar ro'yxati — oshiradi.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58</a:t>
            </a:r>
          </a:p>
        </p:txBody>
      </p:sp>
      <p:sp>
        <p:nvSpPr>
          <p:cNvPr id="24" name="Rounded Rectangle 23"/>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mage.png"/>
          <p:cNvPicPr>
            <a:picLocks noChangeAspect="1"/>
          </p:cNvPicPr>
          <p:nvPr/>
        </p:nvPicPr>
        <p:blipFill>
          <a:blip r:embed="rId2"/>
          <a:stretch>
            <a:fillRect/>
          </a:stretch>
        </p:blipFill>
        <p:spPr>
          <a:xfrm>
            <a:off x="8300000" y="1600000"/>
            <a:ext cx="3200000" cy="3200000"/>
          </a:xfrm>
          <a:prstGeom prst="rect">
            <a:avLst/>
          </a:prstGeom>
        </p:spPr>
      </p:pic>
      <p:sp>
        <p:nvSpPr>
          <p:cNvPr id="26" name="TextBox 25"/>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A7 → 🧪 Virtual bajarish (7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ppt_x</p:attrName>
                                        </p:attrNameLst>
                                      </p:cBhvr>
                                      <p:tavLst>
                                        <p:tav tm="0">
                                          <p:val>
                                            <p:strVal val="#ppt_x"/>
                                          </p:val>
                                        </p:tav>
                                        <p:tav tm="100000">
                                          <p:val>
                                            <p:strVal val="#ppt_x"/>
                                          </p:val>
                                        </p:tav>
                                      </p:tavLst>
                                    </p:anim>
                                    <p:anim calcmode="lin" valueType="num">
                                      <p:cBhvr additive="base">
                                        <p:cTn id="29" dur="55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6" grpId="0" animBg="1"/>
    </p:bld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2" name="Rectangle 91"/>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4" name="TextBox 93"/>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200"/>
                            </p:stCondLst>
                            <p:childTnLst>
                              <p:par>
                                <p:cTn id="356" presetID="53" presetClass="entr" presetSubtype="16"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anim calcmode="lin" valueType="num">
                                      <p:cBhvr additive="base">
                                        <p:cTn id="359" dur="550" fill="hold"/>
                                        <p:tgtEl>
                                          <p:spTgt spid="91"/>
                                        </p:tgtEl>
                                        <p:attrNameLst>
                                          <p:attrName>ppt_w</p:attrName>
                                        </p:attrNameLst>
                                      </p:cBhvr>
                                      <p:tavLst>
                                        <p:tav tm="0">
                                          <p:val>
                                            <p:strVal val="0"/>
                                          </p:val>
                                        </p:tav>
                                        <p:tav tm="100000">
                                          <p:val>
                                            <p:strVal val="#ppt_w"/>
                                          </p:val>
                                        </p:tav>
                                      </p:tavLst>
                                    </p:anim>
                                    <p:anim calcmode="lin" valueType="num">
                                      <p:cBhvr additive="base">
                                        <p:cTn id="360" dur="550" fill="hold"/>
                                        <p:tgtEl>
                                          <p:spTgt spid="91"/>
                                        </p:tgtEl>
                                        <p:attrNameLst>
                                          <p:attrName>ppt_h</p:attrName>
                                        </p:attrNameLst>
                                      </p:cBhvr>
                                      <p:tavLst>
                                        <p:tav tm="0">
                                          <p:val>
                                            <p:strVal val="0"/>
                                          </p:val>
                                        </p:tav>
                                        <p:tav tm="100000">
                                          <p:val>
                                            <p:strVal val="#ppt_h"/>
                                          </p:val>
                                        </p:tav>
                                      </p:tavLst>
                                    </p:anim>
                                  </p:childTnLst>
                                </p:cTn>
                              </p:par>
                            </p:childTnLst>
                          </p:cTn>
                        </p:par>
                        <p:par>
                          <p:cTn id="361" fill="hold">
                            <p:stCondLst>
                              <p:cond delay="350"/>
                            </p:stCondLst>
                            <p:childTnLst>
                              <p:par>
                                <p:cTn id="362" presetID="22" presetClass="entr" presetSubtype="8" fill="hold" grpId="0" nodeType="afterEffect">
                                  <p:stCondLst>
                                    <p:cond delay="0"/>
                                  </p:stCondLst>
                                  <p:childTnLst>
                                    <p:set>
                                      <p:cBhvr>
                                        <p:cTn id="363" dur="1" fill="hold">
                                          <p:stCondLst>
                                            <p:cond delay="0"/>
                                          </p:stCondLst>
                                        </p:cTn>
                                        <p:tgtEl>
                                          <p:spTgt spid="92"/>
                                        </p:tgtEl>
                                        <p:attrNameLst>
                                          <p:attrName>style.visibility</p:attrName>
                                        </p:attrNameLst>
                                      </p:cBhvr>
                                      <p:to>
                                        <p:strVal val="visible"/>
                                      </p:to>
                                    </p:set>
                                    <p:animEffect transition="in" filter="wipe(left)">
                                      <p:cBhvr>
                                        <p:cTn id="365" dur="800"/>
                                        <p:tgtEl>
                                          <p:spTgt spid="92"/>
                                        </p:tgtEl>
                                      </p:cBhvr>
                                    </p:animEffect>
                                  </p:childTnLst>
                                </p:cTn>
                              </p:par>
                            </p:childTnLst>
                          </p:cTn>
                        </p:par>
                        <p:par>
                          <p:cTn id="366" fill="hold">
                            <p:stCondLst>
                              <p:cond delay="500"/>
                            </p:stCondLst>
                            <p:childTnLst>
                              <p:par>
                                <p:cTn id="367" presetID="42" presetClass="entr" presetSubtype="0" fill="hold" grpId="0" nodeType="afterEffect">
                                  <p:stCondLst>
                                    <p:cond delay="0"/>
                                  </p:stCondLst>
                                  <p:childTnLst>
                                    <p:set>
                                      <p:cBhvr>
                                        <p:cTn id="368" dur="1" fill="hold">
                                          <p:stCondLst>
                                            <p:cond delay="0"/>
                                          </p:stCondLst>
                                        </p:cTn>
                                        <p:tgtEl>
                                          <p:spTgt spid="93"/>
                                        </p:tgtEl>
                                        <p:attrNameLst>
                                          <p:attrName>style.visibility</p:attrName>
                                        </p:attrNameLst>
                                      </p:cBhvr>
                                      <p:to>
                                        <p:strVal val="visible"/>
                                      </p:to>
                                    </p:set>
                                    <p:animEffect transition="in" filter="fade">
                                      <p:cBhvr>
                                        <p:cTn id="369" dur="550"/>
                                        <p:tgtEl>
                                          <p:spTgt spid="93"/>
                                        </p:tgtEl>
                                      </p:cBhvr>
                                    </p:animEffect>
                                    <p:anim calcmode="lin" valueType="num">
                                      <p:cBhvr additive="base">
                                        <p:cTn id="370" dur="550" fill="hold"/>
                                        <p:tgtEl>
                                          <p:spTgt spid="93"/>
                                        </p:tgtEl>
                                        <p:attrNameLst>
                                          <p:attrName>ppt_x</p:attrName>
                                        </p:attrNameLst>
                                      </p:cBhvr>
                                      <p:tavLst>
                                        <p:tav tm="0">
                                          <p:val>
                                            <p:strVal val="#ppt_x"/>
                                          </p:val>
                                        </p:tav>
                                        <p:tav tm="100000">
                                          <p:val>
                                            <p:strVal val="#ppt_x"/>
                                          </p:val>
                                        </p:tav>
                                      </p:tavLst>
                                    </p:anim>
                                    <p:anim calcmode="lin" valueType="num">
                                      <p:cBhvr additive="base">
                                        <p:cTn id="371" dur="550" fill="hold"/>
                                        <p:tgtEl>
                                          <p:spTgt spid="93"/>
                                        </p:tgtEl>
                                        <p:attrNameLst>
                                          <p:attrName>ppt_y</p:attrName>
                                        </p:attrNameLst>
                                      </p:cBhvr>
                                      <p:tavLst>
                                        <p:tav tm="0">
                                          <p:val>
                                            <p:strVal val="#ppt_y+.08"/>
                                          </p:val>
                                        </p:tav>
                                        <p:tav tm="100000">
                                          <p:val>
                                            <p:strVal val="#ppt_y"/>
                                          </p:val>
                                        </p:tav>
                                      </p:tavLst>
                                    </p:anim>
                                  </p:childTnLst>
                                </p:cTn>
                              </p:par>
                            </p:childTnLst>
                          </p:cTn>
                        </p:par>
                        <p:par>
                          <p:cTn id="372" fill="hold">
                            <p:stCondLst>
                              <p:cond delay="650"/>
                            </p:stCondLst>
                            <p:childTnLst>
                              <p:par>
                                <p:cTn id="373" presetID="10" presetClass="entr" presetSubtype="0" fill="hold" grpId="0" nodeType="afterEffect">
                                  <p:stCondLst>
                                    <p:cond delay="0"/>
                                  </p:stCondLst>
                                  <p:childTnLst>
                                    <p:set>
                                      <p:cBhvr>
                                        <p:cTn id="374" dur="1" fill="hold">
                                          <p:stCondLst>
                                            <p:cond delay="0"/>
                                          </p:stCondLst>
                                        </p:cTn>
                                        <p:tgtEl>
                                          <p:spTgt spid="94"/>
                                        </p:tgtEl>
                                        <p:attrNameLst>
                                          <p:attrName>style.visibility</p:attrName>
                                        </p:attrNameLst>
                                      </p:cBhvr>
                                      <p:to>
                                        <p:strVal val="visible"/>
                                      </p:to>
                                    </p:set>
                                    <p:animEffect transition="in" filter="fade">
                                      <p:cBhvr>
                                        <p:cTn id="375" dur="55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
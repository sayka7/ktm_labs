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Yakuniy amaliy mashg'ulotning maqsadi — semestr davomida o'zlashtirilgan bilim va ko'nikmalarni (arxitektura tahlili, parallel hisoblash, optimallashtirish, konteynerlashtirish, taqsimlangan tizimlar, xavfsizlik va adolatlilik) bitta yaxlit muhandislik mahsulotida birlashtirish: muayyan amaliy masala uchun sun'iy intellektga asoslangan kompyuter tizimini (AI-enabled Computer System) guruhda loyihalash, amalga oshirish, hujjatlashtirish va himoya qilish. Mashg'ulot yakunida talaba quyidagilarga qodir bo'ladi:</a:t>
            </a:r>
          </a:p>
          <a:p/>
          <a:p>
            <a:r>
              <a:t>Amaliy masalani muhandislik talablari tiliga o'tkazish: foydalanuvchi, muvaffaqiyat mezoni, xizmat darajasi ko'rsatkichlari (SLO — kechikish, o'tkazuvchanlik, aniqlik, mavjudlik), xavf toifasi va cheklovlarni rasmiylashtirish.</a:t>
            </a:r>
          </a:p>
          <a:p/>
          <a:p>
            <a:r>
              <a:t>To'liq ML mahsulot ketma-ketligini — ma'lumot → model → API → monitoring → adolatlilik — komponentlarga ajratib, har biri uchun texnologiya tanlovini asoslash va ular orasidagi interfeyslarni (ma'lumot sxemasi, model artefakti, API kontrakti, metrika formati) aniqlash.</a:t>
            </a:r>
          </a:p>
          <a:p/>
          <a:p>
            <a:r>
              <a:t>Jamoada rollarni (ma'lumot muhandisi, ML muhandisi, platforma/MLOps muhandisi, sifat va mas'uliyatli AI bo'yicha mas'ul, texnik yetakchi) taqsimlab, bosqichli reja bo'yicha Git, konteynerlar va avtomatlashtirilgan tekshiruvlar yordamida birgalikda ishlash.</a:t>
            </a:r>
          </a:p>
          <a:p/>
          <a:p>
            <a:r>
              <a:t>Tizimni o'lchanadigan tarzda topshirish: unumdorlik (p50/p99 kechikish, so'rov/soniya), resurs sarfi, aniqlik, drift va adolatlilik ko'rsatkichlarini bitta boshqaruv panelida ko'rsatish.</a:t>
            </a:r>
          </a:p>
          <a:p/>
          <a:p>
            <a:r>
              <a:t>Loyihani standart hujjat (loyiha pasporti, arxitektura hujjati, model kartasi, ekspluatatsiya yo'riqnomasi) va 15 daqiqalik himoya shaklida taqdim etish, rubrika bo'yicha o'zini va boshqa jamoalarni baholash.</a:t>
            </a:r>
          </a:p>
          <a:p/>
          <a:p>
            <a:r>
              <a:t>Mavzu fanning barcha o'rganish natijalariga (TN1–TN7) yakunlovchi sifatida xizmat qiladi va A1–A6 amaliy mashg'ulotlarining natijalarini bevosita qayta ishlatadi.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Yakuniy amaliy mashg'ulotning maqsadi — semestr davomida o'zlashtirilgan bilim va ko'nikmalarni (arxitektura tahlili, parallel hisoblash, optimallashtirish, konteynerlashtirish, taqsimlangan tizimlar, xavfsizlik va adolatlilik) bitta yaxlit muhandislik mahsulotida birlashtirish: muayyan amaliy masala uchun sun'iy intellektga asoslangan kompyuter tizimini (AI-enabled Computer System) guruhda loyihalash, amalga oshirish, hujjatlashtirish va himoya qilish. Mashg'ulot yakunida talaba quyidagilarga qodir bo'ladi:</a:t>
            </a:r>
          </a:p>
          <a:p/>
          <a:p>
            <a:r>
              <a:t>Amaliy masalani muhandislik talablari tiliga o'tkazish: foydalanuvchi, muvaffaqiyat mezoni, xizmat darajasi ko'rsatkichlari (SLO — kechikish, o'tkazuvchanlik, aniqlik, mavjudlik), xavf toifasi va cheklovlarni rasmiylashtirish.</a:t>
            </a:r>
          </a:p>
          <a:p/>
          <a:p>
            <a:r>
              <a:t>To'liq ML mahsulot ketma-ketligini — ma'lumot → model → API → monitoring → adolatlilik — komponentlarga ajratib, har biri uchun texnologiya tanlovini asoslash va ular orasidagi interfeyslarni (ma'lumot sxemasi, model artefakti, API kontrakti, metrika formati) aniqlash.</a:t>
            </a:r>
          </a:p>
          <a:p/>
          <a:p>
            <a:r>
              <a:t>Jamoada rollarni (ma'lumot muhandisi, ML muhandisi, platforma/MLOps muhandisi, sifat va mas'uliyatli AI bo'yicha mas'ul, texnik yetakchi) taqsimlab, bosqichli reja bo'yicha Git, konteynerlar va avtomatlashtirilgan tekshiruvlar yordamida birgalikda ishlash.</a:t>
            </a:r>
          </a:p>
          <a:p/>
          <a:p>
            <a:r>
              <a:t>Tizimni o'lchanadigan tarzda topshirish: unumdorlik (p50/p99 kechikish, so'rov/soniya), resurs sarfi, aniqlik, drift va adolatlilik ko'rsatkichlarini bitta boshqaruv panelida ko'rsatish.</a:t>
            </a:r>
          </a:p>
          <a:p/>
          <a:p>
            <a:r>
              <a:t>Loyihani standart hujjat (loyiha pasporti, arxitektura hujjati, model kartasi, ekspluatatsiya yo'riqnomasi) va 15 daqiqalik himoya shaklida taqdim etish, rubrika bo'yicha o'zini va boshqa jamoalarni baholash.</a:t>
            </a:r>
          </a:p>
          <a:p/>
          <a:p>
            <a:r>
              <a:t>Mavzu fanning barcha o'rganish natijalariga (TN1–TN7) yakunlovchi sifatida xizmat qiladi va A1–A6 amaliy mashg'ulotlarining natijalarini bevosita qayta ishlatadi.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Sanoat tajribasi ko'rsatadiki, ML loyihalarining katta qismi ishlab chiqarishga yetib bormaydi — turli so'rovlarda bu ulush 50% dan 85% gacha baholanadi. Sabab kamdan-kam hollarda modelning aniqligi bo'ladi; odatda muammo tizim darajasida: ma'lumot quvuri sinadi, model artefakti versiyasiz yo'qoladi, API ishlab chiqarish yukiga chidamaydi, kechikish SLO'dan oshadi, bir necha oydan keyin ma'lumot taqsimoti o'zgarib (drift) model jim-jitlik bilan yomonlashadi, yoki tizim muayyan guruh foydalanuvchilarga nisbatan nomutanosib qarorlar chiqarib, ishonchini yo'qotadi. Sculley va hamkasblarining mashhur «Hidden Technical Debt in Machine Learning Systems» (2015) maqolasida ta'kidlanganidek, ML tizimida model kodi butun tizimning kichik qismi, qolgan qismi — ma'lumot yig'ish, konfiguratsiya, xizmat infratuzilmasi, monitoring va tahlil vositalari.</a:t>
            </a:r>
          </a:p>
          <a:p/>
          <a:p>
            <a:r>
              <a:t>Shu sababli yakuniy loyiha «model o'qitish» emas, balki «tizim qurish» sifatida qo'yiladi. Talabalar 3–4 kishilik guruhlarda haqiqiy muammoga o'xshash masalani tanlaydi va uni boshidan oxirigacha olib boradi. Baholashda modelning aniqligi faqat bitta mezon (umumiy ballning taxminan beshdan biri); qolgan ballar ma'lumot sifati, tizim arxitekturasi, unumdorlik o'lchovlari, ekspluatatsiyaga tayyorlik, ishonchlilik va adolatlilik tahlili hamda jamoaviy ish va hujjatlashtirish uchun beriladi.</a:t>
            </a:r>
          </a:p>
          <a:p/>
          <a:p>
            <a:r>
              <a:t>Loyiha mavzusi uchun uchta yo'nalish taklif qilinadi: (1) shahar transporti — Toshkent avtobus bekatlarida yo'lovchi oqimi yoki kelish vaqtini bashorat qilish; (2) tibbiy tasvir triaji — ko'krak qafasi rentgenogrammalarida patologiyani birlamchi saralash; (3) sanoat monitoringi — jihozlar sensorlari bo'yicha nosozlikni oldindan aniqlash. Guruh o'z mavzusini ham taklif qilishi mumkin, agar u ochiq ma'lumotlar to'plamiga ega bo'lsa va ketma-ketlikning barcha besh bosqichini o'z ichiga olsa. Ushbu matnda ikkinchi yo'nalish — tibbiy tasvir triaji — to'liq ishlangan namuna sifatida keltiriladi, chunki u yuqori xavfli AI toifasiga kiradi va shu sababli monitoring va adolatlilik bosqichlari ayniqsa ma'noli bo'ladi.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To'liq ML mahsulot ketma-ketligi beshta bosqichdan iborat bo'lib, har bosqich keyingisiga aniq belgilangan artefakt orqali bog'lanadi.</a:t>
            </a:r>
          </a:p>
          <a:p/>
          <a:p>
            <a:r>
              <a:t>Ma'lumot bosqichi xom manbadan o'quv-sinov to'plamiga olib keladi: yig'ish, tozalash, belgilash (labeling), versiyalash (DVC yoki LakeFS), sxema tekshiruvi (Great Expectations, Pandera) va ma'lumot varaqasi (datasheet). Chiqish artefakti — versiyalangan, sxemasi tasdiqlangan to'plam va uning statistik profili. Model bosqichi eksperimentlar (MLflow yoki Weights &amp; Biases), o'qitish (A5 dagi DDP), baholash (aniqlik, kalibrlash, kesimlar bo'yicha metrikalar), optimallashtirish (A3 dagi ONNX/TensorRT, kvantlash) va reestrga joylash (Model Registry) ni o'z ichiga oladi. Chiqish artefakti — versiyalangan model fayli, model kartasi va baholash hisoboti. API bosqichi modelni xizmatga aylantiradi: inferens serveri (FastAPI + ONNX Runtime, Triton, TorchServe), konteyner (Docker), orkestratsiya (Kubernetes, A4), kirish nazorati va kontrakt (OpenAPI). Chiqish — joylashtirilgan xizmat va uning SLO'si. Monitoring bosqichi tizim metrikalarini (kechikish, xatolar, resurs), ma'lumot metrikalarini (kirish taqsimoti, drift) va model metrikalarini (bashorat taqsimoti, kechiktirilgan haqiqiy natijalar bilan aniqlik) yig'adi — Prometheus + Grafana, Evidently. Chiqish — boshqaruv paneli va ogohlantirish qoidalari. Adolatlilik bosqichi (A6) kesimlar bo'yicha metrikalar, tushuntirishlar, xavf baholash va etik tekshiruv ro'yxatini ishlab chiqarish monitoringiga ulaydi.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Tizimni loyihalash talablarni rasmiylashtirishdan boshlanadi. Funksional talablar — tizim nima qiladi (rentgenogrammani qabul qiladi, patologiya ehtimolini va issiqlik xaritasini qaytaradi, navbatda ustuvorlik beradi). Nofunksional talablar — qanday qiladi: p99 kechikish 500 ms dan kam, 50 so'rov/soniya o'tkazuvchanlik, 99.5% mavjudlik, 8 GB GPU xotirasi chegarasi, shaxsiy ma'lumotlar tashqariga chiqmasligi. Xizmat darajasi ko'rsatkichlari (Service Level Indicator, SLI) o'lchanadigan miqdorlar, SLO — ularning maqsadli qiymatlari, xato byudjeti (error budget) — SLO'dan chetga chiqishning ruxsat etilgan ulushi. ML tizimlarida bunga model SLO'si qo'shiladi: masalan, «sezgirlik (recall) 0.90 dan past tushmasin, kesimlar bo'yicha sezgirlik farqi 0.05 dan oshmasin, PSI drift ko'rsatkichi 0.2 dan oshsa ogohlantirish».</a:t>
            </a:r>
          </a:p>
          <a:p/>
          <a:p>
            <a:r>
              <a:t>Muvaffaqiyat mezoni biznes tilida ham ifodalanishi kerak: triaj tizimi uchun bu — «radiolog navbatida xavfli holatlar o'rtacha kutish vaqtini 40% qisqartirish», transport uchun — «bekatda kutish vaqtini bashorat xatosi 2 daqiqadan kam». Bu mezon modelning qaysi metrikasini optimallashtirish kerakligini belgilaydi (triajda — yuqori sezgirlik, aniqlik hisobiga).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Guruh 3–4 kishidan iborat. Rollar: texnik yetakchi (tech lead — arxitektura qarorlari, integratsiya, himoya) — bir vaqtda boshqa rolni ham bajaradi; ma'lumot muhandisi; ML muhandisi; platforma/MLOps muhandisi; mas'uliyatli AI mas'uli (sifat, xavfsizlik, adolatlilik, hujjatlar). 3 kishilik guruhda oxirgi ikki rol birlashtiriladi. Har bir a'zo kamida ikki bosqichda kod yozishi shart — «faqat slayd tayyorlagan» a'zo rubrikada individual ball yo'qotadi.</a:t>
            </a:r>
          </a:p>
          <a:p/>
          <a:p>
            <a:r>
              <a:t>Loyiha to'rt haftaga mo'ljallangan bo'lib, A5–A6 mashg'ulotlari bilan parallel boshlanadi:</a:t>
            </a:r>
          </a:p>
          <a:p/>
          <a:p>
            <a:r>
              <a:t>Ish uslubi: bitta Git ombori (monorepo), main himoyalangan, har o'zgarish pull request orqali va kamida bitta boshqa a'zo ko'rib chiqishi bilan; CI (GitHub Actions yoki GitLab CI) da lint, birlik testlar va Docker obrazini yig'ish; haftalik 15 daqiqalik sinxronizatsiya o'qituvchi bilan; vazifalar doskasi (GitHub Projects). Barcha muhim qarorlar docs/adr/ papkasida arxitektura qarorlari yozuvi (Architecture Decision Record, ADR) sifatida qayd etiladi: kontekst, variantlar, qaror, oqibatlar.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Hujjatlar to'plami to'rt qismdan iborat va omborning docs/ papkasida Markdown ko'rinishida saqlanadi.</a:t>
            </a:r>
          </a:p>
          <a:p/>
          <a:p>
            <a:r>
              <a:t>1. Loyiha pasporti (2 sahifa): nomi, guruh va rollar, muammo bayoni, foydalanuvchi va stsenariy, muvaffaqiyat mezoni, funksional va nofunksional talablar, SLO jadvali, xavf toifasi (EU AI Act bo'yicha) va asosiy cheklovlar, ma'lumot manbai va litsenziyasi.</a:t>
            </a:r>
          </a:p>
          <a:p/>
          <a:p>
            <a:r>
              <a:t>2. Arxitektura hujjati (4–6 sahifa): komponentlar diagrammasi (matnli tavsif yoki Mermaid), ma'lumot oqimi, har komponent uchun texnologiya tanlovi va ADR'ga havola, interfeyslar (ma'lumot sxemasi, model artefakti formati, OpenAPI kontrakti, metrika nomlari), joylashtirish topologiyasi (konteynerlar, resurslar, masshtablash siyosati), xavfsizlik (autentifikatsiya, tarmoq, sirlar), nosozlik rejimlari va tiklash.</a:t>
            </a:r>
          </a:p>
          <a:p/>
          <a:p>
            <a:r>
              <a:t>3. Model kartasi (2–3 sahifa, Mitchell va boshq., 2019 formatida): model tavsifi va versiyasi, mo'ljallangan foydalanish va mo'ljallanmagan foydalanish, o'quv ma'lumotlari, baholash ma'lumotlari va metrikalar (umumiy va kesimlar bo'yicha), mustahkamlik natijalari, adolatlilik natijalari, cheklovlar va etik mulohazalar, tavsiyalar.</a:t>
            </a:r>
          </a:p>
          <a:p/>
          <a:p>
            <a:r>
              <a:t>4. Ekspluatatsiya yo'riqnomasi (runbook, 2 sahifa): ishga tushirish va to'xtatish, versiyani yangilash va orqaga qaytarish (rollback), ogohlantirishlar ro'yxati va har biriga javob tartibi, drift aniqlanganda qayta o'qitish tartibi, mas'ul shaxslar.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Himoya 25 daqiqa: 12 daqiqa taqdimot (muammo va talablar — 2 daqiqa, arxitektura va qarorlar — 3, jonli namoyish — 4, o'lchovlar va tahlil — 3), 8 daqiqa savol-javob, 5 daqiqa kod ko'rib chiqish (komissiya omborda istalgan faylni ochishni so'raydi va muallifdan tushuntirishni talab qiladi). Jonli namoyish majburiy: so'rov yuborish, javob va tushuntirish olish, Grafana panelida so'rovning aks etishi, drift simulyatsiyasi va ogohlantirish. Namoyish oldindan yozib olingan video bilan almashtirilishi mumkin emas (faqat zaxira sifatida). Har a'zo kamida bitta savolga javob beradi; individual ball shu javoblar va kod ko'rib chiqishdagi ishtirok bo'yicha tuzatiladi (±15 ball doirasida).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 tibbiy tasvir triaji loyihasi to'liq ssenariy sifatida keltiriladi. Guruh uni namunaviy yechim sifatida ishlatishi yoki o'z mavzusida xuddi shu tuzilmani takrorlashi mumkin. Kod — skeletlar: ishlaydigan, lekin guruh to'ldirishi kerak bo'lgan joylar TODO bilan belgilangan.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Viloyat ko'p tarmoqli shifoxonasida kuniga 300–400 ko'krak qafasi rentgenogrammasi olinadi, ikki radiolog ularni navbat bo'yicha ko'radi; shoshilinch holatlar (pnevmotoraks, yirik infiltrat) ba'zan navbatda bir necha soat kutadi. Maqsad — har bir yangi tasvir uchun «e'tibor talab qiladi» ehtimolini hisoblab, radiolog ish ro'yxatini qayta tartiblash. Tizim tashxis qo'ymaydi, faqat navbatni tartiblaydi — bu EU AI Act bo'yicha baribir yuqori xavfli toifa (tibbiy qurilma bilan bog'liq), demak inson nazorati, jurnal yuritish va kesimlar bo'yicha baholash majburiy.</a:t>
            </a:r>
          </a:p>
          <a:p/>
          <a:p>
            <a:r>
              <a:t>Ma'lumot: NIH ChestX-ray14 ochiq to'plami (112 120 frontal rentgenogramma, 30 805 bemor, 14 patologiya yorlig'i, bemor yoshi va jinsi metadatada; yorliqlar matnli hisobotlardan avtomatik olingan, shuning uchun shovqinli). O'quv masala ikkilik qilib soddalashtiriladi: «No Finding» va qolgan har qanday topilma. Talablar: p99 kechikish 300 ms (GPU) yoki 800 ms (CPU), 20 so'rov/soniya, sezgirlik ≥ 0.90 (chegara shunga moslanadi), jins va yosh guruhlari bo'yicha sezgirlik farqi ≤ 0.05, PSI drift ≥ 0.2 da ogohlantirish, barcha so'rovlar anonim identifikator bilan jurnalga yoziladi.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Bitta GPU'li server (8 GB yetarli; o'qitish CPU'da ham mumkin, 224×224 tasvirlar va to'plamning 20 ming tasvirlik qismi bilan), Docker 24+, docker compose, Python 3.10+, pip install torch torchvision onnx onnxruntime-gpu fastapi uvicorn prometheus-client pandas pyarrow pandera mlflow fairlearn evidently locust. Kubernetes uchun minikube yoki laboratoriya klasteri (ixtiyoriy, qo'shimcha ball).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Ikki muhandislik qarori shu yerda qabul qilindi. Birinchisi — bo'lish bemor identifikatori bo'yicha: bitta bemorning bir nechta tasviri bo'ladi va ular tasodifiy bo'linsa, test «sizadi» (leakage), aniqlik 3–5 foiz bandiga soxta oshadi — bu tibbiy ML'dagi eng ko'p uchraydigan xato. Ikkinchisi — sxema tekshiruvi Manifest.validate: keyinchalik yangi ma'lumot kelganda (masalan, shifoxonaning o'z arxivi) noto'g'ri yosh yoki noma'lum jins qiymati quvurni jim buzmaydi, balki aniq xato beradi. Guruhdagi split × sex jadvalidan kesimlar vakilligi ko'rinadi (NIH'da erkaklar ~56%, topilma ulushi jinslar bo'yicha yaqin, lekin yosh guruhlari bo'yicha sezilarli farq qiladi — 60+ yoshda topilma ulushi yuqoriroq).</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DenseNet-121 — ko'krak rentgenogrammalari uchun adabiyotda standart (CheXNet) tanlov; ImageNet og'irliklaridan boshlash kichik to'plamda yaqinlashishni tezlashtiradi. pos_weight ijobiy sinfning kamligini (NIH'da topilma ulushi ~46%, ammo soddalashtirilgan qismda farq qilishi mumkin) hisobga oladi. MLflow har ishga tushirishni parametr, metrika va artefakt bilan qayd etadi — himoyada «qaysi eksperiment nima berdi» savoliga jurnal javob beradi. Kutilgan natija (taxminiy): to'liq to'plamda 8 epoxa, A100 da ~40 daqiqa, val AUC 0.78–0.82 (yorliqlar shovqinli bo'lgani uchun bundan yuqori chiqmaydi); 20 ming tasvirlik qismda AUC 0.72–0.76. Chegara sezgirlik 0.90 uchun tanlanganda aniqlik (precision) ~0.55–0.60 bo'ladi — triaj uchun bu qabul qilinadigan muroza, chunki yolg'on ijobiy faqat navbatda yuqoriroq o'rinni bildiradi.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Server uchta vazifani bir vaqtda bajaradi: inferens, kuzatuv va audit izi. Prometheus metrikalari — tizim SLI'lari (kechikish gistogrammasi p99 hisoblash uchun, holat bo'yicha so'rovlar soni) va model SLI'lari (triage_score gistogrammasi bashorat taqsimotini kuzatish imkonini beradi — haqiqiy natijalar bo'lmaganda drift belgisining o'zi shu). Jurnalga tasvir emas, uning xeshi yoziladi — shaxsiy ma'lumotni minimallashtirish; jins va yosh sarlavhadan olinadi, chunki adolatlilik monitoringi kesimlarni talab qiladi, lekin modelga kirmaydi. Javobdagi disclaimer va priority (ehtimol emas, harakat) — foydalanuvchi interfeysi uchun qaror shakli, bu AI Act shaffoflik talabining bir qismi.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Docker obrazi root bo'lmagan foydalanuvchi bilan ishlaydi, HEALTHCHECK orkestrator uchun tiriklik belgisi beradi. Locust 40 virtual foydalanuvchi bilan 3 daqiqa yuk beradi; Grafana'da histogram_quantile(0.99, rate(triage_latency_seconds_bucket[1m])) ifodasi p99 ni ko'rsatadi. Kutilgan natija (taxminiy): RTX 3090 + ONNX Runtime CUDA, DenseNet-121 FP32, bitta so'rov — p50 ~25 ms, p99 ~60 ms; 40 foydalanuvchida ~25 so'rov/soniya, p99 ~120 ms — SLO (300 ms) bajarildi. CPU'da (8 yadro, ONNX Runtime) p50 ~180 ms, p99 ~450 ms, 8–10 so'rov/soniya — 20 so'rov/soniya SLO uchun 2–3 replika kerak bo'ladi, bu arxitektura hujjatida masshtablash siyosati sifatida yoziladi. Drift simulyatsiyasi uchun guruh test tasvirlarini kontrastini 30% pasaytirib (boshqa apparat taqlidi) yuboradi — PSI 0.2 dan oshib ogohlantirish yonishi namoyishda ko'rsatiladi.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NIH to'plamida odatiy kuzatuv: jinslar bo'yicha AUC va TPR farqi kichik (0.01–0.03), yosh guruhlari bo'yicha esa sezilarli — 0–18 yosh guruhida namunalar kam va TPR 0.08–0.12 ga past bo'lishi mumkin (taxminiy). Bu holda guruh ikki yo'ldan birini tanlashi va ADR'da asoslashi kerak: bolalar tasvirlari uchun alohida chegara (post-processing) yoki tizim ko'lamini «18 yoshdan katta bemorlar» bilan cheklab, model kartasida mo'ljallanmagan foydalanish sifatida yozish. Ikkinchi yo'l ko'pincha to'g'riroq — ma'lumot yetarli bo'lmaganda tizim chegarasini halol belgilash tuzatishdan yaxshi. Mustahkamlik qismida A6 dagi PGD kodi qayta ishlatiladi; tibbiy tasvirlar uchun realistik tahdid — kichik epsilon (1–4/255) va JPEG siqish, shuning uchun egri chiziq shu diapazonda quriladi.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Yakuniy baho: 90–100 — a'lo, 75–89 — yaxshi, 60–74 — qoniqarli, 60 dan past — loyiha qayta topshiriladi (ikki haftada, maksimal 70 ball). Individual tuzatish: Git hissasi, kod ko'rib chiqishdagi javoblar va himoyadagi ishtirok asosida ±15 ball; a'zo loyihaning hech bir qismini tushuntira olmasa, uning balli guruh ballining 50% idan oshmaydi.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Namunaviy loyihaning kutilgan natijalari bir nechta tizimli saboq beradi. Birinchidan, model metrikasi (AUC 0.77) adabiyotdagi eng yaxshi natijalardan (0.80–0.85 ko'p yorliqli masalada) past, lekin bu loyiha uchun muammo emas — SLO tizim konteksti asosida belgilangan va u bajarilgan. Talabalar ko'pincha AUC ni oshirishga haftalab vaqt sarflab, monitoring va hujjatlarni oxirgi kunga qoldiradi; rubrika bu xatoni ballar taqsimoti bilan oldini oladi.</a:t>
            </a:r>
          </a:p>
          <a:p/>
          <a:p>
            <a:r>
              <a:t>Ikkinchidan, unumdorlik natijalari ko'rsatadiki, bitta GPU'da ONNX Runtime bilan DenseNet-121 kechikish SLO'sini 2–3 baravar zaxira bilan bajaradi; haqiqiy cheklov tarmoq va tasvirni dekodlash (JPEG/PNG o'qish, o'lchamni o'zgartirish) bo'lib chiqadi — p99 ning katta qismi aynan oldindan qayta ishlashga ketadi. Bu A3 va A4 dagi saboqni takrorlaydi: tizim kechikishi model kechikishi emas. CPU'da joylashtirish esa replikalar sonini oshirishni talab qiladi va bu K8s HPA (Horizontal Pod Autoscaler) bilan hal qilinadi — qo'shimcha ball olgan guruhlar buni ko'rsatadi.</a:t>
            </a:r>
          </a:p>
          <a:p/>
          <a:p>
            <a:r>
              <a:t>Uchinchidan, adolatlilik tahlili tizim ko'lamini cheklash qaroriga olib keldi (18 yoshgacha bemorlar chiqarildi). Bu loyihaning eng muhim muhandislik qarorlaridan biri — u «modelni tuzatish» o'rniga «tizimning halol chegarasini belgilash» ni tanlashni o'rgatadi va model kartasida mo'ljallanmagan foydalanish sifatida hujjatlashtiriladi. Mustahkamlik natijasi (PGD ostida AUC 0.61) esa modelning kirish nazoratisiz himoyasiz ekanini ko'rsatadi; triaj tizimi yopiq shifoxona tarmog'ida ishlagani uchun tahdid modeli bu xavfni «past ehtimolli, o'rta ta'sirli» deb baholashi va chora sifatida tasvir manbai autentifikatsiyasini (DICOM modality identifikatori) yozishi mumkin.</a:t>
            </a:r>
          </a:p>
          <a:p/>
          <a:p>
            <a:r>
              <a:t>Cheklovlar: NIH yorliqlari shovqinli, demak baholash o'zi ham noaniq — ishlab chiqarish tizimida radiolog tomonidan tasdiqlangan «oltin» to'plam kerak. Simulyatsiya qilingan drift haqiqiy apparat o'zgarishini to'liq aks ettirmaydi. Muqobil arxitekturalar: Triton Inference Server dinamik paketlash bilan o'tkazuvchanlikni 3–4 baravar oshiradi; Evidently yoki NannyML drift tahlilini chuqurlashtiradi; Kubeflow Pipelines butun ketma-ketlikni avtomatlashtiradi — bular qo'shimcha ball uchun yo'nalishlar.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Modeldan boshlash. Guruh birinchi haftani o'qitishga sarflaydi, talablar va ma'lumot auditi esa qoldiriladi; natijada uchinchi haftada bo'lish sizgani yoki SLO aniqlanmagani ma'lum bo'ladi. Birinchi hafta — faqat pasport, ma'lumot va skelet.</a:t>
            </a:r>
          </a:p>
          <a:p/>
          <a:p>
            <a:r>
              <a:t>Sizish (leakage). Bitta bemor/qurilma/kunning namunalari train va testga bo'linib ketadi. Guruh identifikatori bo'yicha bo'ling va buni testda avtomatik tekshiring (assert set(train.patient_id).isdisjoint(test.patient_id)).</a:t>
            </a:r>
          </a:p>
          <a:p/>
          <a:p>
            <a:r>
              <a:t>Chegara 0.5. Triaj, firibgarlik, nosozlik — barchasida chegara biznes mezoniga (sezgirlik, narx) qarab tanlanadi va model kartasida yoziladi.</a:t>
            </a:r>
          </a:p>
          <a:p/>
          <a:p>
            <a:r>
              <a:t>«Hammasi mening noutbukimda ishlaydi». Docker obrazi CI'da yig'ilmasa va boshqa mashinada ishlamasa, joylashtirish balli berilmaydi. requirements.txt versiyalari qotirilgan bo'lsin, obraz CI'da yig'ilib, /health testi o'tsin.</a:t>
            </a:r>
          </a:p>
          <a:p/>
          <a:p>
            <a:r>
              <a:t>Monitoring = loglar. Faylga yozilgan satrlar monitoring emas. Kamida kechikish gistogrammasi, so'rovlar soni va bashorat taqsimoti Prometheus formatida bo'lishi, panelda ko'rinishi va kamida bitta ogohlantirish qoidasi ishlashi shart.</a:t>
            </a:r>
          </a:p>
          <a:p/>
          <a:p>
            <a:r>
              <a:t>Adolatlilikni oxirgi kun qo'shish. Kesimlar uchun metadata (jins, yosh, hudud) ma'lumot bosqichida saqlanmasa, oxirida tahlil qilib bo'lmaydi. Sxemaga sezgir atributlarni birinchi haftadayoq kiriting.</a:t>
            </a:r>
          </a:p>
          <a:p/>
          <a:p>
            <a:r>
              <a:t>Hujjatlarni taqdimotga almashtirish. Slayd hujjat emas; docs/ papkasidagi to'rt hujjat va ADR'lar baholanadi. Hujjatni kod bilan bir vaqtda, PR ichida yangilang.</a:t>
            </a:r>
          </a:p>
          <a:p/>
          <a:p>
            <a:r>
              <a:t>Bir kishi hamma narsani yozadi. Git tarixi buni ko'rsatadi va individual tuzatishda aks etadi. Vazifalarni rollar bo'yicha bo'ling, PR ko'rib chiqishni almashtirib turing.</a:t>
            </a:r>
          </a:p>
          <a:p/>
          <a:p>
            <a:r>
              <a:t>Jonli namoyishga tayyorgarliksiz chiqish. Namoyishdan oldin konteynerlarni ko'tarish, so'rov skriptini tayyorlash, zaxira video yozib olish — 10 daqiqa, lekin himoyada 5 ballni saqlaydi.</a:t>
            </a:r>
          </a:p>
          <a:p/>
          <a:p>
            <a:r>
              <a:t>Cheklovlarni yashirish. Komissiya tizim nimani qila olmasligini so'raydi; «hamma narsani qiladi» javobi ballni pasaytiradi, halol va asosli cheklovlar ro'yxati — oshiradi.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Modeldan boshlash. Guruh birinchi haftani o'qitishga sarflaydi, talablar va ma'lumot auditi esa qoldiriladi; natijada uchinchi haftada bo'lish sizgani yoki SLO aniqlanmagani ma'lum bo'ladi. Birinchi hafta — faqat pasport, ma'lumot va skelet.</a:t>
            </a:r>
          </a:p>
          <a:p/>
          <a:p>
            <a:r>
              <a:t>Sizish (leakage). Bitta bemor/qurilma/kunning namunalari train va testga bo'linib ketadi. Guruh identifikatori bo'yicha bo'ling va buni testda avtomatik tekshiring (assert set(train.patient_id).isdisjoint(test.patient_id)).</a:t>
            </a:r>
          </a:p>
          <a:p/>
          <a:p>
            <a:r>
              <a:t>Chegara 0.5. Triaj, firibgarlik, nosozlik — barchasida chegara biznes mezoniga (sezgirlik, narx) qarab tanlanadi va model kartasida yoziladi.</a:t>
            </a:r>
          </a:p>
          <a:p/>
          <a:p>
            <a:r>
              <a:t>«Hammasi mening noutbukimda ishlaydi». Docker obrazi CI'da yig'ilmasa va boshqa mashinada ishlamasa, joylashtirish balli berilmaydi. requirements.txt versiyalari qotirilgan bo'lsin, obraz CI'da yig'ilib, /health testi o'tsin.</a:t>
            </a:r>
          </a:p>
          <a:p/>
          <a:p>
            <a:r>
              <a:t>Monitoring = loglar. Faylga yozilgan satrlar monitoring emas. Kamida kechikish gistogrammasi, so'rovlar soni va bashorat taqsimoti Prometheus formatida bo'lishi, panelda ko'rinishi va kamida bitta ogohlantirish qoidasi ishlashi shart.</a:t>
            </a:r>
          </a:p>
          <a:p/>
          <a:p>
            <a:r>
              <a:t>Adolatlilikni oxirgi kun qo'shish. Kesimlar uchun metadata (jins, yosh, hudud) ma'lumot bosqichida saqlanmasa, oxirida tahlil qilib bo'lmaydi. Sxemaga sezgir atributlarni birinchi haftadayoq kiriting.</a:t>
            </a:r>
          </a:p>
          <a:p/>
          <a:p>
            <a:r>
              <a:t>Hujjatlarni taqdimotga almashtirish. Slayd hujjat emas; docs/ papkasidagi to'rt hujjat va ADR'lar baholanadi. Hujjatni kod bilan bir vaqtda, PR ichida yangilang.</a:t>
            </a:r>
          </a:p>
          <a:p/>
          <a:p>
            <a:r>
              <a:t>Bir kishi hamma narsani yozadi. Git tarixi buni ko'rsatadi va individual tuzatishda aks etadi. Vazifalarni rollar bo'yicha bo'ling, PR ko'rib chiqishni almashtirib turing.</a:t>
            </a:r>
          </a:p>
          <a:p/>
          <a:p>
            <a:r>
              <a:t>Jonli namoyishga tayyorgarliksiz chiqish. Namoyishdan oldin konteynerlarni ko'tarish, so'rov skriptini tayyorlash, zaxira video yozib olish — 10 daqiqa, lekin himoyada 5 ballni saqlaydi.</a:t>
            </a:r>
          </a:p>
          <a:p/>
          <a:p>
            <a:r>
              <a:t>Cheklovlarni yashirish. Komissiya tizim nimani qila olmasligini so'raydi; «hamma narsani qiladi» javobi ballni pasaytiradi, halol va asosli cheklovlar ro'yxati — oshiradi.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Loyihangizda model SLO'si va tizim SLO'si qanday bog'liq? Qaysi holatda tizim SLO'si bajarilib, model SLO'si buzilishi mumkin va monitoring buni qanday aniqlaydi?</a:t>
            </a:r>
          </a:p>
          <a:p/>
          <a:p>
            <a:r>
              <a:t>Ma'lumotni bo'lishda guruh identifikatori nima uchun muhim? O'z masalangizda sizish manbai bo'lishi mumkin bo'lgan uchta omilni ayting.</a:t>
            </a:r>
          </a:p>
          <a:p/>
          <a:p>
            <a:r>
              <a:t>Nima uchun triaj tizimi uchun sezgirlik aniqlikdan ustun qo'yildi? Qaysi amaliy masalada aksincha bo'ladi va bu chegarani qanday o'zgartiradi?</a:t>
            </a:r>
          </a:p>
          <a:p/>
          <a:p>
            <a:r>
              <a:t>Bashorat taqsimotining drifti (PSI) haqiqiy aniqlik pasayishini kafolatli ko'rsatadimi? Qanday holatda PSI o'zgarmaydi, lekin model yomonlashadi, va buni qanday aniqlash mumkin?</a:t>
            </a:r>
          </a:p>
          <a:p/>
          <a:p>
            <a:r>
              <a:t>Sezgir atributlar modelga kirmaydi, lekin API sarlavhasida yuboriladi. Bu qarorning afzalliklari va xavflari nima? Muqobil yechim taklif qiling.</a:t>
            </a:r>
          </a:p>
          <a:p/>
          <a:p>
            <a:r>
              <a:t>Adolatlilik tahlilida «tuzatish» va «ko'lamni cheklash» yo'llari orasida qanday tanlaysiz? Har birining model kartasida qanday aks etishi kerak?</a:t>
            </a:r>
          </a:p>
          <a:p/>
          <a:p>
            <a:r>
              <a:t>ONNX Runtime bilan p99 60 ms, lekin tizim p99 120 ms. Qolgan vaqt qayerga ketadi va uni qisqartirish uchun qanday choralar bor?</a:t>
            </a:r>
          </a:p>
          <a:p/>
          <a:p>
            <a:r>
              <a:t>ADR nima uchun kerak, agar arxitektura hujjati allaqachon bor bo'lsa? Loyihangizdagi eng munozarali qaror uchun ADR tuzilmasini og'zaki bayon qiling.</a:t>
            </a:r>
          </a:p>
          <a:p/>
          <a:p>
            <a:r>
              <a:t>Rollback tartibi runbook'da qanday yozilishi kerak? Model versiyasini qaytarish bilan ma'lumot sxemasini qaytarish orasida qanday bog'liqlik bor?</a:t>
            </a:r>
          </a:p>
          <a:p/>
          <a:p>
            <a:r>
              <a:t>Agar shifoxona yangi rentgen apparati sotib olsa, tizimda qaysi komponentlar ta'sirlanadi va qayta tekshirish ketma-ketligi qanday bo'ladi?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Loyihangizda model SLO'si va tizim SLO'si qanday bog'liq? Qaysi holatda tizim SLO'si bajarilib, model SLO'si buzilishi mumkin va monitoring buni qanday aniqlaydi?</a:t>
            </a:r>
          </a:p>
          <a:p/>
          <a:p>
            <a:r>
              <a:t>Ma'lumotni bo'lishda guruh identifikatori nima uchun muhim? O'z masalangizda sizish manbai bo'lishi mumkin bo'lgan uchta omilni ayting.</a:t>
            </a:r>
          </a:p>
          <a:p/>
          <a:p>
            <a:r>
              <a:t>Nima uchun triaj tizimi uchun sezgirlik aniqlikdan ustun qo'yildi? Qaysi amaliy masalada aksincha bo'ladi va bu chegarani qanday o'zgartiradi?</a:t>
            </a:r>
          </a:p>
          <a:p/>
          <a:p>
            <a:r>
              <a:t>Bashorat taqsimotining drifti (PSI) haqiqiy aniqlik pasayishini kafolatli ko'rsatadimi? Qanday holatda PSI o'zgarmaydi, lekin model yomonlashadi, va buni qanday aniqlash mumkin?</a:t>
            </a:r>
          </a:p>
          <a:p/>
          <a:p>
            <a:r>
              <a:t>Sezgir atributlar modelga kirmaydi, lekin API sarlavhasida yuboriladi. Bu qarorning afzalliklari va xavflari nima? Muqobil yechim taklif qiling.</a:t>
            </a:r>
          </a:p>
          <a:p/>
          <a:p>
            <a:r>
              <a:t>Adolatlilik tahlilida «tuzatish» va «ko'lamni cheklash» yo'llari orasida qanday tanlaysiz? Har birining model kartasida qanday aks etishi kerak?</a:t>
            </a:r>
          </a:p>
          <a:p/>
          <a:p>
            <a:r>
              <a:t>ONNX Runtime bilan p99 60 ms, lekin tizim p99 120 ms. Qolgan vaqt qayerga ketadi va uni qisqartirish uchun qanday choralar bor?</a:t>
            </a:r>
          </a:p>
          <a:p/>
          <a:p>
            <a:r>
              <a:t>ADR nima uchun kerak, agar arxitektura hujjati allaqachon bor bo'lsa? Loyihangizdagi eng munozarali qaror uchun ADR tuzilmasini og'zaki bayon qiling.</a:t>
            </a:r>
          </a:p>
          <a:p/>
          <a:p>
            <a:r>
              <a:t>Rollback tartibi runbook'da qanday yozilishi kerak? Model versiyasini qaytarish bilan ma'lumot sxemasini qaytarish orasida qanday bog'liqlik bor?</a:t>
            </a:r>
          </a:p>
          <a:p/>
          <a:p>
            <a:r>
              <a:t>Agar shifoxona yangi rentgen apparati sotib olsa, tizimda qaysi komponentlar ta'sirlanadi va qayta tekshirish ketma-ketligi qanday bo'ladi?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1-topshiriq (majburiy, guruhda). Yuqoridagi tuzilma bo'yicha o'z loyihangizni to'rt hafta ichida bajaring va himoyaga tayyorlang. Oraliq nazorat nuqtalari: 1-hafta oxirida pasport va ma'lumot profili (10 ball zaxirasi — kechiksa rubrikaning 1–2-banditan ayiriladi), 2-hafta oxirida ishlaydigan /predict va CI, 3-hafta oxirida Grafana paneli va yuk sinovi hisoboti. Baholash — yuqoridagi 10 bandli rubrika.</a:t>
            </a:r>
          </a:p>
          <a:p/>
          <a:p>
            <a:r>
              <a:t>2-topshiriq (individual, mustaqil ta'lim 1- va 4-topshiriqlari bilan bog'liq). Netflix tavsiya tizimi, Uber kelish vaqtini bashorat qilish yoki Amazon ombor robototexnikasi — birini tanlab, ochiq manbalar (kompaniyaning muhandislik bloglari, konferensiya maqolalari) asosida uning besh bosqichli ketma-ketligini qayta tiklang: ma'lumot manbalari va hajmi, model turlari, xizmat ko'rsatish infratuzilmasi va SLO, monitoring va A/B sinov amaliyoti, adolatlilik yoki mas'uliyatli AI choralari. Natijani o'z loyihangiz bilan taqqoslang: qaysi bosqichda farq eng katta va nima uchun. Hajm 5–6 sahifa. Baholash: manbalarga asoslanganlik — 40%, besh bosqichning to'liq yoritilishi — 40%, taqqoslash sifati — 20%.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topshiriqlar virtual laboratoriyada bajariladi (A7 virtual laboratoriyasi: 7 bosqich — sxema va bemor bo'yicha bo'lish, model reestri, ONNX, FastAPI xizmati, drift monitoringi, adolatlilik, avtomatik pasport). Har topshiriq tegishli bosqich kodini o'zgartirib bajariladi va o'lchanadigan hisobot (jadval/grafik/matn) talab qiladi. Jami 100 ball: 3 oson × 5, 4 o'rta × 10, 3 qiyin × 15.</a:t>
            </a:r>
          </a:p>
          <a:p/>
          <a:p>
            <a:r>
              <a:t>Topshiriqlarning to'liq matni va bajarish tartibi virtual laboratoriya sahifasidagi «Qo'shimcha topshiriqlar» bo'limida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loyiha hayot sikli va ekspluatatsiya boblari.</a:t>
            </a:r>
          </a:p>
          <a:p/>
          <a:p>
            <a:r>
              <a:t>[3] Amershi, S., Begel, A., Bird, C. va boshq. Machine Learning Engineering. MIT Press, 2025. — ML jarayoni bosqichlari, jamoaviy ish va monitoring.</a:t>
            </a:r>
          </a:p>
          <a:p/>
          <a:p>
            <a:r>
              <a:t>[7] PyTorch rasmiy hujjatlari: https://pytorch.org — ONNX eksporti (torch.onnx).</a:t>
            </a:r>
          </a:p>
          <a:p/>
          <a:p>
            <a:r>
              <a:t>[9] Kubernetes rasmiy hujjatlari: https://kubernetes.io — Deployment, HPA, Probes.</a:t>
            </a:r>
          </a:p>
          <a:p/>
          <a:p>
            <a:r>
              <a:t>[10] ONNX va ONNX Runtime rasmiy hujjatlari: https://onnx.ai ; https://onnxruntime.ai</a:t>
            </a:r>
          </a:p>
          <a:p/>
          <a:p>
            <a:r>
              <a:t>Sculley, D. va boshq. Hidden Technical Debt in Machine Learning Systems. NeurIPS 2015.</a:t>
            </a:r>
          </a:p>
          <a:p/>
          <a:p>
            <a:r>
              <a:t>Amershi, S. va boshq. Software Engineering for Machine Learning: A Case Study. ICSE-SEIP 2019.</a:t>
            </a:r>
          </a:p>
          <a:p/>
          <a:p>
            <a:r>
              <a:t>Mitchell, M. va boshq. Model Cards for Model Reporting. FAT 2019. arXiv:1810.03993.</a:t>
            </a:r>
          </a:p>
          <a:p/>
          <a:p>
            <a:r>
              <a:t>Gebru, T. va boshq. Datasheets for Datasets. Communications of the ACM, 64(12), 2021. arXiv:1803.09010.</a:t>
            </a:r>
          </a:p>
          <a:p/>
          <a:p>
            <a:r>
              <a:t>Wang, X. va boshq. ChestX-ray8: Hospital-scale Chest X-ray Database and Benchmarks. CVPR 2017. arXiv:1705.02315. (NIH ChestX-ray14 to'plami: https://nihcc.app.box.com/v/ChestXray-NIHCC)</a:t>
            </a:r>
          </a:p>
          <a:p/>
          <a:p>
            <a:r>
              <a:t>Rajpurkar, P. va boshq. CheXNet: Radiologist-Level Pneumonia Detection on Chest X-Rays with Deep Learning. arXiv:1711.05225, 2017.</a:t>
            </a:r>
          </a:p>
          <a:p/>
          <a:p>
            <a:r>
              <a:t>Beyer, B., Jones, C., Petoff, J., &amp; Murphy, N. R. Site Reliability Engineering. O'Reilly, 2016. — SLI/SLO va xato byudjeti. https://sre.google/sre-book/table-of-contents/</a:t>
            </a:r>
          </a:p>
          <a:p/>
          <a:p>
            <a:r>
              <a:t>Prometheus rasmiy hujjatlari: https://prometheus.io/docs/ ; Fairlearn: https://fairlearn.org ; MLflow: https://mlflow.org/docs/latest/</a:t>
            </a:r>
          </a:p>
          <a:p/>
          <a:p>
            <a:r>
              <a:t>Regulation (EU) 2024/1689 (EU AI Act), III ilova: https://eur-lex.europa.eu/eli/reg/2024/1689/oj</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loyiha hayot sikli va ekspluatatsiya boblari.</a:t>
            </a:r>
          </a:p>
          <a:p/>
          <a:p>
            <a:r>
              <a:t>[3] Amershi, S., Begel, A., Bird, C. va boshq. Machine Learning Engineering. MIT Press, 2025. — ML jarayoni bosqichlari, jamoaviy ish va monitoring.</a:t>
            </a:r>
          </a:p>
          <a:p/>
          <a:p>
            <a:r>
              <a:t>[7] PyTorch rasmiy hujjatlari: https://pytorch.org — ONNX eksporti (torch.onnx).</a:t>
            </a:r>
          </a:p>
          <a:p/>
          <a:p>
            <a:r>
              <a:t>[9] Kubernetes rasmiy hujjatlari: https://kubernetes.io — Deployment, HPA, Probes.</a:t>
            </a:r>
          </a:p>
          <a:p/>
          <a:p>
            <a:r>
              <a:t>[10] ONNX va ONNX Runtime rasmiy hujjatlari: https://onnx.ai ; https://onnxruntime.ai</a:t>
            </a:r>
          </a:p>
          <a:p/>
          <a:p>
            <a:r>
              <a:t>Sculley, D. va boshq. Hidden Technical Debt in Machine Learning Systems. NeurIPS 2015.</a:t>
            </a:r>
          </a:p>
          <a:p/>
          <a:p>
            <a:r>
              <a:t>Amershi, S. va boshq. Software Engineering for Machine Learning: A Case Study. ICSE-SEIP 2019.</a:t>
            </a:r>
          </a:p>
          <a:p/>
          <a:p>
            <a:r>
              <a:t>Mitchell, M. va boshq. Model Cards for Model Reporting. FAT 2019. arXiv:1810.03993.</a:t>
            </a:r>
          </a:p>
          <a:p/>
          <a:p>
            <a:r>
              <a:t>Gebru, T. va boshq. Datasheets for Datasets. Communications of the ACM, 64(12), 2021. arXiv:1803.09010.</a:t>
            </a:r>
          </a:p>
          <a:p/>
          <a:p>
            <a:r>
              <a:t>Wang, X. va boshq. ChestX-ray8: Hospital-scale Chest X-ray Database and Benchmarks. CVPR 2017. arXiv:1705.02315. (NIH ChestX-ray14 to'plami: https://nihcc.app.box.com/v/ChestXray-NIHCC)</a:t>
            </a:r>
          </a:p>
          <a:p/>
          <a:p>
            <a:r>
              <a:t>Rajpurkar, P. va boshq. CheXNet: Radiologist-Level Pneumonia Detection on Chest X-Rays with Deep Learning. arXiv:1711.05225, 2017.</a:t>
            </a:r>
          </a:p>
          <a:p/>
          <a:p>
            <a:r>
              <a:t>Beyer, B., Jones, C., Petoff, J., &amp; Murphy, N. R. Site Reliability Engineering. O'Reilly, 2016. — SLI/SLO va xato byudjeti. https://sre.google/sre-book/table-of-contents/</a:t>
            </a:r>
          </a:p>
          <a:p/>
          <a:p>
            <a:r>
              <a:t>Prometheus rasmiy hujjatlari: https://prometheus.io/docs/ ; Fairlearn: https://fairlearn.org ; MLflow: https://mlflow.org/docs/latest/</a:t>
            </a:r>
          </a:p>
          <a:p/>
          <a:p>
            <a:r>
              <a:t>Regulation (EU) 2024/1689 (EU AI Act), III ilova: https://eur-lex.europa.eu/eli/reg/2024/1689/oj</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loyiha hayot sikli va ekspluatatsiya boblari.</a:t>
            </a:r>
          </a:p>
          <a:p/>
          <a:p>
            <a:r>
              <a:t>[3] Amershi, S., Begel, A., Bird, C. va boshq. Machine Learning Engineering. MIT Press, 2025. — ML jarayoni bosqichlari, jamoaviy ish va monitoring.</a:t>
            </a:r>
          </a:p>
          <a:p/>
          <a:p>
            <a:r>
              <a:t>[7] PyTorch rasmiy hujjatlari: https://pytorch.org — ONNX eksporti (torch.onnx).</a:t>
            </a:r>
          </a:p>
          <a:p/>
          <a:p>
            <a:r>
              <a:t>[9] Kubernetes rasmiy hujjatlari: https://kubernetes.io — Deployment, HPA, Probes.</a:t>
            </a:r>
          </a:p>
          <a:p/>
          <a:p>
            <a:r>
              <a:t>[10] ONNX va ONNX Runtime rasmiy hujjatlari: https://onnx.ai ; https://onnxruntime.ai</a:t>
            </a:r>
          </a:p>
          <a:p/>
          <a:p>
            <a:r>
              <a:t>Sculley, D. va boshq. Hidden Technical Debt in Machine Learning Systems. NeurIPS 2015.</a:t>
            </a:r>
          </a:p>
          <a:p/>
          <a:p>
            <a:r>
              <a:t>Amershi, S. va boshq. Software Engineering for Machine Learning: A Case Study. ICSE-SEIP 2019.</a:t>
            </a:r>
          </a:p>
          <a:p/>
          <a:p>
            <a:r>
              <a:t>Mitchell, M. va boshq. Model Cards for Model Reporting. FAT 2019. arXiv:1810.03993.</a:t>
            </a:r>
          </a:p>
          <a:p/>
          <a:p>
            <a:r>
              <a:t>Gebru, T. va boshq. Datasheets for Datasets. Communications of the ACM, 64(12), 2021. arXiv:1803.09010.</a:t>
            </a:r>
          </a:p>
          <a:p/>
          <a:p>
            <a:r>
              <a:t>Wang, X. va boshq. ChestX-ray8: Hospital-scale Chest X-ray Database and Benchmarks. CVPR 2017. arXiv:1705.02315. (NIH ChestX-ray14 to'plami: https://nihcc.app.box.com/v/ChestXray-NIHCC)</a:t>
            </a:r>
          </a:p>
          <a:p/>
          <a:p>
            <a:r>
              <a:t>Rajpurkar, P. va boshq. CheXNet: Radiologist-Level Pneumonia Detection on Chest X-Rays with Deep Learning. arXiv:1711.05225, 2017.</a:t>
            </a:r>
          </a:p>
          <a:p/>
          <a:p>
            <a:r>
              <a:t>Beyer, B., Jones, C., Petoff, J., &amp; Murphy, N. R. Site Reliability Engineering. O'Reilly, 2016. — SLI/SLO va xato byudjeti. https://sre.google/sre-book/table-of-contents/</a:t>
            </a:r>
          </a:p>
          <a:p/>
          <a:p>
            <a:r>
              <a:t>Prometheus rasmiy hujjatlari: https://prometheus.io/docs/ ; Fairlearn: https://fairlearn.org ; MLflow: https://mlflow.org/docs/latest/</a:t>
            </a:r>
          </a:p>
          <a:p/>
          <a:p>
            <a:r>
              <a:t>Regulation (EU) 2024/1689 (EU AI Act), III ilova: https://eur-lex.europa.eu/eli/reg/2024/1689/oj</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LABORATORIYA ISHI · A7 · 2 soat</a:t>
            </a:r>
          </a:p>
        </p:txBody>
      </p:sp>
      <p:sp>
        <p:nvSpPr>
          <p:cNvPr id="9" name="TextBox 8"/>
          <p:cNvSpPr txBox="1"/>
          <p:nvPr/>
        </p:nvSpPr>
        <p:spPr>
          <a:xfrm>
            <a:off x="700000" y="1900000"/>
            <a:ext cx="8400000" cy="2600000"/>
          </a:xfrm>
          <a:prstGeom prst="rect">
            <a:avLst/>
          </a:prstGeom>
          <a:noFill/>
        </p:spPr>
        <p:txBody>
          <a:bodyPr wrap="square" anchor="t" lIns="50800" rIns="50800">
            <a:spAutoFit/>
          </a:bodyPr>
          <a:lstStyle/>
          <a:p>
            <a:pPr algn="l"/>
            <a:r>
              <a:rPr sz="3800" b="1">
                <a:solidFill>
                  <a:srgbClr val="FFFFFF"/>
                </a:solidFill>
                <a:latin typeface="Calibri"/>
              </a:rPr>
              <a:t>Yakuniy kompleks loyihani shakllantirish</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10"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50"/>
                                        <p:tgtEl>
                                          <p:spTgt spid="7"/>
                                        </p:tgtEl>
                                      </p:cBhvr>
                                    </p:animEffect>
                                  </p:childTnLst>
                                </p:cTn>
                              </p:par>
                            </p:childTnLst>
                          </p:cTn>
                        </p:par>
                        <p:par>
                          <p:cTn id="25" fill="hold">
                            <p:stCondLst>
                              <p:cond delay="550"/>
                            </p:stCondLst>
                            <p:childTnLst>
                              <p:par>
                                <p:cTn id="26" presetID="2" presetClass="entr" presetSubtype="8"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9" dur="550" fill="hold"/>
                                        <p:tgtEl>
                                          <p:spTgt spid="8"/>
                                        </p:tgtEl>
                                        <p:attrNameLst>
                                          <p:attrName>ppt_x</p:attrName>
                                        </p:attrNameLst>
                                      </p:cBhvr>
                                      <p:tavLst>
                                        <p:tav tm="0">
                                          <p:val>
                                            <p:strVal val="0-#ppt_w/2"/>
                                          </p:val>
                                        </p:tav>
                                        <p:tav tm="100000">
                                          <p:val>
                                            <p:strVal val="#ppt_x"/>
                                          </p:val>
                                        </p:tav>
                                      </p:tavLst>
                                    </p:anim>
                                    <p:anim calcmode="lin" valueType="num">
                                      <p:cBhvr additive="base">
                                        <p:cTn id="30" dur="550" fill="hold"/>
                                        <p:tgtEl>
                                          <p:spTgt spid="8"/>
                                        </p:tgtEl>
                                        <p:attrNameLst>
                                          <p:attrName>ppt_y</p:attrName>
                                        </p:attrNameLst>
                                      </p:cBhvr>
                                      <p:tavLst>
                                        <p:tav tm="0">
                                          <p:val>
                                            <p:strVal val="#ppt_y"/>
                                          </p:val>
                                        </p:tav>
                                        <p:tav tm="100000">
                                          <p:val>
                                            <p:strVal val="#ppt_y"/>
                                          </p:val>
                                        </p:tav>
                                      </p:tavLst>
                                    </p:anim>
                                  </p:childTnLst>
                                </p:cTn>
                              </p:par>
                            </p:childTnLst>
                          </p:cTn>
                        </p:par>
                        <p:par>
                          <p:cTn id="31" fill="hold">
                            <p:stCondLst>
                              <p:cond delay="700"/>
                            </p:stCondLst>
                            <p:childTnLst>
                              <p:par>
                                <p:cTn id="32" presetID="42"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50"/>
                                        <p:tgtEl>
                                          <p:spTgt spid="9"/>
                                        </p:tgtEl>
                                      </p:cBhvr>
                                    </p:animEffect>
                                    <p:anim calcmode="lin" valueType="num">
                                      <p:cBhvr additive="base">
                                        <p:cTn id="35" dur="550" fill="hold"/>
                                        <p:tgtEl>
                                          <p:spTgt spid="9"/>
                                        </p:tgtEl>
                                        <p:attrNameLst>
                                          <p:attrName>ppt_x</p:attrName>
                                        </p:attrNameLst>
                                      </p:cBhvr>
                                      <p:tavLst>
                                        <p:tav tm="0">
                                          <p:val>
                                            <p:strVal val="#ppt_x"/>
                                          </p:val>
                                        </p:tav>
                                        <p:tav tm="100000">
                                          <p:val>
                                            <p:strVal val="#ppt_x"/>
                                          </p:val>
                                        </p:tav>
                                      </p:tavLst>
                                    </p:anim>
                                    <p:anim calcmode="lin" valueType="num">
                                      <p:cBhvr additive="base">
                                        <p:cTn id="36" dur="550" fill="hold"/>
                                        <p:tgtEl>
                                          <p:spTgt spid="9"/>
                                        </p:tgtEl>
                                        <p:attrNameLst>
                                          <p:attrName>ppt_y</p:attrName>
                                        </p:attrNameLst>
                                      </p:cBhvr>
                                      <p:tavLst>
                                        <p:tav tm="0">
                                          <p:val>
                                            <p:strVal val="#ppt_y+.08"/>
                                          </p:val>
                                        </p:tav>
                                        <p:tav tm="100000">
                                          <p:val>
                                            <p:strVal val="#ppt_y"/>
                                          </p:val>
                                        </p:tav>
                                      </p:tavLst>
                                    </p:anim>
                                  </p:childTnLst>
                                </p:cTn>
                              </p:par>
                            </p:childTnLst>
                          </p:cTn>
                        </p:par>
                        <p:par>
                          <p:cTn id="37" fill="hold">
                            <p:stCondLst>
                              <p:cond delay="850"/>
                            </p:stCondLst>
                            <p:childTnLst>
                              <p:par>
                                <p:cTn id="38" presetID="22" presetClass="entr" presetSubtype="8"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1" dur="800"/>
                                        <p:tgtEl>
                                          <p:spTgt spid="6"/>
                                        </p:tgtEl>
                                      </p:cBhvr>
                                    </p:animEffect>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MAVZU</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387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2635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387000"/>
          </a:xfrm>
          <a:prstGeom prst="rect">
            <a:avLst/>
          </a:prstGeom>
          <a:noFill/>
        </p:spPr>
        <p:txBody>
          <a:bodyPr wrap="square" anchor="ctr" lIns="50800" rIns="50800">
            <a:spAutoFit/>
          </a:bodyPr>
          <a:lstStyle/>
          <a:p>
            <a:pPr algn="l"/>
            <a:r>
              <a:rPr sz="1900" b="0">
                <a:solidFill>
                  <a:srgbClr val="1B2430"/>
                </a:solidFill>
                <a:latin typeface="Calibri"/>
              </a:rPr>
              <a:t>Mavzuning maqsadi va o'rganish natijalari</a:t>
            </a:r>
          </a:p>
        </p:txBody>
      </p:sp>
      <p:sp>
        <p:nvSpPr>
          <p:cNvPr id="14" name="Rounded Rectangle 13"/>
          <p:cNvSpPr/>
          <p:nvPr/>
        </p:nvSpPr>
        <p:spPr>
          <a:xfrm>
            <a:off x="550000" y="1807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1807000"/>
            <a:ext cx="70000" cy="387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17705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1807000"/>
            <a:ext cx="10050000" cy="387000"/>
          </a:xfrm>
          <a:prstGeom prst="rect">
            <a:avLst/>
          </a:prstGeom>
          <a:noFill/>
        </p:spPr>
        <p:txBody>
          <a:bodyPr wrap="square" anchor="ctr" lIns="50800" rIns="50800">
            <a:spAutoFit/>
          </a:bodyPr>
          <a:lstStyle/>
          <a:p>
            <a:pPr algn="l"/>
            <a:r>
              <a:rPr sz="1900" b="0">
                <a:solidFill>
                  <a:srgbClr val="1B2430"/>
                </a:solidFill>
                <a:latin typeface="Calibri"/>
              </a:rPr>
              <a:t>Kirish</a:t>
            </a:r>
          </a:p>
        </p:txBody>
      </p:sp>
      <p:sp>
        <p:nvSpPr>
          <p:cNvPr id="18" name="Rounded Rectangle 17"/>
          <p:cNvSpPr/>
          <p:nvPr/>
        </p:nvSpPr>
        <p:spPr>
          <a:xfrm>
            <a:off x="550000" y="2314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2314000"/>
            <a:ext cx="70000" cy="387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22775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2314000"/>
            <a:ext cx="10050000" cy="387000"/>
          </a:xfrm>
          <a:prstGeom prst="rect">
            <a:avLst/>
          </a:prstGeom>
          <a:noFill/>
        </p:spPr>
        <p:txBody>
          <a:bodyPr wrap="square" anchor="ctr" lIns="50800" rIns="50800">
            <a:spAutoFit/>
          </a:bodyPr>
          <a:lstStyle/>
          <a:p>
            <a:pPr algn="l"/>
            <a:r>
              <a:rPr sz="1900" b="0">
                <a:solidFill>
                  <a:srgbClr val="1B2430"/>
                </a:solidFill>
                <a:latin typeface="Calibri"/>
              </a:rPr>
              <a:t>Nazariy asoslar</a:t>
            </a:r>
          </a:p>
        </p:txBody>
      </p:sp>
      <p:sp>
        <p:nvSpPr>
          <p:cNvPr id="22" name="Rounded Rectangle 21"/>
          <p:cNvSpPr/>
          <p:nvPr/>
        </p:nvSpPr>
        <p:spPr>
          <a:xfrm>
            <a:off x="550000" y="2821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2821000"/>
            <a:ext cx="70000" cy="387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27845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2821000"/>
            <a:ext cx="10050000" cy="387000"/>
          </a:xfrm>
          <a:prstGeom prst="rect">
            <a:avLst/>
          </a:prstGeom>
          <a:noFill/>
        </p:spPr>
        <p:txBody>
          <a:bodyPr wrap="square" anchor="ctr" lIns="50800" rIns="50800">
            <a:spAutoFit/>
          </a:bodyPr>
          <a:lstStyle/>
          <a:p>
            <a:pPr algn="l"/>
            <a:r>
              <a:rPr sz="1900" b="0">
                <a:solidFill>
                  <a:srgbClr val="1B2430"/>
                </a:solidFill>
                <a:latin typeface="Calibri"/>
              </a:rPr>
              <a:t>Amaliy misol</a:t>
            </a:r>
          </a:p>
        </p:txBody>
      </p:sp>
      <p:sp>
        <p:nvSpPr>
          <p:cNvPr id="26" name="Rounded Rectangle 25"/>
          <p:cNvSpPr/>
          <p:nvPr/>
        </p:nvSpPr>
        <p:spPr>
          <a:xfrm>
            <a:off x="550000" y="3328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3328000"/>
            <a:ext cx="70000" cy="387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32915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3328000"/>
            <a:ext cx="10050000" cy="387000"/>
          </a:xfrm>
          <a:prstGeom prst="rect">
            <a:avLst/>
          </a:prstGeom>
          <a:noFill/>
        </p:spPr>
        <p:txBody>
          <a:bodyPr wrap="square" anchor="ctr" lIns="50800" rIns="50800">
            <a:spAutoFit/>
          </a:bodyPr>
          <a:lstStyle/>
          <a:p>
            <a:pPr algn="l"/>
            <a:r>
              <a:rPr sz="1900" b="0">
                <a:solidFill>
                  <a:srgbClr val="1B2430"/>
                </a:solidFill>
                <a:latin typeface="Calibri"/>
              </a:rPr>
              <a:t>Natijalarni tahlil qilish</a:t>
            </a:r>
          </a:p>
        </p:txBody>
      </p:sp>
      <p:sp>
        <p:nvSpPr>
          <p:cNvPr id="30" name="Rounded Rectangle 29"/>
          <p:cNvSpPr/>
          <p:nvPr/>
        </p:nvSpPr>
        <p:spPr>
          <a:xfrm>
            <a:off x="550000" y="3835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3835000"/>
            <a:ext cx="70000" cy="387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0000" y="37985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33" name="TextBox 32"/>
          <p:cNvSpPr txBox="1"/>
          <p:nvPr/>
        </p:nvSpPr>
        <p:spPr>
          <a:xfrm>
            <a:off x="1450000" y="3835000"/>
            <a:ext cx="10050000" cy="387000"/>
          </a:xfrm>
          <a:prstGeom prst="rect">
            <a:avLst/>
          </a:prstGeom>
          <a:noFill/>
        </p:spPr>
        <p:txBody>
          <a:bodyPr wrap="square" anchor="ctr" lIns="50800" rIns="50800">
            <a:spAutoFit/>
          </a:bodyPr>
          <a:lstStyle/>
          <a:p>
            <a:pPr algn="l"/>
            <a:r>
              <a:rPr sz="1900" b="0">
                <a:solidFill>
                  <a:srgbClr val="1B2430"/>
                </a:solidFill>
                <a:latin typeface="Calibri"/>
              </a:rPr>
              <a:t>Keng tarqalgan xatolar va amaliy tavsiyalar</a:t>
            </a:r>
          </a:p>
        </p:txBody>
      </p:sp>
      <p:sp>
        <p:nvSpPr>
          <p:cNvPr id="34" name="Rounded Rectangle 33"/>
          <p:cNvSpPr/>
          <p:nvPr/>
        </p:nvSpPr>
        <p:spPr>
          <a:xfrm>
            <a:off x="550000" y="4342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4342000"/>
            <a:ext cx="70000" cy="387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0000" y="43055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37" name="TextBox 36"/>
          <p:cNvSpPr txBox="1"/>
          <p:nvPr/>
        </p:nvSpPr>
        <p:spPr>
          <a:xfrm>
            <a:off x="1450000" y="4342000"/>
            <a:ext cx="10050000" cy="387000"/>
          </a:xfrm>
          <a:prstGeom prst="rect">
            <a:avLst/>
          </a:prstGeom>
          <a:noFill/>
        </p:spPr>
        <p:txBody>
          <a:bodyPr wrap="square" anchor="ctr" lIns="50800" rIns="50800">
            <a:spAutoFit/>
          </a:bodyPr>
          <a:lstStyle/>
          <a:p>
            <a:pPr algn="l"/>
            <a:r>
              <a:rPr sz="1900" b="0">
                <a:solidFill>
                  <a:srgbClr val="1B2430"/>
                </a:solidFill>
                <a:latin typeface="Calibri"/>
              </a:rPr>
              <a:t>Nazorat savollari</a:t>
            </a:r>
          </a:p>
        </p:txBody>
      </p:sp>
      <p:sp>
        <p:nvSpPr>
          <p:cNvPr id="38" name="Rounded Rectangle 37"/>
          <p:cNvSpPr/>
          <p:nvPr/>
        </p:nvSpPr>
        <p:spPr>
          <a:xfrm>
            <a:off x="550000" y="4849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0000" y="4849000"/>
            <a:ext cx="70000" cy="387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0000" y="48125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41" name="TextBox 40"/>
          <p:cNvSpPr txBox="1"/>
          <p:nvPr/>
        </p:nvSpPr>
        <p:spPr>
          <a:xfrm>
            <a:off x="1450000" y="4849000"/>
            <a:ext cx="10050000" cy="387000"/>
          </a:xfrm>
          <a:prstGeom prst="rect">
            <a:avLst/>
          </a:prstGeom>
          <a:noFill/>
        </p:spPr>
        <p:txBody>
          <a:bodyPr wrap="square" anchor="ctr" lIns="50800" rIns="50800">
            <a:spAutoFit/>
          </a:bodyPr>
          <a:lstStyle/>
          <a:p>
            <a:pPr algn="l"/>
            <a:r>
              <a:rPr sz="1900" b="0">
                <a:solidFill>
                  <a:srgbClr val="1B2430"/>
                </a:solidFill>
                <a:latin typeface="Calibri"/>
              </a:rPr>
              <a:t>Mustaqil ish uchun topshiriq</a:t>
            </a:r>
          </a:p>
        </p:txBody>
      </p:sp>
      <p:sp>
        <p:nvSpPr>
          <p:cNvPr id="42" name="Rounded Rectangle 41"/>
          <p:cNvSpPr/>
          <p:nvPr/>
        </p:nvSpPr>
        <p:spPr>
          <a:xfrm>
            <a:off x="550000" y="5356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50000" y="5356000"/>
            <a:ext cx="70000" cy="387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0000" y="53195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45" name="TextBox 44"/>
          <p:cNvSpPr txBox="1"/>
          <p:nvPr/>
        </p:nvSpPr>
        <p:spPr>
          <a:xfrm>
            <a:off x="1450000" y="5356000"/>
            <a:ext cx="10050000" cy="387000"/>
          </a:xfrm>
          <a:prstGeom prst="rect">
            <a:avLst/>
          </a:prstGeom>
          <a:noFill/>
        </p:spPr>
        <p:txBody>
          <a:bodyPr wrap="square" anchor="ctr" lIns="50800" rIns="50800">
            <a:spAutoFit/>
          </a:bodyPr>
          <a:lstStyle/>
          <a:p>
            <a:pPr algn="l"/>
            <a:r>
              <a:rPr sz="1900" b="0">
                <a:solidFill>
                  <a:srgbClr val="1B2430"/>
                </a:solidFill>
                <a:latin typeface="Calibri"/>
              </a:rPr>
              <a:t>Qo'shimcha topshiriqlar (10 ta)</a:t>
            </a:r>
          </a:p>
        </p:txBody>
      </p:sp>
      <p:sp>
        <p:nvSpPr>
          <p:cNvPr id="46" name="Rounded Rectangle 45"/>
          <p:cNvSpPr/>
          <p:nvPr/>
        </p:nvSpPr>
        <p:spPr>
          <a:xfrm>
            <a:off x="550000" y="5863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50000" y="5863000"/>
            <a:ext cx="70000" cy="387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00000" y="58265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49" name="TextBox 48"/>
          <p:cNvSpPr txBox="1"/>
          <p:nvPr/>
        </p:nvSpPr>
        <p:spPr>
          <a:xfrm>
            <a:off x="1450000" y="5863000"/>
            <a:ext cx="10050000" cy="387000"/>
          </a:xfrm>
          <a:prstGeom prst="rect">
            <a:avLst/>
          </a:prstGeom>
          <a:noFill/>
        </p:spPr>
        <p:txBody>
          <a:bodyPr wrap="square" anchor="ctr" lIns="50800" rIns="50800">
            <a:spAutoFit/>
          </a:bodyPr>
          <a:lstStyle/>
          <a:p>
            <a:pPr algn="l"/>
            <a:r>
              <a:rPr sz="1900" b="0">
                <a:solidFill>
                  <a:srgbClr val="1B2430"/>
                </a:solidFill>
                <a:latin typeface="Calibri"/>
              </a:rPr>
              <a:t>Foydalanilgan manbalar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par>
                          <p:cTn id="151" fill="hold">
                            <p:stCondLst>
                              <p:cond delay="1540"/>
                            </p:stCondLst>
                            <p:childTnLst>
                              <p:par>
                                <p:cTn id="152" presetID="42" presetClass="entr" presetSubtype="0" fill="hold" grpId="0" nodeType="afterEffect">
                                  <p:stCondLst>
                                    <p:cond delay="0"/>
                                  </p:stCondLst>
                                  <p:childTnLst>
                                    <p:set>
                                      <p:cBhvr>
                                        <p:cTn id="153" dur="1" fill="hold">
                                          <p:stCondLst>
                                            <p:cond delay="0"/>
                                          </p:stCondLst>
                                        </p:cTn>
                                        <p:tgtEl>
                                          <p:spTgt spid="34"/>
                                        </p:tgtEl>
                                        <p:attrNameLst>
                                          <p:attrName>style.visibility</p:attrName>
                                        </p:attrNameLst>
                                      </p:cBhvr>
                                      <p:to>
                                        <p:strVal val="visible"/>
                                      </p:to>
                                    </p:set>
                                    <p:animEffect transition="in" filter="fade">
                                      <p:cBhvr>
                                        <p:cTn id="154" dur="550"/>
                                        <p:tgtEl>
                                          <p:spTgt spid="34"/>
                                        </p:tgtEl>
                                      </p:cBhvr>
                                    </p:animEffect>
                                    <p:anim calcmode="lin" valueType="num">
                                      <p:cBhvr additive="base">
                                        <p:cTn id="155" dur="550" fill="hold"/>
                                        <p:tgtEl>
                                          <p:spTgt spid="34"/>
                                        </p:tgtEl>
                                        <p:attrNameLst>
                                          <p:attrName>ppt_x</p:attrName>
                                        </p:attrNameLst>
                                      </p:cBhvr>
                                      <p:tavLst>
                                        <p:tav tm="0">
                                          <p:val>
                                            <p:strVal val="#ppt_x"/>
                                          </p:val>
                                        </p:tav>
                                        <p:tav tm="100000">
                                          <p:val>
                                            <p:strVal val="#ppt_x"/>
                                          </p:val>
                                        </p:tav>
                                      </p:tavLst>
                                    </p:anim>
                                    <p:anim calcmode="lin" valueType="num">
                                      <p:cBhvr additive="base">
                                        <p:cTn id="156" dur="550" fill="hold"/>
                                        <p:tgtEl>
                                          <p:spTgt spid="34"/>
                                        </p:tgtEl>
                                        <p:attrNameLst>
                                          <p:attrName>ppt_y</p:attrName>
                                        </p:attrNameLst>
                                      </p:cBhvr>
                                      <p:tavLst>
                                        <p:tav tm="0">
                                          <p:val>
                                            <p:strVal val="#ppt_y+.08"/>
                                          </p:val>
                                        </p:tav>
                                        <p:tav tm="100000">
                                          <p:val>
                                            <p:strVal val="#ppt_y"/>
                                          </p:val>
                                        </p:tav>
                                      </p:tavLst>
                                    </p:anim>
                                  </p:childTnLst>
                                </p:cTn>
                              </p:par>
                            </p:childTnLst>
                          </p:cTn>
                        </p:par>
                        <p:par>
                          <p:cTn id="157" fill="hold">
                            <p:stCondLst>
                              <p:cond delay="1540"/>
                            </p:stCondLst>
                            <p:childTnLst>
                              <p:par>
                                <p:cTn id="158" presetID="42" presetClass="entr" presetSubtype="0" fill="hold" grpId="0" nodeType="after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fade">
                                      <p:cBhvr>
                                        <p:cTn id="160" dur="550"/>
                                        <p:tgtEl>
                                          <p:spTgt spid="35"/>
                                        </p:tgtEl>
                                      </p:cBhvr>
                                    </p:animEffect>
                                    <p:anim calcmode="lin" valueType="num">
                                      <p:cBhvr additive="base">
                                        <p:cTn id="161" dur="550" fill="hold"/>
                                        <p:tgtEl>
                                          <p:spTgt spid="35"/>
                                        </p:tgtEl>
                                        <p:attrNameLst>
                                          <p:attrName>ppt_x</p:attrName>
                                        </p:attrNameLst>
                                      </p:cBhvr>
                                      <p:tavLst>
                                        <p:tav tm="0">
                                          <p:val>
                                            <p:strVal val="#ppt_x"/>
                                          </p:val>
                                        </p:tav>
                                        <p:tav tm="100000">
                                          <p:val>
                                            <p:strVal val="#ppt_x"/>
                                          </p:val>
                                        </p:tav>
                                      </p:tavLst>
                                    </p:anim>
                                    <p:anim calcmode="lin" valueType="num">
                                      <p:cBhvr additive="base">
                                        <p:cTn id="162" dur="550" fill="hold"/>
                                        <p:tgtEl>
                                          <p:spTgt spid="35"/>
                                        </p:tgtEl>
                                        <p:attrNameLst>
                                          <p:attrName>ppt_y</p:attrName>
                                        </p:attrNameLst>
                                      </p:cBhvr>
                                      <p:tavLst>
                                        <p:tav tm="0">
                                          <p:val>
                                            <p:strVal val="#ppt_y+.08"/>
                                          </p:val>
                                        </p:tav>
                                        <p:tav tm="100000">
                                          <p:val>
                                            <p:strVal val="#ppt_y"/>
                                          </p:val>
                                        </p:tav>
                                      </p:tavLst>
                                    </p:anim>
                                  </p:childTnLst>
                                </p:cTn>
                              </p:par>
                            </p:childTnLst>
                          </p:cTn>
                        </p:par>
                        <p:par>
                          <p:cTn id="163" fill="hold">
                            <p:stCondLst>
                              <p:cond delay="1540"/>
                            </p:stCondLst>
                            <p:childTnLst>
                              <p:par>
                                <p:cTn id="164" presetID="53" presetClass="entr" presetSubtype="16" fill="hold" grpId="0" nodeType="afterEffect">
                                  <p:stCondLst>
                                    <p:cond delay="0"/>
                                  </p:stCondLst>
                                  <p:childTnLst>
                                    <p:set>
                                      <p:cBhvr>
                                        <p:cTn id="165" dur="1" fill="hold">
                                          <p:stCondLst>
                                            <p:cond delay="0"/>
                                          </p:stCondLst>
                                        </p:cTn>
                                        <p:tgtEl>
                                          <p:spTgt spid="36"/>
                                        </p:tgtEl>
                                        <p:attrNameLst>
                                          <p:attrName>style.visibility</p:attrName>
                                        </p:attrNameLst>
                                      </p:cBhvr>
                                      <p:to>
                                        <p:strVal val="visible"/>
                                      </p:to>
                                    </p:set>
                                    <p:animEffect transition="in" filter="fade">
                                      <p:cBhvr>
                                        <p:cTn id="166" dur="550"/>
                                        <p:tgtEl>
                                          <p:spTgt spid="36"/>
                                        </p:tgtEl>
                                      </p:cBhvr>
                                    </p:animEffect>
                                    <p:anim calcmode="lin" valueType="num">
                                      <p:cBhvr additive="base">
                                        <p:cTn id="167" dur="550" fill="hold"/>
                                        <p:tgtEl>
                                          <p:spTgt spid="36"/>
                                        </p:tgtEl>
                                        <p:attrNameLst>
                                          <p:attrName>ppt_w</p:attrName>
                                        </p:attrNameLst>
                                      </p:cBhvr>
                                      <p:tavLst>
                                        <p:tav tm="0">
                                          <p:val>
                                            <p:strVal val="0"/>
                                          </p:val>
                                        </p:tav>
                                        <p:tav tm="100000">
                                          <p:val>
                                            <p:strVal val="#ppt_w"/>
                                          </p:val>
                                        </p:tav>
                                      </p:tavLst>
                                    </p:anim>
                                    <p:anim calcmode="lin" valueType="num">
                                      <p:cBhvr additive="base">
                                        <p:cTn id="168" dur="550" fill="hold"/>
                                        <p:tgtEl>
                                          <p:spTgt spid="36"/>
                                        </p:tgtEl>
                                        <p:attrNameLst>
                                          <p:attrName>ppt_h</p:attrName>
                                        </p:attrNameLst>
                                      </p:cBhvr>
                                      <p:tavLst>
                                        <p:tav tm="0">
                                          <p:val>
                                            <p:strVal val="0"/>
                                          </p:val>
                                        </p:tav>
                                        <p:tav tm="100000">
                                          <p:val>
                                            <p:strVal val="#ppt_h"/>
                                          </p:val>
                                        </p:tav>
                                      </p:tavLst>
                                    </p:anim>
                                  </p:childTnLst>
                                </p:cTn>
                              </p:par>
                            </p:childTnLst>
                          </p:cTn>
                        </p:par>
                        <p:par>
                          <p:cTn id="169" fill="hold">
                            <p:stCondLst>
                              <p:cond delay="1540"/>
                            </p:stCondLst>
                            <p:childTnLst>
                              <p:par>
                                <p:cTn id="170" presetID="42" presetClass="entr" presetSubtype="0" fill="hold" grpId="0" nodeType="after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50"/>
                                        <p:tgtEl>
                                          <p:spTgt spid="37"/>
                                        </p:tgtEl>
                                      </p:cBhvr>
                                    </p:animEffect>
                                    <p:anim calcmode="lin" valueType="num">
                                      <p:cBhvr additive="base">
                                        <p:cTn id="173" dur="550" fill="hold"/>
                                        <p:tgtEl>
                                          <p:spTgt spid="37"/>
                                        </p:tgtEl>
                                        <p:attrNameLst>
                                          <p:attrName>ppt_x</p:attrName>
                                        </p:attrNameLst>
                                      </p:cBhvr>
                                      <p:tavLst>
                                        <p:tav tm="0">
                                          <p:val>
                                            <p:strVal val="#ppt_x"/>
                                          </p:val>
                                        </p:tav>
                                        <p:tav tm="100000">
                                          <p:val>
                                            <p:strVal val="#ppt_x"/>
                                          </p:val>
                                        </p:tav>
                                      </p:tavLst>
                                    </p:anim>
                                    <p:anim calcmode="lin" valueType="num">
                                      <p:cBhvr additive="base">
                                        <p:cTn id="174" dur="550" fill="hold"/>
                                        <p:tgtEl>
                                          <p:spTgt spid="37"/>
                                        </p:tgtEl>
                                        <p:attrNameLst>
                                          <p:attrName>ppt_y</p:attrName>
                                        </p:attrNameLst>
                                      </p:cBhvr>
                                      <p:tavLst>
                                        <p:tav tm="0">
                                          <p:val>
                                            <p:strVal val="#ppt_y+.08"/>
                                          </p:val>
                                        </p:tav>
                                        <p:tav tm="100000">
                                          <p:val>
                                            <p:strVal val="#ppt_y"/>
                                          </p:val>
                                        </p:tav>
                                      </p:tavLst>
                                    </p:anim>
                                  </p:childTnLst>
                                </p:cTn>
                              </p:par>
                            </p:childTnLst>
                          </p:cTn>
                        </p:par>
                        <p:par>
                          <p:cTn id="175" fill="hold">
                            <p:stCondLst>
                              <p:cond delay="1760"/>
                            </p:stCondLst>
                            <p:childTnLst>
                              <p:par>
                                <p:cTn id="176" presetID="42" presetClass="entr" presetSubtype="0" fill="hold" grpId="0" nodeType="afterEffect">
                                  <p:stCondLst>
                                    <p:cond delay="0"/>
                                  </p:stCondLst>
                                  <p:childTnLst>
                                    <p:set>
                                      <p:cBhvr>
                                        <p:cTn id="177" dur="1" fill="hold">
                                          <p:stCondLst>
                                            <p:cond delay="0"/>
                                          </p:stCondLst>
                                        </p:cTn>
                                        <p:tgtEl>
                                          <p:spTgt spid="38"/>
                                        </p:tgtEl>
                                        <p:attrNameLst>
                                          <p:attrName>style.visibility</p:attrName>
                                        </p:attrNameLst>
                                      </p:cBhvr>
                                      <p:to>
                                        <p:strVal val="visible"/>
                                      </p:to>
                                    </p:set>
                                    <p:animEffect transition="in" filter="fade">
                                      <p:cBhvr>
                                        <p:cTn id="178" dur="550"/>
                                        <p:tgtEl>
                                          <p:spTgt spid="38"/>
                                        </p:tgtEl>
                                      </p:cBhvr>
                                    </p:animEffect>
                                    <p:anim calcmode="lin" valueType="num">
                                      <p:cBhvr additive="base">
                                        <p:cTn id="179" dur="550" fill="hold"/>
                                        <p:tgtEl>
                                          <p:spTgt spid="38"/>
                                        </p:tgtEl>
                                        <p:attrNameLst>
                                          <p:attrName>ppt_x</p:attrName>
                                        </p:attrNameLst>
                                      </p:cBhvr>
                                      <p:tavLst>
                                        <p:tav tm="0">
                                          <p:val>
                                            <p:strVal val="#ppt_x"/>
                                          </p:val>
                                        </p:tav>
                                        <p:tav tm="100000">
                                          <p:val>
                                            <p:strVal val="#ppt_x"/>
                                          </p:val>
                                        </p:tav>
                                      </p:tavLst>
                                    </p:anim>
                                    <p:anim calcmode="lin" valueType="num">
                                      <p:cBhvr additive="base">
                                        <p:cTn id="180" dur="550" fill="hold"/>
                                        <p:tgtEl>
                                          <p:spTgt spid="38"/>
                                        </p:tgtEl>
                                        <p:attrNameLst>
                                          <p:attrName>ppt_y</p:attrName>
                                        </p:attrNameLst>
                                      </p:cBhvr>
                                      <p:tavLst>
                                        <p:tav tm="0">
                                          <p:val>
                                            <p:strVal val="#ppt_y+.08"/>
                                          </p:val>
                                        </p:tav>
                                        <p:tav tm="100000">
                                          <p:val>
                                            <p:strVal val="#ppt_y"/>
                                          </p:val>
                                        </p:tav>
                                      </p:tavLst>
                                    </p:anim>
                                  </p:childTnLst>
                                </p:cTn>
                              </p:par>
                            </p:childTnLst>
                          </p:cTn>
                        </p:par>
                        <p:par>
                          <p:cTn id="181" fill="hold">
                            <p:stCondLst>
                              <p:cond delay="1760"/>
                            </p:stCondLst>
                            <p:childTnLst>
                              <p:par>
                                <p:cTn id="182" presetID="42" presetClass="entr" presetSubtype="0" fill="hold" grpId="0" nodeType="afterEffect">
                                  <p:stCondLst>
                                    <p:cond delay="0"/>
                                  </p:stCondLst>
                                  <p:childTnLst>
                                    <p:set>
                                      <p:cBhvr>
                                        <p:cTn id="183" dur="1" fill="hold">
                                          <p:stCondLst>
                                            <p:cond delay="0"/>
                                          </p:stCondLst>
                                        </p:cTn>
                                        <p:tgtEl>
                                          <p:spTgt spid="39"/>
                                        </p:tgtEl>
                                        <p:attrNameLst>
                                          <p:attrName>style.visibility</p:attrName>
                                        </p:attrNameLst>
                                      </p:cBhvr>
                                      <p:to>
                                        <p:strVal val="visible"/>
                                      </p:to>
                                    </p:set>
                                    <p:animEffect transition="in" filter="fade">
                                      <p:cBhvr>
                                        <p:cTn id="184" dur="550"/>
                                        <p:tgtEl>
                                          <p:spTgt spid="39"/>
                                        </p:tgtEl>
                                      </p:cBhvr>
                                    </p:animEffect>
                                    <p:anim calcmode="lin" valueType="num">
                                      <p:cBhvr additive="base">
                                        <p:cTn id="185" dur="550" fill="hold"/>
                                        <p:tgtEl>
                                          <p:spTgt spid="39"/>
                                        </p:tgtEl>
                                        <p:attrNameLst>
                                          <p:attrName>ppt_x</p:attrName>
                                        </p:attrNameLst>
                                      </p:cBhvr>
                                      <p:tavLst>
                                        <p:tav tm="0">
                                          <p:val>
                                            <p:strVal val="#ppt_x"/>
                                          </p:val>
                                        </p:tav>
                                        <p:tav tm="100000">
                                          <p:val>
                                            <p:strVal val="#ppt_x"/>
                                          </p:val>
                                        </p:tav>
                                      </p:tavLst>
                                    </p:anim>
                                    <p:anim calcmode="lin" valueType="num">
                                      <p:cBhvr additive="base">
                                        <p:cTn id="186" dur="550" fill="hold"/>
                                        <p:tgtEl>
                                          <p:spTgt spid="39"/>
                                        </p:tgtEl>
                                        <p:attrNameLst>
                                          <p:attrName>ppt_y</p:attrName>
                                        </p:attrNameLst>
                                      </p:cBhvr>
                                      <p:tavLst>
                                        <p:tav tm="0">
                                          <p:val>
                                            <p:strVal val="#ppt_y+.08"/>
                                          </p:val>
                                        </p:tav>
                                        <p:tav tm="100000">
                                          <p:val>
                                            <p:strVal val="#ppt_y"/>
                                          </p:val>
                                        </p:tav>
                                      </p:tavLst>
                                    </p:anim>
                                  </p:childTnLst>
                                </p:cTn>
                              </p:par>
                            </p:childTnLst>
                          </p:cTn>
                        </p:par>
                        <p:par>
                          <p:cTn id="187" fill="hold">
                            <p:stCondLst>
                              <p:cond delay="1760"/>
                            </p:stCondLst>
                            <p:childTnLst>
                              <p:par>
                                <p:cTn id="188" presetID="53" presetClass="entr" presetSubtype="16" fill="hold" grpId="0" nodeType="afterEffect">
                                  <p:stCondLst>
                                    <p:cond delay="0"/>
                                  </p:stCondLst>
                                  <p:childTnLst>
                                    <p:set>
                                      <p:cBhvr>
                                        <p:cTn id="189" dur="1" fill="hold">
                                          <p:stCondLst>
                                            <p:cond delay="0"/>
                                          </p:stCondLst>
                                        </p:cTn>
                                        <p:tgtEl>
                                          <p:spTgt spid="40"/>
                                        </p:tgtEl>
                                        <p:attrNameLst>
                                          <p:attrName>style.visibility</p:attrName>
                                        </p:attrNameLst>
                                      </p:cBhvr>
                                      <p:to>
                                        <p:strVal val="visible"/>
                                      </p:to>
                                    </p:set>
                                    <p:animEffect transition="in" filter="fade">
                                      <p:cBhvr>
                                        <p:cTn id="190" dur="550"/>
                                        <p:tgtEl>
                                          <p:spTgt spid="40"/>
                                        </p:tgtEl>
                                      </p:cBhvr>
                                    </p:animEffect>
                                    <p:anim calcmode="lin" valueType="num">
                                      <p:cBhvr additive="base">
                                        <p:cTn id="191" dur="550" fill="hold"/>
                                        <p:tgtEl>
                                          <p:spTgt spid="40"/>
                                        </p:tgtEl>
                                        <p:attrNameLst>
                                          <p:attrName>ppt_w</p:attrName>
                                        </p:attrNameLst>
                                      </p:cBhvr>
                                      <p:tavLst>
                                        <p:tav tm="0">
                                          <p:val>
                                            <p:strVal val="0"/>
                                          </p:val>
                                        </p:tav>
                                        <p:tav tm="100000">
                                          <p:val>
                                            <p:strVal val="#ppt_w"/>
                                          </p:val>
                                        </p:tav>
                                      </p:tavLst>
                                    </p:anim>
                                    <p:anim calcmode="lin" valueType="num">
                                      <p:cBhvr additive="base">
                                        <p:cTn id="192" dur="550" fill="hold"/>
                                        <p:tgtEl>
                                          <p:spTgt spid="40"/>
                                        </p:tgtEl>
                                        <p:attrNameLst>
                                          <p:attrName>ppt_h</p:attrName>
                                        </p:attrNameLst>
                                      </p:cBhvr>
                                      <p:tavLst>
                                        <p:tav tm="0">
                                          <p:val>
                                            <p:strVal val="0"/>
                                          </p:val>
                                        </p:tav>
                                        <p:tav tm="100000">
                                          <p:val>
                                            <p:strVal val="#ppt_h"/>
                                          </p:val>
                                        </p:tav>
                                      </p:tavLst>
                                    </p:anim>
                                  </p:childTnLst>
                                </p:cTn>
                              </p:par>
                            </p:childTnLst>
                          </p:cTn>
                        </p:par>
                        <p:par>
                          <p:cTn id="193" fill="hold">
                            <p:stCondLst>
                              <p:cond delay="1760"/>
                            </p:stCondLst>
                            <p:childTnLst>
                              <p:par>
                                <p:cTn id="194" presetID="42" presetClass="entr" presetSubtype="0" fill="hold" grpId="0" nodeType="afterEffect">
                                  <p:stCondLst>
                                    <p:cond delay="0"/>
                                  </p:stCondLst>
                                  <p:childTnLst>
                                    <p:set>
                                      <p:cBhvr>
                                        <p:cTn id="195" dur="1" fill="hold">
                                          <p:stCondLst>
                                            <p:cond delay="0"/>
                                          </p:stCondLst>
                                        </p:cTn>
                                        <p:tgtEl>
                                          <p:spTgt spid="41"/>
                                        </p:tgtEl>
                                        <p:attrNameLst>
                                          <p:attrName>style.visibility</p:attrName>
                                        </p:attrNameLst>
                                      </p:cBhvr>
                                      <p:to>
                                        <p:strVal val="visible"/>
                                      </p:to>
                                    </p:set>
                                    <p:animEffect transition="in" filter="fade">
                                      <p:cBhvr>
                                        <p:cTn id="196" dur="550"/>
                                        <p:tgtEl>
                                          <p:spTgt spid="41"/>
                                        </p:tgtEl>
                                      </p:cBhvr>
                                    </p:animEffect>
                                    <p:anim calcmode="lin" valueType="num">
                                      <p:cBhvr additive="base">
                                        <p:cTn id="197" dur="550" fill="hold"/>
                                        <p:tgtEl>
                                          <p:spTgt spid="41"/>
                                        </p:tgtEl>
                                        <p:attrNameLst>
                                          <p:attrName>ppt_x</p:attrName>
                                        </p:attrNameLst>
                                      </p:cBhvr>
                                      <p:tavLst>
                                        <p:tav tm="0">
                                          <p:val>
                                            <p:strVal val="#ppt_x"/>
                                          </p:val>
                                        </p:tav>
                                        <p:tav tm="100000">
                                          <p:val>
                                            <p:strVal val="#ppt_x"/>
                                          </p:val>
                                        </p:tav>
                                      </p:tavLst>
                                    </p:anim>
                                    <p:anim calcmode="lin" valueType="num">
                                      <p:cBhvr additive="base">
                                        <p:cTn id="198" dur="550" fill="hold"/>
                                        <p:tgtEl>
                                          <p:spTgt spid="41"/>
                                        </p:tgtEl>
                                        <p:attrNameLst>
                                          <p:attrName>ppt_y</p:attrName>
                                        </p:attrNameLst>
                                      </p:cBhvr>
                                      <p:tavLst>
                                        <p:tav tm="0">
                                          <p:val>
                                            <p:strVal val="#ppt_y+.08"/>
                                          </p:val>
                                        </p:tav>
                                        <p:tav tm="100000">
                                          <p:val>
                                            <p:strVal val="#ppt_y"/>
                                          </p:val>
                                        </p:tav>
                                      </p:tavLst>
                                    </p:anim>
                                  </p:childTnLst>
                                </p:cTn>
                              </p:par>
                            </p:childTnLst>
                          </p:cTn>
                        </p:par>
                        <p:par>
                          <p:cTn id="199" fill="hold">
                            <p:stCondLst>
                              <p:cond delay="1980"/>
                            </p:stCondLst>
                            <p:childTnLst>
                              <p:par>
                                <p:cTn id="200" presetID="42" presetClass="entr" presetSubtype="0" fill="hold" grpId="0" nodeType="afterEffect">
                                  <p:stCondLst>
                                    <p:cond delay="0"/>
                                  </p:stCondLst>
                                  <p:childTnLst>
                                    <p:set>
                                      <p:cBhvr>
                                        <p:cTn id="201" dur="1" fill="hold">
                                          <p:stCondLst>
                                            <p:cond delay="0"/>
                                          </p:stCondLst>
                                        </p:cTn>
                                        <p:tgtEl>
                                          <p:spTgt spid="42"/>
                                        </p:tgtEl>
                                        <p:attrNameLst>
                                          <p:attrName>style.visibility</p:attrName>
                                        </p:attrNameLst>
                                      </p:cBhvr>
                                      <p:to>
                                        <p:strVal val="visible"/>
                                      </p:to>
                                    </p:set>
                                    <p:animEffect transition="in" filter="fade">
                                      <p:cBhvr>
                                        <p:cTn id="202" dur="550"/>
                                        <p:tgtEl>
                                          <p:spTgt spid="42"/>
                                        </p:tgtEl>
                                      </p:cBhvr>
                                    </p:animEffect>
                                    <p:anim calcmode="lin" valueType="num">
                                      <p:cBhvr additive="base">
                                        <p:cTn id="203" dur="550" fill="hold"/>
                                        <p:tgtEl>
                                          <p:spTgt spid="42"/>
                                        </p:tgtEl>
                                        <p:attrNameLst>
                                          <p:attrName>ppt_x</p:attrName>
                                        </p:attrNameLst>
                                      </p:cBhvr>
                                      <p:tavLst>
                                        <p:tav tm="0">
                                          <p:val>
                                            <p:strVal val="#ppt_x"/>
                                          </p:val>
                                        </p:tav>
                                        <p:tav tm="100000">
                                          <p:val>
                                            <p:strVal val="#ppt_x"/>
                                          </p:val>
                                        </p:tav>
                                      </p:tavLst>
                                    </p:anim>
                                    <p:anim calcmode="lin" valueType="num">
                                      <p:cBhvr additive="base">
                                        <p:cTn id="204" dur="550" fill="hold"/>
                                        <p:tgtEl>
                                          <p:spTgt spid="42"/>
                                        </p:tgtEl>
                                        <p:attrNameLst>
                                          <p:attrName>ppt_y</p:attrName>
                                        </p:attrNameLst>
                                      </p:cBhvr>
                                      <p:tavLst>
                                        <p:tav tm="0">
                                          <p:val>
                                            <p:strVal val="#ppt_y+.08"/>
                                          </p:val>
                                        </p:tav>
                                        <p:tav tm="100000">
                                          <p:val>
                                            <p:strVal val="#ppt_y"/>
                                          </p:val>
                                        </p:tav>
                                      </p:tavLst>
                                    </p:anim>
                                  </p:childTnLst>
                                </p:cTn>
                              </p:par>
                            </p:childTnLst>
                          </p:cTn>
                        </p:par>
                        <p:par>
                          <p:cTn id="205" fill="hold">
                            <p:stCondLst>
                              <p:cond delay="1980"/>
                            </p:stCondLst>
                            <p:childTnLst>
                              <p:par>
                                <p:cTn id="206" presetID="42" presetClass="entr" presetSubtype="0" fill="hold" grpId="0" nodeType="afterEffect">
                                  <p:stCondLst>
                                    <p:cond delay="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550"/>
                                        <p:tgtEl>
                                          <p:spTgt spid="43"/>
                                        </p:tgtEl>
                                      </p:cBhvr>
                                    </p:animEffect>
                                    <p:anim calcmode="lin" valueType="num">
                                      <p:cBhvr additive="base">
                                        <p:cTn id="209" dur="550" fill="hold"/>
                                        <p:tgtEl>
                                          <p:spTgt spid="43"/>
                                        </p:tgtEl>
                                        <p:attrNameLst>
                                          <p:attrName>ppt_x</p:attrName>
                                        </p:attrNameLst>
                                      </p:cBhvr>
                                      <p:tavLst>
                                        <p:tav tm="0">
                                          <p:val>
                                            <p:strVal val="#ppt_x"/>
                                          </p:val>
                                        </p:tav>
                                        <p:tav tm="100000">
                                          <p:val>
                                            <p:strVal val="#ppt_x"/>
                                          </p:val>
                                        </p:tav>
                                      </p:tavLst>
                                    </p:anim>
                                    <p:anim calcmode="lin" valueType="num">
                                      <p:cBhvr additive="base">
                                        <p:cTn id="210" dur="550" fill="hold"/>
                                        <p:tgtEl>
                                          <p:spTgt spid="43"/>
                                        </p:tgtEl>
                                        <p:attrNameLst>
                                          <p:attrName>ppt_y</p:attrName>
                                        </p:attrNameLst>
                                      </p:cBhvr>
                                      <p:tavLst>
                                        <p:tav tm="0">
                                          <p:val>
                                            <p:strVal val="#ppt_y+.08"/>
                                          </p:val>
                                        </p:tav>
                                        <p:tav tm="100000">
                                          <p:val>
                                            <p:strVal val="#ppt_y"/>
                                          </p:val>
                                        </p:tav>
                                      </p:tavLst>
                                    </p:anim>
                                  </p:childTnLst>
                                </p:cTn>
                              </p:par>
                            </p:childTnLst>
                          </p:cTn>
                        </p:par>
                        <p:par>
                          <p:cTn id="211" fill="hold">
                            <p:stCondLst>
                              <p:cond delay="1980"/>
                            </p:stCondLst>
                            <p:childTnLst>
                              <p:par>
                                <p:cTn id="212" presetID="53" presetClass="entr" presetSubtype="16" fill="hold" grpId="0" nodeType="afterEffect">
                                  <p:stCondLst>
                                    <p:cond delay="0"/>
                                  </p:stCondLst>
                                  <p:childTnLst>
                                    <p:set>
                                      <p:cBhvr>
                                        <p:cTn id="213" dur="1" fill="hold">
                                          <p:stCondLst>
                                            <p:cond delay="0"/>
                                          </p:stCondLst>
                                        </p:cTn>
                                        <p:tgtEl>
                                          <p:spTgt spid="44"/>
                                        </p:tgtEl>
                                        <p:attrNameLst>
                                          <p:attrName>style.visibility</p:attrName>
                                        </p:attrNameLst>
                                      </p:cBhvr>
                                      <p:to>
                                        <p:strVal val="visible"/>
                                      </p:to>
                                    </p:set>
                                    <p:animEffect transition="in" filter="fade">
                                      <p:cBhvr>
                                        <p:cTn id="214" dur="550"/>
                                        <p:tgtEl>
                                          <p:spTgt spid="44"/>
                                        </p:tgtEl>
                                      </p:cBhvr>
                                    </p:animEffect>
                                    <p:anim calcmode="lin" valueType="num">
                                      <p:cBhvr additive="base">
                                        <p:cTn id="215" dur="550" fill="hold"/>
                                        <p:tgtEl>
                                          <p:spTgt spid="44"/>
                                        </p:tgtEl>
                                        <p:attrNameLst>
                                          <p:attrName>ppt_w</p:attrName>
                                        </p:attrNameLst>
                                      </p:cBhvr>
                                      <p:tavLst>
                                        <p:tav tm="0">
                                          <p:val>
                                            <p:strVal val="0"/>
                                          </p:val>
                                        </p:tav>
                                        <p:tav tm="100000">
                                          <p:val>
                                            <p:strVal val="#ppt_w"/>
                                          </p:val>
                                        </p:tav>
                                      </p:tavLst>
                                    </p:anim>
                                    <p:anim calcmode="lin" valueType="num">
                                      <p:cBhvr additive="base">
                                        <p:cTn id="216" dur="550" fill="hold"/>
                                        <p:tgtEl>
                                          <p:spTgt spid="44"/>
                                        </p:tgtEl>
                                        <p:attrNameLst>
                                          <p:attrName>ppt_h</p:attrName>
                                        </p:attrNameLst>
                                      </p:cBhvr>
                                      <p:tavLst>
                                        <p:tav tm="0">
                                          <p:val>
                                            <p:strVal val="0"/>
                                          </p:val>
                                        </p:tav>
                                        <p:tav tm="100000">
                                          <p:val>
                                            <p:strVal val="#ppt_h"/>
                                          </p:val>
                                        </p:tav>
                                      </p:tavLst>
                                    </p:anim>
                                  </p:childTnLst>
                                </p:cTn>
                              </p:par>
                            </p:childTnLst>
                          </p:cTn>
                        </p:par>
                        <p:par>
                          <p:cTn id="217" fill="hold">
                            <p:stCondLst>
                              <p:cond delay="1980"/>
                            </p:stCondLst>
                            <p:childTnLst>
                              <p:par>
                                <p:cTn id="218" presetID="42" presetClass="entr" presetSubtype="0" fill="hold" grpId="0" nodeType="afterEffect">
                                  <p:stCondLst>
                                    <p:cond delay="0"/>
                                  </p:stCondLst>
                                  <p:childTnLst>
                                    <p:set>
                                      <p:cBhvr>
                                        <p:cTn id="219" dur="1" fill="hold">
                                          <p:stCondLst>
                                            <p:cond delay="0"/>
                                          </p:stCondLst>
                                        </p:cTn>
                                        <p:tgtEl>
                                          <p:spTgt spid="45"/>
                                        </p:tgtEl>
                                        <p:attrNameLst>
                                          <p:attrName>style.visibility</p:attrName>
                                        </p:attrNameLst>
                                      </p:cBhvr>
                                      <p:to>
                                        <p:strVal val="visible"/>
                                      </p:to>
                                    </p:set>
                                    <p:animEffect transition="in" filter="fade">
                                      <p:cBhvr>
                                        <p:cTn id="220" dur="550"/>
                                        <p:tgtEl>
                                          <p:spTgt spid="45"/>
                                        </p:tgtEl>
                                      </p:cBhvr>
                                    </p:animEffect>
                                    <p:anim calcmode="lin" valueType="num">
                                      <p:cBhvr additive="base">
                                        <p:cTn id="221" dur="550" fill="hold"/>
                                        <p:tgtEl>
                                          <p:spTgt spid="45"/>
                                        </p:tgtEl>
                                        <p:attrNameLst>
                                          <p:attrName>ppt_x</p:attrName>
                                        </p:attrNameLst>
                                      </p:cBhvr>
                                      <p:tavLst>
                                        <p:tav tm="0">
                                          <p:val>
                                            <p:strVal val="#ppt_x"/>
                                          </p:val>
                                        </p:tav>
                                        <p:tav tm="100000">
                                          <p:val>
                                            <p:strVal val="#ppt_x"/>
                                          </p:val>
                                        </p:tav>
                                      </p:tavLst>
                                    </p:anim>
                                    <p:anim calcmode="lin" valueType="num">
                                      <p:cBhvr additive="base">
                                        <p:cTn id="222" dur="550" fill="hold"/>
                                        <p:tgtEl>
                                          <p:spTgt spid="45"/>
                                        </p:tgtEl>
                                        <p:attrNameLst>
                                          <p:attrName>ppt_y</p:attrName>
                                        </p:attrNameLst>
                                      </p:cBhvr>
                                      <p:tavLst>
                                        <p:tav tm="0">
                                          <p:val>
                                            <p:strVal val="#ppt_y+.08"/>
                                          </p:val>
                                        </p:tav>
                                        <p:tav tm="100000">
                                          <p:val>
                                            <p:strVal val="#ppt_y"/>
                                          </p:val>
                                        </p:tav>
                                      </p:tavLst>
                                    </p:anim>
                                  </p:childTnLst>
                                </p:cTn>
                              </p:par>
                            </p:childTnLst>
                          </p:cTn>
                        </p:par>
                        <p:par>
                          <p:cTn id="223" fill="hold">
                            <p:stCondLst>
                              <p:cond delay="2200"/>
                            </p:stCondLst>
                            <p:childTnLst>
                              <p:par>
                                <p:cTn id="224" presetID="42" presetClass="entr" presetSubtype="0" fill="hold" grpId="0" nodeType="afterEffect">
                                  <p:stCondLst>
                                    <p:cond delay="0"/>
                                  </p:stCondLst>
                                  <p:childTnLst>
                                    <p:set>
                                      <p:cBhvr>
                                        <p:cTn id="225" dur="1" fill="hold">
                                          <p:stCondLst>
                                            <p:cond delay="0"/>
                                          </p:stCondLst>
                                        </p:cTn>
                                        <p:tgtEl>
                                          <p:spTgt spid="46"/>
                                        </p:tgtEl>
                                        <p:attrNameLst>
                                          <p:attrName>style.visibility</p:attrName>
                                        </p:attrNameLst>
                                      </p:cBhvr>
                                      <p:to>
                                        <p:strVal val="visible"/>
                                      </p:to>
                                    </p:set>
                                    <p:animEffect transition="in" filter="fade">
                                      <p:cBhvr>
                                        <p:cTn id="226" dur="550"/>
                                        <p:tgtEl>
                                          <p:spTgt spid="46"/>
                                        </p:tgtEl>
                                      </p:cBhvr>
                                    </p:animEffect>
                                    <p:anim calcmode="lin" valueType="num">
                                      <p:cBhvr additive="base">
                                        <p:cTn id="227" dur="550" fill="hold"/>
                                        <p:tgtEl>
                                          <p:spTgt spid="46"/>
                                        </p:tgtEl>
                                        <p:attrNameLst>
                                          <p:attrName>ppt_x</p:attrName>
                                        </p:attrNameLst>
                                      </p:cBhvr>
                                      <p:tavLst>
                                        <p:tav tm="0">
                                          <p:val>
                                            <p:strVal val="#ppt_x"/>
                                          </p:val>
                                        </p:tav>
                                        <p:tav tm="100000">
                                          <p:val>
                                            <p:strVal val="#ppt_x"/>
                                          </p:val>
                                        </p:tav>
                                      </p:tavLst>
                                    </p:anim>
                                    <p:anim calcmode="lin" valueType="num">
                                      <p:cBhvr additive="base">
                                        <p:cTn id="228" dur="550" fill="hold"/>
                                        <p:tgtEl>
                                          <p:spTgt spid="46"/>
                                        </p:tgtEl>
                                        <p:attrNameLst>
                                          <p:attrName>ppt_y</p:attrName>
                                        </p:attrNameLst>
                                      </p:cBhvr>
                                      <p:tavLst>
                                        <p:tav tm="0">
                                          <p:val>
                                            <p:strVal val="#ppt_y+.08"/>
                                          </p:val>
                                        </p:tav>
                                        <p:tav tm="100000">
                                          <p:val>
                                            <p:strVal val="#ppt_y"/>
                                          </p:val>
                                        </p:tav>
                                      </p:tavLst>
                                    </p:anim>
                                  </p:childTnLst>
                                </p:cTn>
                              </p:par>
                            </p:childTnLst>
                          </p:cTn>
                        </p:par>
                        <p:par>
                          <p:cTn id="229" fill="hold">
                            <p:stCondLst>
                              <p:cond delay="2200"/>
                            </p:stCondLst>
                            <p:childTnLst>
                              <p:par>
                                <p:cTn id="230" presetID="42" presetClass="entr" presetSubtype="0" fill="hold" grpId="0" nodeType="afterEffect">
                                  <p:stCondLst>
                                    <p:cond delay="0"/>
                                  </p:stCondLst>
                                  <p:childTnLst>
                                    <p:set>
                                      <p:cBhvr>
                                        <p:cTn id="231" dur="1" fill="hold">
                                          <p:stCondLst>
                                            <p:cond delay="0"/>
                                          </p:stCondLst>
                                        </p:cTn>
                                        <p:tgtEl>
                                          <p:spTgt spid="47"/>
                                        </p:tgtEl>
                                        <p:attrNameLst>
                                          <p:attrName>style.visibility</p:attrName>
                                        </p:attrNameLst>
                                      </p:cBhvr>
                                      <p:to>
                                        <p:strVal val="visible"/>
                                      </p:to>
                                    </p:set>
                                    <p:animEffect transition="in" filter="fade">
                                      <p:cBhvr>
                                        <p:cTn id="232" dur="550"/>
                                        <p:tgtEl>
                                          <p:spTgt spid="47"/>
                                        </p:tgtEl>
                                      </p:cBhvr>
                                    </p:animEffect>
                                    <p:anim calcmode="lin" valueType="num">
                                      <p:cBhvr additive="base">
                                        <p:cTn id="233" dur="550" fill="hold"/>
                                        <p:tgtEl>
                                          <p:spTgt spid="47"/>
                                        </p:tgtEl>
                                        <p:attrNameLst>
                                          <p:attrName>ppt_x</p:attrName>
                                        </p:attrNameLst>
                                      </p:cBhvr>
                                      <p:tavLst>
                                        <p:tav tm="0">
                                          <p:val>
                                            <p:strVal val="#ppt_x"/>
                                          </p:val>
                                        </p:tav>
                                        <p:tav tm="100000">
                                          <p:val>
                                            <p:strVal val="#ppt_x"/>
                                          </p:val>
                                        </p:tav>
                                      </p:tavLst>
                                    </p:anim>
                                    <p:anim calcmode="lin" valueType="num">
                                      <p:cBhvr additive="base">
                                        <p:cTn id="234" dur="550" fill="hold"/>
                                        <p:tgtEl>
                                          <p:spTgt spid="47"/>
                                        </p:tgtEl>
                                        <p:attrNameLst>
                                          <p:attrName>ppt_y</p:attrName>
                                        </p:attrNameLst>
                                      </p:cBhvr>
                                      <p:tavLst>
                                        <p:tav tm="0">
                                          <p:val>
                                            <p:strVal val="#ppt_y+.08"/>
                                          </p:val>
                                        </p:tav>
                                        <p:tav tm="100000">
                                          <p:val>
                                            <p:strVal val="#ppt_y"/>
                                          </p:val>
                                        </p:tav>
                                      </p:tavLst>
                                    </p:anim>
                                  </p:childTnLst>
                                </p:cTn>
                              </p:par>
                            </p:childTnLst>
                          </p:cTn>
                        </p:par>
                        <p:par>
                          <p:cTn id="235" fill="hold">
                            <p:stCondLst>
                              <p:cond delay="2200"/>
                            </p:stCondLst>
                            <p:childTnLst>
                              <p:par>
                                <p:cTn id="236" presetID="53" presetClass="entr" presetSubtype="16" fill="hold" grpId="0" nodeType="afterEffect">
                                  <p:stCondLst>
                                    <p:cond delay="0"/>
                                  </p:stCondLst>
                                  <p:childTnLst>
                                    <p:set>
                                      <p:cBhvr>
                                        <p:cTn id="237" dur="1" fill="hold">
                                          <p:stCondLst>
                                            <p:cond delay="0"/>
                                          </p:stCondLst>
                                        </p:cTn>
                                        <p:tgtEl>
                                          <p:spTgt spid="48"/>
                                        </p:tgtEl>
                                        <p:attrNameLst>
                                          <p:attrName>style.visibility</p:attrName>
                                        </p:attrNameLst>
                                      </p:cBhvr>
                                      <p:to>
                                        <p:strVal val="visible"/>
                                      </p:to>
                                    </p:set>
                                    <p:animEffect transition="in" filter="fade">
                                      <p:cBhvr>
                                        <p:cTn id="238" dur="550"/>
                                        <p:tgtEl>
                                          <p:spTgt spid="48"/>
                                        </p:tgtEl>
                                      </p:cBhvr>
                                    </p:animEffect>
                                    <p:anim calcmode="lin" valueType="num">
                                      <p:cBhvr additive="base">
                                        <p:cTn id="239" dur="550" fill="hold"/>
                                        <p:tgtEl>
                                          <p:spTgt spid="48"/>
                                        </p:tgtEl>
                                        <p:attrNameLst>
                                          <p:attrName>ppt_w</p:attrName>
                                        </p:attrNameLst>
                                      </p:cBhvr>
                                      <p:tavLst>
                                        <p:tav tm="0">
                                          <p:val>
                                            <p:strVal val="0"/>
                                          </p:val>
                                        </p:tav>
                                        <p:tav tm="100000">
                                          <p:val>
                                            <p:strVal val="#ppt_w"/>
                                          </p:val>
                                        </p:tav>
                                      </p:tavLst>
                                    </p:anim>
                                    <p:anim calcmode="lin" valueType="num">
                                      <p:cBhvr additive="base">
                                        <p:cTn id="240" dur="550" fill="hold"/>
                                        <p:tgtEl>
                                          <p:spTgt spid="48"/>
                                        </p:tgtEl>
                                        <p:attrNameLst>
                                          <p:attrName>ppt_h</p:attrName>
                                        </p:attrNameLst>
                                      </p:cBhvr>
                                      <p:tavLst>
                                        <p:tav tm="0">
                                          <p:val>
                                            <p:strVal val="0"/>
                                          </p:val>
                                        </p:tav>
                                        <p:tav tm="100000">
                                          <p:val>
                                            <p:strVal val="#ppt_h"/>
                                          </p:val>
                                        </p:tav>
                                      </p:tavLst>
                                    </p:anim>
                                  </p:childTnLst>
                                </p:cTn>
                              </p:par>
                            </p:childTnLst>
                          </p:cTn>
                        </p:par>
                        <p:par>
                          <p:cTn id="241" fill="hold">
                            <p:stCondLst>
                              <p:cond delay="2200"/>
                            </p:stCondLst>
                            <p:childTnLst>
                              <p:par>
                                <p:cTn id="242" presetID="42" presetClass="entr" presetSubtype="0" fill="hold" grpId="0" nodeType="afterEffect">
                                  <p:stCondLst>
                                    <p:cond delay="0"/>
                                  </p:stCondLst>
                                  <p:childTnLst>
                                    <p:set>
                                      <p:cBhvr>
                                        <p:cTn id="243" dur="1" fill="hold">
                                          <p:stCondLst>
                                            <p:cond delay="0"/>
                                          </p:stCondLst>
                                        </p:cTn>
                                        <p:tgtEl>
                                          <p:spTgt spid="49"/>
                                        </p:tgtEl>
                                        <p:attrNameLst>
                                          <p:attrName>style.visibility</p:attrName>
                                        </p:attrNameLst>
                                      </p:cBhvr>
                                      <p:to>
                                        <p:strVal val="visible"/>
                                      </p:to>
                                    </p:set>
                                    <p:animEffect transition="in" filter="fade">
                                      <p:cBhvr>
                                        <p:cTn id="244" dur="550"/>
                                        <p:tgtEl>
                                          <p:spTgt spid="49"/>
                                        </p:tgtEl>
                                      </p:cBhvr>
                                    </p:animEffect>
                                    <p:anim calcmode="lin" valueType="num">
                                      <p:cBhvr additive="base">
                                        <p:cTn id="245" dur="550" fill="hold"/>
                                        <p:tgtEl>
                                          <p:spTgt spid="49"/>
                                        </p:tgtEl>
                                        <p:attrNameLst>
                                          <p:attrName>ppt_x</p:attrName>
                                        </p:attrNameLst>
                                      </p:cBhvr>
                                      <p:tavLst>
                                        <p:tav tm="0">
                                          <p:val>
                                            <p:strVal val="#ppt_x"/>
                                          </p:val>
                                        </p:tav>
                                        <p:tav tm="100000">
                                          <p:val>
                                            <p:strVal val="#ppt_x"/>
                                          </p:val>
                                        </p:tav>
                                      </p:tavLst>
                                    </p:anim>
                                    <p:anim calcmode="lin" valueType="num">
                                      <p:cBhvr additive="base">
                                        <p:cTn id="246" dur="550" fill="hold"/>
                                        <p:tgtEl>
                                          <p:spTgt spid="4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01</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Mavzuning maqsadi va o'rganish natijalari</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Yakuniy amaliy mashg'ulotning maqsadi — semestr davomida o'zlashtirilgan bilim va ko'nikmalarni (arxitektura tahlili, parallel hisoblash, optimallashtirish, konteynerlashtirish,…</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Amaliy masalani muhandislik talablari tiliga o'tkazish: foydalanuvchi, muvaffaqiyat mezoni, xizmat darajasi ko'rsatkichlari (SLO — kechikish, o'tkazuvchanlik, aniqlik, mavjudlik), xavf…</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To'liq ML mahsulot ketma-ketligini — ma'lumot → model → API → monitoring → adolatlilik — komponentlarga ajratib, har biri uchun texnologiya tanlovini asoslash va ular orasidagi…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Jamoada rollarni (ma'lumot muhandisi, ML muhandisi, platforma/MLOps muhandisi, sifat va mas'uliyatli AI bo'yicha mas'ul, texnik yetakchi) taqsimlab, bosqichli reja bo'yicha Git,…</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Tizimni o'lchanadigan tarzda topshirish: unumdorlik (p50/p99 kechikish, so'rov/soniya), resurs sarfi, aniqlik, drift va adolatlilik ko'rsatkichlarini bitta boshqaruv panelida ko'rsatish.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800" b="0">
                <a:solidFill>
                  <a:srgbClr val="1B2430"/>
                </a:solidFill>
                <a:latin typeface="Calibri"/>
              </a:rPr>
              <a:t>Loyihani standart hujjat (loyiha pasporti, arxitektura hujjati, model kartasi, ekspluatatsiya yo'riqnomasi) va 15 daqiqalik himoya shaklida taqdim etish, rubrika bo'yicha o'zini va boshqa…</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800" b="0">
                <a:solidFill>
                  <a:srgbClr val="1B2430"/>
                </a:solidFill>
                <a:latin typeface="Calibri"/>
              </a:rPr>
              <a:t>Mavzu fanning barcha o'rganish natijalariga (TN1–TN7) yakunlovchi sifatida xizmat qiladi va A1–A6 amaliy mashg'ulotlarining natijalarini bevosita qayta ishlatadi.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02</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Kirish</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Sanoat tajribasi ko'rsatadiki, ML loyihalarining katta qismi ishlab chiqarishga yetib bormaydi — turli so'rovlarda bu ulush 50% dan 85% gacha baholanadi. Sabab kamdan-kam hollarda modelning aniqligi bo'ladi; odatda muammo tizim darajasida: ma'lumot quvuri…</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Shu sababli yakuniy loyiha «model o'qitish» emas, balki «tizim qurish» sifatida qo'yiladi. Talabalar 3–4 kishilik guruhlarda haqiqiy muammoga o'xshash masalani tanlaydi va uni boshidan oxirigacha olib boradi.</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Loyiha mavzusi uchun uchta yo'nalish taklif qilinadi: (1) shahar transporti — Toshkent avtobus bekatlarida yo'lovchi oqimi yoki kelish vaqtini bashorat qilish; (2) tibbiy tasvir triaji — ko'krak qafasi rentgenogrammalarida patologiyani birlamchi saralash;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03</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Nazariy asoslar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AI-enabled Computer System: besh bosqichli ketma-ketlik va interfeyslar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To'liq ML mahsulot ketma-ketligi beshta bosqichdan iborat bo'lib, har bosqich keyingisiga aniq belgilangan artefakt orqali bog'lanadi.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Ma'lumot bosqichi xom manbadan o'quv-sinov to'plamiga olib keladi: yig'ish, tozalash, belgilash (labeling), versiyalash (DVC yoki LakeFS), sxema tekshiruvi (Great Expectations, Pandera) va ma'lumot varaqasi (datasheet). Chiqish artefakti — versiyalangan,…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AI-enabled Computer System: besh bosqichli ketma-ketlik va interfeyslar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graphicFrame>
        <p:nvGraphicFramePr>
          <p:cNvPr id="10" name="Table 9"/>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400" b="1">
                          <a:solidFill>
                            <a:srgbClr val="FFFFFF"/>
                          </a:solidFill>
                          <a:latin typeface="Calibri"/>
                        </a:rPr>
                        <a:t>Bosqich</a:t>
                      </a:r>
                    </a:p>
                  </a:txBody>
                  <a:tcPr>
                    <a:solidFill>
                      <a:srgbClr val="2D5C8F"/>
                    </a:solidFill>
                  </a:tcPr>
                </a:tc>
                <a:tc>
                  <a:txBody>
                    <a:bodyPr/>
                    <a:lstStyle/>
                    <a:p>
                      <a:r>
                        <a:rPr sz="1400" b="1">
                          <a:solidFill>
                            <a:srgbClr val="FFFFFF"/>
                          </a:solidFill>
                          <a:latin typeface="Calibri"/>
                        </a:rPr>
                        <a:t>Asosiy vositalar</a:t>
                      </a:r>
                    </a:p>
                  </a:txBody>
                  <a:tcPr>
                    <a:solidFill>
                      <a:srgbClr val="2D5C8F"/>
                    </a:solidFill>
                  </a:tcPr>
                </a:tc>
                <a:tc>
                  <a:txBody>
                    <a:bodyPr/>
                    <a:lstStyle/>
                    <a:p>
                      <a:r>
                        <a:rPr sz="1400" b="1">
                          <a:solidFill>
                            <a:srgbClr val="FFFFFF"/>
                          </a:solidFill>
                          <a:latin typeface="Calibri"/>
                        </a:rPr>
                        <a:t>Kirish artefakti</a:t>
                      </a:r>
                    </a:p>
                  </a:txBody>
                  <a:tcPr>
                    <a:solidFill>
                      <a:srgbClr val="2D5C8F"/>
                    </a:solidFill>
                  </a:tcPr>
                </a:tc>
                <a:tc>
                  <a:txBody>
                    <a:bodyPr/>
                    <a:lstStyle/>
                    <a:p>
                      <a:r>
                        <a:rPr sz="1400" b="1">
                          <a:solidFill>
                            <a:srgbClr val="FFFFFF"/>
                          </a:solidFill>
                          <a:latin typeface="Calibri"/>
                        </a:rPr>
                        <a:t>Chiqish artefakti</a:t>
                      </a:r>
                    </a:p>
                  </a:txBody>
                  <a:tcPr>
                    <a:solidFill>
                      <a:srgbClr val="2D5C8F"/>
                    </a:solidFill>
                  </a:tcPr>
                </a:tc>
                <a:tc>
                  <a:txBody>
                    <a:bodyPr/>
                    <a:lstStyle/>
                    <a:p>
                      <a:r>
                        <a:rPr sz="1400" b="1">
                          <a:solidFill>
                            <a:srgbClr val="FFFFFF"/>
                          </a:solidFill>
                          <a:latin typeface="Calibri"/>
                        </a:rPr>
                        <a:t>Mas'ul rol</a:t>
                      </a:r>
                    </a:p>
                  </a:txBody>
                  <a:tcPr>
                    <a:solidFill>
                      <a:srgbClr val="2D5C8F"/>
                    </a:solidFill>
                  </a:tcPr>
                </a:tc>
              </a:tr>
              <a:tr h="520000">
                <a:tc>
                  <a:txBody>
                    <a:bodyPr/>
                    <a:lstStyle/>
                    <a:p>
                      <a:r>
                        <a:rPr sz="1400" b="0">
                          <a:solidFill>
                            <a:srgbClr val="1B2430"/>
                          </a:solidFill>
                          <a:latin typeface="Calibri"/>
                        </a:rPr>
                        <a:t>Ma'lumot</a:t>
                      </a:r>
                    </a:p>
                  </a:txBody>
                  <a:tcPr>
                    <a:solidFill>
                      <a:srgbClr val="F1F4F8"/>
                    </a:solidFill>
                  </a:tcPr>
                </a:tc>
                <a:tc>
                  <a:txBody>
                    <a:bodyPr/>
                    <a:lstStyle/>
                    <a:p>
                      <a:r>
                        <a:rPr sz="1400" b="0">
                          <a:solidFill>
                            <a:srgbClr val="1B2430"/>
                          </a:solidFill>
                          <a:latin typeface="Calibri"/>
                        </a:rPr>
                        <a:t>pandas, DVC, Pandera, Label Studio</a:t>
                      </a:r>
                    </a:p>
                  </a:txBody>
                  <a:tcPr>
                    <a:solidFill>
                      <a:srgbClr val="F1F4F8"/>
                    </a:solidFill>
                  </a:tcPr>
                </a:tc>
                <a:tc>
                  <a:txBody>
                    <a:bodyPr/>
                    <a:lstStyle/>
                    <a:p>
                      <a:r>
                        <a:rPr sz="1400" b="0">
                          <a:solidFill>
                            <a:srgbClr val="1B2430"/>
                          </a:solidFill>
                          <a:latin typeface="Calibri"/>
                        </a:rPr>
                        <a:t>Xom fayllar</a:t>
                      </a:r>
                    </a:p>
                  </a:txBody>
                  <a:tcPr>
                    <a:solidFill>
                      <a:srgbClr val="F1F4F8"/>
                    </a:solidFill>
                  </a:tcPr>
                </a:tc>
                <a:tc>
                  <a:txBody>
                    <a:bodyPr/>
                    <a:lstStyle/>
                    <a:p>
                      <a:r>
                        <a:rPr sz="1400" b="0">
                          <a:solidFill>
                            <a:srgbClr val="1B2430"/>
                          </a:solidFill>
                          <a:latin typeface="Calibri"/>
                        </a:rPr>
                        <a:t>Versiyalangan to'plam + datasheet</a:t>
                      </a:r>
                    </a:p>
                  </a:txBody>
                  <a:tcPr>
                    <a:solidFill>
                      <a:srgbClr val="F1F4F8"/>
                    </a:solidFill>
                  </a:tcPr>
                </a:tc>
                <a:tc>
                  <a:txBody>
                    <a:bodyPr/>
                    <a:lstStyle/>
                    <a:p>
                      <a:r>
                        <a:rPr sz="1400" b="0">
                          <a:solidFill>
                            <a:srgbClr val="1B2430"/>
                          </a:solidFill>
                          <a:latin typeface="Calibri"/>
                        </a:rPr>
                        <a:t>Ma'lumot muhandisi</a:t>
                      </a:r>
                    </a:p>
                  </a:txBody>
                  <a:tcPr>
                    <a:solidFill>
                      <a:srgbClr val="F1F4F8"/>
                    </a:solidFill>
                  </a:tcPr>
                </a:tc>
              </a:tr>
              <a:tr h="520000">
                <a:tc>
                  <a:txBody>
                    <a:bodyPr/>
                    <a:lstStyle/>
                    <a:p>
                      <a:r>
                        <a:rPr sz="1400" b="0">
                          <a:solidFill>
                            <a:srgbClr val="1B2430"/>
                          </a:solidFill>
                          <a:latin typeface="Calibri"/>
                        </a:rPr>
                        <a:t>Model</a:t>
                      </a:r>
                    </a:p>
                  </a:txBody>
                  <a:tcPr>
                    <a:solidFill>
                      <a:srgbClr val="FFFFFF"/>
                    </a:solidFill>
                  </a:tcPr>
                </a:tc>
                <a:tc>
                  <a:txBody>
                    <a:bodyPr/>
                    <a:lstStyle/>
                    <a:p>
                      <a:r>
                        <a:rPr sz="1400" b="0">
                          <a:solidFill>
                            <a:srgbClr val="1B2430"/>
                          </a:solidFill>
                          <a:latin typeface="Calibri"/>
                        </a:rPr>
                        <a:t>PyTorch, MLflow, ONNX</a:t>
                      </a:r>
                    </a:p>
                  </a:txBody>
                  <a:tcPr>
                    <a:solidFill>
                      <a:srgbClr val="FFFFFF"/>
                    </a:solidFill>
                  </a:tcPr>
                </a:tc>
                <a:tc>
                  <a:txBody>
                    <a:bodyPr/>
                    <a:lstStyle/>
                    <a:p>
                      <a:r>
                        <a:rPr sz="1400" b="0">
                          <a:solidFill>
                            <a:srgbClr val="1B2430"/>
                          </a:solidFill>
                          <a:latin typeface="Calibri"/>
                        </a:rPr>
                        <a:t>To'plam</a:t>
                      </a:r>
                    </a:p>
                  </a:txBody>
                  <a:tcPr>
                    <a:solidFill>
                      <a:srgbClr val="FFFFFF"/>
                    </a:solidFill>
                  </a:tcPr>
                </a:tc>
                <a:tc>
                  <a:txBody>
                    <a:bodyPr/>
                    <a:lstStyle/>
                    <a:p>
                      <a:r>
                        <a:rPr sz="1400" b="0">
                          <a:solidFill>
                            <a:srgbClr val="1B2430"/>
                          </a:solidFill>
                          <a:latin typeface="Calibri"/>
                        </a:rPr>
                        <a:t>Model artefakti + model card</a:t>
                      </a:r>
                    </a:p>
                  </a:txBody>
                  <a:tcPr>
                    <a:solidFill>
                      <a:srgbClr val="FFFFFF"/>
                    </a:solidFill>
                  </a:tcPr>
                </a:tc>
                <a:tc>
                  <a:txBody>
                    <a:bodyPr/>
                    <a:lstStyle/>
                    <a:p>
                      <a:r>
                        <a:rPr sz="1400" b="0">
                          <a:solidFill>
                            <a:srgbClr val="1B2430"/>
                          </a:solidFill>
                          <a:latin typeface="Calibri"/>
                        </a:rPr>
                        <a:t>ML muhandisi</a:t>
                      </a:r>
                    </a:p>
                  </a:txBody>
                  <a:tcPr>
                    <a:solidFill>
                      <a:srgbClr val="FFFFFF"/>
                    </a:solidFill>
                  </a:tcPr>
                </a:tc>
              </a:tr>
              <a:tr h="520000">
                <a:tc>
                  <a:txBody>
                    <a:bodyPr/>
                    <a:lstStyle/>
                    <a:p>
                      <a:r>
                        <a:rPr sz="1400" b="0">
                          <a:solidFill>
                            <a:srgbClr val="1B2430"/>
                          </a:solidFill>
                          <a:latin typeface="Calibri"/>
                        </a:rPr>
                        <a:t>API</a:t>
                      </a:r>
                    </a:p>
                  </a:txBody>
                  <a:tcPr>
                    <a:solidFill>
                      <a:srgbClr val="F1F4F8"/>
                    </a:solidFill>
                  </a:tcPr>
                </a:tc>
                <a:tc>
                  <a:txBody>
                    <a:bodyPr/>
                    <a:lstStyle/>
                    <a:p>
                      <a:r>
                        <a:rPr sz="1400" b="0">
                          <a:solidFill>
                            <a:srgbClr val="1B2430"/>
                          </a:solidFill>
                          <a:latin typeface="Calibri"/>
                        </a:rPr>
                        <a:t>FastAPI, ONNX Runtime, Docker, K8s</a:t>
                      </a:r>
                    </a:p>
                  </a:txBody>
                  <a:tcPr>
                    <a:solidFill>
                      <a:srgbClr val="F1F4F8"/>
                    </a:solidFill>
                  </a:tcPr>
                </a:tc>
                <a:tc>
                  <a:txBody>
                    <a:bodyPr/>
                    <a:lstStyle/>
                    <a:p>
                      <a:r>
                        <a:rPr sz="1400" b="0">
                          <a:solidFill>
                            <a:srgbClr val="1B2430"/>
                          </a:solidFill>
                          <a:latin typeface="Calibri"/>
                        </a:rPr>
                        <a:t>Model artefakti</a:t>
                      </a:r>
                    </a:p>
                  </a:txBody>
                  <a:tcPr>
                    <a:solidFill>
                      <a:srgbClr val="F1F4F8"/>
                    </a:solidFill>
                  </a:tcPr>
                </a:tc>
                <a:tc>
                  <a:txBody>
                    <a:bodyPr/>
                    <a:lstStyle/>
                    <a:p>
                      <a:r>
                        <a:rPr sz="1400" b="0">
                          <a:solidFill>
                            <a:srgbClr val="1B2430"/>
                          </a:solidFill>
                          <a:latin typeface="Calibri"/>
                        </a:rPr>
                        <a:t>Xizmat + OpenAPI + SLO</a:t>
                      </a:r>
                    </a:p>
                  </a:txBody>
                  <a:tcPr>
                    <a:solidFill>
                      <a:srgbClr val="F1F4F8"/>
                    </a:solidFill>
                  </a:tcPr>
                </a:tc>
                <a:tc>
                  <a:txBody>
                    <a:bodyPr/>
                    <a:lstStyle/>
                    <a:p>
                      <a:r>
                        <a:rPr sz="1400" b="0">
                          <a:solidFill>
                            <a:srgbClr val="1B2430"/>
                          </a:solidFill>
                          <a:latin typeface="Calibri"/>
                        </a:rPr>
                        <a:t>Platforma muhandisi</a:t>
                      </a:r>
                    </a:p>
                  </a:txBody>
                  <a:tcPr>
                    <a:solidFill>
                      <a:srgbClr val="F1F4F8"/>
                    </a:solidFill>
                  </a:tcPr>
                </a:tc>
              </a:tr>
              <a:tr h="520000">
                <a:tc>
                  <a:txBody>
                    <a:bodyPr/>
                    <a:lstStyle/>
                    <a:p>
                      <a:r>
                        <a:rPr sz="1400" b="0">
                          <a:solidFill>
                            <a:srgbClr val="1B2430"/>
                          </a:solidFill>
                          <a:latin typeface="Calibri"/>
                        </a:rPr>
                        <a:t>Monitoring</a:t>
                      </a:r>
                    </a:p>
                  </a:txBody>
                  <a:tcPr>
                    <a:solidFill>
                      <a:srgbClr val="FFFFFF"/>
                    </a:solidFill>
                  </a:tcPr>
                </a:tc>
                <a:tc>
                  <a:txBody>
                    <a:bodyPr/>
                    <a:lstStyle/>
                    <a:p>
                      <a:r>
                        <a:rPr sz="1400" b="0">
                          <a:solidFill>
                            <a:srgbClr val="1B2430"/>
                          </a:solidFill>
                          <a:latin typeface="Calibri"/>
                        </a:rPr>
                        <a:t>Prometheus, Grafana, Evidently</a:t>
                      </a:r>
                    </a:p>
                  </a:txBody>
                  <a:tcPr>
                    <a:solidFill>
                      <a:srgbClr val="FFFFFF"/>
                    </a:solidFill>
                  </a:tcPr>
                </a:tc>
                <a:tc>
                  <a:txBody>
                    <a:bodyPr/>
                    <a:lstStyle/>
                    <a:p>
                      <a:r>
                        <a:rPr sz="1400" b="0">
                          <a:solidFill>
                            <a:srgbClr val="1B2430"/>
                          </a:solidFill>
                          <a:latin typeface="Calibri"/>
                        </a:rPr>
                        <a:t>Xizmat loglari</a:t>
                      </a:r>
                    </a:p>
                  </a:txBody>
                  <a:tcPr>
                    <a:solidFill>
                      <a:srgbClr val="FFFFFF"/>
                    </a:solidFill>
                  </a:tcPr>
                </a:tc>
                <a:tc>
                  <a:txBody>
                    <a:bodyPr/>
                    <a:lstStyle/>
                    <a:p>
                      <a:r>
                        <a:rPr sz="1400" b="0">
                          <a:solidFill>
                            <a:srgbClr val="1B2430"/>
                          </a:solidFill>
                          <a:latin typeface="Calibri"/>
                        </a:rPr>
                        <a:t>Panel + ogohlantirishlar</a:t>
                      </a:r>
                    </a:p>
                  </a:txBody>
                  <a:tcPr>
                    <a:solidFill>
                      <a:srgbClr val="FFFFFF"/>
                    </a:solidFill>
                  </a:tcPr>
                </a:tc>
                <a:tc>
                  <a:txBody>
                    <a:bodyPr/>
                    <a:lstStyle/>
                    <a:p>
                      <a:r>
                        <a:rPr sz="1400" b="0">
                          <a:solidFill>
                            <a:srgbClr val="1B2430"/>
                          </a:solidFill>
                          <a:latin typeface="Calibri"/>
                        </a:rPr>
                        <a:t>Platforma muhandisi</a:t>
                      </a:r>
                    </a:p>
                  </a:txBody>
                  <a:tcPr>
                    <a:solidFill>
                      <a:srgbClr val="FFFFFF"/>
                    </a:solidFill>
                  </a:tcPr>
                </a:tc>
              </a:tr>
              <a:tr h="520000">
                <a:tc>
                  <a:txBody>
                    <a:bodyPr/>
                    <a:lstStyle/>
                    <a:p>
                      <a:r>
                        <a:rPr sz="1400" b="0">
                          <a:solidFill>
                            <a:srgbClr val="1B2430"/>
                          </a:solidFill>
                          <a:latin typeface="Calibri"/>
                        </a:rPr>
                        <a:t>Adolatlilik</a:t>
                      </a:r>
                    </a:p>
                  </a:txBody>
                  <a:tcPr>
                    <a:solidFill>
                      <a:srgbClr val="F1F4F8"/>
                    </a:solidFill>
                  </a:tcPr>
                </a:tc>
                <a:tc>
                  <a:txBody>
                    <a:bodyPr/>
                    <a:lstStyle/>
                    <a:p>
                      <a:r>
                        <a:rPr sz="1400" b="0">
                          <a:solidFill>
                            <a:srgbClr val="1B2430"/>
                          </a:solidFill>
                          <a:latin typeface="Calibri"/>
                        </a:rPr>
                        <a:t>Fairlearn, SHAP, Grad-CAM</a:t>
                      </a:r>
                    </a:p>
                  </a:txBody>
                  <a:tcPr>
                    <a:solidFill>
                      <a:srgbClr val="F1F4F8"/>
                    </a:solidFill>
                  </a:tcPr>
                </a:tc>
                <a:tc>
                  <a:txBody>
                    <a:bodyPr/>
                    <a:lstStyle/>
                    <a:p>
                      <a:r>
                        <a:rPr sz="1400" b="0">
                          <a:solidFill>
                            <a:srgbClr val="1B2430"/>
                          </a:solidFill>
                          <a:latin typeface="Calibri"/>
                        </a:rPr>
                        <a:t>Bashoratlar + metadata</a:t>
                      </a:r>
                    </a:p>
                  </a:txBody>
                  <a:tcPr>
                    <a:solidFill>
                      <a:srgbClr val="F1F4F8"/>
                    </a:solidFill>
                  </a:tcPr>
                </a:tc>
                <a:tc>
                  <a:txBody>
                    <a:bodyPr/>
                    <a:lstStyle/>
                    <a:p>
                      <a:r>
                        <a:rPr sz="1400" b="0">
                          <a:solidFill>
                            <a:srgbClr val="1B2430"/>
                          </a:solidFill>
                          <a:latin typeface="Calibri"/>
                        </a:rPr>
                        <a:t>Fairness hisoboti + checklist</a:t>
                      </a:r>
                    </a:p>
                  </a:txBody>
                  <a:tcPr>
                    <a:solidFill>
                      <a:srgbClr val="F1F4F8"/>
                    </a:solidFill>
                  </a:tcPr>
                </a:tc>
                <a:tc>
                  <a:txBody>
                    <a:bodyPr/>
                    <a:lstStyle/>
                    <a:p>
                      <a:r>
                        <a:rPr sz="1400" b="0">
                          <a:solidFill>
                            <a:srgbClr val="1B2430"/>
                          </a:solidFill>
                          <a:latin typeface="Calibri"/>
                        </a:rPr>
                        <a:t>Mas'uliyatli AI mas'uli</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Talablar muhandisligi va SLO</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Tizimni loyihalash talablarni rasmiylashtirishdan boshlanadi. Funksional talablar — tizim nima qiladi (rentgenogrammani qabul qiladi, patologiya ehtimolini va issiqlik xaritasini qaytaradi, navbatda ustuvorlik beradi).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Muvaffaqiyat mezoni biznes tilida ham ifodalanishi kerak: triaj tizimi uchun bu — «radiolog navbatida xavfli holatlar o'rtacha kutish vaqtini 40% qisqartirish», transport uchun — «bekatda kutish vaqtini bashorat xatosi 2 daqiqadan kam». Bu mezon modelning…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Jamoa rollari, bosqichlar va ish uslubi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Guruh 3–4 kishidan iborat. Rollar: texnik yetakchi (tech lead — arxitektura qarorlari, integratsiya, himoya) — bir vaqtda boshqa rolni ham bajaradi; ma'lumot muhandisi; ML muhandisi; platforma/MLOps muhandisi; mas'uliyatli AI mas'uli (sifat, xavfsizlik,…</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Loyiha to'rt haftaga mo'ljallangan bo'lib, A5–A6 mashg'ulotlari bilan parallel boshlanadi: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Ish uslubi: bitta Git ombori (monorepo), main himoyalangan, har o'zgarish pull request orqali va kamida bitta boshqa a'zo ko'rib chiqishi bilan; CI (GitHub Actions yoki GitLab CI) da lint, birlik testlar va Docker obrazini yig'ish; haftalik 15 daqiqalik…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Jamoa rollari, bosqichlar va ish uslubi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graphicFrame>
        <p:nvGraphicFramePr>
          <p:cNvPr id="10" name="Table 9"/>
          <p:cNvGraphicFramePr>
            <a:graphicFrameLocks noGrp="1"/>
          </p:cNvGraphicFramePr>
          <p:nvPr/>
        </p:nvGraphicFramePr>
        <p:xfrm>
          <a:off x="500000" y="1350000"/>
          <a:ext cx="11200000" cy="260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200" b="1">
                          <a:solidFill>
                            <a:srgbClr val="FFFFFF"/>
                          </a:solidFill>
                          <a:latin typeface="Calibri"/>
                        </a:rPr>
                        <a:t>Hafta</a:t>
                      </a:r>
                    </a:p>
                  </a:txBody>
                  <a:tcPr>
                    <a:solidFill>
                      <a:srgbClr val="2D5C8F"/>
                    </a:solidFill>
                  </a:tcPr>
                </a:tc>
                <a:tc>
                  <a:txBody>
                    <a:bodyPr/>
                    <a:lstStyle/>
                    <a:p>
                      <a:r>
                        <a:rPr sz="1200" b="1">
                          <a:solidFill>
                            <a:srgbClr val="FFFFFF"/>
                          </a:solidFill>
                          <a:latin typeface="Calibri"/>
                        </a:rPr>
                        <a:t>Bosqich</a:t>
                      </a:r>
                    </a:p>
                  </a:txBody>
                  <a:tcPr>
                    <a:solidFill>
                      <a:srgbClr val="2D5C8F"/>
                    </a:solidFill>
                  </a:tcPr>
                </a:tc>
                <a:tc>
                  <a:txBody>
                    <a:bodyPr/>
                    <a:lstStyle/>
                    <a:p>
                      <a:r>
                        <a:rPr sz="1200" b="1">
                          <a:solidFill>
                            <a:srgbClr val="FFFFFF"/>
                          </a:solidFill>
                          <a:latin typeface="Calibri"/>
                        </a:rPr>
                        <a:t>Natija (gate)</a:t>
                      </a:r>
                    </a:p>
                  </a:txBody>
                  <a:tcPr>
                    <a:solidFill>
                      <a:srgbClr val="2D5C8F"/>
                    </a:solidFill>
                  </a:tcPr>
                </a:tc>
              </a:tr>
              <a:tr h="520000">
                <a:tc>
                  <a:txBody>
                    <a:bodyPr/>
                    <a:lstStyle/>
                    <a:p>
                      <a:r>
                        <a:rPr sz="1200" b="0">
                          <a:solidFill>
                            <a:srgbClr val="1B2430"/>
                          </a:solidFill>
                          <a:latin typeface="Calibri"/>
                        </a:rPr>
                        <a:t>1</a:t>
                      </a:r>
                    </a:p>
                  </a:txBody>
                  <a:tcPr>
                    <a:solidFill>
                      <a:srgbClr val="F1F4F8"/>
                    </a:solidFill>
                  </a:tcPr>
                </a:tc>
                <a:tc>
                  <a:txBody>
                    <a:bodyPr/>
                    <a:lstStyle/>
                    <a:p>
                      <a:r>
                        <a:rPr sz="1200" b="0">
                          <a:solidFill>
                            <a:srgbClr val="1B2430"/>
                          </a:solidFill>
                          <a:latin typeface="Calibri"/>
                        </a:rPr>
                        <a:t>Masala tanlash, talablar, ma'lumot auditi, arxitektura eskizi</a:t>
                      </a:r>
                    </a:p>
                  </a:txBody>
                  <a:tcPr>
                    <a:solidFill>
                      <a:srgbClr val="F1F4F8"/>
                    </a:solidFill>
                  </a:tcPr>
                </a:tc>
                <a:tc>
                  <a:txBody>
                    <a:bodyPr/>
                    <a:lstStyle/>
                    <a:p>
                      <a:r>
                        <a:rPr sz="1200" b="0">
                          <a:solidFill>
                            <a:srgbClr val="1B2430"/>
                          </a:solidFill>
                          <a:latin typeface="Calibri"/>
                        </a:rPr>
                        <a:t>Loyiha pasporti tasdiqlandi; ma'lumot yuklandi va profillandi</a:t>
                      </a:r>
                    </a:p>
                  </a:txBody>
                  <a:tcPr>
                    <a:solidFill>
                      <a:srgbClr val="F1F4F8"/>
                    </a:solidFill>
                  </a:tcPr>
                </a:tc>
              </a:tr>
              <a:tr h="520000">
                <a:tc>
                  <a:txBody>
                    <a:bodyPr/>
                    <a:lstStyle/>
                    <a:p>
                      <a:r>
                        <a:rPr sz="1200" b="0">
                          <a:solidFill>
                            <a:srgbClr val="1B2430"/>
                          </a:solidFill>
                          <a:latin typeface="Calibri"/>
                        </a:rPr>
                        <a:t>2</a:t>
                      </a:r>
                    </a:p>
                  </a:txBody>
                  <a:tcPr>
                    <a:solidFill>
                      <a:srgbClr val="FFFFFF"/>
                    </a:solidFill>
                  </a:tcPr>
                </a:tc>
                <a:tc>
                  <a:txBody>
                    <a:bodyPr/>
                    <a:lstStyle/>
                    <a:p>
                      <a:r>
                        <a:rPr sz="1200" b="0">
                          <a:solidFill>
                            <a:srgbClr val="1B2430"/>
                          </a:solidFill>
                          <a:latin typeface="Calibri"/>
                        </a:rPr>
                        <a:t>Bazaviy model, eksperiment jurnali, API skeleti, Docker</a:t>
                      </a:r>
                    </a:p>
                  </a:txBody>
                  <a:tcPr>
                    <a:solidFill>
                      <a:srgbClr val="FFFFFF"/>
                    </a:solidFill>
                  </a:tcPr>
                </a:tc>
                <a:tc>
                  <a:txBody>
                    <a:bodyPr/>
                    <a:lstStyle/>
                    <a:p>
                      <a:r>
                        <a:rPr sz="1200" b="0">
                          <a:solidFill>
                            <a:srgbClr val="1B2430"/>
                          </a:solidFill>
                          <a:latin typeface="Calibri"/>
                        </a:rPr>
                        <a:t>Baseline metrikasi; /predict lokal ishlaydi; CI testlar o'tadi</a:t>
                      </a:r>
                    </a:p>
                  </a:txBody>
                  <a:tcPr>
                    <a:solidFill>
                      <a:srgbClr val="FFFFFF"/>
                    </a:solidFill>
                  </a:tcPr>
                </a:tc>
              </a:tr>
              <a:tr h="520000">
                <a:tc>
                  <a:txBody>
                    <a:bodyPr/>
                    <a:lstStyle/>
                    <a:p>
                      <a:r>
                        <a:rPr sz="1200" b="0">
                          <a:solidFill>
                            <a:srgbClr val="1B2430"/>
                          </a:solidFill>
                          <a:latin typeface="Calibri"/>
                        </a:rPr>
                        <a:t>3</a:t>
                      </a:r>
                    </a:p>
                  </a:txBody>
                  <a:tcPr>
                    <a:solidFill>
                      <a:srgbClr val="F1F4F8"/>
                    </a:solidFill>
                  </a:tcPr>
                </a:tc>
                <a:tc>
                  <a:txBody>
                    <a:bodyPr/>
                    <a:lstStyle/>
                    <a:p>
                      <a:r>
                        <a:rPr sz="1200" b="0">
                          <a:solidFill>
                            <a:srgbClr val="1B2430"/>
                          </a:solidFill>
                          <a:latin typeface="Calibri"/>
                        </a:rPr>
                        <a:t>Optimallashtirish (ONNX/kvantlash), K8s joylashtirish, monitoring paneli, yuk sinovi</a:t>
                      </a:r>
                    </a:p>
                  </a:txBody>
                  <a:tcPr>
                    <a:solidFill>
                      <a:srgbClr val="F1F4F8"/>
                    </a:solidFill>
                  </a:tcPr>
                </a:tc>
                <a:tc>
                  <a:txBody>
                    <a:bodyPr/>
                    <a:lstStyle/>
                    <a:p>
                      <a:r>
                        <a:rPr sz="1200" b="0">
                          <a:solidFill>
                            <a:srgbClr val="1B2430"/>
                          </a:solidFill>
                          <a:latin typeface="Calibri"/>
                        </a:rPr>
                        <a:t>SLO o'lchandi; Grafana paneli; drift simulyatsiyasi</a:t>
                      </a:r>
                    </a:p>
                  </a:txBody>
                  <a:tcPr>
                    <a:solidFill>
                      <a:srgbClr val="F1F4F8"/>
                    </a:solidFill>
                  </a:tcPr>
                </a:tc>
              </a:tr>
              <a:tr h="520000">
                <a:tc>
                  <a:txBody>
                    <a:bodyPr/>
                    <a:lstStyle/>
                    <a:p>
                      <a:r>
                        <a:rPr sz="1200" b="0">
                          <a:solidFill>
                            <a:srgbClr val="1B2430"/>
                          </a:solidFill>
                          <a:latin typeface="Calibri"/>
                        </a:rPr>
                        <a:t>4</a:t>
                      </a:r>
                    </a:p>
                  </a:txBody>
                  <a:tcPr>
                    <a:solidFill>
                      <a:srgbClr val="FFFFFF"/>
                    </a:solidFill>
                  </a:tcPr>
                </a:tc>
                <a:tc>
                  <a:txBody>
                    <a:bodyPr/>
                    <a:lstStyle/>
                    <a:p>
                      <a:r>
                        <a:rPr sz="1200" b="0">
                          <a:solidFill>
                            <a:srgbClr val="1B2430"/>
                          </a:solidFill>
                          <a:latin typeface="Calibri"/>
                        </a:rPr>
                        <a:t>Adolatlilik va mustahkamlik tahlili, model kartasi, hujjatlar, himoya mashqi</a:t>
                      </a:r>
                    </a:p>
                  </a:txBody>
                  <a:tcPr>
                    <a:solidFill>
                      <a:srgbClr val="FFFFFF"/>
                    </a:solidFill>
                  </a:tcPr>
                </a:tc>
                <a:tc>
                  <a:txBody>
                    <a:bodyPr/>
                    <a:lstStyle/>
                    <a:p>
                      <a:r>
                        <a:rPr sz="1200" b="0">
                          <a:solidFill>
                            <a:srgbClr val="1B2430"/>
                          </a:solidFill>
                          <a:latin typeface="Calibri"/>
                        </a:rPr>
                        <a:t>Fairness hisoboti; to'liq hujjatlar to'plami; himoya</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Loyiha hujjati shabloni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Hujjatlar to'plami to'rt qismdan iborat va omborning docs/ papkasida Markdown ko'rinishida saqlanadi.</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1. Loyiha pasporti (2 sahifa): nomi, guruh va rollar, muammo bayoni, foydalanuvchi va stsenariy, muvaffaqiyat mezoni, funksional va nofunksional talablar, SLO jadvali, xavf toifasi (EU AI…</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2. Arxitektura hujjati (4–6 sahifa): komponentlar diagrammasi (matnli tavsif yoki Mermaid), ma'lumot oqimi, har komponent uchun texnologiya tanlovi va ADR'ga havola, interfeyslar (ma'lumot…</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3. Model kartasi (2–3 sahifa, Mitchell va boshq., 2019 formatida): model tavsifi va versiyasi, mo'ljallangan foydalanish va mo'ljallanmagan foydalanish, o'quv ma'lumotlari, baholash…</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4. Ekspluatatsiya yo'riqnomasi (runbook, 2 sahifa): ishga tushirish va to'xtatish, versiyani yangilash va orqaga qaytarish (rollback), ogohlantirishlar ro'yxati va har biriga javob tartibi,…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Himoya tartibi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Himoya 25 daqiqa: 12 daqiqa taqdimot (muammo va talablar — 2 daqiqa, arxitektura va qarorlar — 3, jonli namoyish — 4, o'lchovlar va tahlil — 3), 8 daqiqa savol-javob, 5 daqiqa kod ko'rib chiqish (komissiya omborda istalgan faylni ochishni so'raydi va…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04</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Amaliy misol</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9" name="Rounded Rectangle 8"/>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Quyida tibbiy tasvir triaji loyihasi to'liq ssenariy sifatida keltiriladi. Guruh uni namunaviy yechim sifatida ishlatishi yoki o'z mavzusida xuddi shu tuzilmani takrorlashi mumkin.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Ssenariy: ko'krak qafasi rentgenogrammalarini birlamchi saralash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Viloyat ko'p tarmoqli shifoxonasida kuniga 300–400 ko'krak qafasi rentgenogrammasi olinadi, ikki radiolog ularni navbat bo'yicha ko'radi; shoshilinch holatlar (pnevmotoraks, yirik infiltrat) ba'zan navbatda bir necha soat kutadi. Maqsad — har bir yangi tasvir…</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Ma'lumot: NIH ChestX-ray14 ochiq to'plami (112 120 frontal rentgenogramma, 30 805 bemor, 14 patologiya yorlig'i, bemor yoshi va jinsi metadatada; yorliqlar matnli hisobotlardan avtomatik olingan, shuning uchun shovqinli). O'quv masala ikkilik qilib…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Talab qilinadigan muhit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Bitta GPU'li server (8 GB yetarli; o'qitish CPU'da ham mumkin, 224×224 tasvirlar va to'plamning 20 ming tasvirlik qismi bilan), Docker 24+, docker compose, Python 3.10+, pip install torch torchvision onnx onnxruntime-gpu fastapi uvicorn prometheus-client…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Omborning tuzilmasi va ma'lumot quvuri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Ikki muhandislik qarori shu yerda qabul qilindi. Birinchisi — bo'lish bemor identifikatori bo'yicha: bitta bemorning bir nechta tasviri bo'ladi va ular tasodifiy bo'linsa, test «sizadi» (leakage), aniqlik 3–5 foiz bandiga soxta oshadi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Omborning tuzilmasi va ma'lumot quvuri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E2E8F0"/>
                </a:solidFill>
                <a:latin typeface="Consolas"/>
              </a:rPr>
              <a:t>triage/</a:t>
            </a:r>
          </a:p>
          <a:p>
            <a:r>
              <a:rPr sz="1200">
                <a:solidFill>
                  <a:srgbClr val="E2E8F0"/>
                </a:solidFill>
                <a:latin typeface="Consolas"/>
              </a:rPr>
              <a:t>  data/          # DVC bilan boshqariladi: raw/, processed/, splits.parquet</a:t>
            </a:r>
          </a:p>
          <a:p>
            <a:r>
              <a:rPr sz="1200">
                <a:solidFill>
                  <a:srgbClr val="E2E8F0"/>
                </a:solidFill>
                <a:latin typeface="Consolas"/>
              </a:rPr>
              <a:t>  src/</a:t>
            </a:r>
          </a:p>
          <a:p>
            <a:r>
              <a:rPr sz="1200">
                <a:solidFill>
                  <a:srgbClr val="E2E8F0"/>
                </a:solidFill>
                <a:latin typeface="Consolas"/>
              </a:rPr>
              <a:t>    data/        prepare.py  schema.py</a:t>
            </a:r>
          </a:p>
          <a:p>
            <a:r>
              <a:rPr sz="1200">
                <a:solidFill>
                  <a:srgbClr val="E2E8F0"/>
                </a:solidFill>
                <a:latin typeface="Consolas"/>
              </a:rPr>
              <a:t>    model/       train.py    export_onnx.py  evaluate.py</a:t>
            </a:r>
          </a:p>
          <a:p>
            <a:r>
              <a:rPr sz="1200">
                <a:solidFill>
                  <a:srgbClr val="E2E8F0"/>
                </a:solidFill>
                <a:latin typeface="Consolas"/>
              </a:rPr>
              <a:t>    serve/       app.py      inference.py    metrics.py</a:t>
            </a:r>
          </a:p>
          <a:p>
            <a:r>
              <a:rPr sz="1200">
                <a:solidFill>
                  <a:srgbClr val="E2E8F0"/>
                </a:solidFill>
                <a:latin typeface="Consolas"/>
              </a:rPr>
              <a:t>    monitor/     drift.py    fairness_report.py</a:t>
            </a:r>
          </a:p>
          <a:p>
            <a:r>
              <a:rPr sz="1200">
                <a:solidFill>
                  <a:srgbClr val="E2E8F0"/>
                </a:solidFill>
                <a:latin typeface="Consolas"/>
              </a:rPr>
              <a:t>  tests/         test_schema.py  test_api.py  test_inference.py</a:t>
            </a:r>
          </a:p>
          <a:p>
            <a:r>
              <a:rPr sz="1200">
                <a:solidFill>
                  <a:srgbClr val="E2E8F0"/>
                </a:solidFill>
                <a:latin typeface="Consolas"/>
              </a:rPr>
              <a:t>  deploy/        Dockerfile  docker-compose.yml  k8s/  prometheus.yml  grafana/</a:t>
            </a:r>
          </a:p>
          <a:p>
            <a:r>
              <a:rPr sz="1200">
                <a:solidFill>
                  <a:srgbClr val="E2E8F0"/>
                </a:solidFill>
                <a:latin typeface="Consolas"/>
              </a:rPr>
              <a:t>  docs/          passport.md  architecture.md  model_card.md  runbook.md  adr/</a:t>
            </a:r>
          </a:p>
          <a:p>
            <a:r>
              <a:rPr sz="1200">
                <a:solidFill>
                  <a:srgbClr val="E2E8F0"/>
                </a:solidFill>
                <a:latin typeface="Consolas"/>
              </a:rPr>
              <a:t>  .github/workflows/ci.yml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Omborning tuzilmasi va ma'lumot quvuri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src/data/schema.py — ma'lumot sxemasi: har qator ushbu shartlarga javob berishi shart</a:t>
            </a:r>
          </a:p>
          <a:p>
            <a:r>
              <a:rPr sz="1200">
                <a:solidFill>
                  <a:srgbClr val="E2E8F0"/>
                </a:solidFill>
                <a:latin typeface="Consolas"/>
              </a:rPr>
              <a:t>import pandera as pa</a:t>
            </a:r>
          </a:p>
          <a:p>
            <a:r>
              <a:rPr sz="1200">
                <a:solidFill>
                  <a:srgbClr val="E2E8F0"/>
                </a:solidFill>
                <a:latin typeface="Consolas"/>
              </a:rPr>
              <a:t>from pandera import Column, Check</a:t>
            </a:r>
          </a:p>
          <a:p>
            <a:r>
              <a:rPr sz="1200">
                <a:solidFill>
                  <a:srgbClr val="E2E8F0"/>
                </a:solidFill>
                <a:latin typeface="Consolas"/>
              </a:rPr>
              <a:t>Manifest = pa.DataFrameSchema({</a:t>
            </a:r>
          </a:p>
          <a:p>
            <a:r>
              <a:rPr sz="1200">
                <a:solidFill>
                  <a:srgbClr val="E2E8F0"/>
                </a:solidFill>
                <a:latin typeface="Consolas"/>
              </a:rPr>
              <a:t>    "image_id":   Column(str, Check.str_matches(r"^\d{8}_\d{3}\.png$"), unique=True),</a:t>
            </a:r>
          </a:p>
          <a:p>
            <a:r>
              <a:rPr sz="1200">
                <a:solidFill>
                  <a:srgbClr val="E2E8F0"/>
                </a:solidFill>
                <a:latin typeface="Consolas"/>
              </a:rPr>
              <a:t>    "patient_id": Column(int, Check.ge(0)),</a:t>
            </a:r>
          </a:p>
          <a:p>
            <a:r>
              <a:rPr sz="1200">
                <a:solidFill>
                  <a:srgbClr val="E2E8F0"/>
                </a:solidFill>
                <a:latin typeface="Consolas"/>
              </a:rPr>
              <a:t>    "age":        Column(int, Check.in_range(0, 100)),</a:t>
            </a:r>
          </a:p>
          <a:p>
            <a:r>
              <a:rPr sz="1200">
                <a:solidFill>
                  <a:srgbClr val="E2E8F0"/>
                </a:solidFill>
                <a:latin typeface="Consolas"/>
              </a:rPr>
              <a:t>    "sex":        Column(str, Check.isin(["M", "F"])),</a:t>
            </a:r>
          </a:p>
          <a:p>
            <a:r>
              <a:rPr sz="1200">
                <a:solidFill>
                  <a:srgbClr val="E2E8F0"/>
                </a:solidFill>
                <a:latin typeface="Consolas"/>
              </a:rPr>
              <a:t>    "finding":    Column(int, Check.isin([0, 1])),</a:t>
            </a:r>
          </a:p>
          <a:p>
            <a:r>
              <a:rPr sz="1200">
                <a:solidFill>
                  <a:srgbClr val="E2E8F0"/>
                </a:solidFill>
                <a:latin typeface="Consolas"/>
              </a:rPr>
              <a:t>    "split":      Column(str, Check.isin(["train", "val", "test"])),</a:t>
            </a:r>
          </a:p>
          <a:p>
            <a:r>
              <a:rPr sz="1200">
                <a:solidFill>
                  <a:srgbClr val="E2E8F0"/>
                </a:solidFill>
                <a:latin typeface="Consolas"/>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Model o'qitish va eksperiment jurnali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DenseNet-121 — ko'krak rentgenogrammalari uchun adabiyotda standart (CheXNet) tanlov; ImageNet og'irliklaridan boshlash kichik to'plamda yaqinlashishni tezlashtiradi. pos_weight ijobiy sinfning kamligini (NIH'da topilma ulushi ~46%, ammo…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Model o'qitish va eksperiment jurnali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src/model/train.py — skelet; A5 dagi DDP shu yerga qo'shiladi (torchrun bilan ishga tushirish)</a:t>
            </a:r>
          </a:p>
          <a:p>
            <a:r>
              <a:rPr sz="1000">
                <a:solidFill>
                  <a:srgbClr val="E2E8F0"/>
                </a:solidFill>
                <a:latin typeface="Consolas"/>
              </a:rPr>
              <a:t>import torch, torch.nn as nn, torchvision, mlflow, pandas as pd</a:t>
            </a:r>
          </a:p>
          <a:p>
            <a:r>
              <a:rPr sz="1000">
                <a:solidFill>
                  <a:srgbClr val="E2E8F0"/>
                </a:solidFill>
                <a:latin typeface="Consolas"/>
              </a:rPr>
              <a:t>from torch.utils.data import Dataset, DataLoader</a:t>
            </a:r>
          </a:p>
          <a:p>
            <a:r>
              <a:rPr sz="1000">
                <a:solidFill>
                  <a:srgbClr val="E2E8F0"/>
                </a:solidFill>
                <a:latin typeface="Consolas"/>
              </a:rPr>
              <a:t>from PIL import Image</a:t>
            </a:r>
          </a:p>
          <a:p>
            <a:r>
              <a:rPr sz="1000">
                <a:solidFill>
                  <a:srgbClr val="E2E8F0"/>
                </a:solidFill>
                <a:latin typeface="Consolas"/>
              </a:rPr>
              <a:t>import torchvision.transforms as T</a:t>
            </a:r>
          </a:p>
          <a:p>
            <a:r>
              <a:rPr sz="1000">
                <a:solidFill>
                  <a:srgbClr val="E2E8F0"/>
                </a:solidFill>
                <a:latin typeface="Consolas"/>
              </a:rPr>
              <a:t>from sklearn.metrics import roc_auc_score</a:t>
            </a:r>
          </a:p>
          <a:p>
            <a:r>
              <a:rPr sz="1000">
                <a:solidFill>
                  <a:srgbClr val="E2E8F0"/>
                </a:solidFill>
                <a:latin typeface="Consolas"/>
              </a:rPr>
              <a:t> </a:t>
            </a:r>
          </a:p>
          <a:p>
            <a:r>
              <a:rPr sz="1000">
                <a:solidFill>
                  <a:srgbClr val="E2E8F0"/>
                </a:solidFill>
                <a:latin typeface="Consolas"/>
              </a:rPr>
              <a:t>class CXR(Dataset):</a:t>
            </a:r>
          </a:p>
          <a:p>
            <a:r>
              <a:rPr sz="1000">
                <a:solidFill>
                  <a:srgbClr val="E2E8F0"/>
                </a:solidFill>
                <a:latin typeface="Consolas"/>
              </a:rPr>
              <a:t>    def __init__(self, split, tf):</a:t>
            </a:r>
          </a:p>
          <a:p>
            <a:r>
              <a:rPr sz="1000">
                <a:solidFill>
                  <a:srgbClr val="E2E8F0"/>
                </a:solidFill>
                <a:latin typeface="Consolas"/>
              </a:rPr>
              <a:t>        m = pd.read_parquet("data/processed/manifest.parquet"); self.df = m[m.split == split].reset_index(drop=True); se</a:t>
            </a:r>
          </a:p>
          <a:p>
            <a:r>
              <a:rPr sz="1000">
                <a:solidFill>
                  <a:srgbClr val="E2E8F0"/>
                </a:solidFill>
                <a:latin typeface="Consolas"/>
              </a:rPr>
              <a:t>    def __len__(self): return len(self.df)</a:t>
            </a:r>
          </a:p>
          <a:p>
            <a:r>
              <a:rPr sz="1000">
                <a:solidFill>
                  <a:srgbClr val="E2E8F0"/>
                </a:solidFill>
                <a:latin typeface="Consolas"/>
              </a:rPr>
              <a:t>    def __getitem__(self, i):</a:t>
            </a:r>
          </a:p>
          <a:p>
            <a:r>
              <a:rPr sz="1000">
                <a:solidFill>
                  <a:srgbClr val="E2E8F0"/>
                </a:solidFill>
                <a:latin typeface="Consolas"/>
              </a:rPr>
              <a:t>        r = self.df.iloc[i]</a:t>
            </a:r>
          </a:p>
          <a:p>
            <a:r>
              <a:rPr sz="1000">
                <a:solidFill>
                  <a:srgbClr val="E2E8F0"/>
                </a:solidFill>
                <a:latin typeface="Consolas"/>
              </a:rPr>
              <a:t>        return self.tf(Image.open(f"data/raw/images/{r.image_id}").convert("RGB")), r.finding</a:t>
            </a:r>
          </a:p>
          <a:p>
            <a:r>
              <a:rPr sz="1000">
                <a:solidFill>
                  <a:srgbClr val="E2E8F0"/>
                </a:solidFill>
                <a:latin typeface="Consolas"/>
              </a:rPr>
              <a:t> </a:t>
            </a:r>
          </a:p>
          <a:p>
            <a:r>
              <a:rPr sz="1000">
                <a:solidFill>
                  <a:srgbClr val="E2E8F0"/>
                </a:solidFill>
                <a:latin typeface="Consolas"/>
              </a:rPr>
              <a:t>dev = "cuda" if torch.cuda.is_available() else "cpu"</a:t>
            </a:r>
          </a:p>
          <a:p>
            <a:r>
              <a:rPr sz="1000">
                <a:solidFill>
                  <a:srgbClr val="E2E8F0"/>
                </a:solidFill>
                <a:latin typeface="Consolas"/>
              </a:rPr>
              <a:t>tf_tr = T.Compose([T.Resize(256), T.RandomResizedCrop(224, scale=(0.8, 1)), T.RandomRotation(7), T.ToTensor(),</a:t>
            </a:r>
          </a:p>
          <a:p>
            <a:r>
              <a:rPr sz="1000">
                <a:solidFill>
                  <a:srgbClr val="E2E8F0"/>
                </a:solidFill>
                <a:latin typeface="Consolas"/>
              </a:rPr>
              <a:t>                   T.Normalize([0.485, 0.456, 0.406], [0.229, 0.224, 0.225])])</a:t>
            </a:r>
          </a:p>
          <a:p>
            <a:r>
              <a:rPr sz="1000">
                <a:solidFill>
                  <a:srgbClr val="E2E8F0"/>
                </a:solidFill>
                <a:latin typeface="Consolas"/>
              </a:rPr>
              <a:t>tf_te = T.Compose([T.Resize(256), T.CenterCrop(224), T.ToTensor(), T.Normalize([0.485, 0.456, 0.406], [0.229, 0.224, 0.2</a:t>
            </a:r>
          </a:p>
          <a:p>
            <a:r>
              <a:rPr sz="1000">
                <a:solidFill>
                  <a:srgbClr val="E2E8F0"/>
                </a:solidFill>
                <a:latin typeface="Consolas"/>
              </a:rPr>
              <a:t>tr = DataLoader(CXR("train", tf_tr), 64, shuffle=True, num_workers=8, pin_memory=True)</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ONNX eksporti va inferens serveri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Server uchta vazifani bir vaqtda bajaradi: inferens, kuzatuv va audit izi. Prometheus metrikalari — tizim SLI'lari (kechikish gistogrammasi p99 hisoblash uchun, holat bo'yicha so'rovlar soni) va model SLI'lari (triage_score gistogrammasi…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ONNX eksporti va inferens serveri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src/model/export_onnx.py</a:t>
            </a:r>
          </a:p>
          <a:p>
            <a:r>
              <a:rPr sz="1000">
                <a:solidFill>
                  <a:srgbClr val="E2E8F0"/>
                </a:solidFill>
                <a:latin typeface="Consolas"/>
              </a:rPr>
              <a:t>import torch, torchvision, torch.nn as nn, onnxruntime as ort, numpy as np</a:t>
            </a:r>
          </a:p>
          <a:p>
            <a:r>
              <a:rPr sz="1000">
                <a:solidFill>
                  <a:srgbClr val="E2E8F0"/>
                </a:solidFill>
                <a:latin typeface="Consolas"/>
              </a:rPr>
              <a:t>m = torchvision.models.densenet121(); m.classifier = nn.Linear(1024, 1)</a:t>
            </a:r>
          </a:p>
          <a:p>
            <a:r>
              <a:rPr sz="1000">
                <a:solidFill>
                  <a:srgbClr val="E2E8F0"/>
                </a:solidFill>
                <a:latin typeface="Consolas"/>
              </a:rPr>
              <a:t>m.load_state_dict(torch.load("models/best.pt", map_location="cpu")); m.eval()</a:t>
            </a:r>
          </a:p>
          <a:p>
            <a:r>
              <a:rPr sz="1000">
                <a:solidFill>
                  <a:srgbClr val="E2E8F0"/>
                </a:solidFill>
                <a:latin typeface="Consolas"/>
              </a:rPr>
              <a:t>x = torch.randn(1, 3, 224, 224)</a:t>
            </a:r>
          </a:p>
          <a:p>
            <a:r>
              <a:rPr sz="1000">
                <a:solidFill>
                  <a:srgbClr val="E2E8F0"/>
                </a:solidFill>
                <a:latin typeface="Consolas"/>
              </a:rPr>
              <a:t>torch.onnx.export(m, x, "models/triage.onnx", input_names=["image"], output_names=["logit"],</a:t>
            </a:r>
          </a:p>
          <a:p>
            <a:r>
              <a:rPr sz="1000">
                <a:solidFill>
                  <a:srgbClr val="E2E8F0"/>
                </a:solidFill>
                <a:latin typeface="Consolas"/>
              </a:rPr>
              <a:t>                  dynamic_axes={"image": {0: "b"}, "logit": {0: "b"}}, opset_version=17)</a:t>
            </a:r>
          </a:p>
          <a:p>
            <a:r>
              <a:rPr sz="1000">
                <a:solidFill>
                  <a:srgbClr val="E2E8F0"/>
                </a:solidFill>
                <a:latin typeface="Consolas"/>
              </a:rPr>
              <a:t>s = ort.InferenceSession("models/triage.onnx", providers=["CPUExecutionProvider"])</a:t>
            </a:r>
          </a:p>
          <a:p>
            <a:r>
              <a:rPr sz="1000">
                <a:solidFill>
                  <a:srgbClr val="E2E8F0"/>
                </a:solidFill>
                <a:latin typeface="Consolas"/>
              </a:rPr>
              <a:t>print("maks farq:", np.abs(s.run(None, {"image": x.numpy()})[0] - m(x).detach().numpy()).max())</a:t>
            </a:r>
          </a:p>
          <a:p>
            <a:r>
              <a:rPr sz="1000">
                <a:solidFill>
                  <a:srgbClr val="7FD6D7"/>
                </a:solidFill>
                <a:latin typeface="Consolas"/>
              </a:rPr>
              <a:t># TODO (A3): FP16/INT8 variantlarini yarating va kechikish/aniqlikni jadvalga kiriting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ONNX eksporti va inferens serveri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src/serve/app.py — FastAPI + ONNX Runtime + Prometheus metrikalari + audit jurnali</a:t>
            </a:r>
          </a:p>
          <a:p>
            <a:r>
              <a:rPr sz="1000">
                <a:solidFill>
                  <a:srgbClr val="E2E8F0"/>
                </a:solidFill>
                <a:latin typeface="Consolas"/>
              </a:rPr>
              <a:t>import io, time, uuid, json, hashlib, numpy as np, onnxruntime as ort</a:t>
            </a:r>
          </a:p>
          <a:p>
            <a:r>
              <a:rPr sz="1000">
                <a:solidFill>
                  <a:srgbClr val="E2E8F0"/>
                </a:solidFill>
                <a:latin typeface="Consolas"/>
              </a:rPr>
              <a:t>from fastapi import FastAPI, UploadFile, File, Header, HTTPException, Response</a:t>
            </a:r>
          </a:p>
          <a:p>
            <a:r>
              <a:rPr sz="1000">
                <a:solidFill>
                  <a:srgbClr val="E2E8F0"/>
                </a:solidFill>
                <a:latin typeface="Consolas"/>
              </a:rPr>
              <a:t>from PIL import Image</a:t>
            </a:r>
          </a:p>
          <a:p>
            <a:r>
              <a:rPr sz="1000">
                <a:solidFill>
                  <a:srgbClr val="E2E8F0"/>
                </a:solidFill>
                <a:latin typeface="Consolas"/>
              </a:rPr>
              <a:t>from prometheus_client import Counter, Histogram, Gauge, generate_latest, CONTENT_TYPE_LATEST</a:t>
            </a:r>
          </a:p>
          <a:p>
            <a:r>
              <a:rPr sz="1000">
                <a:solidFill>
                  <a:srgbClr val="E2E8F0"/>
                </a:solidFill>
                <a:latin typeface="Consolas"/>
              </a:rPr>
              <a:t> </a:t>
            </a:r>
          </a:p>
          <a:p>
            <a:r>
              <a:rPr sz="1000">
                <a:solidFill>
                  <a:srgbClr val="E2E8F0"/>
                </a:solidFill>
                <a:latin typeface="Consolas"/>
              </a:rPr>
              <a:t>MODEL_VERSION = "triage-1.2.0"; THRESHOLD = 0.31      # TODO: validatsiyadan olingan chegara</a:t>
            </a:r>
          </a:p>
          <a:p>
            <a:r>
              <a:rPr sz="1000">
                <a:solidFill>
                  <a:srgbClr val="E2E8F0"/>
                </a:solidFill>
                <a:latin typeface="Consolas"/>
              </a:rPr>
              <a:t>app = FastAPI(title="CXR Triage API", version=MODEL_VERSION)</a:t>
            </a:r>
          </a:p>
          <a:p>
            <a:r>
              <a:rPr sz="1000">
                <a:solidFill>
                  <a:srgbClr val="E2E8F0"/>
                </a:solidFill>
                <a:latin typeface="Consolas"/>
              </a:rPr>
              <a:t>sess = ort.InferenceSession("models/triage.onnx",</a:t>
            </a:r>
          </a:p>
          <a:p>
            <a:r>
              <a:rPr sz="1000">
                <a:solidFill>
                  <a:srgbClr val="E2E8F0"/>
                </a:solidFill>
                <a:latin typeface="Consolas"/>
              </a:rPr>
              <a:t>        providers=["CUDAExecutionProvider", "CPUExecutionProvider"])</a:t>
            </a:r>
          </a:p>
          <a:p>
            <a:r>
              <a:rPr sz="1000">
                <a:solidFill>
                  <a:srgbClr val="E2E8F0"/>
                </a:solidFill>
                <a:latin typeface="Consolas"/>
              </a:rPr>
              <a:t>REQ = Counter("triage_requests_total", "so'rovlar", ["status"])</a:t>
            </a:r>
          </a:p>
          <a:p>
            <a:r>
              <a:rPr sz="1000">
                <a:solidFill>
                  <a:srgbClr val="E2E8F0"/>
                </a:solidFill>
                <a:latin typeface="Consolas"/>
              </a:rPr>
              <a:t>LAT = Histogram("triage_latency_seconds", "to'liq kechikish", buckets=(.05, .1, .2, .3, .5, .8, 1, 2))</a:t>
            </a:r>
          </a:p>
          <a:p>
            <a:r>
              <a:rPr sz="1000">
                <a:solidFill>
                  <a:srgbClr val="E2E8F0"/>
                </a:solidFill>
                <a:latin typeface="Consolas"/>
              </a:rPr>
              <a:t>SCORE = Histogram("triage_score", "bashorat ehtimoli taqsimoti", buckets=[i/10 for i in range(11)])</a:t>
            </a:r>
          </a:p>
          <a:p>
            <a:r>
              <a:rPr sz="1000">
                <a:solidFill>
                  <a:srgbClr val="E2E8F0"/>
                </a:solidFill>
                <a:latin typeface="Consolas"/>
              </a:rPr>
              <a:t>POS_RATE = Gauge("triage_positive_rate_1h", "so'nggi soatda ijobiy ulushi")   # drift.py yangilaydi</a:t>
            </a:r>
          </a:p>
          <a:p>
            <a:r>
              <a:rPr sz="1000">
                <a:solidFill>
                  <a:srgbClr val="E2E8F0"/>
                </a:solidFill>
                <a:latin typeface="Consolas"/>
              </a:rPr>
              <a:t>MEAN, STD = np.array([0.485, 0.456, 0.406]), np.array([0.229, 0.224, 0.225])</a:t>
            </a:r>
          </a:p>
          <a:p>
            <a:r>
              <a:rPr sz="1000">
                <a:solidFill>
                  <a:srgbClr val="E2E8F0"/>
                </a:solidFill>
                <a:latin typeface="Consolas"/>
              </a:rPr>
              <a:t> </a:t>
            </a:r>
          </a:p>
          <a:p>
            <a:r>
              <a:rPr sz="1000">
                <a:solidFill>
                  <a:srgbClr val="E2E8F0"/>
                </a:solidFill>
                <a:latin typeface="Consolas"/>
              </a:rPr>
              <a:t>def preprocess(b: bytes) -&gt; np.ndarray:</a:t>
            </a:r>
          </a:p>
          <a:p>
            <a:r>
              <a:rPr sz="1000">
                <a:solidFill>
                  <a:srgbClr val="E2E8F0"/>
                </a:solidFill>
                <a:latin typeface="Consolas"/>
              </a:rPr>
              <a:t>    im = Image.open(io.BytesIO(b)).convert("RGB")</a:t>
            </a:r>
          </a:p>
          <a:p>
            <a:r>
              <a:rPr sz="1000">
                <a:solidFill>
                  <a:srgbClr val="E2E8F0"/>
                </a:solidFill>
                <a:latin typeface="Consolas"/>
              </a:rPr>
              <a:t>    w, h = im.size; s = 256 / min(w, h); im = im.resize((round(w*s), round(h*s)))</a:t>
            </a:r>
          </a:p>
          <a:p>
            <a:r>
              <a:rPr sz="1000">
                <a:solidFill>
                  <a:srgbClr val="E2E8F0"/>
                </a:solidFill>
                <a:latin typeface="Consolas"/>
              </a:rPr>
              <a:t>    l, t = (im.width - 224)//2, (im.height - 224)//2; im = im.crop((l, t, l+224, t+224))</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Konteynerlashtirish, yuk sinovi va monitoring</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Docker obrazi root bo'lmagan foydalanuvchi bilan ishlaydi, HEALTHCHECK orkestrator uchun tiriklik belgisi beradi. Locust 40 virtual foydalanuvchi bilan 3 daqiqa yuk beradi; Grafana'da histogram_quantile(0.99,…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Konteynerlashtirish, yuk sinovi va monitoring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deploy/Dockerfile</a:t>
            </a:r>
          </a:p>
          <a:p>
            <a:r>
              <a:rPr sz="1000">
                <a:solidFill>
                  <a:srgbClr val="E2E8F0"/>
                </a:solidFill>
                <a:latin typeface="Consolas"/>
              </a:rPr>
              <a:t>FROM nvidia/cuda:12.4.1-cudnn-runtime-ubuntu22.04</a:t>
            </a:r>
          </a:p>
          <a:p>
            <a:r>
              <a:rPr sz="1000">
                <a:solidFill>
                  <a:srgbClr val="E2E8F0"/>
                </a:solidFill>
                <a:latin typeface="Consolas"/>
              </a:rPr>
              <a:t>RUN apt-get update &amp;&amp; apt-get install -y python3 python3-pip &amp;&amp; rm -rf /var/lib/apt/lists/*</a:t>
            </a:r>
          </a:p>
          <a:p>
            <a:r>
              <a:rPr sz="1000">
                <a:solidFill>
                  <a:srgbClr val="E2E8F0"/>
                </a:solidFill>
                <a:latin typeface="Consolas"/>
              </a:rPr>
              <a:t>WORKDIR /app</a:t>
            </a:r>
          </a:p>
          <a:p>
            <a:r>
              <a:rPr sz="1000">
                <a:solidFill>
                  <a:srgbClr val="E2E8F0"/>
                </a:solidFill>
                <a:latin typeface="Consolas"/>
              </a:rPr>
              <a:t>COPY requirements.txt .</a:t>
            </a:r>
          </a:p>
          <a:p>
            <a:r>
              <a:rPr sz="1000">
                <a:solidFill>
                  <a:srgbClr val="E2E8F0"/>
                </a:solidFill>
                <a:latin typeface="Consolas"/>
              </a:rPr>
              <a:t>RUN pip3 install --no-cache-dir -r requirements.txt</a:t>
            </a:r>
          </a:p>
          <a:p>
            <a:r>
              <a:rPr sz="1000">
                <a:solidFill>
                  <a:srgbClr val="E2E8F0"/>
                </a:solidFill>
                <a:latin typeface="Consolas"/>
              </a:rPr>
              <a:t>COPY src/serve ./src/serve</a:t>
            </a:r>
          </a:p>
          <a:p>
            <a:r>
              <a:rPr sz="1000">
                <a:solidFill>
                  <a:srgbClr val="E2E8F0"/>
                </a:solidFill>
                <a:latin typeface="Consolas"/>
              </a:rPr>
              <a:t>COPY models/triage.onnx ./models/</a:t>
            </a:r>
          </a:p>
          <a:p>
            <a:r>
              <a:rPr sz="1000">
                <a:solidFill>
                  <a:srgbClr val="E2E8F0"/>
                </a:solidFill>
                <a:latin typeface="Consolas"/>
              </a:rPr>
              <a:t>RUN mkdir -p logs &amp;&amp; useradd -m svc &amp;&amp; chown -R svc /app</a:t>
            </a:r>
          </a:p>
          <a:p>
            <a:r>
              <a:rPr sz="1000">
                <a:solidFill>
                  <a:srgbClr val="E2E8F0"/>
                </a:solidFill>
                <a:latin typeface="Consolas"/>
              </a:rPr>
              <a:t>USER svc</a:t>
            </a:r>
          </a:p>
          <a:p>
            <a:r>
              <a:rPr sz="1000">
                <a:solidFill>
                  <a:srgbClr val="E2E8F0"/>
                </a:solidFill>
                <a:latin typeface="Consolas"/>
              </a:rPr>
              <a:t>EXPOSE 8000</a:t>
            </a:r>
          </a:p>
          <a:p>
            <a:r>
              <a:rPr sz="1000">
                <a:solidFill>
                  <a:srgbClr val="E2E8F0"/>
                </a:solidFill>
                <a:latin typeface="Consolas"/>
              </a:rPr>
              <a:t>HEALTHCHECK CMD python3 -c "import urllib.request;urllib.request.urlopen('http://localhost:8000/health')"</a:t>
            </a:r>
          </a:p>
          <a:p>
            <a:r>
              <a:rPr sz="1000">
                <a:solidFill>
                  <a:srgbClr val="E2E8F0"/>
                </a:solidFill>
                <a:latin typeface="Consolas"/>
              </a:rPr>
              <a:t>CMD ["uvicorn", "src.serve.app:app", "--host", "0.0.0.0", "--port", "8000", "--workers",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Konteynerlashtirish, yuk sinovi va monitoring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deploy/docker-compose.yml</a:t>
            </a:r>
          </a:p>
          <a:p>
            <a:r>
              <a:rPr sz="1000">
                <a:solidFill>
                  <a:srgbClr val="E2E8F0"/>
                </a:solidFill>
                <a:latin typeface="Consolas"/>
              </a:rPr>
              <a:t>services:</a:t>
            </a:r>
          </a:p>
          <a:p>
            <a:r>
              <a:rPr sz="1000">
                <a:solidFill>
                  <a:srgbClr val="E2E8F0"/>
                </a:solidFill>
                <a:latin typeface="Consolas"/>
              </a:rPr>
              <a:t>  api:</a:t>
            </a:r>
          </a:p>
          <a:p>
            <a:r>
              <a:rPr sz="1000">
                <a:solidFill>
                  <a:srgbClr val="E2E8F0"/>
                </a:solidFill>
                <a:latin typeface="Consolas"/>
              </a:rPr>
              <a:t>    build: {context: .., dockerfile: deploy/Dockerfile}</a:t>
            </a:r>
          </a:p>
          <a:p>
            <a:r>
              <a:rPr sz="1000">
                <a:solidFill>
                  <a:srgbClr val="E2E8F0"/>
                </a:solidFill>
                <a:latin typeface="Consolas"/>
              </a:rPr>
              <a:t>    ports: ["8000:8000"]</a:t>
            </a:r>
          </a:p>
          <a:p>
            <a:r>
              <a:rPr sz="1000">
                <a:solidFill>
                  <a:srgbClr val="E2E8F0"/>
                </a:solidFill>
                <a:latin typeface="Consolas"/>
              </a:rPr>
              <a:t>    volumes: ["../logs:/app/logs"]</a:t>
            </a:r>
          </a:p>
          <a:p>
            <a:r>
              <a:rPr sz="1000">
                <a:solidFill>
                  <a:srgbClr val="E2E8F0"/>
                </a:solidFill>
                <a:latin typeface="Consolas"/>
              </a:rPr>
              <a:t>    deploy: {resources: {reservations: {devices: [{driver: nvidia, count: 1, capabilities: [gpu]}]}}}</a:t>
            </a:r>
          </a:p>
          <a:p>
            <a:r>
              <a:rPr sz="1000">
                <a:solidFill>
                  <a:srgbClr val="E2E8F0"/>
                </a:solidFill>
                <a:latin typeface="Consolas"/>
              </a:rPr>
              <a:t>  prometheus:</a:t>
            </a:r>
          </a:p>
          <a:p>
            <a:r>
              <a:rPr sz="1000">
                <a:solidFill>
                  <a:srgbClr val="E2E8F0"/>
                </a:solidFill>
                <a:latin typeface="Consolas"/>
              </a:rPr>
              <a:t>    image: prom/prometheus:v2.53.0</a:t>
            </a:r>
          </a:p>
          <a:p>
            <a:r>
              <a:rPr sz="1000">
                <a:solidFill>
                  <a:srgbClr val="E2E8F0"/>
                </a:solidFill>
                <a:latin typeface="Consolas"/>
              </a:rPr>
              <a:t>    volumes: ["./prometheus.yml:/etc/prometheus/prometheus.yml"]</a:t>
            </a:r>
          </a:p>
          <a:p>
            <a:r>
              <a:rPr sz="1000">
                <a:solidFill>
                  <a:srgbClr val="E2E8F0"/>
                </a:solidFill>
                <a:latin typeface="Consolas"/>
              </a:rPr>
              <a:t>    ports: ["9090:9090"]</a:t>
            </a:r>
          </a:p>
          <a:p>
            <a:r>
              <a:rPr sz="1000">
                <a:solidFill>
                  <a:srgbClr val="E2E8F0"/>
                </a:solidFill>
                <a:latin typeface="Consolas"/>
              </a:rPr>
              <a:t>  grafana:</a:t>
            </a:r>
          </a:p>
          <a:p>
            <a:r>
              <a:rPr sz="1000">
                <a:solidFill>
                  <a:srgbClr val="E2E8F0"/>
                </a:solidFill>
                <a:latin typeface="Consolas"/>
              </a:rPr>
              <a:t>    image: grafana/grafana:11.1.0</a:t>
            </a:r>
          </a:p>
          <a:p>
            <a:r>
              <a:rPr sz="1000">
                <a:solidFill>
                  <a:srgbClr val="E2E8F0"/>
                </a:solidFill>
                <a:latin typeface="Consolas"/>
              </a:rPr>
              <a:t>    ports: ["3000:3000"]</a:t>
            </a:r>
          </a:p>
          <a:p>
            <a:r>
              <a:rPr sz="1000">
                <a:solidFill>
                  <a:srgbClr val="E2E8F0"/>
                </a:solidFill>
                <a:latin typeface="Consolas"/>
              </a:rPr>
              <a:t>    volumes: ["./grafana:/etc/grafana/provisioning"]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Adolatlilik va mustahkamlik hisoboti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NIH to'plamida odatiy kuzatuv: jinslar bo'yicha AUC va TPR farqi kichik (0.01–0.03), yosh guruhlari bo'yicha esa sezilarli — 0–18 yosh guruhida namunalar kam va TPR 0.08–0.12 ga past bo'lishi mumkin (taxminiy). Bu holda guruh ikki yo'ldan…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Adolatlilik va mustahkamlik hisoboti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src/monitor/fairness_report.py — test to'plami bashoratlari bo'yicha kesimlar tahlili</a:t>
            </a:r>
          </a:p>
          <a:p>
            <a:r>
              <a:rPr sz="1000">
                <a:solidFill>
                  <a:srgbClr val="E2E8F0"/>
                </a:solidFill>
                <a:latin typeface="Consolas"/>
              </a:rPr>
              <a:t>import numpy as np, pandas as pd</a:t>
            </a:r>
          </a:p>
          <a:p>
            <a:r>
              <a:rPr sz="1000">
                <a:solidFill>
                  <a:srgbClr val="E2E8F0"/>
                </a:solidFill>
                <a:latin typeface="Consolas"/>
              </a:rPr>
              <a:t>from fairlearn.metrics import MetricFrame, true_positive_rate, false_positive_rate, selection_rate</a:t>
            </a:r>
          </a:p>
          <a:p>
            <a:r>
              <a:rPr sz="1000">
                <a:solidFill>
                  <a:srgbClr val="E2E8F0"/>
                </a:solidFill>
                <a:latin typeface="Consolas"/>
              </a:rPr>
              <a:t>from sklearn.metrics import roc_auc_score</a:t>
            </a:r>
          </a:p>
          <a:p>
            <a:r>
              <a:rPr sz="1000">
                <a:solidFill>
                  <a:srgbClr val="E2E8F0"/>
                </a:solidFill>
                <a:latin typeface="Consolas"/>
              </a:rPr>
              <a:t>df = pd.read_parquet("data/processed/test_predictions.parquet")   # evaluate.py saqlaydi: score, finding, sex, age</a:t>
            </a:r>
          </a:p>
          <a:p>
            <a:r>
              <a:rPr sz="1000">
                <a:solidFill>
                  <a:srgbClr val="E2E8F0"/>
                </a:solidFill>
                <a:latin typeface="Consolas"/>
              </a:rPr>
              <a:t>df["age_group"] = pd.cut(df.age, [0, 18, 40, 60, 100], labels=["0-18", "19-40", "41-60", "61+"])</a:t>
            </a:r>
          </a:p>
          <a:p>
            <a:r>
              <a:rPr sz="1000">
                <a:solidFill>
                  <a:srgbClr val="E2E8F0"/>
                </a:solidFill>
                <a:latin typeface="Consolas"/>
              </a:rPr>
              <a:t>df["pred"] = (df.score &gt;= 0.31).astype(int)</a:t>
            </a:r>
          </a:p>
          <a:p>
            <a:r>
              <a:rPr sz="1000">
                <a:solidFill>
                  <a:srgbClr val="E2E8F0"/>
                </a:solidFill>
                <a:latin typeface="Consolas"/>
              </a:rPr>
              <a:t>for attr in ["sex", "age_group"]:</a:t>
            </a:r>
          </a:p>
          <a:p>
            <a:r>
              <a:rPr sz="1000">
                <a:solidFill>
                  <a:srgbClr val="E2E8F0"/>
                </a:solidFill>
                <a:latin typeface="Consolas"/>
              </a:rPr>
              <a:t>    mf = MetricFrame(metrics={"n": lambda y, p: len(y), "tpr": true_positive_rate, "fpr": false_positive_rate,</a:t>
            </a:r>
          </a:p>
          <a:p>
            <a:r>
              <a:rPr sz="1000">
                <a:solidFill>
                  <a:srgbClr val="E2E8F0"/>
                </a:solidFill>
                <a:latin typeface="Consolas"/>
              </a:rPr>
              <a:t>                              "sel": selection_rate}, y_true=df.finding, y_pred=df.pred, sensitive_features=df[attr])</a:t>
            </a:r>
          </a:p>
          <a:p>
            <a:r>
              <a:rPr sz="1000">
                <a:solidFill>
                  <a:srgbClr val="E2E8F0"/>
                </a:solidFill>
                <a:latin typeface="Consolas"/>
              </a:rPr>
              <a:t>    auc = df.groupby(attr).apply(lambda g: roc_auc_score(g.finding, g.score))</a:t>
            </a:r>
          </a:p>
          <a:p>
            <a:r>
              <a:rPr sz="1000">
                <a:solidFill>
                  <a:srgbClr val="E2E8F0"/>
                </a:solidFill>
                <a:latin typeface="Consolas"/>
              </a:rPr>
              <a:t>    rep = mf.by_group.assign(auc=auc).round(3)</a:t>
            </a:r>
          </a:p>
          <a:p>
            <a:r>
              <a:rPr sz="1000">
                <a:solidFill>
                  <a:srgbClr val="E2E8F0"/>
                </a:solidFill>
                <a:latin typeface="Consolas"/>
              </a:rPr>
              <a:t>    print(f"\n== {attr}\n", rep, "\nTPR farqi (max-min):", round(mf.difference()["tpr"], 3))</a:t>
            </a:r>
          </a:p>
          <a:p>
            <a:r>
              <a:rPr sz="1000">
                <a:solidFill>
                  <a:srgbClr val="7FD6D7"/>
                </a:solidFill>
                <a:latin typeface="Consolas"/>
              </a:rPr>
              <a:t># TODO: TPR farqi &gt; 0.05 bo'lsa — guruhga xos chegara (ThresholdOptimizer) yoki qayta vaznlash;</a:t>
            </a:r>
          </a:p>
          <a:p>
            <a:r>
              <a:rPr sz="1000">
                <a:solidFill>
                  <a:srgbClr val="7FD6D7"/>
                </a:solidFill>
                <a:latin typeface="Consolas"/>
              </a:rPr>
              <a:t>#       bootstrap ishonch intervallari; A6 PGD mustahkamlik egri chizig'i (eps 1/255..4/255) shu hisobotga qo'shiladi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Loyiha hujjati: to'ldirilgan pasport namunasi (qisqartirilgan)</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5600000"/>
                <a:gridCol w="5600000"/>
              </a:tblGrid>
              <a:tr h="520000">
                <a:tc>
                  <a:txBody>
                    <a:bodyPr/>
                    <a:lstStyle/>
                    <a:p>
                      <a:r>
                        <a:rPr sz="1000" b="1">
                          <a:solidFill>
                            <a:srgbClr val="FFFFFF"/>
                          </a:solidFill>
                          <a:latin typeface="Calibri"/>
                        </a:rPr>
                        <a:t>Maydon</a:t>
                      </a:r>
                    </a:p>
                  </a:txBody>
                  <a:tcPr>
                    <a:solidFill>
                      <a:srgbClr val="2D5C8F"/>
                    </a:solidFill>
                  </a:tcPr>
                </a:tc>
                <a:tc>
                  <a:txBody>
                    <a:bodyPr/>
                    <a:lstStyle/>
                    <a:p>
                      <a:r>
                        <a:rPr sz="1000" b="1">
                          <a:solidFill>
                            <a:srgbClr val="FFFFFF"/>
                          </a:solidFill>
                          <a:latin typeface="Calibri"/>
                        </a:rPr>
                        <a:t>Mazmun</a:t>
                      </a:r>
                    </a:p>
                  </a:txBody>
                  <a:tcPr>
                    <a:solidFill>
                      <a:srgbClr val="2D5C8F"/>
                    </a:solidFill>
                  </a:tcPr>
                </a:tc>
              </a:tr>
              <a:tr h="520000">
                <a:tc>
                  <a:txBody>
                    <a:bodyPr/>
                    <a:lstStyle/>
                    <a:p>
                      <a:r>
                        <a:rPr sz="1000" b="0">
                          <a:solidFill>
                            <a:srgbClr val="1B2430"/>
                          </a:solidFill>
                          <a:latin typeface="Calibri"/>
                        </a:rPr>
                        <a:t>Nomi</a:t>
                      </a:r>
                    </a:p>
                  </a:txBody>
                  <a:tcPr>
                    <a:solidFill>
                      <a:srgbClr val="F1F4F8"/>
                    </a:solidFill>
                  </a:tcPr>
                </a:tc>
                <a:tc>
                  <a:txBody>
                    <a:bodyPr/>
                    <a:lstStyle/>
                    <a:p>
                      <a:r>
                        <a:rPr sz="1000" b="0">
                          <a:solidFill>
                            <a:srgbClr val="1B2430"/>
                          </a:solidFill>
                          <a:latin typeface="Calibri"/>
                        </a:rPr>
                        <a:t>CXR Triage — rentgenogrammalarni birlamchi saralash</a:t>
                      </a:r>
                    </a:p>
                  </a:txBody>
                  <a:tcPr>
                    <a:solidFill>
                      <a:srgbClr val="F1F4F8"/>
                    </a:solidFill>
                  </a:tcPr>
                </a:tc>
              </a:tr>
              <a:tr h="520000">
                <a:tc>
                  <a:txBody>
                    <a:bodyPr/>
                    <a:lstStyle/>
                    <a:p>
                      <a:r>
                        <a:rPr sz="1000" b="0">
                          <a:solidFill>
                            <a:srgbClr val="1B2430"/>
                          </a:solidFill>
                          <a:latin typeface="Calibri"/>
                        </a:rPr>
                        <a:t>Foydalanuvchi</a:t>
                      </a:r>
                    </a:p>
                  </a:txBody>
                  <a:tcPr>
                    <a:solidFill>
                      <a:srgbClr val="FFFFFF"/>
                    </a:solidFill>
                  </a:tcPr>
                </a:tc>
                <a:tc>
                  <a:txBody>
                    <a:bodyPr/>
                    <a:lstStyle/>
                    <a:p>
                      <a:r>
                        <a:rPr sz="1000" b="0">
                          <a:solidFill>
                            <a:srgbClr val="1B2430"/>
                          </a:solidFill>
                          <a:latin typeface="Calibri"/>
                        </a:rPr>
                        <a:t>Radiologiya bo'limi; ish ro'yxatini tartiblash moduli</a:t>
                      </a:r>
                    </a:p>
                  </a:txBody>
                  <a:tcPr>
                    <a:solidFill>
                      <a:srgbClr val="FFFFFF"/>
                    </a:solidFill>
                  </a:tcPr>
                </a:tc>
              </a:tr>
              <a:tr h="520000">
                <a:tc>
                  <a:txBody>
                    <a:bodyPr/>
                    <a:lstStyle/>
                    <a:p>
                      <a:r>
                        <a:rPr sz="1000" b="0">
                          <a:solidFill>
                            <a:srgbClr val="1B2430"/>
                          </a:solidFill>
                          <a:latin typeface="Calibri"/>
                        </a:rPr>
                        <a:t>Muvaffaqiyat mezoni</a:t>
                      </a:r>
                    </a:p>
                  </a:txBody>
                  <a:tcPr>
                    <a:solidFill>
                      <a:srgbClr val="F1F4F8"/>
                    </a:solidFill>
                  </a:tcPr>
                </a:tc>
                <a:tc>
                  <a:txBody>
                    <a:bodyPr/>
                    <a:lstStyle/>
                    <a:p>
                      <a:r>
                        <a:rPr sz="1000" b="0">
                          <a:solidFill>
                            <a:srgbClr val="1B2430"/>
                          </a:solidFill>
                          <a:latin typeface="Calibri"/>
                        </a:rPr>
                        <a:t>Xavfli holatlarning o'rtacha kutish vaqti 40% ga qisqaradi (simulyatsiyada navbat modeli bilan baholanadi)</a:t>
                      </a:r>
                    </a:p>
                  </a:txBody>
                  <a:tcPr>
                    <a:solidFill>
                      <a:srgbClr val="F1F4F8"/>
                    </a:solidFill>
                  </a:tcPr>
                </a:tc>
              </a:tr>
              <a:tr h="520000">
                <a:tc>
                  <a:txBody>
                    <a:bodyPr/>
                    <a:lstStyle/>
                    <a:p>
                      <a:r>
                        <a:rPr sz="1000" b="0">
                          <a:solidFill>
                            <a:srgbClr val="1B2430"/>
                          </a:solidFill>
                          <a:latin typeface="Calibri"/>
                        </a:rPr>
                        <a:t>Model SLO</a:t>
                      </a:r>
                    </a:p>
                  </a:txBody>
                  <a:tcPr>
                    <a:solidFill>
                      <a:srgbClr val="FFFFFF"/>
                    </a:solidFill>
                  </a:tcPr>
                </a:tc>
                <a:tc>
                  <a:txBody>
                    <a:bodyPr/>
                    <a:lstStyle/>
                    <a:p>
                      <a:r>
                        <a:rPr sz="1000" b="0">
                          <a:solidFill>
                            <a:srgbClr val="1B2430"/>
                          </a:solidFill>
                          <a:latin typeface="Calibri"/>
                        </a:rPr>
                        <a:t>Sezgirlik ≥ 0.90; kesimlar bo'yicha TPR farqi ≤ 0.05; AUC ≥ 0.75</a:t>
                      </a:r>
                    </a:p>
                  </a:txBody>
                  <a:tcPr>
                    <a:solidFill>
                      <a:srgbClr val="FFFFFF"/>
                    </a:solidFill>
                  </a:tcPr>
                </a:tc>
              </a:tr>
              <a:tr h="520000">
                <a:tc>
                  <a:txBody>
                    <a:bodyPr/>
                    <a:lstStyle/>
                    <a:p>
                      <a:r>
                        <a:rPr sz="1000" b="0">
                          <a:solidFill>
                            <a:srgbClr val="1B2430"/>
                          </a:solidFill>
                          <a:latin typeface="Calibri"/>
                        </a:rPr>
                        <a:t>Tizim SLO</a:t>
                      </a:r>
                    </a:p>
                  </a:txBody>
                  <a:tcPr>
                    <a:solidFill>
                      <a:srgbClr val="F1F4F8"/>
                    </a:solidFill>
                  </a:tcPr>
                </a:tc>
                <a:tc>
                  <a:txBody>
                    <a:bodyPr/>
                    <a:lstStyle/>
                    <a:p>
                      <a:r>
                        <a:rPr sz="1000" b="0">
                          <a:solidFill>
                            <a:srgbClr val="1B2430"/>
                          </a:solidFill>
                          <a:latin typeface="Calibri"/>
                        </a:rPr>
                        <a:t>p99 ≤ 300 ms (GPU); ≥ 20 so'rov/s; mavjudlik 99.5%</a:t>
                      </a:r>
                    </a:p>
                  </a:txBody>
                  <a:tcPr>
                    <a:solidFill>
                      <a:srgbClr val="F1F4F8"/>
                    </a:solidFill>
                  </a:tcPr>
                </a:tc>
              </a:tr>
              <a:tr h="520000">
                <a:tc>
                  <a:txBody>
                    <a:bodyPr/>
                    <a:lstStyle/>
                    <a:p>
                      <a:r>
                        <a:rPr sz="1000" b="0">
                          <a:solidFill>
                            <a:srgbClr val="1B2430"/>
                          </a:solidFill>
                          <a:latin typeface="Calibri"/>
                        </a:rPr>
                        <a:t>Xavf toifasi</a:t>
                      </a:r>
                    </a:p>
                  </a:txBody>
                  <a:tcPr>
                    <a:solidFill>
                      <a:srgbClr val="FFFFFF"/>
                    </a:solidFill>
                  </a:tcPr>
                </a:tc>
                <a:tc>
                  <a:txBody>
                    <a:bodyPr/>
                    <a:lstStyle/>
                    <a:p>
                      <a:r>
                        <a:rPr sz="1000" b="0">
                          <a:solidFill>
                            <a:srgbClr val="1B2430"/>
                          </a:solidFill>
                          <a:latin typeface="Calibri"/>
                        </a:rPr>
                        <a:t>Yuqori (EU AI Act, III ilova — tibbiyot); inson nazorati: radiolog har tasvirni baribir ko'radi</a:t>
                      </a:r>
                    </a:p>
                  </a:txBody>
                  <a:tcPr>
                    <a:solidFill>
                      <a:srgbClr val="FFFFFF"/>
                    </a:solidFill>
                  </a:tcPr>
                </a:tc>
              </a:tr>
              <a:tr h="520000">
                <a:tc>
                  <a:txBody>
                    <a:bodyPr/>
                    <a:lstStyle/>
                    <a:p>
                      <a:r>
                        <a:rPr sz="1000" b="0">
                          <a:solidFill>
                            <a:srgbClr val="1B2430"/>
                          </a:solidFill>
                          <a:latin typeface="Calibri"/>
                        </a:rPr>
                        <a:t>Ma'lumot</a:t>
                      </a:r>
                    </a:p>
                  </a:txBody>
                  <a:tcPr>
                    <a:solidFill>
                      <a:srgbClr val="F1F4F8"/>
                    </a:solidFill>
                  </a:tcPr>
                </a:tc>
                <a:tc>
                  <a:txBody>
                    <a:bodyPr/>
                    <a:lstStyle/>
                    <a:p>
                      <a:r>
                        <a:rPr sz="1000" b="0">
                          <a:solidFill>
                            <a:srgbClr val="1B2430"/>
                          </a:solidFill>
                          <a:latin typeface="Calibri"/>
                        </a:rPr>
                        <a:t>NIH ChestX-ray14, CC0 litsenziya; yorliqlar shovqinli (NLP bilan olingan) — cheklov sifatida qayd etilgan</a:t>
                      </a:r>
                    </a:p>
                  </a:txBody>
                  <a:tcPr>
                    <a:solidFill>
                      <a:srgbClr val="F1F4F8"/>
                    </a:solidFill>
                  </a:tcPr>
                </a:tc>
              </a:tr>
              <a:tr h="520000">
                <a:tc>
                  <a:txBody>
                    <a:bodyPr/>
                    <a:lstStyle/>
                    <a:p>
                      <a:r>
                        <a:rPr sz="1000" b="0">
                          <a:solidFill>
                            <a:srgbClr val="1B2430"/>
                          </a:solidFill>
                          <a:latin typeface="Calibri"/>
                        </a:rPr>
                        <a:t>Mo'ljallanmagan foydalanish</a:t>
                      </a:r>
                    </a:p>
                  </a:txBody>
                  <a:tcPr>
                    <a:solidFill>
                      <a:srgbClr val="FFFFFF"/>
                    </a:solidFill>
                  </a:tcPr>
                </a:tc>
                <a:tc>
                  <a:txBody>
                    <a:bodyPr/>
                    <a:lstStyle/>
                    <a:p>
                      <a:r>
                        <a:rPr sz="1000" b="0">
                          <a:solidFill>
                            <a:srgbClr val="1B2430"/>
                          </a:solidFill>
                          <a:latin typeface="Calibri"/>
                        </a:rPr>
                        <a:t>Tashxis qo'yish; 18 yoshgacha bemorlar; lateral proyeksiya; portativ apparat tasvirlari (test qilinmagan)</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Himoyada ko'rsatiladigan kutilgan natijalar jadvali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Ko'rsatkich</a:t>
                      </a:r>
                    </a:p>
                  </a:txBody>
                  <a:tcPr>
                    <a:solidFill>
                      <a:srgbClr val="2D5C8F"/>
                    </a:solidFill>
                  </a:tcPr>
                </a:tc>
                <a:tc>
                  <a:txBody>
                    <a:bodyPr/>
                    <a:lstStyle/>
                    <a:p>
                      <a:r>
                        <a:rPr sz="1200" b="1">
                          <a:solidFill>
                            <a:srgbClr val="FFFFFF"/>
                          </a:solidFill>
                          <a:latin typeface="Calibri"/>
                        </a:rPr>
                        <a:t>Maqsad (SLO)</a:t>
                      </a:r>
                    </a:p>
                  </a:txBody>
                  <a:tcPr>
                    <a:solidFill>
                      <a:srgbClr val="2D5C8F"/>
                    </a:solidFill>
                  </a:tcPr>
                </a:tc>
                <a:tc>
                  <a:txBody>
                    <a:bodyPr/>
                    <a:lstStyle/>
                    <a:p>
                      <a:r>
                        <a:rPr sz="1200" b="1">
                          <a:solidFill>
                            <a:srgbClr val="FFFFFF"/>
                          </a:solidFill>
                          <a:latin typeface="Calibri"/>
                        </a:rPr>
                        <a:t>Kutilgan (taxminiy)</a:t>
                      </a:r>
                    </a:p>
                  </a:txBody>
                  <a:tcPr>
                    <a:solidFill>
                      <a:srgbClr val="2D5C8F"/>
                    </a:solidFill>
                  </a:tcPr>
                </a:tc>
                <a:tc>
                  <a:txBody>
                    <a:bodyPr/>
                    <a:lstStyle/>
                    <a:p>
                      <a:r>
                        <a:rPr sz="1200" b="1">
                          <a:solidFill>
                            <a:srgbClr val="FFFFFF"/>
                          </a:solidFill>
                          <a:latin typeface="Calibri"/>
                        </a:rPr>
                        <a:t>Qayerdan olinadi</a:t>
                      </a:r>
                    </a:p>
                  </a:txBody>
                  <a:tcPr>
                    <a:solidFill>
                      <a:srgbClr val="2D5C8F"/>
                    </a:solidFill>
                  </a:tcPr>
                </a:tc>
              </a:tr>
              <a:tr h="520000">
                <a:tc>
                  <a:txBody>
                    <a:bodyPr/>
                    <a:lstStyle/>
                    <a:p>
                      <a:r>
                        <a:rPr sz="1200" b="0">
                          <a:solidFill>
                            <a:srgbClr val="1B2430"/>
                          </a:solidFill>
                          <a:latin typeface="Calibri"/>
                        </a:rPr>
                        <a:t>Val/Test AUC</a:t>
                      </a:r>
                    </a:p>
                  </a:txBody>
                  <a:tcPr>
                    <a:solidFill>
                      <a:srgbClr val="F1F4F8"/>
                    </a:solidFill>
                  </a:tcPr>
                </a:tc>
                <a:tc>
                  <a:txBody>
                    <a:bodyPr/>
                    <a:lstStyle/>
                    <a:p>
                      <a:r>
                        <a:rPr sz="1200" b="0">
                          <a:solidFill>
                            <a:srgbClr val="1B2430"/>
                          </a:solidFill>
                          <a:latin typeface="Calibri"/>
                        </a:rPr>
                        <a:t>≥ 0.75</a:t>
                      </a:r>
                    </a:p>
                  </a:txBody>
                  <a:tcPr>
                    <a:solidFill>
                      <a:srgbClr val="F1F4F8"/>
                    </a:solidFill>
                  </a:tcPr>
                </a:tc>
                <a:tc>
                  <a:txBody>
                    <a:bodyPr/>
                    <a:lstStyle/>
                    <a:p>
                      <a:r>
                        <a:rPr sz="1200" b="0">
                          <a:solidFill>
                            <a:srgbClr val="1B2430"/>
                          </a:solidFill>
                          <a:latin typeface="Calibri"/>
                        </a:rPr>
                        <a:t>0.78 / 0.77</a:t>
                      </a:r>
                    </a:p>
                  </a:txBody>
                  <a:tcPr>
                    <a:solidFill>
                      <a:srgbClr val="F1F4F8"/>
                    </a:solidFill>
                  </a:tcPr>
                </a:tc>
                <a:tc>
                  <a:txBody>
                    <a:bodyPr/>
                    <a:lstStyle/>
                    <a:p>
                      <a:r>
                        <a:rPr sz="1200" b="0">
                          <a:solidFill>
                            <a:srgbClr val="1B2430"/>
                          </a:solidFill>
                          <a:latin typeface="Calibri"/>
                        </a:rPr>
                        <a:t>evaluate.py, MLflow</a:t>
                      </a:r>
                    </a:p>
                  </a:txBody>
                  <a:tcPr>
                    <a:solidFill>
                      <a:srgbClr val="F1F4F8"/>
                    </a:solidFill>
                  </a:tcPr>
                </a:tc>
              </a:tr>
              <a:tr h="520000">
                <a:tc>
                  <a:txBody>
                    <a:bodyPr/>
                    <a:lstStyle/>
                    <a:p>
                      <a:r>
                        <a:rPr sz="1200" b="0">
                          <a:solidFill>
                            <a:srgbClr val="1B2430"/>
                          </a:solidFill>
                          <a:latin typeface="Calibri"/>
                        </a:rPr>
                        <a:t>Sezgirlik @ chegara 0.31</a:t>
                      </a:r>
                    </a:p>
                  </a:txBody>
                  <a:tcPr>
                    <a:solidFill>
                      <a:srgbClr val="FFFFFF"/>
                    </a:solidFill>
                  </a:tcPr>
                </a:tc>
                <a:tc>
                  <a:txBody>
                    <a:bodyPr/>
                    <a:lstStyle/>
                    <a:p>
                      <a:r>
                        <a:rPr sz="1200" b="0">
                          <a:solidFill>
                            <a:srgbClr val="1B2430"/>
                          </a:solidFill>
                          <a:latin typeface="Calibri"/>
                        </a:rPr>
                        <a:t>≥ 0.90</a:t>
                      </a:r>
                    </a:p>
                  </a:txBody>
                  <a:tcPr>
                    <a:solidFill>
                      <a:srgbClr val="FFFFFF"/>
                    </a:solidFill>
                  </a:tcPr>
                </a:tc>
                <a:tc>
                  <a:txBody>
                    <a:bodyPr/>
                    <a:lstStyle/>
                    <a:p>
                      <a:r>
                        <a:rPr sz="1200" b="0">
                          <a:solidFill>
                            <a:srgbClr val="1B2430"/>
                          </a:solidFill>
                          <a:latin typeface="Calibri"/>
                        </a:rPr>
                        <a:t>0.91</a:t>
                      </a:r>
                    </a:p>
                  </a:txBody>
                  <a:tcPr>
                    <a:solidFill>
                      <a:srgbClr val="FFFFFF"/>
                    </a:solidFill>
                  </a:tcPr>
                </a:tc>
                <a:tc>
                  <a:txBody>
                    <a:bodyPr/>
                    <a:lstStyle/>
                    <a:p>
                      <a:r>
                        <a:rPr sz="1200" b="0">
                          <a:solidFill>
                            <a:srgbClr val="1B2430"/>
                          </a:solidFill>
                          <a:latin typeface="Calibri"/>
                        </a:rPr>
                        <a:t>evaluate.py</a:t>
                      </a:r>
                    </a:p>
                  </a:txBody>
                  <a:tcPr>
                    <a:solidFill>
                      <a:srgbClr val="FFFFFF"/>
                    </a:solidFill>
                  </a:tcPr>
                </a:tc>
              </a:tr>
              <a:tr h="520000">
                <a:tc>
                  <a:txBody>
                    <a:bodyPr/>
                    <a:lstStyle/>
                    <a:p>
                      <a:r>
                        <a:rPr sz="1200" b="0">
                          <a:solidFill>
                            <a:srgbClr val="1B2430"/>
                          </a:solidFill>
                          <a:latin typeface="Calibri"/>
                        </a:rPr>
                        <a:t>Aniqlik (precision)</a:t>
                      </a:r>
                    </a:p>
                  </a:txBody>
                  <a:tcPr>
                    <a:solidFill>
                      <a:srgbClr val="F1F4F8"/>
                    </a:solidFill>
                  </a:tcPr>
                </a:tc>
                <a:tc>
                  <a:txBody>
                    <a:bodyPr/>
                    <a:lstStyle/>
                    <a:p>
                      <a:r>
                        <a:rPr sz="1200" b="0">
                          <a:solidFill>
                            <a:srgbClr val="1B2430"/>
                          </a:solidFill>
                          <a:latin typeface="Calibri"/>
                        </a:rPr>
                        <a:t>—</a:t>
                      </a:r>
                    </a:p>
                  </a:txBody>
                  <a:tcPr>
                    <a:solidFill>
                      <a:srgbClr val="F1F4F8"/>
                    </a:solidFill>
                  </a:tcPr>
                </a:tc>
                <a:tc>
                  <a:txBody>
                    <a:bodyPr/>
                    <a:lstStyle/>
                    <a:p>
                      <a:r>
                        <a:rPr sz="1200" b="0">
                          <a:solidFill>
                            <a:srgbClr val="1B2430"/>
                          </a:solidFill>
                          <a:latin typeface="Calibri"/>
                        </a:rPr>
                        <a:t>0.57</a:t>
                      </a:r>
                    </a:p>
                  </a:txBody>
                  <a:tcPr>
                    <a:solidFill>
                      <a:srgbClr val="F1F4F8"/>
                    </a:solidFill>
                  </a:tcPr>
                </a:tc>
                <a:tc>
                  <a:txBody>
                    <a:bodyPr/>
                    <a:lstStyle/>
                    <a:p>
                      <a:r>
                        <a:rPr sz="1200" b="0">
                          <a:solidFill>
                            <a:srgbClr val="1B2430"/>
                          </a:solidFill>
                          <a:latin typeface="Calibri"/>
                        </a:rPr>
                        <a:t>evaluate.py</a:t>
                      </a:r>
                    </a:p>
                  </a:txBody>
                  <a:tcPr>
                    <a:solidFill>
                      <a:srgbClr val="F1F4F8"/>
                    </a:solidFill>
                  </a:tcPr>
                </a:tc>
              </a:tr>
              <a:tr h="520000">
                <a:tc>
                  <a:txBody>
                    <a:bodyPr/>
                    <a:lstStyle/>
                    <a:p>
                      <a:r>
                        <a:rPr sz="1200" b="0">
                          <a:solidFill>
                            <a:srgbClr val="1B2430"/>
                          </a:solidFill>
                          <a:latin typeface="Calibri"/>
                        </a:rPr>
                        <a:t>TPR farqi (jins)</a:t>
                      </a:r>
                    </a:p>
                  </a:txBody>
                  <a:tcPr>
                    <a:solidFill>
                      <a:srgbClr val="FFFFFF"/>
                    </a:solidFill>
                  </a:tcPr>
                </a:tc>
                <a:tc>
                  <a:txBody>
                    <a:bodyPr/>
                    <a:lstStyle/>
                    <a:p>
                      <a:r>
                        <a:rPr sz="1200" b="0">
                          <a:solidFill>
                            <a:srgbClr val="1B2430"/>
                          </a:solidFill>
                          <a:latin typeface="Calibri"/>
                        </a:rPr>
                        <a:t>≤ 0.05</a:t>
                      </a:r>
                    </a:p>
                  </a:txBody>
                  <a:tcPr>
                    <a:solidFill>
                      <a:srgbClr val="FFFFFF"/>
                    </a:solidFill>
                  </a:tcPr>
                </a:tc>
                <a:tc>
                  <a:txBody>
                    <a:bodyPr/>
                    <a:lstStyle/>
                    <a:p>
                      <a:r>
                        <a:rPr sz="1200" b="0">
                          <a:solidFill>
                            <a:srgbClr val="1B2430"/>
                          </a:solidFill>
                          <a:latin typeface="Calibri"/>
                        </a:rPr>
                        <a:t>0.02</a:t>
                      </a:r>
                    </a:p>
                  </a:txBody>
                  <a:tcPr>
                    <a:solidFill>
                      <a:srgbClr val="FFFFFF"/>
                    </a:solidFill>
                  </a:tcPr>
                </a:tc>
                <a:tc>
                  <a:txBody>
                    <a:bodyPr/>
                    <a:lstStyle/>
                    <a:p>
                      <a:r>
                        <a:rPr sz="1200" b="0">
                          <a:solidFill>
                            <a:srgbClr val="1B2430"/>
                          </a:solidFill>
                          <a:latin typeface="Calibri"/>
                        </a:rPr>
                        <a:t>fairness_report.py</a:t>
                      </a:r>
                    </a:p>
                  </a:txBody>
                  <a:tcPr>
                    <a:solidFill>
                      <a:srgbClr val="FFFFFF"/>
                    </a:solidFill>
                  </a:tcPr>
                </a:tc>
              </a:tr>
              <a:tr h="520000">
                <a:tc>
                  <a:txBody>
                    <a:bodyPr/>
                    <a:lstStyle/>
                    <a:p>
                      <a:r>
                        <a:rPr sz="1200" b="0">
                          <a:solidFill>
                            <a:srgbClr val="1B2430"/>
                          </a:solidFill>
                          <a:latin typeface="Calibri"/>
                        </a:rPr>
                        <a:t>TPR farqi (yosh, 19+)</a:t>
                      </a:r>
                    </a:p>
                  </a:txBody>
                  <a:tcPr>
                    <a:solidFill>
                      <a:srgbClr val="F1F4F8"/>
                    </a:solidFill>
                  </a:tcPr>
                </a:tc>
                <a:tc>
                  <a:txBody>
                    <a:bodyPr/>
                    <a:lstStyle/>
                    <a:p>
                      <a:r>
                        <a:rPr sz="1200" b="0">
                          <a:solidFill>
                            <a:srgbClr val="1B2430"/>
                          </a:solidFill>
                          <a:latin typeface="Calibri"/>
                        </a:rPr>
                        <a:t>≤ 0.05</a:t>
                      </a:r>
                    </a:p>
                  </a:txBody>
                  <a:tcPr>
                    <a:solidFill>
                      <a:srgbClr val="F1F4F8"/>
                    </a:solidFill>
                  </a:tcPr>
                </a:tc>
                <a:tc>
                  <a:txBody>
                    <a:bodyPr/>
                    <a:lstStyle/>
                    <a:p>
                      <a:r>
                        <a:rPr sz="1200" b="0">
                          <a:solidFill>
                            <a:srgbClr val="1B2430"/>
                          </a:solidFill>
                          <a:latin typeface="Calibri"/>
                        </a:rPr>
                        <a:t>0.04</a:t>
                      </a:r>
                    </a:p>
                  </a:txBody>
                  <a:tcPr>
                    <a:solidFill>
                      <a:srgbClr val="F1F4F8"/>
                    </a:solidFill>
                  </a:tcPr>
                </a:tc>
                <a:tc>
                  <a:txBody>
                    <a:bodyPr/>
                    <a:lstStyle/>
                    <a:p>
                      <a:r>
                        <a:rPr sz="1200" b="0">
                          <a:solidFill>
                            <a:srgbClr val="1B2430"/>
                          </a:solidFill>
                          <a:latin typeface="Calibri"/>
                        </a:rPr>
                        <a:t>fairness_report.py</a:t>
                      </a:r>
                    </a:p>
                  </a:txBody>
                  <a:tcPr>
                    <a:solidFill>
                      <a:srgbClr val="F1F4F8"/>
                    </a:solidFill>
                  </a:tcPr>
                </a:tc>
              </a:tr>
              <a:tr h="520000">
                <a:tc>
                  <a:txBody>
                    <a:bodyPr/>
                    <a:lstStyle/>
                    <a:p>
                      <a:r>
                        <a:rPr sz="1200" b="0">
                          <a:solidFill>
                            <a:srgbClr val="1B2430"/>
                          </a:solidFill>
                          <a:latin typeface="Calibri"/>
                        </a:rPr>
                        <a:t>p50 / p99 kechikish, GPU, 40 foydalanuvchi</a:t>
                      </a:r>
                    </a:p>
                  </a:txBody>
                  <a:tcPr>
                    <a:solidFill>
                      <a:srgbClr val="FFFFFF"/>
                    </a:solidFill>
                  </a:tcPr>
                </a:tc>
                <a:tc>
                  <a:txBody>
                    <a:bodyPr/>
                    <a:lstStyle/>
                    <a:p>
                      <a:r>
                        <a:rPr sz="1200" b="0">
                          <a:solidFill>
                            <a:srgbClr val="1B2430"/>
                          </a:solidFill>
                          <a:latin typeface="Calibri"/>
                        </a:rPr>
                        <a:t>p99 ≤ 300 ms</a:t>
                      </a:r>
                    </a:p>
                  </a:txBody>
                  <a:tcPr>
                    <a:solidFill>
                      <a:srgbClr val="FFFFFF"/>
                    </a:solidFill>
                  </a:tcPr>
                </a:tc>
                <a:tc>
                  <a:txBody>
                    <a:bodyPr/>
                    <a:lstStyle/>
                    <a:p>
                      <a:r>
                        <a:rPr sz="1200" b="0">
                          <a:solidFill>
                            <a:srgbClr val="1B2430"/>
                          </a:solidFill>
                          <a:latin typeface="Calibri"/>
                        </a:rPr>
                        <a:t>30 / 120 ms</a:t>
                      </a:r>
                    </a:p>
                  </a:txBody>
                  <a:tcPr>
                    <a:solidFill>
                      <a:srgbClr val="FFFFFF"/>
                    </a:solidFill>
                  </a:tcPr>
                </a:tc>
                <a:tc>
                  <a:txBody>
                    <a:bodyPr/>
                    <a:lstStyle/>
                    <a:p>
                      <a:r>
                        <a:rPr sz="1200" b="0">
                          <a:solidFill>
                            <a:srgbClr val="1B2430"/>
                          </a:solidFill>
                          <a:latin typeface="Calibri"/>
                        </a:rPr>
                        <a:t>Locust + Grafana</a:t>
                      </a:r>
                    </a:p>
                  </a:txBody>
                  <a:tcPr>
                    <a:solidFill>
                      <a:srgbClr val="FFFFFF"/>
                    </a:solidFill>
                  </a:tcPr>
                </a:tc>
              </a:tr>
              <a:tr h="520000">
                <a:tc>
                  <a:txBody>
                    <a:bodyPr/>
                    <a:lstStyle/>
                    <a:p>
                      <a:r>
                        <a:rPr sz="1200" b="0">
                          <a:solidFill>
                            <a:srgbClr val="1B2430"/>
                          </a:solidFill>
                          <a:latin typeface="Calibri"/>
                        </a:rPr>
                        <a:t>O'tkazuvchanlik</a:t>
                      </a:r>
                    </a:p>
                  </a:txBody>
                  <a:tcPr>
                    <a:solidFill>
                      <a:srgbClr val="F1F4F8"/>
                    </a:solidFill>
                  </a:tcPr>
                </a:tc>
                <a:tc>
                  <a:txBody>
                    <a:bodyPr/>
                    <a:lstStyle/>
                    <a:p>
                      <a:r>
                        <a:rPr sz="1200" b="0">
                          <a:solidFill>
                            <a:srgbClr val="1B2430"/>
                          </a:solidFill>
                          <a:latin typeface="Calibri"/>
                        </a:rPr>
                        <a:t>≥ 20 so'rov/s</a:t>
                      </a:r>
                    </a:p>
                  </a:txBody>
                  <a:tcPr>
                    <a:solidFill>
                      <a:srgbClr val="F1F4F8"/>
                    </a:solidFill>
                  </a:tcPr>
                </a:tc>
                <a:tc>
                  <a:txBody>
                    <a:bodyPr/>
                    <a:lstStyle/>
                    <a:p>
                      <a:r>
                        <a:rPr sz="1200" b="0">
                          <a:solidFill>
                            <a:srgbClr val="1B2430"/>
                          </a:solidFill>
                          <a:latin typeface="Calibri"/>
                        </a:rPr>
                        <a:t>25 so'rov/s</a:t>
                      </a:r>
                    </a:p>
                  </a:txBody>
                  <a:tcPr>
                    <a:solidFill>
                      <a:srgbClr val="F1F4F8"/>
                    </a:solidFill>
                  </a:tcPr>
                </a:tc>
                <a:tc>
                  <a:txBody>
                    <a:bodyPr/>
                    <a:lstStyle/>
                    <a:p>
                      <a:r>
                        <a:rPr sz="1200" b="0">
                          <a:solidFill>
                            <a:srgbClr val="1B2430"/>
                          </a:solidFill>
                          <a:latin typeface="Calibri"/>
                        </a:rPr>
                        <a:t>Locust</a:t>
                      </a:r>
                    </a:p>
                  </a:txBody>
                  <a:tcPr>
                    <a:solidFill>
                      <a:srgbClr val="F1F4F8"/>
                    </a:solidFill>
                  </a:tcPr>
                </a:tc>
              </a:tr>
              <a:tr h="520000">
                <a:tc>
                  <a:txBody>
                    <a:bodyPr/>
                    <a:lstStyle/>
                    <a:p>
                      <a:r>
                        <a:rPr sz="1200" b="0">
                          <a:solidFill>
                            <a:srgbClr val="1B2430"/>
                          </a:solidFill>
                          <a:latin typeface="Calibri"/>
                        </a:rPr>
                        <a:t>GPU xotira (ONNX FP32 / FP16)</a:t>
                      </a:r>
                    </a:p>
                  </a:txBody>
                  <a:tcPr>
                    <a:solidFill>
                      <a:srgbClr val="FFFFFF"/>
                    </a:solidFill>
                  </a:tcPr>
                </a:tc>
                <a:tc>
                  <a:txBody>
                    <a:bodyPr/>
                    <a:lstStyle/>
                    <a:p>
                      <a:r>
                        <a:rPr sz="1200" b="0">
                          <a:solidFill>
                            <a:srgbClr val="1B2430"/>
                          </a:solidFill>
                          <a:latin typeface="Calibri"/>
                        </a:rPr>
                        <a:t>≤ 8 GB</a:t>
                      </a:r>
                    </a:p>
                  </a:txBody>
                  <a:tcPr>
                    <a:solidFill>
                      <a:srgbClr val="FFFFFF"/>
                    </a:solidFill>
                  </a:tcPr>
                </a:tc>
                <a:tc>
                  <a:txBody>
                    <a:bodyPr/>
                    <a:lstStyle/>
                    <a:p>
                      <a:r>
                        <a:rPr sz="1200" b="0">
                          <a:solidFill>
                            <a:srgbClr val="1B2430"/>
                          </a:solidFill>
                          <a:latin typeface="Calibri"/>
                        </a:rPr>
                        <a:t>1.1 / 0.7 GB</a:t>
                      </a:r>
                    </a:p>
                  </a:txBody>
                  <a:tcPr>
                    <a:solidFill>
                      <a:srgbClr val="FFFFFF"/>
                    </a:solidFill>
                  </a:tcPr>
                </a:tc>
                <a:tc>
                  <a:txBody>
                    <a:bodyPr/>
                    <a:lstStyle/>
                    <a:p>
                      <a:r>
                        <a:rPr sz="1200" b="0">
                          <a:solidFill>
                            <a:srgbClr val="1B2430"/>
                          </a:solidFill>
                          <a:latin typeface="Calibri"/>
                        </a:rPr>
                        <a:t>nvidia-smi</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Himoyada ko'rsatiladigan kutilgan natijalar jadvali (davomi)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35</a:t>
            </a:r>
          </a:p>
        </p:txBody>
      </p:sp>
      <p:graphicFrame>
        <p:nvGraphicFramePr>
          <p:cNvPr id="10" name="Table 9"/>
          <p:cNvGraphicFramePr>
            <a:graphicFrameLocks noGrp="1"/>
          </p:cNvGraphicFramePr>
          <p:nvPr/>
        </p:nvGraphicFramePr>
        <p:xfrm>
          <a:off x="500000" y="1350000"/>
          <a:ext cx="11200000" cy="156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Ko'rsatkich</a:t>
                      </a:r>
                    </a:p>
                  </a:txBody>
                  <a:tcPr>
                    <a:solidFill>
                      <a:srgbClr val="2D5C8F"/>
                    </a:solidFill>
                  </a:tcPr>
                </a:tc>
                <a:tc>
                  <a:txBody>
                    <a:bodyPr/>
                    <a:lstStyle/>
                    <a:p>
                      <a:r>
                        <a:rPr sz="1200" b="1">
                          <a:solidFill>
                            <a:srgbClr val="FFFFFF"/>
                          </a:solidFill>
                          <a:latin typeface="Calibri"/>
                        </a:rPr>
                        <a:t>Maqsad (SLO)</a:t>
                      </a:r>
                    </a:p>
                  </a:txBody>
                  <a:tcPr>
                    <a:solidFill>
                      <a:srgbClr val="2D5C8F"/>
                    </a:solidFill>
                  </a:tcPr>
                </a:tc>
                <a:tc>
                  <a:txBody>
                    <a:bodyPr/>
                    <a:lstStyle/>
                    <a:p>
                      <a:r>
                        <a:rPr sz="1200" b="1">
                          <a:solidFill>
                            <a:srgbClr val="FFFFFF"/>
                          </a:solidFill>
                          <a:latin typeface="Calibri"/>
                        </a:rPr>
                        <a:t>Kutilgan (taxminiy)</a:t>
                      </a:r>
                    </a:p>
                  </a:txBody>
                  <a:tcPr>
                    <a:solidFill>
                      <a:srgbClr val="2D5C8F"/>
                    </a:solidFill>
                  </a:tcPr>
                </a:tc>
                <a:tc>
                  <a:txBody>
                    <a:bodyPr/>
                    <a:lstStyle/>
                    <a:p>
                      <a:r>
                        <a:rPr sz="1200" b="1">
                          <a:solidFill>
                            <a:srgbClr val="FFFFFF"/>
                          </a:solidFill>
                          <a:latin typeface="Calibri"/>
                        </a:rPr>
                        <a:t>Qayerdan olinadi</a:t>
                      </a:r>
                    </a:p>
                  </a:txBody>
                  <a:tcPr>
                    <a:solidFill>
                      <a:srgbClr val="2D5C8F"/>
                    </a:solidFill>
                  </a:tcPr>
                </a:tc>
              </a:tr>
              <a:tr h="520000">
                <a:tc>
                  <a:txBody>
                    <a:bodyPr/>
                    <a:lstStyle/>
                    <a:p>
                      <a:r>
                        <a:rPr sz="1200" b="0">
                          <a:solidFill>
                            <a:srgbClr val="1B2430"/>
                          </a:solidFill>
                          <a:latin typeface="Calibri"/>
                        </a:rPr>
                        <a:t>Drift ogohlantirish (kontrast −30%)</a:t>
                      </a:r>
                    </a:p>
                  </a:txBody>
                  <a:tcPr>
                    <a:solidFill>
                      <a:srgbClr val="F1F4F8"/>
                    </a:solidFill>
                  </a:tcPr>
                </a:tc>
                <a:tc>
                  <a:txBody>
                    <a:bodyPr/>
                    <a:lstStyle/>
                    <a:p>
                      <a:r>
                        <a:rPr sz="1200" b="0">
                          <a:solidFill>
                            <a:srgbClr val="1B2430"/>
                          </a:solidFill>
                          <a:latin typeface="Calibri"/>
                        </a:rPr>
                        <a:t>PSI ≥ 0.2</a:t>
                      </a:r>
                    </a:p>
                  </a:txBody>
                  <a:tcPr>
                    <a:solidFill>
                      <a:srgbClr val="F1F4F8"/>
                    </a:solidFill>
                  </a:tcPr>
                </a:tc>
                <a:tc>
                  <a:txBody>
                    <a:bodyPr/>
                    <a:lstStyle/>
                    <a:p>
                      <a:r>
                        <a:rPr sz="1200" b="0">
                          <a:solidFill>
                            <a:srgbClr val="1B2430"/>
                          </a:solidFill>
                          <a:latin typeface="Calibri"/>
                        </a:rPr>
                        <a:t>PSI 0.35, ogohlantirish yondi</a:t>
                      </a:r>
                    </a:p>
                  </a:txBody>
                  <a:tcPr>
                    <a:solidFill>
                      <a:srgbClr val="F1F4F8"/>
                    </a:solidFill>
                  </a:tcPr>
                </a:tc>
                <a:tc>
                  <a:txBody>
                    <a:bodyPr/>
                    <a:lstStyle/>
                    <a:p>
                      <a:r>
                        <a:rPr sz="1200" b="0">
                          <a:solidFill>
                            <a:srgbClr val="1B2430"/>
                          </a:solidFill>
                          <a:latin typeface="Calibri"/>
                        </a:rPr>
                        <a:t>drift.py</a:t>
                      </a:r>
                    </a:p>
                  </a:txBody>
                  <a:tcPr>
                    <a:solidFill>
                      <a:srgbClr val="F1F4F8"/>
                    </a:solidFill>
                  </a:tcPr>
                </a:tc>
              </a:tr>
              <a:tr h="520000">
                <a:tc>
                  <a:txBody>
                    <a:bodyPr/>
                    <a:lstStyle/>
                    <a:p>
                      <a:r>
                        <a:rPr sz="1200" b="0">
                          <a:solidFill>
                            <a:srgbClr val="1B2430"/>
                          </a:solidFill>
                          <a:latin typeface="Calibri"/>
                        </a:rPr>
                        <a:t>PGD-10, eps=2/255 ostida AUC</a:t>
                      </a:r>
                    </a:p>
                  </a:txBody>
                  <a:tcPr>
                    <a:solidFill>
                      <a:srgbClr val="FFFFFF"/>
                    </a:solidFill>
                  </a:tcPr>
                </a:tc>
                <a:tc>
                  <a:txBody>
                    <a:bodyPr/>
                    <a:lstStyle/>
                    <a:p>
                      <a:r>
                        <a:rPr sz="1200" b="0">
                          <a:solidFill>
                            <a:srgbClr val="1B2430"/>
                          </a:solidFill>
                          <a:latin typeface="Calibri"/>
                        </a:rPr>
                        <a:t>hujjatlashtirilsin</a:t>
                      </a:r>
                    </a:p>
                  </a:txBody>
                  <a:tcPr>
                    <a:solidFill>
                      <a:srgbClr val="FFFFFF"/>
                    </a:solidFill>
                  </a:tcPr>
                </a:tc>
                <a:tc>
                  <a:txBody>
                    <a:bodyPr/>
                    <a:lstStyle/>
                    <a:p>
                      <a:r>
                        <a:rPr sz="1200" b="0">
                          <a:solidFill>
                            <a:srgbClr val="1B2430"/>
                          </a:solidFill>
                          <a:latin typeface="Calibri"/>
                        </a:rPr>
                        <a:t>0.61</a:t>
                      </a:r>
                    </a:p>
                  </a:txBody>
                  <a:tcPr>
                    <a:solidFill>
                      <a:srgbClr val="FFFFFF"/>
                    </a:solidFill>
                  </a:tcPr>
                </a:tc>
                <a:tc>
                  <a:txBody>
                    <a:bodyPr/>
                    <a:lstStyle/>
                    <a:p>
                      <a:r>
                        <a:rPr sz="1200" b="0">
                          <a:solidFill>
                            <a:srgbClr val="1B2430"/>
                          </a:solidFill>
                          <a:latin typeface="Calibri"/>
                        </a:rPr>
                        <a:t>A6 kodi</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Batafsil baholash rubrikasi (jami 100 ball, guruh balli; individual tuzatish ±15)</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36</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Yakuniy baho: 90–100 — a'lo, 75–89 — yaxshi, 60–74 — qoniqarli, 60 dan past — loyiha qayta topshiriladi (ikki haftada, maksimal 70 ball). Individual tuzatish: Git hissasi, kod ko'rib chiqishdagi javoblar va himoyadagi ishtirok asosida ±15 ball; a'zo…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Batafsil baholash rubrikasi (jami 100 ball, guruh balli; individual tuzatish ±15)</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37</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000" b="1">
                          <a:solidFill>
                            <a:srgbClr val="FFFFFF"/>
                          </a:solidFill>
                          <a:latin typeface="Calibri"/>
                        </a:rPr>
                        <a:t>№</a:t>
                      </a:r>
                    </a:p>
                  </a:txBody>
                  <a:tcPr>
                    <a:solidFill>
                      <a:srgbClr val="2D5C8F"/>
                    </a:solidFill>
                  </a:tcPr>
                </a:tc>
                <a:tc>
                  <a:txBody>
                    <a:bodyPr/>
                    <a:lstStyle/>
                    <a:p>
                      <a:r>
                        <a:rPr sz="1000" b="1">
                          <a:solidFill>
                            <a:srgbClr val="FFFFFF"/>
                          </a:solidFill>
                          <a:latin typeface="Calibri"/>
                        </a:rPr>
                        <a:t>Mezon</a:t>
                      </a:r>
                    </a:p>
                  </a:txBody>
                  <a:tcPr>
                    <a:solidFill>
                      <a:srgbClr val="2D5C8F"/>
                    </a:solidFill>
                  </a:tcPr>
                </a:tc>
                <a:tc>
                  <a:txBody>
                    <a:bodyPr/>
                    <a:lstStyle/>
                    <a:p>
                      <a:r>
                        <a:rPr sz="1000" b="1">
                          <a:solidFill>
                            <a:srgbClr val="FFFFFF"/>
                          </a:solidFill>
                          <a:latin typeface="Calibri"/>
                        </a:rPr>
                        <a:t>A'lo (to'liq ball)</a:t>
                      </a:r>
                    </a:p>
                  </a:txBody>
                  <a:tcPr>
                    <a:solidFill>
                      <a:srgbClr val="2D5C8F"/>
                    </a:solidFill>
                  </a:tcPr>
                </a:tc>
                <a:tc>
                  <a:txBody>
                    <a:bodyPr/>
                    <a:lstStyle/>
                    <a:p>
                      <a:r>
                        <a:rPr sz="1000" b="1">
                          <a:solidFill>
                            <a:srgbClr val="FFFFFF"/>
                          </a:solidFill>
                          <a:latin typeface="Calibri"/>
                        </a:rPr>
                        <a:t>Qoniqarli (yarim ball)</a:t>
                      </a:r>
                    </a:p>
                  </a:txBody>
                  <a:tcPr>
                    <a:solidFill>
                      <a:srgbClr val="2D5C8F"/>
                    </a:solidFill>
                  </a:tcPr>
                </a:tc>
                <a:tc>
                  <a:txBody>
                    <a:bodyPr/>
                    <a:lstStyle/>
                    <a:p>
                      <a:r>
                        <a:rPr sz="1000" b="1">
                          <a:solidFill>
                            <a:srgbClr val="FFFFFF"/>
                          </a:solidFill>
                          <a:latin typeface="Calibri"/>
                        </a:rPr>
                        <a:t>Ball</a:t>
                      </a:r>
                    </a:p>
                  </a:txBody>
                  <a:tcPr>
                    <a:solidFill>
                      <a:srgbClr val="2D5C8F"/>
                    </a:solidFill>
                  </a:tcPr>
                </a:tc>
              </a:tr>
              <a:tr h="520000">
                <a:tc>
                  <a:txBody>
                    <a:bodyPr/>
                    <a:lstStyle/>
                    <a:p>
                      <a:r>
                        <a:rPr sz="1000" b="0">
                          <a:solidFill>
                            <a:srgbClr val="1B2430"/>
                          </a:solidFill>
                          <a:latin typeface="Calibri"/>
                        </a:rPr>
                        <a:t>1</a:t>
                      </a:r>
                    </a:p>
                  </a:txBody>
                  <a:tcPr>
                    <a:solidFill>
                      <a:srgbClr val="F1F4F8"/>
                    </a:solidFill>
                  </a:tcPr>
                </a:tc>
                <a:tc>
                  <a:txBody>
                    <a:bodyPr/>
                    <a:lstStyle/>
                    <a:p>
                      <a:r>
                        <a:rPr sz="1000" b="0">
                          <a:solidFill>
                            <a:srgbClr val="1B2430"/>
                          </a:solidFill>
                          <a:latin typeface="Calibri"/>
                        </a:rPr>
                        <a:t>Masala va talablar</a:t>
                      </a:r>
                    </a:p>
                  </a:txBody>
                  <a:tcPr>
                    <a:solidFill>
                      <a:srgbClr val="F1F4F8"/>
                    </a:solidFill>
                  </a:tcPr>
                </a:tc>
                <a:tc>
                  <a:txBody>
                    <a:bodyPr/>
                    <a:lstStyle/>
                    <a:p>
                      <a:r>
                        <a:rPr sz="1000" b="0">
                          <a:solidFill>
                            <a:srgbClr val="1B2430"/>
                          </a:solidFill>
                          <a:latin typeface="Calibri"/>
                        </a:rPr>
                        <a:t>Pasport to'liq, SLO o'lchanadigan, xavf toifasi asoslangan, mo'ljallanmagan foydalanish yozilgan</a:t>
                      </a:r>
                    </a:p>
                  </a:txBody>
                  <a:tcPr>
                    <a:solidFill>
                      <a:srgbClr val="F1F4F8"/>
                    </a:solidFill>
                  </a:tcPr>
                </a:tc>
                <a:tc>
                  <a:txBody>
                    <a:bodyPr/>
                    <a:lstStyle/>
                    <a:p>
                      <a:r>
                        <a:rPr sz="1000" b="0">
                          <a:solidFill>
                            <a:srgbClr val="1B2430"/>
                          </a:solidFill>
                          <a:latin typeface="Calibri"/>
                        </a:rPr>
                        <a:t>Talablar umumiy, SLO raqamsiz</a:t>
                      </a:r>
                    </a:p>
                  </a:txBody>
                  <a:tcPr>
                    <a:solidFill>
                      <a:srgbClr val="F1F4F8"/>
                    </a:solidFill>
                  </a:tcPr>
                </a:tc>
                <a:tc>
                  <a:txBody>
                    <a:bodyPr/>
                    <a:lstStyle/>
                    <a:p>
                      <a:r>
                        <a:rPr sz="1000" b="0">
                          <a:solidFill>
                            <a:srgbClr val="1B2430"/>
                          </a:solidFill>
                          <a:latin typeface="Calibri"/>
                        </a:rPr>
                        <a:t>8</a:t>
                      </a:r>
                    </a:p>
                  </a:txBody>
                  <a:tcPr>
                    <a:solidFill>
                      <a:srgbClr val="F1F4F8"/>
                    </a:solidFill>
                  </a:tcPr>
                </a:tc>
              </a:tr>
              <a:tr h="520000">
                <a:tc>
                  <a:txBody>
                    <a:bodyPr/>
                    <a:lstStyle/>
                    <a:p>
                      <a:r>
                        <a:rPr sz="1000" b="0">
                          <a:solidFill>
                            <a:srgbClr val="1B2430"/>
                          </a:solidFill>
                          <a:latin typeface="Calibri"/>
                        </a:rPr>
                        <a:t>2</a:t>
                      </a:r>
                    </a:p>
                  </a:txBody>
                  <a:tcPr>
                    <a:solidFill>
                      <a:srgbClr val="FFFFFF"/>
                    </a:solidFill>
                  </a:tcPr>
                </a:tc>
                <a:tc>
                  <a:txBody>
                    <a:bodyPr/>
                    <a:lstStyle/>
                    <a:p>
                      <a:r>
                        <a:rPr sz="1000" b="0">
                          <a:solidFill>
                            <a:srgbClr val="1B2430"/>
                          </a:solidFill>
                          <a:latin typeface="Calibri"/>
                        </a:rPr>
                        <a:t>Ma'lumot muhandisligi</a:t>
                      </a:r>
                    </a:p>
                  </a:txBody>
                  <a:tcPr>
                    <a:solidFill>
                      <a:srgbClr val="FFFFFF"/>
                    </a:solidFill>
                  </a:tcPr>
                </a:tc>
                <a:tc>
                  <a:txBody>
                    <a:bodyPr/>
                    <a:lstStyle/>
                    <a:p>
                      <a:r>
                        <a:rPr sz="1000" b="0">
                          <a:solidFill>
                            <a:srgbClr val="1B2430"/>
                          </a:solidFill>
                          <a:latin typeface="Calibri"/>
                        </a:rPr>
                        <a:t>Bemor/obyekt bo'yicha sizishsiz bo'lish, sxema tekshiruvi, versiyalash, datasheet, vakillik jadvali</a:t>
                      </a:r>
                    </a:p>
                  </a:txBody>
                  <a:tcPr>
                    <a:solidFill>
                      <a:srgbClr val="FFFFFF"/>
                    </a:solidFill>
                  </a:tcPr>
                </a:tc>
                <a:tc>
                  <a:txBody>
                    <a:bodyPr/>
                    <a:lstStyle/>
                    <a:p>
                      <a:r>
                        <a:rPr sz="1000" b="0">
                          <a:solidFill>
                            <a:srgbClr val="1B2430"/>
                          </a:solidFill>
                          <a:latin typeface="Calibri"/>
                        </a:rPr>
                        <a:t>Bo'lish to'g'ri, lekin tekshiruv/versiyalash yo'q</a:t>
                      </a:r>
                    </a:p>
                  </a:txBody>
                  <a:tcPr>
                    <a:solidFill>
                      <a:srgbClr val="FFFFFF"/>
                    </a:solidFill>
                  </a:tcPr>
                </a:tc>
                <a:tc>
                  <a:txBody>
                    <a:bodyPr/>
                    <a:lstStyle/>
                    <a:p>
                      <a:r>
                        <a:rPr sz="1000" b="0">
                          <a:solidFill>
                            <a:srgbClr val="1B2430"/>
                          </a:solidFill>
                          <a:latin typeface="Calibri"/>
                        </a:rPr>
                        <a:t>12</a:t>
                      </a:r>
                    </a:p>
                  </a:txBody>
                  <a:tcPr>
                    <a:solidFill>
                      <a:srgbClr val="FFFFFF"/>
                    </a:solidFill>
                  </a:tcPr>
                </a:tc>
              </a:tr>
              <a:tr h="520000">
                <a:tc>
                  <a:txBody>
                    <a:bodyPr/>
                    <a:lstStyle/>
                    <a:p>
                      <a:r>
                        <a:rPr sz="1000" b="0">
                          <a:solidFill>
                            <a:srgbClr val="1B2430"/>
                          </a:solidFill>
                          <a:latin typeface="Calibri"/>
                        </a:rPr>
                        <a:t>3</a:t>
                      </a:r>
                    </a:p>
                  </a:txBody>
                  <a:tcPr>
                    <a:solidFill>
                      <a:srgbClr val="F1F4F8"/>
                    </a:solidFill>
                  </a:tcPr>
                </a:tc>
                <a:tc>
                  <a:txBody>
                    <a:bodyPr/>
                    <a:lstStyle/>
                    <a:p>
                      <a:r>
                        <a:rPr sz="1000" b="0">
                          <a:solidFill>
                            <a:srgbClr val="1B2430"/>
                          </a:solidFill>
                          <a:latin typeface="Calibri"/>
                        </a:rPr>
                        <a:t>Model va eksperimentlar</a:t>
                      </a:r>
                    </a:p>
                  </a:txBody>
                  <a:tcPr>
                    <a:solidFill>
                      <a:srgbClr val="F1F4F8"/>
                    </a:solidFill>
                  </a:tcPr>
                </a:tc>
                <a:tc>
                  <a:txBody>
                    <a:bodyPr/>
                    <a:lstStyle/>
                    <a:p>
                      <a:r>
                        <a:rPr sz="1000" b="0">
                          <a:solidFill>
                            <a:srgbClr val="1B2430"/>
                          </a:solidFill>
                          <a:latin typeface="Calibri"/>
                        </a:rPr>
                        <a:t>Jurnal (MLflow), kamida 3 eksperiment taqqoslangan, chegara SLO bo'yicha tanlangan, kalibrlash tekshirilgan</a:t>
                      </a:r>
                    </a:p>
                  </a:txBody>
                  <a:tcPr>
                    <a:solidFill>
                      <a:srgbClr val="F1F4F8"/>
                    </a:solidFill>
                  </a:tcPr>
                </a:tc>
                <a:tc>
                  <a:txBody>
                    <a:bodyPr/>
                    <a:lstStyle/>
                    <a:p>
                      <a:r>
                        <a:rPr sz="1000" b="0">
                          <a:solidFill>
                            <a:srgbClr val="1B2430"/>
                          </a:solidFill>
                          <a:latin typeface="Calibri"/>
                        </a:rPr>
                        <a:t>Bitta model, chegara standart 0.5</a:t>
                      </a:r>
                    </a:p>
                  </a:txBody>
                  <a:tcPr>
                    <a:solidFill>
                      <a:srgbClr val="F1F4F8"/>
                    </a:solidFill>
                  </a:tcPr>
                </a:tc>
                <a:tc>
                  <a:txBody>
                    <a:bodyPr/>
                    <a:lstStyle/>
                    <a:p>
                      <a:r>
                        <a:rPr sz="1000" b="0">
                          <a:solidFill>
                            <a:srgbClr val="1B2430"/>
                          </a:solidFill>
                          <a:latin typeface="Calibri"/>
                        </a:rPr>
                        <a:t>12</a:t>
                      </a:r>
                    </a:p>
                  </a:txBody>
                  <a:tcPr>
                    <a:solidFill>
                      <a:srgbClr val="F1F4F8"/>
                    </a:solidFill>
                  </a:tcPr>
                </a:tc>
              </a:tr>
              <a:tr h="520000">
                <a:tc>
                  <a:txBody>
                    <a:bodyPr/>
                    <a:lstStyle/>
                    <a:p>
                      <a:r>
                        <a:rPr sz="1000" b="0">
                          <a:solidFill>
                            <a:srgbClr val="1B2430"/>
                          </a:solidFill>
                          <a:latin typeface="Calibri"/>
                        </a:rPr>
                        <a:t>4</a:t>
                      </a:r>
                    </a:p>
                  </a:txBody>
                  <a:tcPr>
                    <a:solidFill>
                      <a:srgbClr val="FFFFFF"/>
                    </a:solidFill>
                  </a:tcPr>
                </a:tc>
                <a:tc>
                  <a:txBody>
                    <a:bodyPr/>
                    <a:lstStyle/>
                    <a:p>
                      <a:r>
                        <a:rPr sz="1000" b="0">
                          <a:solidFill>
                            <a:srgbClr val="1B2430"/>
                          </a:solidFill>
                          <a:latin typeface="Calibri"/>
                        </a:rPr>
                        <a:t>Optimallashtirish va unumdorlik</a:t>
                      </a:r>
                    </a:p>
                  </a:txBody>
                  <a:tcPr>
                    <a:solidFill>
                      <a:srgbClr val="FFFFFF"/>
                    </a:solidFill>
                  </a:tcPr>
                </a:tc>
                <a:tc>
                  <a:txBody>
                    <a:bodyPr/>
                    <a:lstStyle/>
                    <a:p>
                      <a:r>
                        <a:rPr sz="1000" b="0">
                          <a:solidFill>
                            <a:srgbClr val="1B2430"/>
                          </a:solidFill>
                          <a:latin typeface="Calibri"/>
                        </a:rPr>
                        <a:t>ONNX/TensorRT, kamida 2 aniqlik varianti, kechikish/xotira/aniqlik jadvali, yuk sinovi p50/p99</a:t>
                      </a:r>
                    </a:p>
                  </a:txBody>
                  <a:tcPr>
                    <a:solidFill>
                      <a:srgbClr val="FFFFFF"/>
                    </a:solidFill>
                  </a:tcPr>
                </a:tc>
                <a:tc>
                  <a:txBody>
                    <a:bodyPr/>
                    <a:lstStyle/>
                    <a:p>
                      <a:r>
                        <a:rPr sz="1000" b="0">
                          <a:solidFill>
                            <a:srgbClr val="1B2430"/>
                          </a:solidFill>
                          <a:latin typeface="Calibri"/>
                        </a:rPr>
                        <a:t>Faqat PyTorch inferensi, bitta o'lchov</a:t>
                      </a:r>
                    </a:p>
                  </a:txBody>
                  <a:tcPr>
                    <a:solidFill>
                      <a:srgbClr val="FFFFFF"/>
                    </a:solidFill>
                  </a:tcPr>
                </a:tc>
                <a:tc>
                  <a:txBody>
                    <a:bodyPr/>
                    <a:lstStyle/>
                    <a:p>
                      <a:r>
                        <a:rPr sz="1000" b="0">
                          <a:solidFill>
                            <a:srgbClr val="1B2430"/>
                          </a:solidFill>
                          <a:latin typeface="Calibri"/>
                        </a:rPr>
                        <a:t>12</a:t>
                      </a:r>
                    </a:p>
                  </a:txBody>
                  <a:tcPr>
                    <a:solidFill>
                      <a:srgbClr val="FFFFFF"/>
                    </a:solidFill>
                  </a:tcPr>
                </a:tc>
              </a:tr>
              <a:tr h="520000">
                <a:tc>
                  <a:txBody>
                    <a:bodyPr/>
                    <a:lstStyle/>
                    <a:p>
                      <a:r>
                        <a:rPr sz="1000" b="0">
                          <a:solidFill>
                            <a:srgbClr val="1B2430"/>
                          </a:solidFill>
                          <a:latin typeface="Calibri"/>
                        </a:rPr>
                        <a:t>5</a:t>
                      </a:r>
                    </a:p>
                  </a:txBody>
                  <a:tcPr>
                    <a:solidFill>
                      <a:srgbClr val="F1F4F8"/>
                    </a:solidFill>
                  </a:tcPr>
                </a:tc>
                <a:tc>
                  <a:txBody>
                    <a:bodyPr/>
                    <a:lstStyle/>
                    <a:p>
                      <a:r>
                        <a:rPr sz="1000" b="0">
                          <a:solidFill>
                            <a:srgbClr val="1B2430"/>
                          </a:solidFill>
                          <a:latin typeface="Calibri"/>
                        </a:rPr>
                        <a:t>API va joylashtirish</a:t>
                      </a:r>
                    </a:p>
                  </a:txBody>
                  <a:tcPr>
                    <a:solidFill>
                      <a:srgbClr val="F1F4F8"/>
                    </a:solidFill>
                  </a:tcPr>
                </a:tc>
                <a:tc>
                  <a:txBody>
                    <a:bodyPr/>
                    <a:lstStyle/>
                    <a:p>
                      <a:r>
                        <a:rPr sz="1000" b="0">
                          <a:solidFill>
                            <a:srgbClr val="1B2430"/>
                          </a:solidFill>
                          <a:latin typeface="Calibri"/>
                        </a:rPr>
                        <a:t>Docker (root'siz, healthcheck), compose yoki K8s, autentifikatsiya, OpenAPI, CI'da testlar o'tadi</a:t>
                      </a:r>
                    </a:p>
                  </a:txBody>
                  <a:tcPr>
                    <a:solidFill>
                      <a:srgbClr val="F1F4F8"/>
                    </a:solidFill>
                  </a:tcPr>
                </a:tc>
                <a:tc>
                  <a:txBody>
                    <a:bodyPr/>
                    <a:lstStyle/>
                    <a:p>
                      <a:r>
                        <a:rPr sz="1000" b="0">
                          <a:solidFill>
                            <a:srgbClr val="1B2430"/>
                          </a:solidFill>
                          <a:latin typeface="Calibri"/>
                        </a:rPr>
                        <a:t>Lokal uvicorn, testlar yo'q</a:t>
                      </a:r>
                    </a:p>
                  </a:txBody>
                  <a:tcPr>
                    <a:solidFill>
                      <a:srgbClr val="F1F4F8"/>
                    </a:solidFill>
                  </a:tcPr>
                </a:tc>
                <a:tc>
                  <a:txBody>
                    <a:bodyPr/>
                    <a:lstStyle/>
                    <a:p>
                      <a:r>
                        <a:rPr sz="1000" b="0">
                          <a:solidFill>
                            <a:srgbClr val="1B2430"/>
                          </a:solidFill>
                          <a:latin typeface="Calibri"/>
                        </a:rPr>
                        <a:t>12</a:t>
                      </a:r>
                    </a:p>
                  </a:txBody>
                  <a:tcPr>
                    <a:solidFill>
                      <a:srgbClr val="F1F4F8"/>
                    </a:solidFill>
                  </a:tcPr>
                </a:tc>
              </a:tr>
              <a:tr h="520000">
                <a:tc>
                  <a:txBody>
                    <a:bodyPr/>
                    <a:lstStyle/>
                    <a:p>
                      <a:r>
                        <a:rPr sz="1000" b="0">
                          <a:solidFill>
                            <a:srgbClr val="1B2430"/>
                          </a:solidFill>
                          <a:latin typeface="Calibri"/>
                        </a:rPr>
                        <a:t>6</a:t>
                      </a:r>
                    </a:p>
                  </a:txBody>
                  <a:tcPr>
                    <a:solidFill>
                      <a:srgbClr val="FFFFFF"/>
                    </a:solidFill>
                  </a:tcPr>
                </a:tc>
                <a:tc>
                  <a:txBody>
                    <a:bodyPr/>
                    <a:lstStyle/>
                    <a:p>
                      <a:r>
                        <a:rPr sz="1000" b="0">
                          <a:solidFill>
                            <a:srgbClr val="1B2430"/>
                          </a:solidFill>
                          <a:latin typeface="Calibri"/>
                        </a:rPr>
                        <a:t>Monitoring</a:t>
                      </a:r>
                    </a:p>
                  </a:txBody>
                  <a:tcPr>
                    <a:solidFill>
                      <a:srgbClr val="FFFFFF"/>
                    </a:solidFill>
                  </a:tcPr>
                </a:tc>
                <a:tc>
                  <a:txBody>
                    <a:bodyPr/>
                    <a:lstStyle/>
                    <a:p>
                      <a:r>
                        <a:rPr sz="1000" b="0">
                          <a:solidFill>
                            <a:srgbClr val="1B2430"/>
                          </a:solidFill>
                          <a:latin typeface="Calibri"/>
                        </a:rPr>
                        <a:t>Prometheus metrikalari, Grafana paneli (tizim + model), drift aniqlash va ogohlantirish namoyishi, audit jurnali</a:t>
                      </a:r>
                    </a:p>
                  </a:txBody>
                  <a:tcPr>
                    <a:solidFill>
                      <a:srgbClr val="FFFFFF"/>
                    </a:solidFill>
                  </a:tcPr>
                </a:tc>
                <a:tc>
                  <a:txBody>
                    <a:bodyPr/>
                    <a:lstStyle/>
                    <a:p>
                      <a:r>
                        <a:rPr sz="1000" b="0">
                          <a:solidFill>
                            <a:srgbClr val="1B2430"/>
                          </a:solidFill>
                          <a:latin typeface="Calibri"/>
                        </a:rPr>
                        <a:t>Faqat loglar</a:t>
                      </a:r>
                    </a:p>
                  </a:txBody>
                  <a:tcPr>
                    <a:solidFill>
                      <a:srgbClr val="FFFFFF"/>
                    </a:solidFill>
                  </a:tcPr>
                </a:tc>
                <a:tc>
                  <a:txBody>
                    <a:bodyPr/>
                    <a:lstStyle/>
                    <a:p>
                      <a:r>
                        <a:rPr sz="1000" b="0">
                          <a:solidFill>
                            <a:srgbClr val="1B2430"/>
                          </a:solidFill>
                          <a:latin typeface="Calibri"/>
                        </a:rPr>
                        <a:t>12</a:t>
                      </a:r>
                    </a:p>
                  </a:txBody>
                  <a:tcPr>
                    <a:solidFill>
                      <a:srgbClr val="FFFFFF"/>
                    </a:solidFill>
                  </a:tcPr>
                </a:tc>
              </a:tr>
              <a:tr h="520000">
                <a:tc>
                  <a:txBody>
                    <a:bodyPr/>
                    <a:lstStyle/>
                    <a:p>
                      <a:r>
                        <a:rPr sz="1000" b="0">
                          <a:solidFill>
                            <a:srgbClr val="1B2430"/>
                          </a:solidFill>
                          <a:latin typeface="Calibri"/>
                        </a:rPr>
                        <a:t>7</a:t>
                      </a:r>
                    </a:p>
                  </a:txBody>
                  <a:tcPr>
                    <a:solidFill>
                      <a:srgbClr val="F1F4F8"/>
                    </a:solidFill>
                  </a:tcPr>
                </a:tc>
                <a:tc>
                  <a:txBody>
                    <a:bodyPr/>
                    <a:lstStyle/>
                    <a:p>
                      <a:r>
                        <a:rPr sz="1000" b="0">
                          <a:solidFill>
                            <a:srgbClr val="1B2430"/>
                          </a:solidFill>
                          <a:latin typeface="Calibri"/>
                        </a:rPr>
                        <a:t>Ishonchlilik va adolatlilik</a:t>
                      </a:r>
                    </a:p>
                  </a:txBody>
                  <a:tcPr>
                    <a:solidFill>
                      <a:srgbClr val="F1F4F8"/>
                    </a:solidFill>
                  </a:tcPr>
                </a:tc>
                <a:tc>
                  <a:txBody>
                    <a:bodyPr/>
                    <a:lstStyle/>
                    <a:p>
                      <a:r>
                        <a:rPr sz="1000" b="0">
                          <a:solidFill>
                            <a:srgbClr val="1B2430"/>
                          </a:solidFill>
                          <a:latin typeface="Calibri"/>
                        </a:rPr>
                        <a:t>Kesimlar bo'yicha metrikalar ishonch intervali bilan, qaror (tuzatish yoki ko'lam cheklash) asoslangan, mustahkamlik egri chizig'i, XAI endpoint, tekshiruv ro'y</a:t>
                      </a:r>
                    </a:p>
                  </a:txBody>
                  <a:tcPr>
                    <a:solidFill>
                      <a:srgbClr val="F1F4F8"/>
                    </a:solidFill>
                  </a:tcPr>
                </a:tc>
                <a:tc>
                  <a:txBody>
                    <a:bodyPr/>
                    <a:lstStyle/>
                    <a:p>
                      <a:r>
                        <a:rPr sz="1000" b="0">
                          <a:solidFill>
                            <a:srgbClr val="1B2430"/>
                          </a:solidFill>
                          <a:latin typeface="Calibri"/>
                        </a:rPr>
                        <a:t>Bitta atribut bo'yicha metrikalar, tahlilsiz</a:t>
                      </a:r>
                    </a:p>
                  </a:txBody>
                  <a:tcPr>
                    <a:solidFill>
                      <a:srgbClr val="F1F4F8"/>
                    </a:solidFill>
                  </a:tcPr>
                </a:tc>
                <a:tc>
                  <a:txBody>
                    <a:bodyPr/>
                    <a:lstStyle/>
                    <a:p>
                      <a:r>
                        <a:rPr sz="1000" b="0">
                          <a:solidFill>
                            <a:srgbClr val="1B2430"/>
                          </a:solidFill>
                          <a:latin typeface="Calibri"/>
                        </a:rPr>
                        <a:t>14</a:t>
                      </a:r>
                    </a:p>
                  </a:txBody>
                  <a:tcPr>
                    <a:solidFill>
                      <a:srgbClr val="F1F4F8"/>
                    </a:solidFill>
                  </a:tcPr>
                </a:tc>
              </a:tr>
              <a:tr h="520000">
                <a:tc>
                  <a:txBody>
                    <a:bodyPr/>
                    <a:lstStyle/>
                    <a:p>
                      <a:r>
                        <a:rPr sz="1000" b="0">
                          <a:solidFill>
                            <a:srgbClr val="1B2430"/>
                          </a:solidFill>
                          <a:latin typeface="Calibri"/>
                        </a:rPr>
                        <a:t>8</a:t>
                      </a:r>
                    </a:p>
                  </a:txBody>
                  <a:tcPr>
                    <a:solidFill>
                      <a:srgbClr val="FFFFFF"/>
                    </a:solidFill>
                  </a:tcPr>
                </a:tc>
                <a:tc>
                  <a:txBody>
                    <a:bodyPr/>
                    <a:lstStyle/>
                    <a:p>
                      <a:r>
                        <a:rPr sz="1000" b="0">
                          <a:solidFill>
                            <a:srgbClr val="1B2430"/>
                          </a:solidFill>
                          <a:latin typeface="Calibri"/>
                        </a:rPr>
                        <a:t>Hujjatlar</a:t>
                      </a:r>
                    </a:p>
                  </a:txBody>
                  <a:tcPr>
                    <a:solidFill>
                      <a:srgbClr val="FFFFFF"/>
                    </a:solidFill>
                  </a:tcPr>
                </a:tc>
                <a:tc>
                  <a:txBody>
                    <a:bodyPr/>
                    <a:lstStyle/>
                    <a:p>
                      <a:r>
                        <a:rPr sz="1000" b="0">
                          <a:solidFill>
                            <a:srgbClr val="1B2430"/>
                          </a:solidFill>
                          <a:latin typeface="Calibri"/>
                        </a:rPr>
                        <a:t>4 hujjat to'liq, ADR'lar bor, model kartasi standart formatda, runbook amaliy</a:t>
                      </a:r>
                    </a:p>
                  </a:txBody>
                  <a:tcPr>
                    <a:solidFill>
                      <a:srgbClr val="FFFFFF"/>
                    </a:solidFill>
                  </a:tcPr>
                </a:tc>
                <a:tc>
                  <a:txBody>
                    <a:bodyPr/>
                    <a:lstStyle/>
                    <a:p>
                      <a:r>
                        <a:rPr sz="1000" b="0">
                          <a:solidFill>
                            <a:srgbClr val="1B2430"/>
                          </a:solidFill>
                          <a:latin typeface="Calibri"/>
                        </a:rPr>
                        <a:t>Hujjatlar qisman</a:t>
                      </a:r>
                    </a:p>
                  </a:txBody>
                  <a:tcPr>
                    <a:solidFill>
                      <a:srgbClr val="FFFFFF"/>
                    </a:solidFill>
                  </a:tcPr>
                </a:tc>
                <a:tc>
                  <a:txBody>
                    <a:bodyPr/>
                    <a:lstStyle/>
                    <a:p>
                      <a:r>
                        <a:rPr sz="1000" b="0">
                          <a:solidFill>
                            <a:srgbClr val="1B2430"/>
                          </a:solidFill>
                          <a:latin typeface="Calibri"/>
                        </a:rPr>
                        <a:t>8</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Batafsil baholash rubrikasi (jami 100 ball, guruh balli; individual tuzatish ±15) (davomi)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38</a:t>
            </a:r>
          </a:p>
        </p:txBody>
      </p:sp>
      <p:graphicFrame>
        <p:nvGraphicFramePr>
          <p:cNvPr id="10" name="Table 9"/>
          <p:cNvGraphicFramePr>
            <a:graphicFrameLocks noGrp="1"/>
          </p:cNvGraphicFramePr>
          <p:nvPr/>
        </p:nvGraphicFramePr>
        <p:xfrm>
          <a:off x="500000" y="1350000"/>
          <a:ext cx="11200000" cy="156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000" b="1">
                          <a:solidFill>
                            <a:srgbClr val="FFFFFF"/>
                          </a:solidFill>
                          <a:latin typeface="Calibri"/>
                        </a:rPr>
                        <a:t>№</a:t>
                      </a:r>
                    </a:p>
                  </a:txBody>
                  <a:tcPr>
                    <a:solidFill>
                      <a:srgbClr val="2D5C8F"/>
                    </a:solidFill>
                  </a:tcPr>
                </a:tc>
                <a:tc>
                  <a:txBody>
                    <a:bodyPr/>
                    <a:lstStyle/>
                    <a:p>
                      <a:r>
                        <a:rPr sz="1000" b="1">
                          <a:solidFill>
                            <a:srgbClr val="FFFFFF"/>
                          </a:solidFill>
                          <a:latin typeface="Calibri"/>
                        </a:rPr>
                        <a:t>Mezon</a:t>
                      </a:r>
                    </a:p>
                  </a:txBody>
                  <a:tcPr>
                    <a:solidFill>
                      <a:srgbClr val="2D5C8F"/>
                    </a:solidFill>
                  </a:tcPr>
                </a:tc>
                <a:tc>
                  <a:txBody>
                    <a:bodyPr/>
                    <a:lstStyle/>
                    <a:p>
                      <a:r>
                        <a:rPr sz="1000" b="1">
                          <a:solidFill>
                            <a:srgbClr val="FFFFFF"/>
                          </a:solidFill>
                          <a:latin typeface="Calibri"/>
                        </a:rPr>
                        <a:t>A'lo (to'liq ball)</a:t>
                      </a:r>
                    </a:p>
                  </a:txBody>
                  <a:tcPr>
                    <a:solidFill>
                      <a:srgbClr val="2D5C8F"/>
                    </a:solidFill>
                  </a:tcPr>
                </a:tc>
                <a:tc>
                  <a:txBody>
                    <a:bodyPr/>
                    <a:lstStyle/>
                    <a:p>
                      <a:r>
                        <a:rPr sz="1000" b="1">
                          <a:solidFill>
                            <a:srgbClr val="FFFFFF"/>
                          </a:solidFill>
                          <a:latin typeface="Calibri"/>
                        </a:rPr>
                        <a:t>Qoniqarli (yarim ball)</a:t>
                      </a:r>
                    </a:p>
                  </a:txBody>
                  <a:tcPr>
                    <a:solidFill>
                      <a:srgbClr val="2D5C8F"/>
                    </a:solidFill>
                  </a:tcPr>
                </a:tc>
                <a:tc>
                  <a:txBody>
                    <a:bodyPr/>
                    <a:lstStyle/>
                    <a:p>
                      <a:r>
                        <a:rPr sz="1000" b="1">
                          <a:solidFill>
                            <a:srgbClr val="FFFFFF"/>
                          </a:solidFill>
                          <a:latin typeface="Calibri"/>
                        </a:rPr>
                        <a:t>Ball</a:t>
                      </a:r>
                    </a:p>
                  </a:txBody>
                  <a:tcPr>
                    <a:solidFill>
                      <a:srgbClr val="2D5C8F"/>
                    </a:solidFill>
                  </a:tcPr>
                </a:tc>
              </a:tr>
              <a:tr h="520000">
                <a:tc>
                  <a:txBody>
                    <a:bodyPr/>
                    <a:lstStyle/>
                    <a:p>
                      <a:r>
                        <a:rPr sz="1000" b="0">
                          <a:solidFill>
                            <a:srgbClr val="1B2430"/>
                          </a:solidFill>
                          <a:latin typeface="Calibri"/>
                        </a:rPr>
                        <a:t>9</a:t>
                      </a:r>
                    </a:p>
                  </a:txBody>
                  <a:tcPr>
                    <a:solidFill>
                      <a:srgbClr val="F1F4F8"/>
                    </a:solidFill>
                  </a:tcPr>
                </a:tc>
                <a:tc>
                  <a:txBody>
                    <a:bodyPr/>
                    <a:lstStyle/>
                    <a:p>
                      <a:r>
                        <a:rPr sz="1000" b="0">
                          <a:solidFill>
                            <a:srgbClr val="1B2430"/>
                          </a:solidFill>
                          <a:latin typeface="Calibri"/>
                        </a:rPr>
                        <a:t>Jamoaviy ish</a:t>
                      </a:r>
                    </a:p>
                  </a:txBody>
                  <a:tcPr>
                    <a:solidFill>
                      <a:srgbClr val="F1F4F8"/>
                    </a:solidFill>
                  </a:tcPr>
                </a:tc>
                <a:tc>
                  <a:txBody>
                    <a:bodyPr/>
                    <a:lstStyle/>
                    <a:p>
                      <a:r>
                        <a:rPr sz="1000" b="0">
                          <a:solidFill>
                            <a:srgbClr val="1B2430"/>
                          </a:solidFill>
                          <a:latin typeface="Calibri"/>
                        </a:rPr>
                        <a:t>Git tarixi barcha a'zolarda, PR ko'rib chiqishlar, vazifalar doskasi, rollar bajarilgan</a:t>
                      </a:r>
                    </a:p>
                  </a:txBody>
                  <a:tcPr>
                    <a:solidFill>
                      <a:srgbClr val="F1F4F8"/>
                    </a:solidFill>
                  </a:tcPr>
                </a:tc>
                <a:tc>
                  <a:txBody>
                    <a:bodyPr/>
                    <a:lstStyle/>
                    <a:p>
                      <a:r>
                        <a:rPr sz="1000" b="0">
                          <a:solidFill>
                            <a:srgbClr val="1B2430"/>
                          </a:solidFill>
                          <a:latin typeface="Calibri"/>
                        </a:rPr>
                        <a:t>Bir-ikki a'zo ustun</a:t>
                      </a:r>
                    </a:p>
                  </a:txBody>
                  <a:tcPr>
                    <a:solidFill>
                      <a:srgbClr val="F1F4F8"/>
                    </a:solidFill>
                  </a:tcPr>
                </a:tc>
                <a:tc>
                  <a:txBody>
                    <a:bodyPr/>
                    <a:lstStyle/>
                    <a:p>
                      <a:r>
                        <a:rPr sz="1000" b="0">
                          <a:solidFill>
                            <a:srgbClr val="1B2430"/>
                          </a:solidFill>
                          <a:latin typeface="Calibri"/>
                        </a:rPr>
                        <a:t>5</a:t>
                      </a:r>
                    </a:p>
                  </a:txBody>
                  <a:tcPr>
                    <a:solidFill>
                      <a:srgbClr val="F1F4F8"/>
                    </a:solidFill>
                  </a:tcPr>
                </a:tc>
              </a:tr>
              <a:tr h="520000">
                <a:tc>
                  <a:txBody>
                    <a:bodyPr/>
                    <a:lstStyle/>
                    <a:p>
                      <a:r>
                        <a:rPr sz="1000" b="0">
                          <a:solidFill>
                            <a:srgbClr val="1B2430"/>
                          </a:solidFill>
                          <a:latin typeface="Calibri"/>
                        </a:rPr>
                        <a:t>10</a:t>
                      </a:r>
                    </a:p>
                  </a:txBody>
                  <a:tcPr>
                    <a:solidFill>
                      <a:srgbClr val="FFFFFF"/>
                    </a:solidFill>
                  </a:tcPr>
                </a:tc>
                <a:tc>
                  <a:txBody>
                    <a:bodyPr/>
                    <a:lstStyle/>
                    <a:p>
                      <a:r>
                        <a:rPr sz="1000" b="0">
                          <a:solidFill>
                            <a:srgbClr val="1B2430"/>
                          </a:solidFill>
                          <a:latin typeface="Calibri"/>
                        </a:rPr>
                        <a:t>Himoya</a:t>
                      </a:r>
                    </a:p>
                  </a:txBody>
                  <a:tcPr>
                    <a:solidFill>
                      <a:srgbClr val="FFFFFF"/>
                    </a:solidFill>
                  </a:tcPr>
                </a:tc>
                <a:tc>
                  <a:txBody>
                    <a:bodyPr/>
                    <a:lstStyle/>
                    <a:p>
                      <a:r>
                        <a:rPr sz="1000" b="0">
                          <a:solidFill>
                            <a:srgbClr val="1B2430"/>
                          </a:solidFill>
                          <a:latin typeface="Calibri"/>
                        </a:rPr>
                        <a:t>Vaqtga rioya, jonli namoyish muvaffaqiyatli, savollarga asosli javob, kod ko'rib chiqishda ishonchli</a:t>
                      </a:r>
                    </a:p>
                  </a:txBody>
                  <a:tcPr>
                    <a:solidFill>
                      <a:srgbClr val="FFFFFF"/>
                    </a:solidFill>
                  </a:tcPr>
                </a:tc>
                <a:tc>
                  <a:txBody>
                    <a:bodyPr/>
                    <a:lstStyle/>
                    <a:p>
                      <a:r>
                        <a:rPr sz="1000" b="0">
                          <a:solidFill>
                            <a:srgbClr val="1B2430"/>
                          </a:solidFill>
                          <a:latin typeface="Calibri"/>
                        </a:rPr>
                        <a:t>Namoyish qisman, javoblar yuzaki</a:t>
                      </a:r>
                    </a:p>
                  </a:txBody>
                  <a:tcPr>
                    <a:solidFill>
                      <a:srgbClr val="FFFFFF"/>
                    </a:solidFill>
                  </a:tcPr>
                </a:tc>
                <a:tc>
                  <a:txBody>
                    <a:bodyPr/>
                    <a:lstStyle/>
                    <a:p>
                      <a:r>
                        <a:rPr sz="1000" b="0">
                          <a:solidFill>
                            <a:srgbClr val="1B2430"/>
                          </a:solidFill>
                          <a:latin typeface="Calibri"/>
                        </a:rPr>
                        <a:t>5</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05</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Natijalarni tahlil qilish</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40</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Namunaviy loyihaning kutilgan natijalari bir nechta tizimli saboq beradi.</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Ikkinchidan, unumdorlik natijalari ko'rsatadiki, bitta GPU'da ONNX Runtime bilan DenseNet-121 kechikish SLO'sini 2–3 baravar zaxira bilan bajaradi; haqiqiy cheklov tarmoq va tasvirni…</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Uchinchidan, adolatlilik tahlili tizim ko'lamini cheklash qaroriga olib keldi (18 yoshgacha bemorlar chiqarildi).</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Cheklovlar: NIH yorliqlari shovqinli, demak baholash o'zi ham noaniq — ishlab chiqarish tizimida radiolog tomonidan tasdiqlangan «oltin» to'plam kerak.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06</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Keng tarqalgan xatolar va amaliy tavsiyalar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42</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Modeldan boshlash. Guruh birinchi haftani o'qitishga sarflaydi, talablar va ma'lumot auditi esa qoldiriladi; natijada uchinchi haftada bo'lish sizgani yoki SLO aniqlanmagani ma'lum bo'ladi.…</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Sizish (leakage). Bitta bemor/qurilma/kunning namunalari train va testga bo'linib ketadi. Guruh identifikatori bo'yicha bo'ling va buni testda avtomatik tekshiring (assert…</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Chegara 0.5. Triaj, firibgarlik, nosozlik — barchasida chegara biznes mezoniga (sezgirlik, narx) qarab tanlanadi va model kartasida yoziladi.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«Hammasi mening noutbukimda ishlaydi». Docker obrazi CI'da yig'ilmasa va boshqa mashinada ishlamasa, joylashtirish balli berilmaydi. requirements.txt versiyalari qotirilgan bo'lsin, obraz…</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Monitoring = loglar. Faylga yozilgan satrlar monitoring emas. Kamida kechikish gistogrammasi, so'rovlar soni va bashorat taqsimoti Prometheus formatida bo'lishi, panelda ko'rinishi va…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43</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Adolatlilikni oxirgi kun qo'shish. Kesimlar uchun metadata (jins, yosh, hudud) ma'lumot bosqichida saqlanmasa, oxirida tahlil qilib bo'lmaydi. Sxemaga sezgir atributlarni birinchi…</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Hujjatlarni taqdimotga almashtirish. Slayd hujjat emas; docs/ papkasidagi to'rt hujjat va ADR'lar baholanadi. Hujjatni kod bilan bir vaqtda, PR ichida yangilang.</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Bir kishi hamma narsani yozadi. Git tarixi buni ko'rsatadi va individual tuzatishda aks etadi. Vazifalarni rollar bo'yicha bo'ling, PR ko'rib chiqishni almashtirib turing.</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Jonli namoyishga tayyorgarliksiz chiqish. Namoyishdan oldin konteynerlarni ko'tarish, so'rov skriptini tayyorlash, zaxira video yozib olish — 10 daqiqa, lekin himoyada 5 ballni saqlaydi.</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Cheklovlarni yashirish. Komissiya tizim nimani qila olmasligini so'raydi; «hamma narsani qiladi» javobi ballni pasaytiradi, halol va asosli cheklovlar ro'yxati — oshiradi.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07</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Nazorat savollari</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Nazorat savollari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45</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Loyihangizda model SLO'si va tizim SLO'si qanday bog'liq? Qaysi holatda tizim SLO'si bajarilib, model SLO'si buzilishi mumkin va monitoring buni qanday aniqlaydi?</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Ma'lumotni bo'lishda guruh identifikatori nima uchun muhim? O'z masalangizda sizish manbai bo'lishi mumkin bo'lgan uchta omilni ayting.</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Nima uchun triaj tizimi uchun sezgirlik aniqlikdan ustun qo'yildi? Qaysi amaliy masalada aksincha bo'ladi va bu chegarani qanday o'zgartiradi?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Bashorat taqsimotining drifti (PSI) haqiqiy aniqlik pasayishini kafolatli ko'rsatadimi? Qanday holatda PSI o'zgarmaydi, lekin model yomonlashadi, va buni qanday aniqlash mumkin?</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Sezgir atributlar modelga kirmaydi, lekin API sarlavhasida yuboriladi. Bu qarorning afzalliklari va xavflari nima? Muqobil yechim taklif qiling.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Nazorat savollari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46</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Adolatlilik tahlilida «tuzatish» va «ko'lamni cheklash» yo'llari orasida qanday tanlaysiz? Har birining model kartasida qanday aks etishi kerak?</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ONNX Runtime bilan p99 60 ms, lekin tizim p99 120 ms. Qolgan vaqt qayerga ketadi va uni qisqartirish uchun qanday choralar bor?</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ADR nima uchun kerak, agar arxitektura hujjati allaqachon bor bo'lsa? Loyihangizdagi eng munozarali qaror uchun ADR tuzilmasini og'zaki bayon qiling.</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Rollback tartibi runbook'da qanday yozilishi kerak? Model versiyasini qaytarish bilan ma'lumot sxemasini qaytarish orasida qanday bog'liqlik bor?</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Agar shifoxona yangi rentgen apparati sotib olsa, tizimda qaysi komponentlar ta'sirlanadi va qayta tekshirish ketma-ketligi qanday bo'ladi?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08</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Mustaqil ish uchun topshiriq</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Mustaqil ish uchun topshiriq</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48</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1-topshiriq (majburiy, guruhda). Yuqoridagi tuzilma bo'yicha o'z loyihangizni to'rt hafta ichida bajaring va himoyaga tayyorlang. Oraliq nazorat nuqtalari: 1-hafta oxirida pasport va ma'lumot profili (10 ball zaxirasi — kechiksa rubrikaning 1–2-banditan…</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2-topshiriq (individual, mustaqil ta'lim 1- va 4-topshiriqlari bilan bog'liq). Netflix tavsiya tizimi, Uber kelish vaqtini bashorat qilish yoki Amazon ombor robototexnikasi — birini tanlab, ochiq manbalar (kompaniyaning muhandislik bloglari, konferensiya…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09</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Qo'shimcha topshiriqlar (10 ta)</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Qo'shimcha topshiriqlar (10 ta)</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50</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Quyidagi topshiriqlar virtual laboratoriyada bajariladi (A7 virtual laboratoriyasi: 7 bosqich — sxema va bemor bo'yicha bo'lish, model reestri, ONNX, FastAPI xizmati, drift monitoringi, adolatlilik, avtomatik pasport). Har topshiriq tegishli bosqich kodini…</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Topshiriqlarning to'liq matni va bajarish tartibi virtual laboratoriya sahifasidagi «Qo'shimcha topshiriqlar» bo'limida keltirilgan.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Qo'shimcha topshiriqlar (10 ta)</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51</a:t>
            </a:r>
          </a:p>
        </p:txBody>
      </p:sp>
      <p:graphicFrame>
        <p:nvGraphicFramePr>
          <p:cNvPr id="9" name="Table 8"/>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a:t>
                      </a:r>
                    </a:p>
                  </a:txBody>
                  <a:tcPr>
                    <a:solidFill>
                      <a:srgbClr val="2D5C8F"/>
                    </a:solidFill>
                  </a:tcPr>
                </a:tc>
                <a:tc>
                  <a:txBody>
                    <a:bodyPr/>
                    <a:lstStyle/>
                    <a:p>
                      <a:r>
                        <a:rPr sz="1200" b="1">
                          <a:solidFill>
                            <a:srgbClr val="FFFFFF"/>
                          </a:solidFill>
                          <a:latin typeface="Calibri"/>
                        </a:rPr>
                        <a:t>Topshiriq</a:t>
                      </a:r>
                    </a:p>
                  </a:txBody>
                  <a:tcPr>
                    <a:solidFill>
                      <a:srgbClr val="2D5C8F"/>
                    </a:solidFill>
                  </a:tcPr>
                </a:tc>
                <a:tc>
                  <a:txBody>
                    <a:bodyPr/>
                    <a:lstStyle/>
                    <a:p>
                      <a:r>
                        <a:rPr sz="1200" b="1">
                          <a:solidFill>
                            <a:srgbClr val="FFFFFF"/>
                          </a:solidFill>
                          <a:latin typeface="Calibri"/>
                        </a:rPr>
                        <a:t>Daraja</a:t>
                      </a:r>
                    </a:p>
                  </a:txBody>
                  <a:tcPr>
                    <a:solidFill>
                      <a:srgbClr val="2D5C8F"/>
                    </a:solidFill>
                  </a:tcPr>
                </a:tc>
                <a:tc>
                  <a:txBody>
                    <a:bodyPr/>
                    <a:lstStyle/>
                    <a:p>
                      <a:r>
                        <a:rPr sz="1200" b="1">
                          <a:solidFill>
                            <a:srgbClr val="FFFFFF"/>
                          </a:solidFill>
                          <a:latin typeface="Calibri"/>
                        </a:rPr>
                        <a:t>Ball</a:t>
                      </a:r>
                    </a:p>
                  </a:txBody>
                  <a:tcPr>
                    <a:solidFill>
                      <a:srgbClr val="2D5C8F"/>
                    </a:solidFill>
                  </a:tcPr>
                </a:tc>
              </a:tr>
              <a:tr h="520000">
                <a:tc>
                  <a:txBody>
                    <a:bodyPr/>
                    <a:lstStyle/>
                    <a:p>
                      <a:r>
                        <a:rPr sz="1200" b="0">
                          <a:solidFill>
                            <a:srgbClr val="1B2430"/>
                          </a:solidFill>
                          <a:latin typeface="Calibri"/>
                        </a:rPr>
                        <a:t>1</a:t>
                      </a:r>
                    </a:p>
                  </a:txBody>
                  <a:tcPr>
                    <a:solidFill>
                      <a:srgbClr val="F1F4F8"/>
                    </a:solidFill>
                  </a:tcPr>
                </a:tc>
                <a:tc>
                  <a:txBody>
                    <a:bodyPr/>
                    <a:lstStyle/>
                    <a:p>
                      <a:r>
                        <a:rPr sz="1200" b="0">
                          <a:solidFill>
                            <a:srgbClr val="1B2430"/>
                          </a:solidFill>
                          <a:latin typeface="Calibri"/>
                        </a:rPr>
                        <a:t>Sxemaga 3 yangi qoida</a:t>
                      </a:r>
                    </a:p>
                  </a:txBody>
                  <a:tcPr>
                    <a:solidFill>
                      <a:srgbClr val="F1F4F8"/>
                    </a:solidFill>
                  </a:tcPr>
                </a:tc>
                <a:tc>
                  <a:txBody>
                    <a:bodyPr/>
                    <a:lstStyle/>
                    <a:p>
                      <a:r>
                        <a:rPr sz="1200" b="0">
                          <a:solidFill>
                            <a:srgbClr val="1B2430"/>
                          </a:solidFill>
                          <a:latin typeface="Calibri"/>
                        </a:rPr>
                        <a:t>oson</a:t>
                      </a:r>
                    </a:p>
                  </a:txBody>
                  <a:tcPr>
                    <a:solidFill>
                      <a:srgbClr val="F1F4F8"/>
                    </a:solidFill>
                  </a:tcPr>
                </a:tc>
                <a:tc>
                  <a:txBody>
                    <a:bodyPr/>
                    <a:lstStyle/>
                    <a:p>
                      <a:r>
                        <a:rPr sz="1200" b="0">
                          <a:solidFill>
                            <a:srgbClr val="1B2430"/>
                          </a:solidFill>
                          <a:latin typeface="Calibri"/>
                        </a:rPr>
                        <a:t>5</a:t>
                      </a:r>
                    </a:p>
                  </a:txBody>
                  <a:tcPr>
                    <a:solidFill>
                      <a:srgbClr val="F1F4F8"/>
                    </a:solidFill>
                  </a:tcPr>
                </a:tc>
              </a:tr>
              <a:tr h="520000">
                <a:tc>
                  <a:txBody>
                    <a:bodyPr/>
                    <a:lstStyle/>
                    <a:p>
                      <a:r>
                        <a:rPr sz="1200" b="0">
                          <a:solidFill>
                            <a:srgbClr val="1B2430"/>
                          </a:solidFill>
                          <a:latin typeface="Calibri"/>
                        </a:rPr>
                        <a:t>2</a:t>
                      </a:r>
                    </a:p>
                  </a:txBody>
                  <a:tcPr>
                    <a:solidFill>
                      <a:srgbClr val="FFFFFF"/>
                    </a:solidFill>
                  </a:tcPr>
                </a:tc>
                <a:tc>
                  <a:txBody>
                    <a:bodyPr/>
                    <a:lstStyle/>
                    <a:p>
                      <a:r>
                        <a:rPr sz="1200" b="0">
                          <a:solidFill>
                            <a:srgbClr val="1B2430"/>
                          </a:solidFill>
                          <a:latin typeface="Calibri"/>
                        </a:rPr>
                        <a:t>Chegara–sezgirlik egri chizig'i</a:t>
                      </a:r>
                    </a:p>
                  </a:txBody>
                  <a:tcPr>
                    <a:solidFill>
                      <a:srgbClr val="FFFFFF"/>
                    </a:solidFill>
                  </a:tcPr>
                </a:tc>
                <a:tc>
                  <a:txBody>
                    <a:bodyPr/>
                    <a:lstStyle/>
                    <a:p>
                      <a:r>
                        <a:rPr sz="1200" b="0">
                          <a:solidFill>
                            <a:srgbClr val="1B2430"/>
                          </a:solidFill>
                          <a:latin typeface="Calibri"/>
                        </a:rPr>
                        <a:t>oson</a:t>
                      </a:r>
                    </a:p>
                  </a:txBody>
                  <a:tcPr>
                    <a:solidFill>
                      <a:srgbClr val="FFFFFF"/>
                    </a:solidFill>
                  </a:tcPr>
                </a:tc>
                <a:tc>
                  <a:txBody>
                    <a:bodyPr/>
                    <a:lstStyle/>
                    <a:p>
                      <a:r>
                        <a:rPr sz="1200" b="0">
                          <a:solidFill>
                            <a:srgbClr val="1B2430"/>
                          </a:solidFill>
                          <a:latin typeface="Calibri"/>
                        </a:rPr>
                        <a:t>5</a:t>
                      </a:r>
                    </a:p>
                  </a:txBody>
                  <a:tcPr>
                    <a:solidFill>
                      <a:srgbClr val="FFFFFF"/>
                    </a:solidFill>
                  </a:tcPr>
                </a:tc>
              </a:tr>
              <a:tr h="520000">
                <a:tc>
                  <a:txBody>
                    <a:bodyPr/>
                    <a:lstStyle/>
                    <a:p>
                      <a:r>
                        <a:rPr sz="1200" b="0">
                          <a:solidFill>
                            <a:srgbClr val="1B2430"/>
                          </a:solidFill>
                          <a:latin typeface="Calibri"/>
                        </a:rPr>
                        <a:t>3</a:t>
                      </a:r>
                    </a:p>
                  </a:txBody>
                  <a:tcPr>
                    <a:solidFill>
                      <a:srgbClr val="F1F4F8"/>
                    </a:solidFill>
                  </a:tcPr>
                </a:tc>
                <a:tc>
                  <a:txBody>
                    <a:bodyPr/>
                    <a:lstStyle/>
                    <a:p>
                      <a:r>
                        <a:rPr sz="1200" b="0">
                          <a:solidFill>
                            <a:srgbClr val="1B2430"/>
                          </a:solidFill>
                          <a:latin typeface="Calibri"/>
                        </a:rPr>
                        <a:t>API kontrakt testlari</a:t>
                      </a:r>
                    </a:p>
                  </a:txBody>
                  <a:tcPr>
                    <a:solidFill>
                      <a:srgbClr val="F1F4F8"/>
                    </a:solidFill>
                  </a:tcPr>
                </a:tc>
                <a:tc>
                  <a:txBody>
                    <a:bodyPr/>
                    <a:lstStyle/>
                    <a:p>
                      <a:r>
                        <a:rPr sz="1200" b="0">
                          <a:solidFill>
                            <a:srgbClr val="1B2430"/>
                          </a:solidFill>
                          <a:latin typeface="Calibri"/>
                        </a:rPr>
                        <a:t>oson</a:t>
                      </a:r>
                    </a:p>
                  </a:txBody>
                  <a:tcPr>
                    <a:solidFill>
                      <a:srgbClr val="F1F4F8"/>
                    </a:solidFill>
                  </a:tcPr>
                </a:tc>
                <a:tc>
                  <a:txBody>
                    <a:bodyPr/>
                    <a:lstStyle/>
                    <a:p>
                      <a:r>
                        <a:rPr sz="1200" b="0">
                          <a:solidFill>
                            <a:srgbClr val="1B2430"/>
                          </a:solidFill>
                          <a:latin typeface="Calibri"/>
                        </a:rPr>
                        <a:t>5</a:t>
                      </a:r>
                    </a:p>
                  </a:txBody>
                  <a:tcPr>
                    <a:solidFill>
                      <a:srgbClr val="F1F4F8"/>
                    </a:solidFill>
                  </a:tcPr>
                </a:tc>
              </a:tr>
              <a:tr h="520000">
                <a:tc>
                  <a:txBody>
                    <a:bodyPr/>
                    <a:lstStyle/>
                    <a:p>
                      <a:r>
                        <a:rPr sz="1200" b="0">
                          <a:solidFill>
                            <a:srgbClr val="1B2430"/>
                          </a:solidFill>
                          <a:latin typeface="Calibri"/>
                        </a:rPr>
                        <a:t>4</a:t>
                      </a:r>
                    </a:p>
                  </a:txBody>
                  <a:tcPr>
                    <a:solidFill>
                      <a:srgbClr val="FFFFFF"/>
                    </a:solidFill>
                  </a:tcPr>
                </a:tc>
                <a:tc>
                  <a:txBody>
                    <a:bodyPr/>
                    <a:lstStyle/>
                    <a:p>
                      <a:r>
                        <a:rPr sz="1200" b="0">
                          <a:solidFill>
                            <a:srgbClr val="1B2430"/>
                          </a:solidFill>
                          <a:latin typeface="Calibri"/>
                        </a:rPr>
                        <a:t>Reestr rollback va versiyalar taqqoslash</a:t>
                      </a:r>
                    </a:p>
                  </a:txBody>
                  <a:tcPr>
                    <a:solidFill>
                      <a:srgbClr val="FFFFFF"/>
                    </a:solidFill>
                  </a:tcPr>
                </a:tc>
                <a:tc>
                  <a:txBody>
                    <a:bodyPr/>
                    <a:lstStyle/>
                    <a:p>
                      <a:r>
                        <a:rPr sz="1200" b="0">
                          <a:solidFill>
                            <a:srgbClr val="1B2430"/>
                          </a:solidFill>
                          <a:latin typeface="Calibri"/>
                        </a:rPr>
                        <a:t>o'rta</a:t>
                      </a:r>
                    </a:p>
                  </a:txBody>
                  <a:tcPr>
                    <a:solidFill>
                      <a:srgbClr val="FFFFFF"/>
                    </a:solidFill>
                  </a:tcPr>
                </a:tc>
                <a:tc>
                  <a:txBody>
                    <a:bodyPr/>
                    <a:lstStyle/>
                    <a:p>
                      <a:r>
                        <a:rPr sz="1200" b="0">
                          <a:solidFill>
                            <a:srgbClr val="1B2430"/>
                          </a:solidFill>
                          <a:latin typeface="Calibri"/>
                        </a:rPr>
                        <a:t>10</a:t>
                      </a:r>
                    </a:p>
                  </a:txBody>
                  <a:tcPr>
                    <a:solidFill>
                      <a:srgbClr val="FFFFFF"/>
                    </a:solidFill>
                  </a:tcPr>
                </a:tc>
              </a:tr>
              <a:tr h="520000">
                <a:tc>
                  <a:txBody>
                    <a:bodyPr/>
                    <a:lstStyle/>
                    <a:p>
                      <a:r>
                        <a:rPr sz="1200" b="0">
                          <a:solidFill>
                            <a:srgbClr val="1B2430"/>
                          </a:solidFill>
                          <a:latin typeface="Calibri"/>
                        </a:rPr>
                        <a:t>5</a:t>
                      </a:r>
                    </a:p>
                  </a:txBody>
                  <a:tcPr>
                    <a:solidFill>
                      <a:srgbClr val="F1F4F8"/>
                    </a:solidFill>
                  </a:tcPr>
                </a:tc>
                <a:tc>
                  <a:txBody>
                    <a:bodyPr/>
                    <a:lstStyle/>
                    <a:p>
                      <a:r>
                        <a:rPr sz="1200" b="0">
                          <a:solidFill>
                            <a:srgbClr val="1B2430"/>
                          </a:solidFill>
                          <a:latin typeface="Calibri"/>
                        </a:rPr>
                        <a:t>ONNX optimallashtirish va aniqlik variantlari</a:t>
                      </a:r>
                    </a:p>
                  </a:txBody>
                  <a:tcPr>
                    <a:solidFill>
                      <a:srgbClr val="F1F4F8"/>
                    </a:solidFill>
                  </a:tcPr>
                </a:tc>
                <a:tc>
                  <a:txBody>
                    <a:bodyPr/>
                    <a:lstStyle/>
                    <a:p>
                      <a:r>
                        <a:rPr sz="1200" b="0">
                          <a:solidFill>
                            <a:srgbClr val="1B2430"/>
                          </a:solidFill>
                          <a:latin typeface="Calibri"/>
                        </a:rPr>
                        <a:t>o'rta</a:t>
                      </a:r>
                    </a:p>
                  </a:txBody>
                  <a:tcPr>
                    <a:solidFill>
                      <a:srgbClr val="F1F4F8"/>
                    </a:solidFill>
                  </a:tcPr>
                </a:tc>
                <a:tc>
                  <a:txBody>
                    <a:bodyPr/>
                    <a:lstStyle/>
                    <a:p>
                      <a:r>
                        <a:rPr sz="1200" b="0">
                          <a:solidFill>
                            <a:srgbClr val="1B2430"/>
                          </a:solidFill>
                          <a:latin typeface="Calibri"/>
                        </a:rPr>
                        <a:t>10</a:t>
                      </a:r>
                    </a:p>
                  </a:txBody>
                  <a:tcPr>
                    <a:solidFill>
                      <a:srgbClr val="F1F4F8"/>
                    </a:solidFill>
                  </a:tcPr>
                </a:tc>
              </a:tr>
              <a:tr h="520000">
                <a:tc>
                  <a:txBody>
                    <a:bodyPr/>
                    <a:lstStyle/>
                    <a:p>
                      <a:r>
                        <a:rPr sz="1200" b="0">
                          <a:solidFill>
                            <a:srgbClr val="1B2430"/>
                          </a:solidFill>
                          <a:latin typeface="Calibri"/>
                        </a:rPr>
                        <a:t>6</a:t>
                      </a:r>
                    </a:p>
                  </a:txBody>
                  <a:tcPr>
                    <a:solidFill>
                      <a:srgbClr val="FFFFFF"/>
                    </a:solidFill>
                  </a:tcPr>
                </a:tc>
                <a:tc>
                  <a:txBody>
                    <a:bodyPr/>
                    <a:lstStyle/>
                    <a:p>
                      <a:r>
                        <a:rPr sz="1200" b="0">
                          <a:solidFill>
                            <a:srgbClr val="1B2430"/>
                          </a:solidFill>
                          <a:latin typeface="Calibri"/>
                        </a:rPr>
                        <a:t>Drift qoidalarini sozlash: yolg'on va o'tkazib yuborilgan ogohlantirishlar</a:t>
                      </a:r>
                    </a:p>
                  </a:txBody>
                  <a:tcPr>
                    <a:solidFill>
                      <a:srgbClr val="FFFFFF"/>
                    </a:solidFill>
                  </a:tcPr>
                </a:tc>
                <a:tc>
                  <a:txBody>
                    <a:bodyPr/>
                    <a:lstStyle/>
                    <a:p>
                      <a:r>
                        <a:rPr sz="1200" b="0">
                          <a:solidFill>
                            <a:srgbClr val="1B2430"/>
                          </a:solidFill>
                          <a:latin typeface="Calibri"/>
                        </a:rPr>
                        <a:t>o'rta</a:t>
                      </a:r>
                    </a:p>
                  </a:txBody>
                  <a:tcPr>
                    <a:solidFill>
                      <a:srgbClr val="FFFFFF"/>
                    </a:solidFill>
                  </a:tcPr>
                </a:tc>
                <a:tc>
                  <a:txBody>
                    <a:bodyPr/>
                    <a:lstStyle/>
                    <a:p>
                      <a:r>
                        <a:rPr sz="1200" b="0">
                          <a:solidFill>
                            <a:srgbClr val="1B2430"/>
                          </a:solidFill>
                          <a:latin typeface="Calibri"/>
                        </a:rPr>
                        <a:t>10</a:t>
                      </a:r>
                    </a:p>
                  </a:txBody>
                  <a:tcPr>
                    <a:solidFill>
                      <a:srgbClr val="FFFFFF"/>
                    </a:solidFill>
                  </a:tcPr>
                </a:tc>
              </a:tr>
              <a:tr h="520000">
                <a:tc>
                  <a:txBody>
                    <a:bodyPr/>
                    <a:lstStyle/>
                    <a:p>
                      <a:r>
                        <a:rPr sz="1200" b="0">
                          <a:solidFill>
                            <a:srgbClr val="1B2430"/>
                          </a:solidFill>
                          <a:latin typeface="Calibri"/>
                        </a:rPr>
                        <a:t>7</a:t>
                      </a:r>
                    </a:p>
                  </a:txBody>
                  <a:tcPr>
                    <a:solidFill>
                      <a:srgbClr val="F1F4F8"/>
                    </a:solidFill>
                  </a:tcPr>
                </a:tc>
                <a:tc>
                  <a:txBody>
                    <a:bodyPr/>
                    <a:lstStyle/>
                    <a:p>
                      <a:r>
                        <a:rPr sz="1200" b="0">
                          <a:solidFill>
                            <a:srgbClr val="1B2430"/>
                          </a:solidFill>
                          <a:latin typeface="Calibri"/>
                        </a:rPr>
                        <a:t>Bemor bo'yicha bootstrap va kesimlar ishonch oralig'i</a:t>
                      </a:r>
                    </a:p>
                  </a:txBody>
                  <a:tcPr>
                    <a:solidFill>
                      <a:srgbClr val="F1F4F8"/>
                    </a:solidFill>
                  </a:tcPr>
                </a:tc>
                <a:tc>
                  <a:txBody>
                    <a:bodyPr/>
                    <a:lstStyle/>
                    <a:p>
                      <a:r>
                        <a:rPr sz="1200" b="0">
                          <a:solidFill>
                            <a:srgbClr val="1B2430"/>
                          </a:solidFill>
                          <a:latin typeface="Calibri"/>
                        </a:rPr>
                        <a:t>o'rta</a:t>
                      </a:r>
                    </a:p>
                  </a:txBody>
                  <a:tcPr>
                    <a:solidFill>
                      <a:srgbClr val="F1F4F8"/>
                    </a:solidFill>
                  </a:tcPr>
                </a:tc>
                <a:tc>
                  <a:txBody>
                    <a:bodyPr/>
                    <a:lstStyle/>
                    <a:p>
                      <a:r>
                        <a:rPr sz="1200" b="0">
                          <a:solidFill>
                            <a:srgbClr val="1B2430"/>
                          </a:solidFill>
                          <a:latin typeface="Calibri"/>
                        </a:rPr>
                        <a:t>10</a:t>
                      </a:r>
                    </a:p>
                  </a:txBody>
                  <a:tcPr>
                    <a:solidFill>
                      <a:srgbClr val="F1F4F8"/>
                    </a:solidFill>
                  </a:tcPr>
                </a:tc>
              </a:tr>
              <a:tr h="520000">
                <a:tc>
                  <a:txBody>
                    <a:bodyPr/>
                    <a:lstStyle/>
                    <a:p>
                      <a:r>
                        <a:rPr sz="1200" b="0">
                          <a:solidFill>
                            <a:srgbClr val="1B2430"/>
                          </a:solidFill>
                          <a:latin typeface="Calibri"/>
                        </a:rPr>
                        <a:t>8</a:t>
                      </a:r>
                    </a:p>
                  </a:txBody>
                  <a:tcPr>
                    <a:solidFill>
                      <a:srgbClr val="FFFFFF"/>
                    </a:solidFill>
                  </a:tcPr>
                </a:tc>
                <a:tc>
                  <a:txBody>
                    <a:bodyPr/>
                    <a:lstStyle/>
                    <a:p>
                      <a:r>
                        <a:rPr sz="1200" b="0">
                          <a:solidFill>
                            <a:srgbClr val="1B2430"/>
                          </a:solidFill>
                          <a:latin typeface="Calibri"/>
                        </a:rPr>
                        <a:t>Monitoring paneli: metrikalardan SLO hisoboti</a:t>
                      </a:r>
                    </a:p>
                  </a:txBody>
                  <a:tcPr>
                    <a:solidFill>
                      <a:srgbClr val="FFFFFF"/>
                    </a:solidFill>
                  </a:tcPr>
                </a:tc>
                <a:tc>
                  <a:txBody>
                    <a:bodyPr/>
                    <a:lstStyle/>
                    <a:p>
                      <a:r>
                        <a:rPr sz="1200" b="0">
                          <a:solidFill>
                            <a:srgbClr val="1B2430"/>
                          </a:solidFill>
                          <a:latin typeface="Calibri"/>
                        </a:rPr>
                        <a:t>qiyin</a:t>
                      </a:r>
                    </a:p>
                  </a:txBody>
                  <a:tcPr>
                    <a:solidFill>
                      <a:srgbClr val="FFFFFF"/>
                    </a:solidFill>
                  </a:tcPr>
                </a:tc>
                <a:tc>
                  <a:txBody>
                    <a:bodyPr/>
                    <a:lstStyle/>
                    <a:p>
                      <a:r>
                        <a:rPr sz="1200" b="0">
                          <a:solidFill>
                            <a:srgbClr val="1B2430"/>
                          </a:solidFill>
                          <a:latin typeface="Calibri"/>
                        </a:rPr>
                        <a:t>15</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1" dur="8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Qo'shimcha topshiriqlar (10 ta) (davomi)</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52</a:t>
            </a:r>
          </a:p>
        </p:txBody>
      </p:sp>
      <p:graphicFrame>
        <p:nvGraphicFramePr>
          <p:cNvPr id="9" name="Table 8"/>
          <p:cNvGraphicFramePr>
            <a:graphicFrameLocks noGrp="1"/>
          </p:cNvGraphicFramePr>
          <p:nvPr/>
        </p:nvGraphicFramePr>
        <p:xfrm>
          <a:off x="500000" y="1350000"/>
          <a:ext cx="11200000" cy="156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a:t>
                      </a:r>
                    </a:p>
                  </a:txBody>
                  <a:tcPr>
                    <a:solidFill>
                      <a:srgbClr val="2D5C8F"/>
                    </a:solidFill>
                  </a:tcPr>
                </a:tc>
                <a:tc>
                  <a:txBody>
                    <a:bodyPr/>
                    <a:lstStyle/>
                    <a:p>
                      <a:r>
                        <a:rPr sz="1200" b="1">
                          <a:solidFill>
                            <a:srgbClr val="FFFFFF"/>
                          </a:solidFill>
                          <a:latin typeface="Calibri"/>
                        </a:rPr>
                        <a:t>Topshiriq</a:t>
                      </a:r>
                    </a:p>
                  </a:txBody>
                  <a:tcPr>
                    <a:solidFill>
                      <a:srgbClr val="2D5C8F"/>
                    </a:solidFill>
                  </a:tcPr>
                </a:tc>
                <a:tc>
                  <a:txBody>
                    <a:bodyPr/>
                    <a:lstStyle/>
                    <a:p>
                      <a:r>
                        <a:rPr sz="1200" b="1">
                          <a:solidFill>
                            <a:srgbClr val="FFFFFF"/>
                          </a:solidFill>
                          <a:latin typeface="Calibri"/>
                        </a:rPr>
                        <a:t>Daraja</a:t>
                      </a:r>
                    </a:p>
                  </a:txBody>
                  <a:tcPr>
                    <a:solidFill>
                      <a:srgbClr val="2D5C8F"/>
                    </a:solidFill>
                  </a:tcPr>
                </a:tc>
                <a:tc>
                  <a:txBody>
                    <a:bodyPr/>
                    <a:lstStyle/>
                    <a:p>
                      <a:r>
                        <a:rPr sz="1200" b="1">
                          <a:solidFill>
                            <a:srgbClr val="FFFFFF"/>
                          </a:solidFill>
                          <a:latin typeface="Calibri"/>
                        </a:rPr>
                        <a:t>Ball</a:t>
                      </a:r>
                    </a:p>
                  </a:txBody>
                  <a:tcPr>
                    <a:solidFill>
                      <a:srgbClr val="2D5C8F"/>
                    </a:solidFill>
                  </a:tcPr>
                </a:tc>
              </a:tr>
              <a:tr h="520000">
                <a:tc>
                  <a:txBody>
                    <a:bodyPr/>
                    <a:lstStyle/>
                    <a:p>
                      <a:r>
                        <a:rPr sz="1200" b="0">
                          <a:solidFill>
                            <a:srgbClr val="1B2430"/>
                          </a:solidFill>
                          <a:latin typeface="Calibri"/>
                        </a:rPr>
                        <a:t>9</a:t>
                      </a:r>
                    </a:p>
                  </a:txBody>
                  <a:tcPr>
                    <a:solidFill>
                      <a:srgbClr val="F1F4F8"/>
                    </a:solidFill>
                  </a:tcPr>
                </a:tc>
                <a:tc>
                  <a:txBody>
                    <a:bodyPr/>
                    <a:lstStyle/>
                    <a:p>
                      <a:r>
                        <a:rPr sz="1200" b="0">
                          <a:solidFill>
                            <a:srgbClr val="1B2430"/>
                          </a:solidFill>
                          <a:latin typeface="Calibri"/>
                        </a:rPr>
                        <a:t>Qayta o'qitish quvuri: drift -&gt; retrain -&gt; darvoza -&gt; promote</a:t>
                      </a:r>
                    </a:p>
                  </a:txBody>
                  <a:tcPr>
                    <a:solidFill>
                      <a:srgbClr val="F1F4F8"/>
                    </a:solidFill>
                  </a:tcPr>
                </a:tc>
                <a:tc>
                  <a:txBody>
                    <a:bodyPr/>
                    <a:lstStyle/>
                    <a:p>
                      <a:r>
                        <a:rPr sz="1200" b="0">
                          <a:solidFill>
                            <a:srgbClr val="1B2430"/>
                          </a:solidFill>
                          <a:latin typeface="Calibri"/>
                        </a:rPr>
                        <a:t>qiyin</a:t>
                      </a:r>
                    </a:p>
                  </a:txBody>
                  <a:tcPr>
                    <a:solidFill>
                      <a:srgbClr val="F1F4F8"/>
                    </a:solidFill>
                  </a:tcPr>
                </a:tc>
                <a:tc>
                  <a:txBody>
                    <a:bodyPr/>
                    <a:lstStyle/>
                    <a:p>
                      <a:r>
                        <a:rPr sz="1200" b="0">
                          <a:solidFill>
                            <a:srgbClr val="1B2430"/>
                          </a:solidFill>
                          <a:latin typeface="Calibri"/>
                        </a:rPr>
                        <a:t>15</a:t>
                      </a:r>
                    </a:p>
                  </a:txBody>
                  <a:tcPr>
                    <a:solidFill>
                      <a:srgbClr val="F1F4F8"/>
                    </a:solidFill>
                  </a:tcPr>
                </a:tc>
              </a:tr>
              <a:tr h="520000">
                <a:tc>
                  <a:txBody>
                    <a:bodyPr/>
                    <a:lstStyle/>
                    <a:p>
                      <a:r>
                        <a:rPr sz="1200" b="0">
                          <a:solidFill>
                            <a:srgbClr val="1B2430"/>
                          </a:solidFill>
                          <a:latin typeface="Calibri"/>
                        </a:rPr>
                        <a:t>10</a:t>
                      </a:r>
                    </a:p>
                  </a:txBody>
                  <a:tcPr>
                    <a:solidFill>
                      <a:srgbClr val="FFFFFF"/>
                    </a:solidFill>
                  </a:tcPr>
                </a:tc>
                <a:tc>
                  <a:txBody>
                    <a:bodyPr/>
                    <a:lstStyle/>
                    <a:p>
                      <a:r>
                        <a:rPr sz="1200" b="0">
                          <a:solidFill>
                            <a:srgbClr val="1B2430"/>
                          </a:solidFill>
                          <a:latin typeface="Calibri"/>
                        </a:rPr>
                        <a:t>O'z mavzungiz uchun to'liq mini-loyiha va pasport</a:t>
                      </a:r>
                    </a:p>
                  </a:txBody>
                  <a:tcPr>
                    <a:solidFill>
                      <a:srgbClr val="FFFFFF"/>
                    </a:solidFill>
                  </a:tcPr>
                </a:tc>
                <a:tc>
                  <a:txBody>
                    <a:bodyPr/>
                    <a:lstStyle/>
                    <a:p>
                      <a:r>
                        <a:rPr sz="1200" b="0">
                          <a:solidFill>
                            <a:srgbClr val="1B2430"/>
                          </a:solidFill>
                          <a:latin typeface="Calibri"/>
                        </a:rPr>
                        <a:t>qiyin</a:t>
                      </a:r>
                    </a:p>
                  </a:txBody>
                  <a:tcPr>
                    <a:solidFill>
                      <a:srgbClr val="FFFFFF"/>
                    </a:solidFill>
                  </a:tcPr>
                </a:tc>
                <a:tc>
                  <a:txBody>
                    <a:bodyPr/>
                    <a:lstStyle/>
                    <a:p>
                      <a:r>
                        <a:rPr sz="1200" b="0">
                          <a:solidFill>
                            <a:srgbClr val="1B2430"/>
                          </a:solidFill>
                          <a:latin typeface="Calibri"/>
                        </a:rPr>
                        <a:t>15</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1" dur="8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10</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Foydalanilgan manbalar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[2] Kneusel, R. T. Artificial Intelligence Engineering: A Practical Guide for AI Applications. No Starch Press, 2023. — loyiha hayot sikli va ekspluatatsiya boblari.</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[3] Amershi, S., Begel, A., Bird, C. va boshq. Machine Learning Engineering. MIT Press, 2025. — ML jarayoni bosqichlari, jamoaviy ish va monitoring.</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[7] PyTorch rasmiy hujjatlari: https://pytorch.org — ONNX eksporti (torch.onnx).</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[9] Kubernetes rasmiy hujjatlari: https://kubernetes.io — Deployment, HPA, Probes.</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[10] ONNX va ONNX Runtime rasmiy hujjatlari: https://onnx.ai ; https://onnxruntime.ai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55</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Sculley, D. va boshq. Hidden Technical Debt in Machine Learning Systems. NeurIPS 2015.</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Amershi, S. va boshq. Software Engineering for Machine Learning: A Case Study. ICSE-SEIP 2019.</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Mitchell, M. va boshq. Model Cards for Model Reporting. FAT 2019. arXiv:1810.03993.</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Gebru, T. va boshq. Datasheets for Datasets. Communications of the ACM, 64(12), 2021. arXiv:1803.09010.</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Wang, X. va boshq. ChestX-ray8: Hospital-scale Chest X-ray Database and Benchmarks. CVPR 2017. arXiv:1705.02315. (NIH ChestX-ray14 to'plami: https://nihcc.app.box.com/v/ChestXray-NIHCC)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(3)</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56</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11</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600" b="0">
                <a:solidFill>
                  <a:srgbClr val="1B2430"/>
                </a:solidFill>
                <a:latin typeface="Calibri"/>
              </a:rPr>
              <a:t>Rajpurkar, P. va boshq. CheXNet: Radiologist-Level Pneumonia Detection on Chest X-Rays with Deep Learning. arXiv:1711.05225, 2017.</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12</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600" b="0">
                <a:solidFill>
                  <a:srgbClr val="1B2430"/>
                </a:solidFill>
                <a:latin typeface="Calibri"/>
              </a:rPr>
              <a:t>Beyer, B., Jones, C., Petoff, J., &amp; Murphy, N. R. Site Reliability Engineering. O'Reilly, 2016. — SLI/SLO va xato byudjeti. https://sre.google/sre-book/table-of-contents/</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13</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600" b="0">
                <a:solidFill>
                  <a:srgbClr val="1B2430"/>
                </a:solidFill>
                <a:latin typeface="Calibri"/>
              </a:rPr>
              <a:t>Prometheus rasmiy hujjatlari: https://prometheus.io/docs/ ; Fairlearn: https://fairlearn.org ; MLflow: https://mlflow.org/docs/latest/</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14</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600" b="0">
                <a:solidFill>
                  <a:srgbClr val="1B2430"/>
                </a:solidFill>
                <a:latin typeface="Calibri"/>
              </a:rPr>
              <a:t>Regulation (EU) 2024/1689 (EU AI Act), III ilova: https://eur-lex.europa.eu/eli/reg/2024/1689/oj</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LABORATORIYA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Virtual laboratoriya va kodlar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A7 · Yakuniy kompleks loyihani shakllantirish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57</a:t>
            </a:r>
          </a:p>
        </p:txBody>
      </p:sp>
      <p:pic>
        <p:nvPicPr>
          <p:cNvPr id="10" name="Picture 9" descr="image.png"/>
          <p:cNvPicPr>
            <a:picLocks noChangeAspect="1"/>
          </p:cNvPicPr>
          <p:nvPr/>
        </p:nvPicPr>
        <p:blipFill>
          <a:blip r:embed="rId2"/>
          <a:stretch>
            <a:fillRect/>
          </a:stretch>
        </p:blipFill>
        <p:spPr>
          <a:xfrm>
            <a:off x="8300000" y="1600000"/>
            <a:ext cx="3200000" cy="3200000"/>
          </a:xfrm>
          <a:prstGeom prst="rect">
            <a:avLst/>
          </a:prstGeom>
        </p:spPr>
      </p:pic>
      <p:sp>
        <p:nvSpPr>
          <p:cNvPr id="11" name="TextBox 10"/>
          <p:cNvSpPr txBox="1"/>
          <p:nvPr/>
        </p:nvSpPr>
        <p:spPr>
          <a:xfrm>
            <a:off x="600000" y="1500000"/>
            <a:ext cx="7400000" cy="4600000"/>
          </a:xfrm>
          <a:prstGeom prst="rect">
            <a:avLst/>
          </a:prstGeom>
          <a:noFill/>
        </p:spPr>
        <p:txBody>
          <a:bodyPr wrap="square" anchor="t" lIns="50800" rIns="50800">
            <a:spAutoFit/>
          </a:bodyPr>
          <a:lstStyle/>
          <a:p>
            <a:pPr algn="l"/>
            <a:r>
              <a:rPr sz="1900" b="0">
                <a:solidFill>
                  <a:srgbClr val="1B2430"/>
                </a:solidFill>
                <a:latin typeface="Calibri"/>
              </a:rPr>
              <a:t>Saytda bajarish: https://aiscan.airi.uz/ktm/ → Mavzular → A7 → 🧪 Virtual bajarish (7 bosqich)</a:t>
            </a:r>
          </a:p>
          <a:p>
            <a:pPr algn="l"/>
            <a:r>
              <a:rPr sz="1900" b="0">
                <a:solidFill>
                  <a:srgbClr val="1B2430"/>
                </a:solidFill>
                <a:latin typeface="Calibri"/>
              </a:rPr>
              <a:t>Kodlarni ko‘chirib olish — QR kod yoki:</a:t>
            </a:r>
          </a:p>
          <a:p>
            <a:pPr algn="l"/>
            <a:r>
              <a:rPr sz="1900" b="0">
                <a:solidFill>
                  <a:srgbClr val="1B2430"/>
                </a:solidFill>
                <a:latin typeface="Calibri"/>
              </a:rPr>
              <a:t>git clone https://github.com/sayka7/ktm_labs.git</a:t>
            </a:r>
          </a:p>
          <a:p>
            <a:pPr algn="l"/>
            <a:r>
              <a:rPr sz="1900" b="0">
                <a:solidFill>
                  <a:srgbClr val="1B2430"/>
                </a:solidFill>
                <a:latin typeface="Calibri"/>
              </a:rPr>
              <a:t>Mustaqil topshiriq: 20 variantdan o‘zingizniki (jurnal raqami bo‘yicha)</a:t>
            </a:r>
          </a:p>
          <a:p>
            <a:pPr algn="l"/>
            <a:r>
              <a:rPr sz="1900" b="0">
                <a:solidFill>
                  <a:srgbClr val="1B2430"/>
                </a:solidFill>
                <a:latin typeface="Calibri"/>
              </a:rPr>
              <a:t>Topshirish: saytdagi «📤 Topshirish va baho» — avtomatik tekshiruv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https://aiscan.airi.uz/ktm/#/c/mis2104/mavzu/A7</a:t>
            </a:r>
          </a:p>
          <a:p>
            <a:pPr algn="ctr"/>
            <a:r>
              <a:rPr sz="1600" b="0">
                <a:solidFill>
                  <a:srgbClr val="D7E3F4"/>
                </a:solidFill>
                <a:latin typeface="Calibri"/>
              </a:rPr>
              <a:t>Nazorat savollari va mustaqil ish — mavzu matnining oxirida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
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a:p/>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a:p/>
          <a:p>
            <a:r>
              <a:t>Chekka hisoblash (Edge AI) boshqa falsafa: ma'lumot paydo bo'lgan joyda — kamera, stanok, avtomobil, tibbiy qurilma yonida — qayta ishlanadi. 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 Real tizimlar ko'pincha gibrid: chekkada tezkor birlamchi inferens, bulutda og'ir model, qayta o'qitish, tahlil va boshqaruv. Mashg'ulotda biz ikkala tomonni qurib, keyin ularni A1 dagi shaxsiy himoya vositalari (SHV) aniqlash ssenariysi uchun solishtiramiz.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a:p/>
          <a:p>
            <a:r>
              <a:t>ONNX Runtime CPU asosidagi xizmat tasviri odatda 400–600 MB, TensorRT GPU tasviri 3–6 GB bo'ladi; ishga tushish vaqti (model yuklanishi bilan) mos ravishda 2–5 soniya va 10–40 soniya (TensorRT dvigatelini deserializatsiya qilish yoki qurish). Bu raqamlar K8s'da sog'liq tekshiruvi (readiness probe) muddatini va avtomatik masshtablash reaktsiya vaqtini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CPU + Ampere GPU (Orin avlodi) + apparat video kodek + umumiy LPDDR5 xotira bir chipda (SoC). 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 Jetson'da TensorRT dvigateli aynan shu qurilmada quriladi (A3 dagi qoida), FP16 va INT8 Tensor Core'larda ishlaydi; DLA (Deep Learning Accelerator) bloklari ba'zi qatlamlarni GPU'dan ham tejamkor bajaradi.</a:t>
            </a:r>
          </a:p>
          <a:p/>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Xizmatga kamida to'rtta signal kiritiladi: so'rovlar soni (sekundiga), xatolar ulushi, kechikish gistogrammasi (p50/p95/p99 hisoblash uchun) va resurs ko'rsatkichlari (GPU bandligi, xotira, harorat). 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a:p/>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Nima bo'ldi va nega. 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Nima bo'ldi va nega. 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 GPU variantida HPA CPU bo'yicha ishlamaydi — talaba qo'shimcha topshiriqda KEDA yoki Prometheus Adapter orqali http_requests_total tezligi bo'yicha masshtablashni sozlaydi.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(6–8 bet): (1) xizmat kodi tavsifi va API hujjati (FastAPI /docs ekran tasviri); (2) Dockerfile, tasvir hajmi, ishga tushish vaqti, mahalliy yuklama sinovi natijalari; (3) K8s manifestlari, kubectl get pods/hpa chiqishlari yuklama oldidan, davomida va keyin; HPA reaksiya vaqti grafigi; rollout davomida xatolar soni; (4) Jetson yoki Coral o'lchovlari jadvali — quvvat rejimlari bo'yicha, HTTP xizmat orqali to'liq kechikish taqsimoti; (5) Cloud/Edge/Gibrid taqqoslash jadvali o'z raqamlari va manbalari bilan; (6) tanlangan ssenariy uchun yakuniy arxitektura tavsiyasi va A1 dagi strukturaviy sxemaning yangilangan varianti; (7) xulosa.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A4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Edge AI va Cloud AI platformalarida sun'iy intellekt tizimlarini joylashtirish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9fa7ee202bd9a74.jpg"/>
          <p:cNvPicPr>
            <a:picLocks noChangeAspect="1"/>
          </p:cNvPicPr>
          <p:nvPr/>
        </p:nvPicPr>
        <p:blipFill>
          <a:blip r:embed="rId2"/>
          <a:srcRect l="21040" r="21040"/>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AgainErick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62a78e5b5526ff8.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Captain Albert E. Theberge, NOAA Corps (ret.)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Mashg'ulotning maqsadi — optimallashtirilgan sun'iy intellekt modelini real xizmat ko'rinishida ikki xil muhitga joylashtirish (deployment) ko'nikmasini shakllantirish: bulutli (cloud)…</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 yakunida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Inferens modelini FastAPI asosida HTTP xizmatiga o'rab, ko'p bosqichli (multi-stage) Dockerfile yozadi va konteyner hajmi, ishga tushish vaqti va resurs cheklovlarini boshqaradi;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Kubernetes'da Deployment, Service, HorizontalPodAutoscaler va resurs so'rovlari (requests/limits) manifestlarini yozib, xizmatni minikube yoki k3s klasterida ishga tushiradi, yuklama ostida…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Jetson qurilmasida TensorRT dvigatelini yoki Coral Edge TPU'da TFLite modelini ishga tushirib, chekka inferensning latency va quvvatini o'lchaydi;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Cloud va Edge arxitekturalarini miqdoriy mezonlar (uchdan-uchga kechikish, tarmoq trafigi, 3 yillik TCO, Vt/inferens, maxfiylik, oflayn ishlash) bo'yicha solishtirib, gibrid arxitektura…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Xizmatning kuzatiluvchanligini (observability) — Prometheus metrikalari, sog'liq tekshiruvi (health check), loglar — joylashtirishning ajralmas qismi sifatida tashkil etadi.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TN4 (AI tizimlarini joylashtirish va ekspluatatsiya qilish), TN6 (Edge va Cloud infratuzilmasini loyihalash) hamda TN7 (muhandislik hujjatlari va himoya) ta'lim natijalariga…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6fbc786f8f863f.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ArnoldReinhold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Model qanchalik tez va aniq bo'lmasin, foydalanuvchi uchun u faqat xizmat sifatida mavjud bo'lganda qiymatga ega. Joylashtirish bosqichi ko'pincha e'tibordan chetda qoladi, holbuki sanoatda muammolarning katta qismi aynan shu yerda yuzaga keladi: «mening…</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Docker konteyneri — ilova va uning barcha bog'liqliklarini (kutubxonalar, CUDA runtime, model fayli) bitta ko'chma tasvirga (image) joylash; xost yadrosi (kernel) umumiy, lekin fayl tizimi, jarayonlar va tarmoq izolyatsiyalangan. Kubernetes (K8s) —…</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Chekka hisoblash (Edge AI) boshqa falsafa: ma'lumot paydo bo'lgan joyda — kamera, stanok, avtomobil, tibbiy qurilma yonida — qayta ishlanadi. Afzalliklari: millisekundli kechikish (tarmoqqa bog'liq emas), tarmoq trafigini tejash (16 kamera 64 Mbit/s uzluksiz…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2dcf0711ec855c5.jpg"/>
          <p:cNvPicPr>
            <a:picLocks noChangeAspect="1"/>
          </p:cNvPicPr>
          <p:nvPr/>
        </p:nvPicPr>
        <p:blipFill>
          <a:blip r:embed="rId2"/>
          <a:srcRect l="24729" r="2472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Laserlicht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Konteynerlashtirish va AI uchun Docker amaliyoti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AI xizmatining Docker tasviri odatiy veb-ilovadan farq qiladi: CUDA kutubxonalari (1–3 GB), PyTorch (2 GB dan ortiq), model fayli (yuzlab MB). Shu sababli bir necha amaliy qoida mavjud.</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ONNX Runtime CPU asosidagi xizmat tasviri odatda 400–600 MB, TensorRT GPU tasviri 3–6 GB bo'ladi; ishga tushish vaqti (model yuklanishi bilan) mos ravishda 2–5 soniya va 10–40 soniya (TensorRT dvigatelini deserializatsiya qilish yoki qurish). Bu raqamlar…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Readiness probe (xizmat so'rov qabul qilishga tayyormi) va liveness probe (jarayon tirikmi) AI xizmatida farq qiladi: model yuklanayotgan 30 soniya davomida Pod tirik, lekin tayyor emas — trafik unga yuborilmasligi kerak. GPU Pod'lar uchun limits majburiy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Ob'ekt</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AI xizmatida muhim parametrlar</a:t>
                      </a:r>
                    </a:p>
                  </a:txBody>
                  <a:tcPr>
                    <a:solidFill>
                      <a:srgbClr val="2D5C8F"/>
                    </a:solidFill>
                  </a:tcPr>
                </a:tc>
              </a:tr>
              <a:tr h="520000">
                <a:tc>
                  <a:txBody>
                    <a:bodyPr/>
                    <a:lstStyle/>
                    <a:p>
                      <a:r>
                        <a:rPr sz="1200" b="0">
                          <a:solidFill>
                            <a:srgbClr val="1B2430"/>
                          </a:solidFill>
                          <a:latin typeface="Calibri"/>
                        </a:rPr>
                        <a:t>Pod</a:t>
                      </a:r>
                    </a:p>
                  </a:txBody>
                  <a:tcPr>
                    <a:solidFill>
                      <a:srgbClr val="F1F4F8"/>
                    </a:solidFill>
                  </a:tcPr>
                </a:tc>
                <a:tc>
                  <a:txBody>
                    <a:bodyPr/>
                    <a:lstStyle/>
                    <a:p>
                      <a:r>
                        <a:rPr sz="1200" b="0">
                          <a:solidFill>
                            <a:srgbClr val="1B2430"/>
                          </a:solidFill>
                          <a:latin typeface="Calibri"/>
                        </a:rPr>
                        <a:t>bir yoki bir nechta konteyner, eng kichik joylash birligi</a:t>
                      </a:r>
                    </a:p>
                  </a:txBody>
                  <a:tcPr>
                    <a:solidFill>
                      <a:srgbClr val="F1F4F8"/>
                    </a:solidFill>
                  </a:tcPr>
                </a:tc>
                <a:tc>
                  <a:txBody>
                    <a:bodyPr/>
                    <a:lstStyle/>
                    <a:p>
                      <a:r>
                        <a:rPr sz="1200" b="0">
                          <a:solidFill>
                            <a:srgbClr val="1B2430"/>
                          </a:solidFill>
                          <a:latin typeface="Calibri"/>
                        </a:rPr>
                        <a:t>resources.requests/limits (CPU, xotira, nvidia.com/gpu)</a:t>
                      </a:r>
                    </a:p>
                  </a:txBody>
                  <a:tcPr>
                    <a:solidFill>
                      <a:srgbClr val="F1F4F8"/>
                    </a:solidFill>
                  </a:tcPr>
                </a:tc>
              </a:tr>
              <a:tr h="520000">
                <a:tc>
                  <a:txBody>
                    <a:bodyPr/>
                    <a:lstStyle/>
                    <a:p>
                      <a:r>
                        <a:rPr sz="1200" b="0">
                          <a:solidFill>
                            <a:srgbClr val="1B2430"/>
                          </a:solidFill>
                          <a:latin typeface="Calibri"/>
                        </a:rPr>
                        <a:t>Deployment</a:t>
                      </a:r>
                    </a:p>
                  </a:txBody>
                  <a:tcPr>
                    <a:solidFill>
                      <a:srgbClr val="FFFFFF"/>
                    </a:solidFill>
                  </a:tcPr>
                </a:tc>
                <a:tc>
                  <a:txBody>
                    <a:bodyPr/>
                    <a:lstStyle/>
                    <a:p>
                      <a:r>
                        <a:rPr sz="1200" b="0">
                          <a:solidFill>
                            <a:srgbClr val="1B2430"/>
                          </a:solidFill>
                          <a:latin typeface="Calibri"/>
                        </a:rPr>
                        <a:t>Pod nusxalarini boshqaradi, yangilanishni bosqichma-bosqich (rolling update) bajaradi</a:t>
                      </a:r>
                    </a:p>
                  </a:txBody>
                  <a:tcPr>
                    <a:solidFill>
                      <a:srgbClr val="FFFFFF"/>
                    </a:solidFill>
                  </a:tcPr>
                </a:tc>
                <a:tc>
                  <a:txBody>
                    <a:bodyPr/>
                    <a:lstStyle/>
                    <a:p>
                      <a:r>
                        <a:rPr sz="1200" b="0">
                          <a:solidFill>
                            <a:srgbClr val="1B2430"/>
                          </a:solidFill>
                          <a:latin typeface="Calibri"/>
                        </a:rPr>
                        <a:t>replicas, strategy.rollingUpdate.maxUnavailable, probe'lar</a:t>
                      </a:r>
                    </a:p>
                  </a:txBody>
                  <a:tcPr>
                    <a:solidFill>
                      <a:srgbClr val="FFFFFF"/>
                    </a:solidFill>
                  </a:tcPr>
                </a:tc>
              </a:tr>
              <a:tr h="520000">
                <a:tc>
                  <a:txBody>
                    <a:bodyPr/>
                    <a:lstStyle/>
                    <a:p>
                      <a:r>
                        <a:rPr sz="1200" b="0">
                          <a:solidFill>
                            <a:srgbClr val="1B2430"/>
                          </a:solidFill>
                          <a:latin typeface="Calibri"/>
                        </a:rPr>
                        <a:t>Service</a:t>
                      </a:r>
                    </a:p>
                  </a:txBody>
                  <a:tcPr>
                    <a:solidFill>
                      <a:srgbClr val="F1F4F8"/>
                    </a:solidFill>
                  </a:tcPr>
                </a:tc>
                <a:tc>
                  <a:txBody>
                    <a:bodyPr/>
                    <a:lstStyle/>
                    <a:p>
                      <a:r>
                        <a:rPr sz="1200" b="0">
                          <a:solidFill>
                            <a:srgbClr val="1B2430"/>
                          </a:solidFill>
                          <a:latin typeface="Calibri"/>
                        </a:rPr>
                        <a:t>Pod'larga barqaror tarmoq manzili va yuk taqsimlash</a:t>
                      </a:r>
                    </a:p>
                  </a:txBody>
                  <a:tcPr>
                    <a:solidFill>
                      <a:srgbClr val="F1F4F8"/>
                    </a:solidFill>
                  </a:tcPr>
                </a:tc>
                <a:tc>
                  <a:txBody>
                    <a:bodyPr/>
                    <a:lstStyle/>
                    <a:p>
                      <a:r>
                        <a:rPr sz="1200" b="0">
                          <a:solidFill>
                            <a:srgbClr val="1B2430"/>
                          </a:solidFill>
                          <a:latin typeface="Calibri"/>
                        </a:rPr>
                        <a:t>ClusterIP (ichki), NodePort/LoadBalancer (tashqi)</a:t>
                      </a:r>
                    </a:p>
                  </a:txBody>
                  <a:tcPr>
                    <a:solidFill>
                      <a:srgbClr val="F1F4F8"/>
                    </a:solidFill>
                  </a:tcPr>
                </a:tc>
              </a:tr>
              <a:tr h="520000">
                <a:tc>
                  <a:txBody>
                    <a:bodyPr/>
                    <a:lstStyle/>
                    <a:p>
                      <a:r>
                        <a:rPr sz="1200" b="0">
                          <a:solidFill>
                            <a:srgbClr val="1B2430"/>
                          </a:solidFill>
                          <a:latin typeface="Calibri"/>
                        </a:rPr>
                        <a:t>HorizontalPodAutoscaler (HPA)</a:t>
                      </a:r>
                    </a:p>
                  </a:txBody>
                  <a:tcPr>
                    <a:solidFill>
                      <a:srgbClr val="FFFFFF"/>
                    </a:solidFill>
                  </a:tcPr>
                </a:tc>
                <a:tc>
                  <a:txBody>
                    <a:bodyPr/>
                    <a:lstStyle/>
                    <a:p>
                      <a:r>
                        <a:rPr sz="1200" b="0">
                          <a:solidFill>
                            <a:srgbClr val="1B2430"/>
                          </a:solidFill>
                          <a:latin typeface="Calibri"/>
                        </a:rPr>
                        <a:t>metrikaga qarab nusxalar sonini avtomatik o'zgartiradi</a:t>
                      </a:r>
                    </a:p>
                  </a:txBody>
                  <a:tcPr>
                    <a:solidFill>
                      <a:srgbClr val="FFFFFF"/>
                    </a:solidFill>
                  </a:tcPr>
                </a:tc>
                <a:tc>
                  <a:txBody>
                    <a:bodyPr/>
                    <a:lstStyle/>
                    <a:p>
                      <a:r>
                        <a:rPr sz="1200" b="0">
                          <a:solidFill>
                            <a:srgbClr val="1B2430"/>
                          </a:solidFill>
                          <a:latin typeface="Calibri"/>
                        </a:rPr>
                        <a:t>CPU foizi, maxsus metrika (so'rov/s, GPU bandligi)</a:t>
                      </a:r>
                    </a:p>
                  </a:txBody>
                  <a:tcPr>
                    <a:solidFill>
                      <a:srgbClr val="FFFFFF"/>
                    </a:solidFill>
                  </a:tcPr>
                </a:tc>
              </a:tr>
              <a:tr h="520000">
                <a:tc>
                  <a:txBody>
                    <a:bodyPr/>
                    <a:lstStyle/>
                    <a:p>
                      <a:r>
                        <a:rPr sz="1200" b="0">
                          <a:solidFill>
                            <a:srgbClr val="1B2430"/>
                          </a:solidFill>
                          <a:latin typeface="Calibri"/>
                        </a:rPr>
                        <a:t>ConfigMap / Secret</a:t>
                      </a:r>
                    </a:p>
                  </a:txBody>
                  <a:tcPr>
                    <a:solidFill>
                      <a:srgbClr val="F1F4F8"/>
                    </a:solidFill>
                  </a:tcPr>
                </a:tc>
                <a:tc>
                  <a:txBody>
                    <a:bodyPr/>
                    <a:lstStyle/>
                    <a:p>
                      <a:r>
                        <a:rPr sz="1200" b="0">
                          <a:solidFill>
                            <a:srgbClr val="1B2430"/>
                          </a:solidFill>
                          <a:latin typeface="Calibri"/>
                        </a:rPr>
                        <a:t>sozlamalar va sirlar</a:t>
                      </a:r>
                    </a:p>
                  </a:txBody>
                  <a:tcPr>
                    <a:solidFill>
                      <a:srgbClr val="F1F4F8"/>
                    </a:solidFill>
                  </a:tcPr>
                </a:tc>
                <a:tc>
                  <a:txBody>
                    <a:bodyPr/>
                    <a:lstStyle/>
                    <a:p>
                      <a:r>
                        <a:rPr sz="1200" b="0">
                          <a:solidFill>
                            <a:srgbClr val="1B2430"/>
                          </a:solidFill>
                          <a:latin typeface="Calibri"/>
                        </a:rPr>
                        <a:t>model yo'li, paket o'lchami, API kalitlari</a:t>
                      </a:r>
                    </a:p>
                  </a:txBody>
                  <a:tcPr>
                    <a:solidFill>
                      <a:srgbClr val="F1F4F8"/>
                    </a:solidFill>
                  </a:tcPr>
                </a:tc>
              </a:tr>
              <a:tr h="520000">
                <a:tc>
                  <a:txBody>
                    <a:bodyPr/>
                    <a:lstStyle/>
                    <a:p>
                      <a:r>
                        <a:rPr sz="1200" b="0">
                          <a:solidFill>
                            <a:srgbClr val="1B2430"/>
                          </a:solidFill>
                          <a:latin typeface="Calibri"/>
                        </a:rPr>
                        <a:t>PersistentVolume</a:t>
                      </a:r>
                    </a:p>
                  </a:txBody>
                  <a:tcPr>
                    <a:solidFill>
                      <a:srgbClr val="FFFFFF"/>
                    </a:solidFill>
                  </a:tcPr>
                </a:tc>
                <a:tc>
                  <a:txBody>
                    <a:bodyPr/>
                    <a:lstStyle/>
                    <a:p>
                      <a:r>
                        <a:rPr sz="1200" b="0">
                          <a:solidFill>
                            <a:srgbClr val="1B2430"/>
                          </a:solidFill>
                          <a:latin typeface="Calibri"/>
                        </a:rPr>
                        <a:t>saqlash</a:t>
                      </a:r>
                    </a:p>
                  </a:txBody>
                  <a:tcPr>
                    <a:solidFill>
                      <a:srgbClr val="FFFFFF"/>
                    </a:solidFill>
                  </a:tcPr>
                </a:tc>
                <a:tc>
                  <a:txBody>
                    <a:bodyPr/>
                    <a:lstStyle/>
                    <a:p>
                      <a:r>
                        <a:rPr sz="1200" b="0">
                          <a:solidFill>
                            <a:srgbClr val="1B2430"/>
                          </a:solidFill>
                          <a:latin typeface="Calibri"/>
                        </a:rPr>
                        <a:t>model ombori, kalibrlash ma'lumotlari</a:t>
                      </a:r>
                    </a:p>
                  </a:txBody>
                  <a:tcPr>
                    <a:solidFill>
                      <a:srgbClr val="FFFFFF"/>
                    </a:solidFill>
                  </a:tcPr>
                </a:tc>
              </a:tr>
              <a:tr h="520000">
                <a:tc>
                  <a:txBody>
                    <a:bodyPr/>
                    <a:lstStyle/>
                    <a:p>
                      <a:r>
                        <a:rPr sz="1200" b="0">
                          <a:solidFill>
                            <a:srgbClr val="1B2430"/>
                          </a:solidFill>
                          <a:latin typeface="Calibri"/>
                        </a:rPr>
                        <a:t>Ingress</a:t>
                      </a:r>
                    </a:p>
                  </a:txBody>
                  <a:tcPr>
                    <a:solidFill>
                      <a:srgbClr val="F1F4F8"/>
                    </a:solidFill>
                  </a:tcPr>
                </a:tc>
                <a:tc>
                  <a:txBody>
                    <a:bodyPr/>
                    <a:lstStyle/>
                    <a:p>
                      <a:r>
                        <a:rPr sz="1200" b="0">
                          <a:solidFill>
                            <a:srgbClr val="1B2430"/>
                          </a:solidFill>
                          <a:latin typeface="Calibri"/>
                        </a:rPr>
                        <a:t>HTTP marshrutlash, TLS</a:t>
                      </a:r>
                    </a:p>
                  </a:txBody>
                  <a:tcPr>
                    <a:solidFill>
                      <a:srgbClr val="F1F4F8"/>
                    </a:solidFill>
                  </a:tcPr>
                </a:tc>
                <a:tc>
                  <a:txBody>
                    <a:bodyPr/>
                    <a:lstStyle/>
                    <a:p>
                      <a:r>
                        <a:rPr sz="1200" b="0">
                          <a:solidFill>
                            <a:srgbClr val="1B2430"/>
                          </a:solidFill>
                          <a:latin typeface="Calibri"/>
                        </a:rPr>
                        <a:t>yagona kirish nuqtasi, versiyalar bo'yicha trafik bo'lish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NVIDIA Jetson — ARM CPU + Ampere GPU (Orin avlodi) + apparat video kodek + umumiy LPDDR5 xotira bir chipda (SoC). JetPack dasturiy to'plami Ubuntu, CUDA, cuDNN, TensorRT, DeepStream va konteyner qo'llab-quvvatlashini (NVIDIA Container Runtime, l4t asos…</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Google Coral Edge TPU — 4 TOPS INT8 ASIC, ~2 Vt, USB yoki M.2/PCIe modul, shuningdek Dev Board. Faqat to'liq INT8 kvantlangan TensorFlow Lite modeli, Edge TPU kompilyatori (edgetpu_compiler) orqali kompilyatsiya qilingan holda ishlaydi; qo'llab-quvvatlanmagan…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Ko'rsatkich</a:t>
                      </a:r>
                    </a:p>
                  </a:txBody>
                  <a:tcPr>
                    <a:solidFill>
                      <a:srgbClr val="2D5C8F"/>
                    </a:solidFill>
                  </a:tcPr>
                </a:tc>
                <a:tc>
                  <a:txBody>
                    <a:bodyPr/>
                    <a:lstStyle/>
                    <a:p>
                      <a:r>
                        <a:rPr sz="1400" b="1">
                          <a:solidFill>
                            <a:srgbClr val="FFFFFF"/>
                          </a:solidFill>
                          <a:latin typeface="Calibri"/>
                        </a:rPr>
                        <a:t>Jetson Orin NX 16 GB</a:t>
                      </a:r>
                    </a:p>
                  </a:txBody>
                  <a:tcPr>
                    <a:solidFill>
                      <a:srgbClr val="2D5C8F"/>
                    </a:solidFill>
                  </a:tcPr>
                </a:tc>
                <a:tc>
                  <a:txBody>
                    <a:bodyPr/>
                    <a:lstStyle/>
                    <a:p>
                      <a:r>
                        <a:rPr sz="1400" b="1">
                          <a:solidFill>
                            <a:srgbClr val="FFFFFF"/>
                          </a:solidFill>
                          <a:latin typeface="Calibri"/>
                        </a:rPr>
                        <a:t>Jetson Orin Nano 8 GB</a:t>
                      </a:r>
                    </a:p>
                  </a:txBody>
                  <a:tcPr>
                    <a:solidFill>
                      <a:srgbClr val="2D5C8F"/>
                    </a:solidFill>
                  </a:tcPr>
                </a:tc>
                <a:tc>
                  <a:txBody>
                    <a:bodyPr/>
                    <a:lstStyle/>
                    <a:p>
                      <a:r>
                        <a:rPr sz="1400" b="1">
                          <a:solidFill>
                            <a:srgbClr val="FFFFFF"/>
                          </a:solidFill>
                          <a:latin typeface="Calibri"/>
                        </a:rPr>
                        <a:t>Coral Edge TPU (M.2)</a:t>
                      </a:r>
                    </a:p>
                  </a:txBody>
                  <a:tcPr>
                    <a:solidFill>
                      <a:srgbClr val="2D5C8F"/>
                    </a:solidFill>
                  </a:tcPr>
                </a:tc>
              </a:tr>
              <a:tr h="520000">
                <a:tc>
                  <a:txBody>
                    <a:bodyPr/>
                    <a:lstStyle/>
                    <a:p>
                      <a:r>
                        <a:rPr sz="1400" b="0">
                          <a:solidFill>
                            <a:srgbClr val="1B2430"/>
                          </a:solidFill>
                          <a:latin typeface="Calibri"/>
                        </a:rPr>
                        <a:t>Inferens unumdorligi</a:t>
                      </a:r>
                    </a:p>
                  </a:txBody>
                  <a:tcPr>
                    <a:solidFill>
                      <a:srgbClr val="F1F4F8"/>
                    </a:solidFill>
                  </a:tcPr>
                </a:tc>
                <a:tc>
                  <a:txBody>
                    <a:bodyPr/>
                    <a:lstStyle/>
                    <a:p>
                      <a:r>
                        <a:rPr sz="1400" b="0">
                          <a:solidFill>
                            <a:srgbClr val="1B2430"/>
                          </a:solidFill>
                          <a:latin typeface="Calibri"/>
                        </a:rPr>
                        <a:t>~50 TOPS INT8 dense</a:t>
                      </a:r>
                    </a:p>
                  </a:txBody>
                  <a:tcPr>
                    <a:solidFill>
                      <a:srgbClr val="F1F4F8"/>
                    </a:solidFill>
                  </a:tcPr>
                </a:tc>
                <a:tc>
                  <a:txBody>
                    <a:bodyPr/>
                    <a:lstStyle/>
                    <a:p>
                      <a:r>
                        <a:rPr sz="1400" b="0">
                          <a:solidFill>
                            <a:srgbClr val="1B2430"/>
                          </a:solidFill>
                          <a:latin typeface="Calibri"/>
                        </a:rPr>
                        <a:t>~20 TOPS INT8 dense</a:t>
                      </a:r>
                    </a:p>
                  </a:txBody>
                  <a:tcPr>
                    <a:solidFill>
                      <a:srgbClr val="F1F4F8"/>
                    </a:solidFill>
                  </a:tcPr>
                </a:tc>
                <a:tc>
                  <a:txBody>
                    <a:bodyPr/>
                    <a:lstStyle/>
                    <a:p>
                      <a:r>
                        <a:rPr sz="1400" b="0">
                          <a:solidFill>
                            <a:srgbClr val="1B2430"/>
                          </a:solidFill>
                          <a:latin typeface="Calibri"/>
                        </a:rPr>
                        <a:t>4 TOPS INT8</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10–25 Vt</a:t>
                      </a:r>
                    </a:p>
                  </a:txBody>
                  <a:tcPr>
                    <a:solidFill>
                      <a:srgbClr val="FFFFFF"/>
                    </a:solidFill>
                  </a:tcPr>
                </a:tc>
                <a:tc>
                  <a:txBody>
                    <a:bodyPr/>
                    <a:lstStyle/>
                    <a:p>
                      <a:r>
                        <a:rPr sz="1400" b="0">
                          <a:solidFill>
                            <a:srgbClr val="1B2430"/>
                          </a:solidFill>
                          <a:latin typeface="Calibri"/>
                        </a:rPr>
                        <a:t>7–15 Vt</a:t>
                      </a:r>
                    </a:p>
                  </a:txBody>
                  <a:tcPr>
                    <a:solidFill>
                      <a:srgbClr val="FFFFFF"/>
                    </a:solidFill>
                  </a:tcPr>
                </a:tc>
                <a:tc>
                  <a:txBody>
                    <a:bodyPr/>
                    <a:lstStyle/>
                    <a:p>
                      <a:r>
                        <a:rPr sz="1400" b="0">
                          <a:solidFill>
                            <a:srgbClr val="1B2430"/>
                          </a:solidFill>
                          <a:latin typeface="Calibri"/>
                        </a:rPr>
                        <a:t>~2 Vt</a:t>
                      </a:r>
                    </a:p>
                  </a:txBody>
                  <a:tcPr>
                    <a:solidFill>
                      <a:srgbClr val="FFFFFF"/>
                    </a:solidFill>
                  </a:tcPr>
                </a:tc>
              </a:tr>
              <a:tr h="520000">
                <a:tc>
                  <a:txBody>
                    <a:bodyPr/>
                    <a:lstStyle/>
                    <a:p>
                      <a:r>
                        <a:rPr sz="1400" b="0">
                          <a:solidFill>
                            <a:srgbClr val="1B2430"/>
                          </a:solidFill>
                          <a:latin typeface="Calibri"/>
                        </a:rPr>
                        <a:t>Formatlar</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faqat INT8 TFLite</a:t>
                      </a:r>
                    </a:p>
                  </a:txBody>
                  <a:tcPr>
                    <a:solidFill>
                      <a:srgbClr val="F1F4F8"/>
                    </a:solidFill>
                  </a:tcPr>
                </a:tc>
              </a:tr>
              <a:tr h="520000">
                <a:tc>
                  <a:txBody>
                    <a:bodyPr/>
                    <a:lstStyle/>
                    <a:p>
                      <a:r>
                        <a:rPr sz="1400" b="0">
                          <a:solidFill>
                            <a:srgbClr val="1B2430"/>
                          </a:solidFill>
                          <a:latin typeface="Calibri"/>
                        </a:rPr>
                        <a:t>ResNet-50 batch 1 (taxminiy)</a:t>
                      </a:r>
                    </a:p>
                  </a:txBody>
                  <a:tcPr>
                    <a:solidFill>
                      <a:srgbClr val="FFFFFF"/>
                    </a:solidFill>
                  </a:tcPr>
                </a:tc>
                <a:tc>
                  <a:txBody>
                    <a:bodyPr/>
                    <a:lstStyle/>
                    <a:p>
                      <a:r>
                        <a:rPr sz="1400" b="0">
                          <a:solidFill>
                            <a:srgbClr val="1B2430"/>
                          </a:solidFill>
                          <a:latin typeface="Calibri"/>
                        </a:rPr>
                        <a:t>~2,5 ms INT8 (TensorRT)</a:t>
                      </a:r>
                    </a:p>
                  </a:txBody>
                  <a:tcPr>
                    <a:solidFill>
                      <a:srgbClr val="FFFFFF"/>
                    </a:solidFill>
                  </a:tcPr>
                </a:tc>
                <a:tc>
                  <a:txBody>
                    <a:bodyPr/>
                    <a:lstStyle/>
                    <a:p>
                      <a:r>
                        <a:rPr sz="1400" b="0">
                          <a:solidFill>
                            <a:srgbClr val="1B2430"/>
                          </a:solidFill>
                          <a:latin typeface="Calibri"/>
                        </a:rPr>
                        <a:t>~5 ms INT8</a:t>
                      </a:r>
                    </a:p>
                  </a:txBody>
                  <a:tcPr>
                    <a:solidFill>
                      <a:srgbClr val="FFFFFF"/>
                    </a:solidFill>
                  </a:tcPr>
                </a:tc>
                <a:tc>
                  <a:txBody>
                    <a:bodyPr/>
                    <a:lstStyle/>
                    <a:p>
                      <a:r>
                        <a:rPr sz="1400" b="0">
                          <a:solidFill>
                            <a:srgbClr val="1B2430"/>
                          </a:solidFill>
                          <a:latin typeface="Calibri"/>
                        </a:rPr>
                        <a:t>~15 ms (kvantlangan)</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yo'q</a:t>
                      </a:r>
                    </a:p>
                  </a:txBody>
                  <a:tcPr>
                    <a:solidFill>
                      <a:srgbClr val="F1F4F8"/>
                    </a:solidFill>
                  </a:tcPr>
                </a:tc>
              </a:tr>
              <a:tr h="520000">
                <a:tc>
                  <a:txBody>
                    <a:bodyPr/>
                    <a:lstStyle/>
                    <a:p>
                      <a:r>
                        <a:rPr sz="1400" b="0">
                          <a:solidFill>
                            <a:srgbClr val="1B2430"/>
                          </a:solidFill>
                          <a:latin typeface="Calibri"/>
                        </a:rPr>
                        <a:t>Konteynerlar</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(host CPU), USB o'tkazish</a:t>
                      </a:r>
                    </a:p>
                  </a:txBody>
                  <a:tcPr>
                    <a:solidFill>
                      <a:srgbClr val="FFFFFF"/>
                    </a:solidFill>
                  </a:tcPr>
                </a:tc>
              </a:tr>
              <a:tr h="520000">
                <a:tc>
                  <a:txBody>
                    <a:bodyPr/>
                    <a:lstStyle/>
                    <a:p>
                      <a:r>
                        <a:rPr sz="1400" b="0">
                          <a:solidFill>
                            <a:srgbClr val="1B2430"/>
                          </a:solidFill>
                          <a:latin typeface="Calibri"/>
                        </a:rPr>
                        <a:t>Masofadan boshqarish</a:t>
                      </a:r>
                    </a:p>
                  </a:txBody>
                  <a:tcPr>
                    <a:solidFill>
                      <a:srgbClr val="F1F4F8"/>
                    </a:solidFill>
                  </a:tcPr>
                </a:tc>
                <a:tc>
                  <a:txBody>
                    <a:bodyPr/>
                    <a:lstStyle/>
                    <a:p>
                      <a:r>
                        <a:rPr sz="1400" b="0">
                          <a:solidFill>
                            <a:srgbClr val="1B2430"/>
                          </a:solidFill>
                          <a:latin typeface="Calibri"/>
                        </a:rPr>
                        <a:t>k3s agent, Fleet, Balena</a:t>
                      </a:r>
                    </a:p>
                  </a:txBody>
                  <a:tcPr>
                    <a:solidFill>
                      <a:srgbClr val="F1F4F8"/>
                    </a:solidFill>
                  </a:tcPr>
                </a:tc>
                <a:tc>
                  <a:txBody>
                    <a:bodyPr/>
                    <a:lstStyle/>
                    <a:p>
                      <a:r>
                        <a:rPr sz="1400" b="0">
                          <a:solidFill>
                            <a:srgbClr val="1B2430"/>
                          </a:solidFill>
                          <a:latin typeface="Calibri"/>
                        </a:rPr>
                        <a:t>k3s agent</a:t>
                      </a:r>
                    </a:p>
                  </a:txBody>
                  <a:tcPr>
                    <a:solidFill>
                      <a:srgbClr val="F1F4F8"/>
                    </a:solidFill>
                  </a:tcPr>
                </a:tc>
                <a:tc>
                  <a:txBody>
                    <a:bodyPr/>
                    <a:lstStyle/>
                    <a:p>
                      <a:r>
                        <a:rPr sz="1400" b="0">
                          <a:solidFill>
                            <a:srgbClr val="1B2430"/>
                          </a:solidFill>
                          <a:latin typeface="Calibri"/>
                        </a:rPr>
                        <a:t>Balena, Mender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Cloud va Edge arxitekturalarini solishtirish mezonlari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Uchdan-uchga kechikish: Edge'da tarmoq ishtirok etmaydi — 10–50 ms; Cloud'da mintaqaviy ma'lumotlar markazigacha 20–80 ms RTT (O'zbekistondan eng yaqin yirik bulut mintaqalari — Frankfurt, Mumbai, Singapur — 80–150 ms) plus navbat va inferens. Tarmoq trafigi:…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Kuzatiluvchanlik va ekspluatatsiya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Xizmatga kamida to'rtta signal kiritiladi: so'rovlar soni (sekundiga), xatolar ulushi, kechikish gistogrammasi (p50/p95/p99 hisoblash uchun) va resurs ko'rsatkichlari (GPU bandligi, xotira, harorat). Prometheus format standart; FastAPI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ffd477be183885.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Syced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Laboratoriya topshirig'i: «ResNet-50/YOLOv8 inferens xizmatini Docker + Kubernetes'da bulutli uslubda va Jetson/Edge TPU'da chekka uslubda joylashtirish, ikki arxitekturani taqqoslash».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Talab qilinadigan muhit. Bulut qismi: Linux ish stantsiyasi yoki virtual mashina (kamida 4 vCPU, 8 GB RAM, 30 GB disk); Docker Engine 24 yoki yuqori; kubectl 1.28+; minikube 1.32+ (yoki k3s 1.28+ — Jetson'da ham ishlaydi); GPU bo'lsa — NVIDIA drayver 535+,…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Xizmat 12 omilli ilova (twelve-factor app) tamoyiliga ko'ra barcha sozlamalarni muhit o'zgaruvchilaridan oladi — bitta tasvir CPU va GPU uchun ishlatiladi. /healthz va /readyz ajratilgan: model yuklanayotganda Pod o'ldirilmasligi, lekin…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app/main.py</a:t>
            </a:r>
          </a:p>
          <a:p>
            <a:r>
              <a:rPr sz="1200">
                <a:solidFill>
                  <a:srgbClr val="E2E8F0"/>
                </a:solidFill>
                <a:latin typeface="Consolas"/>
              </a:rPr>
              <a:t>import os, io, time, numpy as np, onnxruntime as ort</a:t>
            </a:r>
          </a:p>
          <a:p>
            <a:r>
              <a:rPr sz="1200">
                <a:solidFill>
                  <a:srgbClr val="E2E8F0"/>
                </a:solidFill>
                <a:latin typeface="Consolas"/>
              </a:rPr>
              <a:t>from fastapi import FastAPI, File, UploadFile, HTTPException</a:t>
            </a:r>
          </a:p>
          <a:p>
            <a:r>
              <a:rPr sz="1200">
                <a:solidFill>
                  <a:srgbClr val="E2E8F0"/>
                </a:solidFill>
                <a:latin typeface="Consolas"/>
              </a:rPr>
              <a:t>from PIL import Image</a:t>
            </a:r>
          </a:p>
          <a:p>
            <a:r>
              <a:rPr sz="1200">
                <a:solidFill>
                  <a:srgbClr val="E2E8F0"/>
                </a:solidFill>
                <a:latin typeface="Consolas"/>
              </a:rPr>
              <a:t>from prometheus_fastapi_instrumentator import Instrumentator</a:t>
            </a:r>
          </a:p>
          <a:p>
            <a:r>
              <a:rPr sz="1200">
                <a:solidFill>
                  <a:srgbClr val="E2E8F0"/>
                </a:solidFill>
                <a:latin typeface="Consolas"/>
              </a:rPr>
              <a:t> </a:t>
            </a:r>
          </a:p>
          <a:p>
            <a:r>
              <a:rPr sz="1200">
                <a:solidFill>
                  <a:srgbClr val="E2E8F0"/>
                </a:solidFill>
                <a:latin typeface="Consolas"/>
              </a:rPr>
              <a:t>MODEL = os.getenv("MODEL_PATH", "/models/resnet50_int8.onnx")</a:t>
            </a:r>
          </a:p>
          <a:p>
            <a:r>
              <a:rPr sz="1200">
                <a:solidFill>
                  <a:srgbClr val="E2E8F0"/>
                </a:solidFill>
                <a:latin typeface="Consolas"/>
              </a:rPr>
              <a:t>PROVIDERS = os.getenv("ORT_PROVIDERS", "CPUExecutionProvider").split(",")</a:t>
            </a:r>
          </a:p>
          <a:p>
            <a:r>
              <a:rPr sz="1200">
                <a:solidFill>
                  <a:srgbClr val="E2E8F0"/>
                </a:solidFill>
                <a:latin typeface="Consolas"/>
              </a:rPr>
              <a:t>THREADS = int(os.getenv("ORT_THREADS", "2"))</a:t>
            </a:r>
          </a:p>
          <a:p>
            <a:r>
              <a:rPr sz="1200">
                <a:solidFill>
                  <a:srgbClr val="E2E8F0"/>
                </a:solidFill>
                <a:latin typeface="Consolas"/>
              </a:rPr>
              <a:t>MEAN = np.array([0.485, 0.456, 0.406], np.float32)[:, None, None]</a:t>
            </a:r>
          </a:p>
          <a:p>
            <a:r>
              <a:rPr sz="1200">
                <a:solidFill>
                  <a:srgbClr val="E2E8F0"/>
                </a:solidFill>
                <a:latin typeface="Consolas"/>
              </a:rPr>
              <a:t>STD = np.array([0.229, 0.224, 0.225], np.float32)[:, None, None]</a:t>
            </a:r>
          </a:p>
          <a:p>
            <a:r>
              <a:rPr sz="1200">
                <a:solidFill>
                  <a:srgbClr val="E2E8F0"/>
                </a:solidFill>
                <a:latin typeface="Consolas"/>
              </a:rPr>
              <a:t> </a:t>
            </a:r>
          </a:p>
          <a:p>
            <a:r>
              <a:rPr sz="1200">
                <a:solidFill>
                  <a:srgbClr val="E2E8F0"/>
                </a:solidFill>
                <a:latin typeface="Consolas"/>
              </a:rPr>
              <a:t>app = FastAPI(title="rn50-infer")</a:t>
            </a:r>
          </a:p>
          <a:p>
            <a:r>
              <a:rPr sz="1200">
                <a:solidFill>
                  <a:srgbClr val="E2E8F0"/>
                </a:solidFill>
                <a:latin typeface="Consolas"/>
              </a:rPr>
              <a:t>Instrumentator().instrument(app).expose(app, endpoint="/metrics")   # Prometheus /metrics</a:t>
            </a:r>
          </a:p>
          <a:p>
            <a:r>
              <a:rPr sz="1200">
                <a:solidFill>
                  <a:srgbClr val="E2E8F0"/>
                </a:solidFill>
                <a:latin typeface="Consolas"/>
              </a:rPr>
              <a:t>state = {"ready": False, "session": None, "labels": None}</a:t>
            </a:r>
          </a:p>
          <a:p>
            <a:r>
              <a:rPr sz="1200">
                <a:solidFill>
                  <a:srgbClr val="E2E8F0"/>
                </a:solidFill>
                <a:latin typeface="Consolas"/>
              </a:rPr>
              <a:t> </a:t>
            </a:r>
          </a:p>
          <a:p>
            <a:r>
              <a:rPr sz="1200">
                <a:solidFill>
                  <a:srgbClr val="E2E8F0"/>
                </a:solidFill>
                <a:latin typeface="Consolas"/>
              </a:rPr>
              <a:t>@app.on_event("startup")</a:t>
            </a:r>
          </a:p>
          <a:p>
            <a:r>
              <a:rPr sz="1200">
                <a:solidFill>
                  <a:srgbClr val="E2E8F0"/>
                </a:solidFill>
                <a:latin typeface="Consolas"/>
              </a:rPr>
              <a:t>def load():</a:t>
            </a:r>
          </a:p>
          <a:p>
            <a:r>
              <a:rPr sz="1200">
                <a:solidFill>
                  <a:srgbClr val="E2E8F0"/>
                </a:solidFill>
                <a:latin typeface="Consolas"/>
              </a:rPr>
              <a:t>    so = ort.SessionOptions(); so.intra_op_num_threads = THREADS</a:t>
            </a:r>
          </a:p>
          <a:p>
            <a:r>
              <a:rPr sz="1200">
                <a:solidFill>
                  <a:srgbClr val="E2E8F0"/>
                </a:solidFill>
                <a:latin typeface="Consolas"/>
              </a:rPr>
              <a:t>    so.graph_optimization_level = ort.GraphOptimizationLevel.ORT_ENABLE_ALL</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(4 vCPU noutbuk, INT8 model, --cpus=2, taxminiy): tasvir hajmi ~480 MB; ishga tushish 3–4 s; bitta so'rov — preprocess 4 ms + inferens 14 ms; hey 8 parallel mijoz bilan: ~95…</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Ko'p bosqichli qurish pip keshini va qurish vositalarini yakuniy tasvirdan chiqarib tashladi. --cpus=2 --memory=1g K8s'dagi limits ning mahalliy ekvivalenti — xizmat shu cheklovda qanday ishlashini oldindan ko'ramiz: 2 CPU'da bitta…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Dockerfile  (CPU varianti; GPU uchun asos tasvirni nvidia/cuda:12.4.1-runtime-ubuntu22.04 ga va onnxruntime-gpu ga alm</a:t>
            </a:r>
          </a:p>
          <a:p>
            <a:r>
              <a:rPr sz="1000">
                <a:solidFill>
                  <a:srgbClr val="E2E8F0"/>
                </a:solidFill>
                <a:latin typeface="Consolas"/>
              </a:rPr>
              <a:t>FROM python:3.11-slim AS builder</a:t>
            </a:r>
          </a:p>
          <a:p>
            <a:r>
              <a:rPr sz="1000">
                <a:solidFill>
                  <a:srgbClr val="E2E8F0"/>
                </a:solidFill>
                <a:latin typeface="Consolas"/>
              </a:rPr>
              <a:t>WORKDIR /build</a:t>
            </a:r>
          </a:p>
          <a:p>
            <a:r>
              <a:rPr sz="1000">
                <a:solidFill>
                  <a:srgbClr val="E2E8F0"/>
                </a:solidFill>
                <a:latin typeface="Consolas"/>
              </a:rPr>
              <a:t>COPY requirements.txt .</a:t>
            </a:r>
          </a:p>
          <a:p>
            <a:r>
              <a:rPr sz="1000">
                <a:solidFill>
                  <a:srgbClr val="E2E8F0"/>
                </a:solidFill>
                <a:latin typeface="Consolas"/>
              </a:rPr>
              <a:t>RUN pip install --no-cache-dir --prefix=/install -r requirements.txt</a:t>
            </a:r>
          </a:p>
          <a:p>
            <a:r>
              <a:rPr sz="1000">
                <a:solidFill>
                  <a:srgbClr val="E2E8F0"/>
                </a:solidFill>
                <a:latin typeface="Consolas"/>
              </a:rPr>
              <a:t> </a:t>
            </a:r>
          </a:p>
          <a:p>
            <a:r>
              <a:rPr sz="1000">
                <a:solidFill>
                  <a:srgbClr val="E2E8F0"/>
                </a:solidFill>
                <a:latin typeface="Consolas"/>
              </a:rPr>
              <a:t>FROM python:3.11-slim</a:t>
            </a:r>
          </a:p>
          <a:p>
            <a:r>
              <a:rPr sz="1000">
                <a:solidFill>
                  <a:srgbClr val="E2E8F0"/>
                </a:solidFill>
                <a:latin typeface="Consolas"/>
              </a:rPr>
              <a:t>RUN useradd -m -u 10001 infer &amp;&amp; mkdir -p /models &amp;&amp; chown infer /models</a:t>
            </a:r>
          </a:p>
          <a:p>
            <a:r>
              <a:rPr sz="1000">
                <a:solidFill>
                  <a:srgbClr val="E2E8F0"/>
                </a:solidFill>
                <a:latin typeface="Consolas"/>
              </a:rPr>
              <a:t>COPY --from=builder /install /usr/local</a:t>
            </a:r>
          </a:p>
          <a:p>
            <a:r>
              <a:rPr sz="1000">
                <a:solidFill>
                  <a:srgbClr val="E2E8F0"/>
                </a:solidFill>
                <a:latin typeface="Consolas"/>
              </a:rPr>
              <a:t>WORKDIR /app</a:t>
            </a:r>
          </a:p>
          <a:p>
            <a:r>
              <a:rPr sz="1000">
                <a:solidFill>
                  <a:srgbClr val="E2E8F0"/>
                </a:solidFill>
                <a:latin typeface="Consolas"/>
              </a:rPr>
              <a:t>COPY app/ /app/</a:t>
            </a:r>
          </a:p>
          <a:p>
            <a:r>
              <a:rPr sz="1000">
                <a:solidFill>
                  <a:srgbClr val="E2E8F0"/>
                </a:solidFill>
                <a:latin typeface="Consolas"/>
              </a:rPr>
              <a:t>COPY imagenet_classes.txt /app/</a:t>
            </a:r>
          </a:p>
          <a:p>
            <a:r>
              <a:rPr sz="1000">
                <a:solidFill>
                  <a:srgbClr val="E2E8F0"/>
                </a:solidFill>
                <a:latin typeface="Consolas"/>
              </a:rPr>
              <a:t>USER infer</a:t>
            </a:r>
          </a:p>
          <a:p>
            <a:r>
              <a:rPr sz="1000">
                <a:solidFill>
                  <a:srgbClr val="E2E8F0"/>
                </a:solidFill>
                <a:latin typeface="Consolas"/>
              </a:rPr>
              <a:t>ENV MODEL_PATH=/models/resnet50_int8.onnx ORT_THREADS=2 PYTHONUNBUFFERED=1</a:t>
            </a:r>
          </a:p>
          <a:p>
            <a:r>
              <a:rPr sz="1000">
                <a:solidFill>
                  <a:srgbClr val="E2E8F0"/>
                </a:solidFill>
                <a:latin typeface="Consolas"/>
              </a:rPr>
              <a:t>EXPOSE 8000</a:t>
            </a:r>
          </a:p>
          <a:p>
            <a:r>
              <a:rPr sz="1000">
                <a:solidFill>
                  <a:srgbClr val="E2E8F0"/>
                </a:solidFill>
                <a:latin typeface="Consolas"/>
              </a:rPr>
              <a:t>HEALTHCHECK --interval=10s --timeout=3s --start-period=20s CMD python -c "import urllib.request;urllib.request.urlopen('</a:t>
            </a:r>
          </a:p>
          <a:p>
            <a:r>
              <a:rPr sz="1000">
                <a:solidFill>
                  <a:srgbClr val="E2E8F0"/>
                </a:solidFill>
                <a:latin typeface="Consolas"/>
              </a:rPr>
              <a:t>CMD ["uvicorn", "main:app", "--host", "0.0.0.0", "--port", "8000", "--workers",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requirements.txt: fastapi==0.110.* uvicorn[standard]==0.29.* onnxruntime==1.17.* numpy pillow python-multipart prometh</a:t>
            </a:r>
          </a:p>
          <a:p>
            <a:r>
              <a:rPr sz="1000">
                <a:solidFill>
                  <a:srgbClr val="E2E8F0"/>
                </a:solidFill>
                <a:latin typeface="Consolas"/>
              </a:rPr>
              <a:t>docker build -t rn50-infer:1.0 .</a:t>
            </a:r>
          </a:p>
          <a:p>
            <a:r>
              <a:rPr sz="1000">
                <a:solidFill>
                  <a:srgbClr val="E2E8F0"/>
                </a:solidFill>
                <a:latin typeface="Consolas"/>
              </a:rPr>
              <a:t>docker images rn50-infer                       # hajm: ~480 MB (slim + ORT); devel/pytorch asosida 4 GB dan ortiq bo'lar</a:t>
            </a:r>
          </a:p>
          <a:p>
            <a:r>
              <a:rPr sz="1000">
                <a:solidFill>
                  <a:srgbClr val="E2E8F0"/>
                </a:solidFill>
                <a:latin typeface="Consolas"/>
              </a:rPr>
              <a:t>docker run -d --name rn50 -p 8000:8000 -v $PWD/models:/models:ro --cpus=2 --memory=1g rn50-infer:1.0</a:t>
            </a:r>
          </a:p>
          <a:p>
            <a:r>
              <a:rPr sz="1000">
                <a:solidFill>
                  <a:srgbClr val="E2E8F0"/>
                </a:solidFill>
                <a:latin typeface="Consolas"/>
              </a:rPr>
              <a:t>time curl -sf localhost:8000/readyz            # ~3 s dan keyin tayyor</a:t>
            </a:r>
          </a:p>
          <a:p>
            <a:r>
              <a:rPr sz="1000">
                <a:solidFill>
                  <a:srgbClr val="E2E8F0"/>
                </a:solidFill>
                <a:latin typeface="Consolas"/>
              </a:rPr>
              <a:t>curl -s -F file=@cat.jpg localhost:8000/predict | python -m json.tool</a:t>
            </a:r>
          </a:p>
          <a:p>
            <a:r>
              <a:rPr sz="1000">
                <a:solidFill>
                  <a:srgbClr val="E2E8F0"/>
                </a:solidFill>
                <a:latin typeface="Consolas"/>
              </a:rPr>
              <a:t>hey -z 30s -c 8 -m POST -D cat.jpg -T multipart/form-data localhost:8000/predict   # yuklama sinovi (hey o'rniga locust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 4 vCPU minikube): yuklama boshlanganidan 45–60 s o'tib HPA nusxalar sonini 2 → 4 ga oshiradi (CPU 60 % chegarasi oshganda; kubectl top pods har Pod'da 1400–1900m ko'rsatadi); throughput 2 nusxada ~140 so'rov/s dan 4 nusxada ~250…</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Deklarativ manifest «istalgan holat»ni tavsifladi, K8s boshqaruvchisi uni ta'minladi: Pod yiqilsa qayta yaratadi, yuklama o'ssa nusxa qo'shadi, yangilash paytida eski nusxani yangisi tayyor bo'lgandagina to'xtatadi. Readiness probe'siz…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k8s/deployment.yaml</a:t>
            </a:r>
          </a:p>
          <a:p>
            <a:r>
              <a:rPr sz="1000">
                <a:solidFill>
                  <a:srgbClr val="E2E8F0"/>
                </a:solidFill>
                <a:latin typeface="Consolas"/>
              </a:rPr>
              <a:t>apiVersion: apps/v1</a:t>
            </a:r>
          </a:p>
          <a:p>
            <a:r>
              <a:rPr sz="1000">
                <a:solidFill>
                  <a:srgbClr val="E2E8F0"/>
                </a:solidFill>
                <a:latin typeface="Consolas"/>
              </a:rPr>
              <a:t>kind: Deployment</a:t>
            </a:r>
          </a:p>
          <a:p>
            <a:r>
              <a:rPr sz="1000">
                <a:solidFill>
                  <a:srgbClr val="E2E8F0"/>
                </a:solidFill>
                <a:latin typeface="Consolas"/>
              </a:rPr>
              <a:t>metadata: { name: rn50-infer, labels: { app: rn50-infer } }</a:t>
            </a:r>
          </a:p>
          <a:p>
            <a:r>
              <a:rPr sz="1000">
                <a:solidFill>
                  <a:srgbClr val="E2E8F0"/>
                </a:solidFill>
                <a:latin typeface="Consolas"/>
              </a:rPr>
              <a:t>spec:</a:t>
            </a:r>
          </a:p>
          <a:p>
            <a:r>
              <a:rPr sz="1000">
                <a:solidFill>
                  <a:srgbClr val="E2E8F0"/>
                </a:solidFill>
                <a:latin typeface="Consolas"/>
              </a:rPr>
              <a:t>  replicas: 2</a:t>
            </a:r>
          </a:p>
          <a:p>
            <a:r>
              <a:rPr sz="1000">
                <a:solidFill>
                  <a:srgbClr val="E2E8F0"/>
                </a:solidFill>
                <a:latin typeface="Consolas"/>
              </a:rPr>
              <a:t>  strategy: { type: RollingUpdate, rollingUpdate: { maxUnavailable: 0, maxSurge: 1 } }</a:t>
            </a:r>
          </a:p>
          <a:p>
            <a:r>
              <a:rPr sz="1000">
                <a:solidFill>
                  <a:srgbClr val="E2E8F0"/>
                </a:solidFill>
                <a:latin typeface="Consolas"/>
              </a:rPr>
              <a:t>  selector: { matchLabels: { app: rn50-infer } }</a:t>
            </a:r>
          </a:p>
          <a:p>
            <a:r>
              <a:rPr sz="1000">
                <a:solidFill>
                  <a:srgbClr val="E2E8F0"/>
                </a:solidFill>
                <a:latin typeface="Consolas"/>
              </a:rPr>
              <a:t>  template:</a:t>
            </a:r>
          </a:p>
          <a:p>
            <a:r>
              <a:rPr sz="1000">
                <a:solidFill>
                  <a:srgbClr val="E2E8F0"/>
                </a:solidFill>
                <a:latin typeface="Consolas"/>
              </a:rPr>
              <a:t>    metadata:</a:t>
            </a:r>
          </a:p>
          <a:p>
            <a:r>
              <a:rPr sz="1000">
                <a:solidFill>
                  <a:srgbClr val="E2E8F0"/>
                </a:solidFill>
                <a:latin typeface="Consolas"/>
              </a:rPr>
              <a:t>      labels: { app: rn50-infer }</a:t>
            </a:r>
          </a:p>
          <a:p>
            <a:r>
              <a:rPr sz="1000">
                <a:solidFill>
                  <a:srgbClr val="E2E8F0"/>
                </a:solidFill>
                <a:latin typeface="Consolas"/>
              </a:rPr>
              <a:t>      annotations: { prometheus.io/scrape: "true", prometheus.io/port: "8000", prometheus.io/path: "/metrics" }</a:t>
            </a:r>
          </a:p>
          <a:p>
            <a:r>
              <a:rPr sz="1000">
                <a:solidFill>
                  <a:srgbClr val="E2E8F0"/>
                </a:solidFill>
                <a:latin typeface="Consolas"/>
              </a:rPr>
              <a:t>    spec:</a:t>
            </a:r>
          </a:p>
          <a:p>
            <a:r>
              <a:rPr sz="1000">
                <a:solidFill>
                  <a:srgbClr val="E2E8F0"/>
                </a:solidFill>
                <a:latin typeface="Consolas"/>
              </a:rPr>
              <a:t>      securityContext: { runAsNonRoot: true, runAsUser: 10001 }</a:t>
            </a:r>
          </a:p>
          <a:p>
            <a:r>
              <a:rPr sz="1000">
                <a:solidFill>
                  <a:srgbClr val="E2E8F0"/>
                </a:solidFill>
                <a:latin typeface="Consolas"/>
              </a:rPr>
              <a:t>      containers:</a:t>
            </a:r>
          </a:p>
          <a:p>
            <a:r>
              <a:rPr sz="1000">
                <a:solidFill>
                  <a:srgbClr val="E2E8F0"/>
                </a:solidFill>
                <a:latin typeface="Consolas"/>
              </a:rPr>
              <a:t>        - name: infer</a:t>
            </a:r>
          </a:p>
          <a:p>
            <a:r>
              <a:rPr sz="1000">
                <a:solidFill>
                  <a:srgbClr val="E2E8F0"/>
                </a:solidFill>
                <a:latin typeface="Consolas"/>
              </a:rPr>
              <a:t>          image: rn50-infer:1.0</a:t>
            </a:r>
          </a:p>
          <a:p>
            <a:r>
              <a:rPr sz="1000">
                <a:solidFill>
                  <a:srgbClr val="E2E8F0"/>
                </a:solidFill>
                <a:latin typeface="Consolas"/>
              </a:rPr>
              <a:t>          imagePullPolicy: IfNotPresent</a:t>
            </a:r>
          </a:p>
          <a:p>
            <a:r>
              <a:rPr sz="1000">
                <a:solidFill>
                  <a:srgbClr val="E2E8F0"/>
                </a:solidFill>
                <a:latin typeface="Consolas"/>
              </a:rPr>
              <a:t>          ports: [{ containerPort: 8000 }]</a:t>
            </a:r>
          </a:p>
          <a:p>
            <a:r>
              <a:rPr sz="1000">
                <a:solidFill>
                  <a:srgbClr val="E2E8F0"/>
                </a:solidFill>
                <a:latin typeface="Consolas"/>
              </a:rPr>
              <a:t>          env:</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minikube start --cpus=4 --memory=8g --driver=docker</a:t>
            </a:r>
          </a:p>
          <a:p>
            <a:r>
              <a:rPr sz="1000">
                <a:solidFill>
                  <a:srgbClr val="E2E8F0"/>
                </a:solidFill>
                <a:latin typeface="Consolas"/>
              </a:rPr>
              <a:t>minikube addons enable metrics-server</a:t>
            </a:r>
          </a:p>
          <a:p>
            <a:r>
              <a:rPr sz="1000">
                <a:solidFill>
                  <a:srgbClr val="E2E8F0"/>
                </a:solidFill>
                <a:latin typeface="Consolas"/>
              </a:rPr>
              <a:t>minikube image load rn50-infer:1.0                      # mahalliy tasvirni klasterga yuklash</a:t>
            </a:r>
          </a:p>
          <a:p>
            <a:r>
              <a:rPr sz="1000">
                <a:solidFill>
                  <a:srgbClr val="E2E8F0"/>
                </a:solidFill>
                <a:latin typeface="Consolas"/>
              </a:rPr>
              <a:t>minikube ssh -- sudo mkdir -p /data/models &amp;&amp; minikube cp models/resnet50_int8.onnx /data/models/resnet50_int8.onnx</a:t>
            </a:r>
          </a:p>
          <a:p>
            <a:r>
              <a:rPr sz="1000">
                <a:solidFill>
                  <a:srgbClr val="E2E8F0"/>
                </a:solidFill>
                <a:latin typeface="Consolas"/>
              </a:rPr>
              <a:t>kubectl apply -f k8s/</a:t>
            </a:r>
          </a:p>
          <a:p>
            <a:r>
              <a:rPr sz="1000">
                <a:solidFill>
                  <a:srgbClr val="E2E8F0"/>
                </a:solidFill>
                <a:latin typeface="Consolas"/>
              </a:rPr>
              <a:t>kubectl rollout status deployment/rn50-infer</a:t>
            </a:r>
          </a:p>
          <a:p>
            <a:r>
              <a:rPr sz="1000">
                <a:solidFill>
                  <a:srgbClr val="E2E8F0"/>
                </a:solidFill>
                <a:latin typeface="Consolas"/>
              </a:rPr>
              <a:t>kubectl get pods -o wide                                # 2 ta Pod Running, READY 1/1</a:t>
            </a:r>
          </a:p>
          <a:p>
            <a:r>
              <a:rPr sz="1000">
                <a:solidFill>
                  <a:srgbClr val="E2E8F0"/>
                </a:solidFill>
                <a:latin typeface="Consolas"/>
              </a:rPr>
              <a:t>URL=$(minikube service rn50-infer --url)</a:t>
            </a:r>
          </a:p>
          <a:p>
            <a:r>
              <a:rPr sz="1000">
                <a:solidFill>
                  <a:srgbClr val="E2E8F0"/>
                </a:solidFill>
                <a:latin typeface="Consolas"/>
              </a:rPr>
              <a:t>hey -z 120s -c 32 -m POST -D cat.jpg -T multipart/form-data $URL/predict &amp;</a:t>
            </a:r>
          </a:p>
          <a:p>
            <a:r>
              <a:rPr sz="1000">
                <a:solidFill>
                  <a:srgbClr val="E2E8F0"/>
                </a:solidFill>
                <a:latin typeface="Consolas"/>
              </a:rPr>
              <a:t>watch -n 5 'kubectl get hpa rn50-infer; kubectl top pods'</a:t>
            </a:r>
          </a:p>
          <a:p>
            <a:r>
              <a:rPr sz="1000">
                <a:solidFill>
                  <a:srgbClr val="7FD6D7"/>
                </a:solidFill>
                <a:latin typeface="Consolas"/>
              </a:rPr>
              <a:t># yangilanish: model v2 ConfigMap orqali</a:t>
            </a:r>
          </a:p>
          <a:p>
            <a:r>
              <a:rPr sz="1000">
                <a:solidFill>
                  <a:srgbClr val="E2E8F0"/>
                </a:solidFill>
                <a:latin typeface="Consolas"/>
              </a:rPr>
              <a:t>kubectl set image deployment/rn50-infer infer=rn50-infer:1.1 &amp;&amp; kubectl rollout status deployment/rn50-infer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(Jetson Orin NX 16 GB, 25 Vt rejimi, batch 1,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Jetson'da INT8 dvigatel T4 ga nisbatan (A3: 3,1 ms batch 8 → 0,4 ms/rasm) batch 1 da 2,6 ms — chekka qurilma uchun juda yaxshi, lekin throughput'da T4 dan 7 baravar past. Energiya: 39 mJ/rasm — T4 ning 27 mJ/rasm ko'rsatkichiga yaqin,…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Konfiguratsiya</a:t>
                      </a:r>
                    </a:p>
                  </a:txBody>
                  <a:tcPr>
                    <a:solidFill>
                      <a:srgbClr val="2D5C8F"/>
                    </a:solidFill>
                  </a:tcPr>
                </a:tc>
                <a:tc>
                  <a:txBody>
                    <a:bodyPr/>
                    <a:lstStyle/>
                    <a:p>
                      <a:r>
                        <a:rPr sz="1200" b="1">
                          <a:solidFill>
                            <a:srgbClr val="FFFFFF"/>
                          </a:solidFill>
                          <a:latin typeface="Calibri"/>
                        </a:rPr>
                        <a:t>p50, ms</a:t>
                      </a:r>
                    </a:p>
                  </a:txBody>
                  <a:tcPr>
                    <a:solidFill>
                      <a:srgbClr val="2D5C8F"/>
                    </a:solidFill>
                  </a:tcPr>
                </a:tc>
                <a:tc>
                  <a:txBody>
                    <a:bodyPr/>
                    <a:lstStyle/>
                    <a:p>
                      <a:r>
                        <a:rPr sz="1200" b="1">
                          <a:solidFill>
                            <a:srgbClr val="FFFFFF"/>
                          </a:solidFill>
                          <a:latin typeface="Calibri"/>
                        </a:rPr>
                        <a:t>p95, ms</a:t>
                      </a:r>
                    </a:p>
                  </a:txBody>
                  <a:tcPr>
                    <a:solidFill>
                      <a:srgbClr val="2D5C8F"/>
                    </a:solidFill>
                  </a:tcPr>
                </a:tc>
                <a:tc>
                  <a:txBody>
                    <a:bodyPr/>
                    <a:lstStyle/>
                    <a:p>
                      <a:r>
                        <a:rPr sz="1200" b="1">
                          <a:solidFill>
                            <a:srgbClr val="FFFFFF"/>
                          </a:solidFill>
                          <a:latin typeface="Calibri"/>
                        </a:rPr>
                        <a:t>Throughput, rasm/s</a:t>
                      </a:r>
                    </a:p>
                  </a:txBody>
                  <a:tcPr>
                    <a:solidFill>
                      <a:srgbClr val="2D5C8F"/>
                    </a:solidFill>
                  </a:tcPr>
                </a:tc>
                <a:tc>
                  <a:txBody>
                    <a:bodyPr/>
                    <a:lstStyle/>
                    <a:p>
                      <a:r>
                        <a:rPr sz="1200" b="1">
                          <a:solidFill>
                            <a:srgbClr val="FFFFFF"/>
                          </a:solidFill>
                          <a:latin typeface="Calibri"/>
                        </a:rPr>
                        <a:t>VDD_IN o'rtacha, Vt</a:t>
                      </a:r>
                    </a:p>
                  </a:txBody>
                  <a:tcPr>
                    <a:solidFill>
                      <a:srgbClr val="2D5C8F"/>
                    </a:solidFill>
                  </a:tcPr>
                </a:tc>
                <a:tc>
                  <a:txBody>
                    <a:bodyPr/>
                    <a:lstStyle/>
                    <a:p>
                      <a:r>
                        <a:rPr sz="1200" b="1">
                          <a:solidFill>
                            <a:srgbClr val="FFFFFF"/>
                          </a:solidFill>
                          <a:latin typeface="Calibri"/>
                        </a:rPr>
                        <a:t>mJ/rasm</a:t>
                      </a:r>
                    </a:p>
                  </a:txBody>
                  <a:tcPr>
                    <a:solidFill>
                      <a:srgbClr val="2D5C8F"/>
                    </a:solidFill>
                  </a:tcPr>
                </a:tc>
              </a:tr>
              <a:tr h="520000">
                <a:tc>
                  <a:txBody>
                    <a:bodyPr/>
                    <a:lstStyle/>
                    <a:p>
                      <a:r>
                        <a:rPr sz="1200" b="0">
                          <a:solidFill>
                            <a:srgbClr val="1B2430"/>
                          </a:solidFill>
                          <a:latin typeface="Calibri"/>
                        </a:rPr>
                        <a:t>TensorRT FP16</a:t>
                      </a:r>
                    </a:p>
                  </a:txBody>
                  <a:tcPr>
                    <a:solidFill>
                      <a:srgbClr val="F1F4F8"/>
                    </a:solidFill>
                  </a:tcPr>
                </a:tc>
                <a:tc>
                  <a:txBody>
                    <a:bodyPr/>
                    <a:lstStyle/>
                    <a:p>
                      <a:r>
                        <a:rPr sz="1200" b="0">
                          <a:solidFill>
                            <a:srgbClr val="1B2430"/>
                          </a:solidFill>
                          <a:latin typeface="Calibri"/>
                        </a:rPr>
                        <a:t>4,1</a:t>
                      </a:r>
                    </a:p>
                  </a:txBody>
                  <a:tcPr>
                    <a:solidFill>
                      <a:srgbClr val="F1F4F8"/>
                    </a:solidFill>
                  </a:tcPr>
                </a:tc>
                <a:tc>
                  <a:txBody>
                    <a:bodyPr/>
                    <a:lstStyle/>
                    <a:p>
                      <a:r>
                        <a:rPr sz="1200" b="0">
                          <a:solidFill>
                            <a:srgbClr val="1B2430"/>
                          </a:solidFill>
                          <a:latin typeface="Calibri"/>
                        </a:rPr>
                        <a:t>4,5</a:t>
                      </a:r>
                    </a:p>
                  </a:txBody>
                  <a:tcPr>
                    <a:solidFill>
                      <a:srgbClr val="F1F4F8"/>
                    </a:solidFill>
                  </a:tcPr>
                </a:tc>
                <a:tc>
                  <a:txBody>
                    <a:bodyPr/>
                    <a:lstStyle/>
                    <a:p>
                      <a:r>
                        <a:rPr sz="1200" b="0">
                          <a:solidFill>
                            <a:srgbClr val="1B2430"/>
                          </a:solidFill>
                          <a:latin typeface="Calibri"/>
                        </a:rPr>
                        <a:t>240</a:t>
                      </a:r>
                    </a:p>
                  </a:txBody>
                  <a:tcPr>
                    <a:solidFill>
                      <a:srgbClr val="F1F4F8"/>
                    </a:solidFill>
                  </a:tcPr>
                </a:tc>
                <a:tc>
                  <a:txBody>
                    <a:bodyPr/>
                    <a:lstStyle/>
                    <a:p>
                      <a:r>
                        <a:rPr sz="1200" b="0">
                          <a:solidFill>
                            <a:srgbClr val="1B2430"/>
                          </a:solidFill>
                          <a:latin typeface="Calibri"/>
                        </a:rPr>
                        <a:t>14,5</a:t>
                      </a:r>
                    </a:p>
                  </a:txBody>
                  <a:tcPr>
                    <a:solidFill>
                      <a:srgbClr val="F1F4F8"/>
                    </a:solidFill>
                  </a:tcPr>
                </a:tc>
                <a:tc>
                  <a:txBody>
                    <a:bodyPr/>
                    <a:lstStyle/>
                    <a:p>
                      <a:r>
                        <a:rPr sz="1200" b="0">
                          <a:solidFill>
                            <a:srgbClr val="1B2430"/>
                          </a:solidFill>
                          <a:latin typeface="Calibri"/>
                        </a:rPr>
                        <a:t>60</a:t>
                      </a:r>
                    </a:p>
                  </a:txBody>
                  <a:tcPr>
                    <a:solidFill>
                      <a:srgbClr val="F1F4F8"/>
                    </a:solidFill>
                  </a:tcPr>
                </a:tc>
              </a:tr>
              <a:tr h="520000">
                <a:tc>
                  <a:txBody>
                    <a:bodyPr/>
                    <a:lstStyle/>
                    <a:p>
                      <a:r>
                        <a:rPr sz="1200" b="0">
                          <a:solidFill>
                            <a:srgbClr val="1B2430"/>
                          </a:solidFill>
                          <a:latin typeface="Calibri"/>
                        </a:rPr>
                        <a:t>TensorRT INT8</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2,9</a:t>
                      </a:r>
                    </a:p>
                  </a:txBody>
                  <a:tcPr>
                    <a:solidFill>
                      <a:srgbClr val="FFFFFF"/>
                    </a:solidFill>
                  </a:tcPr>
                </a:tc>
                <a:tc>
                  <a:txBody>
                    <a:bodyPr/>
                    <a:lstStyle/>
                    <a:p>
                      <a:r>
                        <a:rPr sz="1200" b="0">
                          <a:solidFill>
                            <a:srgbClr val="1B2430"/>
                          </a:solidFill>
                          <a:latin typeface="Calibri"/>
                        </a:rPr>
                        <a:t>380</a:t>
                      </a:r>
                    </a:p>
                  </a:txBody>
                  <a:tcPr>
                    <a:solidFill>
                      <a:srgbClr val="FFFFFF"/>
                    </a:solidFill>
                  </a:tcPr>
                </a:tc>
                <a:tc>
                  <a:txBody>
                    <a:bodyPr/>
                    <a:lstStyle/>
                    <a:p>
                      <a:r>
                        <a:rPr sz="1200" b="0">
                          <a:solidFill>
                            <a:srgbClr val="1B2430"/>
                          </a:solidFill>
                          <a:latin typeface="Calibri"/>
                        </a:rPr>
                        <a:t>15,0</a:t>
                      </a:r>
                    </a:p>
                  </a:txBody>
                  <a:tcPr>
                    <a:solidFill>
                      <a:srgbClr val="FFFFFF"/>
                    </a:solidFill>
                  </a:tcPr>
                </a:tc>
                <a:tc>
                  <a:txBody>
                    <a:bodyPr/>
                    <a:lstStyle/>
                    <a:p>
                      <a:r>
                        <a:rPr sz="1200" b="0">
                          <a:solidFill>
                            <a:srgbClr val="1B2430"/>
                          </a:solidFill>
                          <a:latin typeface="Calibri"/>
                        </a:rPr>
                        <a:t>39</a:t>
                      </a:r>
                    </a:p>
                  </a:txBody>
                  <a:tcPr>
                    <a:solidFill>
                      <a:srgbClr val="FFFFFF"/>
                    </a:solidFill>
                  </a:tcPr>
                </a:tc>
              </a:tr>
              <a:tr h="520000">
                <a:tc>
                  <a:txBody>
                    <a:bodyPr/>
                    <a:lstStyle/>
                    <a:p>
                      <a:r>
                        <a:rPr sz="1200" b="0">
                          <a:solidFill>
                            <a:srgbClr val="1B2430"/>
                          </a:solidFill>
                          <a:latin typeface="Calibri"/>
                        </a:rPr>
                        <a:t>INT8, 10 Vt rejimi</a:t>
                      </a:r>
                    </a:p>
                  </a:txBody>
                  <a:tcPr>
                    <a:solidFill>
                      <a:srgbClr val="F1F4F8"/>
                    </a:solidFill>
                  </a:tcPr>
                </a:tc>
                <a:tc>
                  <a:txBody>
                    <a:bodyPr/>
                    <a:lstStyle/>
                    <a:p>
                      <a:r>
                        <a:rPr sz="1200" b="0">
                          <a:solidFill>
                            <a:srgbClr val="1B2430"/>
                          </a:solidFill>
                          <a:latin typeface="Calibri"/>
                        </a:rPr>
                        <a:t>5,8</a:t>
                      </a:r>
                    </a:p>
                  </a:txBody>
                  <a:tcPr>
                    <a:solidFill>
                      <a:srgbClr val="F1F4F8"/>
                    </a:solidFill>
                  </a:tcPr>
                </a:tc>
                <a:tc>
                  <a:txBody>
                    <a:bodyPr/>
                    <a:lstStyle/>
                    <a:p>
                      <a:r>
                        <a:rPr sz="1200" b="0">
                          <a:solidFill>
                            <a:srgbClr val="1B2430"/>
                          </a:solidFill>
                          <a:latin typeface="Calibri"/>
                        </a:rPr>
                        <a:t>6,4</a:t>
                      </a:r>
                    </a:p>
                  </a:txBody>
                  <a:tcPr>
                    <a:solidFill>
                      <a:srgbClr val="F1F4F8"/>
                    </a:solidFill>
                  </a:tcPr>
                </a:tc>
                <a:tc>
                  <a:txBody>
                    <a:bodyPr/>
                    <a:lstStyle/>
                    <a:p>
                      <a:r>
                        <a:rPr sz="1200" b="0">
                          <a:solidFill>
                            <a:srgbClr val="1B2430"/>
                          </a:solidFill>
                          <a:latin typeface="Calibri"/>
                        </a:rPr>
                        <a:t>170</a:t>
                      </a:r>
                    </a:p>
                  </a:txBody>
                  <a:tcPr>
                    <a:solidFill>
                      <a:srgbClr val="F1F4F8"/>
                    </a:solidFill>
                  </a:tcPr>
                </a:tc>
                <a:tc>
                  <a:txBody>
                    <a:bodyPr/>
                    <a:lstStyle/>
                    <a:p>
                      <a:r>
                        <a:rPr sz="1200" b="0">
                          <a:solidFill>
                            <a:srgbClr val="1B2430"/>
                          </a:solidFill>
                          <a:latin typeface="Calibri"/>
                        </a:rPr>
                        <a:t>8,5</a:t>
                      </a:r>
                    </a:p>
                  </a:txBody>
                  <a:tcPr>
                    <a:solidFill>
                      <a:srgbClr val="F1F4F8"/>
                    </a:solidFill>
                  </a:tcPr>
                </a:tc>
                <a:tc>
                  <a:txBody>
                    <a:bodyPr/>
                    <a:lstStyle/>
                    <a:p>
                      <a:r>
                        <a:rPr sz="1200" b="0">
                          <a:solidFill>
                            <a:srgbClr val="1B2430"/>
                          </a:solidFill>
                          <a:latin typeface="Calibri"/>
                        </a:rPr>
                        <a:t>50</a:t>
                      </a:r>
                    </a:p>
                  </a:txBody>
                  <a:tcPr>
                    <a:solidFill>
                      <a:srgbClr val="F1F4F8"/>
                    </a:solidFill>
                  </a:tcPr>
                </a:tc>
              </a:tr>
              <a:tr h="520000">
                <a:tc>
                  <a:txBody>
                    <a:bodyPr/>
                    <a:lstStyle/>
                    <a:p>
                      <a:r>
                        <a:rPr sz="1200" b="0">
                          <a:solidFill>
                            <a:srgbClr val="1B2430"/>
                          </a:solidFill>
                          <a:latin typeface="Calibri"/>
                        </a:rPr>
                        <a:t>HTTP xizmat orqali INT8 (preprocess + JPEG bilan)</a:t>
                      </a:r>
                    </a:p>
                  </a:txBody>
                  <a:tcPr>
                    <a:solidFill>
                      <a:srgbClr val="FFFFFF"/>
                    </a:solidFill>
                  </a:tcPr>
                </a:tc>
                <a:tc>
                  <a:txBody>
                    <a:bodyPr/>
                    <a:lstStyle/>
                    <a:p>
                      <a:r>
                        <a:rPr sz="1200" b="0">
                          <a:solidFill>
                            <a:srgbClr val="1B2430"/>
                          </a:solidFill>
                          <a:latin typeface="Calibri"/>
                        </a:rPr>
                        <a:t>19</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50 (1 ishchi)</a:t>
                      </a:r>
                    </a:p>
                  </a:txBody>
                  <a:tcPr>
                    <a:solidFill>
                      <a:srgbClr val="FFFFFF"/>
                    </a:solidFill>
                  </a:tcPr>
                </a:tc>
                <a:tc>
                  <a:txBody>
                    <a:bodyPr/>
                    <a:lstStyle/>
                    <a:p>
                      <a:r>
                        <a:rPr sz="1200" b="0">
                          <a:solidFill>
                            <a:srgbClr val="1B2430"/>
                          </a:solidFill>
                          <a:latin typeface="Calibri"/>
                        </a:rPr>
                        <a:t>13</a:t>
                      </a:r>
                    </a:p>
                  </a:txBody>
                  <a:tcPr>
                    <a:solidFill>
                      <a:srgbClr val="FFFFFF"/>
                    </a:solidFill>
                  </a:tcPr>
                </a:tc>
                <a:tc>
                  <a:txBody>
                    <a:bodyPr/>
                    <a:lstStyle/>
                    <a:p>
                      <a:r>
                        <a:rPr sz="1200" b="0">
                          <a:solidFill>
                            <a:srgbClr val="1B2430"/>
                          </a:solidFill>
                          <a:latin typeface="Calibri"/>
                        </a:rPr>
                        <a:t>260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Jetson Orin (JetPack 6.x) da bajariladi</a:t>
            </a:r>
          </a:p>
          <a:p>
            <a:r>
              <a:rPr sz="1000">
                <a:solidFill>
                  <a:srgbClr val="E2E8F0"/>
                </a:solidFill>
                <a:latin typeface="Consolas"/>
              </a:rPr>
              <a:t>sudo nvpmodel -m 0 &amp;&amp; sudo jetson_clocks               # maksimal quvvat rejimi (Orin NX: 25 Vt) va qotirilgan chastota</a:t>
            </a:r>
          </a:p>
          <a:p>
            <a:r>
              <a:rPr sz="1000">
                <a:solidFill>
                  <a:srgbClr val="E2E8F0"/>
                </a:solidFill>
                <a:latin typeface="Consolas"/>
              </a:rPr>
              <a:t>nvpmodel -q                                             # joriy rejimni tekshirish</a:t>
            </a:r>
          </a:p>
          <a:p>
            <a:r>
              <a:rPr sz="1000">
                <a:solidFill>
                  <a:srgbClr val="7FD6D7"/>
                </a:solidFill>
                <a:latin typeface="Consolas"/>
              </a:rPr>
              <a:t># A3 dan ONNX faylni ko'chirib, dvigatelni AYNAN shu qurilmada qurish</a:t>
            </a:r>
          </a:p>
          <a:p>
            <a:r>
              <a:rPr sz="1000">
                <a:solidFill>
                  <a:srgbClr val="E2E8F0"/>
                </a:solidFill>
                <a:latin typeface="Consolas"/>
              </a:rPr>
              <a:t>/usr/src/tensorrt/bin/trtexec --onnx=resnet50_fp32.onnx --fp16 --saveEngine=rn50_fp16_orin.plan \</a:t>
            </a:r>
          </a:p>
          <a:p>
            <a:r>
              <a:rPr sz="1000">
                <a:solidFill>
                  <a:srgbClr val="E2E8F0"/>
                </a:solidFill>
                <a:latin typeface="Consolas"/>
              </a:rPr>
              <a:t>    --shapes=input:1x3x224x224 --iterations=500 --warmUp=1000 --percentile=95 | tee trt_orin_fp16.log</a:t>
            </a:r>
          </a:p>
          <a:p>
            <a:r>
              <a:rPr sz="1000">
                <a:solidFill>
                  <a:srgbClr val="E2E8F0"/>
                </a:solidFill>
                <a:latin typeface="Consolas"/>
              </a:rPr>
              <a:t>/usr/src/tensorrt/bin/trtexec --onnx=resnet50_int8.onnx --int8 --fp16 --saveEngine=rn50_int8_orin.plan \</a:t>
            </a:r>
          </a:p>
          <a:p>
            <a:r>
              <a:rPr sz="1000">
                <a:solidFill>
                  <a:srgbClr val="E2E8F0"/>
                </a:solidFill>
                <a:latin typeface="Consolas"/>
              </a:rPr>
              <a:t>    --shapes=input:1x3x224x224 --iterations=500 --warmUp=1000 --percentile=95 | tee trt_orin_int8.log</a:t>
            </a:r>
          </a:p>
          <a:p>
            <a:r>
              <a:rPr sz="1000">
                <a:solidFill>
                  <a:srgbClr val="7FD6D7"/>
                </a:solidFill>
                <a:latin typeface="Consolas"/>
              </a:rPr>
              <a:t># Quvvatni parallel o'lchash (boshqa terminalda), 100 ms oraliqda</a:t>
            </a:r>
          </a:p>
          <a:p>
            <a:r>
              <a:rPr sz="1000">
                <a:solidFill>
                  <a:srgbClr val="E2E8F0"/>
                </a:solidFill>
                <a:latin typeface="Consolas"/>
              </a:rPr>
              <a:t>sudo tegrastats --interval 100 --logfile tegra_int8.log &amp;</a:t>
            </a:r>
          </a:p>
          <a:p>
            <a:r>
              <a:rPr sz="1000">
                <a:solidFill>
                  <a:srgbClr val="E2E8F0"/>
                </a:solidFill>
                <a:latin typeface="Consolas"/>
              </a:rPr>
              <a:t>/usr/src/tensorrt/bin/trtexec --loadEngine=rn50_int8_orin.plan --iterations=3000 --shapes=input:1x3x224x224</a:t>
            </a:r>
          </a:p>
          <a:p>
            <a:r>
              <a:rPr sz="1000">
                <a:solidFill>
                  <a:srgbClr val="E2E8F0"/>
                </a:solidFill>
                <a:latin typeface="Consolas"/>
              </a:rPr>
              <a:t>sudo pkill tegrastats</a:t>
            </a:r>
          </a:p>
          <a:p>
            <a:r>
              <a:rPr sz="1000">
                <a:solidFill>
                  <a:srgbClr val="E2E8F0"/>
                </a:solidFill>
                <a:latin typeface="Consolas"/>
              </a:rPr>
              <a:t>grep -o 'VDD_IN [0-9]*mW' tegra_int8.log | awk '{s+=$2; n++} END {print "o'\''rtacha quvvat, mW:", s/n}'</a:t>
            </a:r>
          </a:p>
          <a:p>
            <a:r>
              <a:rPr sz="1000">
                <a:solidFill>
                  <a:srgbClr val="7FD6D7"/>
                </a:solidFill>
                <a:latin typeface="Consolas"/>
              </a:rPr>
              <a:t># Xizmatni Jetson'da konteynerda ishga tushirish (l4t asos tasvir, GPU runtime)</a:t>
            </a:r>
          </a:p>
          <a:p>
            <a:r>
              <a:rPr sz="1000">
                <a:solidFill>
                  <a:srgbClr val="E2E8F0"/>
                </a:solidFill>
                <a:latin typeface="Consolas"/>
              </a:rPr>
              <a:t>sudo docker run -d --runtime nvidia --network host -v $PWD/models:/models:ro \</a:t>
            </a:r>
          </a:p>
          <a:p>
            <a:r>
              <a:rPr sz="1000">
                <a:solidFill>
                  <a:srgbClr val="E2E8F0"/>
                </a:solidFill>
                <a:latin typeface="Consolas"/>
              </a:rPr>
              <a:t>    -e MODEL_PATH=/models/resnet50_int8.onnx -e ORT_PROVIDERS=TensorrtExecutionProvider,CUDAExecutionProvider \</a:t>
            </a:r>
          </a:p>
          <a:p>
            <a:r>
              <a:rPr sz="1000">
                <a:solidFill>
                  <a:srgbClr val="E2E8F0"/>
                </a:solidFill>
                <a:latin typeface="Consolas"/>
              </a:rPr>
              <a:t>    rn50-infer:1.0-l4t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(Coral USB Accelerator, USB 3.0, taxminiy): MobileNetV2 p50 ≈ 2,8 ms (USB 2.0 da ≈ 12 ms — interfeys tiqilib qoladi); quvvat ~1,5–2 Vt → ~5 mJ/rasm; ResNet-50 (kvantlangan, 25 MB vazn 8 MB SRAM'ga sig'maydi) ≈ 15–18 ms. Xost CPU (Raspberry Pi…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Xost (Raspberry Pi yoki x86 Linux) da: libedgetpu va pycoral o'rnatilgan</a:t>
            </a:r>
          </a:p>
          <a:p>
            <a:r>
              <a:rPr sz="1000">
                <a:solidFill>
                  <a:srgbClr val="7FD6D7"/>
                </a:solidFill>
                <a:latin typeface="Consolas"/>
              </a:rPr>
              <a:t># Coral model bog'idan to'liq kvantlangan va kompilyatsiya qilingan model:</a:t>
            </a:r>
          </a:p>
          <a:p>
            <a:r>
              <a:rPr sz="1000">
                <a:solidFill>
                  <a:srgbClr val="E2E8F0"/>
                </a:solidFill>
                <a:latin typeface="Consolas"/>
              </a:rPr>
              <a:t>wget https://raw.githubusercontent.com/google-coral/test_data/master/mobilenet_v2_1.0_224_quant_edgetpu.tflite</a:t>
            </a:r>
          </a:p>
          <a:p>
            <a:r>
              <a:rPr sz="1000">
                <a:solidFill>
                  <a:srgbClr val="E2E8F0"/>
                </a:solidFill>
                <a:latin typeface="Consolas"/>
              </a:rPr>
              <a:t>wget https://raw.githubusercontent.com/google-coral/test_data/master/imagenet_labels.txt</a:t>
            </a:r>
          </a:p>
          <a:p>
            <a:r>
              <a:rPr sz="1000">
                <a:solidFill>
                  <a:srgbClr val="7FD6D7"/>
                </a:solidFill>
                <a:latin typeface="Consolas"/>
              </a:rPr>
              <a:t># O'z modelini tayyorlash ketma-ketligi (hisobotda tavsiflang): TF/Keras → TFLite to'liq INT8 (representative dataset) →</a:t>
            </a:r>
          </a:p>
          <a:p>
            <a:r>
              <a:rPr sz="1000">
                <a:solidFill>
                  <a:srgbClr val="7FD6D7"/>
                </a:solidFill>
                <a:latin typeface="Consolas"/>
              </a:rPr>
              <a:t># Kompilyator chiqishida "Number of operations that will run on Edge TPU: N / M" qatorini tekshiring — M-N ta operator 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coral_bench.py</a:t>
            </a:r>
          </a:p>
          <a:p>
            <a:r>
              <a:rPr sz="1000">
                <a:solidFill>
                  <a:srgbClr val="E2E8F0"/>
                </a:solidFill>
                <a:latin typeface="Consolas"/>
              </a:rPr>
              <a:t>import time, numpy as np</a:t>
            </a:r>
          </a:p>
          <a:p>
            <a:r>
              <a:rPr sz="1000">
                <a:solidFill>
                  <a:srgbClr val="E2E8F0"/>
                </a:solidFill>
                <a:latin typeface="Consolas"/>
              </a:rPr>
              <a:t>from pycoral.utils.edgetpu import make_interpreter</a:t>
            </a:r>
          </a:p>
          <a:p>
            <a:r>
              <a:rPr sz="1000">
                <a:solidFill>
                  <a:srgbClr val="E2E8F0"/>
                </a:solidFill>
                <a:latin typeface="Consolas"/>
              </a:rPr>
              <a:t>from pycoral.adapters import common, classify</a:t>
            </a:r>
          </a:p>
          <a:p>
            <a:r>
              <a:rPr sz="1000">
                <a:solidFill>
                  <a:srgbClr val="E2E8F0"/>
                </a:solidFill>
                <a:latin typeface="Consolas"/>
              </a:rPr>
              <a:t>from PIL import Image</a:t>
            </a:r>
          </a:p>
          <a:p>
            <a:r>
              <a:rPr sz="1000">
                <a:solidFill>
                  <a:srgbClr val="E2E8F0"/>
                </a:solidFill>
                <a:latin typeface="Consolas"/>
              </a:rPr>
              <a:t>itp = make_interpreter("mobilenet_v2_1.0_224_quant_edgetpu.tflite"); itp.allocate_tensors()</a:t>
            </a:r>
          </a:p>
          <a:p>
            <a:r>
              <a:rPr sz="1000">
                <a:solidFill>
                  <a:srgbClr val="E2E8F0"/>
                </a:solidFill>
                <a:latin typeface="Consolas"/>
              </a:rPr>
              <a:t>img = Image.open("cat.jpg").convert("RGB").resize(common.input_size(itp))</a:t>
            </a:r>
          </a:p>
          <a:p>
            <a:r>
              <a:rPr sz="1000">
                <a:solidFill>
                  <a:srgbClr val="E2E8F0"/>
                </a:solidFill>
                <a:latin typeface="Consolas"/>
              </a:rPr>
              <a:t>common.set_input(itp, img)</a:t>
            </a:r>
          </a:p>
          <a:p>
            <a:r>
              <a:rPr sz="1000">
                <a:solidFill>
                  <a:srgbClr val="E2E8F0"/>
                </a:solidFill>
                <a:latin typeface="Consolas"/>
              </a:rPr>
              <a:t>for _ in range(10): itp.invoke()</a:t>
            </a:r>
          </a:p>
          <a:p>
            <a:r>
              <a:rPr sz="1000">
                <a:solidFill>
                  <a:srgbClr val="E2E8F0"/>
                </a:solidFill>
                <a:latin typeface="Consolas"/>
              </a:rPr>
              <a:t>t = []</a:t>
            </a:r>
          </a:p>
          <a:p>
            <a:r>
              <a:rPr sz="1000">
                <a:solidFill>
                  <a:srgbClr val="E2E8F0"/>
                </a:solidFill>
                <a:latin typeface="Consolas"/>
              </a:rPr>
              <a:t>for _ in range(200):</a:t>
            </a:r>
          </a:p>
          <a:p>
            <a:r>
              <a:rPr sz="1000">
                <a:solidFill>
                  <a:srgbClr val="E2E8F0"/>
                </a:solidFill>
                <a:latin typeface="Consolas"/>
              </a:rPr>
              <a:t>    t0 = time.perf_counter(); itp.invoke(); t.append(time.perf_counter() - t0)</a:t>
            </a:r>
          </a:p>
          <a:p>
            <a:r>
              <a:rPr sz="1000">
                <a:solidFill>
                  <a:srgbClr val="E2E8F0"/>
                </a:solidFill>
                <a:latin typeface="Consolas"/>
              </a:rPr>
              <a:t>print(f"Edge TPU MobileNetV2: p50 {np.percentile(t,50)*1e3:.2f} ms  p95 {np.percentile(t,95)*1e3:.2f} ms")</a:t>
            </a:r>
          </a:p>
          <a:p>
            <a:r>
              <a:rPr sz="1000">
                <a:solidFill>
                  <a:srgbClr val="E2E8F0"/>
                </a:solidFill>
                <a:latin typeface="Consolas"/>
              </a:rPr>
              <a:t>print(classify.get_classes(itp, top_k=3))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A1 ssenariysi (16 kamera, 160 inferens/s, 3 yil) uchun quyidagi jadvalni to'ldiring; raqamlar o'z o'lchovlaringiz va ochiq narxlardan olinadi (taxminiy namuna):</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SHV ssenariysida Edge aniq ustun: kechikish 5 baravar kam, 3 yillik xarajat 20 baravar kam, video binoda qoladi. Cloud esa boshqa ssenariyda — masalan, 10 000 foydalanuvchiga mobil ilova orqali tasvir tasniflash xizmati — yagona oqilona…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Uchdan-uchga kechikish (p95)</a:t>
                      </a:r>
                    </a:p>
                  </a:txBody>
                  <a:tcPr>
                    <a:solidFill>
                      <a:srgbClr val="F1F4F8"/>
                    </a:solidFill>
                  </a:tcPr>
                </a:tc>
                <a:tc>
                  <a:txBody>
                    <a:bodyPr/>
                    <a:lstStyle/>
                    <a:p>
                      <a:r>
                        <a:rPr sz="1200" b="0">
                          <a:solidFill>
                            <a:srgbClr val="1B2430"/>
                          </a:solidFill>
                          <a:latin typeface="Calibri"/>
                        </a:rPr>
                        <a:t>120–200 ms (RTT 80 ms + navbat + inferens)</a:t>
                      </a:r>
                    </a:p>
                  </a:txBody>
                  <a:tcPr>
                    <a:solidFill>
                      <a:srgbClr val="F1F4F8"/>
                    </a:solidFill>
                  </a:tcPr>
                </a:tc>
                <a:tc>
                  <a:txBody>
                    <a:bodyPr/>
                    <a:lstStyle/>
                    <a:p>
                      <a:r>
                        <a:rPr sz="1200" b="0">
                          <a:solidFill>
                            <a:srgbClr val="1B2430"/>
                          </a:solidFill>
                          <a:latin typeface="Calibri"/>
                        </a:rPr>
                        <a:t>25–40 ms</a:t>
                      </a:r>
                    </a:p>
                  </a:txBody>
                  <a:tcPr>
                    <a:solidFill>
                      <a:srgbClr val="F1F4F8"/>
                    </a:solidFill>
                  </a:tcPr>
                </a:tc>
                <a:tc>
                  <a:txBody>
                    <a:bodyPr/>
                    <a:lstStyle/>
                    <a:p>
                      <a:r>
                        <a:rPr sz="1200" b="0">
                          <a:solidFill>
                            <a:srgbClr val="1B2430"/>
                          </a:solidFill>
                          <a:latin typeface="Calibri"/>
                        </a:rPr>
                        <a:t>30 ms (asosiy), 200 ms (qayta tekshiruv)</a:t>
                      </a:r>
                    </a:p>
                  </a:txBody>
                  <a:tcPr>
                    <a:solidFill>
                      <a:srgbClr val="F1F4F8"/>
                    </a:solidFill>
                  </a:tcPr>
                </a:tc>
              </a:tr>
              <a:tr h="520000">
                <a:tc>
                  <a:txBody>
                    <a:bodyPr/>
                    <a:lstStyle/>
                    <a:p>
                      <a:r>
                        <a:rPr sz="1200" b="0">
                          <a:solidFill>
                            <a:srgbClr val="1B2430"/>
                          </a:solidFill>
                          <a:latin typeface="Calibri"/>
                        </a:rPr>
                        <a:t>Tarmoq trafigi</a:t>
                      </a:r>
                    </a:p>
                  </a:txBody>
                  <a:tcPr>
                    <a:solidFill>
                      <a:srgbClr val="FFFFFF"/>
                    </a:solidFill>
                  </a:tcPr>
                </a:tc>
                <a:tc>
                  <a:txBody>
                    <a:bodyPr/>
                    <a:lstStyle/>
                    <a:p>
                      <a:r>
                        <a:rPr sz="1200" b="0">
                          <a:solidFill>
                            <a:srgbClr val="1B2430"/>
                          </a:solidFill>
                          <a:latin typeface="Calibri"/>
                        </a:rPr>
                        <a:t>64 Mbit/s uzluksiz (16 oqim)</a:t>
                      </a:r>
                    </a:p>
                  </a:txBody>
                  <a:tcPr>
                    <a:solidFill>
                      <a:srgbClr val="FFFFFF"/>
                    </a:solidFill>
                  </a:tcPr>
                </a:tc>
                <a:tc>
                  <a:txBody>
                    <a:bodyPr/>
                    <a:lstStyle/>
                    <a:p>
                      <a:r>
                        <a:rPr sz="1200" b="0">
                          <a:solidFill>
                            <a:srgbClr val="1B2430"/>
                          </a:solidFill>
                          <a:latin typeface="Calibri"/>
                        </a:rPr>
                        <a:t>~10 kbit/s (hodisalar)</a:t>
                      </a:r>
                    </a:p>
                  </a:txBody>
                  <a:tcPr>
                    <a:solidFill>
                      <a:srgbClr val="FFFFFF"/>
                    </a:solidFill>
                  </a:tcPr>
                </a:tc>
                <a:tc>
                  <a:txBody>
                    <a:bodyPr/>
                    <a:lstStyle/>
                    <a:p>
                      <a:r>
                        <a:rPr sz="1200" b="0">
                          <a:solidFill>
                            <a:srgbClr val="1B2430"/>
                          </a:solidFill>
                          <a:latin typeface="Calibri"/>
                        </a:rPr>
                        <a:t>~100 kbit/s (shubhali kadrlar)</a:t>
                      </a:r>
                    </a:p>
                  </a:txBody>
                  <a:tcPr>
                    <a:solidFill>
                      <a:srgbClr val="FFFFFF"/>
                    </a:solidFill>
                  </a:tcPr>
                </a:tc>
              </a:tr>
              <a:tr h="520000">
                <a:tc>
                  <a:txBody>
                    <a:bodyPr/>
                    <a:lstStyle/>
                    <a:p>
                      <a:r>
                        <a:rPr sz="1200" b="0">
                          <a:solidFill>
                            <a:srgbClr val="1B2430"/>
                          </a:solidFill>
                          <a:latin typeface="Calibri"/>
                        </a:rPr>
                        <a:t>3 yillik xarajat</a:t>
                      </a:r>
                    </a:p>
                  </a:txBody>
                  <a:tcPr>
                    <a:solidFill>
                      <a:srgbClr val="F1F4F8"/>
                    </a:solidFill>
                  </a:tcPr>
                </a:tc>
                <a:tc>
                  <a:txBody>
                    <a:bodyPr/>
                    <a:lstStyle/>
                    <a:p>
                      <a:r>
                        <a:rPr sz="1200" b="0">
                          <a:solidFill>
                            <a:srgbClr val="1B2430"/>
                          </a:solidFill>
                          <a:latin typeface="Calibri"/>
                        </a:rPr>
                        <a:t>GPU soati 0,5 $ × 2 × 26 280 soat ≈ 26 000 $ + trafik</a:t>
                      </a:r>
                    </a:p>
                  </a:txBody>
                  <a:tcPr>
                    <a:solidFill>
                      <a:srgbClr val="F1F4F8"/>
                    </a:solidFill>
                  </a:tcPr>
                </a:tc>
                <a:tc>
                  <a:txBody>
                    <a:bodyPr/>
                    <a:lstStyle/>
                    <a:p>
                      <a:r>
                        <a:rPr sz="1200" b="0">
                          <a:solidFill>
                            <a:srgbClr val="1B2430"/>
                          </a:solidFill>
                          <a:latin typeface="Calibri"/>
                        </a:rPr>
                        <a:t>700 $ qurilma + 300 $ korpus/sovutish + 3 yil 25 Vt ≈ 660 kVt·s ≈ 100 $ ≈ 1 100 $</a:t>
                      </a:r>
                    </a:p>
                  </a:txBody>
                  <a:tcPr>
                    <a:solidFill>
                      <a:srgbClr val="F1F4F8"/>
                    </a:solidFill>
                  </a:tcPr>
                </a:tc>
                <a:tc>
                  <a:txBody>
                    <a:bodyPr/>
                    <a:lstStyle/>
                    <a:p>
                      <a:r>
                        <a:rPr sz="1200" b="0">
                          <a:solidFill>
                            <a:srgbClr val="1B2430"/>
                          </a:solidFill>
                          <a:latin typeface="Calibri"/>
                        </a:rPr>
                        <a:t>≈ 1 100 $ + bulut 5 % vaqt ≈ 2 500 $</a:t>
                      </a:r>
                    </a:p>
                  </a:txBody>
                  <a:tcPr>
                    <a:solidFill>
                      <a:srgbClr val="F1F4F8"/>
                    </a:solidFill>
                  </a:tcPr>
                </a:tc>
              </a:tr>
              <a:tr h="520000">
                <a:tc>
                  <a:txBody>
                    <a:bodyPr/>
                    <a:lstStyle/>
                    <a:p>
                      <a:r>
                        <a:rPr sz="1200" b="0">
                          <a:solidFill>
                            <a:srgbClr val="1B2430"/>
                          </a:solidFill>
                          <a:latin typeface="Calibri"/>
                        </a:rPr>
                        <a:t>Energiya (inferens boshiga, to'liq)</a:t>
                      </a:r>
                    </a:p>
                  </a:txBody>
                  <a:tcPr>
                    <a:solidFill>
                      <a:srgbClr val="FFFFFF"/>
                    </a:solidFill>
                  </a:tcPr>
                </a:tc>
                <a:tc>
                  <a:txBody>
                    <a:bodyPr/>
                    <a:lstStyle/>
                    <a:p>
                      <a:r>
                        <a:rPr sz="1200" b="0">
                          <a:solidFill>
                            <a:srgbClr val="1B2430"/>
                          </a:solidFill>
                          <a:latin typeface="Calibri"/>
                        </a:rPr>
                        <a:t>~45 mJ + ma'lumotlar markazi PUE 1,3 + tarmoq</a:t>
                      </a:r>
                    </a:p>
                  </a:txBody>
                  <a:tcPr>
                    <a:solidFill>
                      <a:srgbClr val="FFFFFF"/>
                    </a:solidFill>
                  </a:tcPr>
                </a:tc>
                <a:tc>
                  <a:txBody>
                    <a:bodyPr/>
                    <a:lstStyle/>
                    <a:p>
                      <a:r>
                        <a:rPr sz="1200" b="0">
                          <a:solidFill>
                            <a:srgbClr val="1B2430"/>
                          </a:solidFill>
                          <a:latin typeface="Calibri"/>
                        </a:rPr>
                        <a:t>~40 mJ (yuklanganda), bo'sh holat kam</a:t>
                      </a:r>
                    </a:p>
                  </a:txBody>
                  <a:tcPr>
                    <a:solidFill>
                      <a:srgbClr val="FFFFFF"/>
                    </a:solidFill>
                  </a:tcPr>
                </a:tc>
                <a:tc>
                  <a:txBody>
                    <a:bodyPr/>
                    <a:lstStyle/>
                    <a:p>
                      <a:r>
                        <a:rPr sz="1200" b="0">
                          <a:solidFill>
                            <a:srgbClr val="1B2430"/>
                          </a:solidFill>
                          <a:latin typeface="Calibri"/>
                        </a:rPr>
                        <a:t>~45 mJ</a:t>
                      </a:r>
                    </a:p>
                  </a:txBody>
                  <a:tcPr>
                    <a:solidFill>
                      <a:srgbClr val="FFFFFF"/>
                    </a:solidFill>
                  </a:tcPr>
                </a:tc>
              </a:tr>
              <a:tr h="520000">
                <a:tc>
                  <a:txBody>
                    <a:bodyPr/>
                    <a:lstStyle/>
                    <a:p>
                      <a:r>
                        <a:rPr sz="1200" b="0">
                          <a:solidFill>
                            <a:srgbClr val="1B2430"/>
                          </a:solidFill>
                          <a:latin typeface="Calibri"/>
                        </a:rPr>
                        <a:t>Oflayn ishlash</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ha</a:t>
                      </a:r>
                    </a:p>
                  </a:txBody>
                  <a:tcPr>
                    <a:solidFill>
                      <a:srgbClr val="F1F4F8"/>
                    </a:solidFill>
                  </a:tcPr>
                </a:tc>
                <a:tc>
                  <a:txBody>
                    <a:bodyPr/>
                    <a:lstStyle/>
                    <a:p>
                      <a:r>
                        <a:rPr sz="1200" b="0">
                          <a:solidFill>
                            <a:srgbClr val="1B2430"/>
                          </a:solidFill>
                          <a:latin typeface="Calibri"/>
                        </a:rPr>
                        <a:t>asosiy funksiya ha</a:t>
                      </a:r>
                    </a:p>
                  </a:txBody>
                  <a:tcPr>
                    <a:solidFill>
                      <a:srgbClr val="F1F4F8"/>
                    </a:solidFill>
                  </a:tcPr>
                </a:tc>
              </a:tr>
              <a:tr h="520000">
                <a:tc>
                  <a:txBody>
                    <a:bodyPr/>
                    <a:lstStyle/>
                    <a:p>
                      <a:r>
                        <a:rPr sz="1200" b="0">
                          <a:solidFill>
                            <a:srgbClr val="1B2430"/>
                          </a:solidFill>
                          <a:latin typeface="Calibri"/>
                        </a:rPr>
                        <a:t>Maxfiylik</a:t>
                      </a:r>
                    </a:p>
                  </a:txBody>
                  <a:tcPr>
                    <a:solidFill>
                      <a:srgbClr val="FFFFFF"/>
                    </a:solidFill>
                  </a:tcPr>
                </a:tc>
                <a:tc>
                  <a:txBody>
                    <a:bodyPr/>
                    <a:lstStyle/>
                    <a:p>
                      <a:r>
                        <a:rPr sz="1200" b="0">
                          <a:solidFill>
                            <a:srgbClr val="1B2430"/>
                          </a:solidFill>
                          <a:latin typeface="Calibri"/>
                        </a:rPr>
                        <a:t>video binodan chiqadi (shifrlash shart)</a:t>
                      </a:r>
                    </a:p>
                  </a:txBody>
                  <a:tcPr>
                    <a:solidFill>
                      <a:srgbClr val="FFFFFF"/>
                    </a:solidFill>
                  </a:tcPr>
                </a:tc>
                <a:tc>
                  <a:txBody>
                    <a:bodyPr/>
                    <a:lstStyle/>
                    <a:p>
                      <a:r>
                        <a:rPr sz="1200" b="0">
                          <a:solidFill>
                            <a:srgbClr val="1B2430"/>
                          </a:solidFill>
                          <a:latin typeface="Calibri"/>
                        </a:rPr>
                        <a:t>video binoda qoladi</a:t>
                      </a:r>
                    </a:p>
                  </a:txBody>
                  <a:tcPr>
                    <a:solidFill>
                      <a:srgbClr val="FFFFFF"/>
                    </a:solidFill>
                  </a:tcPr>
                </a:tc>
                <a:tc>
                  <a:txBody>
                    <a:bodyPr/>
                    <a:lstStyle/>
                    <a:p>
                      <a:r>
                        <a:rPr sz="1200" b="0">
                          <a:solidFill>
                            <a:srgbClr val="1B2430"/>
                          </a:solidFill>
                          <a:latin typeface="Calibri"/>
                        </a:rPr>
                        <a:t>faqat kesilgan kadrlar chiqadi</a:t>
                      </a:r>
                    </a:p>
                  </a:txBody>
                  <a:tcPr>
                    <a:solidFill>
                      <a:srgbClr val="FFFFFF"/>
                    </a:solidFill>
                  </a:tcPr>
                </a:tc>
              </a:tr>
              <a:tr h="520000">
                <a:tc>
                  <a:txBody>
                    <a:bodyPr/>
                    <a:lstStyle/>
                    <a:p>
                      <a:r>
                        <a:rPr sz="1200" b="0">
                          <a:solidFill>
                            <a:srgbClr val="1B2430"/>
                          </a:solidFill>
                          <a:latin typeface="Calibri"/>
                        </a:rPr>
                        <a:t>Masshtablash</a:t>
                      </a:r>
                    </a:p>
                  </a:txBody>
                  <a:tcPr>
                    <a:solidFill>
                      <a:srgbClr val="F1F4F8"/>
                    </a:solidFill>
                  </a:tcPr>
                </a:tc>
                <a:tc>
                  <a:txBody>
                    <a:bodyPr/>
                    <a:lstStyle/>
                    <a:p>
                      <a:r>
                        <a:rPr sz="1200" b="0">
                          <a:solidFill>
                            <a:srgbClr val="1B2430"/>
                          </a:solidFill>
                          <a:latin typeface="Calibri"/>
                        </a:rPr>
                        <a:t>daqiqalarda (HPA)</a:t>
                      </a:r>
                    </a:p>
                  </a:txBody>
                  <a:tcPr>
                    <a:solidFill>
                      <a:srgbClr val="F1F4F8"/>
                    </a:solidFill>
                  </a:tcPr>
                </a:tc>
                <a:tc>
                  <a:txBody>
                    <a:bodyPr/>
                    <a:lstStyle/>
                    <a:p>
                      <a:r>
                        <a:rPr sz="1200" b="0">
                          <a:solidFill>
                            <a:srgbClr val="1B2430"/>
                          </a:solidFill>
                          <a:latin typeface="Calibri"/>
                        </a:rPr>
                        <a:t>yangi qurilma sotib olish</a:t>
                      </a:r>
                    </a:p>
                  </a:txBody>
                  <a:tcPr>
                    <a:solidFill>
                      <a:srgbClr val="F1F4F8"/>
                    </a:solidFill>
                  </a:tcPr>
                </a:tc>
                <a:tc>
                  <a:txBody>
                    <a:bodyPr/>
                    <a:lstStyle/>
                    <a:p>
                      <a:r>
                        <a:rPr sz="1200" b="0">
                          <a:solidFill>
                            <a:srgbClr val="1B2430"/>
                          </a:solidFill>
                          <a:latin typeface="Calibri"/>
                        </a:rPr>
                        <a:t>ikkalasi</a:t>
                      </a:r>
                    </a:p>
                  </a:txBody>
                  <a:tcPr>
                    <a:solidFill>
                      <a:srgbClr val="F1F4F8"/>
                    </a:solidFill>
                  </a:tcPr>
                </a:tc>
              </a:tr>
              <a:tr h="520000">
                <a:tc>
                  <a:txBody>
                    <a:bodyPr/>
                    <a:lstStyle/>
                    <a:p>
                      <a:r>
                        <a:rPr sz="1200" b="0">
                          <a:solidFill>
                            <a:srgbClr val="1B2430"/>
                          </a:solidFill>
                          <a:latin typeface="Calibri"/>
                        </a:rPr>
                        <a:t>Yangilash</a:t>
                      </a:r>
                    </a:p>
                  </a:txBody>
                  <a:tcPr>
                    <a:solidFill>
                      <a:srgbClr val="FFFFFF"/>
                    </a:solidFill>
                  </a:tcPr>
                </a:tc>
                <a:tc>
                  <a:txBody>
                    <a:bodyPr/>
                    <a:lstStyle/>
                    <a:p>
                      <a:r>
                        <a:rPr sz="1200" b="0">
                          <a:solidFill>
                            <a:srgbClr val="1B2430"/>
                          </a:solidFill>
                          <a:latin typeface="Calibri"/>
                        </a:rPr>
                        <a:t>bir joyda, rollout</a:t>
                      </a:r>
                    </a:p>
                  </a:txBody>
                  <a:tcPr>
                    <a:solidFill>
                      <a:srgbClr val="FFFFFF"/>
                    </a:solidFill>
                  </a:tcPr>
                </a:tc>
                <a:tc>
                  <a:txBody>
                    <a:bodyPr/>
                    <a:lstStyle/>
                    <a:p>
                      <a:r>
                        <a:rPr sz="1200" b="0">
                          <a:solidFill>
                            <a:srgbClr val="1B2430"/>
                          </a:solidFill>
                          <a:latin typeface="Calibri"/>
                        </a:rPr>
                        <a:t>OTA, flot boshqaruvi</a:t>
                      </a:r>
                    </a:p>
                  </a:txBody>
                  <a:tcPr>
                    <a:solidFill>
                      <a:srgbClr val="FFFFFF"/>
                    </a:solidFill>
                  </a:tcPr>
                </a:tc>
                <a:tc>
                  <a:txBody>
                    <a:bodyPr/>
                    <a:lstStyle/>
                    <a:p>
                      <a:r>
                        <a:rPr sz="1200" b="0">
                          <a:solidFill>
                            <a:srgbClr val="1B2430"/>
                          </a:solidFill>
                          <a:latin typeface="Calibri"/>
                        </a:rPr>
                        <a:t>ikkalasi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Nosozlikka bardoshlilik</a:t>
                      </a:r>
                    </a:p>
                  </a:txBody>
                  <a:tcPr>
                    <a:solidFill>
                      <a:srgbClr val="F1F4F8"/>
                    </a:solidFill>
                  </a:tcPr>
                </a:tc>
                <a:tc>
                  <a:txBody>
                    <a:bodyPr/>
                    <a:lstStyle/>
                    <a:p>
                      <a:r>
                        <a:rPr sz="1200" b="0">
                          <a:solidFill>
                            <a:srgbClr val="1B2430"/>
                          </a:solidFill>
                          <a:latin typeface="Calibri"/>
                        </a:rPr>
                        <a:t>yuqori (ko'p nusxa, zonalar)</a:t>
                      </a:r>
                    </a:p>
                  </a:txBody>
                  <a:tcPr>
                    <a:solidFill>
                      <a:srgbClr val="F1F4F8"/>
                    </a:solidFill>
                  </a:tcPr>
                </a:tc>
                <a:tc>
                  <a:txBody>
                    <a:bodyPr/>
                    <a:lstStyle/>
                    <a:p>
                      <a:r>
                        <a:rPr sz="1200" b="0">
                          <a:solidFill>
                            <a:srgbClr val="1B2430"/>
                          </a:solidFill>
                          <a:latin typeface="Calibri"/>
                        </a:rPr>
                        <a:t>yagona nuqta (zaxira qurilma kerak)</a:t>
                      </a:r>
                    </a:p>
                  </a:txBody>
                  <a:tcPr>
                    <a:solidFill>
                      <a:srgbClr val="F1F4F8"/>
                    </a:solidFill>
                  </a:tcPr>
                </a:tc>
                <a:tc>
                  <a:txBody>
                    <a:bodyPr/>
                    <a:lstStyle/>
                    <a:p>
                      <a:r>
                        <a:rPr sz="1200" b="0">
                          <a:solidFill>
                            <a:srgbClr val="1B2430"/>
                          </a:solidFill>
                          <a:latin typeface="Calibri"/>
                        </a:rPr>
                        <a:t>o'rtacha</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Hisobot (6–8 bet): (1) xizmat kodi tavsifi va API hujjati (FastAPI /docs ekran tasviri); (2) Dockerfile, tasvir hajmi, ishga tushish vaqti, mahalliy yuklama sinovi natijalari; (3) K8s…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Qo'shimcha 10 ball: GPU K8s (NVIDIA device plugin, nvidia.com/gpu limiti) va KEDA/Prometheus Adapter bilan so'rov/s bo'yicha masshtablash; yoki Jetson'da k3s agent sifatida ishlab, bitta…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FastAPI xizmati ishlaydi, probe'lar va metrikalar bor, sozlamalar muhit o'zgaruvchilaridan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Dockerfile ko'p bosqichli, root'siz, tasvir hajmi va resurs cheklovlari o'lchangan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K8s: Deployment/Service/HPA/ConfigMap to'g'ri, HPA yuklama ostida ishlagani ko'rsatilgan, rollout xatosiz</a:t>
                      </a:r>
                    </a:p>
                  </a:txBody>
                  <a:tcPr>
                    <a:solidFill>
                      <a:srgbClr val="F1F4F8"/>
                    </a:solidFill>
                  </a:tcPr>
                </a:tc>
                <a:tc>
                  <a:txBody>
                    <a:bodyPr/>
                    <a:lstStyle/>
                    <a:p>
                      <a:r>
                        <a:rPr sz="1000" b="0">
                          <a:solidFill>
                            <a:srgbClr val="1B2430"/>
                          </a:solidFill>
                          <a:latin typeface="Calibri"/>
                        </a:rPr>
                        <a:t>25</a:t>
                      </a:r>
                    </a:p>
                  </a:txBody>
                  <a:tcPr>
                    <a:solidFill>
                      <a:srgbClr val="F1F4F8"/>
                    </a:solidFill>
                  </a:tcPr>
                </a:tc>
              </a:tr>
              <a:tr h="520000">
                <a:tc>
                  <a:txBody>
                    <a:bodyPr/>
                    <a:lstStyle/>
                    <a:p>
                      <a:r>
                        <a:rPr sz="1000" b="0">
                          <a:solidFill>
                            <a:srgbClr val="1B2430"/>
                          </a:solidFill>
                          <a:latin typeface="Calibri"/>
                        </a:rPr>
                        <a:t>Chekka qurilmada inferens: dvigatel qurilgan, latency va quvvat kamida 2 rejimda o'lchangan, to'liq so'rov kechikishi tahlil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Cloud/Edge/Gibrid taqqoslash o'z o'lchovlari va asoslangan narxlar bilan, ssenariyga mos tavsiya</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f12165dc255602f.jpg"/>
          <p:cNvPicPr>
            <a:picLocks noChangeAspect="1"/>
          </p:cNvPicPr>
          <p:nvPr/>
        </p:nvPicPr>
        <p:blipFill>
          <a:blip r:embed="rId2"/>
          <a:srcRect l="21541" r="2154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Simon A. Eugster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natijalari joylashtirish bosqichining uchta asosiy haqiqatini ko'rsatadi. Birinchi: inferensning o'zi butun kechikishning kichik qismi — Jetson'da 2,6 ms inferens, 19 ms to'liq so'rov; K8s'da 14 ms inferens, yuklama ostida 150–280 ms p95.</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Minikube — bitta tugunli o'quv klasteri; real klasterda tugunlar orasidagi tarmoq, Pod'larni joylashtirish (scheduling), tugun nosozligi, saqlash tizimlari qo'shiladi. hostPath hajmi faqat o'quv maqsadida; ishlab chiqarishda model ombori (MLflow,…</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Muqobil yondashuvlar. Xizmat qatlami uchun FastAPI o'rniga ixtisoslashgan inferens serverlar: NVIDIA Triton Inference Server (dinamik paketlash, ko'p model, TensorRT/ONNX/PyTorch backendlar, Prometheus metrikalari tayyor), TorchServe, KServe (K8s'da…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4cd127ff92307c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Christopher Bowns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PyTorch to'liq o'rnatilgan 5 GB tasvir. Inferens uchun ONNX Runtime yoki TensorRT runtime yetarli; devel asos tasvir, pip keshi va o'qitish kutubxonalari olib tashlansa, tasvir 5–10 baravar…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Readiness probe'siz Deployment. Yangi Pod model yuklab bo'lmasdan trafik oladi — 503 xatolar; yoki aksincha, liveness probe muddati qisqa bo'lib, sekin yuklanayotgan GPU Pod'ni K8s cheksiz…</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Resurs so'rovlarini ko'rsatmaslik. requests siz HPA ishlamaydi, scheduler Pod'larni noto'g'ri taqsimlaydi; limits siz bitta xotira sizib chiquvchi Pod tugunni o'ldiradi. GPU Pod'da…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TensorRT dvigatelini tasvirga joylash. Dvigatel GPU modeli va TensorRT versiyasiga bog'liq; tasvirni boshqa tugunga ko'chirganda ishlamaydi. ONNX'ni joylang, dvigatelni ishga tushishda…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Konteynerni root sifatida ishga tushirish va --network host ni har joyda ishlatish. Xavfsizlik auditi birinchi bo'lib shuni topadi. USER, runAsNonRoot, kerak bo'lgan portlarni oching.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Jetson'da quvvat rejimini tekshirmaslik. Standart rejim 15 Vt bo'lishi mumkin — natijalar 25 Vt rejimidan 1,5–2 baravar yomon chiqadi va «Jetson sekin» degan noto'g'ri xulosa paydo bo'ladi.…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Chekka qurilmada oldindan ishlovni CPU'da qoldirish. ARM CPU'da JPEG dekodlash va resize inferensdan 5–7 baravar uzoq. NVDEC, VPI, DALI yoki hech bo'lmaganda pillow-simd/turbojpeg ishlating.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Edge TPU'ga kompilyatsiya qilinmagan yoki qisman kompilyatsiya qilingan model. Kompilyator hisobotida CPU'ga tushgan operatorlar bo'lsa, tezlik 10 baravar yomonlashadi. Model…</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Cloud narxini faqat GPU soatidan hisoblash. Tarmoq chiqish trafigi (egress), yuk balanslagich, saqlash, loglar va monitoring xizmatlari jami narxning 20–40 foizini tashkil etishi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A4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
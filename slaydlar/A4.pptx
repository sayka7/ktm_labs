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a:p/>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a:p/>
          <a:p>
            <a:r>
              <a:t>Chekka hisoblash (Edge AI) boshqa falsafa: ma'lumot paydo bo'lgan joyda — kamera, stanok, avtomobil, tibbiy qurilma yonida — qayta ishlanadi. 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 Real tizimlar ko'pincha gibrid: chekkada tezkor birlamchi inferens, bulutda og'ir model, qayta o'qitish, tahlil va boshqaruv. Mashg'ulotda biz ikkala tomonni qurib, keyin ularni A1 dagi shaxsiy himoya vositalari (SHV) aniqlash ssenariysi uchun solishtiramiz.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a:p/>
          <a:p>
            <a:r>
              <a:t>ONNX Runtime CPU asosidagi xizmat tasviri odatda 400–600 MB, TensorRT GPU tasviri 3–6 GB bo'ladi; ishga tushish vaqti (model yuklanishi bilan) mos ravishda 2–5 soniya va 10–40 soniya (TensorRT dvigatelini deserializatsiya qilish yoki qurish). Bu raqamlar K8s'da sog'liq tekshiruvi (readiness probe) muddatini va avtomatik masshtablash reaktsiya vaqtini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CPU + Ampere GPU (Orin avlodi) + apparat video kodek + umumiy LPDDR5 xotira bir chipda (SoC). 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 Jetson'da TensorRT dvigateli aynan shu qurilmada quriladi (A3 dagi qoida), FP16 va INT8 Tensor Core'larda ishlaydi; DLA (Deep Learning Accelerator) bloklari ba'zi qatlamlarni GPU'dan ham tejamkor bajaradi.</a:t>
            </a:r>
          </a:p>
          <a:p/>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Xizmatga kamida to'rtta signal kiritiladi: so'rovlar soni (sekundiga), xatolar ulushi, kechikish gistogrammasi (p50/p95/p99 hisoblash uchun) va resurs ko'rsatkichlari (GPU bandligi, xotira, harorat). 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a:p/>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Nima bo'ldi va nega. 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Nima bo'ldi va nega. 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 GPU variantida HPA CPU bo'yicha ishlamaydi — talaba qo'shimcha topshiriqda KEDA yoki Prometheus Adapter orqali http_requests_total tezligi bo'yicha masshtablashni sozlaydi.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(6–8 bet): (1) xizmat kodi tavsifi va API hujjati (FastAPI /docs ekran tasviri); (2) Dockerfile, tasvir hajmi, ishga tushish vaqti, mahalliy yuklama sinovi natijalari; (3) K8s manifestlari, kubectl get pods/hpa chiqishlari yuklama oldidan, davomida va keyin; HPA reaksiya vaqti grafigi; rollout davomida xatolar soni; (4) Jetson yoki Coral o'lchovlari jadvali — quvvat rejimlari bo'yicha, HTTP xizmat orqali to'liq kechikish taqsimoti; (5) Cloud/Edge/Gibrid taqqoslash jadvali o'z raqamlari va manbalari bilan; (6) tanlangan ssenariy uchun yakuniy arxitektura tavsiyasi va A1 dagi strukturaviy sxemaning yangilangan varianti; (7) xulosa.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c9fa7ee202bd9a74.jpg"/>
          <p:cNvPicPr>
            <a:picLocks noChangeAspect="1"/>
          </p:cNvPicPr>
          <p:nvPr/>
        </p:nvPicPr>
        <p:blipFill>
          <a:blip r:embed="rId2"/>
          <a:srcRect l="12500" r="12500"/>
          <a:stretch>
            <a:fillRect/>
          </a:stretch>
        </p:blipFill>
        <p:spPr>
          <a:xfrm>
            <a:off x="7850000" y="1500000"/>
            <a:ext cx="3300000" cy="3300000"/>
          </a:xfrm>
          <a:prstGeom prst="ellipse">
            <a:avLst/>
          </a:prstGeom>
          <a:ln w="19050">
            <a:solidFill>
              <a:srgbClr val="22D3EE"/>
            </a:solidFill>
          </a:ln>
        </p:spPr>
      </p:pic>
      <p:sp>
        <p:nvSpPr>
          <p:cNvPr id="63" name="TextBox 62"/>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AgainErick · Wikimedia Commons · CC BY-SA 4.0</a:t>
            </a:r>
          </a:p>
        </p:txBody>
      </p:sp>
      <p:sp>
        <p:nvSpPr>
          <p:cNvPr id="64" name="Rounded Rectangle 63"/>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A4 · 2 soat</a:t>
            </a:r>
          </a:p>
        </p:txBody>
      </p:sp>
      <p:sp>
        <p:nvSpPr>
          <p:cNvPr id="65" name="TextBox 64"/>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6" name="TextBox 65"/>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Edge AI va Cloud AI platformalarida sun'iy intellekt tizimlarini joylashtirish</a:t>
            </a:r>
          </a:p>
        </p:txBody>
      </p:sp>
      <p:sp>
        <p:nvSpPr>
          <p:cNvPr id="67" name="Rectangle 66"/>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200"/>
                            </p:stCondLst>
                            <p:childTnLst>
                              <p:par>
                                <p:cTn id="232" presetID="53" presetClass="entr" presetSubtype="16" fill="hold" grpId="0" nodeType="afterEffect">
                                  <p:stCondLst>
                                    <p:cond delay="0"/>
                                  </p:stCondLst>
                                  <p:childTnLst>
                                    <p:set>
                                      <p:cBhvr>
                                        <p:cTn id="233" dur="1" fill="hold">
                                          <p:stCondLst>
                                            <p:cond delay="0"/>
                                          </p:stCondLst>
                                        </p:cTn>
                                        <p:tgtEl>
                                          <p:spTgt spid="61"/>
                                        </p:tgtEl>
                                        <p:attrNameLst>
                                          <p:attrName>style.visibility</p:attrName>
                                        </p:attrNameLst>
                                      </p:cBhvr>
                                      <p:to>
                                        <p:strVal val="visible"/>
                                      </p:to>
                                    </p:set>
                                    <p:animEffect transition="in" filter="fade">
                                      <p:cBhvr>
                                        <p:cTn id="234" dur="550"/>
                                        <p:tgtEl>
                                          <p:spTgt spid="61"/>
                                        </p:tgtEl>
                                      </p:cBhvr>
                                    </p:animEffect>
                                    <p:anim calcmode="lin" valueType="num">
                                      <p:cBhvr additive="base">
                                        <p:cTn id="235" dur="550" fill="hold"/>
                                        <p:tgtEl>
                                          <p:spTgt spid="61"/>
                                        </p:tgtEl>
                                        <p:attrNameLst>
                                          <p:attrName>ppt_w</p:attrName>
                                        </p:attrNameLst>
                                      </p:cBhvr>
                                      <p:tavLst>
                                        <p:tav tm="0">
                                          <p:val>
                                            <p:strVal val="0"/>
                                          </p:val>
                                        </p:tav>
                                        <p:tav tm="100000">
                                          <p:val>
                                            <p:strVal val="#ppt_w"/>
                                          </p:val>
                                        </p:tav>
                                      </p:tavLst>
                                    </p:anim>
                                    <p:anim calcmode="lin" valueType="num">
                                      <p:cBhvr additive="base">
                                        <p:cTn id="236" dur="550" fill="hold"/>
                                        <p:tgtEl>
                                          <p:spTgt spid="61"/>
                                        </p:tgtEl>
                                        <p:attrNameLst>
                                          <p:attrName>ppt_h</p:attrName>
                                        </p:attrNameLst>
                                      </p:cBhvr>
                                      <p:tavLst>
                                        <p:tav tm="0">
                                          <p:val>
                                            <p:strVal val="0"/>
                                          </p:val>
                                        </p:tav>
                                        <p:tav tm="100000">
                                          <p:val>
                                            <p:strVal val="#ppt_h"/>
                                          </p:val>
                                        </p:tav>
                                      </p:tavLst>
                                    </p:anim>
                                  </p:childTnLst>
                                </p:cTn>
                              </p:par>
                            </p:childTnLst>
                          </p:cTn>
                        </p:par>
                        <p:par>
                          <p:cTn id="237" fill="hold">
                            <p:stCondLst>
                              <p:cond delay="200"/>
                            </p:stCondLst>
                            <p:childTnLst>
                              <p:par>
                                <p:cTn id="238" presetID="53" presetClass="entr" presetSubtype="16" fill="hold" grpId="0" nodeType="afterEffect">
                                  <p:stCondLst>
                                    <p:cond delay="0"/>
                                  </p:stCondLst>
                                  <p:childTnLst>
                                    <p:set>
                                      <p:cBhvr>
                                        <p:cTn id="239" dur="1" fill="hold">
                                          <p:stCondLst>
                                            <p:cond delay="0"/>
                                          </p:stCondLst>
                                        </p:cTn>
                                        <p:tgtEl>
                                          <p:spTgt spid="60"/>
                                        </p:tgtEl>
                                        <p:attrNameLst>
                                          <p:attrName>style.visibility</p:attrName>
                                        </p:attrNameLst>
                                      </p:cBhvr>
                                      <p:to>
                                        <p:strVal val="visible"/>
                                      </p:to>
                                    </p:set>
                                    <p:animEffect transition="in" filter="fade">
                                      <p:cBhvr>
                                        <p:cTn id="240" dur="550"/>
                                        <p:tgtEl>
                                          <p:spTgt spid="60"/>
                                        </p:tgtEl>
                                      </p:cBhvr>
                                    </p:animEffect>
                                    <p:anim calcmode="lin" valueType="num">
                                      <p:cBhvr additive="base">
                                        <p:cTn id="241" dur="550" fill="hold"/>
                                        <p:tgtEl>
                                          <p:spTgt spid="60"/>
                                        </p:tgtEl>
                                        <p:attrNameLst>
                                          <p:attrName>ppt_w</p:attrName>
                                        </p:attrNameLst>
                                      </p:cBhvr>
                                      <p:tavLst>
                                        <p:tav tm="0">
                                          <p:val>
                                            <p:strVal val="0"/>
                                          </p:val>
                                        </p:tav>
                                        <p:tav tm="100000">
                                          <p:val>
                                            <p:strVal val="#ppt_w"/>
                                          </p:val>
                                        </p:tav>
                                      </p:tavLst>
                                    </p:anim>
                                    <p:anim calcmode="lin" valueType="num">
                                      <p:cBhvr additive="base">
                                        <p:cTn id="242" dur="550" fill="hold"/>
                                        <p:tgtEl>
                                          <p:spTgt spid="60"/>
                                        </p:tgtEl>
                                        <p:attrNameLst>
                                          <p:attrName>ppt_h</p:attrName>
                                        </p:attrNameLst>
                                      </p:cBhvr>
                                      <p:tavLst>
                                        <p:tav tm="0">
                                          <p:val>
                                            <p:strVal val="0"/>
                                          </p:val>
                                        </p:tav>
                                        <p:tav tm="100000">
                                          <p:val>
                                            <p:strVal val="#ppt_h"/>
                                          </p:val>
                                        </p:tav>
                                      </p:tavLst>
                                    </p:anim>
                                  </p:childTnLst>
                                </p:cTn>
                              </p:par>
                            </p:childTnLst>
                          </p:cTn>
                        </p:par>
                        <p:par>
                          <p:cTn id="243" fill="hold">
                            <p:stCondLst>
                              <p:cond delay="200"/>
                            </p:stCondLst>
                            <p:childTnLst>
                              <p:par>
                                <p:cTn id="244" presetID="53" presetClass="entr" presetSubtype="16" fill="hold" grpId="0" nodeType="afterEffect">
                                  <p:stCondLst>
                                    <p:cond delay="0"/>
                                  </p:stCondLst>
                                  <p:childTnLst>
                                    <p:set>
                                      <p:cBhvr>
                                        <p:cTn id="245" dur="1" fill="hold">
                                          <p:stCondLst>
                                            <p:cond delay="0"/>
                                          </p:stCondLst>
                                        </p:cTn>
                                        <p:tgtEl>
                                          <p:spTgt spid="62"/>
                                        </p:tgtEl>
                                        <p:attrNameLst>
                                          <p:attrName>style.visibility</p:attrName>
                                        </p:attrNameLst>
                                      </p:cBhvr>
                                      <p:to>
                                        <p:strVal val="visible"/>
                                      </p:to>
                                    </p:set>
                                    <p:animEffect transition="in" filter="fade">
                                      <p:cBhvr>
                                        <p:cTn id="246" dur="550"/>
                                        <p:tgtEl>
                                          <p:spTgt spid="62"/>
                                        </p:tgtEl>
                                      </p:cBhvr>
                                    </p:animEffect>
                                    <p:anim calcmode="lin" valueType="num">
                                      <p:cBhvr additive="base">
                                        <p:cTn id="247" dur="550" fill="hold"/>
                                        <p:tgtEl>
                                          <p:spTgt spid="62"/>
                                        </p:tgtEl>
                                        <p:attrNameLst>
                                          <p:attrName>ppt_w</p:attrName>
                                        </p:attrNameLst>
                                      </p:cBhvr>
                                      <p:tavLst>
                                        <p:tav tm="0">
                                          <p:val>
                                            <p:strVal val="0"/>
                                          </p:val>
                                        </p:tav>
                                        <p:tav tm="100000">
                                          <p:val>
                                            <p:strVal val="#ppt_w"/>
                                          </p:val>
                                        </p:tav>
                                      </p:tavLst>
                                    </p:anim>
                                    <p:anim calcmode="lin" valueType="num">
                                      <p:cBhvr additive="base">
                                        <p:cTn id="248" dur="550" fill="hold"/>
                                        <p:tgtEl>
                                          <p:spTgt spid="62"/>
                                        </p:tgtEl>
                                        <p:attrNameLst>
                                          <p:attrName>ppt_h</p:attrName>
                                        </p:attrNameLst>
                                      </p:cBhvr>
                                      <p:tavLst>
                                        <p:tav tm="0">
                                          <p:val>
                                            <p:strVal val="0"/>
                                          </p:val>
                                        </p:tav>
                                        <p:tav tm="100000">
                                          <p:val>
                                            <p:strVal val="#ppt_h"/>
                                          </p:val>
                                        </p:tav>
                                      </p:tavLst>
                                    </p:anim>
                                  </p:childTnLst>
                                </p:cTn>
                              </p:par>
                            </p:childTnLst>
                          </p:cTn>
                        </p:par>
                        <p:par>
                          <p:cTn id="249" fill="hold">
                            <p:stCondLst>
                              <p:cond delay="200"/>
                            </p:stCondLst>
                            <p:childTnLst>
                              <p:par>
                                <p:cTn id="250" presetID="10" presetClass="entr" presetSubtype="0" fill="hold" grpId="0" nodeType="after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550"/>
                                        <p:tgtEl>
                                          <p:spTgt spid="63"/>
                                        </p:tgtEl>
                                      </p:cBhvr>
                                    </p:animEffect>
                                  </p:childTnLst>
                                </p:cTn>
                              </p:par>
                            </p:childTnLst>
                          </p:cTn>
                        </p:par>
                        <p:par>
                          <p:cTn id="253" fill="hold">
                            <p:stCondLst>
                              <p:cond delay="350"/>
                            </p:stCondLst>
                            <p:childTnLst>
                              <p:par>
                                <p:cTn id="254" presetID="10" presetClass="entr" presetSubtype="0" fill="hold" grpId="0" nodeType="afterEffect">
                                  <p:stCondLst>
                                    <p:cond delay="0"/>
                                  </p:stCondLst>
                                  <p:childTnLst>
                                    <p:set>
                                      <p:cBhvr>
                                        <p:cTn id="255" dur="1" fill="hold">
                                          <p:stCondLst>
                                            <p:cond delay="0"/>
                                          </p:stCondLst>
                                        </p:cTn>
                                        <p:tgtEl>
                                          <p:spTgt spid="65"/>
                                        </p:tgtEl>
                                        <p:attrNameLst>
                                          <p:attrName>style.visibility</p:attrName>
                                        </p:attrNameLst>
                                      </p:cBhvr>
                                      <p:to>
                                        <p:strVal val="visible"/>
                                      </p:to>
                                    </p:set>
                                    <p:animEffect transition="in" filter="fade">
                                      <p:cBhvr>
                                        <p:cTn id="256" dur="550"/>
                                        <p:tgtEl>
                                          <p:spTgt spid="65"/>
                                        </p:tgtEl>
                                      </p:cBhvr>
                                    </p:animEffect>
                                  </p:childTnLst>
                                </p:cTn>
                              </p:par>
                            </p:childTnLst>
                          </p:cTn>
                        </p:par>
                        <p:par>
                          <p:cTn id="257" fill="hold">
                            <p:stCondLst>
                              <p:cond delay="500"/>
                            </p:stCondLst>
                            <p:childTnLst>
                              <p:par>
                                <p:cTn id="258" presetID="2" presetClass="entr" presetSubtype="8" fill="hold" grpId="0" nodeType="afterEffect">
                                  <p:stCondLst>
                                    <p:cond delay="0"/>
                                  </p:stCondLst>
                                  <p:childTnLst>
                                    <p:set>
                                      <p:cBhvr>
                                        <p:cTn id="259" dur="1" fill="hold">
                                          <p:stCondLst>
                                            <p:cond delay="0"/>
                                          </p:stCondLst>
                                        </p:cTn>
                                        <p:tgtEl>
                                          <p:spTgt spid="64"/>
                                        </p:tgtEl>
                                        <p:attrNameLst>
                                          <p:attrName>style.visibility</p:attrName>
                                        </p:attrNameLst>
                                      </p:cBhvr>
                                      <p:to>
                                        <p:strVal val="visible"/>
                                      </p:to>
                                    </p:set>
                                    <p:anim calcmode="lin" valueType="num">
                                      <p:cBhvr additive="base">
                                        <p:cTn id="261" dur="550" fill="hold"/>
                                        <p:tgtEl>
                                          <p:spTgt spid="64"/>
                                        </p:tgtEl>
                                        <p:attrNameLst>
                                          <p:attrName>ppt_x</p:attrName>
                                        </p:attrNameLst>
                                      </p:cBhvr>
                                      <p:tavLst>
                                        <p:tav tm="0">
                                          <p:val>
                                            <p:strVal val="0-#ppt_w/2"/>
                                          </p:val>
                                        </p:tav>
                                        <p:tav tm="100000">
                                          <p:val>
                                            <p:strVal val="#ppt_x"/>
                                          </p:val>
                                        </p:tav>
                                      </p:tavLst>
                                    </p:anim>
                                    <p:anim calcmode="lin" valueType="num">
                                      <p:cBhvr additive="base">
                                        <p:cTn id="262" dur="550" fill="hold"/>
                                        <p:tgtEl>
                                          <p:spTgt spid="64"/>
                                        </p:tgtEl>
                                        <p:attrNameLst>
                                          <p:attrName>ppt_y</p:attrName>
                                        </p:attrNameLst>
                                      </p:cBhvr>
                                      <p:tavLst>
                                        <p:tav tm="0">
                                          <p:val>
                                            <p:strVal val="#ppt_y"/>
                                          </p:val>
                                        </p:tav>
                                        <p:tav tm="100000">
                                          <p:val>
                                            <p:strVal val="#ppt_y"/>
                                          </p:val>
                                        </p:tav>
                                      </p:tavLst>
                                    </p:anim>
                                  </p:childTnLst>
                                </p:cTn>
                              </p:par>
                            </p:childTnLst>
                          </p:cTn>
                        </p:par>
                        <p:par>
                          <p:cTn id="263" fill="hold">
                            <p:stCondLst>
                              <p:cond delay="650"/>
                            </p:stCondLst>
                            <p:childTnLst>
                              <p:par>
                                <p:cTn id="264" presetID="42" presetClass="entr" presetSubtype="0" fill="hold" grpId="0" nodeType="afterEffect">
                                  <p:stCondLst>
                                    <p:cond delay="0"/>
                                  </p:stCondLst>
                                  <p:childTnLst>
                                    <p:set>
                                      <p:cBhvr>
                                        <p:cTn id="265" dur="1" fill="hold">
                                          <p:stCondLst>
                                            <p:cond delay="0"/>
                                          </p:stCondLst>
                                        </p:cTn>
                                        <p:tgtEl>
                                          <p:spTgt spid="66"/>
                                        </p:tgtEl>
                                        <p:attrNameLst>
                                          <p:attrName>style.visibility</p:attrName>
                                        </p:attrNameLst>
                                      </p:cBhvr>
                                      <p:to>
                                        <p:strVal val="visible"/>
                                      </p:to>
                                    </p:set>
                                    <p:animEffect transition="in" filter="fade">
                                      <p:cBhvr>
                                        <p:cTn id="266" dur="550"/>
                                        <p:tgtEl>
                                          <p:spTgt spid="66"/>
                                        </p:tgtEl>
                                      </p:cBhvr>
                                    </p:animEffect>
                                    <p:anim calcmode="lin" valueType="num">
                                      <p:cBhvr additive="base">
                                        <p:cTn id="267" dur="550" fill="hold"/>
                                        <p:tgtEl>
                                          <p:spTgt spid="66"/>
                                        </p:tgtEl>
                                        <p:attrNameLst>
                                          <p:attrName>ppt_x</p:attrName>
                                        </p:attrNameLst>
                                      </p:cBhvr>
                                      <p:tavLst>
                                        <p:tav tm="0">
                                          <p:val>
                                            <p:strVal val="#ppt_x"/>
                                          </p:val>
                                        </p:tav>
                                        <p:tav tm="100000">
                                          <p:val>
                                            <p:strVal val="#ppt_x"/>
                                          </p:val>
                                        </p:tav>
                                      </p:tavLst>
                                    </p:anim>
                                    <p:anim calcmode="lin" valueType="num">
                                      <p:cBhvr additive="base">
                                        <p:cTn id="268" dur="550" fill="hold"/>
                                        <p:tgtEl>
                                          <p:spTgt spid="66"/>
                                        </p:tgtEl>
                                        <p:attrNameLst>
                                          <p:attrName>ppt_y</p:attrName>
                                        </p:attrNameLst>
                                      </p:cBhvr>
                                      <p:tavLst>
                                        <p:tav tm="0">
                                          <p:val>
                                            <p:strVal val="#ppt_y+.08"/>
                                          </p:val>
                                        </p:tav>
                                        <p:tav tm="100000">
                                          <p:val>
                                            <p:strVal val="#ppt_y"/>
                                          </p:val>
                                        </p:tav>
                                      </p:tavLst>
                                    </p:anim>
                                  </p:childTnLst>
                                </p:cTn>
                              </p:par>
                            </p:childTnLst>
                          </p:cTn>
                        </p:par>
                        <p:par>
                          <p:cTn id="269" fill="hold">
                            <p:stCondLst>
                              <p:cond delay="800"/>
                            </p:stCondLst>
                            <p:childTnLst>
                              <p:par>
                                <p:cTn id="270" presetID="22" presetClass="entr" presetSubtype="8" fill="hold" grpId="0" nodeType="afterEffect">
                                  <p:stCondLst>
                                    <p:cond delay="0"/>
                                  </p:stCondLst>
                                  <p:childTnLst>
                                    <p:set>
                                      <p:cBhvr>
                                        <p:cTn id="271" dur="1" fill="hold">
                                          <p:stCondLst>
                                            <p:cond delay="0"/>
                                          </p:stCondLst>
                                        </p:cTn>
                                        <p:tgtEl>
                                          <p:spTgt spid="67"/>
                                        </p:tgtEl>
                                        <p:attrNameLst>
                                          <p:attrName>style.visibility</p:attrName>
                                        </p:attrNameLst>
                                      </p:cBhvr>
                                      <p:to>
                                        <p:strVal val="visible"/>
                                      </p:to>
                                    </p:set>
                                    <p:animEffect transition="in" filter="wipe(left)">
                                      <p:cBhvr>
                                        <p:cTn id="273" dur="800"/>
                                        <p:tgtEl>
                                          <p:spTgt spid="67"/>
                                        </p:tgtEl>
                                      </p:cBhvr>
                                    </p:animEffect>
                                  </p:childTnLst>
                                </p:cTn>
                              </p:par>
                            </p:childTnLst>
                          </p:cTn>
                        </p:par>
                        <p:par>
                          <p:cTn id="274" fill="hold">
                            <p:stCondLst>
                              <p:cond delay="950"/>
                            </p:stCondLst>
                            <p:childTnLst>
                              <p:par>
                                <p:cTn id="275" presetID="10" presetClass="entr" presetSubtype="0" fill="hold" grpId="0" nodeType="afterEffect">
                                  <p:stCondLst>
                                    <p:cond delay="0"/>
                                  </p:stCondLst>
                                  <p:childTnLst>
                                    <p:set>
                                      <p:cBhvr>
                                        <p:cTn id="276" dur="1" fill="hold">
                                          <p:stCondLst>
                                            <p:cond delay="0"/>
                                          </p:stCondLst>
                                        </p:cTn>
                                        <p:tgtEl>
                                          <p:spTgt spid="68"/>
                                        </p:tgtEl>
                                        <p:attrNameLst>
                                          <p:attrName>style.visibility</p:attrName>
                                        </p:attrNameLst>
                                      </p:cBhvr>
                                      <p:to>
                                        <p:strVal val="visible"/>
                                      </p:to>
                                    </p:set>
                                    <p:animEffect transition="in" filter="fade">
                                      <p:cBhvr>
                                        <p:cTn id="277" dur="55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1" grpId="0" animBg="1"/>
      <p:bldP spid="60" grpId="0" animBg="1"/>
      <p:bldP spid="63" grpId="0" animBg="1"/>
      <p:bldP spid="65" grpId="0" animBg="1"/>
      <p:bldP spid="64" grpId="0" animBg="1"/>
      <p:bldP spid="66" grpId="0" animBg="1"/>
      <p:bldP spid="67" grpId="0" animBg="1"/>
      <p:bldP spid="6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e62a78e5b5526ff8.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Captain Albert E. Theberge, NOAA Corps (ret.) · Wikimedia Commons · Public domain</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56824"/>
            <a:ext cx="50000" cy="110878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21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Mashg'ulotning maqsadi — optimallashtirilgan sun'iy intellekt modelini real xizmat ko'rinishida ikki xil muhitga joylashtirish (deployment) ko'nikmasini shakllantirish: bulutli (cloud) muhitda Docker konteyneri va Kubernetes orkestratsiyasi orqali…</a:t>
            </a:r>
          </a:p>
        </p:txBody>
      </p:sp>
      <p:sp>
        <p:nvSpPr>
          <p:cNvPr id="32" name="Rounded Rectangle 31"/>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35608"/>
            <a:ext cx="50000" cy="110878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Mashg'ulot yakunida talaba:</a:t>
            </a:r>
          </a:p>
        </p:txBody>
      </p:sp>
      <p:sp>
        <p:nvSpPr>
          <p:cNvPr id="36" name="Rounded Rectangle 35"/>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614392"/>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96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Inferens modelini FastAPI asosida HTTP xizmatiga o'rab, ko'p bosqichli (multi-stage) Dockerfile yozadi va konteyner hajmi, ishga tushish vaqti va resurs cheklovlarini boshqaradi;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Kubernetes'da Deployment, Service, HorizontalPodAutoscaler va resurs so'rovlari (requests/limits) manifestlarini yozib, xizmatni minikube yoki k3s klasterida ishga tushiradi, yuklama ostida avtomatik masshtablashni kuzatadi;</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Jetson qurilmasida TensorRT dvigatelini yoki Coral Edge TPU'da TFLite modelini ishga tushirib, chekka inferensning latency va quvvatini o'lchaydi;</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Cloud va Edge arxitekturalarini miqdoriy mezonlar (uchdan-uchga kechikish, tarmoq trafigi, 3 yillik TCO, Vt/inferens, maxfiylik, oflayn ishlash) bo'yicha solishtirib, gibrid arxitektura uchun asoslangan taklif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Xizmatning kuzatiluvchanligini (observability).</a:t>
            </a:r>
          </a:p>
          <a:p>
            <a:pPr>
              <a:spcBef>
                <a:spcPts val="400"/>
              </a:spcBef>
            </a:pPr>
            <a:r>
              <a:rPr sz="1400">
                <a:solidFill>
                  <a:srgbClr val="AEBBD9"/>
                </a:solidFill>
                <a:latin typeface="Segoe UI"/>
              </a:rPr>
              <a:t>Prometheus metrikalari, sog'liq tekshiruvi (health check), loglar — joylashtirishning ajralmas qismi sifatida tashkil etadi.</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Mavzu fanning TN4 (AI tizimlarini joylashtirish va ekspluatatsiya qilish), TN6 (Edge va Cloud infratuzilmasini loyihalash) hamda TN7 (muhandislik hujjatlari va himoya) ta'lim natijalariga xizmat qiladi; M6, M7 va M12 ma'ruzalarining amaliy davomi va…</a:t>
            </a:r>
          </a:p>
          <a:p>
            <a:pPr>
              <a:spcBef>
                <a:spcPts val="400"/>
              </a:spcBef>
            </a:pPr>
            <a:r>
              <a:rPr sz="1400">
                <a:solidFill>
                  <a:srgbClr val="AEBBD9"/>
                </a:solidFill>
                <a:latin typeface="Segoe UI"/>
              </a:rPr>
              <a:t>A1 da tanlangan platforma va A3 da optimallashtirilgan model bu yerda yakuniy shaklga keladi.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4a6fbc786f8f863f.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ArnoldReinhold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Model qanchalik tez va aniq bo'lmasin, foydalanuvchi uchun u faqat xizmat sifatida mavjud bo'lganda qiymatga ega.</a:t>
            </a:r>
          </a:p>
        </p:txBody>
      </p:sp>
      <p:sp>
        <p:nvSpPr>
          <p:cNvPr id="29" name="Rounded Rectangle 28"/>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Docker konteyneri — ilova va uning barcha bog'liqliklarini (kutubxonalar, CUDA runtime, model fayli) bitta ko'chma tasvirga (image) joylash; xost yadrosi (kernel) umumiy, lekin fayl tizimi, jarayonlar va tarmoq izolyatsiyalangan.</a:t>
            </a:r>
          </a:p>
        </p:txBody>
      </p:sp>
      <p:sp>
        <p:nvSpPr>
          <p:cNvPr id="33" name="Rounded Rectangle 32"/>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Chekka hisoblash (Edge AI) boshqa falsafa: ma'lumot paydo bo'lgan joyda — kamera, stanok, avtomobil, tibbiy qurilma yonida — qayta ishlanadi.</a:t>
            </a:r>
          </a:p>
          <a:p>
            <a:pPr>
              <a:spcBef>
                <a:spcPts val="400"/>
              </a:spcBef>
            </a:pPr>
            <a:r>
              <a:rPr sz="1400">
                <a:solidFill>
                  <a:srgbClr val="AEBBD9"/>
                </a:solidFill>
                <a:latin typeface="Segoe UI"/>
              </a:rPr>
              <a:t>Afzalliklari: millisekundli kechikish (tarmoqqa bog'liq emas), tarmoq trafigini tejash (16 kamera 64 Mbit/s uzluksiz oqim o'rniga faqat hodisalar), maxfiylik (video binodan chiqmaydi), oflayn ishlash.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50"/>
                                        <p:tgtEl>
                                          <p:spTgt spid="33"/>
                                        </p:tgtEl>
                                      </p:cBhvr>
                                    </p:animEffect>
                                    <p:anim calcmode="lin" valueType="num">
                                      <p:cBhvr additive="base">
                                        <p:cTn id="84" dur="550" fill="hold"/>
                                        <p:tgtEl>
                                          <p:spTgt spid="33"/>
                                        </p:tgtEl>
                                        <p:attrNameLst>
                                          <p:attrName>ppt_x</p:attrName>
                                        </p:attrNameLst>
                                      </p:cBhvr>
                                      <p:tavLst>
                                        <p:tav tm="0">
                                          <p:val>
                                            <p:strVal val="#ppt_x"/>
                                          </p:val>
                                        </p:tav>
                                        <p:tav tm="100000">
                                          <p:val>
                                            <p:strVal val="#ppt_x"/>
                                          </p:val>
                                        </p:tav>
                                      </p:tavLst>
                                    </p:anim>
                                    <p:anim calcmode="lin" valueType="num">
                                      <p:cBhvr additive="base">
                                        <p:cTn id="85" dur="550" fill="hold"/>
                                        <p:tgtEl>
                                          <p:spTgt spid="33"/>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4"/>
                                        </p:tgtEl>
                                        <p:attrNameLst>
                                          <p:attrName>style.visibility</p:attrName>
                                        </p:attrNameLst>
                                      </p:cBhvr>
                                      <p:to>
                                        <p:strVal val="visible"/>
                                      </p:to>
                                    </p:set>
                                    <p:animEffect transition="in" filter="fade">
                                      <p:cBhvr>
                                        <p:cTn id="89" dur="550"/>
                                        <p:tgtEl>
                                          <p:spTgt spid="34"/>
                                        </p:tgtEl>
                                      </p:cBhvr>
                                    </p:animEffect>
                                    <p:anim calcmode="lin" valueType="num">
                                      <p:cBhvr additive="base">
                                        <p:cTn id="90" dur="550" fill="hold"/>
                                        <p:tgtEl>
                                          <p:spTgt spid="34"/>
                                        </p:tgtEl>
                                        <p:attrNameLst>
                                          <p:attrName>ppt_x</p:attrName>
                                        </p:attrNameLst>
                                      </p:cBhvr>
                                      <p:tavLst>
                                        <p:tav tm="0">
                                          <p:val>
                                            <p:strVal val="#ppt_x"/>
                                          </p:val>
                                        </p:tav>
                                        <p:tav tm="100000">
                                          <p:val>
                                            <p:strVal val="#ppt_x"/>
                                          </p:val>
                                        </p:tav>
                                      </p:tavLst>
                                    </p:anim>
                                    <p:anim calcmode="lin" valueType="num">
                                      <p:cBhvr additive="base">
                                        <p:cTn id="91" dur="550" fill="hold"/>
                                        <p:tgtEl>
                                          <p:spTgt spid="34"/>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50"/>
                                        <p:tgtEl>
                                          <p:spTgt spid="35"/>
                                        </p:tgtEl>
                                      </p:cBhvr>
                                    </p:animEffect>
                                    <p:anim calcmode="lin" valueType="num">
                                      <p:cBhvr additive="base">
                                        <p:cTn id="96" dur="550" fill="hold"/>
                                        <p:tgtEl>
                                          <p:spTgt spid="35"/>
                                        </p:tgtEl>
                                        <p:attrNameLst>
                                          <p:attrName>ppt_w</p:attrName>
                                        </p:attrNameLst>
                                      </p:cBhvr>
                                      <p:tavLst>
                                        <p:tav tm="0">
                                          <p:val>
                                            <p:strVal val="0"/>
                                          </p:val>
                                        </p:tav>
                                        <p:tav tm="100000">
                                          <p:val>
                                            <p:strVal val="#ppt_w"/>
                                          </p:val>
                                        </p:tav>
                                      </p:tavLst>
                                    </p:anim>
                                    <p:anim calcmode="lin" valueType="num">
                                      <p:cBhvr additive="base">
                                        <p:cTn id="97" dur="550" fill="hold"/>
                                        <p:tgtEl>
                                          <p:spTgt spid="35"/>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50"/>
                                        <p:tgtEl>
                                          <p:spTgt spid="36"/>
                                        </p:tgtEl>
                                      </p:cBhvr>
                                    </p:animEffect>
                                    <p:anim calcmode="lin" valueType="num">
                                      <p:cBhvr additive="base">
                                        <p:cTn id="102" dur="550" fill="hold"/>
                                        <p:tgtEl>
                                          <p:spTgt spid="36"/>
                                        </p:tgtEl>
                                        <p:attrNameLst>
                                          <p:attrName>ppt_x</p:attrName>
                                        </p:attrNameLst>
                                      </p:cBhvr>
                                      <p:tavLst>
                                        <p:tav tm="0">
                                          <p:val>
                                            <p:strVal val="#ppt_x"/>
                                          </p:val>
                                        </p:tav>
                                        <p:tav tm="100000">
                                          <p:val>
                                            <p:strVal val="#ppt_x"/>
                                          </p:val>
                                        </p:tav>
                                      </p:tavLst>
                                    </p:anim>
                                    <p:anim calcmode="lin" valueType="num">
                                      <p:cBhvr additive="base">
                                        <p:cTn id="10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f2dcf0711ec855c5.jpg"/>
          <p:cNvPicPr>
            <a:picLocks noChangeAspect="1"/>
          </p:cNvPicPr>
          <p:nvPr/>
        </p:nvPicPr>
        <p:blipFill>
          <a:blip r:embed="rId2"/>
          <a:srcRect l="18506" r="18506"/>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Laserlicht · Wikimedia Commons · CC BY-SA 4.0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Konteynerlashtirish va AI uchun Docker amaliyoti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AI xizmatining Docker tasviri odatiy veb-ilovadan farq qiladi: CUDA kutubxonalari (1–3 GB), PyTorch (2 GB dan ortiq), model fayli (yuzlab MB).</a:t>
            </a:r>
          </a:p>
          <a:p>
            <a:pPr>
              <a:spcBef>
                <a:spcPts val="400"/>
              </a:spcBef>
            </a:pPr>
            <a:r>
              <a:rPr sz="1300">
                <a:solidFill>
                  <a:srgbClr val="AEBBD9"/>
                </a:solidFill>
                <a:latin typeface="Segoe UI"/>
              </a:rPr>
              <a:t>Shu sababli bir necha amaliy qoida mavjud. Ko'p bosqichli qurish (multi-stage build): birinchi bosqichda kompilyatsiya va bog'liqliklar o'rnatiladi, ikkinchisiga faqat kerakli fayllar ko'chiriladi — yakuniy tasvir 2–5 baravar kichrayadi.</a:t>
            </a:r>
          </a:p>
        </p:txBody>
      </p:sp>
      <p:sp>
        <p:nvSpPr>
          <p:cNvPr id="33" name="Rounded Rectangle 32"/>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ONNX Runtime CPU asosidagi xizmat tasviri odatda 400–600 MB, TensorRT GPU tasviri 3–6 GB bo'ladi; ishga tushish vaqti (model yuklanishi bilan) mos ravishda 2–5 soniya va 10–40 soniya (TensorRT dvigatelini deserializatsiya qilish yoki qurish).</a:t>
            </a:r>
          </a:p>
          <a:p>
            <a:pPr>
              <a:spcBef>
                <a:spcPts val="400"/>
              </a:spcBef>
            </a:pPr>
            <a:r>
              <a:rPr sz="1300">
                <a:solidFill>
                  <a:srgbClr val="AEBBD9"/>
                </a:solidFill>
                <a:latin typeface="Segoe UI"/>
              </a:rPr>
              <a:t>Bu raqamlar K8s'da sog'liq tekshiruvi (readiness probe) muddatini va avtomatik masshtablash reaktsiya vaqtini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AI xizmatining asosiy ob'ektlari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Readiness probe (xizmat so'rov qabul qilishga tayyormi) va liveness probe (jarayon tirikmi) AI xizmatida farq qiladi: model yuklanayotgan 30 soniya davomida Pod tirik, lekin tayyor emas — trafik unga yuborilmasligi kerak.</a:t>
            </a:r>
          </a:p>
          <a:p>
            <a:pPr>
              <a:spcBef>
                <a:spcPts val="400"/>
              </a:spcBef>
            </a:pPr>
            <a:r>
              <a:rPr sz="1600">
                <a:solidFill>
                  <a:srgbClr val="AEBBD9"/>
                </a:solidFill>
                <a:latin typeface="Segoe UI"/>
              </a:rPr>
              <a:t>GPU Pod'lar uchun limits majburiy va bo'lingan (fractional) GPU standart K8s'da yo'q — bitta Pod bitta GPU; bo'lish uchun NVIDIA MPS, time-slicing yoki MIG (A100/H100)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AI xizmatining asosiy ob'ektlari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graphicFrame>
        <p:nvGraphicFramePr>
          <p:cNvPr id="26" name="Table 25"/>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Ob'ekt</a:t>
                      </a:r>
                    </a:p>
                  </a:txBody>
                  <a:tcPr>
                    <a:solidFill>
                      <a:srgbClr val="1C2755"/>
                    </a:solidFill>
                  </a:tcPr>
                </a:tc>
                <a:tc>
                  <a:txBody>
                    <a:bodyPr/>
                    <a:lstStyle/>
                    <a:p>
                      <a:r>
                        <a:rPr sz="1200" b="1">
                          <a:solidFill>
                            <a:srgbClr val="22D3EE"/>
                          </a:solidFill>
                          <a:latin typeface="Segoe UI"/>
                        </a:rPr>
                        <a:t>Vazifasi</a:t>
                      </a:r>
                    </a:p>
                  </a:txBody>
                  <a:tcPr>
                    <a:solidFill>
                      <a:srgbClr val="1C2755"/>
                    </a:solidFill>
                  </a:tcPr>
                </a:tc>
                <a:tc>
                  <a:txBody>
                    <a:bodyPr/>
                    <a:lstStyle/>
                    <a:p>
                      <a:r>
                        <a:rPr sz="1200" b="1">
                          <a:solidFill>
                            <a:srgbClr val="22D3EE"/>
                          </a:solidFill>
                          <a:latin typeface="Segoe UI"/>
                        </a:rPr>
                        <a:t>AI xizmatida muhim parametrlar</a:t>
                      </a:r>
                    </a:p>
                  </a:txBody>
                  <a:tcPr>
                    <a:solidFill>
                      <a:srgbClr val="1C2755"/>
                    </a:solidFill>
                  </a:tcPr>
                </a:tc>
              </a:tr>
              <a:tr h="520000">
                <a:tc>
                  <a:txBody>
                    <a:bodyPr/>
                    <a:lstStyle/>
                    <a:p>
                      <a:r>
                        <a:rPr sz="1200" b="0">
                          <a:solidFill>
                            <a:srgbClr val="E8EEFA"/>
                          </a:solidFill>
                          <a:latin typeface="Segoe UI"/>
                        </a:rPr>
                        <a:t>Pod</a:t>
                      </a:r>
                    </a:p>
                  </a:txBody>
                  <a:tcPr>
                    <a:solidFill>
                      <a:srgbClr val="111834"/>
                    </a:solidFill>
                  </a:tcPr>
                </a:tc>
                <a:tc>
                  <a:txBody>
                    <a:bodyPr/>
                    <a:lstStyle/>
                    <a:p>
                      <a:r>
                        <a:rPr sz="1200" b="0">
                          <a:solidFill>
                            <a:srgbClr val="E8EEFA"/>
                          </a:solidFill>
                          <a:latin typeface="Segoe UI"/>
                        </a:rPr>
                        <a:t>bir yoki bir nechta konteyner, eng kichik joylash birligi</a:t>
                      </a:r>
                    </a:p>
                  </a:txBody>
                  <a:tcPr>
                    <a:solidFill>
                      <a:srgbClr val="111834"/>
                    </a:solidFill>
                  </a:tcPr>
                </a:tc>
                <a:tc>
                  <a:txBody>
                    <a:bodyPr/>
                    <a:lstStyle/>
                    <a:p>
                      <a:r>
                        <a:rPr sz="1200" b="0">
                          <a:solidFill>
                            <a:srgbClr val="E8EEFA"/>
                          </a:solidFill>
                          <a:latin typeface="Segoe UI"/>
                        </a:rPr>
                        <a:t>resources.requests/limits (CPU, xotira, nvidia.com/gpu)</a:t>
                      </a:r>
                    </a:p>
                  </a:txBody>
                  <a:tcPr>
                    <a:solidFill>
                      <a:srgbClr val="111834"/>
                    </a:solidFill>
                  </a:tcPr>
                </a:tc>
              </a:tr>
              <a:tr h="520000">
                <a:tc>
                  <a:txBody>
                    <a:bodyPr/>
                    <a:lstStyle/>
                    <a:p>
                      <a:r>
                        <a:rPr sz="1200" b="0">
                          <a:solidFill>
                            <a:srgbClr val="E8EEFA"/>
                          </a:solidFill>
                          <a:latin typeface="Segoe UI"/>
                        </a:rPr>
                        <a:t>Deployment</a:t>
                      </a:r>
                    </a:p>
                  </a:txBody>
                  <a:tcPr>
                    <a:solidFill>
                      <a:srgbClr val="161F40"/>
                    </a:solidFill>
                  </a:tcPr>
                </a:tc>
                <a:tc>
                  <a:txBody>
                    <a:bodyPr/>
                    <a:lstStyle/>
                    <a:p>
                      <a:r>
                        <a:rPr sz="1200" b="0">
                          <a:solidFill>
                            <a:srgbClr val="E8EEFA"/>
                          </a:solidFill>
                          <a:latin typeface="Segoe UI"/>
                        </a:rPr>
                        <a:t>Pod nusxalarini boshqaradi, yangilanishni bosqichma-bosqich (rolling update) bajaradi</a:t>
                      </a:r>
                    </a:p>
                  </a:txBody>
                  <a:tcPr>
                    <a:solidFill>
                      <a:srgbClr val="161F40"/>
                    </a:solidFill>
                  </a:tcPr>
                </a:tc>
                <a:tc>
                  <a:txBody>
                    <a:bodyPr/>
                    <a:lstStyle/>
                    <a:p>
                      <a:r>
                        <a:rPr sz="1200" b="0">
                          <a:solidFill>
                            <a:srgbClr val="E8EEFA"/>
                          </a:solidFill>
                          <a:latin typeface="Segoe UI"/>
                        </a:rPr>
                        <a:t>replicas, strategy.rollingUpdate.maxUnavailable, probe'lar</a:t>
                      </a:r>
                    </a:p>
                  </a:txBody>
                  <a:tcPr>
                    <a:solidFill>
                      <a:srgbClr val="161F40"/>
                    </a:solidFill>
                  </a:tcPr>
                </a:tc>
              </a:tr>
              <a:tr h="520000">
                <a:tc>
                  <a:txBody>
                    <a:bodyPr/>
                    <a:lstStyle/>
                    <a:p>
                      <a:r>
                        <a:rPr sz="1200" b="0">
                          <a:solidFill>
                            <a:srgbClr val="E8EEFA"/>
                          </a:solidFill>
                          <a:latin typeface="Segoe UI"/>
                        </a:rPr>
                        <a:t>Service</a:t>
                      </a:r>
                    </a:p>
                  </a:txBody>
                  <a:tcPr>
                    <a:solidFill>
                      <a:srgbClr val="111834"/>
                    </a:solidFill>
                  </a:tcPr>
                </a:tc>
                <a:tc>
                  <a:txBody>
                    <a:bodyPr/>
                    <a:lstStyle/>
                    <a:p>
                      <a:r>
                        <a:rPr sz="1200" b="0">
                          <a:solidFill>
                            <a:srgbClr val="E8EEFA"/>
                          </a:solidFill>
                          <a:latin typeface="Segoe UI"/>
                        </a:rPr>
                        <a:t>Pod'larga barqaror tarmoq manzili va yuk taqsimlash</a:t>
                      </a:r>
                    </a:p>
                  </a:txBody>
                  <a:tcPr>
                    <a:solidFill>
                      <a:srgbClr val="111834"/>
                    </a:solidFill>
                  </a:tcPr>
                </a:tc>
                <a:tc>
                  <a:txBody>
                    <a:bodyPr/>
                    <a:lstStyle/>
                    <a:p>
                      <a:r>
                        <a:rPr sz="1200" b="0">
                          <a:solidFill>
                            <a:srgbClr val="E8EEFA"/>
                          </a:solidFill>
                          <a:latin typeface="Segoe UI"/>
                        </a:rPr>
                        <a:t>ClusterIP (ichki), NodePort/LoadBalancer (tashqi)</a:t>
                      </a:r>
                    </a:p>
                  </a:txBody>
                  <a:tcPr>
                    <a:solidFill>
                      <a:srgbClr val="111834"/>
                    </a:solidFill>
                  </a:tcPr>
                </a:tc>
              </a:tr>
              <a:tr h="520000">
                <a:tc>
                  <a:txBody>
                    <a:bodyPr/>
                    <a:lstStyle/>
                    <a:p>
                      <a:r>
                        <a:rPr sz="1200" b="0">
                          <a:solidFill>
                            <a:srgbClr val="E8EEFA"/>
                          </a:solidFill>
                          <a:latin typeface="Segoe UI"/>
                        </a:rPr>
                        <a:t>HorizontalPodAutoscaler (HPA)</a:t>
                      </a:r>
                    </a:p>
                  </a:txBody>
                  <a:tcPr>
                    <a:solidFill>
                      <a:srgbClr val="161F40"/>
                    </a:solidFill>
                  </a:tcPr>
                </a:tc>
                <a:tc>
                  <a:txBody>
                    <a:bodyPr/>
                    <a:lstStyle/>
                    <a:p>
                      <a:r>
                        <a:rPr sz="1200" b="0">
                          <a:solidFill>
                            <a:srgbClr val="E8EEFA"/>
                          </a:solidFill>
                          <a:latin typeface="Segoe UI"/>
                        </a:rPr>
                        <a:t>metrikaga qarab nusxalar sonini avtomatik o'zgartiradi</a:t>
                      </a:r>
                    </a:p>
                  </a:txBody>
                  <a:tcPr>
                    <a:solidFill>
                      <a:srgbClr val="161F40"/>
                    </a:solidFill>
                  </a:tcPr>
                </a:tc>
                <a:tc>
                  <a:txBody>
                    <a:bodyPr/>
                    <a:lstStyle/>
                    <a:p>
                      <a:r>
                        <a:rPr sz="1200" b="0">
                          <a:solidFill>
                            <a:srgbClr val="E8EEFA"/>
                          </a:solidFill>
                          <a:latin typeface="Segoe UI"/>
                        </a:rPr>
                        <a:t>CPU foizi, maxsus metrika (so'rov/s, GPU bandligi)</a:t>
                      </a:r>
                    </a:p>
                  </a:txBody>
                  <a:tcPr>
                    <a:solidFill>
                      <a:srgbClr val="161F40"/>
                    </a:solidFill>
                  </a:tcPr>
                </a:tc>
              </a:tr>
              <a:tr h="520000">
                <a:tc>
                  <a:txBody>
                    <a:bodyPr/>
                    <a:lstStyle/>
                    <a:p>
                      <a:r>
                        <a:rPr sz="1200" b="0">
                          <a:solidFill>
                            <a:srgbClr val="E8EEFA"/>
                          </a:solidFill>
                          <a:latin typeface="Segoe UI"/>
                        </a:rPr>
                        <a:t>ConfigMap / Secret</a:t>
                      </a:r>
                    </a:p>
                  </a:txBody>
                  <a:tcPr>
                    <a:solidFill>
                      <a:srgbClr val="111834"/>
                    </a:solidFill>
                  </a:tcPr>
                </a:tc>
                <a:tc>
                  <a:txBody>
                    <a:bodyPr/>
                    <a:lstStyle/>
                    <a:p>
                      <a:r>
                        <a:rPr sz="1200" b="0">
                          <a:solidFill>
                            <a:srgbClr val="E8EEFA"/>
                          </a:solidFill>
                          <a:latin typeface="Segoe UI"/>
                        </a:rPr>
                        <a:t>sozlamalar va sirlar</a:t>
                      </a:r>
                    </a:p>
                  </a:txBody>
                  <a:tcPr>
                    <a:solidFill>
                      <a:srgbClr val="111834"/>
                    </a:solidFill>
                  </a:tcPr>
                </a:tc>
                <a:tc>
                  <a:txBody>
                    <a:bodyPr/>
                    <a:lstStyle/>
                    <a:p>
                      <a:r>
                        <a:rPr sz="1200" b="0">
                          <a:solidFill>
                            <a:srgbClr val="E8EEFA"/>
                          </a:solidFill>
                          <a:latin typeface="Segoe UI"/>
                        </a:rPr>
                        <a:t>model yo'li, paket o'lchami, API kalitlari</a:t>
                      </a:r>
                    </a:p>
                  </a:txBody>
                  <a:tcPr>
                    <a:solidFill>
                      <a:srgbClr val="111834"/>
                    </a:solidFill>
                  </a:tcPr>
                </a:tc>
              </a:tr>
              <a:tr h="520000">
                <a:tc>
                  <a:txBody>
                    <a:bodyPr/>
                    <a:lstStyle/>
                    <a:p>
                      <a:r>
                        <a:rPr sz="1200" b="0">
                          <a:solidFill>
                            <a:srgbClr val="E8EEFA"/>
                          </a:solidFill>
                          <a:latin typeface="Segoe UI"/>
                        </a:rPr>
                        <a:t>PersistentVolume</a:t>
                      </a:r>
                    </a:p>
                  </a:txBody>
                  <a:tcPr>
                    <a:solidFill>
                      <a:srgbClr val="161F40"/>
                    </a:solidFill>
                  </a:tcPr>
                </a:tc>
                <a:tc>
                  <a:txBody>
                    <a:bodyPr/>
                    <a:lstStyle/>
                    <a:p>
                      <a:r>
                        <a:rPr sz="1200" b="0">
                          <a:solidFill>
                            <a:srgbClr val="E8EEFA"/>
                          </a:solidFill>
                          <a:latin typeface="Segoe UI"/>
                        </a:rPr>
                        <a:t>saqlash</a:t>
                      </a:r>
                    </a:p>
                  </a:txBody>
                  <a:tcPr>
                    <a:solidFill>
                      <a:srgbClr val="161F40"/>
                    </a:solidFill>
                  </a:tcPr>
                </a:tc>
                <a:tc>
                  <a:txBody>
                    <a:bodyPr/>
                    <a:lstStyle/>
                    <a:p>
                      <a:r>
                        <a:rPr sz="1200" b="0">
                          <a:solidFill>
                            <a:srgbClr val="E8EEFA"/>
                          </a:solidFill>
                          <a:latin typeface="Segoe UI"/>
                        </a:rPr>
                        <a:t>model ombori, kalibrlash ma'lumotlari</a:t>
                      </a:r>
                    </a:p>
                  </a:txBody>
                  <a:tcPr>
                    <a:solidFill>
                      <a:srgbClr val="161F40"/>
                    </a:solidFill>
                  </a:tcPr>
                </a:tc>
              </a:tr>
              <a:tr h="520000">
                <a:tc>
                  <a:txBody>
                    <a:bodyPr/>
                    <a:lstStyle/>
                    <a:p>
                      <a:r>
                        <a:rPr sz="1200" b="0">
                          <a:solidFill>
                            <a:srgbClr val="E8EEFA"/>
                          </a:solidFill>
                          <a:latin typeface="Segoe UI"/>
                        </a:rPr>
                        <a:t>Ingress</a:t>
                      </a:r>
                    </a:p>
                  </a:txBody>
                  <a:tcPr>
                    <a:solidFill>
                      <a:srgbClr val="111834"/>
                    </a:solidFill>
                  </a:tcPr>
                </a:tc>
                <a:tc>
                  <a:txBody>
                    <a:bodyPr/>
                    <a:lstStyle/>
                    <a:p>
                      <a:r>
                        <a:rPr sz="1200" b="0">
                          <a:solidFill>
                            <a:srgbClr val="E8EEFA"/>
                          </a:solidFill>
                          <a:latin typeface="Segoe UI"/>
                        </a:rPr>
                        <a:t>HTTP marshrutlash, TLS</a:t>
                      </a:r>
                    </a:p>
                  </a:txBody>
                  <a:tcPr>
                    <a:solidFill>
                      <a:srgbClr val="111834"/>
                    </a:solidFill>
                  </a:tcPr>
                </a:tc>
                <a:tc>
                  <a:txBody>
                    <a:bodyPr/>
                    <a:lstStyle/>
                    <a:p>
                      <a:r>
                        <a:rPr sz="1200" b="0">
                          <a:solidFill>
                            <a:srgbClr val="E8EEFA"/>
                          </a:solidFill>
                          <a:latin typeface="Segoe UI"/>
                        </a:rPr>
                        <a:t>yagona kirish nuqtasi, versiyalar bo'yicha trafik bo'lish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Chekka platformalar: Jetson va Edge TPU</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NVIDIA Jetson — ARM CPU + Ampere GPU (Orin avlodi) + apparat video kodek + umumiy LPDDR5 xotira bir chipda (SoC).</a:t>
            </a:r>
          </a:p>
          <a:p>
            <a:pPr>
              <a:spcBef>
                <a:spcPts val="400"/>
              </a:spcBef>
            </a:pPr>
            <a:r>
              <a:rPr sz="1400">
                <a:solidFill>
                  <a:srgbClr val="AEBBD9"/>
                </a:solidFill>
                <a:latin typeface="Segoe UI"/>
              </a:rPr>
              <a:t>JetPack dasturiy to'plami Ubuntu, CUDA, cuDNN, TensorRT, DeepStream va konteyner qo'llab-quvvatlashini (NVIDIA Container Runtime, l4t asos tasvirlar) o'z ichiga oladi.</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Google Coral Edge TPU — 4 TOPS INT8 ASIC, ~2 Vt, USB yoki M.2/PCIe modul, shuningdek Dev Board.</a:t>
            </a:r>
          </a:p>
          <a:p>
            <a:pPr>
              <a:spcBef>
                <a:spcPts val="400"/>
              </a:spcBef>
            </a:pPr>
            <a:r>
              <a:rPr sz="1400">
                <a:solidFill>
                  <a:srgbClr val="AEBBD9"/>
                </a:solidFill>
                <a:latin typeface="Segoe UI"/>
              </a:rPr>
              <a:t>Faqat to'liq INT8 kvantlangan TensorFlow Lite modeli, Edge TPU kompilyatori (edgetpu_compiler) orqali kompilyatsiya qilingan holda ishlaydi; qo'llab-quvvatlanmagan operatorlar CPU'da bajariladi (kompilyator buni hisobotda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Chekka platformalar: Jetson va Edge TPU</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3" name="Table 22"/>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Ko'rsatkich</a:t>
                      </a:r>
                    </a:p>
                  </a:txBody>
                  <a:tcPr>
                    <a:solidFill>
                      <a:srgbClr val="1C2755"/>
                    </a:solidFill>
                  </a:tcPr>
                </a:tc>
                <a:tc>
                  <a:txBody>
                    <a:bodyPr/>
                    <a:lstStyle/>
                    <a:p>
                      <a:r>
                        <a:rPr sz="1400" b="1">
                          <a:solidFill>
                            <a:srgbClr val="22D3EE"/>
                          </a:solidFill>
                          <a:latin typeface="Segoe UI"/>
                        </a:rPr>
                        <a:t>Jetson Orin NX 16 GB</a:t>
                      </a:r>
                    </a:p>
                  </a:txBody>
                  <a:tcPr>
                    <a:solidFill>
                      <a:srgbClr val="1C2755"/>
                    </a:solidFill>
                  </a:tcPr>
                </a:tc>
                <a:tc>
                  <a:txBody>
                    <a:bodyPr/>
                    <a:lstStyle/>
                    <a:p>
                      <a:r>
                        <a:rPr sz="1400" b="1">
                          <a:solidFill>
                            <a:srgbClr val="22D3EE"/>
                          </a:solidFill>
                          <a:latin typeface="Segoe UI"/>
                        </a:rPr>
                        <a:t>Jetson Orin Nano 8 GB</a:t>
                      </a:r>
                    </a:p>
                  </a:txBody>
                  <a:tcPr>
                    <a:solidFill>
                      <a:srgbClr val="1C2755"/>
                    </a:solidFill>
                  </a:tcPr>
                </a:tc>
                <a:tc>
                  <a:txBody>
                    <a:bodyPr/>
                    <a:lstStyle/>
                    <a:p>
                      <a:r>
                        <a:rPr sz="1400" b="1">
                          <a:solidFill>
                            <a:srgbClr val="22D3EE"/>
                          </a:solidFill>
                          <a:latin typeface="Segoe UI"/>
                        </a:rPr>
                        <a:t>Coral Edge TPU (M.2)</a:t>
                      </a:r>
                    </a:p>
                  </a:txBody>
                  <a:tcPr>
                    <a:solidFill>
                      <a:srgbClr val="1C2755"/>
                    </a:solidFill>
                  </a:tcPr>
                </a:tc>
              </a:tr>
              <a:tr h="520000">
                <a:tc>
                  <a:txBody>
                    <a:bodyPr/>
                    <a:lstStyle/>
                    <a:p>
                      <a:r>
                        <a:rPr sz="1400" b="0">
                          <a:solidFill>
                            <a:srgbClr val="E8EEFA"/>
                          </a:solidFill>
                          <a:latin typeface="Segoe UI"/>
                        </a:rPr>
                        <a:t>Inferens unumdorligi</a:t>
                      </a:r>
                    </a:p>
                  </a:txBody>
                  <a:tcPr>
                    <a:solidFill>
                      <a:srgbClr val="111834"/>
                    </a:solidFill>
                  </a:tcPr>
                </a:tc>
                <a:tc>
                  <a:txBody>
                    <a:bodyPr/>
                    <a:lstStyle/>
                    <a:p>
                      <a:r>
                        <a:rPr sz="1400" b="0">
                          <a:solidFill>
                            <a:srgbClr val="E8EEFA"/>
                          </a:solidFill>
                          <a:latin typeface="Segoe UI"/>
                        </a:rPr>
                        <a:t>~50 TOPS INT8 dense</a:t>
                      </a:r>
                    </a:p>
                  </a:txBody>
                  <a:tcPr>
                    <a:solidFill>
                      <a:srgbClr val="111834"/>
                    </a:solidFill>
                  </a:tcPr>
                </a:tc>
                <a:tc>
                  <a:txBody>
                    <a:bodyPr/>
                    <a:lstStyle/>
                    <a:p>
                      <a:r>
                        <a:rPr sz="1400" b="0">
                          <a:solidFill>
                            <a:srgbClr val="E8EEFA"/>
                          </a:solidFill>
                          <a:latin typeface="Segoe UI"/>
                        </a:rPr>
                        <a:t>~20 TOPS INT8 dense</a:t>
                      </a:r>
                    </a:p>
                  </a:txBody>
                  <a:tcPr>
                    <a:solidFill>
                      <a:srgbClr val="111834"/>
                    </a:solidFill>
                  </a:tcPr>
                </a:tc>
                <a:tc>
                  <a:txBody>
                    <a:bodyPr/>
                    <a:lstStyle/>
                    <a:p>
                      <a:r>
                        <a:rPr sz="1400" b="0">
                          <a:solidFill>
                            <a:srgbClr val="E8EEFA"/>
                          </a:solidFill>
                          <a:latin typeface="Segoe UI"/>
                        </a:rPr>
                        <a:t>4 TOPS INT8</a:t>
                      </a:r>
                    </a:p>
                  </a:txBody>
                  <a:tcPr>
                    <a:solidFill>
                      <a:srgbClr val="111834"/>
                    </a:solidFill>
                  </a:tcPr>
                </a:tc>
              </a:tr>
              <a:tr h="520000">
                <a:tc>
                  <a:txBody>
                    <a:bodyPr/>
                    <a:lstStyle/>
                    <a:p>
                      <a:r>
                        <a:rPr sz="1400" b="0">
                          <a:solidFill>
                            <a:srgbClr val="E8EEFA"/>
                          </a:solidFill>
                          <a:latin typeface="Segoe UI"/>
                        </a:rPr>
                        <a:t>Quvvat</a:t>
                      </a:r>
                    </a:p>
                  </a:txBody>
                  <a:tcPr>
                    <a:solidFill>
                      <a:srgbClr val="161F40"/>
                    </a:solidFill>
                  </a:tcPr>
                </a:tc>
                <a:tc>
                  <a:txBody>
                    <a:bodyPr/>
                    <a:lstStyle/>
                    <a:p>
                      <a:r>
                        <a:rPr sz="1400" b="0">
                          <a:solidFill>
                            <a:srgbClr val="E8EEFA"/>
                          </a:solidFill>
                          <a:latin typeface="Segoe UI"/>
                        </a:rPr>
                        <a:t>10–25 Vt</a:t>
                      </a:r>
                    </a:p>
                  </a:txBody>
                  <a:tcPr>
                    <a:solidFill>
                      <a:srgbClr val="161F40"/>
                    </a:solidFill>
                  </a:tcPr>
                </a:tc>
                <a:tc>
                  <a:txBody>
                    <a:bodyPr/>
                    <a:lstStyle/>
                    <a:p>
                      <a:r>
                        <a:rPr sz="1400" b="0">
                          <a:solidFill>
                            <a:srgbClr val="E8EEFA"/>
                          </a:solidFill>
                          <a:latin typeface="Segoe UI"/>
                        </a:rPr>
                        <a:t>7–15 Vt</a:t>
                      </a:r>
                    </a:p>
                  </a:txBody>
                  <a:tcPr>
                    <a:solidFill>
                      <a:srgbClr val="161F40"/>
                    </a:solidFill>
                  </a:tcPr>
                </a:tc>
                <a:tc>
                  <a:txBody>
                    <a:bodyPr/>
                    <a:lstStyle/>
                    <a:p>
                      <a:r>
                        <a:rPr sz="1400" b="0">
                          <a:solidFill>
                            <a:srgbClr val="E8EEFA"/>
                          </a:solidFill>
                          <a:latin typeface="Segoe UI"/>
                        </a:rPr>
                        <a:t>~2 Vt</a:t>
                      </a:r>
                    </a:p>
                  </a:txBody>
                  <a:tcPr>
                    <a:solidFill>
                      <a:srgbClr val="161F40"/>
                    </a:solidFill>
                  </a:tcPr>
                </a:tc>
              </a:tr>
              <a:tr h="520000">
                <a:tc>
                  <a:txBody>
                    <a:bodyPr/>
                    <a:lstStyle/>
                    <a:p>
                      <a:r>
                        <a:rPr sz="1400" b="0">
                          <a:solidFill>
                            <a:srgbClr val="E8EEFA"/>
                          </a:solidFill>
                          <a:latin typeface="Segoe UI"/>
                        </a:rPr>
                        <a:t>Formatlar</a:t>
                      </a:r>
                    </a:p>
                  </a:txBody>
                  <a:tcPr>
                    <a:solidFill>
                      <a:srgbClr val="111834"/>
                    </a:solidFill>
                  </a:tcPr>
                </a:tc>
                <a:tc>
                  <a:txBody>
                    <a:bodyPr/>
                    <a:lstStyle/>
                    <a:p>
                      <a:r>
                        <a:rPr sz="1400" b="0">
                          <a:solidFill>
                            <a:srgbClr val="E8EEFA"/>
                          </a:solidFill>
                          <a:latin typeface="Segoe UI"/>
                        </a:rPr>
                        <a:t>FP32/FP16/INT8</a:t>
                      </a:r>
                    </a:p>
                  </a:txBody>
                  <a:tcPr>
                    <a:solidFill>
                      <a:srgbClr val="111834"/>
                    </a:solidFill>
                  </a:tcPr>
                </a:tc>
                <a:tc>
                  <a:txBody>
                    <a:bodyPr/>
                    <a:lstStyle/>
                    <a:p>
                      <a:r>
                        <a:rPr sz="1400" b="0">
                          <a:solidFill>
                            <a:srgbClr val="E8EEFA"/>
                          </a:solidFill>
                          <a:latin typeface="Segoe UI"/>
                        </a:rPr>
                        <a:t>FP32/FP16/INT8</a:t>
                      </a:r>
                    </a:p>
                  </a:txBody>
                  <a:tcPr>
                    <a:solidFill>
                      <a:srgbClr val="111834"/>
                    </a:solidFill>
                  </a:tcPr>
                </a:tc>
                <a:tc>
                  <a:txBody>
                    <a:bodyPr/>
                    <a:lstStyle/>
                    <a:p>
                      <a:r>
                        <a:rPr sz="1400" b="0">
                          <a:solidFill>
                            <a:srgbClr val="E8EEFA"/>
                          </a:solidFill>
                          <a:latin typeface="Segoe UI"/>
                        </a:rPr>
                        <a:t>faqat INT8 TFLite</a:t>
                      </a:r>
                    </a:p>
                  </a:txBody>
                  <a:tcPr>
                    <a:solidFill>
                      <a:srgbClr val="111834"/>
                    </a:solidFill>
                  </a:tcPr>
                </a:tc>
              </a:tr>
              <a:tr h="520000">
                <a:tc>
                  <a:txBody>
                    <a:bodyPr/>
                    <a:lstStyle/>
                    <a:p>
                      <a:r>
                        <a:rPr sz="1400" b="0">
                          <a:solidFill>
                            <a:srgbClr val="E8EEFA"/>
                          </a:solidFill>
                          <a:latin typeface="Segoe UI"/>
                        </a:rPr>
                        <a:t>ResNet-50 batch 1 (taxminiy)</a:t>
                      </a:r>
                    </a:p>
                  </a:txBody>
                  <a:tcPr>
                    <a:solidFill>
                      <a:srgbClr val="161F40"/>
                    </a:solidFill>
                  </a:tcPr>
                </a:tc>
                <a:tc>
                  <a:txBody>
                    <a:bodyPr/>
                    <a:lstStyle/>
                    <a:p>
                      <a:r>
                        <a:rPr sz="1400" b="0">
                          <a:solidFill>
                            <a:srgbClr val="E8EEFA"/>
                          </a:solidFill>
                          <a:latin typeface="Segoe UI"/>
                        </a:rPr>
                        <a:t>~2,5 ms INT8 (TensorRT)</a:t>
                      </a:r>
                    </a:p>
                  </a:txBody>
                  <a:tcPr>
                    <a:solidFill>
                      <a:srgbClr val="161F40"/>
                    </a:solidFill>
                  </a:tcPr>
                </a:tc>
                <a:tc>
                  <a:txBody>
                    <a:bodyPr/>
                    <a:lstStyle/>
                    <a:p>
                      <a:r>
                        <a:rPr sz="1400" b="0">
                          <a:solidFill>
                            <a:srgbClr val="E8EEFA"/>
                          </a:solidFill>
                          <a:latin typeface="Segoe UI"/>
                        </a:rPr>
                        <a:t>~5 ms INT8</a:t>
                      </a:r>
                    </a:p>
                  </a:txBody>
                  <a:tcPr>
                    <a:solidFill>
                      <a:srgbClr val="161F40"/>
                    </a:solidFill>
                  </a:tcPr>
                </a:tc>
                <a:tc>
                  <a:txBody>
                    <a:bodyPr/>
                    <a:lstStyle/>
                    <a:p>
                      <a:r>
                        <a:rPr sz="1400" b="0">
                          <a:solidFill>
                            <a:srgbClr val="E8EEFA"/>
                          </a:solidFill>
                          <a:latin typeface="Segoe UI"/>
                        </a:rPr>
                        <a:t>~15 ms (kvantlangan)</a:t>
                      </a:r>
                    </a:p>
                  </a:txBody>
                  <a:tcPr>
                    <a:solidFill>
                      <a:srgbClr val="161F40"/>
                    </a:solidFill>
                  </a:tcPr>
                </a:tc>
              </a:tr>
              <a:tr h="520000">
                <a:tc>
                  <a:txBody>
                    <a:bodyPr/>
                    <a:lstStyle/>
                    <a:p>
                      <a:r>
                        <a:rPr sz="1400" b="0">
                          <a:solidFill>
                            <a:srgbClr val="E8EEFA"/>
                          </a:solidFill>
                          <a:latin typeface="Segoe UI"/>
                        </a:rPr>
                        <a:t>Video dekodlash</a:t>
                      </a:r>
                    </a:p>
                  </a:txBody>
                  <a:tcPr>
                    <a:solidFill>
                      <a:srgbClr val="111834"/>
                    </a:solidFill>
                  </a:tcPr>
                </a:tc>
                <a:tc>
                  <a:txBody>
                    <a:bodyPr/>
                    <a:lstStyle/>
                    <a:p>
                      <a:r>
                        <a:rPr sz="1400" b="0">
                          <a:solidFill>
                            <a:srgbClr val="E8EEFA"/>
                          </a:solidFill>
                          <a:latin typeface="Segoe UI"/>
                        </a:rPr>
                        <a:t>NVDEC apparat</a:t>
                      </a:r>
                    </a:p>
                  </a:txBody>
                  <a:tcPr>
                    <a:solidFill>
                      <a:srgbClr val="111834"/>
                    </a:solidFill>
                  </a:tcPr>
                </a:tc>
                <a:tc>
                  <a:txBody>
                    <a:bodyPr/>
                    <a:lstStyle/>
                    <a:p>
                      <a:r>
                        <a:rPr sz="1400" b="0">
                          <a:solidFill>
                            <a:srgbClr val="E8EEFA"/>
                          </a:solidFill>
                          <a:latin typeface="Segoe UI"/>
                        </a:rPr>
                        <a:t>NVDEC apparat</a:t>
                      </a:r>
                    </a:p>
                  </a:txBody>
                  <a:tcPr>
                    <a:solidFill>
                      <a:srgbClr val="111834"/>
                    </a:solidFill>
                  </a:tcPr>
                </a:tc>
                <a:tc>
                  <a:txBody>
                    <a:bodyPr/>
                    <a:lstStyle/>
                    <a:p>
                      <a:r>
                        <a:rPr sz="1400" b="0">
                          <a:solidFill>
                            <a:srgbClr val="E8EEFA"/>
                          </a:solidFill>
                          <a:latin typeface="Segoe UI"/>
                        </a:rPr>
                        <a:t>yo'q</a:t>
                      </a:r>
                    </a:p>
                  </a:txBody>
                  <a:tcPr>
                    <a:solidFill>
                      <a:srgbClr val="111834"/>
                    </a:solidFill>
                  </a:tcPr>
                </a:tc>
              </a:tr>
              <a:tr h="520000">
                <a:tc>
                  <a:txBody>
                    <a:bodyPr/>
                    <a:lstStyle/>
                    <a:p>
                      <a:r>
                        <a:rPr sz="1400" b="0">
                          <a:solidFill>
                            <a:srgbClr val="E8EEFA"/>
                          </a:solidFill>
                          <a:latin typeface="Segoe UI"/>
                        </a:rPr>
                        <a:t>Konteynerlar</a:t>
                      </a:r>
                    </a:p>
                  </a:txBody>
                  <a:tcPr>
                    <a:solidFill>
                      <a:srgbClr val="161F40"/>
                    </a:solidFill>
                  </a:tcPr>
                </a:tc>
                <a:tc>
                  <a:txBody>
                    <a:bodyPr/>
                    <a:lstStyle/>
                    <a:p>
                      <a:r>
                        <a:rPr sz="1400" b="0">
                          <a:solidFill>
                            <a:srgbClr val="E8EEFA"/>
                          </a:solidFill>
                          <a:latin typeface="Segoe UI"/>
                        </a:rPr>
                        <a:t>Docker + NVIDIA runtime</a:t>
                      </a:r>
                    </a:p>
                  </a:txBody>
                  <a:tcPr>
                    <a:solidFill>
                      <a:srgbClr val="161F40"/>
                    </a:solidFill>
                  </a:tcPr>
                </a:tc>
                <a:tc>
                  <a:txBody>
                    <a:bodyPr/>
                    <a:lstStyle/>
                    <a:p>
                      <a:r>
                        <a:rPr sz="1400" b="0">
                          <a:solidFill>
                            <a:srgbClr val="E8EEFA"/>
                          </a:solidFill>
                          <a:latin typeface="Segoe UI"/>
                        </a:rPr>
                        <a:t>Docker + NVIDIA runtime</a:t>
                      </a:r>
                    </a:p>
                  </a:txBody>
                  <a:tcPr>
                    <a:solidFill>
                      <a:srgbClr val="161F40"/>
                    </a:solidFill>
                  </a:tcPr>
                </a:tc>
                <a:tc>
                  <a:txBody>
                    <a:bodyPr/>
                    <a:lstStyle/>
                    <a:p>
                      <a:r>
                        <a:rPr sz="1400" b="0">
                          <a:solidFill>
                            <a:srgbClr val="E8EEFA"/>
                          </a:solidFill>
                          <a:latin typeface="Segoe UI"/>
                        </a:rPr>
                        <a:t>Docker (host CPU), USB o'tkazish</a:t>
                      </a:r>
                    </a:p>
                  </a:txBody>
                  <a:tcPr>
                    <a:solidFill>
                      <a:srgbClr val="161F40"/>
                    </a:solidFill>
                  </a:tcPr>
                </a:tc>
              </a:tr>
              <a:tr h="520000">
                <a:tc>
                  <a:txBody>
                    <a:bodyPr/>
                    <a:lstStyle/>
                    <a:p>
                      <a:r>
                        <a:rPr sz="1400" b="0">
                          <a:solidFill>
                            <a:srgbClr val="E8EEFA"/>
                          </a:solidFill>
                          <a:latin typeface="Segoe UI"/>
                        </a:rPr>
                        <a:t>Masofadan boshqarish</a:t>
                      </a:r>
                    </a:p>
                  </a:txBody>
                  <a:tcPr>
                    <a:solidFill>
                      <a:srgbClr val="111834"/>
                    </a:solidFill>
                  </a:tcPr>
                </a:tc>
                <a:tc>
                  <a:txBody>
                    <a:bodyPr/>
                    <a:lstStyle/>
                    <a:p>
                      <a:r>
                        <a:rPr sz="1400" b="0">
                          <a:solidFill>
                            <a:srgbClr val="E8EEFA"/>
                          </a:solidFill>
                          <a:latin typeface="Segoe UI"/>
                        </a:rPr>
                        <a:t>k3s agent, Fleet, Balena</a:t>
                      </a:r>
                    </a:p>
                  </a:txBody>
                  <a:tcPr>
                    <a:solidFill>
                      <a:srgbClr val="111834"/>
                    </a:solidFill>
                  </a:tcPr>
                </a:tc>
                <a:tc>
                  <a:txBody>
                    <a:bodyPr/>
                    <a:lstStyle/>
                    <a:p>
                      <a:r>
                        <a:rPr sz="1400" b="0">
                          <a:solidFill>
                            <a:srgbClr val="E8EEFA"/>
                          </a:solidFill>
                          <a:latin typeface="Segoe UI"/>
                        </a:rPr>
                        <a:t>k3s agent</a:t>
                      </a:r>
                    </a:p>
                  </a:txBody>
                  <a:tcPr>
                    <a:solidFill>
                      <a:srgbClr val="111834"/>
                    </a:solidFill>
                  </a:tcPr>
                </a:tc>
                <a:tc>
                  <a:txBody>
                    <a:bodyPr/>
                    <a:lstStyle/>
                    <a:p>
                      <a:r>
                        <a:rPr sz="1400" b="0">
                          <a:solidFill>
                            <a:srgbClr val="E8EEFA"/>
                          </a:solidFill>
                          <a:latin typeface="Segoe UI"/>
                        </a:rPr>
                        <a:t>Balena, Mender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va Edge arxitekturalarini solishtirish mezonlari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Uchdan-uchga kechikish: Edge'da tarmoq ishtirok etmaydi — 10–50 ms; Cloud'da mintaqaviy ma'lumotlar markazigacha 20–80 ms RTT (O'zbekistondan eng yaqin yirik bulut mintaqalari — Frankfurt, Mumbai, Singapur — 80–150 ms) plus navbat va inferens.</a:t>
            </a:r>
          </a:p>
          <a:p>
            <a:pPr>
              <a:spcBef>
                <a:spcPts val="400"/>
              </a:spcBef>
            </a:pPr>
            <a:r>
              <a:rPr sz="1600">
                <a:solidFill>
                  <a:srgbClr val="AEBBD9"/>
                </a:solidFill>
                <a:latin typeface="Segoe UI"/>
              </a:rPr>
              <a:t>Tarmoq trafigi: Edge faqat hodisalar va metrikalarni yuboradi (kB/s), Cloud xom oqimni talab qiladi (Mbit/s).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Kuzatiluvchanlik va ekspluatatsiya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Xizmatga kamida to'rtta signal kiritiladi: so'rovlar soni (sekundiga), xatolar ulushi, kechikish gistogrammasi (p50/p95/p99 hisoblash uchun) va resurs ko'rsatkichlari (GPU bandligi, xotira, harorat).</a:t>
            </a:r>
          </a:p>
          <a:p>
            <a:pPr>
              <a:spcBef>
                <a:spcPts val="400"/>
              </a:spcBef>
            </a:pPr>
            <a:r>
              <a:rPr sz="1600">
                <a:solidFill>
                  <a:srgbClr val="AEBBD9"/>
                </a:solidFill>
                <a:latin typeface="Segoe UI"/>
              </a:rPr>
              <a:t>Prometheus format standart; FastAPI uchun prometheus-fastapi-instrumentator yoki prometheus_client. Loglar strukturali (JSON) bo'lib, so'rov identifikatori bilan bog'lanadi.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4affd477be183885.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5" name="TextBox 3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Syced · Wikimedia Commons · CC0</a:t>
            </a:r>
          </a:p>
        </p:txBody>
      </p:sp>
      <p:sp>
        <p:nvSpPr>
          <p:cNvPr id="36" name="TextBox 3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7" name="TextBox 3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38" name="TextBox 3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39" name="Rectangle 3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150"/>
                            </p:stCondLst>
                            <p:childTnLst>
                              <p:par>
                                <p:cTn id="124" presetID="53" presetClass="entr" presetSubtype="16"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additive="base">
                                        <p:cTn id="127" dur="550" fill="hold"/>
                                        <p:tgtEl>
                                          <p:spTgt spid="33"/>
                                        </p:tgtEl>
                                        <p:attrNameLst>
                                          <p:attrName>ppt_w</p:attrName>
                                        </p:attrNameLst>
                                      </p:cBhvr>
                                      <p:tavLst>
                                        <p:tav tm="0">
                                          <p:val>
                                            <p:strVal val="0"/>
                                          </p:val>
                                        </p:tav>
                                        <p:tav tm="100000">
                                          <p:val>
                                            <p:strVal val="#ppt_w"/>
                                          </p:val>
                                        </p:tav>
                                      </p:tavLst>
                                    </p:anim>
                                    <p:anim calcmode="lin" valueType="num">
                                      <p:cBhvr additive="base">
                                        <p:cTn id="128" dur="550" fill="hold"/>
                                        <p:tgtEl>
                                          <p:spTgt spid="33"/>
                                        </p:tgtEl>
                                        <p:attrNameLst>
                                          <p:attrName>ppt_h</p:attrName>
                                        </p:attrNameLst>
                                      </p:cBhvr>
                                      <p:tavLst>
                                        <p:tav tm="0">
                                          <p:val>
                                            <p:strVal val="0"/>
                                          </p:val>
                                        </p:tav>
                                        <p:tav tm="100000">
                                          <p:val>
                                            <p:strVal val="#ppt_h"/>
                                          </p:val>
                                        </p:tav>
                                      </p:tavLst>
                                    </p:anim>
                                  </p:childTnLst>
                                </p:cTn>
                              </p:par>
                            </p:childTnLst>
                          </p:cTn>
                        </p:par>
                        <p:par>
                          <p:cTn id="129" fill="hold">
                            <p:stCondLst>
                              <p:cond delay="150"/>
                            </p:stCondLst>
                            <p:childTnLst>
                              <p:par>
                                <p:cTn id="130" presetID="53" presetClass="entr" presetSubtype="16" fill="hold" grpId="0" nodeType="afterEffect">
                                  <p:stCondLst>
                                    <p:cond delay="0"/>
                                  </p:stCondLst>
                                  <p:childTnLst>
                                    <p:set>
                                      <p:cBhvr>
                                        <p:cTn id="131" dur="1" fill="hold">
                                          <p:stCondLst>
                                            <p:cond delay="0"/>
                                          </p:stCondLst>
                                        </p:cTn>
                                        <p:tgtEl>
                                          <p:spTgt spid="34"/>
                                        </p:tgtEl>
                                        <p:attrNameLst>
                                          <p:attrName>style.visibility</p:attrName>
                                        </p:attrNameLst>
                                      </p:cBhvr>
                                      <p:to>
                                        <p:strVal val="visible"/>
                                      </p:to>
                                    </p:set>
                                    <p:animEffect transition="in" filter="fade">
                                      <p:cBhvr>
                                        <p:cTn id="132" dur="550"/>
                                        <p:tgtEl>
                                          <p:spTgt spid="34"/>
                                        </p:tgtEl>
                                      </p:cBhvr>
                                    </p:animEffect>
                                    <p:anim calcmode="lin" valueType="num">
                                      <p:cBhvr additive="base">
                                        <p:cTn id="133" dur="550" fill="hold"/>
                                        <p:tgtEl>
                                          <p:spTgt spid="34"/>
                                        </p:tgtEl>
                                        <p:attrNameLst>
                                          <p:attrName>ppt_w</p:attrName>
                                        </p:attrNameLst>
                                      </p:cBhvr>
                                      <p:tavLst>
                                        <p:tav tm="0">
                                          <p:val>
                                            <p:strVal val="0"/>
                                          </p:val>
                                        </p:tav>
                                        <p:tav tm="100000">
                                          <p:val>
                                            <p:strVal val="#ppt_w"/>
                                          </p:val>
                                        </p:tav>
                                      </p:tavLst>
                                    </p:anim>
                                    <p:anim calcmode="lin" valueType="num">
                                      <p:cBhvr additive="base">
                                        <p:cTn id="134" dur="550" fill="hold"/>
                                        <p:tgtEl>
                                          <p:spTgt spid="34"/>
                                        </p:tgtEl>
                                        <p:attrNameLst>
                                          <p:attrName>ppt_h</p:attrName>
                                        </p:attrNameLst>
                                      </p:cBhvr>
                                      <p:tavLst>
                                        <p:tav tm="0">
                                          <p:val>
                                            <p:strVal val="0"/>
                                          </p:val>
                                        </p:tav>
                                        <p:tav tm="100000">
                                          <p:val>
                                            <p:strVal val="#ppt_h"/>
                                          </p:val>
                                        </p:tav>
                                      </p:tavLst>
                                    </p:anim>
                                  </p:childTnLst>
                                </p:cTn>
                              </p:par>
                            </p:childTnLst>
                          </p:cTn>
                        </p:par>
                        <p:par>
                          <p:cTn id="135" fill="hold">
                            <p:stCondLst>
                              <p:cond delay="150"/>
                            </p:stCondLst>
                            <p:childTnLst>
                              <p:par>
                                <p:cTn id="136" presetID="10" presetClass="entr" presetSubtype="0" fill="hold" grpId="0" nodeType="afterEffect">
                                  <p:stCondLst>
                                    <p:cond delay="0"/>
                                  </p:stCondLst>
                                  <p:childTnLst>
                                    <p:set>
                                      <p:cBhvr>
                                        <p:cTn id="137" dur="1" fill="hold">
                                          <p:stCondLst>
                                            <p:cond delay="0"/>
                                          </p:stCondLst>
                                        </p:cTn>
                                        <p:tgtEl>
                                          <p:spTgt spid="35"/>
                                        </p:tgtEl>
                                        <p:attrNameLst>
                                          <p:attrName>style.visibility</p:attrName>
                                        </p:attrNameLst>
                                      </p:cBhvr>
                                      <p:to>
                                        <p:strVal val="visible"/>
                                      </p:to>
                                    </p:set>
                                    <p:animEffect transition="in" filter="fade">
                                      <p:cBhvr>
                                        <p:cTn id="138" dur="550"/>
                                        <p:tgtEl>
                                          <p:spTgt spid="35"/>
                                        </p:tgtEl>
                                      </p:cBhvr>
                                    </p:animEffect>
                                  </p:childTnLst>
                                </p:cTn>
                              </p:par>
                            </p:childTnLst>
                          </p:cTn>
                        </p:par>
                        <p:par>
                          <p:cTn id="139" fill="hold">
                            <p:stCondLst>
                              <p:cond delay="350"/>
                            </p:stCondLst>
                            <p:childTnLst>
                              <p:par>
                                <p:cTn id="140" presetID="53" presetClass="entr" presetSubtype="16"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anim calcmode="lin" valueType="num">
                                      <p:cBhvr additive="base">
                                        <p:cTn id="143" dur="550" fill="hold"/>
                                        <p:tgtEl>
                                          <p:spTgt spid="36"/>
                                        </p:tgtEl>
                                        <p:attrNameLst>
                                          <p:attrName>ppt_w</p:attrName>
                                        </p:attrNameLst>
                                      </p:cBhvr>
                                      <p:tavLst>
                                        <p:tav tm="0">
                                          <p:val>
                                            <p:strVal val="0"/>
                                          </p:val>
                                        </p:tav>
                                        <p:tav tm="100000">
                                          <p:val>
                                            <p:strVal val="#ppt_w"/>
                                          </p:val>
                                        </p:tav>
                                      </p:tavLst>
                                    </p:anim>
                                    <p:anim calcmode="lin" valueType="num">
                                      <p:cBhvr additive="base">
                                        <p:cTn id="144" dur="550" fill="hold"/>
                                        <p:tgtEl>
                                          <p:spTgt spid="36"/>
                                        </p:tgtEl>
                                        <p:attrNameLst>
                                          <p:attrName>ppt_h</p:attrName>
                                        </p:attrNameLst>
                                      </p:cBhvr>
                                      <p:tavLst>
                                        <p:tav tm="0">
                                          <p:val>
                                            <p:strVal val="0"/>
                                          </p:val>
                                        </p:tav>
                                        <p:tav tm="100000">
                                          <p:val>
                                            <p:strVal val="#ppt_h"/>
                                          </p:val>
                                        </p:tav>
                                      </p:tavLst>
                                    </p:anim>
                                  </p:childTnLst>
                                </p:cTn>
                              </p:par>
                            </p:childTnLst>
                          </p:cTn>
                        </p:par>
                        <p:par>
                          <p:cTn id="145" fill="hold">
                            <p:stCondLst>
                              <p:cond delay="450"/>
                            </p:stCondLst>
                            <p:childTnLst>
                              <p:par>
                                <p:cTn id="146" presetID="10" presetClass="entr" presetSubtype="0" fill="hold" grpId="0" nodeType="after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8" dur="550"/>
                                        <p:tgtEl>
                                          <p:spTgt spid="37"/>
                                        </p:tgtEl>
                                      </p:cBhvr>
                                    </p:animEffect>
                                  </p:childTnLst>
                                </p:cTn>
                              </p:par>
                            </p:childTnLst>
                          </p:cTn>
                        </p:par>
                        <p:par>
                          <p:cTn id="149" fill="hold">
                            <p:stCondLst>
                              <p:cond delay="550"/>
                            </p:stCondLst>
                            <p:childTnLst>
                              <p:par>
                                <p:cTn id="150" presetID="2" presetClass="entr" presetSubtype="8"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 calcmode="lin" valueType="num">
                                      <p:cBhvr additive="base">
                                        <p:cTn id="153" dur="550" fill="hold"/>
                                        <p:tgtEl>
                                          <p:spTgt spid="38"/>
                                        </p:tgtEl>
                                        <p:attrNameLst>
                                          <p:attrName>ppt_x</p:attrName>
                                        </p:attrNameLst>
                                      </p:cBhvr>
                                      <p:tavLst>
                                        <p:tav tm="0">
                                          <p:val>
                                            <p:strVal val="0-#ppt_w/2"/>
                                          </p:val>
                                        </p:tav>
                                        <p:tav tm="100000">
                                          <p:val>
                                            <p:strVal val="#ppt_x"/>
                                          </p:val>
                                        </p:tav>
                                      </p:tavLst>
                                    </p:anim>
                                    <p:anim calcmode="lin" valueType="num">
                                      <p:cBhvr additive="base">
                                        <p:cTn id="154" dur="550" fill="hold"/>
                                        <p:tgtEl>
                                          <p:spTgt spid="38"/>
                                        </p:tgtEl>
                                        <p:attrNameLst>
                                          <p:attrName>ppt_y</p:attrName>
                                        </p:attrNameLst>
                                      </p:cBhvr>
                                      <p:tavLst>
                                        <p:tav tm="0">
                                          <p:val>
                                            <p:strVal val="#ppt_y"/>
                                          </p:val>
                                        </p:tav>
                                        <p:tav tm="100000">
                                          <p:val>
                                            <p:strVal val="#ppt_y"/>
                                          </p:val>
                                        </p:tav>
                                      </p:tavLst>
                                    </p:anim>
                                  </p:childTnLst>
                                </p:cTn>
                              </p:par>
                            </p:childTnLst>
                          </p:cTn>
                        </p:par>
                        <p:par>
                          <p:cTn id="155" fill="hold">
                            <p:stCondLst>
                              <p:cond delay="650"/>
                            </p:stCondLst>
                            <p:childTnLst>
                              <p:par>
                                <p:cTn id="156" presetID="22" presetClass="entr" presetSubtype="8" fill="hold" grpId="0" nodeType="afterEffect">
                                  <p:stCondLst>
                                    <p:cond delay="0"/>
                                  </p:stCondLst>
                                  <p:childTnLst>
                                    <p:set>
                                      <p:cBhvr>
                                        <p:cTn id="157" dur="1" fill="hold">
                                          <p:stCondLst>
                                            <p:cond delay="0"/>
                                          </p:stCondLst>
                                        </p:cTn>
                                        <p:tgtEl>
                                          <p:spTgt spid="39"/>
                                        </p:tgtEl>
                                        <p:attrNameLst>
                                          <p:attrName>style.visibility</p:attrName>
                                        </p:attrNameLst>
                                      </p:cBhvr>
                                      <p:to>
                                        <p:strVal val="visible"/>
                                      </p:to>
                                    </p:set>
                                    <p:animEffect transition="in" filter="wipe(left)">
                                      <p:cBhvr>
                                        <p:cTn id="159" dur="8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Laboratoriya topshirig'i: «ResNet-50/YOLOv8 inferens xizmatini Docker + Kubernetes'da bulutli uslubda va Jetson/Edge TPU'da chekka uslubda joylashtirish, ikki arxitekturani taqqoslash».</a:t>
            </a:r>
          </a:p>
        </p:txBody>
      </p:sp>
      <p:sp>
        <p:nvSpPr>
          <p:cNvPr id="28" name="Rounded Rectangle 27"/>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Talab qilinadigan muhit.</a:t>
            </a:r>
          </a:p>
          <a:p>
            <a:pPr>
              <a:spcBef>
                <a:spcPts val="400"/>
              </a:spcBef>
            </a:pPr>
            <a:r>
              <a:rPr sz="1400">
                <a:solidFill>
                  <a:srgbClr val="AEBBD9"/>
                </a:solidFill>
                <a:latin typeface="Segoe UI"/>
              </a:rPr>
              <a:t>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FastAPI inferens xizmati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FastAPI inferens xizmati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app/main.py</a:t>
            </a:r>
          </a:p>
          <a:p>
            <a:r>
              <a:rPr sz="1200">
                <a:solidFill>
                  <a:srgbClr val="DBE4F5"/>
                </a:solidFill>
                <a:latin typeface="Consolas"/>
              </a:rPr>
              <a:t>import os, io, time, numpy as np, onnxruntime as ort</a:t>
            </a:r>
          </a:p>
          <a:p>
            <a:r>
              <a:rPr sz="1200">
                <a:solidFill>
                  <a:srgbClr val="DBE4F5"/>
                </a:solidFill>
                <a:latin typeface="Consolas"/>
              </a:rPr>
              <a:t>from fastapi import FastAPI, File, UploadFile, HTTPException</a:t>
            </a:r>
          </a:p>
          <a:p>
            <a:r>
              <a:rPr sz="1200">
                <a:solidFill>
                  <a:srgbClr val="DBE4F5"/>
                </a:solidFill>
                <a:latin typeface="Consolas"/>
              </a:rPr>
              <a:t>from PIL import Image</a:t>
            </a:r>
          </a:p>
          <a:p>
            <a:r>
              <a:rPr sz="1200">
                <a:solidFill>
                  <a:srgbClr val="DBE4F5"/>
                </a:solidFill>
                <a:latin typeface="Consolas"/>
              </a:rPr>
              <a:t>from prometheus_fastapi_instrumentator import Instrumentator</a:t>
            </a:r>
          </a:p>
          <a:p>
            <a:r>
              <a:rPr sz="1200">
                <a:solidFill>
                  <a:srgbClr val="DBE4F5"/>
                </a:solidFill>
                <a:latin typeface="Consolas"/>
              </a:rPr>
              <a:t> </a:t>
            </a:r>
          </a:p>
          <a:p>
            <a:r>
              <a:rPr sz="1200">
                <a:solidFill>
                  <a:srgbClr val="DBE4F5"/>
                </a:solidFill>
                <a:latin typeface="Consolas"/>
              </a:rPr>
              <a:t>MODEL = os.getenv("MODEL_PATH", "/models/resnet50_int8.onnx")</a:t>
            </a:r>
          </a:p>
          <a:p>
            <a:r>
              <a:rPr sz="1200">
                <a:solidFill>
                  <a:srgbClr val="DBE4F5"/>
                </a:solidFill>
                <a:latin typeface="Consolas"/>
              </a:rPr>
              <a:t>PROVIDERS = os.getenv("ORT_PROVIDERS", "CPUExecutionProvider").split(",")</a:t>
            </a:r>
          </a:p>
          <a:p>
            <a:r>
              <a:rPr sz="1200">
                <a:solidFill>
                  <a:srgbClr val="DBE4F5"/>
                </a:solidFill>
                <a:latin typeface="Consolas"/>
              </a:rPr>
              <a:t>THREADS = int(os.getenv("ORT_THREADS", "2"))</a:t>
            </a:r>
          </a:p>
          <a:p>
            <a:r>
              <a:rPr sz="1200">
                <a:solidFill>
                  <a:srgbClr val="DBE4F5"/>
                </a:solidFill>
                <a:latin typeface="Consolas"/>
              </a:rPr>
              <a:t>MEAN = np.array([0.485, 0.456, 0.406], np.float32)[:, None, None]</a:t>
            </a:r>
          </a:p>
          <a:p>
            <a:r>
              <a:rPr sz="1200">
                <a:solidFill>
                  <a:srgbClr val="DBE4F5"/>
                </a:solidFill>
                <a:latin typeface="Consolas"/>
              </a:rPr>
              <a:t>STD = np.array([0.229, 0.224, 0.225], np.float32)[:, None, None]</a:t>
            </a:r>
          </a:p>
          <a:p>
            <a:r>
              <a:rPr sz="1200">
                <a:solidFill>
                  <a:srgbClr val="DBE4F5"/>
                </a:solidFill>
                <a:latin typeface="Consolas"/>
              </a:rPr>
              <a:t> </a:t>
            </a:r>
          </a:p>
          <a:p>
            <a:r>
              <a:rPr sz="1200">
                <a:solidFill>
                  <a:srgbClr val="DBE4F5"/>
                </a:solidFill>
                <a:latin typeface="Consolas"/>
              </a:rPr>
              <a:t>app = FastAPI(title="rn50-infer")</a:t>
            </a:r>
          </a:p>
          <a:p>
            <a:r>
              <a:rPr sz="1200">
                <a:solidFill>
                  <a:srgbClr val="DBE4F5"/>
                </a:solidFill>
                <a:latin typeface="Consolas"/>
              </a:rPr>
              <a:t>Instrumentator().instrument(app).expose(app, endpoint="/metrics")   # Prometheus /metrics</a:t>
            </a:r>
          </a:p>
          <a:p>
            <a:r>
              <a:rPr sz="1200">
                <a:solidFill>
                  <a:srgbClr val="DBE4F5"/>
                </a:solidFill>
                <a:latin typeface="Consolas"/>
              </a:rPr>
              <a:t>state = {"ready": False, "session": None, "labels": None}</a:t>
            </a:r>
          </a:p>
          <a:p>
            <a:r>
              <a:rPr sz="1200">
                <a:solidFill>
                  <a:srgbClr val="DBE4F5"/>
                </a:solidFill>
                <a:latin typeface="Consolas"/>
              </a:rPr>
              <a:t> </a:t>
            </a:r>
          </a:p>
          <a:p>
            <a:r>
              <a:rPr sz="1200">
                <a:solidFill>
                  <a:srgbClr val="DBE4F5"/>
                </a:solidFill>
                <a:latin typeface="Consolas"/>
              </a:rPr>
              <a:t>@app.on_event("startup")</a:t>
            </a:r>
          </a:p>
          <a:p>
            <a:r>
              <a:rPr sz="1200">
                <a:solidFill>
                  <a:srgbClr val="DBE4F5"/>
                </a:solidFill>
                <a:latin typeface="Consolas"/>
              </a:rPr>
              <a:t>def load():</a:t>
            </a:r>
          </a:p>
          <a:p>
            <a:r>
              <a:rPr sz="1200">
                <a:solidFill>
                  <a:srgbClr val="DBE4F5"/>
                </a:solidFill>
                <a:latin typeface="Consolas"/>
              </a:rPr>
              <a:t>    so = ort.SessionOptions(); so.intra_op_num_threads = THREADS</a:t>
            </a:r>
          </a:p>
          <a:p>
            <a:r>
              <a:rPr sz="1200">
                <a:solidFill>
                  <a:srgbClr val="DBE4F5"/>
                </a:solidFill>
                <a:latin typeface="Consolas"/>
              </a:rPr>
              <a:t>    so.graph_optimization_level = ort.GraphOptimizationLevel.ORT_ENABLE_ALL</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Ko'p bosqichli Dockerfile va mahalliy sinov</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Kutilgan natija (4 vCPU noutbuk, INT8 model, --cpus=2, taxminiy): tasvir hajmi ~480 MB; ishga tushish 3–4 s; bitta so'rov — preprocess 4 ms + inferens 14 ms; hey 8 parallel mijoz bilan: ~95 so'rov/s, p50 80 ms, p95 130 ms (2 CPU'da navbat tufayli).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Ko'p bosqichli Dockerfile va mahalliy sinov — kod 1</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Dockerfile  (CPU varianti; GPU uchun asos tasvirni nvidia/cuda:12.4.1-runtime-ubuntu22.04 ga va onnxruntime-gpu ga alm</a:t>
            </a:r>
          </a:p>
          <a:p>
            <a:r>
              <a:rPr sz="1000">
                <a:solidFill>
                  <a:srgbClr val="DBE4F5"/>
                </a:solidFill>
                <a:latin typeface="Consolas"/>
              </a:rPr>
              <a:t>FROM python:3.11-slim AS builder</a:t>
            </a:r>
          </a:p>
          <a:p>
            <a:r>
              <a:rPr sz="1000">
                <a:solidFill>
                  <a:srgbClr val="DBE4F5"/>
                </a:solidFill>
                <a:latin typeface="Consolas"/>
              </a:rPr>
              <a:t>WORKDIR /build</a:t>
            </a:r>
          </a:p>
          <a:p>
            <a:r>
              <a:rPr sz="1000">
                <a:solidFill>
                  <a:srgbClr val="DBE4F5"/>
                </a:solidFill>
                <a:latin typeface="Consolas"/>
              </a:rPr>
              <a:t>COPY requirements.txt .</a:t>
            </a:r>
          </a:p>
          <a:p>
            <a:r>
              <a:rPr sz="1000">
                <a:solidFill>
                  <a:srgbClr val="DBE4F5"/>
                </a:solidFill>
                <a:latin typeface="Consolas"/>
              </a:rPr>
              <a:t>RUN pip install --no-cache-dir --prefix=/install -r requirements.txt</a:t>
            </a:r>
          </a:p>
          <a:p>
            <a:r>
              <a:rPr sz="1000">
                <a:solidFill>
                  <a:srgbClr val="DBE4F5"/>
                </a:solidFill>
                <a:latin typeface="Consolas"/>
              </a:rPr>
              <a:t> </a:t>
            </a:r>
          </a:p>
          <a:p>
            <a:r>
              <a:rPr sz="1000">
                <a:solidFill>
                  <a:srgbClr val="DBE4F5"/>
                </a:solidFill>
                <a:latin typeface="Consolas"/>
              </a:rPr>
              <a:t>FROM python:3.11-slim</a:t>
            </a:r>
          </a:p>
          <a:p>
            <a:r>
              <a:rPr sz="1000">
                <a:solidFill>
                  <a:srgbClr val="DBE4F5"/>
                </a:solidFill>
                <a:latin typeface="Consolas"/>
              </a:rPr>
              <a:t>RUN useradd -m -u 10001 infer &amp;&amp; mkdir -p /models &amp;&amp; chown infer /models</a:t>
            </a:r>
          </a:p>
          <a:p>
            <a:r>
              <a:rPr sz="1000">
                <a:solidFill>
                  <a:srgbClr val="DBE4F5"/>
                </a:solidFill>
                <a:latin typeface="Consolas"/>
              </a:rPr>
              <a:t>COPY --from=builder /install /usr/local</a:t>
            </a:r>
          </a:p>
          <a:p>
            <a:r>
              <a:rPr sz="1000">
                <a:solidFill>
                  <a:srgbClr val="DBE4F5"/>
                </a:solidFill>
                <a:latin typeface="Consolas"/>
              </a:rPr>
              <a:t>WORKDIR /app</a:t>
            </a:r>
          </a:p>
          <a:p>
            <a:r>
              <a:rPr sz="1000">
                <a:solidFill>
                  <a:srgbClr val="DBE4F5"/>
                </a:solidFill>
                <a:latin typeface="Consolas"/>
              </a:rPr>
              <a:t>COPY app/ /app/</a:t>
            </a:r>
          </a:p>
          <a:p>
            <a:r>
              <a:rPr sz="1000">
                <a:solidFill>
                  <a:srgbClr val="DBE4F5"/>
                </a:solidFill>
                <a:latin typeface="Consolas"/>
              </a:rPr>
              <a:t>COPY imagenet_classes.txt /app/</a:t>
            </a:r>
          </a:p>
          <a:p>
            <a:r>
              <a:rPr sz="1000">
                <a:solidFill>
                  <a:srgbClr val="DBE4F5"/>
                </a:solidFill>
                <a:latin typeface="Consolas"/>
              </a:rPr>
              <a:t>USER infer</a:t>
            </a:r>
          </a:p>
          <a:p>
            <a:r>
              <a:rPr sz="1000">
                <a:solidFill>
                  <a:srgbClr val="DBE4F5"/>
                </a:solidFill>
                <a:latin typeface="Consolas"/>
              </a:rPr>
              <a:t>ENV MODEL_PATH=/models/resnet50_int8.onnx ORT_THREADS=2 PYTHONUNBUFFERED=1</a:t>
            </a:r>
          </a:p>
          <a:p>
            <a:r>
              <a:rPr sz="1000">
                <a:solidFill>
                  <a:srgbClr val="DBE4F5"/>
                </a:solidFill>
                <a:latin typeface="Consolas"/>
              </a:rPr>
              <a:t>EXPOSE 8000</a:t>
            </a:r>
          </a:p>
          <a:p>
            <a:r>
              <a:rPr sz="1000">
                <a:solidFill>
                  <a:srgbClr val="DBE4F5"/>
                </a:solidFill>
                <a:latin typeface="Consolas"/>
              </a:rPr>
              <a:t>HEALTHCHECK --interval=10s --timeout=3s --start-period=20s CMD python -c "import urllib.request;urllib.request.urlopen('</a:t>
            </a:r>
          </a:p>
          <a:p>
            <a:r>
              <a:rPr sz="1000">
                <a:solidFill>
                  <a:srgbClr val="DBE4F5"/>
                </a:solidFill>
                <a:latin typeface="Consolas"/>
              </a:rPr>
              <a:t>CMD ["uvicorn", "main:app", "--host", "0.0.0.0", "--port", "8000", "--workers",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Ko'p bosqichli Dockerfile va mahalliy sinov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requirements.txt: fastapi==0.110.* uvicorn[standard]==0.29.* onnxruntime==1.17.* numpy pillow python-multipart prometh</a:t>
            </a:r>
          </a:p>
          <a:p>
            <a:r>
              <a:rPr sz="1000">
                <a:solidFill>
                  <a:srgbClr val="DBE4F5"/>
                </a:solidFill>
                <a:latin typeface="Consolas"/>
              </a:rPr>
              <a:t>docker build -t rn50-infer:1.0 .</a:t>
            </a:r>
          </a:p>
          <a:p>
            <a:r>
              <a:rPr sz="1000">
                <a:solidFill>
                  <a:srgbClr val="DBE4F5"/>
                </a:solidFill>
                <a:latin typeface="Consolas"/>
              </a:rPr>
              <a:t>docker images rn50-infer                       # hajm: ~480 MB (slim + ORT); devel/pytorch asosida 4 GB dan ortiq bo'lar</a:t>
            </a:r>
          </a:p>
          <a:p>
            <a:r>
              <a:rPr sz="1000">
                <a:solidFill>
                  <a:srgbClr val="DBE4F5"/>
                </a:solidFill>
                <a:latin typeface="Consolas"/>
              </a:rPr>
              <a:t>docker run -d --name rn50 -p 8000:8000 -v $PWD/models:/models:ro --cpus=2 --memory=1g rn50-infer:1.0</a:t>
            </a:r>
          </a:p>
          <a:p>
            <a:r>
              <a:rPr sz="1000">
                <a:solidFill>
                  <a:srgbClr val="DBE4F5"/>
                </a:solidFill>
                <a:latin typeface="Consolas"/>
              </a:rPr>
              <a:t>time curl -sf localhost:8000/readyz            # ~3 s dan keyin tayyor</a:t>
            </a:r>
          </a:p>
          <a:p>
            <a:r>
              <a:rPr sz="1000">
                <a:solidFill>
                  <a:srgbClr val="DBE4F5"/>
                </a:solidFill>
                <a:latin typeface="Consolas"/>
              </a:rPr>
              <a:t>curl -s -F file=@cat.jpg localhost:8000/predict | python -m json.tool</a:t>
            </a:r>
          </a:p>
          <a:p>
            <a:r>
              <a:rPr sz="1000">
                <a:solidFill>
                  <a:srgbClr val="DBE4F5"/>
                </a:solidFill>
                <a:latin typeface="Consolas"/>
              </a:rPr>
              <a:t>hey -z 30s -c 8 -m POST -D cat.jpg -T multipart/form-data localhost:8000/predict   # yuklama sinovi (hey o'rniga locust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Kubernetes manifestlari va minikube'da joylash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271520"/>
            <a:ext cx="5900000" cy="1423480"/>
          </a:xfrm>
          <a:prstGeom prst="rect">
            <a:avLst/>
          </a:prstGeom>
          <a:noFill/>
        </p:spPr>
        <p:txBody>
          <a:bodyPr wrap="square" anchor="ctr">
            <a:spAutoFit/>
          </a:bodyPr>
          <a:lstStyle/>
          <a:p>
            <a:r>
              <a:rPr sz="1400" b="0">
                <a:solidFill>
                  <a:srgbClr val="E8EEFA"/>
                </a:solidFill>
                <a:latin typeface="Segoe UI"/>
              </a:rPr>
              <a:t>Kutilgan natija (taxminiy, 4 vCPU minikube): yuklama boshlanganidan 45–60 s o'tib HPA nusxalar sonini 2 → 4 ga oshiradi (CPU 60 % chegarasi oshganda; kubectl top pods har Pod'da 1400–1900m ko'rsatadi); throughput 2 nusxada ~140 so'rov/s dan 4 nusxada ~250…</a:t>
            </a:r>
          </a:p>
        </p:txBody>
      </p:sp>
      <p:sp>
        <p:nvSpPr>
          <p:cNvPr id="31" name="Rounded Rectangle 30"/>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Deklarativ manifest «istalgan holat»ni tavsifladi, K8s boshqaruvchisi uni ta'minladi: Pod yiqilsa qayta yaratadi, yuklama o'ssa nusxa qo'shadi, yangilash paytida eski nusxani yangisi tayyor bo'lgandagina to'xtatadi.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Kubernetes manifestlari va minikube'da joylash — kod 1</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k8s/deployment.yaml</a:t>
            </a:r>
          </a:p>
          <a:p>
            <a:r>
              <a:rPr sz="1000">
                <a:solidFill>
                  <a:srgbClr val="DBE4F5"/>
                </a:solidFill>
                <a:latin typeface="Consolas"/>
              </a:rPr>
              <a:t>apiVersion: apps/v1</a:t>
            </a:r>
          </a:p>
          <a:p>
            <a:r>
              <a:rPr sz="1000">
                <a:solidFill>
                  <a:srgbClr val="DBE4F5"/>
                </a:solidFill>
                <a:latin typeface="Consolas"/>
              </a:rPr>
              <a:t>kind: Deployment</a:t>
            </a:r>
          </a:p>
          <a:p>
            <a:r>
              <a:rPr sz="1000">
                <a:solidFill>
                  <a:srgbClr val="DBE4F5"/>
                </a:solidFill>
                <a:latin typeface="Consolas"/>
              </a:rPr>
              <a:t>metadata: { name: rn50-infer, labels: { app: rn50-infer } }</a:t>
            </a:r>
          </a:p>
          <a:p>
            <a:r>
              <a:rPr sz="1000">
                <a:solidFill>
                  <a:srgbClr val="DBE4F5"/>
                </a:solidFill>
                <a:latin typeface="Consolas"/>
              </a:rPr>
              <a:t>spec:</a:t>
            </a:r>
          </a:p>
          <a:p>
            <a:r>
              <a:rPr sz="1000">
                <a:solidFill>
                  <a:srgbClr val="DBE4F5"/>
                </a:solidFill>
                <a:latin typeface="Consolas"/>
              </a:rPr>
              <a:t>  replicas: 2</a:t>
            </a:r>
          </a:p>
          <a:p>
            <a:r>
              <a:rPr sz="1000">
                <a:solidFill>
                  <a:srgbClr val="DBE4F5"/>
                </a:solidFill>
                <a:latin typeface="Consolas"/>
              </a:rPr>
              <a:t>  strategy: { type: RollingUpdate, rollingUpdate: { maxUnavailable: 0, maxSurge: 1 } }</a:t>
            </a:r>
          </a:p>
          <a:p>
            <a:r>
              <a:rPr sz="1000">
                <a:solidFill>
                  <a:srgbClr val="DBE4F5"/>
                </a:solidFill>
                <a:latin typeface="Consolas"/>
              </a:rPr>
              <a:t>  selector: { matchLabels: { app: rn50-infer } }</a:t>
            </a:r>
          </a:p>
          <a:p>
            <a:r>
              <a:rPr sz="1000">
                <a:solidFill>
                  <a:srgbClr val="DBE4F5"/>
                </a:solidFill>
                <a:latin typeface="Consolas"/>
              </a:rPr>
              <a:t>  template:</a:t>
            </a:r>
          </a:p>
          <a:p>
            <a:r>
              <a:rPr sz="1000">
                <a:solidFill>
                  <a:srgbClr val="DBE4F5"/>
                </a:solidFill>
                <a:latin typeface="Consolas"/>
              </a:rPr>
              <a:t>    metadata:</a:t>
            </a:r>
          </a:p>
          <a:p>
            <a:r>
              <a:rPr sz="1000">
                <a:solidFill>
                  <a:srgbClr val="DBE4F5"/>
                </a:solidFill>
                <a:latin typeface="Consolas"/>
              </a:rPr>
              <a:t>      labels: { app: rn50-infer }</a:t>
            </a:r>
          </a:p>
          <a:p>
            <a:r>
              <a:rPr sz="1000">
                <a:solidFill>
                  <a:srgbClr val="DBE4F5"/>
                </a:solidFill>
                <a:latin typeface="Consolas"/>
              </a:rPr>
              <a:t>      annotations: { prometheus.io/scrape: "true", prometheus.io/port: "8000", prometheus.io/path: "/metrics" }</a:t>
            </a:r>
          </a:p>
          <a:p>
            <a:r>
              <a:rPr sz="1000">
                <a:solidFill>
                  <a:srgbClr val="DBE4F5"/>
                </a:solidFill>
                <a:latin typeface="Consolas"/>
              </a:rPr>
              <a:t>    spec:</a:t>
            </a:r>
          </a:p>
          <a:p>
            <a:r>
              <a:rPr sz="1000">
                <a:solidFill>
                  <a:srgbClr val="DBE4F5"/>
                </a:solidFill>
                <a:latin typeface="Consolas"/>
              </a:rPr>
              <a:t>      securityContext: { runAsNonRoot: true, runAsUser: 10001 }</a:t>
            </a:r>
          </a:p>
          <a:p>
            <a:r>
              <a:rPr sz="1000">
                <a:solidFill>
                  <a:srgbClr val="DBE4F5"/>
                </a:solidFill>
                <a:latin typeface="Consolas"/>
              </a:rPr>
              <a:t>      containers:</a:t>
            </a:r>
          </a:p>
          <a:p>
            <a:r>
              <a:rPr sz="1000">
                <a:solidFill>
                  <a:srgbClr val="DBE4F5"/>
                </a:solidFill>
                <a:latin typeface="Consolas"/>
              </a:rPr>
              <a:t>        - name: infer</a:t>
            </a:r>
          </a:p>
          <a:p>
            <a:r>
              <a:rPr sz="1000">
                <a:solidFill>
                  <a:srgbClr val="DBE4F5"/>
                </a:solidFill>
                <a:latin typeface="Consolas"/>
              </a:rPr>
              <a:t>          image: rn50-infer:1.0</a:t>
            </a:r>
          </a:p>
          <a:p>
            <a:r>
              <a:rPr sz="1000">
                <a:solidFill>
                  <a:srgbClr val="DBE4F5"/>
                </a:solidFill>
                <a:latin typeface="Consolas"/>
              </a:rPr>
              <a:t>          imagePullPolicy: IfNotPresent</a:t>
            </a:r>
          </a:p>
          <a:p>
            <a:r>
              <a:rPr sz="1000">
                <a:solidFill>
                  <a:srgbClr val="DBE4F5"/>
                </a:solidFill>
                <a:latin typeface="Consolas"/>
              </a:rPr>
              <a:t>          ports: [{ containerPort: 8000 }]</a:t>
            </a:r>
          </a:p>
          <a:p>
            <a:r>
              <a:rPr sz="1000">
                <a:solidFill>
                  <a:srgbClr val="DBE4F5"/>
                </a:solidFill>
                <a:latin typeface="Consolas"/>
              </a:rPr>
              <a:t>          env:</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Kubernetes manifestlari va minikube'da joylash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DBE4F5"/>
                </a:solidFill>
                <a:latin typeface="Consolas"/>
              </a:rPr>
              <a:t>minikube start --cpus=4 --memory=8g --driver=docker</a:t>
            </a:r>
          </a:p>
          <a:p>
            <a:r>
              <a:rPr sz="1000">
                <a:solidFill>
                  <a:srgbClr val="DBE4F5"/>
                </a:solidFill>
                <a:latin typeface="Consolas"/>
              </a:rPr>
              <a:t>minikube addons enable metrics-server</a:t>
            </a:r>
          </a:p>
          <a:p>
            <a:r>
              <a:rPr sz="1000">
                <a:solidFill>
                  <a:srgbClr val="DBE4F5"/>
                </a:solidFill>
                <a:latin typeface="Consolas"/>
              </a:rPr>
              <a:t>minikube image load rn50-infer:1.0                      # mahalliy tasvirni klasterga yuklash</a:t>
            </a:r>
          </a:p>
          <a:p>
            <a:r>
              <a:rPr sz="1000">
                <a:solidFill>
                  <a:srgbClr val="DBE4F5"/>
                </a:solidFill>
                <a:latin typeface="Consolas"/>
              </a:rPr>
              <a:t>minikube ssh -- sudo mkdir -p /data/models &amp;&amp; minikube cp models/resnet50_int8.onnx /data/models/resnet50_int8.onnx</a:t>
            </a:r>
          </a:p>
          <a:p>
            <a:r>
              <a:rPr sz="1000">
                <a:solidFill>
                  <a:srgbClr val="DBE4F5"/>
                </a:solidFill>
                <a:latin typeface="Consolas"/>
              </a:rPr>
              <a:t>kubectl apply -f k8s/</a:t>
            </a:r>
          </a:p>
          <a:p>
            <a:r>
              <a:rPr sz="1000">
                <a:solidFill>
                  <a:srgbClr val="DBE4F5"/>
                </a:solidFill>
                <a:latin typeface="Consolas"/>
              </a:rPr>
              <a:t>kubectl rollout status deployment/rn50-infer</a:t>
            </a:r>
          </a:p>
          <a:p>
            <a:r>
              <a:rPr sz="1000">
                <a:solidFill>
                  <a:srgbClr val="DBE4F5"/>
                </a:solidFill>
                <a:latin typeface="Consolas"/>
              </a:rPr>
              <a:t>kubectl get pods -o wide                                # 2 ta Pod Running, READY 1/1</a:t>
            </a:r>
          </a:p>
          <a:p>
            <a:r>
              <a:rPr sz="1000">
                <a:solidFill>
                  <a:srgbClr val="DBE4F5"/>
                </a:solidFill>
                <a:latin typeface="Consolas"/>
              </a:rPr>
              <a:t>URL=$(minikube service rn50-infer --url)</a:t>
            </a:r>
          </a:p>
          <a:p>
            <a:r>
              <a:rPr sz="1000">
                <a:solidFill>
                  <a:srgbClr val="DBE4F5"/>
                </a:solidFill>
                <a:latin typeface="Consolas"/>
              </a:rPr>
              <a:t>hey -z 120s -c 32 -m POST -D cat.jpg -T multipart/form-data $URL/predict &amp;</a:t>
            </a:r>
          </a:p>
          <a:p>
            <a:r>
              <a:rPr sz="1000">
                <a:solidFill>
                  <a:srgbClr val="DBE4F5"/>
                </a:solidFill>
                <a:latin typeface="Consolas"/>
              </a:rPr>
              <a:t>watch -n 5 'kubectl get hpa rn50-infer; kubectl top pods'</a:t>
            </a:r>
          </a:p>
          <a:p>
            <a:r>
              <a:rPr sz="1000">
                <a:solidFill>
                  <a:srgbClr val="6EE7B7"/>
                </a:solidFill>
                <a:latin typeface="Consolas"/>
              </a:rPr>
              <a:t># yangilanish: model v2 ConfigMap orqali</a:t>
            </a:r>
          </a:p>
          <a:p>
            <a:r>
              <a:rPr sz="1000">
                <a:solidFill>
                  <a:srgbClr val="DBE4F5"/>
                </a:solidFill>
                <a:latin typeface="Consolas"/>
              </a:rPr>
              <a:t>kubectl set image deployment/rn50-infer infer=rn50-infer:1.1 &amp;&amp; kubectl rollout status deployment/rn50-infer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Kutilgan natija (Jetson Orin NX 16 GB, 25 Vt rejimi, batch 1, taxminiy):</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graphicFrame>
        <p:nvGraphicFramePr>
          <p:cNvPr id="25" name="Table 24"/>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Konfiguratsiya</a:t>
                      </a:r>
                    </a:p>
                  </a:txBody>
                  <a:tcPr>
                    <a:solidFill>
                      <a:srgbClr val="1C2755"/>
                    </a:solidFill>
                  </a:tcPr>
                </a:tc>
                <a:tc>
                  <a:txBody>
                    <a:bodyPr/>
                    <a:lstStyle/>
                    <a:p>
                      <a:r>
                        <a:rPr sz="1200" b="1">
                          <a:solidFill>
                            <a:srgbClr val="22D3EE"/>
                          </a:solidFill>
                          <a:latin typeface="Segoe UI"/>
                        </a:rPr>
                        <a:t>p50, ms</a:t>
                      </a:r>
                    </a:p>
                  </a:txBody>
                  <a:tcPr>
                    <a:solidFill>
                      <a:srgbClr val="1C2755"/>
                    </a:solidFill>
                  </a:tcPr>
                </a:tc>
                <a:tc>
                  <a:txBody>
                    <a:bodyPr/>
                    <a:lstStyle/>
                    <a:p>
                      <a:r>
                        <a:rPr sz="1200" b="1">
                          <a:solidFill>
                            <a:srgbClr val="22D3EE"/>
                          </a:solidFill>
                          <a:latin typeface="Segoe UI"/>
                        </a:rPr>
                        <a:t>p95, ms</a:t>
                      </a:r>
                    </a:p>
                  </a:txBody>
                  <a:tcPr>
                    <a:solidFill>
                      <a:srgbClr val="1C2755"/>
                    </a:solidFill>
                  </a:tcPr>
                </a:tc>
                <a:tc>
                  <a:txBody>
                    <a:bodyPr/>
                    <a:lstStyle/>
                    <a:p>
                      <a:r>
                        <a:rPr sz="1200" b="1">
                          <a:solidFill>
                            <a:srgbClr val="22D3EE"/>
                          </a:solidFill>
                          <a:latin typeface="Segoe UI"/>
                        </a:rPr>
                        <a:t>Throughput, rasm/s</a:t>
                      </a:r>
                    </a:p>
                  </a:txBody>
                  <a:tcPr>
                    <a:solidFill>
                      <a:srgbClr val="1C2755"/>
                    </a:solidFill>
                  </a:tcPr>
                </a:tc>
                <a:tc>
                  <a:txBody>
                    <a:bodyPr/>
                    <a:lstStyle/>
                    <a:p>
                      <a:r>
                        <a:rPr sz="1200" b="1">
                          <a:solidFill>
                            <a:srgbClr val="22D3EE"/>
                          </a:solidFill>
                          <a:latin typeface="Segoe UI"/>
                        </a:rPr>
                        <a:t>VDD_IN o'rtacha, Vt</a:t>
                      </a:r>
                    </a:p>
                  </a:txBody>
                  <a:tcPr>
                    <a:solidFill>
                      <a:srgbClr val="1C2755"/>
                    </a:solidFill>
                  </a:tcPr>
                </a:tc>
                <a:tc>
                  <a:txBody>
                    <a:bodyPr/>
                    <a:lstStyle/>
                    <a:p>
                      <a:r>
                        <a:rPr sz="1200" b="1">
                          <a:solidFill>
                            <a:srgbClr val="22D3EE"/>
                          </a:solidFill>
                          <a:latin typeface="Segoe UI"/>
                        </a:rPr>
                        <a:t>mJ/rasm</a:t>
                      </a:r>
                    </a:p>
                  </a:txBody>
                  <a:tcPr>
                    <a:solidFill>
                      <a:srgbClr val="1C2755"/>
                    </a:solidFill>
                  </a:tcPr>
                </a:tc>
              </a:tr>
              <a:tr h="520000">
                <a:tc>
                  <a:txBody>
                    <a:bodyPr/>
                    <a:lstStyle/>
                    <a:p>
                      <a:r>
                        <a:rPr sz="1200" b="0">
                          <a:solidFill>
                            <a:srgbClr val="E8EEFA"/>
                          </a:solidFill>
                          <a:latin typeface="Segoe UI"/>
                        </a:rPr>
                        <a:t>TensorRT FP16</a:t>
                      </a:r>
                    </a:p>
                  </a:txBody>
                  <a:tcPr>
                    <a:solidFill>
                      <a:srgbClr val="111834"/>
                    </a:solidFill>
                  </a:tcPr>
                </a:tc>
                <a:tc>
                  <a:txBody>
                    <a:bodyPr/>
                    <a:lstStyle/>
                    <a:p>
                      <a:r>
                        <a:rPr sz="1200" b="0">
                          <a:solidFill>
                            <a:srgbClr val="E8EEFA"/>
                          </a:solidFill>
                          <a:latin typeface="Segoe UI"/>
                        </a:rPr>
                        <a:t>4,1</a:t>
                      </a:r>
                    </a:p>
                  </a:txBody>
                  <a:tcPr>
                    <a:solidFill>
                      <a:srgbClr val="111834"/>
                    </a:solidFill>
                  </a:tcPr>
                </a:tc>
                <a:tc>
                  <a:txBody>
                    <a:bodyPr/>
                    <a:lstStyle/>
                    <a:p>
                      <a:r>
                        <a:rPr sz="1200" b="0">
                          <a:solidFill>
                            <a:srgbClr val="E8EEFA"/>
                          </a:solidFill>
                          <a:latin typeface="Segoe UI"/>
                        </a:rPr>
                        <a:t>4,5</a:t>
                      </a:r>
                    </a:p>
                  </a:txBody>
                  <a:tcPr>
                    <a:solidFill>
                      <a:srgbClr val="111834"/>
                    </a:solidFill>
                  </a:tcPr>
                </a:tc>
                <a:tc>
                  <a:txBody>
                    <a:bodyPr/>
                    <a:lstStyle/>
                    <a:p>
                      <a:r>
                        <a:rPr sz="1200" b="0">
                          <a:solidFill>
                            <a:srgbClr val="E8EEFA"/>
                          </a:solidFill>
                          <a:latin typeface="Segoe UI"/>
                        </a:rPr>
                        <a:t>240</a:t>
                      </a:r>
                    </a:p>
                  </a:txBody>
                  <a:tcPr>
                    <a:solidFill>
                      <a:srgbClr val="111834"/>
                    </a:solidFill>
                  </a:tcPr>
                </a:tc>
                <a:tc>
                  <a:txBody>
                    <a:bodyPr/>
                    <a:lstStyle/>
                    <a:p>
                      <a:r>
                        <a:rPr sz="1200" b="0">
                          <a:solidFill>
                            <a:srgbClr val="E8EEFA"/>
                          </a:solidFill>
                          <a:latin typeface="Segoe UI"/>
                        </a:rPr>
                        <a:t>14,5</a:t>
                      </a:r>
                    </a:p>
                  </a:txBody>
                  <a:tcPr>
                    <a:solidFill>
                      <a:srgbClr val="111834"/>
                    </a:solidFill>
                  </a:tcPr>
                </a:tc>
                <a:tc>
                  <a:txBody>
                    <a:bodyPr/>
                    <a:lstStyle/>
                    <a:p>
                      <a:r>
                        <a:rPr sz="1200" b="0">
                          <a:solidFill>
                            <a:srgbClr val="E8EEFA"/>
                          </a:solidFill>
                          <a:latin typeface="Segoe UI"/>
                        </a:rPr>
                        <a:t>60</a:t>
                      </a:r>
                    </a:p>
                  </a:txBody>
                  <a:tcPr>
                    <a:solidFill>
                      <a:srgbClr val="111834"/>
                    </a:solidFill>
                  </a:tcPr>
                </a:tc>
              </a:tr>
              <a:tr h="520000">
                <a:tc>
                  <a:txBody>
                    <a:bodyPr/>
                    <a:lstStyle/>
                    <a:p>
                      <a:r>
                        <a:rPr sz="1200" b="0">
                          <a:solidFill>
                            <a:srgbClr val="E8EEFA"/>
                          </a:solidFill>
                          <a:latin typeface="Segoe UI"/>
                        </a:rPr>
                        <a:t>TensorRT INT8</a:t>
                      </a:r>
                    </a:p>
                  </a:txBody>
                  <a:tcPr>
                    <a:solidFill>
                      <a:srgbClr val="161F40"/>
                    </a:solidFill>
                  </a:tcPr>
                </a:tc>
                <a:tc>
                  <a:txBody>
                    <a:bodyPr/>
                    <a:lstStyle/>
                    <a:p>
                      <a:r>
                        <a:rPr sz="1200" b="0">
                          <a:solidFill>
                            <a:srgbClr val="E8EEFA"/>
                          </a:solidFill>
                          <a:latin typeface="Segoe UI"/>
                        </a:rPr>
                        <a:t>2,6</a:t>
                      </a:r>
                    </a:p>
                  </a:txBody>
                  <a:tcPr>
                    <a:solidFill>
                      <a:srgbClr val="161F40"/>
                    </a:solidFill>
                  </a:tcPr>
                </a:tc>
                <a:tc>
                  <a:txBody>
                    <a:bodyPr/>
                    <a:lstStyle/>
                    <a:p>
                      <a:r>
                        <a:rPr sz="1200" b="0">
                          <a:solidFill>
                            <a:srgbClr val="E8EEFA"/>
                          </a:solidFill>
                          <a:latin typeface="Segoe UI"/>
                        </a:rPr>
                        <a:t>2,9</a:t>
                      </a:r>
                    </a:p>
                  </a:txBody>
                  <a:tcPr>
                    <a:solidFill>
                      <a:srgbClr val="161F40"/>
                    </a:solidFill>
                  </a:tcPr>
                </a:tc>
                <a:tc>
                  <a:txBody>
                    <a:bodyPr/>
                    <a:lstStyle/>
                    <a:p>
                      <a:r>
                        <a:rPr sz="1200" b="0">
                          <a:solidFill>
                            <a:srgbClr val="E8EEFA"/>
                          </a:solidFill>
                          <a:latin typeface="Segoe UI"/>
                        </a:rPr>
                        <a:t>380</a:t>
                      </a:r>
                    </a:p>
                  </a:txBody>
                  <a:tcPr>
                    <a:solidFill>
                      <a:srgbClr val="161F40"/>
                    </a:solidFill>
                  </a:tcPr>
                </a:tc>
                <a:tc>
                  <a:txBody>
                    <a:bodyPr/>
                    <a:lstStyle/>
                    <a:p>
                      <a:r>
                        <a:rPr sz="1200" b="0">
                          <a:solidFill>
                            <a:srgbClr val="E8EEFA"/>
                          </a:solidFill>
                          <a:latin typeface="Segoe UI"/>
                        </a:rPr>
                        <a:t>15,0</a:t>
                      </a:r>
                    </a:p>
                  </a:txBody>
                  <a:tcPr>
                    <a:solidFill>
                      <a:srgbClr val="161F40"/>
                    </a:solidFill>
                  </a:tcPr>
                </a:tc>
                <a:tc>
                  <a:txBody>
                    <a:bodyPr/>
                    <a:lstStyle/>
                    <a:p>
                      <a:r>
                        <a:rPr sz="1200" b="0">
                          <a:solidFill>
                            <a:srgbClr val="E8EEFA"/>
                          </a:solidFill>
                          <a:latin typeface="Segoe UI"/>
                        </a:rPr>
                        <a:t>39</a:t>
                      </a:r>
                    </a:p>
                  </a:txBody>
                  <a:tcPr>
                    <a:solidFill>
                      <a:srgbClr val="161F40"/>
                    </a:solidFill>
                  </a:tcPr>
                </a:tc>
              </a:tr>
              <a:tr h="520000">
                <a:tc>
                  <a:txBody>
                    <a:bodyPr/>
                    <a:lstStyle/>
                    <a:p>
                      <a:r>
                        <a:rPr sz="1200" b="0">
                          <a:solidFill>
                            <a:srgbClr val="E8EEFA"/>
                          </a:solidFill>
                          <a:latin typeface="Segoe UI"/>
                        </a:rPr>
                        <a:t>INT8, 10 Vt rejimi</a:t>
                      </a:r>
                    </a:p>
                  </a:txBody>
                  <a:tcPr>
                    <a:solidFill>
                      <a:srgbClr val="111834"/>
                    </a:solidFill>
                  </a:tcPr>
                </a:tc>
                <a:tc>
                  <a:txBody>
                    <a:bodyPr/>
                    <a:lstStyle/>
                    <a:p>
                      <a:r>
                        <a:rPr sz="1200" b="0">
                          <a:solidFill>
                            <a:srgbClr val="E8EEFA"/>
                          </a:solidFill>
                          <a:latin typeface="Segoe UI"/>
                        </a:rPr>
                        <a:t>5,8</a:t>
                      </a:r>
                    </a:p>
                  </a:txBody>
                  <a:tcPr>
                    <a:solidFill>
                      <a:srgbClr val="111834"/>
                    </a:solidFill>
                  </a:tcPr>
                </a:tc>
                <a:tc>
                  <a:txBody>
                    <a:bodyPr/>
                    <a:lstStyle/>
                    <a:p>
                      <a:r>
                        <a:rPr sz="1200" b="0">
                          <a:solidFill>
                            <a:srgbClr val="E8EEFA"/>
                          </a:solidFill>
                          <a:latin typeface="Segoe UI"/>
                        </a:rPr>
                        <a:t>6,4</a:t>
                      </a:r>
                    </a:p>
                  </a:txBody>
                  <a:tcPr>
                    <a:solidFill>
                      <a:srgbClr val="111834"/>
                    </a:solidFill>
                  </a:tcPr>
                </a:tc>
                <a:tc>
                  <a:txBody>
                    <a:bodyPr/>
                    <a:lstStyle/>
                    <a:p>
                      <a:r>
                        <a:rPr sz="1200" b="0">
                          <a:solidFill>
                            <a:srgbClr val="E8EEFA"/>
                          </a:solidFill>
                          <a:latin typeface="Segoe UI"/>
                        </a:rPr>
                        <a:t>170</a:t>
                      </a:r>
                    </a:p>
                  </a:txBody>
                  <a:tcPr>
                    <a:solidFill>
                      <a:srgbClr val="111834"/>
                    </a:solidFill>
                  </a:tcPr>
                </a:tc>
                <a:tc>
                  <a:txBody>
                    <a:bodyPr/>
                    <a:lstStyle/>
                    <a:p>
                      <a:r>
                        <a:rPr sz="1200" b="0">
                          <a:solidFill>
                            <a:srgbClr val="E8EEFA"/>
                          </a:solidFill>
                          <a:latin typeface="Segoe UI"/>
                        </a:rPr>
                        <a:t>8,5</a:t>
                      </a:r>
                    </a:p>
                  </a:txBody>
                  <a:tcPr>
                    <a:solidFill>
                      <a:srgbClr val="111834"/>
                    </a:solidFill>
                  </a:tcPr>
                </a:tc>
                <a:tc>
                  <a:txBody>
                    <a:bodyPr/>
                    <a:lstStyle/>
                    <a:p>
                      <a:r>
                        <a:rPr sz="1200" b="0">
                          <a:solidFill>
                            <a:srgbClr val="E8EEFA"/>
                          </a:solidFill>
                          <a:latin typeface="Segoe UI"/>
                        </a:rPr>
                        <a:t>50</a:t>
                      </a:r>
                    </a:p>
                  </a:txBody>
                  <a:tcPr>
                    <a:solidFill>
                      <a:srgbClr val="111834"/>
                    </a:solidFill>
                  </a:tcPr>
                </a:tc>
              </a:tr>
              <a:tr h="520000">
                <a:tc>
                  <a:txBody>
                    <a:bodyPr/>
                    <a:lstStyle/>
                    <a:p>
                      <a:r>
                        <a:rPr sz="1200" b="0">
                          <a:solidFill>
                            <a:srgbClr val="E8EEFA"/>
                          </a:solidFill>
                          <a:latin typeface="Segoe UI"/>
                        </a:rPr>
                        <a:t>HTTP xizmat orqali INT8 (preprocess + JPEG bilan)</a:t>
                      </a:r>
                    </a:p>
                  </a:txBody>
                  <a:tcPr>
                    <a:solidFill>
                      <a:srgbClr val="161F40"/>
                    </a:solidFill>
                  </a:tcPr>
                </a:tc>
                <a:tc>
                  <a:txBody>
                    <a:bodyPr/>
                    <a:lstStyle/>
                    <a:p>
                      <a:r>
                        <a:rPr sz="1200" b="0">
                          <a:solidFill>
                            <a:srgbClr val="E8EEFA"/>
                          </a:solidFill>
                          <a:latin typeface="Segoe UI"/>
                        </a:rPr>
                        <a:t>19</a:t>
                      </a:r>
                    </a:p>
                  </a:txBody>
                  <a:tcPr>
                    <a:solidFill>
                      <a:srgbClr val="161F40"/>
                    </a:solidFill>
                  </a:tcPr>
                </a:tc>
                <a:tc>
                  <a:txBody>
                    <a:bodyPr/>
                    <a:lstStyle/>
                    <a:p>
                      <a:r>
                        <a:rPr sz="1200" b="0">
                          <a:solidFill>
                            <a:srgbClr val="E8EEFA"/>
                          </a:solidFill>
                          <a:latin typeface="Segoe UI"/>
                        </a:rPr>
                        <a:t>26</a:t>
                      </a:r>
                    </a:p>
                  </a:txBody>
                  <a:tcPr>
                    <a:solidFill>
                      <a:srgbClr val="161F40"/>
                    </a:solidFill>
                  </a:tcPr>
                </a:tc>
                <a:tc>
                  <a:txBody>
                    <a:bodyPr/>
                    <a:lstStyle/>
                    <a:p>
                      <a:r>
                        <a:rPr sz="1200" b="0">
                          <a:solidFill>
                            <a:srgbClr val="E8EEFA"/>
                          </a:solidFill>
                          <a:latin typeface="Segoe UI"/>
                        </a:rPr>
                        <a:t>50 (1 ishchi)</a:t>
                      </a:r>
                    </a:p>
                  </a:txBody>
                  <a:tcPr>
                    <a:solidFill>
                      <a:srgbClr val="161F40"/>
                    </a:solidFill>
                  </a:tcPr>
                </a:tc>
                <a:tc>
                  <a:txBody>
                    <a:bodyPr/>
                    <a:lstStyle/>
                    <a:p>
                      <a:r>
                        <a:rPr sz="1200" b="0">
                          <a:solidFill>
                            <a:srgbClr val="E8EEFA"/>
                          </a:solidFill>
                          <a:latin typeface="Segoe UI"/>
                        </a:rPr>
                        <a:t>13</a:t>
                      </a:r>
                    </a:p>
                  </a:txBody>
                  <a:tcPr>
                    <a:solidFill>
                      <a:srgbClr val="161F40"/>
                    </a:solidFill>
                  </a:tcPr>
                </a:tc>
                <a:tc>
                  <a:txBody>
                    <a:bodyPr/>
                    <a:lstStyle/>
                    <a:p>
                      <a:r>
                        <a:rPr sz="1200" b="0">
                          <a:solidFill>
                            <a:srgbClr val="E8EEFA"/>
                          </a:solidFill>
                          <a:latin typeface="Segoe UI"/>
                        </a:rPr>
                        <a:t>260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Jetson Orin (JetPack 6.x) da bajariladi</a:t>
            </a:r>
          </a:p>
          <a:p>
            <a:r>
              <a:rPr sz="1000">
                <a:solidFill>
                  <a:srgbClr val="DBE4F5"/>
                </a:solidFill>
                <a:latin typeface="Consolas"/>
              </a:rPr>
              <a:t>sudo nvpmodel -m 0 &amp;&amp; sudo jetson_clocks               # maksimal quvvat rejimi (Orin NX: 25 Vt) va qotirilgan chastota</a:t>
            </a:r>
          </a:p>
          <a:p>
            <a:r>
              <a:rPr sz="1000">
                <a:solidFill>
                  <a:srgbClr val="DBE4F5"/>
                </a:solidFill>
                <a:latin typeface="Consolas"/>
              </a:rPr>
              <a:t>nvpmodel -q                                             # joriy rejimni tekshirish</a:t>
            </a:r>
          </a:p>
          <a:p>
            <a:r>
              <a:rPr sz="1000">
                <a:solidFill>
                  <a:srgbClr val="6EE7B7"/>
                </a:solidFill>
                <a:latin typeface="Consolas"/>
              </a:rPr>
              <a:t># A3 dan ONNX faylni ko'chirib, dvigatelni AYNAN shu qurilmada qurish</a:t>
            </a:r>
          </a:p>
          <a:p>
            <a:r>
              <a:rPr sz="1000">
                <a:solidFill>
                  <a:srgbClr val="DBE4F5"/>
                </a:solidFill>
                <a:latin typeface="Consolas"/>
              </a:rPr>
              <a:t>/usr/src/tensorrt/bin/trtexec --onnx=resnet50_fp32.onnx --fp16 --saveEngine=rn50_fp16_orin.plan \</a:t>
            </a:r>
          </a:p>
          <a:p>
            <a:r>
              <a:rPr sz="1000">
                <a:solidFill>
                  <a:srgbClr val="DBE4F5"/>
                </a:solidFill>
                <a:latin typeface="Consolas"/>
              </a:rPr>
              <a:t>    --shapes=input:1x3x224x224 --iterations=500 --warmUp=1000 --percentile=95 | tee trt_orin_fp16.log</a:t>
            </a:r>
          </a:p>
          <a:p>
            <a:r>
              <a:rPr sz="1000">
                <a:solidFill>
                  <a:srgbClr val="DBE4F5"/>
                </a:solidFill>
                <a:latin typeface="Consolas"/>
              </a:rPr>
              <a:t>/usr/src/tensorrt/bin/trtexec --onnx=resnet50_int8.onnx --int8 --fp16 --saveEngine=rn50_int8_orin.plan \</a:t>
            </a:r>
          </a:p>
          <a:p>
            <a:r>
              <a:rPr sz="1000">
                <a:solidFill>
                  <a:srgbClr val="DBE4F5"/>
                </a:solidFill>
                <a:latin typeface="Consolas"/>
              </a:rPr>
              <a:t>    --shapes=input:1x3x224x224 --iterations=500 --warmUp=1000 --percentile=95 | tee trt_orin_int8.log</a:t>
            </a:r>
          </a:p>
          <a:p>
            <a:r>
              <a:rPr sz="1000">
                <a:solidFill>
                  <a:srgbClr val="6EE7B7"/>
                </a:solidFill>
                <a:latin typeface="Consolas"/>
              </a:rPr>
              <a:t># Quvvatni parallel o'lchash (boshqa terminalda), 100 ms oraliqda</a:t>
            </a:r>
          </a:p>
          <a:p>
            <a:r>
              <a:rPr sz="1000">
                <a:solidFill>
                  <a:srgbClr val="DBE4F5"/>
                </a:solidFill>
                <a:latin typeface="Consolas"/>
              </a:rPr>
              <a:t>sudo tegrastats --interval 100 --logfile tegra_int8.log &amp;</a:t>
            </a:r>
          </a:p>
          <a:p>
            <a:r>
              <a:rPr sz="1000">
                <a:solidFill>
                  <a:srgbClr val="DBE4F5"/>
                </a:solidFill>
                <a:latin typeface="Consolas"/>
              </a:rPr>
              <a:t>/usr/src/tensorrt/bin/trtexec --loadEngine=rn50_int8_orin.plan --iterations=3000 --shapes=input:1x3x224x224</a:t>
            </a:r>
          </a:p>
          <a:p>
            <a:r>
              <a:rPr sz="1000">
                <a:solidFill>
                  <a:srgbClr val="DBE4F5"/>
                </a:solidFill>
                <a:latin typeface="Consolas"/>
              </a:rPr>
              <a:t>sudo pkill tegrastats</a:t>
            </a:r>
          </a:p>
          <a:p>
            <a:r>
              <a:rPr sz="1000">
                <a:solidFill>
                  <a:srgbClr val="DBE4F5"/>
                </a:solidFill>
                <a:latin typeface="Consolas"/>
              </a:rPr>
              <a:t>grep -o 'VDD_IN [0-9]*mW' tegra_int8.log | awk '{s+=$2; n++} END {print "o'\''rtacha quvvat, mW:", s/n}'</a:t>
            </a:r>
          </a:p>
          <a:p>
            <a:r>
              <a:rPr sz="1000">
                <a:solidFill>
                  <a:srgbClr val="6EE7B7"/>
                </a:solidFill>
                <a:latin typeface="Consolas"/>
              </a:rPr>
              <a:t># Xizmatni Jetson'da konteynerda ishga tushirish (l4t asos tasvir, GPU runtime)</a:t>
            </a:r>
          </a:p>
          <a:p>
            <a:r>
              <a:rPr sz="1000">
                <a:solidFill>
                  <a:srgbClr val="DBE4F5"/>
                </a:solidFill>
                <a:latin typeface="Consolas"/>
              </a:rPr>
              <a:t>sudo docker run -d --runtime nvidia --network host -v $PWD/models:/models:ro \</a:t>
            </a:r>
          </a:p>
          <a:p>
            <a:r>
              <a:rPr sz="1000">
                <a:solidFill>
                  <a:srgbClr val="DBE4F5"/>
                </a:solidFill>
                <a:latin typeface="Consolas"/>
              </a:rPr>
              <a:t>    -e MODEL_PATH=/models/resnet50_int8.onnx -e ORT_PROVIDERS=TensorrtExecutionProvider,CUDAExecutionProvider \</a:t>
            </a:r>
          </a:p>
          <a:p>
            <a:r>
              <a:rPr sz="1000">
                <a:solidFill>
                  <a:srgbClr val="DBE4F5"/>
                </a:solidFill>
                <a:latin typeface="Consolas"/>
              </a:rPr>
              <a:t>    rn50-infer:1.0-l4t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Kutilgan natija (Coral USB Accelerator, USB 3.0, taxminiy): MobileNetV2 p50 ≈ 2,8 ms (USB 2.0 da ≈ 12 ms — interfeys tiqilib qoladi); quvvat ~1,5–2 Vt → ~5 mJ/rasm; ResNet-50 (kvantlangan, 25 MB vazn 8 MB SRAM'ga sig'maydi) ≈ 15–18 ms.</a:t>
            </a:r>
          </a:p>
          <a:p>
            <a:pPr>
              <a:spcBef>
                <a:spcPts val="400"/>
              </a:spcBef>
            </a:pPr>
            <a:r>
              <a:rPr sz="1600">
                <a:solidFill>
                  <a:srgbClr val="AEBBD9"/>
                </a:solidFill>
                <a:latin typeface="Segoe UI"/>
              </a:rPr>
              <a:t>Xost CPU (Raspberry Pi 4) da xuddi shu TFLite model 60–80 ms — Edge TPU 20–25 baravar tezlanish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 — kod 1</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Xost (Raspberry Pi yoki x86 Linux) da: libedgetpu va pycoral o'rnatilgan</a:t>
            </a:r>
          </a:p>
          <a:p>
            <a:r>
              <a:rPr sz="1000">
                <a:solidFill>
                  <a:srgbClr val="6EE7B7"/>
                </a:solidFill>
                <a:latin typeface="Consolas"/>
              </a:rPr>
              <a:t># Coral model bog'idan to'liq kvantlangan va kompilyatsiya qilingan model:</a:t>
            </a:r>
          </a:p>
          <a:p>
            <a:r>
              <a:rPr sz="1000">
                <a:solidFill>
                  <a:srgbClr val="DBE4F5"/>
                </a:solidFill>
                <a:latin typeface="Consolas"/>
              </a:rPr>
              <a:t>wget https://raw.githubusercontent.com/google-coral/test_data/master/mobilenet_v2_1.0_224_quant_edgetpu.tflite</a:t>
            </a:r>
          </a:p>
          <a:p>
            <a:r>
              <a:rPr sz="1000">
                <a:solidFill>
                  <a:srgbClr val="DBE4F5"/>
                </a:solidFill>
                <a:latin typeface="Consolas"/>
              </a:rPr>
              <a:t>wget https://raw.githubusercontent.com/google-coral/test_data/master/imagenet_labels.txt</a:t>
            </a:r>
          </a:p>
          <a:p>
            <a:r>
              <a:rPr sz="1000">
                <a:solidFill>
                  <a:srgbClr val="6EE7B7"/>
                </a:solidFill>
                <a:latin typeface="Consolas"/>
              </a:rPr>
              <a:t># O'z modelini tayyorlash ketma-ketligi (hisobotda tavsiflang): TF/Keras → TFLite to'liq INT8 (representative dataset) →</a:t>
            </a:r>
          </a:p>
          <a:p>
            <a:r>
              <a:rPr sz="1000">
                <a:solidFill>
                  <a:srgbClr val="6EE7B7"/>
                </a:solidFill>
                <a:latin typeface="Consolas"/>
              </a:rPr>
              <a:t># Kompilyator chiqishida "Number of operations that will run on Edge TPU: N / M" qatorini tekshiring — M-N ta operator 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coral_bench.py</a:t>
            </a:r>
          </a:p>
          <a:p>
            <a:r>
              <a:rPr sz="1000">
                <a:solidFill>
                  <a:srgbClr val="DBE4F5"/>
                </a:solidFill>
                <a:latin typeface="Consolas"/>
              </a:rPr>
              <a:t>import time, numpy as np</a:t>
            </a:r>
          </a:p>
          <a:p>
            <a:r>
              <a:rPr sz="1000">
                <a:solidFill>
                  <a:srgbClr val="DBE4F5"/>
                </a:solidFill>
                <a:latin typeface="Consolas"/>
              </a:rPr>
              <a:t>from pycoral.utils.edgetpu import make_interpreter</a:t>
            </a:r>
          </a:p>
          <a:p>
            <a:r>
              <a:rPr sz="1000">
                <a:solidFill>
                  <a:srgbClr val="DBE4F5"/>
                </a:solidFill>
                <a:latin typeface="Consolas"/>
              </a:rPr>
              <a:t>from pycoral.adapters import common, classify</a:t>
            </a:r>
          </a:p>
          <a:p>
            <a:r>
              <a:rPr sz="1000">
                <a:solidFill>
                  <a:srgbClr val="DBE4F5"/>
                </a:solidFill>
                <a:latin typeface="Consolas"/>
              </a:rPr>
              <a:t>from PIL import Image</a:t>
            </a:r>
          </a:p>
          <a:p>
            <a:r>
              <a:rPr sz="1000">
                <a:solidFill>
                  <a:srgbClr val="DBE4F5"/>
                </a:solidFill>
                <a:latin typeface="Consolas"/>
              </a:rPr>
              <a:t>itp = make_interpreter("mobilenet_v2_1.0_224_quant_edgetpu.tflite"); itp.allocate_tensors()</a:t>
            </a:r>
          </a:p>
          <a:p>
            <a:r>
              <a:rPr sz="1000">
                <a:solidFill>
                  <a:srgbClr val="DBE4F5"/>
                </a:solidFill>
                <a:latin typeface="Consolas"/>
              </a:rPr>
              <a:t>img = Image.open("cat.jpg").convert("RGB").resize(common.input_size(itp))</a:t>
            </a:r>
          </a:p>
          <a:p>
            <a:r>
              <a:rPr sz="1000">
                <a:solidFill>
                  <a:srgbClr val="DBE4F5"/>
                </a:solidFill>
                <a:latin typeface="Consolas"/>
              </a:rPr>
              <a:t>common.set_input(itp, img)</a:t>
            </a:r>
          </a:p>
          <a:p>
            <a:r>
              <a:rPr sz="1000">
                <a:solidFill>
                  <a:srgbClr val="DBE4F5"/>
                </a:solidFill>
                <a:latin typeface="Consolas"/>
              </a:rPr>
              <a:t>for _ in range(10): itp.invoke()</a:t>
            </a:r>
          </a:p>
          <a:p>
            <a:r>
              <a:rPr sz="1000">
                <a:solidFill>
                  <a:srgbClr val="DBE4F5"/>
                </a:solidFill>
                <a:latin typeface="Consolas"/>
              </a:rPr>
              <a:t>t = []</a:t>
            </a:r>
          </a:p>
          <a:p>
            <a:r>
              <a:rPr sz="1000">
                <a:solidFill>
                  <a:srgbClr val="DBE4F5"/>
                </a:solidFill>
                <a:latin typeface="Consolas"/>
              </a:rPr>
              <a:t>for _ in range(200):</a:t>
            </a:r>
          </a:p>
          <a:p>
            <a:r>
              <a:rPr sz="1000">
                <a:solidFill>
                  <a:srgbClr val="DBE4F5"/>
                </a:solidFill>
                <a:latin typeface="Consolas"/>
              </a:rPr>
              <a:t>    t0 = time.perf_counter(); itp.invoke(); t.append(time.perf_counter() - t0)</a:t>
            </a:r>
          </a:p>
          <a:p>
            <a:r>
              <a:rPr sz="1000">
                <a:solidFill>
                  <a:srgbClr val="DBE4F5"/>
                </a:solidFill>
                <a:latin typeface="Consolas"/>
              </a:rPr>
              <a:t>print(f"Edge TPU MobileNetV2: p50 {np.percentile(t,50)*1e3:.2f} ms  p95 {np.percentile(t,95)*1e3:.2f} ms")</a:t>
            </a:r>
          </a:p>
          <a:p>
            <a:r>
              <a:rPr sz="1000">
                <a:solidFill>
                  <a:srgbClr val="DBE4F5"/>
                </a:solidFill>
                <a:latin typeface="Consolas"/>
              </a:rPr>
              <a:t>print(classify.get_classes(itp, top_k=3))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A1 ssenariysi (16 kamera, 160 inferens/s, 3 yil) uchun quyidagi jadvalni to'ldiring; raqamlar o'z o'lchovlaringiz va ochiq narxlardan olinadi (taxminiy namuna):</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graphicFrame>
        <p:nvGraphicFramePr>
          <p:cNvPr id="25" name="Table 24"/>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Cloud (T4 GPU, K8s, 2 nusxa)</a:t>
                      </a:r>
                    </a:p>
                  </a:txBody>
                  <a:tcPr>
                    <a:solidFill>
                      <a:srgbClr val="1C2755"/>
                    </a:solidFill>
                  </a:tcPr>
                </a:tc>
                <a:tc>
                  <a:txBody>
                    <a:bodyPr/>
                    <a:lstStyle/>
                    <a:p>
                      <a:r>
                        <a:rPr sz="1200" b="1">
                          <a:solidFill>
                            <a:srgbClr val="22D3EE"/>
                          </a:solidFill>
                          <a:latin typeface="Segoe UI"/>
                        </a:rPr>
                        <a:t>Edge (Jetson Orin NX, 1 dona)</a:t>
                      </a:r>
                    </a:p>
                  </a:txBody>
                  <a:tcPr>
                    <a:solidFill>
                      <a:srgbClr val="1C2755"/>
                    </a:solidFill>
                  </a:tcPr>
                </a:tc>
                <a:tc>
                  <a:txBody>
                    <a:bodyPr/>
                    <a:lstStyle/>
                    <a:p>
                      <a:r>
                        <a:rPr sz="1200" b="1">
                          <a:solidFill>
                            <a:srgbClr val="22D3EE"/>
                          </a:solidFill>
                          <a:latin typeface="Segoe UI"/>
                        </a:rPr>
                        <a:t>Gibrid (Orin + bulutda og'ir model shubhali kadrlar uchun)</a:t>
                      </a:r>
                    </a:p>
                  </a:txBody>
                  <a:tcPr>
                    <a:solidFill>
                      <a:srgbClr val="1C2755"/>
                    </a:solidFill>
                  </a:tcPr>
                </a:tc>
              </a:tr>
              <a:tr h="520000">
                <a:tc>
                  <a:txBody>
                    <a:bodyPr/>
                    <a:lstStyle/>
                    <a:p>
                      <a:r>
                        <a:rPr sz="1200" b="0">
                          <a:solidFill>
                            <a:srgbClr val="E8EEFA"/>
                          </a:solidFill>
                          <a:latin typeface="Segoe UI"/>
                        </a:rPr>
                        <a:t>Uchdan-uchga kechikish (p95)</a:t>
                      </a:r>
                    </a:p>
                  </a:txBody>
                  <a:tcPr>
                    <a:solidFill>
                      <a:srgbClr val="111834"/>
                    </a:solidFill>
                  </a:tcPr>
                </a:tc>
                <a:tc>
                  <a:txBody>
                    <a:bodyPr/>
                    <a:lstStyle/>
                    <a:p>
                      <a:r>
                        <a:rPr sz="1200" b="0">
                          <a:solidFill>
                            <a:srgbClr val="E8EEFA"/>
                          </a:solidFill>
                          <a:latin typeface="Segoe UI"/>
                        </a:rPr>
                        <a:t>120–200 ms (RTT 80 ms + navbat + inferens)</a:t>
                      </a:r>
                    </a:p>
                  </a:txBody>
                  <a:tcPr>
                    <a:solidFill>
                      <a:srgbClr val="111834"/>
                    </a:solidFill>
                  </a:tcPr>
                </a:tc>
                <a:tc>
                  <a:txBody>
                    <a:bodyPr/>
                    <a:lstStyle/>
                    <a:p>
                      <a:r>
                        <a:rPr sz="1200" b="0">
                          <a:solidFill>
                            <a:srgbClr val="E8EEFA"/>
                          </a:solidFill>
                          <a:latin typeface="Segoe UI"/>
                        </a:rPr>
                        <a:t>25–40 ms</a:t>
                      </a:r>
                    </a:p>
                  </a:txBody>
                  <a:tcPr>
                    <a:solidFill>
                      <a:srgbClr val="111834"/>
                    </a:solidFill>
                  </a:tcPr>
                </a:tc>
                <a:tc>
                  <a:txBody>
                    <a:bodyPr/>
                    <a:lstStyle/>
                    <a:p>
                      <a:r>
                        <a:rPr sz="1200" b="0">
                          <a:solidFill>
                            <a:srgbClr val="E8EEFA"/>
                          </a:solidFill>
                          <a:latin typeface="Segoe UI"/>
                        </a:rPr>
                        <a:t>30 ms (asosiy), 200 ms (qayta tekshiruv)</a:t>
                      </a:r>
                    </a:p>
                  </a:txBody>
                  <a:tcPr>
                    <a:solidFill>
                      <a:srgbClr val="111834"/>
                    </a:solidFill>
                  </a:tcPr>
                </a:tc>
              </a:tr>
              <a:tr h="520000">
                <a:tc>
                  <a:txBody>
                    <a:bodyPr/>
                    <a:lstStyle/>
                    <a:p>
                      <a:r>
                        <a:rPr sz="1200" b="0">
                          <a:solidFill>
                            <a:srgbClr val="E8EEFA"/>
                          </a:solidFill>
                          <a:latin typeface="Segoe UI"/>
                        </a:rPr>
                        <a:t>Tarmoq trafigi</a:t>
                      </a:r>
                    </a:p>
                  </a:txBody>
                  <a:tcPr>
                    <a:solidFill>
                      <a:srgbClr val="161F40"/>
                    </a:solidFill>
                  </a:tcPr>
                </a:tc>
                <a:tc>
                  <a:txBody>
                    <a:bodyPr/>
                    <a:lstStyle/>
                    <a:p>
                      <a:r>
                        <a:rPr sz="1200" b="0">
                          <a:solidFill>
                            <a:srgbClr val="E8EEFA"/>
                          </a:solidFill>
                          <a:latin typeface="Segoe UI"/>
                        </a:rPr>
                        <a:t>64 Mbit/s uzluksiz (16 oqim)</a:t>
                      </a:r>
                    </a:p>
                  </a:txBody>
                  <a:tcPr>
                    <a:solidFill>
                      <a:srgbClr val="161F40"/>
                    </a:solidFill>
                  </a:tcPr>
                </a:tc>
                <a:tc>
                  <a:txBody>
                    <a:bodyPr/>
                    <a:lstStyle/>
                    <a:p>
                      <a:r>
                        <a:rPr sz="1200" b="0">
                          <a:solidFill>
                            <a:srgbClr val="E8EEFA"/>
                          </a:solidFill>
                          <a:latin typeface="Segoe UI"/>
                        </a:rPr>
                        <a:t>~10 kbit/s (hodisalar)</a:t>
                      </a:r>
                    </a:p>
                  </a:txBody>
                  <a:tcPr>
                    <a:solidFill>
                      <a:srgbClr val="161F40"/>
                    </a:solidFill>
                  </a:tcPr>
                </a:tc>
                <a:tc>
                  <a:txBody>
                    <a:bodyPr/>
                    <a:lstStyle/>
                    <a:p>
                      <a:r>
                        <a:rPr sz="1200" b="0">
                          <a:solidFill>
                            <a:srgbClr val="E8EEFA"/>
                          </a:solidFill>
                          <a:latin typeface="Segoe UI"/>
                        </a:rPr>
                        <a:t>~100 kbit/s (shubhali kadrlar)</a:t>
                      </a:r>
                    </a:p>
                  </a:txBody>
                  <a:tcPr>
                    <a:solidFill>
                      <a:srgbClr val="161F40"/>
                    </a:solidFill>
                  </a:tcPr>
                </a:tc>
              </a:tr>
              <a:tr h="520000">
                <a:tc>
                  <a:txBody>
                    <a:bodyPr/>
                    <a:lstStyle/>
                    <a:p>
                      <a:r>
                        <a:rPr sz="1200" b="0">
                          <a:solidFill>
                            <a:srgbClr val="E8EEFA"/>
                          </a:solidFill>
                          <a:latin typeface="Segoe UI"/>
                        </a:rPr>
                        <a:t>3 yillik xarajat</a:t>
                      </a:r>
                    </a:p>
                  </a:txBody>
                  <a:tcPr>
                    <a:solidFill>
                      <a:srgbClr val="111834"/>
                    </a:solidFill>
                  </a:tcPr>
                </a:tc>
                <a:tc>
                  <a:txBody>
                    <a:bodyPr/>
                    <a:lstStyle/>
                    <a:p>
                      <a:r>
                        <a:rPr sz="1200" b="0">
                          <a:solidFill>
                            <a:srgbClr val="E8EEFA"/>
                          </a:solidFill>
                          <a:latin typeface="Segoe UI"/>
                        </a:rPr>
                        <a:t>GPU soati 0,5 $ × 2 × 26 280 soat ≈ 26 000 $ + trafik</a:t>
                      </a:r>
                    </a:p>
                  </a:txBody>
                  <a:tcPr>
                    <a:solidFill>
                      <a:srgbClr val="111834"/>
                    </a:solidFill>
                  </a:tcPr>
                </a:tc>
                <a:tc>
                  <a:txBody>
                    <a:bodyPr/>
                    <a:lstStyle/>
                    <a:p>
                      <a:r>
                        <a:rPr sz="1200" b="0">
                          <a:solidFill>
                            <a:srgbClr val="E8EEFA"/>
                          </a:solidFill>
                          <a:latin typeface="Segoe UI"/>
                        </a:rPr>
                        <a:t>700 $ qurilma + 300 $ korpus/sovutish + 3 yil 25 Vt ≈ 660 kVt·s ≈ 100 $ ≈ 1 100 $</a:t>
                      </a:r>
                    </a:p>
                  </a:txBody>
                  <a:tcPr>
                    <a:solidFill>
                      <a:srgbClr val="111834"/>
                    </a:solidFill>
                  </a:tcPr>
                </a:tc>
                <a:tc>
                  <a:txBody>
                    <a:bodyPr/>
                    <a:lstStyle/>
                    <a:p>
                      <a:r>
                        <a:rPr sz="1200" b="0">
                          <a:solidFill>
                            <a:srgbClr val="E8EEFA"/>
                          </a:solidFill>
                          <a:latin typeface="Segoe UI"/>
                        </a:rPr>
                        <a:t>≈ 1 100 $ + bulut 5 % vaqt ≈ 2 500 $</a:t>
                      </a:r>
                    </a:p>
                  </a:txBody>
                  <a:tcPr>
                    <a:solidFill>
                      <a:srgbClr val="111834"/>
                    </a:solidFill>
                  </a:tcPr>
                </a:tc>
              </a:tr>
              <a:tr h="520000">
                <a:tc>
                  <a:txBody>
                    <a:bodyPr/>
                    <a:lstStyle/>
                    <a:p>
                      <a:r>
                        <a:rPr sz="1200" b="0">
                          <a:solidFill>
                            <a:srgbClr val="E8EEFA"/>
                          </a:solidFill>
                          <a:latin typeface="Segoe UI"/>
                        </a:rPr>
                        <a:t>Energiya (inferens boshiga, to'liq)</a:t>
                      </a:r>
                    </a:p>
                  </a:txBody>
                  <a:tcPr>
                    <a:solidFill>
                      <a:srgbClr val="161F40"/>
                    </a:solidFill>
                  </a:tcPr>
                </a:tc>
                <a:tc>
                  <a:txBody>
                    <a:bodyPr/>
                    <a:lstStyle/>
                    <a:p>
                      <a:r>
                        <a:rPr sz="1200" b="0">
                          <a:solidFill>
                            <a:srgbClr val="E8EEFA"/>
                          </a:solidFill>
                          <a:latin typeface="Segoe UI"/>
                        </a:rPr>
                        <a:t>~45 mJ + ma'lumotlar markazi PUE 1,3 + tarmoq</a:t>
                      </a:r>
                    </a:p>
                  </a:txBody>
                  <a:tcPr>
                    <a:solidFill>
                      <a:srgbClr val="161F40"/>
                    </a:solidFill>
                  </a:tcPr>
                </a:tc>
                <a:tc>
                  <a:txBody>
                    <a:bodyPr/>
                    <a:lstStyle/>
                    <a:p>
                      <a:r>
                        <a:rPr sz="1200" b="0">
                          <a:solidFill>
                            <a:srgbClr val="E8EEFA"/>
                          </a:solidFill>
                          <a:latin typeface="Segoe UI"/>
                        </a:rPr>
                        <a:t>~40 mJ (yuklanganda), bo'sh holat kam</a:t>
                      </a:r>
                    </a:p>
                  </a:txBody>
                  <a:tcPr>
                    <a:solidFill>
                      <a:srgbClr val="161F40"/>
                    </a:solidFill>
                  </a:tcPr>
                </a:tc>
                <a:tc>
                  <a:txBody>
                    <a:bodyPr/>
                    <a:lstStyle/>
                    <a:p>
                      <a:r>
                        <a:rPr sz="1200" b="0">
                          <a:solidFill>
                            <a:srgbClr val="E8EEFA"/>
                          </a:solidFill>
                          <a:latin typeface="Segoe UI"/>
                        </a:rPr>
                        <a:t>~45 mJ</a:t>
                      </a:r>
                    </a:p>
                  </a:txBody>
                  <a:tcPr>
                    <a:solidFill>
                      <a:srgbClr val="161F40"/>
                    </a:solidFill>
                  </a:tcPr>
                </a:tc>
              </a:tr>
              <a:tr h="520000">
                <a:tc>
                  <a:txBody>
                    <a:bodyPr/>
                    <a:lstStyle/>
                    <a:p>
                      <a:r>
                        <a:rPr sz="1200" b="0">
                          <a:solidFill>
                            <a:srgbClr val="E8EEFA"/>
                          </a:solidFill>
                          <a:latin typeface="Segoe UI"/>
                        </a:rPr>
                        <a:t>Oflayn ishlash</a:t>
                      </a:r>
                    </a:p>
                  </a:txBody>
                  <a:tcPr>
                    <a:solidFill>
                      <a:srgbClr val="111834"/>
                    </a:solidFill>
                  </a:tcPr>
                </a:tc>
                <a:tc>
                  <a:txBody>
                    <a:bodyPr/>
                    <a:lstStyle/>
                    <a:p>
                      <a:r>
                        <a:rPr sz="1200" b="0">
                          <a:solidFill>
                            <a:srgbClr val="E8EEFA"/>
                          </a:solidFill>
                          <a:latin typeface="Segoe UI"/>
                        </a:rPr>
                        <a:t>yo'q</a:t>
                      </a:r>
                    </a:p>
                  </a:txBody>
                  <a:tcPr>
                    <a:solidFill>
                      <a:srgbClr val="111834"/>
                    </a:solidFill>
                  </a:tcPr>
                </a:tc>
                <a:tc>
                  <a:txBody>
                    <a:bodyPr/>
                    <a:lstStyle/>
                    <a:p>
                      <a:r>
                        <a:rPr sz="1200" b="0">
                          <a:solidFill>
                            <a:srgbClr val="E8EEFA"/>
                          </a:solidFill>
                          <a:latin typeface="Segoe UI"/>
                        </a:rPr>
                        <a:t>ha</a:t>
                      </a:r>
                    </a:p>
                  </a:txBody>
                  <a:tcPr>
                    <a:solidFill>
                      <a:srgbClr val="111834"/>
                    </a:solidFill>
                  </a:tcPr>
                </a:tc>
                <a:tc>
                  <a:txBody>
                    <a:bodyPr/>
                    <a:lstStyle/>
                    <a:p>
                      <a:r>
                        <a:rPr sz="1200" b="0">
                          <a:solidFill>
                            <a:srgbClr val="E8EEFA"/>
                          </a:solidFill>
                          <a:latin typeface="Segoe UI"/>
                        </a:rPr>
                        <a:t>asosiy funksiya ha</a:t>
                      </a:r>
                    </a:p>
                  </a:txBody>
                  <a:tcPr>
                    <a:solidFill>
                      <a:srgbClr val="111834"/>
                    </a:solidFill>
                  </a:tcPr>
                </a:tc>
              </a:tr>
              <a:tr h="520000">
                <a:tc>
                  <a:txBody>
                    <a:bodyPr/>
                    <a:lstStyle/>
                    <a:p>
                      <a:r>
                        <a:rPr sz="1200" b="0">
                          <a:solidFill>
                            <a:srgbClr val="E8EEFA"/>
                          </a:solidFill>
                          <a:latin typeface="Segoe UI"/>
                        </a:rPr>
                        <a:t>Maxfiylik</a:t>
                      </a:r>
                    </a:p>
                  </a:txBody>
                  <a:tcPr>
                    <a:solidFill>
                      <a:srgbClr val="161F40"/>
                    </a:solidFill>
                  </a:tcPr>
                </a:tc>
                <a:tc>
                  <a:txBody>
                    <a:bodyPr/>
                    <a:lstStyle/>
                    <a:p>
                      <a:r>
                        <a:rPr sz="1200" b="0">
                          <a:solidFill>
                            <a:srgbClr val="E8EEFA"/>
                          </a:solidFill>
                          <a:latin typeface="Segoe UI"/>
                        </a:rPr>
                        <a:t>video binodan chiqadi (shifrlash shart)</a:t>
                      </a:r>
                    </a:p>
                  </a:txBody>
                  <a:tcPr>
                    <a:solidFill>
                      <a:srgbClr val="161F40"/>
                    </a:solidFill>
                  </a:tcPr>
                </a:tc>
                <a:tc>
                  <a:txBody>
                    <a:bodyPr/>
                    <a:lstStyle/>
                    <a:p>
                      <a:r>
                        <a:rPr sz="1200" b="0">
                          <a:solidFill>
                            <a:srgbClr val="E8EEFA"/>
                          </a:solidFill>
                          <a:latin typeface="Segoe UI"/>
                        </a:rPr>
                        <a:t>video binoda qoladi</a:t>
                      </a:r>
                    </a:p>
                  </a:txBody>
                  <a:tcPr>
                    <a:solidFill>
                      <a:srgbClr val="161F40"/>
                    </a:solidFill>
                  </a:tcPr>
                </a:tc>
                <a:tc>
                  <a:txBody>
                    <a:bodyPr/>
                    <a:lstStyle/>
                    <a:p>
                      <a:r>
                        <a:rPr sz="1200" b="0">
                          <a:solidFill>
                            <a:srgbClr val="E8EEFA"/>
                          </a:solidFill>
                          <a:latin typeface="Segoe UI"/>
                        </a:rPr>
                        <a:t>faqat kesilgan kadrlar chiqadi</a:t>
                      </a:r>
                    </a:p>
                  </a:txBody>
                  <a:tcPr>
                    <a:solidFill>
                      <a:srgbClr val="161F40"/>
                    </a:solidFill>
                  </a:tcPr>
                </a:tc>
              </a:tr>
              <a:tr h="520000">
                <a:tc>
                  <a:txBody>
                    <a:bodyPr/>
                    <a:lstStyle/>
                    <a:p>
                      <a:r>
                        <a:rPr sz="1200" b="0">
                          <a:solidFill>
                            <a:srgbClr val="E8EEFA"/>
                          </a:solidFill>
                          <a:latin typeface="Segoe UI"/>
                        </a:rPr>
                        <a:t>Masshtablash</a:t>
                      </a:r>
                    </a:p>
                  </a:txBody>
                  <a:tcPr>
                    <a:solidFill>
                      <a:srgbClr val="111834"/>
                    </a:solidFill>
                  </a:tcPr>
                </a:tc>
                <a:tc>
                  <a:txBody>
                    <a:bodyPr/>
                    <a:lstStyle/>
                    <a:p>
                      <a:r>
                        <a:rPr sz="1200" b="0">
                          <a:solidFill>
                            <a:srgbClr val="E8EEFA"/>
                          </a:solidFill>
                          <a:latin typeface="Segoe UI"/>
                        </a:rPr>
                        <a:t>daqiqalarda (HPA)</a:t>
                      </a:r>
                    </a:p>
                  </a:txBody>
                  <a:tcPr>
                    <a:solidFill>
                      <a:srgbClr val="111834"/>
                    </a:solidFill>
                  </a:tcPr>
                </a:tc>
                <a:tc>
                  <a:txBody>
                    <a:bodyPr/>
                    <a:lstStyle/>
                    <a:p>
                      <a:r>
                        <a:rPr sz="1200" b="0">
                          <a:solidFill>
                            <a:srgbClr val="E8EEFA"/>
                          </a:solidFill>
                          <a:latin typeface="Segoe UI"/>
                        </a:rPr>
                        <a:t>yangi qurilma sotib olish</a:t>
                      </a:r>
                    </a:p>
                  </a:txBody>
                  <a:tcPr>
                    <a:solidFill>
                      <a:srgbClr val="111834"/>
                    </a:solidFill>
                  </a:tcPr>
                </a:tc>
                <a:tc>
                  <a:txBody>
                    <a:bodyPr/>
                    <a:lstStyle/>
                    <a:p>
                      <a:r>
                        <a:rPr sz="1200" b="0">
                          <a:solidFill>
                            <a:srgbClr val="E8EEFA"/>
                          </a:solidFill>
                          <a:latin typeface="Segoe UI"/>
                        </a:rPr>
                        <a:t>ikkalasi</a:t>
                      </a:r>
                    </a:p>
                  </a:txBody>
                  <a:tcPr>
                    <a:solidFill>
                      <a:srgbClr val="111834"/>
                    </a:solidFill>
                  </a:tcPr>
                </a:tc>
              </a:tr>
              <a:tr h="520000">
                <a:tc>
                  <a:txBody>
                    <a:bodyPr/>
                    <a:lstStyle/>
                    <a:p>
                      <a:r>
                        <a:rPr sz="1200" b="0">
                          <a:solidFill>
                            <a:srgbClr val="E8EEFA"/>
                          </a:solidFill>
                          <a:latin typeface="Segoe UI"/>
                        </a:rPr>
                        <a:t>Yangilash</a:t>
                      </a:r>
                    </a:p>
                  </a:txBody>
                  <a:tcPr>
                    <a:solidFill>
                      <a:srgbClr val="161F40"/>
                    </a:solidFill>
                  </a:tcPr>
                </a:tc>
                <a:tc>
                  <a:txBody>
                    <a:bodyPr/>
                    <a:lstStyle/>
                    <a:p>
                      <a:r>
                        <a:rPr sz="1200" b="0">
                          <a:solidFill>
                            <a:srgbClr val="E8EEFA"/>
                          </a:solidFill>
                          <a:latin typeface="Segoe UI"/>
                        </a:rPr>
                        <a:t>bir joyda, rollout</a:t>
                      </a:r>
                    </a:p>
                  </a:txBody>
                  <a:tcPr>
                    <a:solidFill>
                      <a:srgbClr val="161F40"/>
                    </a:solidFill>
                  </a:tcPr>
                </a:tc>
                <a:tc>
                  <a:txBody>
                    <a:bodyPr/>
                    <a:lstStyle/>
                    <a:p>
                      <a:r>
                        <a:rPr sz="1200" b="0">
                          <a:solidFill>
                            <a:srgbClr val="E8EEFA"/>
                          </a:solidFill>
                          <a:latin typeface="Segoe UI"/>
                        </a:rPr>
                        <a:t>OTA, flot boshqaruvi</a:t>
                      </a:r>
                    </a:p>
                  </a:txBody>
                  <a:tcPr>
                    <a:solidFill>
                      <a:srgbClr val="161F40"/>
                    </a:solidFill>
                  </a:tcPr>
                </a:tc>
                <a:tc>
                  <a:txBody>
                    <a:bodyPr/>
                    <a:lstStyle/>
                    <a:p>
                      <a:r>
                        <a:rPr sz="1200" b="0">
                          <a:solidFill>
                            <a:srgbClr val="E8EEFA"/>
                          </a:solidFill>
                          <a:latin typeface="Segoe UI"/>
                        </a:rPr>
                        <a:t>ikkalasi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 (davomi)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graphicFrame>
        <p:nvGraphicFramePr>
          <p:cNvPr id="25" name="Table 24"/>
          <p:cNvGraphicFramePr>
            <a:graphicFrameLocks noGrp="1"/>
          </p:cNvGraphicFramePr>
          <p:nvPr/>
        </p:nvGraphicFramePr>
        <p:xfrm>
          <a:off x="550000" y="1400000"/>
          <a:ext cx="11100000" cy="10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Cloud (T4 GPU, K8s, 2 nusxa)</a:t>
                      </a:r>
                    </a:p>
                  </a:txBody>
                  <a:tcPr>
                    <a:solidFill>
                      <a:srgbClr val="1C2755"/>
                    </a:solidFill>
                  </a:tcPr>
                </a:tc>
                <a:tc>
                  <a:txBody>
                    <a:bodyPr/>
                    <a:lstStyle/>
                    <a:p>
                      <a:r>
                        <a:rPr sz="1200" b="1">
                          <a:solidFill>
                            <a:srgbClr val="22D3EE"/>
                          </a:solidFill>
                          <a:latin typeface="Segoe UI"/>
                        </a:rPr>
                        <a:t>Edge (Jetson Orin NX, 1 dona)</a:t>
                      </a:r>
                    </a:p>
                  </a:txBody>
                  <a:tcPr>
                    <a:solidFill>
                      <a:srgbClr val="1C2755"/>
                    </a:solidFill>
                  </a:tcPr>
                </a:tc>
                <a:tc>
                  <a:txBody>
                    <a:bodyPr/>
                    <a:lstStyle/>
                    <a:p>
                      <a:r>
                        <a:rPr sz="1200" b="1">
                          <a:solidFill>
                            <a:srgbClr val="22D3EE"/>
                          </a:solidFill>
                          <a:latin typeface="Segoe UI"/>
                        </a:rPr>
                        <a:t>Gibrid (Orin + bulutda og'ir model shubhali kadrlar uchun)</a:t>
                      </a:r>
                    </a:p>
                  </a:txBody>
                  <a:tcPr>
                    <a:solidFill>
                      <a:srgbClr val="1C2755"/>
                    </a:solidFill>
                  </a:tcPr>
                </a:tc>
              </a:tr>
              <a:tr h="520000">
                <a:tc>
                  <a:txBody>
                    <a:bodyPr/>
                    <a:lstStyle/>
                    <a:p>
                      <a:r>
                        <a:rPr sz="1200" b="0">
                          <a:solidFill>
                            <a:srgbClr val="E8EEFA"/>
                          </a:solidFill>
                          <a:latin typeface="Segoe UI"/>
                        </a:rPr>
                        <a:t>Nosozlikka bardoshlilik</a:t>
                      </a:r>
                    </a:p>
                  </a:txBody>
                  <a:tcPr>
                    <a:solidFill>
                      <a:srgbClr val="111834"/>
                    </a:solidFill>
                  </a:tcPr>
                </a:tc>
                <a:tc>
                  <a:txBody>
                    <a:bodyPr/>
                    <a:lstStyle/>
                    <a:p>
                      <a:r>
                        <a:rPr sz="1200" b="0">
                          <a:solidFill>
                            <a:srgbClr val="E8EEFA"/>
                          </a:solidFill>
                          <a:latin typeface="Segoe UI"/>
                        </a:rPr>
                        <a:t>yuqori (ko'p nusxa, zonalar)</a:t>
                      </a:r>
                    </a:p>
                  </a:txBody>
                  <a:tcPr>
                    <a:solidFill>
                      <a:srgbClr val="111834"/>
                    </a:solidFill>
                  </a:tcPr>
                </a:tc>
                <a:tc>
                  <a:txBody>
                    <a:bodyPr/>
                    <a:lstStyle/>
                    <a:p>
                      <a:r>
                        <a:rPr sz="1200" b="0">
                          <a:solidFill>
                            <a:srgbClr val="E8EEFA"/>
                          </a:solidFill>
                          <a:latin typeface="Segoe UI"/>
                        </a:rPr>
                        <a:t>yagona nuqta (zaxira qurilma kerak)</a:t>
                      </a:r>
                    </a:p>
                  </a:txBody>
                  <a:tcPr>
                    <a:solidFill>
                      <a:srgbClr val="111834"/>
                    </a:solidFill>
                  </a:tcPr>
                </a:tc>
                <a:tc>
                  <a:txBody>
                    <a:bodyPr/>
                    <a:lstStyle/>
                    <a:p>
                      <a:r>
                        <a:rPr sz="1200" b="0">
                          <a:solidFill>
                            <a:srgbClr val="E8EEFA"/>
                          </a:solidFill>
                          <a:latin typeface="Segoe UI"/>
                        </a:rPr>
                        <a:t>o'rtacha</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2" name="Rounded Rectangle 21"/>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(6–8 bet): (1) xizmat kodi tavsifi va API hujjati (FastAPI /docs ekran tasviri); (2) Dockerfile, tasvir hajmi, ishga tushish vaqti, mahalliy yuklama sinovi natijalari; (3) K8s manifestlari, kubectl get pods/hpa chiqishlari yuklama oldidan, davomida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GPU K8s (NVIDIA device plugin, nvidia.com/gpu limiti) va KEDA/Prometheus Adapter bilan so'rov/s bo'yicha masshtablash; yoki Jetson'da k3s agent sifatida ishlab, bitta kubectl bilan ham bulut, ham chekka Pod'larni boshqarish (nodeSelector…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graphicFrame>
        <p:nvGraphicFramePr>
          <p:cNvPr id="23" name="Table 22"/>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FastAPI xizmati ishlaydi, probe'lar va metrikalar bor, sozlamalar muhit o'zgaruvchilaridan</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Dockerfile ko'p bosqichli, root'siz, tasvir hajmi va resurs cheklovlari o'lchangan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K8s: Deployment/Service/HPA/ConfigMap to'g'ri, HPA yuklama ostida ishlagani ko'rsatilgan, rollout xatosiz</a:t>
                      </a:r>
                    </a:p>
                  </a:txBody>
                  <a:tcPr>
                    <a:solidFill>
                      <a:srgbClr val="111834"/>
                    </a:solidFill>
                  </a:tcPr>
                </a:tc>
                <a:tc>
                  <a:txBody>
                    <a:bodyPr/>
                    <a:lstStyle/>
                    <a:p>
                      <a:r>
                        <a:rPr sz="1000" b="0">
                          <a:solidFill>
                            <a:srgbClr val="E8EEFA"/>
                          </a:solidFill>
                          <a:latin typeface="Segoe UI"/>
                        </a:rPr>
                        <a:t>25</a:t>
                      </a:r>
                    </a:p>
                  </a:txBody>
                  <a:tcPr>
                    <a:solidFill>
                      <a:srgbClr val="111834"/>
                    </a:solidFill>
                  </a:tcPr>
                </a:tc>
              </a:tr>
              <a:tr h="520000">
                <a:tc>
                  <a:txBody>
                    <a:bodyPr/>
                    <a:lstStyle/>
                    <a:p>
                      <a:r>
                        <a:rPr sz="1000" b="0">
                          <a:solidFill>
                            <a:srgbClr val="E8EEFA"/>
                          </a:solidFill>
                          <a:latin typeface="Segoe UI"/>
                        </a:rPr>
                        <a:t>Chekka qurilmada inferens: dvigatel qurilgan, latency va quvvat kamida 2 rejimda o'lchangan, to'liq so'rov kechikishi tahlil qilingan</a:t>
                      </a:r>
                    </a:p>
                  </a:txBody>
                  <a:tcPr>
                    <a:solidFill>
                      <a:srgbClr val="161F40"/>
                    </a:solidFill>
                  </a:tcPr>
                </a:tc>
                <a:tc>
                  <a:txBody>
                    <a:bodyPr/>
                    <a:lstStyle/>
                    <a:p>
                      <a:r>
                        <a:rPr sz="1000" b="0">
                          <a:solidFill>
                            <a:srgbClr val="E8EEFA"/>
                          </a:solidFill>
                          <a:latin typeface="Segoe UI"/>
                        </a:rPr>
                        <a:t>20</a:t>
                      </a:r>
                    </a:p>
                  </a:txBody>
                  <a:tcPr>
                    <a:solidFill>
                      <a:srgbClr val="161F40"/>
                    </a:solidFill>
                  </a:tcPr>
                </a:tc>
              </a:tr>
              <a:tr h="520000">
                <a:tc>
                  <a:txBody>
                    <a:bodyPr/>
                    <a:lstStyle/>
                    <a:p>
                      <a:r>
                        <a:rPr sz="1000" b="0">
                          <a:solidFill>
                            <a:srgbClr val="E8EEFA"/>
                          </a:solidFill>
                          <a:latin typeface="Segoe UI"/>
                        </a:rPr>
                        <a:t>Cloud/Edge/Gibrid taqqoslash o'z o'lchovlari va asoslangan narxlar bilan, ssenariyga mos tavsiya</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Hisobot va himoya</a:t>
                      </a:r>
                    </a:p>
                  </a:txBody>
                  <a:tcPr>
                    <a:solidFill>
                      <a:srgbClr val="161F40"/>
                    </a:solidFill>
                  </a:tcPr>
                </a:tc>
                <a:tc>
                  <a:txBody>
                    <a:bodyPr/>
                    <a:lstStyle/>
                    <a:p>
                      <a:r>
                        <a:rPr sz="1000" b="0">
                          <a:solidFill>
                            <a:srgbClr val="E8EEFA"/>
                          </a:solidFill>
                          <a:latin typeface="Segoe UI"/>
                        </a:rPr>
                        <a:t>10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ef12165dc255602f.jpg"/>
          <p:cNvPicPr>
            <a:picLocks noChangeAspect="1"/>
          </p:cNvPicPr>
          <p:nvPr/>
        </p:nvPicPr>
        <p:blipFill>
          <a:blip r:embed="rId2"/>
          <a:srcRect l="14533" r="14533"/>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Simon A. Eugster · Wikimedia Commons · CC BY-SA 3.0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Mashg'ulot natijalari joylashtirish bosqichining uchta asosiy haqiqatini ko'rsatadi.</a:t>
            </a:r>
          </a:p>
          <a:p>
            <a:pPr>
              <a:spcBef>
                <a:spcPts val="400"/>
              </a:spcBef>
            </a:pPr>
            <a:r>
              <a:rPr sz="1600">
                <a:solidFill>
                  <a:srgbClr val="AEBBD9"/>
                </a:solidFill>
                <a:latin typeface="Segoe UI"/>
              </a:rPr>
              <a:t>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Cheklovlar.</a:t>
            </a:r>
          </a:p>
          <a:p>
            <a:pPr>
              <a:spcBef>
                <a:spcPts val="400"/>
              </a:spcBef>
            </a:pPr>
            <a:r>
              <a:rPr sz="1300">
                <a:solidFill>
                  <a:srgbClr val="AEBBD9"/>
                </a:solidFill>
                <a:latin typeface="Segoe UI"/>
              </a:rPr>
              <a:t>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Muqobil yondashuvlar.</a:t>
            </a:r>
          </a:p>
          <a:p>
            <a:pPr>
              <a:spcBef>
                <a:spcPts val="400"/>
              </a:spcBef>
            </a:pPr>
            <a:r>
              <a:rPr sz="1300">
                <a:solidFill>
                  <a:srgbClr val="AEBBD9"/>
                </a:solidFill>
                <a:latin typeface="Segoe UI"/>
              </a:rPr>
              <a:t>Xizmat qatlami uchun FastAPI o'rniga ixtisoslashgan inferens serverlar: NVIDIA Triton Inference Server (dinamik paketlash, ko'p model, TensorRT/ONNX/PyTorch backendlar, Prometheus metrikalari tayyor), TorchServe, KServe (K8s'da serverless inferens, nolga qadar masshtablash), BentoML.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94cd127ff92307c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Christopher Bowns · Wikimedia Commons · CC BY-SA 2.0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PyTorch to'liq o'rnatilgan 5 GB tasvir. Inferens uchun ONNX Runtime yoki TensorRT runtime yetarli; devel asos tasvir, pip keshi va o'qitish kutubxonalari olib tashlansa, tasvir 5–10 baravar kichrayadi, tortish va ishga tushish tezlashadi.</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Readiness probe'siz Deployment. Yangi Pod model yuklab bo'lmasdan trafik oladi.</a:t>
            </a:r>
          </a:p>
          <a:p>
            <a:pPr>
              <a:spcBef>
                <a:spcPts val="400"/>
              </a:spcBef>
            </a:pPr>
            <a:r>
              <a:rPr sz="1400">
                <a:solidFill>
                  <a:srgbClr val="AEBBD9"/>
                </a:solidFill>
                <a:latin typeface="Segoe UI"/>
              </a:rPr>
              <a:t>503 xatolar; yoki aksincha, liveness probe muddati qisqa bo'lib, sekin yuklanayotgan GPU Pod'ni K8s cheksiz qayta ishga tushiradi (CrashLoopBackOff). initialDelaySeconds va failureThreshold ni haqiqiy ishga tushish vaqtidan kelib chiqib sozlang.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Resurs so'rovlarini ko'rsatmaslik. requests siz HPA ishlamaydi, scheduler Pod'larni noto'g'ri taqsimlaydi; limits siz bitta xotira sizib chiquvchi Pod tugunni o'ldiradi. GPU Pod'da nvidia.com/gpu limiti majburiy.</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TensorRT dvigatelini tasvirga joylash. Dvigatel GPU modeli va TensorRT versiyasiga bog'liq; tasvirni boshqa tugunga ko'chirganda ishlamaydi. ONNX'ni joylang, dvigatelni ishga tushishda (yoki init-konteynerda, keshlab) quring.</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Konteynerni root sifatida ishga tushirish va --network host ni har joyda ishlatish. Xavfsizlik auditi birinchi bo'lib shuni topadi. USER, runAsNonRoot, kerak bo'lgan portlarni oching.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Jetson'da quvvat rejimini tekshirmaslik. Standart rejim 15 Vt bo'lishi mumkin.</a:t>
            </a:r>
          </a:p>
          <a:p>
            <a:pPr>
              <a:spcBef>
                <a:spcPts val="400"/>
              </a:spcBef>
            </a:pPr>
            <a:r>
              <a:rPr sz="1400">
                <a:solidFill>
                  <a:srgbClr val="AEBBD9"/>
                </a:solidFill>
                <a:latin typeface="Segoe UI"/>
              </a:rPr>
              <a:t>natijalar 25 Vt rejimidan 1,5–2 baravar yomon chiqadi va «Jetson sekin» degan noto'g'ri xulosa paydo bo'ladi. Har o'lchovda nvpmodel -q chiqishini hisobotga kiriting; termal cheklovni tegrastats dagi haroratdan kuzating.</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Chekka qurilmada oldindan ishlovni CPU'da qoldirish. ARM CPU'da JPEG dekodlash va resize inferensdan 5–7 baravar uzoq. NVDEC, VPI, DALI yoki hech bo'lmaganda pillow-simd/turbojpeg ishlating.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31152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7832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0" name="TextBox 29"/>
          <p:cNvSpPr txBox="1"/>
          <p:nvPr/>
        </p:nvSpPr>
        <p:spPr>
          <a:xfrm>
            <a:off x="1300000" y="2271520"/>
            <a:ext cx="5900000" cy="1423480"/>
          </a:xfrm>
          <a:prstGeom prst="rect">
            <a:avLst/>
          </a:prstGeom>
          <a:noFill/>
        </p:spPr>
        <p:txBody>
          <a:bodyPr wrap="square" anchor="ctr">
            <a:spAutoFit/>
          </a:bodyPr>
          <a:lstStyle/>
          <a:p>
            <a:r>
              <a:rPr sz="1400" b="0">
                <a:solidFill>
                  <a:srgbClr val="E8EEFA"/>
                </a:solidFill>
                <a:latin typeface="Segoe UI"/>
              </a:rP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p:txBody>
      </p:sp>
      <p:sp>
        <p:nvSpPr>
          <p:cNvPr id="31" name="Rounded Rectangle 30"/>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39674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4" name="TextBox 33"/>
          <p:cNvSpPr txBox="1"/>
          <p:nvPr/>
        </p:nvSpPr>
        <p:spPr>
          <a:xfrm>
            <a:off x="1300000" y="3885000"/>
            <a:ext cx="5900000" cy="1423480"/>
          </a:xfrm>
          <a:prstGeom prst="rect">
            <a:avLst/>
          </a:prstGeom>
          <a:noFill/>
        </p:spPr>
        <p:txBody>
          <a:bodyPr wrap="square" anchor="ctr">
            <a:spAutoFit/>
          </a:bodyPr>
          <a:lstStyle/>
          <a:p>
            <a:r>
              <a:rPr sz="1400" b="0">
                <a:solidFill>
                  <a:srgbClr val="E8EEFA"/>
                </a:solidFill>
                <a:latin typeface="Segoe UI"/>
              </a:rPr>
              <a:t>Cloud narxini faqat GPU soatidan hisoblash. Tarmoq chiqish trafigi (egress), yuk balanslagich, saqlash, loglar va monitoring xizmatlari jami narxning 20–40 foizini tashkil etishi mumkin. TCO'da barchasini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4" name="Rounded Rectangle 23"/>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2"/>
          <a:stretch>
            <a:fillRect/>
          </a:stretch>
        </p:blipFill>
        <p:spPr>
          <a:xfrm>
            <a:off x="8300000" y="1600000"/>
            <a:ext cx="3200000" cy="3200000"/>
          </a:xfrm>
          <a:prstGeom prst="rect">
            <a:avLst/>
          </a:prstGeom>
        </p:spPr>
      </p:pic>
      <p:sp>
        <p:nvSpPr>
          <p:cNvPr id="26" name="TextBox 25"/>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A4 → 🧪 Virtual bajarish (6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ppt_x</p:attrName>
                                        </p:attrNameLst>
                                      </p:cBhvr>
                                      <p:tavLst>
                                        <p:tav tm="0">
                                          <p:val>
                                            <p:strVal val="#ppt_x"/>
                                          </p:val>
                                        </p:tav>
                                        <p:tav tm="100000">
                                          <p:val>
                                            <p:strVal val="#ppt_x"/>
                                          </p:val>
                                        </p:tav>
                                      </p:tavLst>
                                    </p:anim>
                                    <p:anim calcmode="lin" valueType="num">
                                      <p:cBhvr additive="base">
                                        <p:cTn id="29"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6"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1" name="Rectangle 90"/>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3" name="TextBox 92"/>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200"/>
                            </p:stCondLst>
                            <p:childTnLst>
                              <p:par>
                                <p:cTn id="352" presetID="53" presetClass="entr" presetSubtype="16"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anim calcmode="lin" valueType="num">
                                      <p:cBhvr additive="base">
                                        <p:cTn id="355" dur="550" fill="hold"/>
                                        <p:tgtEl>
                                          <p:spTgt spid="90"/>
                                        </p:tgtEl>
                                        <p:attrNameLst>
                                          <p:attrName>ppt_w</p:attrName>
                                        </p:attrNameLst>
                                      </p:cBhvr>
                                      <p:tavLst>
                                        <p:tav tm="0">
                                          <p:val>
                                            <p:strVal val="0"/>
                                          </p:val>
                                        </p:tav>
                                        <p:tav tm="100000">
                                          <p:val>
                                            <p:strVal val="#ppt_w"/>
                                          </p:val>
                                        </p:tav>
                                      </p:tavLst>
                                    </p:anim>
                                    <p:anim calcmode="lin" valueType="num">
                                      <p:cBhvr additive="base">
                                        <p:cTn id="356" dur="550" fill="hold"/>
                                        <p:tgtEl>
                                          <p:spTgt spid="90"/>
                                        </p:tgtEl>
                                        <p:attrNameLst>
                                          <p:attrName>ppt_h</p:attrName>
                                        </p:attrNameLst>
                                      </p:cBhvr>
                                      <p:tavLst>
                                        <p:tav tm="0">
                                          <p:val>
                                            <p:strVal val="0"/>
                                          </p:val>
                                        </p:tav>
                                        <p:tav tm="100000">
                                          <p:val>
                                            <p:strVal val="#ppt_h"/>
                                          </p:val>
                                        </p:tav>
                                      </p:tavLst>
                                    </p:anim>
                                  </p:childTnLst>
                                </p:cTn>
                              </p:par>
                            </p:childTnLst>
                          </p:cTn>
                        </p:par>
                        <p:par>
                          <p:cTn id="357" fill="hold">
                            <p:stCondLst>
                              <p:cond delay="350"/>
                            </p:stCondLst>
                            <p:childTnLst>
                              <p:par>
                                <p:cTn id="358" presetID="22" presetClass="entr" presetSubtype="8" fill="hold" grpId="0" nodeType="afterEffect">
                                  <p:stCondLst>
                                    <p:cond delay="0"/>
                                  </p:stCondLst>
                                  <p:childTnLst>
                                    <p:set>
                                      <p:cBhvr>
                                        <p:cTn id="359" dur="1" fill="hold">
                                          <p:stCondLst>
                                            <p:cond delay="0"/>
                                          </p:stCondLst>
                                        </p:cTn>
                                        <p:tgtEl>
                                          <p:spTgt spid="91"/>
                                        </p:tgtEl>
                                        <p:attrNameLst>
                                          <p:attrName>style.visibility</p:attrName>
                                        </p:attrNameLst>
                                      </p:cBhvr>
                                      <p:to>
                                        <p:strVal val="visible"/>
                                      </p:to>
                                    </p:set>
                                    <p:animEffect transition="in" filter="wipe(left)">
                                      <p:cBhvr>
                                        <p:cTn id="361" dur="800"/>
                                        <p:tgtEl>
                                          <p:spTgt spid="91"/>
                                        </p:tgtEl>
                                      </p:cBhvr>
                                    </p:animEffect>
                                  </p:childTnLst>
                                </p:cTn>
                              </p:par>
                            </p:childTnLst>
                          </p:cTn>
                        </p:par>
                        <p:par>
                          <p:cTn id="362" fill="hold">
                            <p:stCondLst>
                              <p:cond delay="500"/>
                            </p:stCondLst>
                            <p:childTnLst>
                              <p:par>
                                <p:cTn id="363" presetID="42" presetClass="entr" presetSubtype="0" fill="hold" grpId="0" nodeType="afterEffect">
                                  <p:stCondLst>
                                    <p:cond delay="0"/>
                                  </p:stCondLst>
                                  <p:childTnLst>
                                    <p:set>
                                      <p:cBhvr>
                                        <p:cTn id="364" dur="1" fill="hold">
                                          <p:stCondLst>
                                            <p:cond delay="0"/>
                                          </p:stCondLst>
                                        </p:cTn>
                                        <p:tgtEl>
                                          <p:spTgt spid="92"/>
                                        </p:tgtEl>
                                        <p:attrNameLst>
                                          <p:attrName>style.visibility</p:attrName>
                                        </p:attrNameLst>
                                      </p:cBhvr>
                                      <p:to>
                                        <p:strVal val="visible"/>
                                      </p:to>
                                    </p:set>
                                    <p:animEffect transition="in" filter="fade">
                                      <p:cBhvr>
                                        <p:cTn id="365" dur="550"/>
                                        <p:tgtEl>
                                          <p:spTgt spid="92"/>
                                        </p:tgtEl>
                                      </p:cBhvr>
                                    </p:animEffect>
                                    <p:anim calcmode="lin" valueType="num">
                                      <p:cBhvr additive="base">
                                        <p:cTn id="366" dur="550" fill="hold"/>
                                        <p:tgtEl>
                                          <p:spTgt spid="92"/>
                                        </p:tgtEl>
                                        <p:attrNameLst>
                                          <p:attrName>ppt_x</p:attrName>
                                        </p:attrNameLst>
                                      </p:cBhvr>
                                      <p:tavLst>
                                        <p:tav tm="0">
                                          <p:val>
                                            <p:strVal val="#ppt_x"/>
                                          </p:val>
                                        </p:tav>
                                        <p:tav tm="100000">
                                          <p:val>
                                            <p:strVal val="#ppt_x"/>
                                          </p:val>
                                        </p:tav>
                                      </p:tavLst>
                                    </p:anim>
                                    <p:anim calcmode="lin" valueType="num">
                                      <p:cBhvr additive="base">
                                        <p:cTn id="367" dur="550" fill="hold"/>
                                        <p:tgtEl>
                                          <p:spTgt spid="92"/>
                                        </p:tgtEl>
                                        <p:attrNameLst>
                                          <p:attrName>ppt_y</p:attrName>
                                        </p:attrNameLst>
                                      </p:cBhvr>
                                      <p:tavLst>
                                        <p:tav tm="0">
                                          <p:val>
                                            <p:strVal val="#ppt_y+.08"/>
                                          </p:val>
                                        </p:tav>
                                        <p:tav tm="100000">
                                          <p:val>
                                            <p:strVal val="#ppt_y"/>
                                          </p:val>
                                        </p:tav>
                                      </p:tavLst>
                                    </p:anim>
                                  </p:childTnLst>
                                </p:cTn>
                              </p:par>
                            </p:childTnLst>
                          </p:cTn>
                        </p:par>
                        <p:par>
                          <p:cTn id="368" fill="hold">
                            <p:stCondLst>
                              <p:cond delay="650"/>
                            </p:stCondLst>
                            <p:childTnLst>
                              <p:par>
                                <p:cTn id="369" presetID="10" presetClass="entr" presetSubtype="0" fill="hold" grpId="0" nodeType="afterEffect">
                                  <p:stCondLst>
                                    <p:cond delay="0"/>
                                  </p:stCondLst>
                                  <p:childTnLst>
                                    <p:set>
                                      <p:cBhvr>
                                        <p:cTn id="370" dur="1" fill="hold">
                                          <p:stCondLst>
                                            <p:cond delay="0"/>
                                          </p:stCondLst>
                                        </p:cTn>
                                        <p:tgtEl>
                                          <p:spTgt spid="93"/>
                                        </p:tgtEl>
                                        <p:attrNameLst>
                                          <p:attrName>style.visibility</p:attrName>
                                        </p:attrNameLst>
                                      </p:cBhvr>
                                      <p:to>
                                        <p:strVal val="visible"/>
                                      </p:to>
                                    </p:set>
                                    <p:animEffect transition="in" filter="fade">
                                      <p:cBhvr>
                                        <p:cTn id="371" dur="550"/>
                                        <p:tgtEl>
                                          <p:spTgt spid="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
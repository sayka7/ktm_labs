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qanchalik tez va aniq bo'lmasin, foydalanuvchi uchun u faqat xizmat sifatida mavjud bo'lganda qiymatga ega. Joylashtirish bosqichi ko'pincha e'tibordan chetda qoladi, holbuki sanoatda muammolarning katta qismi aynan shu yerda yuzaga keladi: «mening kompyuterimda ishlagan edi» sindromi (kutubxona versiyalari nomuvofiqligi), bitta nusxa (instance) yuklama ostida yiqilishi, GPU xotirasi tugashi, yangilanishda xizmat to'xtashi, chekka qurilmada internet uzilganda tizim ishdan chiqishi. Konteynerlashtirish va orkestratsiya aynan shu muammolarni tizimli hal qilish uchun yaratilgan.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qanchalik tez va aniq bo'lmasin, foydalanuvchi uchun u faqat xizmat sifatida mavjud bo'lganda qiymatga ega. Joylashtirish bosqichi ko'pincha e'tibordan chetda qoladi, holbuki sanoatda muammolarning katta qismi aynan shu yerda yuzaga keladi: «mening kompyuterimda ishlagan edi» sindromi (kutubxona versiyalari nomuvofiqligi), bitta nusxa (instance) yuklama ostida yiqilishi, GPU xotirasi tugashi, yangilanishda xizmat to'xtashi, chekka qurilmada internet uzilganda tizim ishdan chiqishi. Konteynerlashtirish va orkestratsiya aynan shu muammolarni tizimli hal qilish uchun yaratilgan.</a:t>
            </a:r>
          </a:p>
          <a:p/>
          <a:p>
            <a:r>
              <a:t>Docker konteyneri — ilova va uning barcha bog'liqliklarini (kutubxonalar, CUDA runtime, model fayli) bitta ko'chma tasvirga (image) joylash; xost yadrosi (kernel) umumiy, lekin fayl tizimi, jarayonlar va tarmoq izolyatsiyalangan. Kubernetes (K8s) — konteynerlarni klaster bo'ylab boshqaruvchi tizim: nechta nusxa ishlashi, qaysi tugunda (node), qancha resurs bilan, nosozlikda nima bo'lishi, yuklama o'sganda qanday masshtablash — bularning barchasi deklarativ YAML manifestlarida yoziladi va K8s boshqaruvchisi (controller) haqiqiy holatni istalgan holatga keltirib turadi. NVIDIA device plugin orqali GPU'lar ham K8s resursi sifatida (nvidia.com/gpu: 1) ajratiladi.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Docker konteyneri — ilova va uning barcha bog'liqliklarini (kutubxonalar, CUDA runtime, model fayli) bitta ko'chma tasvirga (image) joylash; xost yadrosi (kernel) umumiy, lekin fayl tizimi, jarayonlar va tarmoq izolyatsiyalangan. Kubernetes (K8s) — konteynerlarni klaster bo'ylab boshqaruvchi tizim: nechta nusxa ishlashi, qaysi tugunda (node), qancha resurs bilan, nosozlikda nima bo'lishi, yuklama o'sganda qanday masshtablash — bularning barchasi deklarativ YAML manifestlarida yoziladi va K8s boshqaruvchisi (controller) haqiqiy holatni istalgan holatga keltirib turadi. NVIDIA device plugin orqali GPU'lar ham K8s resursi sifatida (nvidia.com/gpu: 1) ajratiladi.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Chekka hisoblash (Edge AI) boshqa falsafa: ma'lumot paydo bo'lgan joyda — kamera, stanok, avtomobil, tibbiy qurilma yonida — qayta ishlanadi. Afzalliklari: millisekundli kechikish (tarmoqqa bog'liq emas), tarmoq trafigini tejash (16 kamera 64 Mbit/s uzluksiz oqim o'rniga faqat hodisalar), maxfiylik (video binodan chiqmaydi), oflayn ishlash. Kamchiliklari: cheklangan hisoblash va xotira, yangilash va monitoring murakkabligi, fizik xavfsizlik, minglab qurilmani boshqarish. Real tizimlar ko'pincha gibrid: chekkada tezkor birlamchi inferens, bulutda og'ir model, qayta o'qitish, tahlil va boshqaruv. Mashg'ulotda biz ikkala tomonni qurib, keyin ularni A1 dagi shaxsiy himoya vositalari (SHV) aniqlash ssenariysi uchun solishtiramiz.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xizmatining Docker tasviri odatiy veb-ilovadan farq qiladi: CUDA kutubxonalari (1–3 GB), PyTorch (2 GB dan ortiq), model fayli (yuzlab MB). Shu sababli bir necha amaliy qoida mavjud. Ko'p bosqichli qurish (multi-stage build): birinchi bosqichda kompilyatsiya va bog'liqliklar o'rnatiladi, ikkinchisiga faqat kerakli fayllar ko'chiriladi — yakuniy tasvir 2–5 baravar kichrayadi. Asos tasvirni to'g'ri tanlash: nvidia/cuda:12.x-runtime (devel emas — kompilyator keraksiz), yoki nvcr.io/nvidia/tensorrt, yoki CPU uchun python:3.11-slim. Qatlamlar tartibi: kam o'zgaradigan qatlamlar (OS paketlari, kutubxonalar) avval, tez o'zgaradigan (ilova kodi) oxirida — kesh qayta ishlatiladi. Model faylini tasvirga emas, hajm (volume) yoki ob'ekt omboridan (S3/MinIO) ishga tushishda yuklash — tasvir model versiyasidan mustaqil bo'ladi. Konteyner ildiz foydalanuvchi (root) sifatida emas, cheklangan foydalanuvchi bilan ishlashi — xavfsizlik talabi. GPU kirish uchun NVIDIA Container Toolkit o'rnatiladi va konteyner --gpus all bilan ishga tushiriladi.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xizmatining Docker tasviri odatiy veb-ilovadan farq qiladi: CUDA kutubxonalari (1–3 GB), PyTorch (2 GB dan ortiq), model fayli (yuzlab MB). Shu sababli bir necha amaliy qoida mavjud. Ko'p bosqichli qurish (multi-stage build): birinchi bosqichda kompilyatsiya va bog'liqliklar o'rnatiladi, ikkinchisiga faqat kerakli fayllar ko'chiriladi — yakuniy tasvir 2–5 baravar kichrayadi. Asos tasvirni to'g'ri tanlash: nvidia/cuda:12.x-runtime (devel emas — kompilyator keraksiz), yoki nvcr.io/nvidia/tensorrt, yoki CPU uchun python:3.11-slim. Qatlamlar tartibi: kam o'zgaradigan qatlamlar (OS paketlari, kutubxonalar) avval, tez o'zgaradigan (ilova kodi) oxirida — kesh qayta ishlatiladi. Model faylini tasvirga emas, hajm (volume) yoki ob'ekt omboridan (S3/MinIO) ishga tushishda yuklash — tasvir model versiyasidan mustaqil bo'ladi. Konteyner ildiz foydalanuvchi (root) sifatida emas, cheklangan foydalanuvchi bilan ishlashi — xavfsizlik talabi. GPU kirish uchun NVIDIA Container Toolkit o'rnatiladi va konteyner --gpus all bilan ishga tushiriladi.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ONNX Runtime CPU asosidagi xizmat tasviri odatda 400–600 MB, TensorRT GPU tasviri 3–6 GB bo'ladi; ishga tushish vaqti (model yuklanishi bilan) mos ravishda 2–5 soniya va 10–40 soniya (TensorRT dvigatelini deserializatsiya qilish yoki qurish). Bu raqamlar K8s'da sog'liq tekshiruvi (readiness probe) muddatini va avtomatik masshtablash reaktsiya vaqtini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Readiness probe (xizmat so'rov qabul qilishga tayyormi) va liveness probe (jarayon tirikmi) AI xizmatida farq qiladi: model yuklanayotgan 30 soniya davomida Pod tirik, lekin tayyor emas — trafik unga yuborilmasligi kerak. GPU Pod'lar uchun limits majburiy va bo'lingan (fractional) GPU standart K8s'da yo'q — bitta Pod bitta GPU; bo'lish uchun NVIDIA MPS, time-slicing yoki MIG (A100/H100) ishlatiladi. Avtomatik masshtablash GPU xizmatlari uchun CPU foizi emas, balki navbat uzunligi yoki so'rov/s bo'yicha (Prometheus Adapter yoki KEDA orqali) sozlanadi, chunki GPU xizmatining CPU yuklamasi kam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Readiness probe (xizmat so'rov qabul qilishga tayyormi) va liveness probe (jarayon tirikmi) AI xizmatida farq qiladi: model yuklanayotgan 30 soniya davomida Pod tirik, lekin tayyor emas — trafik unga yuborilmasligi kerak. GPU Pod'lar uchun limits majburiy va bo'lingan (fractional) GPU standart K8s'da yo'q — bitta Pod bitta GPU; bo'lish uchun NVIDIA MPS, time-slicing yoki MIG (A100/H100) ishlatiladi. Avtomatik masshtablash GPU xizmatlari uchun CPU foizi emas, balki navbat uzunligi yoki so'rov/s bo'yicha (Prometheus Adapter yoki KEDA orqali) sozlanadi, chunki GPU xizmatining CPU yuklamasi kam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CPU + Ampere GPU (Orin avlodi) + apparat video kodek + umumiy LPDDR5 xotira bir chipda (SoC). JetPack dasturiy to'plami Ubuntu, CUDA, cuDNN, TensorRT, DeepStream va konteyner qo'llab-quvvatlashini (NVIDIA Container Runtime, l4t asos tasvirlar) o'z ichiga oladi. Quvvat rejimlari nvpmodel bilan boshqariladi (Orin NX: 10, 15, 25 Vt), jetson_clocks chastotani maksimumga qotiradi, tegrastats GPU/CPU yuklama, harorat va quvvatni ko'rsatadi. Jetson'da TensorRT dvigateli aynan shu qurilmada quriladi (A3 dagi qoida), FP16 va INT8 Tensor Core'larda ishlaydi; DLA (Deep Learning Accelerator) bloklari ba'zi qatlamlarni GPU'dan ham tejamkor bajaradi.</a:t>
            </a:r>
          </a:p>
          <a:p/>
          <a:p>
            <a:r>
              <a:t>Google Coral Edge TPU — 4 TOPS INT8 ASIC, ~2 Vt, USB yoki M.2/PCIe modul, shuningdek Dev Board. Faqat to'liq INT8 kvantlangan TensorFlow Lite modeli, Edge TPU kompilyatori (edgetpu_compiler) orqali kompilyatsiya qilingan holda ishlaydi; qo'llab-quvvatlanmagan operatorlar CPU'da bajariladi (kompilyator buni hisobotda ko'rsatadi). 8 MB on-chip xotiraga sig'adigan modellar (MobileNet, EfficientDet-Lite, kichik YOLO variantlari) 5–15 ms da ishlaydi; kattaroq modellarda vaznlar USB orqali oqimlanadi va tezlik bir necha baravar tushadi.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Coral Edge TPU — 4 TOPS INT8 ASIC, ~2 Vt, USB yoki M.2/PCIe modul, shuningdek Dev Board. Faqat to'liq INT8 kvantlangan TensorFlow Lite modeli, Edge TPU kompilyatori (edgetpu_compiler) orqali kompilyatsiya qilingan holda ishlaydi; qo'llab-quvvatlanmagan operatorlar CPU'da bajariladi (kompilyator buni hisobotda ko'rsatadi). 8 MB on-chip xotiraga sig'adigan modellar (MobileNet, EfficientDet-Lite, kichik YOLO variantlari) 5–15 ms da ishlaydi; kattaroq modellarda vaznlar USB orqali oqimlanadi va tezlik bir necha baravar tushadi.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Uchdan-uchga kechikish: Edge'da tarmoq ishtirok etmaydi — 10–50 ms; Cloud'da mintaqaviy ma'lumotlar markazigacha 20–80 ms RTT (O'zbekistondan eng yaqin yirik bulut mintaqalari — Frankfurt, Mumbai, Singapur — 80–150 ms) plus navbat va inferens. Tarmoq trafigi: Edge faqat hodisalar va metrikalarni yuboradi (kB/s), Cloud xom oqimni talab qiladi (Mbit/s). TCO: Cloud — operatsion xarajat (GPU soati 0,5–4 AQSh dollari T4/A10/A100 uchun, mintaqaga qarab), Edge — kapital xarajat (qurilma 300–2000 dollar) plus texnik xizmat. Energiya: Edge inferens boshiga 10–50 mJ, Cloud'da tezlatkichning o'zi samaraliroq bo'lishi mumkin, lekin ma'lumotlar markazi PUE (1,1–1,5) va tarmoq uzatish energiyasi qo'shiladi. Ishonchlilik: Cloud — 99,9 % va undan yuqori SLA, lekin internetga bog'liq; Edge — mahalliy avtonomiya, lekin qurilma nosozligini masofadan tuzatish qiyin. Maxfiylik va me'yoriy talablar: shaxsiy ma'lumot (yuz, tibbiy tasvir) binoni tark etmasligi ko'p hollarda qonuniy talab. Yangilash va boshqaruv: Cloud'da bir marta, Edge'da minglab qurilmaga — OTA (over-the-air) va flot boshqaruvi kerak.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Uchdan-uchga kechikish: Edge'da tarmoq ishtirok etmaydi — 10–50 ms; Cloud'da mintaqaviy ma'lumotlar markazigacha 20–80 ms RTT (O'zbekistondan eng yaqin yirik bulut mintaqalari — Frankfurt, Mumbai, Singapur — 80–150 ms) plus navbat va inferens. Tarmoq trafigi: Edge faqat hodisalar va metrikalarni yuboradi (kB/s), Cloud xom oqimni talab qiladi (Mbit/s). TCO: Cloud — operatsion xarajat (GPU soati 0,5–4 AQSh dollari T4/A10/A100 uchun, mintaqaga qarab), Edge — kapital xarajat (qurilma 300–2000 dollar) plus texnik xizmat. Energiya: Edge inferens boshiga 10–50 mJ, Cloud'da tezlatkichning o'zi samaraliroq bo'lishi mumkin, lekin ma'lumotlar markazi PUE (1,1–1,5) va tarmoq uzatish energiyasi qo'shiladi. Ishonchlilik: Cloud — 99,9 % va undan yuqori SLA, lekin internetga bog'liq; Edge — mahalliy avtonomiya, lekin qurilma nosozligini masofadan tuzatish qiyin. Maxfiylik va me'yoriy talablar: shaxsiy ma'lumot (yuz, tibbiy tasvir) binoni tark etmasligi ko'p hollarda qonuniy talab. Yangilash va boshqaruv: Cloud'da bir marta, Edge'da minglab qurilmaga — OTA (over-the-air) va flot boshqaruvi kerak.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Xizmatga kamida to'rtta signal kiritiladi: so'rovlar soni (sekundiga), xatolar ulushi, kechikish gistogrammasi (p50/p95/p99 hisoblash uchun) va resurs ko'rsatkichlari (GPU bandligi, xotira, harorat). Prometheus format standart; FastAPI uchun prometheus-fastapi-instrumentator yoki prometheus_client. Loglar strukturali (JSON) bo'lib, so'rov identifikatori bilan bog'lanadi. Bu ma'lumotlar M12 dagi MLOps jarayonlari — drift aniqlash, modelni avtomatik qayta joylash — uchun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«ResNet-50/YOLOv8 inferens xizmatini Docker + Kubernetes'da bulutli uslubda va Jetson/Edge TPU'da chekka uslubda joylashtirish, ikki arxitekturani taqqoslash».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«ResNet-50/YOLOv8 inferens xizmatini Docker + Kubernetes'da bulutli uslubda va Jetson/Edge TPU'da chekka uslubda joylashtirish, ikki arxitekturani taqqoslash».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 qilinadigan muhit. 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 Python 3.11, fastapi, uvicorn, onnxruntime (yoki onnxruntime-gpu), numpy, pillow, prometheus-fastapi-instrumentator; yuklama generatori hey yoki locust. Chekka qismi: NVIDIA Jetson Orin Nano/NX (JetPack 6.x, TensorRT 8.6/10) yoki Coral USB Accelerator + Raspberry Pi 4/5 (yoki x86 noutbuk) libedgetpu, pycoral yoki tflite-runtime bilan. Modellar: A3 dan resnet50_fp32.onnx va resnet50_int8.onnx; Coral uchun rasmiy kvantlangan MobileNetV2 yoki EfficientNet-Lite TFLite modeli (Coral model bog'idan). Vaqt: 2 akademik soat auditoriyada (Docker + minikube), Jetson/Coral qismi laboratoriya qurilmalarida navbat bilan yoki uyda.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 qilinadigan muhit. 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 Python 3.11, fastapi, uvicorn, onnxruntime (yoki onnxruntime-gpu), numpy, pillow, prometheus-fastapi-instrumentator; yuklama generatori hey yoki locust. Chekka qismi: NVIDIA Jetson Orin Nano/NX (JetPack 6.x, TensorRT 8.6/10) yoki Coral USB Accelerator + Raspberry Pi 4/5 (yoki x86 noutbuk) libedgetpu, pycoral yoki tflite-runtime bilan. Modellar: A3 dan resnet50_fp32.onnx va resnet50_int8.onnx; Coral uchun rasmiy kvantlangan MobileNetV2 yoki EfficientNet-Lite TFLite modeli (Coral model bog'idan). Vaqt: 2 akademik soat auditoriyada (Docker + minikube), Jetson/Coral qismi laboratoriya qurilmalarida navbat bilan yoki uyda.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 Vaqt o'lchovi javobda qaytariladi — kechikish qayerda ekanini (oldindan ishlov yoki inferens) darhol ko'rish mumkin.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 Vaqt o'lchovi javobda qaytariladi — kechikish qayerda ekanini (oldindan ishlov yoki inferens) darhol ko'rish mumkin.</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(4 vCPU noutbuk, INT8 model, --cpus=2, taxminiy): tasvir hajmi ~480 MB; ishga tushish 3–4 s; bitta so'rov — preprocess 4 ms + inferens 14 ms; hey 8 parallel mijoz bilan: ~95 so'rov/s, p50 80 ms, p95 130 ms (2 CPU'da navbat tufayli).</a:t>
            </a:r>
          </a:p>
          <a:p/>
          <a:p>
            <a:r>
              <a:t>Nima bo'ldi va nega. Ko'p bosqichli qurish pip keshini va qurish vositalarini yakuniy tasvirdan chiqarib tashladi. --cpus=2 --memory=1g K8s'dagi limits ning mahalliy ekvivalenti — xizmat shu cheklovda qanday ishlashini oldindan ko'ramiz: 2 CPU'da bitta uvicorn ishchisi 14 ms inferens bilan nazariy 70 so'rov/s beradi, paralel so'rovlar navbatda turadi — p95 oshadi. Bu HPA uchun chegara qiymatini tanlashga asos.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(4 vCPU noutbuk, INT8 model, --cpus=2, taxminiy): tasvir hajmi ~480 MB; ishga tushish 3–4 s; bitta so'rov — preprocess 4 ms + inferens 14 ms; hey 8 parallel mijoz bilan: ~95 so'rov/s, p50 80 ms, p95 130 ms (2 CPU'da navbat tufayli).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 4 vCPU minikube): yuklama boshlanganidan 45–60 s o'tib HPA nusxalar sonini 2 → 4 ga oshiradi (CPU 60 % chegarasi oshganda; kubectl top pods har Pod'da 1400–1900m ko'rsatadi); throughput 2 nusxada ~140 so'rov/s dan 4 nusxada ~250 so'rov/s ga (klaster 4 vCPU bilan cheklangani uchun chiziqli emas); p95 kechikish 280 ms dan 150 ms ga tushadi; yuklama tugagach 3 daqiqadan keyin 2 ga qaytadi. rollout davomida maxUnavailable: 0 tufayli xizmat to'xtamaydi — hey xatolar soni 0.</a:t>
            </a:r>
          </a:p>
          <a:p/>
          <a:p>
            <a:r>
              <a:t>Nima bo'ldi va nega. Deklarativ manifest «istalgan holat»ni tavsifladi, K8s boshqaruvchisi uni ta'minladi: Pod yiqilsa qayta yaratadi, yuklama o'ssa nusxa qo'shadi, yangilash paytida eski nusxani yangisi tayyor bo'lgandagina to'xtatadi. Readiness probe'siz yangi Pod model yuklanmasdan trafik olib, 503 xatolar bergan bo'lardi. requests HPA hisobi uchun asos (foiz requests ga nisbatan), limits esa bitta Pod butun tugunni egallab olmasligi uchun. GPU variantida HPA CPU bo'yicha ishlamaydi — talaba qo'shimcha topshiriqda KEDA yoki Prometheus Adapter orqali http_requests_total tezligi bo'yicha masshtablashni sozlaydi.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 4 vCPU minikube): yuklama boshlanganidan 45–60 s o'tib HPA nusxalar sonini 2 → 4 ga oshiradi (CPU 60 % chegarasi oshganda; kubectl top pods har Pod'da 1400–1900m ko'rsatadi); throughput 2 nusxada ~140 so'rov/s dan 4 nusxada ~250 so'rov/s ga (klaster 4 vCPU bilan cheklangani uchun chiziqli emas); p95 kechikish 280 ms dan 150 ms ga tushadi; yuklama tugagach 3 daqiqadan keyin 2 ga qaytadi. rollout davomida maxUnavailable: 0 tufayli xizmat to'xtamaydi — hey xatolar soni 0.</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 10 Vt rejimida latency 2 baravar oshdi, lekin batareyali qurilma uchun bu kompromiss maqbul bo'lishi mumkin. Eng muhim kuzatuv oxirgi qatorda: HTTP xizmat orqali to'liq so'rov 19 ms — inferensning o'zi 2,6 ms, qolgani JPEG dekodlash, resize va Python xarajati ARM CPU'da. Chekka tizimda oldindan ishlovni GPU'ga (NVDEC + VPI/DALI) ko'chirish inferensni optimallashtirishdan muhimroq — A1 dagi quvur liniyasi tahlili shu yerda tasdiqlanadi.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(Jetson Orin NX 16 GB, 25 Vt rejimi, batch 1, taxminiy):</a:t>
            </a:r>
          </a:p>
          <a:p/>
          <a:p>
            <a:r>
              <a:t>Nima bo'ldi va nega. 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 10 Vt rejimida latency 2 baravar oshdi, lekin batareyali qurilma uchun bu kompromiss maqbul bo'lishi mumkin. Eng muhim kuzatuv oxirgi qatorda: HTTP xizmat orqali to'liq so'rov 19 ms — inferensning o'zi 2,6 ms, qolgani JPEG dekodlash, resize va Python xarajati ARM CPU'da. Chekka tizimda oldindan ishlovni GPU'ga (NVDEC + VPI/DALI) ko'chirish inferensni optimallashtirishdan muhimroq — A1 dagi quvur liniyasi tahlili shu yerda tasdiqlanadi.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(Jetson Orin NX 16 GB, 25 Vt rejimi, batch 1, taxminiy):</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(Coral USB Accelerator, USB 3.0, taxminiy): MobileNetV2 p50 ≈ 2,8 ms (USB 2.0 da ≈ 12 ms — interfeys tiqilib qoladi); quvvat ~1,5–2 Vt → ~5 mJ/rasm; ResNet-50 (kvantlangan, 25 MB vazn 8 MB SRAM'ga sig'maydi) ≈ 15–18 ms. Xost CPU (Raspberry Pi 4) da xuddi shu TFLite model 60–80 ms — Edge TPU 20–25 baravar tezlanish beradi.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(Coral USB Accelerator, USB 3.0, taxminiy): MobileNetV2 p50 ≈ 2,8 ms (USB 2.0 da ≈ 12 ms — interfeys tiqilib qoladi); quvvat ~1,5–2 Vt → ~5 mJ/rasm; ResNet-50 (kvantlangan, 25 MB vazn 8 MB SRAM'ga sig'maydi) ≈ 15–18 ms. Xost CPU (Raspberry Pi 4) da xuddi shu TFLite model 60–80 ms — Edge TPU 20–25 baravar tezlanish beradi.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 Gibrid variant ko'p sanoat tizimlarida optimal: chekkada 95 % qarorlar, bulutda sifat nazorati, qayta o'qitish uchun ma'lumot yig'ish va markaziy monitoring. Jadval talabaga shuni ko'rsatadi: «Cloud yoki Edge» savolining javobi texnik emas, ssenariyga bog'liq.</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ssenariysi (16 kamera, 160 inferens/s, 3 yil) uchun quyidagi jadvalni to'ldiring; raqamlar o'z o'lchovlaringiz va ochiq narxlardan olinadi (taxminiy namuna):</a:t>
            </a:r>
          </a:p>
          <a:p/>
          <a:p>
            <a:r>
              <a:t>Nima bo'ldi va nega. 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 Gibrid variant ko'p sanoat tizimlarida optimal: chekkada 95 % qarorlar, bulutda sifat nazorati, qayta o'qitish uchun ma'lumot yig'ish va markaziy monitoring. Jadval talabaga shuni ko'rsatadi: «Cloud yoki Edge» savolining javobi texnik emas, ssenariyga bog'liq.</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ssenariysi (16 kamera, 160 inferens/s, 3 yil) uchun quyidagi jadvalni to'ldiring; raqamlar o'z o'lchovlaringiz va ochiq narxlardan olinadi (taxminiy namuna):</a:t>
            </a:r>
          </a:p>
          <a:p/>
          <a:p>
            <a:r>
              <a:t>Nima bo'ldi va nega. 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 Gibrid variant ko'p sanoat tizimlarida optimal: chekkada 95 % qarorlar, bulutda sifat nazorati, qayta o'qitish uchun ma'lumot yig'ish va markaziy monitoring. Jadval talabaga shuni ko'rsatadi: «Cloud yoki Edge» savolining javobi texnik emas, ssenariyga bog'liq.</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(6–8 bet): (1) xizmat kodi tavsifi va API hujjati (FastAPI /docs ekran tasviri); (2) Dockerfile, tasvir hajmi, ishga tushish vaqti, mahalliy yuklama sinovi natijalari; (3) K8s manifestlari, kubectl get pods/hpa chiqishlari yuklama oldidan, davomida va keyin; HPA reaksiya vaqti grafigi; rollout davomida xatolar soni; (4) Jetson yoki Coral o'lchovlari jadvali — quvvat rejimlari bo'yicha, HTTP xizmat orqali to'liq kechikish taqsimoti; (5) Cloud/Edge/Gibrid taqqoslash jadvali o'z raqamlari va manbalari bilan; (6) tanlangan ssenariy uchun yakuniy arxitektura tavsiyasi va A1 dagi strukturaviy sxemaning yangilangan varianti; (7) xulosa.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GPU K8s (NVIDIA device plugin, nvidia.com/gpu limiti) va KEDA/Prometheus Adapter bilan so'rov/s bo'yicha masshtablash; yoki Jetson'da k3s agent sifatida ishlab, bitta kubectl bilan ham bulut, ham chekka Pod'larni boshqarish (nodeSelector kubernetes.io/arch=arm64); yoki DeepStream bilan NVDEC → TensorRT quvur liniyasini qurib, HTTP xizmatdagi 19 ms ni 5 ms gacha tushirish.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GPU K8s (NVIDIA device plugin, nvidia.com/gpu limiti) va KEDA/Prometheus Adapter bilan so'rov/s bo'yicha masshtablash; yoki Jetson'da k3s agent sifatida ishlab, bitta kubectl bilan ham bulut, ham chekka Pod'larni boshqarish (nodeSelector kubernetes.io/arch=arm64); yoki DeepStream bilan NVDEC → TensorRT quvur liniyasini qurib, HTTP xizmatdagi 19 ms ni 5 ms gacha tushirish.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Cheklovlar. 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 Bulut narxlari mintaqa va vaqt bo'yicha o'zgaradi — hisobotda sana va manba ko'rsatilishi shart. Xavfsizlik (TLS, autentifikatsiya, tarmoq siyosatlari) mashg'ulotda qisqartirilgan — M9 va A6 da chuqurlashtiriladi.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Muqobil yondashuvlar. Xizmat qatlami uchun FastAPI o'rniga ixtisoslashgan inferens serverlar: NVIDIA Triton Inference Server (dinamik paketlash, ko'p model, TensorRT/ONNX/PyTorch backendlar, Prometheus metrikalari tayyor), TorchServe, KServe (K8s'da serverless inferens, nolga qadar masshtablash), BentoML. Orkestratsiya uchun K8s o'rniga kichik tizimlarda Docker Compose yoki Nomad; chekka flotlar uchun k3s + Fleet, Balena, AWS IoT Greengrass, Azure IoT Edge. Chekka inferens dvigateli sifatida TensorRT o'rniga ONNX Runtime (ko'chma, biroz sekinroq), TFLite + XNNPACK (ARM CPU), Apache TVM (avtomatik yadro sozlash istalgan apparat uchun).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c9fa7ee202bd9a74.jpg"/>
          <p:cNvPicPr>
            <a:picLocks noChangeAspect="1"/>
          </p:cNvPicPr>
          <p:nvPr/>
        </p:nvPicPr>
        <p:blipFill>
          <a:blip r:embed="rId2"/>
          <a:srcRect l="12500" r="12500"/>
          <a:stretch>
            <a:fillRect/>
          </a:stretch>
        </p:blipFill>
        <p:spPr>
          <a:xfrm>
            <a:off x="7850000" y="1500000"/>
            <a:ext cx="3300000" cy="3300000"/>
          </a:xfrm>
          <a:prstGeom prst="ellipse">
            <a:avLst/>
          </a:prstGeom>
          <a:ln w="19050">
            <a:solidFill>
              <a:srgbClr val="22D3EE"/>
            </a:solidFill>
          </a:ln>
        </p:spPr>
      </p:pic>
      <p:sp>
        <p:nvSpPr>
          <p:cNvPr id="63" name="TextBox 62"/>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AgainErick · Wikimedia Commons · CC BY-SA 4.0</a:t>
            </a:r>
          </a:p>
        </p:txBody>
      </p:sp>
      <p:sp>
        <p:nvSpPr>
          <p:cNvPr id="64" name="Rounded Rectangle 63"/>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A4 · 2 soat</a:t>
            </a:r>
          </a:p>
        </p:txBody>
      </p:sp>
      <p:sp>
        <p:nvSpPr>
          <p:cNvPr id="65" name="TextBox 64"/>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6" name="TextBox 65"/>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Edge AI va Cloud AI platformalarida sun'iy intellekt tizimlarini joylashtirish</a:t>
            </a:r>
          </a:p>
        </p:txBody>
      </p:sp>
      <p:sp>
        <p:nvSpPr>
          <p:cNvPr id="67" name="Rectangle 66"/>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200"/>
                            </p:stCondLst>
                            <p:childTnLst>
                              <p:par>
                                <p:cTn id="232" presetID="53" presetClass="entr" presetSubtype="16" fill="hold" grpId="0" nodeType="afterEffect">
                                  <p:stCondLst>
                                    <p:cond delay="0"/>
                                  </p:stCondLst>
                                  <p:childTnLst>
                                    <p:set>
                                      <p:cBhvr>
                                        <p:cTn id="233" dur="1" fill="hold">
                                          <p:stCondLst>
                                            <p:cond delay="0"/>
                                          </p:stCondLst>
                                        </p:cTn>
                                        <p:tgtEl>
                                          <p:spTgt spid="61"/>
                                        </p:tgtEl>
                                        <p:attrNameLst>
                                          <p:attrName>style.visibility</p:attrName>
                                        </p:attrNameLst>
                                      </p:cBhvr>
                                      <p:to>
                                        <p:strVal val="visible"/>
                                      </p:to>
                                    </p:set>
                                    <p:animEffect transition="in" filter="fade">
                                      <p:cBhvr>
                                        <p:cTn id="234" dur="550"/>
                                        <p:tgtEl>
                                          <p:spTgt spid="61"/>
                                        </p:tgtEl>
                                      </p:cBhvr>
                                    </p:animEffect>
                                    <p:anim calcmode="lin" valueType="num">
                                      <p:cBhvr additive="base">
                                        <p:cTn id="235" dur="550" fill="hold"/>
                                        <p:tgtEl>
                                          <p:spTgt spid="61"/>
                                        </p:tgtEl>
                                        <p:attrNameLst>
                                          <p:attrName>ppt_w</p:attrName>
                                        </p:attrNameLst>
                                      </p:cBhvr>
                                      <p:tavLst>
                                        <p:tav tm="0">
                                          <p:val>
                                            <p:strVal val="0"/>
                                          </p:val>
                                        </p:tav>
                                        <p:tav tm="100000">
                                          <p:val>
                                            <p:strVal val="#ppt_w"/>
                                          </p:val>
                                        </p:tav>
                                      </p:tavLst>
                                    </p:anim>
                                    <p:anim calcmode="lin" valueType="num">
                                      <p:cBhvr additive="base">
                                        <p:cTn id="236" dur="550" fill="hold"/>
                                        <p:tgtEl>
                                          <p:spTgt spid="61"/>
                                        </p:tgtEl>
                                        <p:attrNameLst>
                                          <p:attrName>ppt_h</p:attrName>
                                        </p:attrNameLst>
                                      </p:cBhvr>
                                      <p:tavLst>
                                        <p:tav tm="0">
                                          <p:val>
                                            <p:strVal val="0"/>
                                          </p:val>
                                        </p:tav>
                                        <p:tav tm="100000">
                                          <p:val>
                                            <p:strVal val="#ppt_h"/>
                                          </p:val>
                                        </p:tav>
                                      </p:tavLst>
                                    </p:anim>
                                  </p:childTnLst>
                                </p:cTn>
                              </p:par>
                            </p:childTnLst>
                          </p:cTn>
                        </p:par>
                        <p:par>
                          <p:cTn id="237" fill="hold">
                            <p:stCondLst>
                              <p:cond delay="200"/>
                            </p:stCondLst>
                            <p:childTnLst>
                              <p:par>
                                <p:cTn id="238" presetID="53" presetClass="entr" presetSubtype="16" fill="hold" grpId="0" nodeType="afterEffect">
                                  <p:stCondLst>
                                    <p:cond delay="0"/>
                                  </p:stCondLst>
                                  <p:childTnLst>
                                    <p:set>
                                      <p:cBhvr>
                                        <p:cTn id="239" dur="1" fill="hold">
                                          <p:stCondLst>
                                            <p:cond delay="0"/>
                                          </p:stCondLst>
                                        </p:cTn>
                                        <p:tgtEl>
                                          <p:spTgt spid="60"/>
                                        </p:tgtEl>
                                        <p:attrNameLst>
                                          <p:attrName>style.visibility</p:attrName>
                                        </p:attrNameLst>
                                      </p:cBhvr>
                                      <p:to>
                                        <p:strVal val="visible"/>
                                      </p:to>
                                    </p:set>
                                    <p:animEffect transition="in" filter="fade">
                                      <p:cBhvr>
                                        <p:cTn id="240" dur="550"/>
                                        <p:tgtEl>
                                          <p:spTgt spid="60"/>
                                        </p:tgtEl>
                                      </p:cBhvr>
                                    </p:animEffect>
                                    <p:anim calcmode="lin" valueType="num">
                                      <p:cBhvr additive="base">
                                        <p:cTn id="241" dur="550" fill="hold"/>
                                        <p:tgtEl>
                                          <p:spTgt spid="60"/>
                                        </p:tgtEl>
                                        <p:attrNameLst>
                                          <p:attrName>ppt_w</p:attrName>
                                        </p:attrNameLst>
                                      </p:cBhvr>
                                      <p:tavLst>
                                        <p:tav tm="0">
                                          <p:val>
                                            <p:strVal val="0"/>
                                          </p:val>
                                        </p:tav>
                                        <p:tav tm="100000">
                                          <p:val>
                                            <p:strVal val="#ppt_w"/>
                                          </p:val>
                                        </p:tav>
                                      </p:tavLst>
                                    </p:anim>
                                    <p:anim calcmode="lin" valueType="num">
                                      <p:cBhvr additive="base">
                                        <p:cTn id="242" dur="550" fill="hold"/>
                                        <p:tgtEl>
                                          <p:spTgt spid="60"/>
                                        </p:tgtEl>
                                        <p:attrNameLst>
                                          <p:attrName>ppt_h</p:attrName>
                                        </p:attrNameLst>
                                      </p:cBhvr>
                                      <p:tavLst>
                                        <p:tav tm="0">
                                          <p:val>
                                            <p:strVal val="0"/>
                                          </p:val>
                                        </p:tav>
                                        <p:tav tm="100000">
                                          <p:val>
                                            <p:strVal val="#ppt_h"/>
                                          </p:val>
                                        </p:tav>
                                      </p:tavLst>
                                    </p:anim>
                                  </p:childTnLst>
                                </p:cTn>
                              </p:par>
                            </p:childTnLst>
                          </p:cTn>
                        </p:par>
                        <p:par>
                          <p:cTn id="243" fill="hold">
                            <p:stCondLst>
                              <p:cond delay="200"/>
                            </p:stCondLst>
                            <p:childTnLst>
                              <p:par>
                                <p:cTn id="244" presetID="53" presetClass="entr" presetSubtype="16" fill="hold" grpId="0" nodeType="afterEffect">
                                  <p:stCondLst>
                                    <p:cond delay="0"/>
                                  </p:stCondLst>
                                  <p:childTnLst>
                                    <p:set>
                                      <p:cBhvr>
                                        <p:cTn id="245" dur="1" fill="hold">
                                          <p:stCondLst>
                                            <p:cond delay="0"/>
                                          </p:stCondLst>
                                        </p:cTn>
                                        <p:tgtEl>
                                          <p:spTgt spid="62"/>
                                        </p:tgtEl>
                                        <p:attrNameLst>
                                          <p:attrName>style.visibility</p:attrName>
                                        </p:attrNameLst>
                                      </p:cBhvr>
                                      <p:to>
                                        <p:strVal val="visible"/>
                                      </p:to>
                                    </p:set>
                                    <p:animEffect transition="in" filter="fade">
                                      <p:cBhvr>
                                        <p:cTn id="246" dur="550"/>
                                        <p:tgtEl>
                                          <p:spTgt spid="62"/>
                                        </p:tgtEl>
                                      </p:cBhvr>
                                    </p:animEffect>
                                    <p:anim calcmode="lin" valueType="num">
                                      <p:cBhvr additive="base">
                                        <p:cTn id="247" dur="550" fill="hold"/>
                                        <p:tgtEl>
                                          <p:spTgt spid="62"/>
                                        </p:tgtEl>
                                        <p:attrNameLst>
                                          <p:attrName>ppt_w</p:attrName>
                                        </p:attrNameLst>
                                      </p:cBhvr>
                                      <p:tavLst>
                                        <p:tav tm="0">
                                          <p:val>
                                            <p:strVal val="0"/>
                                          </p:val>
                                        </p:tav>
                                        <p:tav tm="100000">
                                          <p:val>
                                            <p:strVal val="#ppt_w"/>
                                          </p:val>
                                        </p:tav>
                                      </p:tavLst>
                                    </p:anim>
                                    <p:anim calcmode="lin" valueType="num">
                                      <p:cBhvr additive="base">
                                        <p:cTn id="248" dur="550" fill="hold"/>
                                        <p:tgtEl>
                                          <p:spTgt spid="62"/>
                                        </p:tgtEl>
                                        <p:attrNameLst>
                                          <p:attrName>ppt_h</p:attrName>
                                        </p:attrNameLst>
                                      </p:cBhvr>
                                      <p:tavLst>
                                        <p:tav tm="0">
                                          <p:val>
                                            <p:strVal val="0"/>
                                          </p:val>
                                        </p:tav>
                                        <p:tav tm="100000">
                                          <p:val>
                                            <p:strVal val="#ppt_h"/>
                                          </p:val>
                                        </p:tav>
                                      </p:tavLst>
                                    </p:anim>
                                  </p:childTnLst>
                                </p:cTn>
                              </p:par>
                            </p:childTnLst>
                          </p:cTn>
                        </p:par>
                        <p:par>
                          <p:cTn id="249" fill="hold">
                            <p:stCondLst>
                              <p:cond delay="200"/>
                            </p:stCondLst>
                            <p:childTnLst>
                              <p:par>
                                <p:cTn id="250" presetID="10" presetClass="entr" presetSubtype="0" fill="hold" grpId="0" nodeType="afterEffect">
                                  <p:stCondLst>
                                    <p:cond delay="0"/>
                                  </p:stCondLst>
                                  <p:childTnLst>
                                    <p:set>
                                      <p:cBhvr>
                                        <p:cTn id="251" dur="1" fill="hold">
                                          <p:stCondLst>
                                            <p:cond delay="0"/>
                                          </p:stCondLst>
                                        </p:cTn>
                                        <p:tgtEl>
                                          <p:spTgt spid="63"/>
                                        </p:tgtEl>
                                        <p:attrNameLst>
                                          <p:attrName>style.visibility</p:attrName>
                                        </p:attrNameLst>
                                      </p:cBhvr>
                                      <p:to>
                                        <p:strVal val="visible"/>
                                      </p:to>
                                    </p:set>
                                    <p:animEffect transition="in" filter="fade">
                                      <p:cBhvr>
                                        <p:cTn id="252" dur="550"/>
                                        <p:tgtEl>
                                          <p:spTgt spid="63"/>
                                        </p:tgtEl>
                                      </p:cBhvr>
                                    </p:animEffect>
                                  </p:childTnLst>
                                </p:cTn>
                              </p:par>
                            </p:childTnLst>
                          </p:cTn>
                        </p:par>
                        <p:par>
                          <p:cTn id="253" fill="hold">
                            <p:stCondLst>
                              <p:cond delay="350"/>
                            </p:stCondLst>
                            <p:childTnLst>
                              <p:par>
                                <p:cTn id="254" presetID="10" presetClass="entr" presetSubtype="0" fill="hold" grpId="0" nodeType="afterEffect">
                                  <p:stCondLst>
                                    <p:cond delay="0"/>
                                  </p:stCondLst>
                                  <p:childTnLst>
                                    <p:set>
                                      <p:cBhvr>
                                        <p:cTn id="255" dur="1" fill="hold">
                                          <p:stCondLst>
                                            <p:cond delay="0"/>
                                          </p:stCondLst>
                                        </p:cTn>
                                        <p:tgtEl>
                                          <p:spTgt spid="65"/>
                                        </p:tgtEl>
                                        <p:attrNameLst>
                                          <p:attrName>style.visibility</p:attrName>
                                        </p:attrNameLst>
                                      </p:cBhvr>
                                      <p:to>
                                        <p:strVal val="visible"/>
                                      </p:to>
                                    </p:set>
                                    <p:animEffect transition="in" filter="fade">
                                      <p:cBhvr>
                                        <p:cTn id="256" dur="550"/>
                                        <p:tgtEl>
                                          <p:spTgt spid="65"/>
                                        </p:tgtEl>
                                      </p:cBhvr>
                                    </p:animEffect>
                                  </p:childTnLst>
                                </p:cTn>
                              </p:par>
                            </p:childTnLst>
                          </p:cTn>
                        </p:par>
                        <p:par>
                          <p:cTn id="257" fill="hold">
                            <p:stCondLst>
                              <p:cond delay="500"/>
                            </p:stCondLst>
                            <p:childTnLst>
                              <p:par>
                                <p:cTn id="258" presetID="2" presetClass="entr" presetSubtype="8" fill="hold" grpId="0" nodeType="afterEffect">
                                  <p:stCondLst>
                                    <p:cond delay="0"/>
                                  </p:stCondLst>
                                  <p:childTnLst>
                                    <p:set>
                                      <p:cBhvr>
                                        <p:cTn id="259" dur="1" fill="hold">
                                          <p:stCondLst>
                                            <p:cond delay="0"/>
                                          </p:stCondLst>
                                        </p:cTn>
                                        <p:tgtEl>
                                          <p:spTgt spid="64"/>
                                        </p:tgtEl>
                                        <p:attrNameLst>
                                          <p:attrName>style.visibility</p:attrName>
                                        </p:attrNameLst>
                                      </p:cBhvr>
                                      <p:to>
                                        <p:strVal val="visible"/>
                                      </p:to>
                                    </p:set>
                                    <p:anim calcmode="lin" valueType="num">
                                      <p:cBhvr additive="base">
                                        <p:cTn id="261" dur="550" fill="hold"/>
                                        <p:tgtEl>
                                          <p:spTgt spid="64"/>
                                        </p:tgtEl>
                                        <p:attrNameLst>
                                          <p:attrName>ppt_x</p:attrName>
                                        </p:attrNameLst>
                                      </p:cBhvr>
                                      <p:tavLst>
                                        <p:tav tm="0">
                                          <p:val>
                                            <p:strVal val="0-#ppt_w/2"/>
                                          </p:val>
                                        </p:tav>
                                        <p:tav tm="100000">
                                          <p:val>
                                            <p:strVal val="#ppt_x"/>
                                          </p:val>
                                        </p:tav>
                                      </p:tavLst>
                                    </p:anim>
                                    <p:anim calcmode="lin" valueType="num">
                                      <p:cBhvr additive="base">
                                        <p:cTn id="262" dur="550" fill="hold"/>
                                        <p:tgtEl>
                                          <p:spTgt spid="64"/>
                                        </p:tgtEl>
                                        <p:attrNameLst>
                                          <p:attrName>ppt_y</p:attrName>
                                        </p:attrNameLst>
                                      </p:cBhvr>
                                      <p:tavLst>
                                        <p:tav tm="0">
                                          <p:val>
                                            <p:strVal val="#ppt_y"/>
                                          </p:val>
                                        </p:tav>
                                        <p:tav tm="100000">
                                          <p:val>
                                            <p:strVal val="#ppt_y"/>
                                          </p:val>
                                        </p:tav>
                                      </p:tavLst>
                                    </p:anim>
                                  </p:childTnLst>
                                </p:cTn>
                              </p:par>
                            </p:childTnLst>
                          </p:cTn>
                        </p:par>
                        <p:par>
                          <p:cTn id="263" fill="hold">
                            <p:stCondLst>
                              <p:cond delay="650"/>
                            </p:stCondLst>
                            <p:childTnLst>
                              <p:par>
                                <p:cTn id="264" presetID="42" presetClass="entr" presetSubtype="0" fill="hold" grpId="0" nodeType="afterEffect">
                                  <p:stCondLst>
                                    <p:cond delay="0"/>
                                  </p:stCondLst>
                                  <p:childTnLst>
                                    <p:set>
                                      <p:cBhvr>
                                        <p:cTn id="265" dur="1" fill="hold">
                                          <p:stCondLst>
                                            <p:cond delay="0"/>
                                          </p:stCondLst>
                                        </p:cTn>
                                        <p:tgtEl>
                                          <p:spTgt spid="66"/>
                                        </p:tgtEl>
                                        <p:attrNameLst>
                                          <p:attrName>style.visibility</p:attrName>
                                        </p:attrNameLst>
                                      </p:cBhvr>
                                      <p:to>
                                        <p:strVal val="visible"/>
                                      </p:to>
                                    </p:set>
                                    <p:animEffect transition="in" filter="fade">
                                      <p:cBhvr>
                                        <p:cTn id="266" dur="550"/>
                                        <p:tgtEl>
                                          <p:spTgt spid="66"/>
                                        </p:tgtEl>
                                      </p:cBhvr>
                                    </p:animEffect>
                                    <p:anim calcmode="lin" valueType="num">
                                      <p:cBhvr additive="base">
                                        <p:cTn id="267" dur="550" fill="hold"/>
                                        <p:tgtEl>
                                          <p:spTgt spid="66"/>
                                        </p:tgtEl>
                                        <p:attrNameLst>
                                          <p:attrName>ppt_x</p:attrName>
                                        </p:attrNameLst>
                                      </p:cBhvr>
                                      <p:tavLst>
                                        <p:tav tm="0">
                                          <p:val>
                                            <p:strVal val="#ppt_x"/>
                                          </p:val>
                                        </p:tav>
                                        <p:tav tm="100000">
                                          <p:val>
                                            <p:strVal val="#ppt_x"/>
                                          </p:val>
                                        </p:tav>
                                      </p:tavLst>
                                    </p:anim>
                                    <p:anim calcmode="lin" valueType="num">
                                      <p:cBhvr additive="base">
                                        <p:cTn id="268" dur="550" fill="hold"/>
                                        <p:tgtEl>
                                          <p:spTgt spid="66"/>
                                        </p:tgtEl>
                                        <p:attrNameLst>
                                          <p:attrName>ppt_y</p:attrName>
                                        </p:attrNameLst>
                                      </p:cBhvr>
                                      <p:tavLst>
                                        <p:tav tm="0">
                                          <p:val>
                                            <p:strVal val="#ppt_y+.08"/>
                                          </p:val>
                                        </p:tav>
                                        <p:tav tm="100000">
                                          <p:val>
                                            <p:strVal val="#ppt_y"/>
                                          </p:val>
                                        </p:tav>
                                      </p:tavLst>
                                    </p:anim>
                                  </p:childTnLst>
                                </p:cTn>
                              </p:par>
                            </p:childTnLst>
                          </p:cTn>
                        </p:par>
                        <p:par>
                          <p:cTn id="269" fill="hold">
                            <p:stCondLst>
                              <p:cond delay="800"/>
                            </p:stCondLst>
                            <p:childTnLst>
                              <p:par>
                                <p:cTn id="270" presetID="22" presetClass="entr" presetSubtype="8" fill="hold" grpId="0" nodeType="afterEffect">
                                  <p:stCondLst>
                                    <p:cond delay="0"/>
                                  </p:stCondLst>
                                  <p:childTnLst>
                                    <p:set>
                                      <p:cBhvr>
                                        <p:cTn id="271" dur="1" fill="hold">
                                          <p:stCondLst>
                                            <p:cond delay="0"/>
                                          </p:stCondLst>
                                        </p:cTn>
                                        <p:tgtEl>
                                          <p:spTgt spid="67"/>
                                        </p:tgtEl>
                                        <p:attrNameLst>
                                          <p:attrName>style.visibility</p:attrName>
                                        </p:attrNameLst>
                                      </p:cBhvr>
                                      <p:to>
                                        <p:strVal val="visible"/>
                                      </p:to>
                                    </p:set>
                                    <p:animEffect transition="in" filter="wipe(left)">
                                      <p:cBhvr>
                                        <p:cTn id="273" dur="800"/>
                                        <p:tgtEl>
                                          <p:spTgt spid="67"/>
                                        </p:tgtEl>
                                      </p:cBhvr>
                                    </p:animEffect>
                                  </p:childTnLst>
                                </p:cTn>
                              </p:par>
                            </p:childTnLst>
                          </p:cTn>
                        </p:par>
                        <p:par>
                          <p:cTn id="274" fill="hold">
                            <p:stCondLst>
                              <p:cond delay="950"/>
                            </p:stCondLst>
                            <p:childTnLst>
                              <p:par>
                                <p:cTn id="275" presetID="10" presetClass="entr" presetSubtype="0" fill="hold" grpId="0" nodeType="afterEffect">
                                  <p:stCondLst>
                                    <p:cond delay="0"/>
                                  </p:stCondLst>
                                  <p:childTnLst>
                                    <p:set>
                                      <p:cBhvr>
                                        <p:cTn id="276" dur="1" fill="hold">
                                          <p:stCondLst>
                                            <p:cond delay="0"/>
                                          </p:stCondLst>
                                        </p:cTn>
                                        <p:tgtEl>
                                          <p:spTgt spid="68"/>
                                        </p:tgtEl>
                                        <p:attrNameLst>
                                          <p:attrName>style.visibility</p:attrName>
                                        </p:attrNameLst>
                                      </p:cBhvr>
                                      <p:to>
                                        <p:strVal val="visible"/>
                                      </p:to>
                                    </p:set>
                                    <p:animEffect transition="in" filter="fade">
                                      <p:cBhvr>
                                        <p:cTn id="277" dur="55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1" grpId="0" animBg="1"/>
      <p:bldP spid="60" grpId="0" animBg="1"/>
      <p:bldP spid="63" grpId="0" animBg="1"/>
      <p:bldP spid="65" grpId="0" animBg="1"/>
      <p:bldP spid="64" grpId="0" animBg="1"/>
      <p:bldP spid="66" grpId="0" animBg="1"/>
      <p:bldP spid="67" grpId="0" animBg="1"/>
      <p:bldP spid="6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8" name="Rounded Rectangle 27"/>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2" name="Rounded Rectangle 3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6" name="Rounded Rectangle 3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40" name="Rounded Rectangle 39"/>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4" name="Rounded Rectangle 43"/>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7" name="TextBox 46"/>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50"/>
                                        <p:tgtEl>
                                          <p:spTgt spid="44"/>
                                        </p:tgtEl>
                                      </p:cBhvr>
                                    </p:animEffect>
                                    <p:anim calcmode="lin" valueType="num">
                                      <p:cBhvr additive="base">
                                        <p:cTn id="136" dur="550" fill="hold"/>
                                        <p:tgtEl>
                                          <p:spTgt spid="44"/>
                                        </p:tgtEl>
                                        <p:attrNameLst>
                                          <p:attrName>ppt_x</p:attrName>
                                        </p:attrNameLst>
                                      </p:cBhvr>
                                      <p:tavLst>
                                        <p:tav tm="0">
                                          <p:val>
                                            <p:strVal val="#ppt_x"/>
                                          </p:val>
                                        </p:tav>
                                        <p:tav tm="100000">
                                          <p:val>
                                            <p:strVal val="#ppt_x"/>
                                          </p:val>
                                        </p:tav>
                                      </p:tavLst>
                                    </p:anim>
                                    <p:anim calcmode="lin" valueType="num">
                                      <p:cBhvr additive="base">
                                        <p:cTn id="137" dur="550" fill="hold"/>
                                        <p:tgtEl>
                                          <p:spTgt spid="44"/>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5"/>
                                        </p:tgtEl>
                                        <p:attrNameLst>
                                          <p:attrName>style.visibility</p:attrName>
                                        </p:attrNameLst>
                                      </p:cBhvr>
                                      <p:to>
                                        <p:strVal val="visible"/>
                                      </p:to>
                                    </p:set>
                                    <p:animEffect transition="in" filter="fade">
                                      <p:cBhvr>
                                        <p:cTn id="141" dur="550"/>
                                        <p:tgtEl>
                                          <p:spTgt spid="45"/>
                                        </p:tgtEl>
                                      </p:cBhvr>
                                    </p:animEffect>
                                    <p:anim calcmode="lin" valueType="num">
                                      <p:cBhvr additive="base">
                                        <p:cTn id="142" dur="550" fill="hold"/>
                                        <p:tgtEl>
                                          <p:spTgt spid="45"/>
                                        </p:tgtEl>
                                        <p:attrNameLst>
                                          <p:attrName>ppt_x</p:attrName>
                                        </p:attrNameLst>
                                      </p:cBhvr>
                                      <p:tavLst>
                                        <p:tav tm="0">
                                          <p:val>
                                            <p:strVal val="#ppt_x"/>
                                          </p:val>
                                        </p:tav>
                                        <p:tav tm="100000">
                                          <p:val>
                                            <p:strVal val="#ppt_x"/>
                                          </p:val>
                                        </p:tav>
                                      </p:tavLst>
                                    </p:anim>
                                    <p:anim calcmode="lin" valueType="num">
                                      <p:cBhvr additive="base">
                                        <p:cTn id="143" dur="550" fill="hold"/>
                                        <p:tgtEl>
                                          <p:spTgt spid="45"/>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50"/>
                                        <p:tgtEl>
                                          <p:spTgt spid="46"/>
                                        </p:tgtEl>
                                      </p:cBhvr>
                                    </p:animEffect>
                                    <p:anim calcmode="lin" valueType="num">
                                      <p:cBhvr additive="base">
                                        <p:cTn id="148" dur="550" fill="hold"/>
                                        <p:tgtEl>
                                          <p:spTgt spid="46"/>
                                        </p:tgtEl>
                                        <p:attrNameLst>
                                          <p:attrName>ppt_w</p:attrName>
                                        </p:attrNameLst>
                                      </p:cBhvr>
                                      <p:tavLst>
                                        <p:tav tm="0">
                                          <p:val>
                                            <p:strVal val="0"/>
                                          </p:val>
                                        </p:tav>
                                        <p:tav tm="100000">
                                          <p:val>
                                            <p:strVal val="#ppt_w"/>
                                          </p:val>
                                        </p:tav>
                                      </p:tavLst>
                                    </p:anim>
                                    <p:anim calcmode="lin" valueType="num">
                                      <p:cBhvr additive="base">
                                        <p:cTn id="149" dur="550" fill="hold"/>
                                        <p:tgtEl>
                                          <p:spTgt spid="46"/>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7"/>
                                        </p:tgtEl>
                                        <p:attrNameLst>
                                          <p:attrName>style.visibility</p:attrName>
                                        </p:attrNameLst>
                                      </p:cBhvr>
                                      <p:to>
                                        <p:strVal val="visible"/>
                                      </p:to>
                                    </p:set>
                                    <p:animEffect transition="in" filter="fade">
                                      <p:cBhvr>
                                        <p:cTn id="153" dur="550"/>
                                        <p:tgtEl>
                                          <p:spTgt spid="47"/>
                                        </p:tgtEl>
                                      </p:cBhvr>
                                    </p:animEffect>
                                    <p:anim calcmode="lin" valueType="num">
                                      <p:cBhvr additive="base">
                                        <p:cTn id="154" dur="550" fill="hold"/>
                                        <p:tgtEl>
                                          <p:spTgt spid="47"/>
                                        </p:tgtEl>
                                        <p:attrNameLst>
                                          <p:attrName>ppt_x</p:attrName>
                                        </p:attrNameLst>
                                      </p:cBhvr>
                                      <p:tavLst>
                                        <p:tav tm="0">
                                          <p:val>
                                            <p:strVal val="#ppt_x"/>
                                          </p:val>
                                        </p:tav>
                                        <p:tav tm="100000">
                                          <p:val>
                                            <p:strVal val="#ppt_x"/>
                                          </p:val>
                                        </p:tav>
                                      </p:tavLst>
                                    </p:anim>
                                    <p:anim calcmode="lin" valueType="num">
                                      <p:cBhvr additive="base">
                                        <p:cTn id="155" dur="550" fill="hold"/>
                                        <p:tgtEl>
                                          <p:spTgt spid="4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e62a78e5b5526ff8.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Captain Albert E. Theberge, NOAA Corps (ret.) · Wikimedia Commons · Public domain</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Mashg'ulotning maqsadi — optimallashtirilgan sun'iy intellekt modelini real xizmat ko'rinishida ikki xil muhitga joylashtirish (deployment) ko'nikmasini shakllantirish: bulutli (cloud) muhitda Docker konteyneri va Kubernetes orkestratsiyasi orqali…</a:t>
            </a:r>
          </a:p>
        </p:txBody>
      </p:sp>
      <p:sp>
        <p:nvSpPr>
          <p:cNvPr id="32" name="Rounded Rectangle 31"/>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Inferens modelini FastAPI asosida HTTP xizmatiga o'rab, ko'p bosqichli (multi-stage) Dockerfile yozadi va konteyner hajmi, ishga tushish vaqti va resurs cheklovlarini boshqaradi;</a:t>
            </a:r>
          </a:p>
        </p:txBody>
      </p:sp>
      <p:sp>
        <p:nvSpPr>
          <p:cNvPr id="36" name="Rounded Rectangle 35"/>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Kubernetes'da Deployment, Service, HorizontalPodAutoscaler va resurs so'rovlari (requests/limits) manifestlarini yozib, xizmatni minikube yoki k3s klasterida ishga tushiradi, yuklama ostida avtomatik masshtablashni kuzatadi;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56824"/>
            <a:ext cx="50000" cy="110878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21121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Jetson qurilmasida TensorRT dvigatelini yoki Coral Edge TPU'da TFLite modelini ishga tushirib, chekka inferensning latency va quvvatini o'lchaydi;</a:t>
            </a:r>
          </a:p>
        </p:txBody>
      </p:sp>
      <p:sp>
        <p:nvSpPr>
          <p:cNvPr id="31" name="Rounded Rectangle 30"/>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35608"/>
            <a:ext cx="50000" cy="11087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Cloud va Edge arxitekturalarini miqdoriy mezonlar (uchdan-uchga kechikish, tarmoq trafigi, 3 yillik TCO, Vt/inferens, maxfiylik, oflayn ishlash) bo'yicha solishtirib, gibrid arxitektura uchun asoslangan taklif beradi;</a:t>
            </a:r>
          </a:p>
        </p:txBody>
      </p:sp>
      <p:sp>
        <p:nvSpPr>
          <p:cNvPr id="35" name="Rounded Rectangle 34"/>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14392"/>
            <a:ext cx="50000" cy="110878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96878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8" name="TextBox 37"/>
          <p:cNvSpPr txBox="1"/>
          <p:nvPr/>
        </p:nvSpPr>
        <p:spPr>
          <a:xfrm>
            <a:off x="1300000" y="4574392"/>
            <a:ext cx="5900000" cy="1188784"/>
          </a:xfrm>
          <a:prstGeom prst="rect">
            <a:avLst/>
          </a:prstGeom>
          <a:noFill/>
        </p:spPr>
        <p:txBody>
          <a:bodyPr wrap="square" anchor="ctr">
            <a:spAutoFit/>
          </a:bodyPr>
          <a:lstStyle/>
          <a:p>
            <a:r>
              <a:rPr sz="1500" b="1">
                <a:solidFill>
                  <a:srgbClr val="E8EEFA"/>
                </a:solidFill>
                <a:latin typeface="Segoe UI"/>
              </a:rPr>
              <a:t>Xizmatning kuzatiluvchanligini (observability).</a:t>
            </a:r>
          </a:p>
          <a:p>
            <a:pPr>
              <a:spcBef>
                <a:spcPts val="400"/>
              </a:spcBef>
            </a:pPr>
            <a:r>
              <a:rPr sz="1400">
                <a:solidFill>
                  <a:srgbClr val="AEBBD9"/>
                </a:solidFill>
                <a:latin typeface="Segoe UI"/>
              </a:rPr>
              <a:t>Prometheus metrikalari, sog'liq tekshiruvi (health check), loglar — joylashtirishning ajralmas qismi sifatida tashkil etadi.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Mavzu fanning TN4 (AI tizimlarini joylashtirish va ekspluatatsiya qilish), TN6 (Edge va Cloud infratuzilmasini loyihalash) hamda TN7 (muhandislik hujjatlari va himoya) ta'lim natijalariga xizmat qiladi; M6, M7 va M12 ma'ruzalarining amaliy davomi va…</a:t>
            </a:r>
          </a:p>
          <a:p>
            <a:pPr>
              <a:spcBef>
                <a:spcPts val="400"/>
              </a:spcBef>
            </a:pPr>
            <a:r>
              <a:rPr sz="1600">
                <a:solidFill>
                  <a:srgbClr val="AEBBD9"/>
                </a:solidFill>
                <a:latin typeface="Segoe UI"/>
              </a:rPr>
              <a:t>A1 da tanlangan platforma va A3 da optimallashtirilgan model bu yerda yakuniy shaklga keladi.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4a6fbc786f8f863f.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ArnoldReinhold · Wikimedia Commons · CC BY-SA 4.0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Model qanchalik tez va aniq bo'lmasin, foydalanuvchi uchun u faqat xizmat sifatida mavjud bo'lganda qiymatga ega.</a:t>
            </a:r>
          </a:p>
          <a:p>
            <a:pPr>
              <a:spcBef>
                <a:spcPts val="400"/>
              </a:spcBef>
            </a:pPr>
            <a:r>
              <a:rPr sz="1300">
                <a:solidFill>
                  <a:srgbClr val="AEBBD9"/>
                </a:solidFill>
                <a:latin typeface="Segoe UI"/>
              </a:rPr>
              <a:t>Joylashtirish bosqichi ko'pincha e'tibordan chetda qoladi, holbuki sanoatda muammolarning katta qismi aynan shu yerda yuzaga keladi: «mening kompyuterimda ishlagan edi» sindromi (kutubxona versiyalari nomuvofiqligi), bitta nusxa (instance) yuklama ostida yiqilishi, GPU xotirasi tugashi, yangilanishda xizmat to'xtashi, chekka qurilmada internet uzilganda tizim ishdan chiqishi.</a:t>
            </a:r>
          </a:p>
        </p:txBody>
      </p:sp>
      <p:sp>
        <p:nvSpPr>
          <p:cNvPr id="29" name="Rounded Rectangle 28"/>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1993456"/>
          </a:xfrm>
          <a:prstGeom prst="rect">
            <a:avLst/>
          </a:prstGeom>
          <a:noFill/>
        </p:spPr>
        <p:txBody>
          <a:bodyPr wrap="square" anchor="ctr">
            <a:spAutoFit/>
          </a:bodyPr>
          <a:lstStyle/>
          <a:p>
            <a:r>
              <a:rPr sz="1300" b="0">
                <a:solidFill>
                  <a:srgbClr val="E8EEFA"/>
                </a:solidFill>
                <a:latin typeface="Segoe UI"/>
              </a:rPr>
              <a:t>Docker konteyneri — ilova va uning barcha bog'liqliklarini (kutubxonalar, CUDA runtime, model fayli) bitta ko'chma tasvirga (image) joylash; xost yadrosi (kernel) umumiy, lekin fayl tizimi, jarayonlar va tarmoq izolyatsiyalangan.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Kubernetes (K8s) — konteynerlarni klaster bo'ylab boshqaruvchi tizim: nechta nusxa ishlashi, qaysi tugunda (node), qancha resurs bilan, nosozlikda nima bo'lishi, yuklama o'sganda qanday masshtablash — bularning barchasi deklarativ YAML manifestlarida yoziladi…</a:t>
            </a:r>
          </a:p>
          <a:p>
            <a:pPr>
              <a:spcBef>
                <a:spcPts val="400"/>
              </a:spcBef>
            </a:pPr>
            <a:r>
              <a:rPr sz="1600">
                <a:solidFill>
                  <a:srgbClr val="AEBBD9"/>
                </a:solidFill>
                <a:latin typeface="Segoe UI"/>
              </a:rPr>
              <a:t>NVIDIA device plugin orqali GPU'lar ham K8s resursi sifatida (nvidia.com/gpu: 1) ajratiladi.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741544"/>
            <a:ext cx="50000" cy="191345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9827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Chekka hisoblash (Edge AI) boshqa falsafa: ma'lumot paydo bo'lgan joyda — kamera, stanok, avtomobil, tibbiy qurilma yonida — qayta ishlanadi.</a:t>
            </a:r>
          </a:p>
          <a:p>
            <a:pPr>
              <a:spcBef>
                <a:spcPts val="400"/>
              </a:spcBef>
            </a:pPr>
            <a:r>
              <a:rPr sz="1300">
                <a:solidFill>
                  <a:srgbClr val="AEBBD9"/>
                </a:solidFill>
                <a:latin typeface="Segoe UI"/>
              </a:rPr>
              <a:t>Afzalliklari: millisekundli kechikish (tarmoqqa bog'liq emas), tarmoq trafigini tejash (16 kamera 64 Mbit/s uzluksiz oqim o'rniga faqat hodisalar), maxfiylik (video binodan chiqmaydi), oflayn ishlash. Kamchiliklari: cheklangan hisoblash va xotira, yangilash va monitoring murakkabligi, fizik xavfsizlik, minglab qurilmani boshqarish.</a:t>
            </a:r>
          </a:p>
        </p:txBody>
      </p:sp>
      <p:sp>
        <p:nvSpPr>
          <p:cNvPr id="31" name="Rounded Rectangle 30"/>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91345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81728"/>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Real tizimlar ko'pincha gibrid: chekkada tezkor birlamchi inferens, bulutda og'ir model, qayta o'qitish, tahlil va boshqaruv.</a:t>
            </a:r>
          </a:p>
          <a:p>
            <a:pPr>
              <a:spcBef>
                <a:spcPts val="400"/>
              </a:spcBef>
            </a:pPr>
            <a:r>
              <a:rPr sz="1300">
                <a:solidFill>
                  <a:srgbClr val="AEBBD9"/>
                </a:solidFill>
                <a:latin typeface="Segoe UI"/>
              </a:rPr>
              <a:t>Mashg'ulotda biz ikkala tomonni qurib, keyin ularni A1 dagi shaxsiy himoya vositalari (SHV) aniqlash ssenariysi uchun solishtiramiz.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f2dcf0711ec855c5.jpg"/>
          <p:cNvPicPr>
            <a:picLocks noChangeAspect="1"/>
          </p:cNvPicPr>
          <p:nvPr/>
        </p:nvPicPr>
        <p:blipFill>
          <a:blip r:embed="rId2"/>
          <a:srcRect l="18506" r="18506"/>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Laserlicht · Wikimedia Commons · CC BY-SA 4.0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Konteynerlashtirish va AI uchun Docker amaliyoti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AI xizmatining Docker tasviri odatiy veb-ilovadan farq qiladi: CUDA kutubxonalari (1–3 GB), PyTorch (2 GB dan ortiq), model fayli (yuzlab MB).</a:t>
            </a:r>
          </a:p>
          <a:p>
            <a:pPr>
              <a:spcBef>
                <a:spcPts val="400"/>
              </a:spcBef>
            </a:pPr>
            <a:r>
              <a:rPr sz="1600">
                <a:solidFill>
                  <a:srgbClr val="AEBBD9"/>
                </a:solidFill>
                <a:latin typeface="Segoe UI"/>
              </a:rPr>
              <a:t>Shu sababli bir necha amaliy qoida mavjud. Ko'p bosqichli qurish (multi-stage build): birinchi bosqichda kompilyatsiya va bog'liqliklar o'rnatiladi, ikkinchisiga faqat kerakli fayllar ko'chiriladi — yakuniy tasvir 2–5 baravar kichrayadi.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Konteynerlashtirish va AI uchun Docker amaliyoti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363880"/>
            <a:ext cx="50000" cy="28522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Asos tasvirni to'g'ri tanlash: nvidia/cuda:12.x-runtime (devel emas — kompilyator keraksiz), yoki nvcr.io/nvidia/tensorrt, yoki CPU uchun python:3.11-slim.</a:t>
            </a:r>
          </a:p>
          <a:p>
            <a:pPr>
              <a:spcBef>
                <a:spcPts val="400"/>
              </a:spcBef>
            </a:pPr>
            <a:r>
              <a:rPr sz="1600">
                <a:solidFill>
                  <a:srgbClr val="AEBBD9"/>
                </a:solidFill>
                <a:latin typeface="Segoe UI"/>
              </a:rPr>
              <a:t>Qatlamlar tartibi: kam o'zgaradigan qatlamlar (OS paketlari, kutubxonalar) avval, tez o'zgaradigan (ilova kodi) oxirida — kesh qayta ishlatiladi. Model faylini tasvirga emas, hajm (volume) yoki ob'ekt omboridan (S3/MinIO) ishga tushishda yuklash — tasvir model versiyasidan mustaqil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Konteynerlashtirish va AI uchun Docker amaliyoti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ONNX Runtime CPU asosidagi xizmat tasviri odatda 400–600 MB, TensorRT GPU tasviri 3–6 GB bo'ladi; ishga tushish vaqti (model yuklanishi bilan) mos ravishda 2–5 soniya va 10–40 soniya (TensorRT dvigatelini deserializatsiya qilish yoki qurish).</a:t>
            </a:r>
          </a:p>
          <a:p>
            <a:pPr>
              <a:spcBef>
                <a:spcPts val="400"/>
              </a:spcBef>
            </a:pPr>
            <a:r>
              <a:rPr sz="1600">
                <a:solidFill>
                  <a:srgbClr val="AEBBD9"/>
                </a:solidFill>
                <a:latin typeface="Segoe UI"/>
              </a:rPr>
              <a:t>Bu raqamlar K8s'da sog'liq tekshiruvi (readiness probe) muddatini va avtomatik masshtablash reaktsiya vaqtini belgilaydi.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AI xizmatining asosiy ob'ektlari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Readiness probe (xizmat so'rov qabul qilishga tayyormi) va liveness probe (jarayon tirikmi) AI xizmatida farq qiladi: model yuklanayotgan 30 soniya davomida Pod tirik, lekin tayyor emas — trafik unga yuborilmasligi kerak.</a:t>
            </a:r>
          </a:p>
          <a:p>
            <a:pPr>
              <a:spcBef>
                <a:spcPts val="400"/>
              </a:spcBef>
            </a:pPr>
            <a:r>
              <a:rPr sz="1600">
                <a:solidFill>
                  <a:srgbClr val="AEBBD9"/>
                </a:solidFill>
                <a:latin typeface="Segoe UI"/>
              </a:rPr>
              <a:t>GPU Pod'lar uchun limits majburiy va bo'lingan (fractional) GPU standart K8s'da yo'q — bitta Pod bitta GPU; bo'lish uchun NVIDIA MPS, time-slicing yoki MIG (A100/H100)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Kubernetes: AI xizmatining asosiy ob'ektlari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graphicFrame>
        <p:nvGraphicFramePr>
          <p:cNvPr id="24" name="Table 23"/>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Ob'ekt</a:t>
                      </a:r>
                    </a:p>
                  </a:txBody>
                  <a:tcPr>
                    <a:solidFill>
                      <a:srgbClr val="1C2755"/>
                    </a:solidFill>
                  </a:tcPr>
                </a:tc>
                <a:tc>
                  <a:txBody>
                    <a:bodyPr/>
                    <a:lstStyle/>
                    <a:p>
                      <a:r>
                        <a:rPr sz="1200" b="1">
                          <a:solidFill>
                            <a:srgbClr val="22D3EE"/>
                          </a:solidFill>
                          <a:latin typeface="Segoe UI"/>
                        </a:rPr>
                        <a:t>Vazifasi</a:t>
                      </a:r>
                    </a:p>
                  </a:txBody>
                  <a:tcPr>
                    <a:solidFill>
                      <a:srgbClr val="1C2755"/>
                    </a:solidFill>
                  </a:tcPr>
                </a:tc>
                <a:tc>
                  <a:txBody>
                    <a:bodyPr/>
                    <a:lstStyle/>
                    <a:p>
                      <a:r>
                        <a:rPr sz="1200" b="1">
                          <a:solidFill>
                            <a:srgbClr val="22D3EE"/>
                          </a:solidFill>
                          <a:latin typeface="Segoe UI"/>
                        </a:rPr>
                        <a:t>AI xizmatida muhim parametrlar</a:t>
                      </a:r>
                    </a:p>
                  </a:txBody>
                  <a:tcPr>
                    <a:solidFill>
                      <a:srgbClr val="1C2755"/>
                    </a:solidFill>
                  </a:tcPr>
                </a:tc>
              </a:tr>
              <a:tr h="520000">
                <a:tc>
                  <a:txBody>
                    <a:bodyPr/>
                    <a:lstStyle/>
                    <a:p>
                      <a:r>
                        <a:rPr sz="1200" b="0">
                          <a:solidFill>
                            <a:srgbClr val="E8EEFA"/>
                          </a:solidFill>
                          <a:latin typeface="Segoe UI"/>
                        </a:rPr>
                        <a:t>Pod</a:t>
                      </a:r>
                    </a:p>
                  </a:txBody>
                  <a:tcPr>
                    <a:solidFill>
                      <a:srgbClr val="111834"/>
                    </a:solidFill>
                  </a:tcPr>
                </a:tc>
                <a:tc>
                  <a:txBody>
                    <a:bodyPr/>
                    <a:lstStyle/>
                    <a:p>
                      <a:r>
                        <a:rPr sz="1200" b="0">
                          <a:solidFill>
                            <a:srgbClr val="E8EEFA"/>
                          </a:solidFill>
                          <a:latin typeface="Segoe UI"/>
                        </a:rPr>
                        <a:t>bir yoki bir nechta konteyner, eng kichik joylash birligi</a:t>
                      </a:r>
                    </a:p>
                  </a:txBody>
                  <a:tcPr>
                    <a:solidFill>
                      <a:srgbClr val="111834"/>
                    </a:solidFill>
                  </a:tcPr>
                </a:tc>
                <a:tc>
                  <a:txBody>
                    <a:bodyPr/>
                    <a:lstStyle/>
                    <a:p>
                      <a:r>
                        <a:rPr sz="1200" b="0">
                          <a:solidFill>
                            <a:srgbClr val="E8EEFA"/>
                          </a:solidFill>
                          <a:latin typeface="Segoe UI"/>
                        </a:rPr>
                        <a:t>resources.requests/limits (CPU, xotira, nvidia.com/gpu)</a:t>
                      </a:r>
                    </a:p>
                  </a:txBody>
                  <a:tcPr>
                    <a:solidFill>
                      <a:srgbClr val="111834"/>
                    </a:solidFill>
                  </a:tcPr>
                </a:tc>
              </a:tr>
              <a:tr h="520000">
                <a:tc>
                  <a:txBody>
                    <a:bodyPr/>
                    <a:lstStyle/>
                    <a:p>
                      <a:r>
                        <a:rPr sz="1200" b="0">
                          <a:solidFill>
                            <a:srgbClr val="E8EEFA"/>
                          </a:solidFill>
                          <a:latin typeface="Segoe UI"/>
                        </a:rPr>
                        <a:t>Deployment</a:t>
                      </a:r>
                    </a:p>
                  </a:txBody>
                  <a:tcPr>
                    <a:solidFill>
                      <a:srgbClr val="161F40"/>
                    </a:solidFill>
                  </a:tcPr>
                </a:tc>
                <a:tc>
                  <a:txBody>
                    <a:bodyPr/>
                    <a:lstStyle/>
                    <a:p>
                      <a:r>
                        <a:rPr sz="1200" b="0">
                          <a:solidFill>
                            <a:srgbClr val="E8EEFA"/>
                          </a:solidFill>
                          <a:latin typeface="Segoe UI"/>
                        </a:rPr>
                        <a:t>Pod nusxalarini boshqaradi, yangilanishni bosqichma-bosqich (rolling update) bajaradi</a:t>
                      </a:r>
                    </a:p>
                  </a:txBody>
                  <a:tcPr>
                    <a:solidFill>
                      <a:srgbClr val="161F40"/>
                    </a:solidFill>
                  </a:tcPr>
                </a:tc>
                <a:tc>
                  <a:txBody>
                    <a:bodyPr/>
                    <a:lstStyle/>
                    <a:p>
                      <a:r>
                        <a:rPr sz="1200" b="0">
                          <a:solidFill>
                            <a:srgbClr val="E8EEFA"/>
                          </a:solidFill>
                          <a:latin typeface="Segoe UI"/>
                        </a:rPr>
                        <a:t>replicas, strategy.rollingUpdate.maxUnavailable, probe'lar</a:t>
                      </a:r>
                    </a:p>
                  </a:txBody>
                  <a:tcPr>
                    <a:solidFill>
                      <a:srgbClr val="161F40"/>
                    </a:solidFill>
                  </a:tcPr>
                </a:tc>
              </a:tr>
              <a:tr h="520000">
                <a:tc>
                  <a:txBody>
                    <a:bodyPr/>
                    <a:lstStyle/>
                    <a:p>
                      <a:r>
                        <a:rPr sz="1200" b="0">
                          <a:solidFill>
                            <a:srgbClr val="E8EEFA"/>
                          </a:solidFill>
                          <a:latin typeface="Segoe UI"/>
                        </a:rPr>
                        <a:t>Service</a:t>
                      </a:r>
                    </a:p>
                  </a:txBody>
                  <a:tcPr>
                    <a:solidFill>
                      <a:srgbClr val="111834"/>
                    </a:solidFill>
                  </a:tcPr>
                </a:tc>
                <a:tc>
                  <a:txBody>
                    <a:bodyPr/>
                    <a:lstStyle/>
                    <a:p>
                      <a:r>
                        <a:rPr sz="1200" b="0">
                          <a:solidFill>
                            <a:srgbClr val="E8EEFA"/>
                          </a:solidFill>
                          <a:latin typeface="Segoe UI"/>
                        </a:rPr>
                        <a:t>Pod'larga barqaror tarmoq manzili va yuk taqsimlash</a:t>
                      </a:r>
                    </a:p>
                  </a:txBody>
                  <a:tcPr>
                    <a:solidFill>
                      <a:srgbClr val="111834"/>
                    </a:solidFill>
                  </a:tcPr>
                </a:tc>
                <a:tc>
                  <a:txBody>
                    <a:bodyPr/>
                    <a:lstStyle/>
                    <a:p>
                      <a:r>
                        <a:rPr sz="1200" b="0">
                          <a:solidFill>
                            <a:srgbClr val="E8EEFA"/>
                          </a:solidFill>
                          <a:latin typeface="Segoe UI"/>
                        </a:rPr>
                        <a:t>ClusterIP (ichki), NodePort/LoadBalancer (tashqi)</a:t>
                      </a:r>
                    </a:p>
                  </a:txBody>
                  <a:tcPr>
                    <a:solidFill>
                      <a:srgbClr val="111834"/>
                    </a:solidFill>
                  </a:tcPr>
                </a:tc>
              </a:tr>
              <a:tr h="520000">
                <a:tc>
                  <a:txBody>
                    <a:bodyPr/>
                    <a:lstStyle/>
                    <a:p>
                      <a:r>
                        <a:rPr sz="1200" b="0">
                          <a:solidFill>
                            <a:srgbClr val="E8EEFA"/>
                          </a:solidFill>
                          <a:latin typeface="Segoe UI"/>
                        </a:rPr>
                        <a:t>HorizontalPodAutoscaler (HPA)</a:t>
                      </a:r>
                    </a:p>
                  </a:txBody>
                  <a:tcPr>
                    <a:solidFill>
                      <a:srgbClr val="161F40"/>
                    </a:solidFill>
                  </a:tcPr>
                </a:tc>
                <a:tc>
                  <a:txBody>
                    <a:bodyPr/>
                    <a:lstStyle/>
                    <a:p>
                      <a:r>
                        <a:rPr sz="1200" b="0">
                          <a:solidFill>
                            <a:srgbClr val="E8EEFA"/>
                          </a:solidFill>
                          <a:latin typeface="Segoe UI"/>
                        </a:rPr>
                        <a:t>metrikaga qarab nusxalar sonini avtomatik o'zgartiradi</a:t>
                      </a:r>
                    </a:p>
                  </a:txBody>
                  <a:tcPr>
                    <a:solidFill>
                      <a:srgbClr val="161F40"/>
                    </a:solidFill>
                  </a:tcPr>
                </a:tc>
                <a:tc>
                  <a:txBody>
                    <a:bodyPr/>
                    <a:lstStyle/>
                    <a:p>
                      <a:r>
                        <a:rPr sz="1200" b="0">
                          <a:solidFill>
                            <a:srgbClr val="E8EEFA"/>
                          </a:solidFill>
                          <a:latin typeface="Segoe UI"/>
                        </a:rPr>
                        <a:t>CPU foizi, maxsus metrika (so'rov/s, GPU bandligi)</a:t>
                      </a:r>
                    </a:p>
                  </a:txBody>
                  <a:tcPr>
                    <a:solidFill>
                      <a:srgbClr val="161F40"/>
                    </a:solidFill>
                  </a:tcPr>
                </a:tc>
              </a:tr>
              <a:tr h="520000">
                <a:tc>
                  <a:txBody>
                    <a:bodyPr/>
                    <a:lstStyle/>
                    <a:p>
                      <a:r>
                        <a:rPr sz="1200" b="0">
                          <a:solidFill>
                            <a:srgbClr val="E8EEFA"/>
                          </a:solidFill>
                          <a:latin typeface="Segoe UI"/>
                        </a:rPr>
                        <a:t>ConfigMap / Secret</a:t>
                      </a:r>
                    </a:p>
                  </a:txBody>
                  <a:tcPr>
                    <a:solidFill>
                      <a:srgbClr val="111834"/>
                    </a:solidFill>
                  </a:tcPr>
                </a:tc>
                <a:tc>
                  <a:txBody>
                    <a:bodyPr/>
                    <a:lstStyle/>
                    <a:p>
                      <a:r>
                        <a:rPr sz="1200" b="0">
                          <a:solidFill>
                            <a:srgbClr val="E8EEFA"/>
                          </a:solidFill>
                          <a:latin typeface="Segoe UI"/>
                        </a:rPr>
                        <a:t>sozlamalar va sirlar</a:t>
                      </a:r>
                    </a:p>
                  </a:txBody>
                  <a:tcPr>
                    <a:solidFill>
                      <a:srgbClr val="111834"/>
                    </a:solidFill>
                  </a:tcPr>
                </a:tc>
                <a:tc>
                  <a:txBody>
                    <a:bodyPr/>
                    <a:lstStyle/>
                    <a:p>
                      <a:r>
                        <a:rPr sz="1200" b="0">
                          <a:solidFill>
                            <a:srgbClr val="E8EEFA"/>
                          </a:solidFill>
                          <a:latin typeface="Segoe UI"/>
                        </a:rPr>
                        <a:t>model yo'li, paket o'lchami, API kalitlari</a:t>
                      </a:r>
                    </a:p>
                  </a:txBody>
                  <a:tcPr>
                    <a:solidFill>
                      <a:srgbClr val="111834"/>
                    </a:solidFill>
                  </a:tcPr>
                </a:tc>
              </a:tr>
              <a:tr h="520000">
                <a:tc>
                  <a:txBody>
                    <a:bodyPr/>
                    <a:lstStyle/>
                    <a:p>
                      <a:r>
                        <a:rPr sz="1200" b="0">
                          <a:solidFill>
                            <a:srgbClr val="E8EEFA"/>
                          </a:solidFill>
                          <a:latin typeface="Segoe UI"/>
                        </a:rPr>
                        <a:t>PersistentVolume</a:t>
                      </a:r>
                    </a:p>
                  </a:txBody>
                  <a:tcPr>
                    <a:solidFill>
                      <a:srgbClr val="161F40"/>
                    </a:solidFill>
                  </a:tcPr>
                </a:tc>
                <a:tc>
                  <a:txBody>
                    <a:bodyPr/>
                    <a:lstStyle/>
                    <a:p>
                      <a:r>
                        <a:rPr sz="1200" b="0">
                          <a:solidFill>
                            <a:srgbClr val="E8EEFA"/>
                          </a:solidFill>
                          <a:latin typeface="Segoe UI"/>
                        </a:rPr>
                        <a:t>saqlash</a:t>
                      </a:r>
                    </a:p>
                  </a:txBody>
                  <a:tcPr>
                    <a:solidFill>
                      <a:srgbClr val="161F40"/>
                    </a:solidFill>
                  </a:tcPr>
                </a:tc>
                <a:tc>
                  <a:txBody>
                    <a:bodyPr/>
                    <a:lstStyle/>
                    <a:p>
                      <a:r>
                        <a:rPr sz="1200" b="0">
                          <a:solidFill>
                            <a:srgbClr val="E8EEFA"/>
                          </a:solidFill>
                          <a:latin typeface="Segoe UI"/>
                        </a:rPr>
                        <a:t>model ombori, kalibrlash ma'lumotlari</a:t>
                      </a:r>
                    </a:p>
                  </a:txBody>
                  <a:tcPr>
                    <a:solidFill>
                      <a:srgbClr val="161F40"/>
                    </a:solidFill>
                  </a:tcPr>
                </a:tc>
              </a:tr>
              <a:tr h="520000">
                <a:tc>
                  <a:txBody>
                    <a:bodyPr/>
                    <a:lstStyle/>
                    <a:p>
                      <a:r>
                        <a:rPr sz="1200" b="0">
                          <a:solidFill>
                            <a:srgbClr val="E8EEFA"/>
                          </a:solidFill>
                          <a:latin typeface="Segoe UI"/>
                        </a:rPr>
                        <a:t>Ingress</a:t>
                      </a:r>
                    </a:p>
                  </a:txBody>
                  <a:tcPr>
                    <a:solidFill>
                      <a:srgbClr val="111834"/>
                    </a:solidFill>
                  </a:tcPr>
                </a:tc>
                <a:tc>
                  <a:txBody>
                    <a:bodyPr/>
                    <a:lstStyle/>
                    <a:p>
                      <a:r>
                        <a:rPr sz="1200" b="0">
                          <a:solidFill>
                            <a:srgbClr val="E8EEFA"/>
                          </a:solidFill>
                          <a:latin typeface="Segoe UI"/>
                        </a:rPr>
                        <a:t>HTTP marshrutlash, TLS</a:t>
                      </a:r>
                    </a:p>
                  </a:txBody>
                  <a:tcPr>
                    <a:solidFill>
                      <a:srgbClr val="111834"/>
                    </a:solidFill>
                  </a:tcPr>
                </a:tc>
                <a:tc>
                  <a:txBody>
                    <a:bodyPr/>
                    <a:lstStyle/>
                    <a:p>
                      <a:r>
                        <a:rPr sz="1200" b="0">
                          <a:solidFill>
                            <a:srgbClr val="E8EEFA"/>
                          </a:solidFill>
                          <a:latin typeface="Segoe UI"/>
                        </a:rPr>
                        <a:t>yagona kirish nuqtasi, versiyalar bo'yicha trafik bo'lish</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Chekka platformalar: Jetson va Edge TPU</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NVIDIA Jetson — ARM CPU + Ampere GPU (Orin avlodi) + apparat video kodek + umumiy LPDDR5 xotira bir chipda (SoC).</a:t>
            </a:r>
          </a:p>
          <a:p>
            <a:pPr>
              <a:spcBef>
                <a:spcPts val="400"/>
              </a:spcBef>
            </a:pPr>
            <a:r>
              <a:rPr sz="1300">
                <a:solidFill>
                  <a:srgbClr val="AEBBD9"/>
                </a:solidFill>
                <a:latin typeface="Segoe UI"/>
              </a:rPr>
              <a:t>JetPack dasturiy to'plami Ubuntu, CUDA, cuDNN, TensorRT, DeepStream va konteyner qo'llab-quvvatlashini (NVIDIA Container Runtime, l4t asos tasvirlar) o'z ichiga oladi. Quvvat rejimlari nvpmodel bilan boshqariladi (Orin NX: 10, 15, 25 Vt), jetson_clocks chastotani maksimumga qotiradi, tegrastats GPU/CPU yuklama, harorat va quvvatni ko'rsatadi.</a:t>
            </a:r>
          </a:p>
        </p:txBody>
      </p:sp>
      <p:sp>
        <p:nvSpPr>
          <p:cNvPr id="31" name="Rounded Rectangle 30"/>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Google Coral Edge TPU — 4 TOPS INT8 ASIC, ~2 Vt, USB yoki M.2/PCIe modul, shuningdek Dev Board.</a:t>
            </a:r>
          </a:p>
          <a:p>
            <a:pPr>
              <a:spcBef>
                <a:spcPts val="400"/>
              </a:spcBef>
            </a:pPr>
            <a:r>
              <a:rPr sz="1300">
                <a:solidFill>
                  <a:srgbClr val="AEBBD9"/>
                </a:solidFill>
                <a:latin typeface="Segoe UI"/>
              </a:rPr>
              <a:t>Faqat to'liq INT8 kvantlangan TensorFlow Lite modeli, Edge TPU kompilyatori (edgetpu_compiler) orqali kompilyatsiya qilingan holda ishlaydi; qo'llab-quvvatlanmagan operatorlar CPU'da bajariladi (kompilyator buni hisobotda ko'rsatadi).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Chekka platformalar: Jetson va Edge TPU</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graphicFrame>
        <p:nvGraphicFramePr>
          <p:cNvPr id="21" name="Table 20"/>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Ko'rsatkich</a:t>
                      </a:r>
                    </a:p>
                  </a:txBody>
                  <a:tcPr>
                    <a:solidFill>
                      <a:srgbClr val="1C2755"/>
                    </a:solidFill>
                  </a:tcPr>
                </a:tc>
                <a:tc>
                  <a:txBody>
                    <a:bodyPr/>
                    <a:lstStyle/>
                    <a:p>
                      <a:r>
                        <a:rPr sz="1400" b="1">
                          <a:solidFill>
                            <a:srgbClr val="22D3EE"/>
                          </a:solidFill>
                          <a:latin typeface="Segoe UI"/>
                        </a:rPr>
                        <a:t>Jetson Orin NX 16 GB</a:t>
                      </a:r>
                    </a:p>
                  </a:txBody>
                  <a:tcPr>
                    <a:solidFill>
                      <a:srgbClr val="1C2755"/>
                    </a:solidFill>
                  </a:tcPr>
                </a:tc>
                <a:tc>
                  <a:txBody>
                    <a:bodyPr/>
                    <a:lstStyle/>
                    <a:p>
                      <a:r>
                        <a:rPr sz="1400" b="1">
                          <a:solidFill>
                            <a:srgbClr val="22D3EE"/>
                          </a:solidFill>
                          <a:latin typeface="Segoe UI"/>
                        </a:rPr>
                        <a:t>Jetson Orin Nano 8 GB</a:t>
                      </a:r>
                    </a:p>
                  </a:txBody>
                  <a:tcPr>
                    <a:solidFill>
                      <a:srgbClr val="1C2755"/>
                    </a:solidFill>
                  </a:tcPr>
                </a:tc>
                <a:tc>
                  <a:txBody>
                    <a:bodyPr/>
                    <a:lstStyle/>
                    <a:p>
                      <a:r>
                        <a:rPr sz="1400" b="1">
                          <a:solidFill>
                            <a:srgbClr val="22D3EE"/>
                          </a:solidFill>
                          <a:latin typeface="Segoe UI"/>
                        </a:rPr>
                        <a:t>Coral Edge TPU (M.2)</a:t>
                      </a:r>
                    </a:p>
                  </a:txBody>
                  <a:tcPr>
                    <a:solidFill>
                      <a:srgbClr val="1C2755"/>
                    </a:solidFill>
                  </a:tcPr>
                </a:tc>
              </a:tr>
              <a:tr h="520000">
                <a:tc>
                  <a:txBody>
                    <a:bodyPr/>
                    <a:lstStyle/>
                    <a:p>
                      <a:r>
                        <a:rPr sz="1400" b="0">
                          <a:solidFill>
                            <a:srgbClr val="E8EEFA"/>
                          </a:solidFill>
                          <a:latin typeface="Segoe UI"/>
                        </a:rPr>
                        <a:t>Inferens unumdorligi</a:t>
                      </a:r>
                    </a:p>
                  </a:txBody>
                  <a:tcPr>
                    <a:solidFill>
                      <a:srgbClr val="111834"/>
                    </a:solidFill>
                  </a:tcPr>
                </a:tc>
                <a:tc>
                  <a:txBody>
                    <a:bodyPr/>
                    <a:lstStyle/>
                    <a:p>
                      <a:r>
                        <a:rPr sz="1400" b="0">
                          <a:solidFill>
                            <a:srgbClr val="E8EEFA"/>
                          </a:solidFill>
                          <a:latin typeface="Segoe UI"/>
                        </a:rPr>
                        <a:t>~50 TOPS INT8 dense</a:t>
                      </a:r>
                    </a:p>
                  </a:txBody>
                  <a:tcPr>
                    <a:solidFill>
                      <a:srgbClr val="111834"/>
                    </a:solidFill>
                  </a:tcPr>
                </a:tc>
                <a:tc>
                  <a:txBody>
                    <a:bodyPr/>
                    <a:lstStyle/>
                    <a:p>
                      <a:r>
                        <a:rPr sz="1400" b="0">
                          <a:solidFill>
                            <a:srgbClr val="E8EEFA"/>
                          </a:solidFill>
                          <a:latin typeface="Segoe UI"/>
                        </a:rPr>
                        <a:t>~20 TOPS INT8 dense</a:t>
                      </a:r>
                    </a:p>
                  </a:txBody>
                  <a:tcPr>
                    <a:solidFill>
                      <a:srgbClr val="111834"/>
                    </a:solidFill>
                  </a:tcPr>
                </a:tc>
                <a:tc>
                  <a:txBody>
                    <a:bodyPr/>
                    <a:lstStyle/>
                    <a:p>
                      <a:r>
                        <a:rPr sz="1400" b="0">
                          <a:solidFill>
                            <a:srgbClr val="E8EEFA"/>
                          </a:solidFill>
                          <a:latin typeface="Segoe UI"/>
                        </a:rPr>
                        <a:t>4 TOPS INT8</a:t>
                      </a:r>
                    </a:p>
                  </a:txBody>
                  <a:tcPr>
                    <a:solidFill>
                      <a:srgbClr val="111834"/>
                    </a:solidFill>
                  </a:tcPr>
                </a:tc>
              </a:tr>
              <a:tr h="520000">
                <a:tc>
                  <a:txBody>
                    <a:bodyPr/>
                    <a:lstStyle/>
                    <a:p>
                      <a:r>
                        <a:rPr sz="1400" b="0">
                          <a:solidFill>
                            <a:srgbClr val="E8EEFA"/>
                          </a:solidFill>
                          <a:latin typeface="Segoe UI"/>
                        </a:rPr>
                        <a:t>Quvvat</a:t>
                      </a:r>
                    </a:p>
                  </a:txBody>
                  <a:tcPr>
                    <a:solidFill>
                      <a:srgbClr val="161F40"/>
                    </a:solidFill>
                  </a:tcPr>
                </a:tc>
                <a:tc>
                  <a:txBody>
                    <a:bodyPr/>
                    <a:lstStyle/>
                    <a:p>
                      <a:r>
                        <a:rPr sz="1400" b="0">
                          <a:solidFill>
                            <a:srgbClr val="E8EEFA"/>
                          </a:solidFill>
                          <a:latin typeface="Segoe UI"/>
                        </a:rPr>
                        <a:t>10–25 Vt</a:t>
                      </a:r>
                    </a:p>
                  </a:txBody>
                  <a:tcPr>
                    <a:solidFill>
                      <a:srgbClr val="161F40"/>
                    </a:solidFill>
                  </a:tcPr>
                </a:tc>
                <a:tc>
                  <a:txBody>
                    <a:bodyPr/>
                    <a:lstStyle/>
                    <a:p>
                      <a:r>
                        <a:rPr sz="1400" b="0">
                          <a:solidFill>
                            <a:srgbClr val="E8EEFA"/>
                          </a:solidFill>
                          <a:latin typeface="Segoe UI"/>
                        </a:rPr>
                        <a:t>7–15 Vt</a:t>
                      </a:r>
                    </a:p>
                  </a:txBody>
                  <a:tcPr>
                    <a:solidFill>
                      <a:srgbClr val="161F40"/>
                    </a:solidFill>
                  </a:tcPr>
                </a:tc>
                <a:tc>
                  <a:txBody>
                    <a:bodyPr/>
                    <a:lstStyle/>
                    <a:p>
                      <a:r>
                        <a:rPr sz="1400" b="0">
                          <a:solidFill>
                            <a:srgbClr val="E8EEFA"/>
                          </a:solidFill>
                          <a:latin typeface="Segoe UI"/>
                        </a:rPr>
                        <a:t>~2 Vt</a:t>
                      </a:r>
                    </a:p>
                  </a:txBody>
                  <a:tcPr>
                    <a:solidFill>
                      <a:srgbClr val="161F40"/>
                    </a:solidFill>
                  </a:tcPr>
                </a:tc>
              </a:tr>
              <a:tr h="520000">
                <a:tc>
                  <a:txBody>
                    <a:bodyPr/>
                    <a:lstStyle/>
                    <a:p>
                      <a:r>
                        <a:rPr sz="1400" b="0">
                          <a:solidFill>
                            <a:srgbClr val="E8EEFA"/>
                          </a:solidFill>
                          <a:latin typeface="Segoe UI"/>
                        </a:rPr>
                        <a:t>Formatlar</a:t>
                      </a:r>
                    </a:p>
                  </a:txBody>
                  <a:tcPr>
                    <a:solidFill>
                      <a:srgbClr val="111834"/>
                    </a:solidFill>
                  </a:tcPr>
                </a:tc>
                <a:tc>
                  <a:txBody>
                    <a:bodyPr/>
                    <a:lstStyle/>
                    <a:p>
                      <a:r>
                        <a:rPr sz="1400" b="0">
                          <a:solidFill>
                            <a:srgbClr val="E8EEFA"/>
                          </a:solidFill>
                          <a:latin typeface="Segoe UI"/>
                        </a:rPr>
                        <a:t>FP32/FP16/INT8</a:t>
                      </a:r>
                    </a:p>
                  </a:txBody>
                  <a:tcPr>
                    <a:solidFill>
                      <a:srgbClr val="111834"/>
                    </a:solidFill>
                  </a:tcPr>
                </a:tc>
                <a:tc>
                  <a:txBody>
                    <a:bodyPr/>
                    <a:lstStyle/>
                    <a:p>
                      <a:r>
                        <a:rPr sz="1400" b="0">
                          <a:solidFill>
                            <a:srgbClr val="E8EEFA"/>
                          </a:solidFill>
                          <a:latin typeface="Segoe UI"/>
                        </a:rPr>
                        <a:t>FP32/FP16/INT8</a:t>
                      </a:r>
                    </a:p>
                  </a:txBody>
                  <a:tcPr>
                    <a:solidFill>
                      <a:srgbClr val="111834"/>
                    </a:solidFill>
                  </a:tcPr>
                </a:tc>
                <a:tc>
                  <a:txBody>
                    <a:bodyPr/>
                    <a:lstStyle/>
                    <a:p>
                      <a:r>
                        <a:rPr sz="1400" b="0">
                          <a:solidFill>
                            <a:srgbClr val="E8EEFA"/>
                          </a:solidFill>
                          <a:latin typeface="Segoe UI"/>
                        </a:rPr>
                        <a:t>faqat INT8 TFLite</a:t>
                      </a:r>
                    </a:p>
                  </a:txBody>
                  <a:tcPr>
                    <a:solidFill>
                      <a:srgbClr val="111834"/>
                    </a:solidFill>
                  </a:tcPr>
                </a:tc>
              </a:tr>
              <a:tr h="520000">
                <a:tc>
                  <a:txBody>
                    <a:bodyPr/>
                    <a:lstStyle/>
                    <a:p>
                      <a:r>
                        <a:rPr sz="1400" b="0">
                          <a:solidFill>
                            <a:srgbClr val="E8EEFA"/>
                          </a:solidFill>
                          <a:latin typeface="Segoe UI"/>
                        </a:rPr>
                        <a:t>ResNet-50 batch 1 (taxminiy)</a:t>
                      </a:r>
                    </a:p>
                  </a:txBody>
                  <a:tcPr>
                    <a:solidFill>
                      <a:srgbClr val="161F40"/>
                    </a:solidFill>
                  </a:tcPr>
                </a:tc>
                <a:tc>
                  <a:txBody>
                    <a:bodyPr/>
                    <a:lstStyle/>
                    <a:p>
                      <a:r>
                        <a:rPr sz="1400" b="0">
                          <a:solidFill>
                            <a:srgbClr val="E8EEFA"/>
                          </a:solidFill>
                          <a:latin typeface="Segoe UI"/>
                        </a:rPr>
                        <a:t>~2,5 ms INT8 (TensorRT)</a:t>
                      </a:r>
                    </a:p>
                  </a:txBody>
                  <a:tcPr>
                    <a:solidFill>
                      <a:srgbClr val="161F40"/>
                    </a:solidFill>
                  </a:tcPr>
                </a:tc>
                <a:tc>
                  <a:txBody>
                    <a:bodyPr/>
                    <a:lstStyle/>
                    <a:p>
                      <a:r>
                        <a:rPr sz="1400" b="0">
                          <a:solidFill>
                            <a:srgbClr val="E8EEFA"/>
                          </a:solidFill>
                          <a:latin typeface="Segoe UI"/>
                        </a:rPr>
                        <a:t>~5 ms INT8</a:t>
                      </a:r>
                    </a:p>
                  </a:txBody>
                  <a:tcPr>
                    <a:solidFill>
                      <a:srgbClr val="161F40"/>
                    </a:solidFill>
                  </a:tcPr>
                </a:tc>
                <a:tc>
                  <a:txBody>
                    <a:bodyPr/>
                    <a:lstStyle/>
                    <a:p>
                      <a:r>
                        <a:rPr sz="1400" b="0">
                          <a:solidFill>
                            <a:srgbClr val="E8EEFA"/>
                          </a:solidFill>
                          <a:latin typeface="Segoe UI"/>
                        </a:rPr>
                        <a:t>~15 ms (kvantlangan)</a:t>
                      </a:r>
                    </a:p>
                  </a:txBody>
                  <a:tcPr>
                    <a:solidFill>
                      <a:srgbClr val="161F40"/>
                    </a:solidFill>
                  </a:tcPr>
                </a:tc>
              </a:tr>
              <a:tr h="520000">
                <a:tc>
                  <a:txBody>
                    <a:bodyPr/>
                    <a:lstStyle/>
                    <a:p>
                      <a:r>
                        <a:rPr sz="1400" b="0">
                          <a:solidFill>
                            <a:srgbClr val="E8EEFA"/>
                          </a:solidFill>
                          <a:latin typeface="Segoe UI"/>
                        </a:rPr>
                        <a:t>Video dekodlash</a:t>
                      </a:r>
                    </a:p>
                  </a:txBody>
                  <a:tcPr>
                    <a:solidFill>
                      <a:srgbClr val="111834"/>
                    </a:solidFill>
                  </a:tcPr>
                </a:tc>
                <a:tc>
                  <a:txBody>
                    <a:bodyPr/>
                    <a:lstStyle/>
                    <a:p>
                      <a:r>
                        <a:rPr sz="1400" b="0">
                          <a:solidFill>
                            <a:srgbClr val="E8EEFA"/>
                          </a:solidFill>
                          <a:latin typeface="Segoe UI"/>
                        </a:rPr>
                        <a:t>NVDEC apparat</a:t>
                      </a:r>
                    </a:p>
                  </a:txBody>
                  <a:tcPr>
                    <a:solidFill>
                      <a:srgbClr val="111834"/>
                    </a:solidFill>
                  </a:tcPr>
                </a:tc>
                <a:tc>
                  <a:txBody>
                    <a:bodyPr/>
                    <a:lstStyle/>
                    <a:p>
                      <a:r>
                        <a:rPr sz="1400" b="0">
                          <a:solidFill>
                            <a:srgbClr val="E8EEFA"/>
                          </a:solidFill>
                          <a:latin typeface="Segoe UI"/>
                        </a:rPr>
                        <a:t>NVDEC apparat</a:t>
                      </a:r>
                    </a:p>
                  </a:txBody>
                  <a:tcPr>
                    <a:solidFill>
                      <a:srgbClr val="111834"/>
                    </a:solidFill>
                  </a:tcPr>
                </a:tc>
                <a:tc>
                  <a:txBody>
                    <a:bodyPr/>
                    <a:lstStyle/>
                    <a:p>
                      <a:r>
                        <a:rPr sz="1400" b="0">
                          <a:solidFill>
                            <a:srgbClr val="E8EEFA"/>
                          </a:solidFill>
                          <a:latin typeface="Segoe UI"/>
                        </a:rPr>
                        <a:t>yo'q</a:t>
                      </a:r>
                    </a:p>
                  </a:txBody>
                  <a:tcPr>
                    <a:solidFill>
                      <a:srgbClr val="111834"/>
                    </a:solidFill>
                  </a:tcPr>
                </a:tc>
              </a:tr>
              <a:tr h="520000">
                <a:tc>
                  <a:txBody>
                    <a:bodyPr/>
                    <a:lstStyle/>
                    <a:p>
                      <a:r>
                        <a:rPr sz="1400" b="0">
                          <a:solidFill>
                            <a:srgbClr val="E8EEFA"/>
                          </a:solidFill>
                          <a:latin typeface="Segoe UI"/>
                        </a:rPr>
                        <a:t>Konteynerlar</a:t>
                      </a:r>
                    </a:p>
                  </a:txBody>
                  <a:tcPr>
                    <a:solidFill>
                      <a:srgbClr val="161F40"/>
                    </a:solidFill>
                  </a:tcPr>
                </a:tc>
                <a:tc>
                  <a:txBody>
                    <a:bodyPr/>
                    <a:lstStyle/>
                    <a:p>
                      <a:r>
                        <a:rPr sz="1400" b="0">
                          <a:solidFill>
                            <a:srgbClr val="E8EEFA"/>
                          </a:solidFill>
                          <a:latin typeface="Segoe UI"/>
                        </a:rPr>
                        <a:t>Docker + NVIDIA runtime</a:t>
                      </a:r>
                    </a:p>
                  </a:txBody>
                  <a:tcPr>
                    <a:solidFill>
                      <a:srgbClr val="161F40"/>
                    </a:solidFill>
                  </a:tcPr>
                </a:tc>
                <a:tc>
                  <a:txBody>
                    <a:bodyPr/>
                    <a:lstStyle/>
                    <a:p>
                      <a:r>
                        <a:rPr sz="1400" b="0">
                          <a:solidFill>
                            <a:srgbClr val="E8EEFA"/>
                          </a:solidFill>
                          <a:latin typeface="Segoe UI"/>
                        </a:rPr>
                        <a:t>Docker + NVIDIA runtime</a:t>
                      </a:r>
                    </a:p>
                  </a:txBody>
                  <a:tcPr>
                    <a:solidFill>
                      <a:srgbClr val="161F40"/>
                    </a:solidFill>
                  </a:tcPr>
                </a:tc>
                <a:tc>
                  <a:txBody>
                    <a:bodyPr/>
                    <a:lstStyle/>
                    <a:p>
                      <a:r>
                        <a:rPr sz="1400" b="0">
                          <a:solidFill>
                            <a:srgbClr val="E8EEFA"/>
                          </a:solidFill>
                          <a:latin typeface="Segoe UI"/>
                        </a:rPr>
                        <a:t>Docker (host CPU), USB o'tkazish</a:t>
                      </a:r>
                    </a:p>
                  </a:txBody>
                  <a:tcPr>
                    <a:solidFill>
                      <a:srgbClr val="161F40"/>
                    </a:solidFill>
                  </a:tcPr>
                </a:tc>
              </a:tr>
              <a:tr h="520000">
                <a:tc>
                  <a:txBody>
                    <a:bodyPr/>
                    <a:lstStyle/>
                    <a:p>
                      <a:r>
                        <a:rPr sz="1400" b="0">
                          <a:solidFill>
                            <a:srgbClr val="E8EEFA"/>
                          </a:solidFill>
                          <a:latin typeface="Segoe UI"/>
                        </a:rPr>
                        <a:t>Masofadan boshqarish</a:t>
                      </a:r>
                    </a:p>
                  </a:txBody>
                  <a:tcPr>
                    <a:solidFill>
                      <a:srgbClr val="111834"/>
                    </a:solidFill>
                  </a:tcPr>
                </a:tc>
                <a:tc>
                  <a:txBody>
                    <a:bodyPr/>
                    <a:lstStyle/>
                    <a:p>
                      <a:r>
                        <a:rPr sz="1400" b="0">
                          <a:solidFill>
                            <a:srgbClr val="E8EEFA"/>
                          </a:solidFill>
                          <a:latin typeface="Segoe UI"/>
                        </a:rPr>
                        <a:t>k3s agent, Fleet, Balena</a:t>
                      </a:r>
                    </a:p>
                  </a:txBody>
                  <a:tcPr>
                    <a:solidFill>
                      <a:srgbClr val="111834"/>
                    </a:solidFill>
                  </a:tcPr>
                </a:tc>
                <a:tc>
                  <a:txBody>
                    <a:bodyPr/>
                    <a:lstStyle/>
                    <a:p>
                      <a:r>
                        <a:rPr sz="1400" b="0">
                          <a:solidFill>
                            <a:srgbClr val="E8EEFA"/>
                          </a:solidFill>
                          <a:latin typeface="Segoe UI"/>
                        </a:rPr>
                        <a:t>k3s agent</a:t>
                      </a:r>
                    </a:p>
                  </a:txBody>
                  <a:tcPr>
                    <a:solidFill>
                      <a:srgbClr val="111834"/>
                    </a:solidFill>
                  </a:tcPr>
                </a:tc>
                <a:tc>
                  <a:txBody>
                    <a:bodyPr/>
                    <a:lstStyle/>
                    <a:p>
                      <a:r>
                        <a:rPr sz="1400" b="0">
                          <a:solidFill>
                            <a:srgbClr val="E8EEFA"/>
                          </a:solidFill>
                          <a:latin typeface="Segoe UI"/>
                        </a:rPr>
                        <a:t>Balena, Mender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ipe(left)">
                                      <p:cBhvr>
                                        <p:cTn id="16" dur="8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5" name="TextBox 14"/>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Cloud va Edge arxitekturalarini solishtirish mezonlari</a:t>
            </a:r>
          </a:p>
        </p:txBody>
      </p:sp>
      <p:sp>
        <p:nvSpPr>
          <p:cNvPr id="16" name="Rectangle 15"/>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18" name="Rounded Rectangle 17"/>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19" name="Rounded Rectangle 18"/>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1" name="TextBox 20"/>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2" name="Rounded Rectangle 21"/>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3" name="Rounded Rectangle 22"/>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531520"/>
            <a:ext cx="50000" cy="25169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Uchdan-uchga kechikish: Edge'da tarmoq ishtirok etmaydi — 10–50 ms; Cloud'da mintaqaviy ma'lumotlar markazigacha 20–80 ms RTT (O'zbekistondan eng yaqin yirik bulut mintaqalari — Frankfurt, Mumbai, Singapur — 80–150 ms) plus navbat va inferens.</a:t>
            </a:r>
          </a:p>
          <a:p>
            <a:pPr>
              <a:spcBef>
                <a:spcPts val="400"/>
              </a:spcBef>
            </a:pPr>
            <a:r>
              <a:rPr sz="1400">
                <a:solidFill>
                  <a:srgbClr val="AEBBD9"/>
                </a:solidFill>
                <a:latin typeface="Segoe UI"/>
              </a:rPr>
              <a:t>Tarmoq trafigi: Edge faqat hodisalar va metrikalarni yuboradi (kB/s), Cloud xom oqimni talab qiladi (Mbit/s). TCO: Cloud — operatsion xarajat (GPU soati 0,5–4 AQSh dollari T4/A10/A100 uchun, mintaqaga qarab), Edge — kapital xarajat (qurilma 300–2000 dollar) plus texnik xizmat.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550"/>
                                        <p:tgtEl>
                                          <p:spTgt spid="15"/>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wipe(left)">
                                      <p:cBhvr>
                                        <p:cTn id="11" dur="800"/>
                                        <p:tgtEl>
                                          <p:spTgt spid="16"/>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50"/>
                                        <p:tgtEl>
                                          <p:spTgt spid="19"/>
                                        </p:tgtEl>
                                      </p:cBhvr>
                                    </p:animEffect>
                                    <p:anim calcmode="lin" valueType="num">
                                      <p:cBhvr additive="base">
                                        <p:cTn id="16" dur="550" fill="hold"/>
                                        <p:tgtEl>
                                          <p:spTgt spid="19"/>
                                        </p:tgtEl>
                                        <p:attrNameLst>
                                          <p:attrName>ppt_w</p:attrName>
                                        </p:attrNameLst>
                                      </p:cBhvr>
                                      <p:tavLst>
                                        <p:tav tm="0">
                                          <p:val>
                                            <p:strVal val="0"/>
                                          </p:val>
                                        </p:tav>
                                        <p:tav tm="100000">
                                          <p:val>
                                            <p:strVal val="#ppt_w"/>
                                          </p:val>
                                        </p:tav>
                                      </p:tavLst>
                                    </p:anim>
                                    <p:anim calcmode="lin" valueType="num">
                                      <p:cBhvr additive="base">
                                        <p:cTn id="17" dur="550" fill="hold"/>
                                        <p:tgtEl>
                                          <p:spTgt spid="19"/>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550"/>
                                        <p:tgtEl>
                                          <p:spTgt spid="20"/>
                                        </p:tgtEl>
                                      </p:cBhvr>
                                    </p:animEffect>
                                    <p:anim calcmode="lin" valueType="num">
                                      <p:cBhvr additive="base">
                                        <p:cTn id="22" dur="550" fill="hold"/>
                                        <p:tgtEl>
                                          <p:spTgt spid="20"/>
                                        </p:tgtEl>
                                        <p:attrNameLst>
                                          <p:attrName>ppt_w</p:attrName>
                                        </p:attrNameLst>
                                      </p:cBhvr>
                                      <p:tavLst>
                                        <p:tav tm="0">
                                          <p:val>
                                            <p:strVal val="0"/>
                                          </p:val>
                                        </p:tav>
                                        <p:tav tm="100000">
                                          <p:val>
                                            <p:strVal val="#ppt_w"/>
                                          </p:val>
                                        </p:tav>
                                      </p:tavLst>
                                    </p:anim>
                                    <p:anim calcmode="lin" valueType="num">
                                      <p:cBhvr additive="base">
                                        <p:cTn id="23" dur="550" fill="hold"/>
                                        <p:tgtEl>
                                          <p:spTgt spid="20"/>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50"/>
                                        <p:tgtEl>
                                          <p:spTgt spid="22"/>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50"/>
                                        <p:tgtEl>
                                          <p:spTgt spid="21"/>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550"/>
                                        <p:tgtEl>
                                          <p:spTgt spid="23"/>
                                        </p:tgtEl>
                                      </p:cBhvr>
                                    </p:animEffect>
                                    <p:anim calcmode="lin" valueType="num">
                                      <p:cBhvr additive="base">
                                        <p:cTn id="36" dur="550" fill="hold"/>
                                        <p:tgtEl>
                                          <p:spTgt spid="23"/>
                                        </p:tgtEl>
                                        <p:attrNameLst>
                                          <p:attrName>ppt_x</p:attrName>
                                        </p:attrNameLst>
                                      </p:cBhvr>
                                      <p:tavLst>
                                        <p:tav tm="0">
                                          <p:val>
                                            <p:strVal val="#ppt_x"/>
                                          </p:val>
                                        </p:tav>
                                        <p:tav tm="100000">
                                          <p:val>
                                            <p:strVal val="#ppt_x"/>
                                          </p:val>
                                        </p:tav>
                                      </p:tavLst>
                                    </p:anim>
                                    <p:anim calcmode="lin" valueType="num">
                                      <p:cBhvr additive="base">
                                        <p:cTn id="37" dur="550" fill="hold"/>
                                        <p:tgtEl>
                                          <p:spTgt spid="23"/>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550"/>
                                        <p:tgtEl>
                                          <p:spTgt spid="24"/>
                                        </p:tgtEl>
                                      </p:cBhvr>
                                    </p:animEffect>
                                    <p:anim calcmode="lin" valueType="num">
                                      <p:cBhvr additive="base">
                                        <p:cTn id="42" dur="550" fill="hold"/>
                                        <p:tgtEl>
                                          <p:spTgt spid="24"/>
                                        </p:tgtEl>
                                        <p:attrNameLst>
                                          <p:attrName>ppt_x</p:attrName>
                                        </p:attrNameLst>
                                      </p:cBhvr>
                                      <p:tavLst>
                                        <p:tav tm="0">
                                          <p:val>
                                            <p:strVal val="#ppt_x"/>
                                          </p:val>
                                        </p:tav>
                                        <p:tav tm="100000">
                                          <p:val>
                                            <p:strVal val="#ppt_x"/>
                                          </p:val>
                                        </p:tav>
                                      </p:tavLst>
                                    </p:anim>
                                    <p:anim calcmode="lin" valueType="num">
                                      <p:cBhvr additive="base">
                                        <p:cTn id="43" dur="550" fill="hold"/>
                                        <p:tgtEl>
                                          <p:spTgt spid="24"/>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50"/>
                                        <p:tgtEl>
                                          <p:spTgt spid="25"/>
                                        </p:tgtEl>
                                      </p:cBhvr>
                                    </p:animEffect>
                                    <p:anim calcmode="lin" valueType="num">
                                      <p:cBhvr additive="base">
                                        <p:cTn id="48" dur="550" fill="hold"/>
                                        <p:tgtEl>
                                          <p:spTgt spid="25"/>
                                        </p:tgtEl>
                                        <p:attrNameLst>
                                          <p:attrName>ppt_w</p:attrName>
                                        </p:attrNameLst>
                                      </p:cBhvr>
                                      <p:tavLst>
                                        <p:tav tm="0">
                                          <p:val>
                                            <p:strVal val="0"/>
                                          </p:val>
                                        </p:tav>
                                        <p:tav tm="100000">
                                          <p:val>
                                            <p:strVal val="#ppt_w"/>
                                          </p:val>
                                        </p:tav>
                                      </p:tavLst>
                                    </p:anim>
                                    <p:anim calcmode="lin" valueType="num">
                                      <p:cBhvr additive="base">
                                        <p:cTn id="49" dur="550" fill="hold"/>
                                        <p:tgtEl>
                                          <p:spTgt spid="25"/>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550"/>
                                        <p:tgtEl>
                                          <p:spTgt spid="26"/>
                                        </p:tgtEl>
                                      </p:cBhvr>
                                    </p:animEffect>
                                    <p:anim calcmode="lin" valueType="num">
                                      <p:cBhvr additive="base">
                                        <p:cTn id="54" dur="550" fill="hold"/>
                                        <p:tgtEl>
                                          <p:spTgt spid="26"/>
                                        </p:tgtEl>
                                        <p:attrNameLst>
                                          <p:attrName>ppt_x</p:attrName>
                                        </p:attrNameLst>
                                      </p:cBhvr>
                                      <p:tavLst>
                                        <p:tav tm="0">
                                          <p:val>
                                            <p:strVal val="#ppt_x"/>
                                          </p:val>
                                        </p:tav>
                                        <p:tav tm="100000">
                                          <p:val>
                                            <p:strVal val="#ppt_x"/>
                                          </p:val>
                                        </p:tav>
                                      </p:tavLst>
                                    </p:anim>
                                    <p:anim calcmode="lin" valueType="num">
                                      <p:cBhvr additive="base">
                                        <p:cTn id="55"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9" grpId="0" animBg="1"/>
      <p:bldP spid="22" grpId="0" animBg="1"/>
      <p:bldP spid="21" grpId="0" animBg="1"/>
      <p:bldP spid="23" grpId="0" animBg="1"/>
      <p:bldP spid="24" grpId="0" animBg="1"/>
      <p:bldP spid="25" grpId="0" animBg="1"/>
      <p:bldP spid="26"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Cloud va Edge arxitekturalarini solishtirish mezonlari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Energiya: Edge inferens boshiga 10–50 mJ, Cloud'da tezlatkichning o'zi samaraliroq bo'lishi mumkin, lekin ma'lumotlar markazi PUE (1,1–1,5) va tarmoq uzatish energiyasi qo'shiladi.</a:t>
            </a:r>
          </a:p>
          <a:p>
            <a:pPr>
              <a:spcBef>
                <a:spcPts val="400"/>
              </a:spcBef>
            </a:pPr>
            <a:r>
              <a:rPr sz="1400">
                <a:solidFill>
                  <a:srgbClr val="AEBBD9"/>
                </a:solidFill>
                <a:latin typeface="Segoe UI"/>
              </a:rPr>
              <a:t>Ishonchlilik: Cloud — 99,9 % va undan yuqori SLA, lekin internetga bog'liq; Edge — mahalliy avtonomiya, lekin qurilma nosozligini masofadan tuzatish qiyin. Maxfiylik va me'yoriy talablar: shaxsiy ma'lumot (yuz, tibbiy tasvir) binoni tark etmasligi ko'p hollarda qonuniy talab.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Kuzatiluvchanlik va ekspluatatsiya</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Xizmatga kamida to'rtta signal kiritiladi: so'rovlar soni (sekundiga), xatolar ulushi, kechikish gistogrammasi (p50/p95/p99 hisoblash uchun) va resurs ko'rsatkichlari (GPU bandligi, xotira, harorat).</a:t>
            </a:r>
          </a:p>
          <a:p>
            <a:pPr>
              <a:spcBef>
                <a:spcPts val="400"/>
              </a:spcBef>
            </a:pPr>
            <a:r>
              <a:rPr sz="1400">
                <a:solidFill>
                  <a:srgbClr val="AEBBD9"/>
                </a:solidFill>
                <a:latin typeface="Segoe UI"/>
              </a:rPr>
              <a:t>Prometheus format standart; FastAPI uchun prometheus-fastapi-instrumentator yoki prometheus_client. Loglar strukturali (JSON) bo'lib, so'rov identifikatori bilan bog'lanadi. Bu ma'lumotlar M12 dagi MLOps jarayonlari — drift aniqlash, modelni avtomatik qayta joylash — uchun asos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4affd477be183885.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Syced · Wikimedia Commons · CC0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168552"/>
            <a:ext cx="50000" cy="12428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Laboratoriya topshirig'i: «ResNet-50/YOLOv8 inferens xizmatini Docker + Kubernetes'da bulutli uslubda va Jetson/Edge TPU'da chekka uslubda joylashtirish, ikki arxitekturani taqqoslash».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Talab qilinadigan muhit.</a:t>
            </a:r>
          </a:p>
          <a:p>
            <a:pPr>
              <a:spcBef>
                <a:spcPts val="400"/>
              </a:spcBef>
            </a:pPr>
            <a:r>
              <a:rPr sz="1400">
                <a:solidFill>
                  <a:srgbClr val="AEBBD9"/>
                </a:solidFill>
                <a:latin typeface="Segoe UI"/>
              </a:rPr>
              <a:t>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 Python 3.11, fastapi, uvicorn, onnxruntime (yoki onnxruntime-gpu), numpy, pillow, prometheus-fastapi-instrumentator; yuklama generatori hey yoki locust.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Chekka qismi: NVIDIA Jetson Orin Nano/NX (JetPack 6.x, TensorRT 8.6/10) yoki Coral USB Accelerator + Raspberry Pi 4/5 (yoki x86 noutbuk) libedgetpu, pycoral yoki tflite-runtime bilan.</a:t>
            </a:r>
          </a:p>
          <a:p>
            <a:pPr>
              <a:spcBef>
                <a:spcPts val="400"/>
              </a:spcBef>
            </a:pPr>
            <a:r>
              <a:rPr sz="1400">
                <a:solidFill>
                  <a:srgbClr val="AEBBD9"/>
                </a:solidFill>
                <a:latin typeface="Segoe UI"/>
              </a:rPr>
              <a:t>Modellar: A3 dan resnet50_fp32.onnx va resnet50_int8.onnx; Coral uchun rasmiy kvantlangan MobileNetV2 yoki EfficientNet-Lite TFLite modeli (Coral model bog'idan). Vaqt: 2 akademik soat auditoriyada (Docker + minikube), Jetson/Coral qismi laboratoriya qurilmalarida navbat bilan yoki uyda.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FastAPI inferens xizmati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 Vaqt o'lchovi javobda qaytariladi — kechikish qayerda ekanini (oldindan ishlov yoki inferens) darhol ko'rish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FastAPI inferens xizmati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app/main.py</a:t>
            </a:r>
          </a:p>
          <a:p>
            <a:r>
              <a:rPr sz="1200">
                <a:solidFill>
                  <a:srgbClr val="DBE4F5"/>
                </a:solidFill>
                <a:latin typeface="Consolas"/>
              </a:rPr>
              <a:t>import os, io, time, numpy as np, onnxruntime as ort</a:t>
            </a:r>
          </a:p>
          <a:p>
            <a:r>
              <a:rPr sz="1200">
                <a:solidFill>
                  <a:srgbClr val="DBE4F5"/>
                </a:solidFill>
                <a:latin typeface="Consolas"/>
              </a:rPr>
              <a:t>from fastapi import FastAPI, File, UploadFile, HTTPException</a:t>
            </a:r>
          </a:p>
          <a:p>
            <a:r>
              <a:rPr sz="1200">
                <a:solidFill>
                  <a:srgbClr val="DBE4F5"/>
                </a:solidFill>
                <a:latin typeface="Consolas"/>
              </a:rPr>
              <a:t>from PIL import Image</a:t>
            </a:r>
          </a:p>
          <a:p>
            <a:r>
              <a:rPr sz="1200">
                <a:solidFill>
                  <a:srgbClr val="DBE4F5"/>
                </a:solidFill>
                <a:latin typeface="Consolas"/>
              </a:rPr>
              <a:t>from prometheus_fastapi_instrumentator import Instrumentator</a:t>
            </a:r>
          </a:p>
          <a:p>
            <a:r>
              <a:rPr sz="1200">
                <a:solidFill>
                  <a:srgbClr val="DBE4F5"/>
                </a:solidFill>
                <a:latin typeface="Consolas"/>
              </a:rPr>
              <a:t> </a:t>
            </a:r>
          </a:p>
          <a:p>
            <a:r>
              <a:rPr sz="1200">
                <a:solidFill>
                  <a:srgbClr val="DBE4F5"/>
                </a:solidFill>
                <a:latin typeface="Consolas"/>
              </a:rPr>
              <a:t>MODEL = os.getenv("MODEL_PATH", "/models/resnet50_int8.onnx")</a:t>
            </a:r>
          </a:p>
          <a:p>
            <a:r>
              <a:rPr sz="1200">
                <a:solidFill>
                  <a:srgbClr val="DBE4F5"/>
                </a:solidFill>
                <a:latin typeface="Consolas"/>
              </a:rPr>
              <a:t>PROVIDERS = os.getenv("ORT_PROVIDERS", "CPUExecutionProvider").split(",")</a:t>
            </a:r>
          </a:p>
          <a:p>
            <a:r>
              <a:rPr sz="1200">
                <a:solidFill>
                  <a:srgbClr val="DBE4F5"/>
                </a:solidFill>
                <a:latin typeface="Consolas"/>
              </a:rPr>
              <a:t>THREADS = int(os.getenv("ORT_THREADS", "2"))</a:t>
            </a:r>
          </a:p>
          <a:p>
            <a:r>
              <a:rPr sz="1200">
                <a:solidFill>
                  <a:srgbClr val="DBE4F5"/>
                </a:solidFill>
                <a:latin typeface="Consolas"/>
              </a:rPr>
              <a:t>MEAN = np.array([0.485, 0.456, 0.406], np.float32)[:, None, None]</a:t>
            </a:r>
          </a:p>
          <a:p>
            <a:r>
              <a:rPr sz="1200">
                <a:solidFill>
                  <a:srgbClr val="DBE4F5"/>
                </a:solidFill>
                <a:latin typeface="Consolas"/>
              </a:rPr>
              <a:t>STD = np.array([0.229, 0.224, 0.225], np.float32)[:, None, None]</a:t>
            </a:r>
          </a:p>
          <a:p>
            <a:r>
              <a:rPr sz="1200">
                <a:solidFill>
                  <a:srgbClr val="DBE4F5"/>
                </a:solidFill>
                <a:latin typeface="Consolas"/>
              </a:rPr>
              <a:t> </a:t>
            </a:r>
          </a:p>
          <a:p>
            <a:r>
              <a:rPr sz="1200">
                <a:solidFill>
                  <a:srgbClr val="DBE4F5"/>
                </a:solidFill>
                <a:latin typeface="Consolas"/>
              </a:rPr>
              <a:t>app = FastAPI(title="rn50-infer")</a:t>
            </a:r>
          </a:p>
          <a:p>
            <a:r>
              <a:rPr sz="1200">
                <a:solidFill>
                  <a:srgbClr val="DBE4F5"/>
                </a:solidFill>
                <a:latin typeface="Consolas"/>
              </a:rPr>
              <a:t>Instrumentator().instrument(app).expose(app, endpoint="/metrics")   # Prometheus /metrics</a:t>
            </a:r>
          </a:p>
          <a:p>
            <a:r>
              <a:rPr sz="1200">
                <a:solidFill>
                  <a:srgbClr val="DBE4F5"/>
                </a:solidFill>
                <a:latin typeface="Consolas"/>
              </a:rPr>
              <a:t>state = {"ready": False, "session": None, "labels": None}</a:t>
            </a:r>
          </a:p>
          <a:p>
            <a:r>
              <a:rPr sz="1200">
                <a:solidFill>
                  <a:srgbClr val="DBE4F5"/>
                </a:solidFill>
                <a:latin typeface="Consolas"/>
              </a:rPr>
              <a:t> </a:t>
            </a:r>
          </a:p>
          <a:p>
            <a:r>
              <a:rPr sz="1200">
                <a:solidFill>
                  <a:srgbClr val="DBE4F5"/>
                </a:solidFill>
                <a:latin typeface="Consolas"/>
              </a:rPr>
              <a:t>@app.on_event("startup")</a:t>
            </a:r>
          </a:p>
          <a:p>
            <a:r>
              <a:rPr sz="1200">
                <a:solidFill>
                  <a:srgbClr val="DBE4F5"/>
                </a:solidFill>
                <a:latin typeface="Consolas"/>
              </a:rPr>
              <a:t>def load():</a:t>
            </a:r>
          </a:p>
          <a:p>
            <a:r>
              <a:rPr sz="1200">
                <a:solidFill>
                  <a:srgbClr val="DBE4F5"/>
                </a:solidFill>
                <a:latin typeface="Consolas"/>
              </a:rPr>
              <a:t>    so = ort.SessionOptions(); so.intra_op_num_threads = THREADS</a:t>
            </a:r>
          </a:p>
          <a:p>
            <a:r>
              <a:rPr sz="1200">
                <a:solidFill>
                  <a:srgbClr val="DBE4F5"/>
                </a:solidFill>
                <a:latin typeface="Consolas"/>
              </a:rPr>
              <a:t>    so.graph_optimization_level = ort.GraphOptimizationLevel.ORT_ENABLE_ALL</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Ko'p bosqichli Dockerfile va mahalliy sinov</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Kutilgan natija (4 vCPU noutbuk, INT8 model, --cpus=2, taxminiy): tasvir hajmi ~480 MB; ishga tushish 3–4 s; bitta so'rov — preprocess 4 ms + inferens 14 ms; hey 8 parallel mijoz bilan: ~95 so'rov/s, p50 80 ms, p95 130 ms (2 CPU'da navbat tufayli).</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Ko'p bosqichli qurish pip keshini va qurish vositalarini yakuniy tasvirdan chiqarib tashladi. --cpus=2 --memory=1g K8s'dagi limits ning mahalliy ekvivalenti — xizmat shu cheklovda qanday ishlashini oldindan ko'ramiz: 2 CPU'da bitta uvicorn ishchisi 14 ms inferens bilan nazariy 70 so'rov/s beradi, paralel so'rovlar navbatda turadi — p95 oshadi. Bu HPA uchun chegara qiymatini tanlashga asos.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Ko'p bosqichli Dockerfile va mahalliy sinov — kod 1</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Dockerfile  (CPU varianti; GPU uchun asos tasvirni nvidia/cuda:12.4.1-runtime-ubuntu22.04 ga va onnxruntime-gpu ga alm</a:t>
            </a:r>
          </a:p>
          <a:p>
            <a:r>
              <a:rPr sz="1000">
                <a:solidFill>
                  <a:srgbClr val="DBE4F5"/>
                </a:solidFill>
                <a:latin typeface="Consolas"/>
              </a:rPr>
              <a:t>FROM python:3.11-slim AS builder</a:t>
            </a:r>
          </a:p>
          <a:p>
            <a:r>
              <a:rPr sz="1000">
                <a:solidFill>
                  <a:srgbClr val="DBE4F5"/>
                </a:solidFill>
                <a:latin typeface="Consolas"/>
              </a:rPr>
              <a:t>WORKDIR /build</a:t>
            </a:r>
          </a:p>
          <a:p>
            <a:r>
              <a:rPr sz="1000">
                <a:solidFill>
                  <a:srgbClr val="DBE4F5"/>
                </a:solidFill>
                <a:latin typeface="Consolas"/>
              </a:rPr>
              <a:t>COPY requirements.txt .</a:t>
            </a:r>
          </a:p>
          <a:p>
            <a:r>
              <a:rPr sz="1000">
                <a:solidFill>
                  <a:srgbClr val="DBE4F5"/>
                </a:solidFill>
                <a:latin typeface="Consolas"/>
              </a:rPr>
              <a:t>RUN pip install --no-cache-dir --prefix=/install -r requirements.txt</a:t>
            </a:r>
          </a:p>
          <a:p>
            <a:r>
              <a:rPr sz="1000">
                <a:solidFill>
                  <a:srgbClr val="DBE4F5"/>
                </a:solidFill>
                <a:latin typeface="Consolas"/>
              </a:rPr>
              <a:t> </a:t>
            </a:r>
          </a:p>
          <a:p>
            <a:r>
              <a:rPr sz="1000">
                <a:solidFill>
                  <a:srgbClr val="DBE4F5"/>
                </a:solidFill>
                <a:latin typeface="Consolas"/>
              </a:rPr>
              <a:t>FROM python:3.11-slim</a:t>
            </a:r>
          </a:p>
          <a:p>
            <a:r>
              <a:rPr sz="1000">
                <a:solidFill>
                  <a:srgbClr val="DBE4F5"/>
                </a:solidFill>
                <a:latin typeface="Consolas"/>
              </a:rPr>
              <a:t>RUN useradd -m -u 10001 infer &amp;&amp; mkdir -p /models &amp;&amp; chown infer /models</a:t>
            </a:r>
          </a:p>
          <a:p>
            <a:r>
              <a:rPr sz="1000">
                <a:solidFill>
                  <a:srgbClr val="DBE4F5"/>
                </a:solidFill>
                <a:latin typeface="Consolas"/>
              </a:rPr>
              <a:t>COPY --from=builder /install /usr/local</a:t>
            </a:r>
          </a:p>
          <a:p>
            <a:r>
              <a:rPr sz="1000">
                <a:solidFill>
                  <a:srgbClr val="DBE4F5"/>
                </a:solidFill>
                <a:latin typeface="Consolas"/>
              </a:rPr>
              <a:t>WORKDIR /app</a:t>
            </a:r>
          </a:p>
          <a:p>
            <a:r>
              <a:rPr sz="1000">
                <a:solidFill>
                  <a:srgbClr val="DBE4F5"/>
                </a:solidFill>
                <a:latin typeface="Consolas"/>
              </a:rPr>
              <a:t>COPY app/ /app/</a:t>
            </a:r>
          </a:p>
          <a:p>
            <a:r>
              <a:rPr sz="1000">
                <a:solidFill>
                  <a:srgbClr val="DBE4F5"/>
                </a:solidFill>
                <a:latin typeface="Consolas"/>
              </a:rPr>
              <a:t>COPY imagenet_classes.txt /app/</a:t>
            </a:r>
          </a:p>
          <a:p>
            <a:r>
              <a:rPr sz="1000">
                <a:solidFill>
                  <a:srgbClr val="DBE4F5"/>
                </a:solidFill>
                <a:latin typeface="Consolas"/>
              </a:rPr>
              <a:t>USER infer</a:t>
            </a:r>
          </a:p>
          <a:p>
            <a:r>
              <a:rPr sz="1000">
                <a:solidFill>
                  <a:srgbClr val="DBE4F5"/>
                </a:solidFill>
                <a:latin typeface="Consolas"/>
              </a:rPr>
              <a:t>ENV MODEL_PATH=/models/resnet50_int8.onnx ORT_THREADS=2 PYTHONUNBUFFERED=1</a:t>
            </a:r>
          </a:p>
          <a:p>
            <a:r>
              <a:rPr sz="1000">
                <a:solidFill>
                  <a:srgbClr val="DBE4F5"/>
                </a:solidFill>
                <a:latin typeface="Consolas"/>
              </a:rPr>
              <a:t>EXPOSE 8000</a:t>
            </a:r>
          </a:p>
          <a:p>
            <a:r>
              <a:rPr sz="1000">
                <a:solidFill>
                  <a:srgbClr val="DBE4F5"/>
                </a:solidFill>
                <a:latin typeface="Consolas"/>
              </a:rPr>
              <a:t>HEALTHCHECK --interval=10s --timeout=3s --start-period=20s CMD python -c "import urllib.request;urllib.request.urlopen('</a:t>
            </a:r>
          </a:p>
          <a:p>
            <a:r>
              <a:rPr sz="1000">
                <a:solidFill>
                  <a:srgbClr val="DBE4F5"/>
                </a:solidFill>
                <a:latin typeface="Consolas"/>
              </a:rPr>
              <a:t>CMD ["uvicorn", "main:app", "--host", "0.0.0.0", "--port", "8000", "--workers", "1"]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Ko'p bosqichli Dockerfile va mahalliy sinov — kod 2</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requirements.txt: fastapi==0.110.* uvicorn[standard]==0.29.* onnxruntime==1.17.* numpy pillow python-multipart prometh</a:t>
            </a:r>
          </a:p>
          <a:p>
            <a:r>
              <a:rPr sz="1000">
                <a:solidFill>
                  <a:srgbClr val="DBE4F5"/>
                </a:solidFill>
                <a:latin typeface="Consolas"/>
              </a:rPr>
              <a:t>docker build -t rn50-infer:1.0 .</a:t>
            </a:r>
          </a:p>
          <a:p>
            <a:r>
              <a:rPr sz="1000">
                <a:solidFill>
                  <a:srgbClr val="DBE4F5"/>
                </a:solidFill>
                <a:latin typeface="Consolas"/>
              </a:rPr>
              <a:t>docker images rn50-infer                       # hajm: ~480 MB (slim + ORT); devel/pytorch asosida 4 GB dan ortiq bo'lar</a:t>
            </a:r>
          </a:p>
          <a:p>
            <a:r>
              <a:rPr sz="1000">
                <a:solidFill>
                  <a:srgbClr val="DBE4F5"/>
                </a:solidFill>
                <a:latin typeface="Consolas"/>
              </a:rPr>
              <a:t>docker run -d --name rn50 -p 8000:8000 -v $PWD/models:/models:ro --cpus=2 --memory=1g rn50-infer:1.0</a:t>
            </a:r>
          </a:p>
          <a:p>
            <a:r>
              <a:rPr sz="1000">
                <a:solidFill>
                  <a:srgbClr val="DBE4F5"/>
                </a:solidFill>
                <a:latin typeface="Consolas"/>
              </a:rPr>
              <a:t>time curl -sf localhost:8000/readyz            # ~3 s dan keyin tayyor</a:t>
            </a:r>
          </a:p>
          <a:p>
            <a:r>
              <a:rPr sz="1000">
                <a:solidFill>
                  <a:srgbClr val="DBE4F5"/>
                </a:solidFill>
                <a:latin typeface="Consolas"/>
              </a:rPr>
              <a:t>curl -s -F file=@cat.jpg localhost:8000/predict | python -m json.tool</a:t>
            </a:r>
          </a:p>
          <a:p>
            <a:r>
              <a:rPr sz="1000">
                <a:solidFill>
                  <a:srgbClr val="DBE4F5"/>
                </a:solidFill>
                <a:latin typeface="Consolas"/>
              </a:rPr>
              <a:t>hey -z 30s -c 8 -m POST -D cat.jpg -T multipart/form-data localhost:8000/predict   # yuklama sinovi (hey o'rniga locust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Kubernetes manifestlari va minikube'da joylash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701544"/>
            <a:ext cx="5900000" cy="1993456"/>
          </a:xfrm>
          <a:prstGeom prst="rect">
            <a:avLst/>
          </a:prstGeom>
          <a:noFill/>
        </p:spPr>
        <p:txBody>
          <a:bodyPr wrap="square" anchor="ctr">
            <a:spAutoFit/>
          </a:bodyPr>
          <a:lstStyle/>
          <a:p>
            <a:r>
              <a:rPr sz="1300" b="0">
                <a:solidFill>
                  <a:srgbClr val="E8EEFA"/>
                </a:solidFill>
                <a:latin typeface="Segoe UI"/>
              </a:rPr>
              <a:t>Kutilgan natija (taxminiy, 4 vCPU minikube): yuklama boshlanganidan 45–60 s o'tib HPA nusxalar sonini 2 → 4 ga oshiradi (CPU 60 % chegarasi oshganda; kubectl top pods har Pod'da 1400–1900m ko'rsatadi); throughput 2 nusxada ~140 so'rov/s dan 4 nusxada ~250…</a:t>
            </a:r>
          </a:p>
        </p:txBody>
      </p:sp>
      <p:sp>
        <p:nvSpPr>
          <p:cNvPr id="30" name="Rounded Rectangle 29"/>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Nima bo'ldi va nega.</a:t>
            </a:r>
          </a:p>
          <a:p>
            <a:pPr>
              <a:spcBef>
                <a:spcPts val="400"/>
              </a:spcBef>
            </a:pPr>
            <a:r>
              <a:rPr sz="1300">
                <a:solidFill>
                  <a:srgbClr val="AEBBD9"/>
                </a:solidFill>
                <a:latin typeface="Segoe UI"/>
              </a:rPr>
              <a:t>Deklarativ manifest «istalgan holat»ni tavsifladi, K8s boshqaruvchisi uni ta'minladi: Pod yiqilsa qayta yaratadi, yuklama o'ssa nusxa qo'shadi, yangilash paytida eski nusxani yangisi tayyor bo'lgandagina to'xtatadi. Readiness probe'siz yangi Pod model yuklanmasdan trafik olib, 503 xatolar bergan bo'lardi. requests HPA hisobi uchun asos (foiz requests ga nisbatan), limits esa bitta Pod butun tugunni egallab olmasligi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Kubernetes manifestlari va minikube'da joylash — kod 1</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k8s/deployment.yaml</a:t>
            </a:r>
          </a:p>
          <a:p>
            <a:r>
              <a:rPr sz="1000">
                <a:solidFill>
                  <a:srgbClr val="DBE4F5"/>
                </a:solidFill>
                <a:latin typeface="Consolas"/>
              </a:rPr>
              <a:t>apiVersion: apps/v1</a:t>
            </a:r>
          </a:p>
          <a:p>
            <a:r>
              <a:rPr sz="1000">
                <a:solidFill>
                  <a:srgbClr val="DBE4F5"/>
                </a:solidFill>
                <a:latin typeface="Consolas"/>
              </a:rPr>
              <a:t>kind: Deployment</a:t>
            </a:r>
          </a:p>
          <a:p>
            <a:r>
              <a:rPr sz="1000">
                <a:solidFill>
                  <a:srgbClr val="DBE4F5"/>
                </a:solidFill>
                <a:latin typeface="Consolas"/>
              </a:rPr>
              <a:t>metadata: { name: rn50-infer, labels: { app: rn50-infer } }</a:t>
            </a:r>
          </a:p>
          <a:p>
            <a:r>
              <a:rPr sz="1000">
                <a:solidFill>
                  <a:srgbClr val="DBE4F5"/>
                </a:solidFill>
                <a:latin typeface="Consolas"/>
              </a:rPr>
              <a:t>spec:</a:t>
            </a:r>
          </a:p>
          <a:p>
            <a:r>
              <a:rPr sz="1000">
                <a:solidFill>
                  <a:srgbClr val="DBE4F5"/>
                </a:solidFill>
                <a:latin typeface="Consolas"/>
              </a:rPr>
              <a:t>  replicas: 2</a:t>
            </a:r>
          </a:p>
          <a:p>
            <a:r>
              <a:rPr sz="1000">
                <a:solidFill>
                  <a:srgbClr val="DBE4F5"/>
                </a:solidFill>
                <a:latin typeface="Consolas"/>
              </a:rPr>
              <a:t>  strategy: { type: RollingUpdate, rollingUpdate: { maxUnavailable: 0, maxSurge: 1 } }</a:t>
            </a:r>
          </a:p>
          <a:p>
            <a:r>
              <a:rPr sz="1000">
                <a:solidFill>
                  <a:srgbClr val="DBE4F5"/>
                </a:solidFill>
                <a:latin typeface="Consolas"/>
              </a:rPr>
              <a:t>  selector: { matchLabels: { app: rn50-infer } }</a:t>
            </a:r>
          </a:p>
          <a:p>
            <a:r>
              <a:rPr sz="1000">
                <a:solidFill>
                  <a:srgbClr val="DBE4F5"/>
                </a:solidFill>
                <a:latin typeface="Consolas"/>
              </a:rPr>
              <a:t>  template:</a:t>
            </a:r>
          </a:p>
          <a:p>
            <a:r>
              <a:rPr sz="1000">
                <a:solidFill>
                  <a:srgbClr val="DBE4F5"/>
                </a:solidFill>
                <a:latin typeface="Consolas"/>
              </a:rPr>
              <a:t>    metadata:</a:t>
            </a:r>
          </a:p>
          <a:p>
            <a:r>
              <a:rPr sz="1000">
                <a:solidFill>
                  <a:srgbClr val="DBE4F5"/>
                </a:solidFill>
                <a:latin typeface="Consolas"/>
              </a:rPr>
              <a:t>      labels: { app: rn50-infer }</a:t>
            </a:r>
          </a:p>
          <a:p>
            <a:r>
              <a:rPr sz="1000">
                <a:solidFill>
                  <a:srgbClr val="DBE4F5"/>
                </a:solidFill>
                <a:latin typeface="Consolas"/>
              </a:rPr>
              <a:t>      annotations: { prometheus.io/scrape: "true", prometheus.io/port: "8000", prometheus.io/path: "/metrics" }</a:t>
            </a:r>
          </a:p>
          <a:p>
            <a:r>
              <a:rPr sz="1000">
                <a:solidFill>
                  <a:srgbClr val="DBE4F5"/>
                </a:solidFill>
                <a:latin typeface="Consolas"/>
              </a:rPr>
              <a:t>    spec:</a:t>
            </a:r>
          </a:p>
          <a:p>
            <a:r>
              <a:rPr sz="1000">
                <a:solidFill>
                  <a:srgbClr val="DBE4F5"/>
                </a:solidFill>
                <a:latin typeface="Consolas"/>
              </a:rPr>
              <a:t>      securityContext: { runAsNonRoot: true, runAsUser: 10001 }</a:t>
            </a:r>
          </a:p>
          <a:p>
            <a:r>
              <a:rPr sz="1000">
                <a:solidFill>
                  <a:srgbClr val="DBE4F5"/>
                </a:solidFill>
                <a:latin typeface="Consolas"/>
              </a:rPr>
              <a:t>      containers:</a:t>
            </a:r>
          </a:p>
          <a:p>
            <a:r>
              <a:rPr sz="1000">
                <a:solidFill>
                  <a:srgbClr val="DBE4F5"/>
                </a:solidFill>
                <a:latin typeface="Consolas"/>
              </a:rPr>
              <a:t>        - name: infer</a:t>
            </a:r>
          </a:p>
          <a:p>
            <a:r>
              <a:rPr sz="1000">
                <a:solidFill>
                  <a:srgbClr val="DBE4F5"/>
                </a:solidFill>
                <a:latin typeface="Consolas"/>
              </a:rPr>
              <a:t>          image: rn50-infer:1.0</a:t>
            </a:r>
          </a:p>
          <a:p>
            <a:r>
              <a:rPr sz="1000">
                <a:solidFill>
                  <a:srgbClr val="DBE4F5"/>
                </a:solidFill>
                <a:latin typeface="Consolas"/>
              </a:rPr>
              <a:t>          imagePullPolicy: IfNotPresent</a:t>
            </a:r>
          </a:p>
          <a:p>
            <a:r>
              <a:rPr sz="1000">
                <a:solidFill>
                  <a:srgbClr val="DBE4F5"/>
                </a:solidFill>
                <a:latin typeface="Consolas"/>
              </a:rPr>
              <a:t>          ports: [{ containerPort: 8000 }]</a:t>
            </a:r>
          </a:p>
          <a:p>
            <a:r>
              <a:rPr sz="1000">
                <a:solidFill>
                  <a:srgbClr val="DBE4F5"/>
                </a:solidFill>
                <a:latin typeface="Consolas"/>
              </a:rPr>
              <a:t>          env:</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Kubernetes manifestlari va minikube'da joylash — kod 2</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6" name="Rounded Rectangle 25"/>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000" y="1700000"/>
            <a:ext cx="10700000" cy="4500000"/>
          </a:xfrm>
          <a:prstGeom prst="rect">
            <a:avLst/>
          </a:prstGeom>
          <a:noFill/>
        </p:spPr>
        <p:txBody>
          <a:bodyPr wrap="square">
            <a:spAutoFit/>
          </a:bodyPr>
          <a:lstStyle/>
          <a:p>
            <a:r>
              <a:rPr sz="1000">
                <a:solidFill>
                  <a:srgbClr val="DBE4F5"/>
                </a:solidFill>
                <a:latin typeface="Consolas"/>
              </a:rPr>
              <a:t>minikube start --cpus=4 --memory=8g --driver=docker</a:t>
            </a:r>
          </a:p>
          <a:p>
            <a:r>
              <a:rPr sz="1000">
                <a:solidFill>
                  <a:srgbClr val="DBE4F5"/>
                </a:solidFill>
                <a:latin typeface="Consolas"/>
              </a:rPr>
              <a:t>minikube addons enable metrics-server</a:t>
            </a:r>
          </a:p>
          <a:p>
            <a:r>
              <a:rPr sz="1000">
                <a:solidFill>
                  <a:srgbClr val="DBE4F5"/>
                </a:solidFill>
                <a:latin typeface="Consolas"/>
              </a:rPr>
              <a:t>minikube image load rn50-infer:1.0                      # mahalliy tasvirni klasterga yuklash</a:t>
            </a:r>
          </a:p>
          <a:p>
            <a:r>
              <a:rPr sz="1000">
                <a:solidFill>
                  <a:srgbClr val="DBE4F5"/>
                </a:solidFill>
                <a:latin typeface="Consolas"/>
              </a:rPr>
              <a:t>minikube ssh -- sudo mkdir -p /data/models &amp;&amp; minikube cp models/resnet50_int8.onnx /data/models/resnet50_int8.onnx</a:t>
            </a:r>
          </a:p>
          <a:p>
            <a:r>
              <a:rPr sz="1000">
                <a:solidFill>
                  <a:srgbClr val="DBE4F5"/>
                </a:solidFill>
                <a:latin typeface="Consolas"/>
              </a:rPr>
              <a:t>kubectl apply -f k8s/</a:t>
            </a:r>
          </a:p>
          <a:p>
            <a:r>
              <a:rPr sz="1000">
                <a:solidFill>
                  <a:srgbClr val="DBE4F5"/>
                </a:solidFill>
                <a:latin typeface="Consolas"/>
              </a:rPr>
              <a:t>kubectl rollout status deployment/rn50-infer</a:t>
            </a:r>
          </a:p>
          <a:p>
            <a:r>
              <a:rPr sz="1000">
                <a:solidFill>
                  <a:srgbClr val="DBE4F5"/>
                </a:solidFill>
                <a:latin typeface="Consolas"/>
              </a:rPr>
              <a:t>kubectl get pods -o wide                                # 2 ta Pod Running, READY 1/1</a:t>
            </a:r>
          </a:p>
          <a:p>
            <a:r>
              <a:rPr sz="1000">
                <a:solidFill>
                  <a:srgbClr val="DBE4F5"/>
                </a:solidFill>
                <a:latin typeface="Consolas"/>
              </a:rPr>
              <a:t>URL=$(minikube service rn50-infer --url)</a:t>
            </a:r>
          </a:p>
          <a:p>
            <a:r>
              <a:rPr sz="1000">
                <a:solidFill>
                  <a:srgbClr val="DBE4F5"/>
                </a:solidFill>
                <a:latin typeface="Consolas"/>
              </a:rPr>
              <a:t>hey -z 120s -c 32 -m POST -D cat.jpg -T multipart/form-data $URL/predict &amp;</a:t>
            </a:r>
          </a:p>
          <a:p>
            <a:r>
              <a:rPr sz="1000">
                <a:solidFill>
                  <a:srgbClr val="DBE4F5"/>
                </a:solidFill>
                <a:latin typeface="Consolas"/>
              </a:rPr>
              <a:t>watch -n 5 'kubectl get hpa rn50-infer; kubectl top pods'</a:t>
            </a:r>
          </a:p>
          <a:p>
            <a:r>
              <a:rPr sz="1000">
                <a:solidFill>
                  <a:srgbClr val="6EE7B7"/>
                </a:solidFill>
                <a:latin typeface="Consolas"/>
              </a:rPr>
              <a:t># yangilanish: model v2 ConfigMap orqali</a:t>
            </a:r>
          </a:p>
          <a:p>
            <a:r>
              <a:rPr sz="1000">
                <a:solidFill>
                  <a:srgbClr val="DBE4F5"/>
                </a:solidFill>
                <a:latin typeface="Consolas"/>
              </a:rPr>
              <a:t>kubectl set image deployment/rn50-infer infer=rn50-infer:1.1 &amp;&amp; kubectl rollout status deployment/rn50-infer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50"/>
                                        <p:tgtEl>
                                          <p:spTgt spid="28"/>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50"/>
                                        <p:tgtEl>
                                          <p:spTgt spid="29"/>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4" dur="8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Chekka joylash: Jetson'da TensorRT</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Nima bo'ldi va nega.</a:t>
            </a:r>
          </a:p>
          <a:p>
            <a:pPr>
              <a:spcBef>
                <a:spcPts val="400"/>
              </a:spcBef>
            </a:pPr>
            <a:r>
              <a:rPr sz="1300">
                <a:solidFill>
                  <a:srgbClr val="AEBBD9"/>
                </a:solidFill>
                <a:latin typeface="Segoe UI"/>
              </a:rPr>
              <a:t>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 10 Vt rejimida latency 2 baravar oshdi, lekin batareyali qurilma uchun bu kompromiss maqbul bo'lishi mumkin.</a:t>
            </a:r>
          </a:p>
        </p:txBody>
      </p:sp>
      <p:sp>
        <p:nvSpPr>
          <p:cNvPr id="33" name="Rounded Rectangle 32"/>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Eng muhim kuzatuv oxirgi qatorda: HTTP xizmat orqali to'liq so'rov 19 ms — inferensning o'zi 2,6 ms, qolgani JPEG dekodlash, resize va Python xarajati ARM CPU'da.</a:t>
            </a:r>
          </a:p>
          <a:p>
            <a:pPr>
              <a:spcBef>
                <a:spcPts val="400"/>
              </a:spcBef>
            </a:pPr>
            <a:r>
              <a:rPr sz="1300">
                <a:solidFill>
                  <a:srgbClr val="AEBBD9"/>
                </a:solidFill>
                <a:latin typeface="Segoe UI"/>
              </a:rPr>
              <a:t>Chekka tizimda oldindan ishlovni GPU'ga (NVDEC + VPI/DALI) ko'chirish inferensni optimallashtirishdan muhimroq — A1 dagi quvur liniyasi tahlili shu yerda tasdiqlanadi.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Chekka joylash: Jetson'da TensorRT</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graphicFrame>
        <p:nvGraphicFramePr>
          <p:cNvPr id="25" name="Table 24"/>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200" b="1">
                          <a:solidFill>
                            <a:srgbClr val="22D3EE"/>
                          </a:solidFill>
                          <a:latin typeface="Segoe UI"/>
                        </a:rPr>
                        <a:t>Konfiguratsiya</a:t>
                      </a:r>
                    </a:p>
                  </a:txBody>
                  <a:tcPr>
                    <a:solidFill>
                      <a:srgbClr val="1C2755"/>
                    </a:solidFill>
                  </a:tcPr>
                </a:tc>
                <a:tc>
                  <a:txBody>
                    <a:bodyPr/>
                    <a:lstStyle/>
                    <a:p>
                      <a:r>
                        <a:rPr sz="1200" b="1">
                          <a:solidFill>
                            <a:srgbClr val="22D3EE"/>
                          </a:solidFill>
                          <a:latin typeface="Segoe UI"/>
                        </a:rPr>
                        <a:t>p50, ms</a:t>
                      </a:r>
                    </a:p>
                  </a:txBody>
                  <a:tcPr>
                    <a:solidFill>
                      <a:srgbClr val="1C2755"/>
                    </a:solidFill>
                  </a:tcPr>
                </a:tc>
                <a:tc>
                  <a:txBody>
                    <a:bodyPr/>
                    <a:lstStyle/>
                    <a:p>
                      <a:r>
                        <a:rPr sz="1200" b="1">
                          <a:solidFill>
                            <a:srgbClr val="22D3EE"/>
                          </a:solidFill>
                          <a:latin typeface="Segoe UI"/>
                        </a:rPr>
                        <a:t>p95, ms</a:t>
                      </a:r>
                    </a:p>
                  </a:txBody>
                  <a:tcPr>
                    <a:solidFill>
                      <a:srgbClr val="1C2755"/>
                    </a:solidFill>
                  </a:tcPr>
                </a:tc>
                <a:tc>
                  <a:txBody>
                    <a:bodyPr/>
                    <a:lstStyle/>
                    <a:p>
                      <a:r>
                        <a:rPr sz="1200" b="1">
                          <a:solidFill>
                            <a:srgbClr val="22D3EE"/>
                          </a:solidFill>
                          <a:latin typeface="Segoe UI"/>
                        </a:rPr>
                        <a:t>Throughput, rasm/s</a:t>
                      </a:r>
                    </a:p>
                  </a:txBody>
                  <a:tcPr>
                    <a:solidFill>
                      <a:srgbClr val="1C2755"/>
                    </a:solidFill>
                  </a:tcPr>
                </a:tc>
                <a:tc>
                  <a:txBody>
                    <a:bodyPr/>
                    <a:lstStyle/>
                    <a:p>
                      <a:r>
                        <a:rPr sz="1200" b="1">
                          <a:solidFill>
                            <a:srgbClr val="22D3EE"/>
                          </a:solidFill>
                          <a:latin typeface="Segoe UI"/>
                        </a:rPr>
                        <a:t>VDD_IN o'rtacha, Vt</a:t>
                      </a:r>
                    </a:p>
                  </a:txBody>
                  <a:tcPr>
                    <a:solidFill>
                      <a:srgbClr val="1C2755"/>
                    </a:solidFill>
                  </a:tcPr>
                </a:tc>
                <a:tc>
                  <a:txBody>
                    <a:bodyPr/>
                    <a:lstStyle/>
                    <a:p>
                      <a:r>
                        <a:rPr sz="1200" b="1">
                          <a:solidFill>
                            <a:srgbClr val="22D3EE"/>
                          </a:solidFill>
                          <a:latin typeface="Segoe UI"/>
                        </a:rPr>
                        <a:t>mJ/rasm</a:t>
                      </a:r>
                    </a:p>
                  </a:txBody>
                  <a:tcPr>
                    <a:solidFill>
                      <a:srgbClr val="1C2755"/>
                    </a:solidFill>
                  </a:tcPr>
                </a:tc>
              </a:tr>
              <a:tr h="520000">
                <a:tc>
                  <a:txBody>
                    <a:bodyPr/>
                    <a:lstStyle/>
                    <a:p>
                      <a:r>
                        <a:rPr sz="1200" b="0">
                          <a:solidFill>
                            <a:srgbClr val="E8EEFA"/>
                          </a:solidFill>
                          <a:latin typeface="Segoe UI"/>
                        </a:rPr>
                        <a:t>TensorRT FP16</a:t>
                      </a:r>
                    </a:p>
                  </a:txBody>
                  <a:tcPr>
                    <a:solidFill>
                      <a:srgbClr val="111834"/>
                    </a:solidFill>
                  </a:tcPr>
                </a:tc>
                <a:tc>
                  <a:txBody>
                    <a:bodyPr/>
                    <a:lstStyle/>
                    <a:p>
                      <a:r>
                        <a:rPr sz="1200" b="0">
                          <a:solidFill>
                            <a:srgbClr val="E8EEFA"/>
                          </a:solidFill>
                          <a:latin typeface="Segoe UI"/>
                        </a:rPr>
                        <a:t>4,1</a:t>
                      </a:r>
                    </a:p>
                  </a:txBody>
                  <a:tcPr>
                    <a:solidFill>
                      <a:srgbClr val="111834"/>
                    </a:solidFill>
                  </a:tcPr>
                </a:tc>
                <a:tc>
                  <a:txBody>
                    <a:bodyPr/>
                    <a:lstStyle/>
                    <a:p>
                      <a:r>
                        <a:rPr sz="1200" b="0">
                          <a:solidFill>
                            <a:srgbClr val="E8EEFA"/>
                          </a:solidFill>
                          <a:latin typeface="Segoe UI"/>
                        </a:rPr>
                        <a:t>4,5</a:t>
                      </a:r>
                    </a:p>
                  </a:txBody>
                  <a:tcPr>
                    <a:solidFill>
                      <a:srgbClr val="111834"/>
                    </a:solidFill>
                  </a:tcPr>
                </a:tc>
                <a:tc>
                  <a:txBody>
                    <a:bodyPr/>
                    <a:lstStyle/>
                    <a:p>
                      <a:r>
                        <a:rPr sz="1200" b="0">
                          <a:solidFill>
                            <a:srgbClr val="E8EEFA"/>
                          </a:solidFill>
                          <a:latin typeface="Segoe UI"/>
                        </a:rPr>
                        <a:t>240</a:t>
                      </a:r>
                    </a:p>
                  </a:txBody>
                  <a:tcPr>
                    <a:solidFill>
                      <a:srgbClr val="111834"/>
                    </a:solidFill>
                  </a:tcPr>
                </a:tc>
                <a:tc>
                  <a:txBody>
                    <a:bodyPr/>
                    <a:lstStyle/>
                    <a:p>
                      <a:r>
                        <a:rPr sz="1200" b="0">
                          <a:solidFill>
                            <a:srgbClr val="E8EEFA"/>
                          </a:solidFill>
                          <a:latin typeface="Segoe UI"/>
                        </a:rPr>
                        <a:t>14,5</a:t>
                      </a:r>
                    </a:p>
                  </a:txBody>
                  <a:tcPr>
                    <a:solidFill>
                      <a:srgbClr val="111834"/>
                    </a:solidFill>
                  </a:tcPr>
                </a:tc>
                <a:tc>
                  <a:txBody>
                    <a:bodyPr/>
                    <a:lstStyle/>
                    <a:p>
                      <a:r>
                        <a:rPr sz="1200" b="0">
                          <a:solidFill>
                            <a:srgbClr val="E8EEFA"/>
                          </a:solidFill>
                          <a:latin typeface="Segoe UI"/>
                        </a:rPr>
                        <a:t>60</a:t>
                      </a:r>
                    </a:p>
                  </a:txBody>
                  <a:tcPr>
                    <a:solidFill>
                      <a:srgbClr val="111834"/>
                    </a:solidFill>
                  </a:tcPr>
                </a:tc>
              </a:tr>
              <a:tr h="520000">
                <a:tc>
                  <a:txBody>
                    <a:bodyPr/>
                    <a:lstStyle/>
                    <a:p>
                      <a:r>
                        <a:rPr sz="1200" b="0">
                          <a:solidFill>
                            <a:srgbClr val="E8EEFA"/>
                          </a:solidFill>
                          <a:latin typeface="Segoe UI"/>
                        </a:rPr>
                        <a:t>TensorRT INT8</a:t>
                      </a:r>
                    </a:p>
                  </a:txBody>
                  <a:tcPr>
                    <a:solidFill>
                      <a:srgbClr val="161F40"/>
                    </a:solidFill>
                  </a:tcPr>
                </a:tc>
                <a:tc>
                  <a:txBody>
                    <a:bodyPr/>
                    <a:lstStyle/>
                    <a:p>
                      <a:r>
                        <a:rPr sz="1200" b="0">
                          <a:solidFill>
                            <a:srgbClr val="E8EEFA"/>
                          </a:solidFill>
                          <a:latin typeface="Segoe UI"/>
                        </a:rPr>
                        <a:t>2,6</a:t>
                      </a:r>
                    </a:p>
                  </a:txBody>
                  <a:tcPr>
                    <a:solidFill>
                      <a:srgbClr val="161F40"/>
                    </a:solidFill>
                  </a:tcPr>
                </a:tc>
                <a:tc>
                  <a:txBody>
                    <a:bodyPr/>
                    <a:lstStyle/>
                    <a:p>
                      <a:r>
                        <a:rPr sz="1200" b="0">
                          <a:solidFill>
                            <a:srgbClr val="E8EEFA"/>
                          </a:solidFill>
                          <a:latin typeface="Segoe UI"/>
                        </a:rPr>
                        <a:t>2,9</a:t>
                      </a:r>
                    </a:p>
                  </a:txBody>
                  <a:tcPr>
                    <a:solidFill>
                      <a:srgbClr val="161F40"/>
                    </a:solidFill>
                  </a:tcPr>
                </a:tc>
                <a:tc>
                  <a:txBody>
                    <a:bodyPr/>
                    <a:lstStyle/>
                    <a:p>
                      <a:r>
                        <a:rPr sz="1200" b="0">
                          <a:solidFill>
                            <a:srgbClr val="E8EEFA"/>
                          </a:solidFill>
                          <a:latin typeface="Segoe UI"/>
                        </a:rPr>
                        <a:t>380</a:t>
                      </a:r>
                    </a:p>
                  </a:txBody>
                  <a:tcPr>
                    <a:solidFill>
                      <a:srgbClr val="161F40"/>
                    </a:solidFill>
                  </a:tcPr>
                </a:tc>
                <a:tc>
                  <a:txBody>
                    <a:bodyPr/>
                    <a:lstStyle/>
                    <a:p>
                      <a:r>
                        <a:rPr sz="1200" b="0">
                          <a:solidFill>
                            <a:srgbClr val="E8EEFA"/>
                          </a:solidFill>
                          <a:latin typeface="Segoe UI"/>
                        </a:rPr>
                        <a:t>15,0</a:t>
                      </a:r>
                    </a:p>
                  </a:txBody>
                  <a:tcPr>
                    <a:solidFill>
                      <a:srgbClr val="161F40"/>
                    </a:solidFill>
                  </a:tcPr>
                </a:tc>
                <a:tc>
                  <a:txBody>
                    <a:bodyPr/>
                    <a:lstStyle/>
                    <a:p>
                      <a:r>
                        <a:rPr sz="1200" b="0">
                          <a:solidFill>
                            <a:srgbClr val="E8EEFA"/>
                          </a:solidFill>
                          <a:latin typeface="Segoe UI"/>
                        </a:rPr>
                        <a:t>39</a:t>
                      </a:r>
                    </a:p>
                  </a:txBody>
                  <a:tcPr>
                    <a:solidFill>
                      <a:srgbClr val="161F40"/>
                    </a:solidFill>
                  </a:tcPr>
                </a:tc>
              </a:tr>
              <a:tr h="520000">
                <a:tc>
                  <a:txBody>
                    <a:bodyPr/>
                    <a:lstStyle/>
                    <a:p>
                      <a:r>
                        <a:rPr sz="1200" b="0">
                          <a:solidFill>
                            <a:srgbClr val="E8EEFA"/>
                          </a:solidFill>
                          <a:latin typeface="Segoe UI"/>
                        </a:rPr>
                        <a:t>INT8, 10 Vt rejimi</a:t>
                      </a:r>
                    </a:p>
                  </a:txBody>
                  <a:tcPr>
                    <a:solidFill>
                      <a:srgbClr val="111834"/>
                    </a:solidFill>
                  </a:tcPr>
                </a:tc>
                <a:tc>
                  <a:txBody>
                    <a:bodyPr/>
                    <a:lstStyle/>
                    <a:p>
                      <a:r>
                        <a:rPr sz="1200" b="0">
                          <a:solidFill>
                            <a:srgbClr val="E8EEFA"/>
                          </a:solidFill>
                          <a:latin typeface="Segoe UI"/>
                        </a:rPr>
                        <a:t>5,8</a:t>
                      </a:r>
                    </a:p>
                  </a:txBody>
                  <a:tcPr>
                    <a:solidFill>
                      <a:srgbClr val="111834"/>
                    </a:solidFill>
                  </a:tcPr>
                </a:tc>
                <a:tc>
                  <a:txBody>
                    <a:bodyPr/>
                    <a:lstStyle/>
                    <a:p>
                      <a:r>
                        <a:rPr sz="1200" b="0">
                          <a:solidFill>
                            <a:srgbClr val="E8EEFA"/>
                          </a:solidFill>
                          <a:latin typeface="Segoe UI"/>
                        </a:rPr>
                        <a:t>6,4</a:t>
                      </a:r>
                    </a:p>
                  </a:txBody>
                  <a:tcPr>
                    <a:solidFill>
                      <a:srgbClr val="111834"/>
                    </a:solidFill>
                  </a:tcPr>
                </a:tc>
                <a:tc>
                  <a:txBody>
                    <a:bodyPr/>
                    <a:lstStyle/>
                    <a:p>
                      <a:r>
                        <a:rPr sz="1200" b="0">
                          <a:solidFill>
                            <a:srgbClr val="E8EEFA"/>
                          </a:solidFill>
                          <a:latin typeface="Segoe UI"/>
                        </a:rPr>
                        <a:t>170</a:t>
                      </a:r>
                    </a:p>
                  </a:txBody>
                  <a:tcPr>
                    <a:solidFill>
                      <a:srgbClr val="111834"/>
                    </a:solidFill>
                  </a:tcPr>
                </a:tc>
                <a:tc>
                  <a:txBody>
                    <a:bodyPr/>
                    <a:lstStyle/>
                    <a:p>
                      <a:r>
                        <a:rPr sz="1200" b="0">
                          <a:solidFill>
                            <a:srgbClr val="E8EEFA"/>
                          </a:solidFill>
                          <a:latin typeface="Segoe UI"/>
                        </a:rPr>
                        <a:t>8,5</a:t>
                      </a:r>
                    </a:p>
                  </a:txBody>
                  <a:tcPr>
                    <a:solidFill>
                      <a:srgbClr val="111834"/>
                    </a:solidFill>
                  </a:tcPr>
                </a:tc>
                <a:tc>
                  <a:txBody>
                    <a:bodyPr/>
                    <a:lstStyle/>
                    <a:p>
                      <a:r>
                        <a:rPr sz="1200" b="0">
                          <a:solidFill>
                            <a:srgbClr val="E8EEFA"/>
                          </a:solidFill>
                          <a:latin typeface="Segoe UI"/>
                        </a:rPr>
                        <a:t>50</a:t>
                      </a:r>
                    </a:p>
                  </a:txBody>
                  <a:tcPr>
                    <a:solidFill>
                      <a:srgbClr val="111834"/>
                    </a:solidFill>
                  </a:tcPr>
                </a:tc>
              </a:tr>
              <a:tr h="520000">
                <a:tc>
                  <a:txBody>
                    <a:bodyPr/>
                    <a:lstStyle/>
                    <a:p>
                      <a:r>
                        <a:rPr sz="1200" b="0">
                          <a:solidFill>
                            <a:srgbClr val="E8EEFA"/>
                          </a:solidFill>
                          <a:latin typeface="Segoe UI"/>
                        </a:rPr>
                        <a:t>HTTP xizmat orqali INT8 (preprocess + JPEG bilan)</a:t>
                      </a:r>
                    </a:p>
                  </a:txBody>
                  <a:tcPr>
                    <a:solidFill>
                      <a:srgbClr val="161F40"/>
                    </a:solidFill>
                  </a:tcPr>
                </a:tc>
                <a:tc>
                  <a:txBody>
                    <a:bodyPr/>
                    <a:lstStyle/>
                    <a:p>
                      <a:r>
                        <a:rPr sz="1200" b="0">
                          <a:solidFill>
                            <a:srgbClr val="E8EEFA"/>
                          </a:solidFill>
                          <a:latin typeface="Segoe UI"/>
                        </a:rPr>
                        <a:t>19</a:t>
                      </a:r>
                    </a:p>
                  </a:txBody>
                  <a:tcPr>
                    <a:solidFill>
                      <a:srgbClr val="161F40"/>
                    </a:solidFill>
                  </a:tcPr>
                </a:tc>
                <a:tc>
                  <a:txBody>
                    <a:bodyPr/>
                    <a:lstStyle/>
                    <a:p>
                      <a:r>
                        <a:rPr sz="1200" b="0">
                          <a:solidFill>
                            <a:srgbClr val="E8EEFA"/>
                          </a:solidFill>
                          <a:latin typeface="Segoe UI"/>
                        </a:rPr>
                        <a:t>26</a:t>
                      </a:r>
                    </a:p>
                  </a:txBody>
                  <a:tcPr>
                    <a:solidFill>
                      <a:srgbClr val="161F40"/>
                    </a:solidFill>
                  </a:tcPr>
                </a:tc>
                <a:tc>
                  <a:txBody>
                    <a:bodyPr/>
                    <a:lstStyle/>
                    <a:p>
                      <a:r>
                        <a:rPr sz="1200" b="0">
                          <a:solidFill>
                            <a:srgbClr val="E8EEFA"/>
                          </a:solidFill>
                          <a:latin typeface="Segoe UI"/>
                        </a:rPr>
                        <a:t>50 (1 ishchi)</a:t>
                      </a:r>
                    </a:p>
                  </a:txBody>
                  <a:tcPr>
                    <a:solidFill>
                      <a:srgbClr val="161F40"/>
                    </a:solidFill>
                  </a:tcPr>
                </a:tc>
                <a:tc>
                  <a:txBody>
                    <a:bodyPr/>
                    <a:lstStyle/>
                    <a:p>
                      <a:r>
                        <a:rPr sz="1200" b="0">
                          <a:solidFill>
                            <a:srgbClr val="E8EEFA"/>
                          </a:solidFill>
                          <a:latin typeface="Segoe UI"/>
                        </a:rPr>
                        <a:t>13</a:t>
                      </a:r>
                    </a:p>
                  </a:txBody>
                  <a:tcPr>
                    <a:solidFill>
                      <a:srgbClr val="161F40"/>
                    </a:solidFill>
                  </a:tcPr>
                </a:tc>
                <a:tc>
                  <a:txBody>
                    <a:bodyPr/>
                    <a:lstStyle/>
                    <a:p>
                      <a:r>
                        <a:rPr sz="1200" b="0">
                          <a:solidFill>
                            <a:srgbClr val="E8EEFA"/>
                          </a:solidFill>
                          <a:latin typeface="Segoe UI"/>
                        </a:rPr>
                        <a:t>260</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Chekka joylash: Jetson'da TensorRT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Jetson Orin (JetPack 6.x) da bajariladi</a:t>
            </a:r>
          </a:p>
          <a:p>
            <a:r>
              <a:rPr sz="1000">
                <a:solidFill>
                  <a:srgbClr val="DBE4F5"/>
                </a:solidFill>
                <a:latin typeface="Consolas"/>
              </a:rPr>
              <a:t>sudo nvpmodel -m 0 &amp;&amp; sudo jetson_clocks               # maksimal quvvat rejimi (Orin NX: 25 Vt) va qotirilgan chastota</a:t>
            </a:r>
          </a:p>
          <a:p>
            <a:r>
              <a:rPr sz="1000">
                <a:solidFill>
                  <a:srgbClr val="DBE4F5"/>
                </a:solidFill>
                <a:latin typeface="Consolas"/>
              </a:rPr>
              <a:t>nvpmodel -q                                             # joriy rejimni tekshirish</a:t>
            </a:r>
          </a:p>
          <a:p>
            <a:r>
              <a:rPr sz="1000">
                <a:solidFill>
                  <a:srgbClr val="6EE7B7"/>
                </a:solidFill>
                <a:latin typeface="Consolas"/>
              </a:rPr>
              <a:t># A3 dan ONNX faylni ko'chirib, dvigatelni AYNAN shu qurilmada qurish</a:t>
            </a:r>
          </a:p>
          <a:p>
            <a:r>
              <a:rPr sz="1000">
                <a:solidFill>
                  <a:srgbClr val="DBE4F5"/>
                </a:solidFill>
                <a:latin typeface="Consolas"/>
              </a:rPr>
              <a:t>/usr/src/tensorrt/bin/trtexec --onnx=resnet50_fp32.onnx --fp16 --saveEngine=rn50_fp16_orin.plan \</a:t>
            </a:r>
          </a:p>
          <a:p>
            <a:r>
              <a:rPr sz="1000">
                <a:solidFill>
                  <a:srgbClr val="DBE4F5"/>
                </a:solidFill>
                <a:latin typeface="Consolas"/>
              </a:rPr>
              <a:t>    --shapes=input:1x3x224x224 --iterations=500 --warmUp=1000 --percentile=95 | tee trt_orin_fp16.log</a:t>
            </a:r>
          </a:p>
          <a:p>
            <a:r>
              <a:rPr sz="1000">
                <a:solidFill>
                  <a:srgbClr val="DBE4F5"/>
                </a:solidFill>
                <a:latin typeface="Consolas"/>
              </a:rPr>
              <a:t>/usr/src/tensorrt/bin/trtexec --onnx=resnet50_int8.onnx --int8 --fp16 --saveEngine=rn50_int8_orin.plan \</a:t>
            </a:r>
          </a:p>
          <a:p>
            <a:r>
              <a:rPr sz="1000">
                <a:solidFill>
                  <a:srgbClr val="DBE4F5"/>
                </a:solidFill>
                <a:latin typeface="Consolas"/>
              </a:rPr>
              <a:t>    --shapes=input:1x3x224x224 --iterations=500 --warmUp=1000 --percentile=95 | tee trt_orin_int8.log</a:t>
            </a:r>
          </a:p>
          <a:p>
            <a:r>
              <a:rPr sz="1000">
                <a:solidFill>
                  <a:srgbClr val="6EE7B7"/>
                </a:solidFill>
                <a:latin typeface="Consolas"/>
              </a:rPr>
              <a:t># Quvvatni parallel o'lchash (boshqa terminalda), 100 ms oraliqda</a:t>
            </a:r>
          </a:p>
          <a:p>
            <a:r>
              <a:rPr sz="1000">
                <a:solidFill>
                  <a:srgbClr val="DBE4F5"/>
                </a:solidFill>
                <a:latin typeface="Consolas"/>
              </a:rPr>
              <a:t>sudo tegrastats --interval 100 --logfile tegra_int8.log &amp;</a:t>
            </a:r>
          </a:p>
          <a:p>
            <a:r>
              <a:rPr sz="1000">
                <a:solidFill>
                  <a:srgbClr val="DBE4F5"/>
                </a:solidFill>
                <a:latin typeface="Consolas"/>
              </a:rPr>
              <a:t>/usr/src/tensorrt/bin/trtexec --loadEngine=rn50_int8_orin.plan --iterations=3000 --shapes=input:1x3x224x224</a:t>
            </a:r>
          </a:p>
          <a:p>
            <a:r>
              <a:rPr sz="1000">
                <a:solidFill>
                  <a:srgbClr val="DBE4F5"/>
                </a:solidFill>
                <a:latin typeface="Consolas"/>
              </a:rPr>
              <a:t>sudo pkill tegrastats</a:t>
            </a:r>
          </a:p>
          <a:p>
            <a:r>
              <a:rPr sz="1000">
                <a:solidFill>
                  <a:srgbClr val="DBE4F5"/>
                </a:solidFill>
                <a:latin typeface="Consolas"/>
              </a:rPr>
              <a:t>grep -o 'VDD_IN [0-9]*mW' tegra_int8.log | awk '{s+=$2; n++} END {print "o'\''rtacha quvvat, mW:", s/n}'</a:t>
            </a:r>
          </a:p>
          <a:p>
            <a:r>
              <a:rPr sz="1000">
                <a:solidFill>
                  <a:srgbClr val="6EE7B7"/>
                </a:solidFill>
                <a:latin typeface="Consolas"/>
              </a:rPr>
              <a:t># Xizmatni Jetson'da konteynerda ishga tushirish (l4t asos tasvir, GPU runtime)</a:t>
            </a:r>
          </a:p>
          <a:p>
            <a:r>
              <a:rPr sz="1000">
                <a:solidFill>
                  <a:srgbClr val="DBE4F5"/>
                </a:solidFill>
                <a:latin typeface="Consolas"/>
              </a:rPr>
              <a:t>sudo docker run -d --runtime nvidia --network host -v $PWD/models:/models:ro \</a:t>
            </a:r>
          </a:p>
          <a:p>
            <a:r>
              <a:rPr sz="1000">
                <a:solidFill>
                  <a:srgbClr val="DBE4F5"/>
                </a:solidFill>
                <a:latin typeface="Consolas"/>
              </a:rPr>
              <a:t>    -e MODEL_PATH=/models/resnet50_int8.onnx -e ORT_PROVIDERS=TensorrtExecutionProvider,CUDAExecutionProvider \</a:t>
            </a:r>
          </a:p>
          <a:p>
            <a:r>
              <a:rPr sz="1000">
                <a:solidFill>
                  <a:srgbClr val="DBE4F5"/>
                </a:solidFill>
                <a:latin typeface="Consolas"/>
              </a:rPr>
              <a:t>    rn50-infer:1.0-l4t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(muqobil). Coral Edge TPU'da TFLite</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Kutilgan natija (Coral USB Accelerator, USB 3.0, taxminiy): MobileNetV2 p50 ≈ 2,8 ms (USB 2.0 da ≈ 12 ms — interfeys tiqilib qoladi); quvvat ~1,5–2 Vt → ~5 mJ/rasm; ResNet-50 (kvantlangan, 25 MB vazn 8 MB SRAM'ga sig'maydi) ≈ 15–18 ms.</a:t>
            </a:r>
          </a:p>
          <a:p>
            <a:pPr>
              <a:spcBef>
                <a:spcPts val="400"/>
              </a:spcBef>
            </a:pPr>
            <a:r>
              <a:rPr sz="1600">
                <a:solidFill>
                  <a:srgbClr val="AEBBD9"/>
                </a:solidFill>
                <a:latin typeface="Segoe UI"/>
              </a:rPr>
              <a:t>Xost CPU (Raspberry Pi 4) da xuddi shu TFLite model 60–80 ms — Edge TPU 20–25 baravar tezlanish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(muqobil). Coral Edge TPU'da TFLite — kod 1</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Xost (Raspberry Pi yoki x86 Linux) da: libedgetpu va pycoral o'rnatilgan</a:t>
            </a:r>
          </a:p>
          <a:p>
            <a:r>
              <a:rPr sz="1000">
                <a:solidFill>
                  <a:srgbClr val="6EE7B7"/>
                </a:solidFill>
                <a:latin typeface="Consolas"/>
              </a:rPr>
              <a:t># Coral model bog'idan to'liq kvantlangan va kompilyatsiya qilingan model:</a:t>
            </a:r>
          </a:p>
          <a:p>
            <a:r>
              <a:rPr sz="1000">
                <a:solidFill>
                  <a:srgbClr val="DBE4F5"/>
                </a:solidFill>
                <a:latin typeface="Consolas"/>
              </a:rPr>
              <a:t>wget https://raw.githubusercontent.com/google-coral/test_data/master/mobilenet_v2_1.0_224_quant_edgetpu.tflite</a:t>
            </a:r>
          </a:p>
          <a:p>
            <a:r>
              <a:rPr sz="1000">
                <a:solidFill>
                  <a:srgbClr val="DBE4F5"/>
                </a:solidFill>
                <a:latin typeface="Consolas"/>
              </a:rPr>
              <a:t>wget https://raw.githubusercontent.com/google-coral/test_data/master/imagenet_labels.txt</a:t>
            </a:r>
          </a:p>
          <a:p>
            <a:r>
              <a:rPr sz="1000">
                <a:solidFill>
                  <a:srgbClr val="6EE7B7"/>
                </a:solidFill>
                <a:latin typeface="Consolas"/>
              </a:rPr>
              <a:t># O'z modelini tayyorlash ketma-ketligi (hisobotda tavsiflang): TF/Keras → TFLite to'liq INT8 (representative dataset) →</a:t>
            </a:r>
          </a:p>
          <a:p>
            <a:r>
              <a:rPr sz="1000">
                <a:solidFill>
                  <a:srgbClr val="6EE7B7"/>
                </a:solidFill>
                <a:latin typeface="Consolas"/>
              </a:rPr>
              <a:t># Kompilyator chiqishida "Number of operations that will run on Edge TPU: N / M" qatorini tekshiring — M-N ta operator 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(muqobil). Coral Edge TPU'da TFLite — kod 2</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coral_bench.py</a:t>
            </a:r>
          </a:p>
          <a:p>
            <a:r>
              <a:rPr sz="1000">
                <a:solidFill>
                  <a:srgbClr val="DBE4F5"/>
                </a:solidFill>
                <a:latin typeface="Consolas"/>
              </a:rPr>
              <a:t>import time, numpy as np</a:t>
            </a:r>
          </a:p>
          <a:p>
            <a:r>
              <a:rPr sz="1000">
                <a:solidFill>
                  <a:srgbClr val="DBE4F5"/>
                </a:solidFill>
                <a:latin typeface="Consolas"/>
              </a:rPr>
              <a:t>from pycoral.utils.edgetpu import make_interpreter</a:t>
            </a:r>
          </a:p>
          <a:p>
            <a:r>
              <a:rPr sz="1000">
                <a:solidFill>
                  <a:srgbClr val="DBE4F5"/>
                </a:solidFill>
                <a:latin typeface="Consolas"/>
              </a:rPr>
              <a:t>from pycoral.adapters import common, classify</a:t>
            </a:r>
          </a:p>
          <a:p>
            <a:r>
              <a:rPr sz="1000">
                <a:solidFill>
                  <a:srgbClr val="DBE4F5"/>
                </a:solidFill>
                <a:latin typeface="Consolas"/>
              </a:rPr>
              <a:t>from PIL import Image</a:t>
            </a:r>
          </a:p>
          <a:p>
            <a:r>
              <a:rPr sz="1000">
                <a:solidFill>
                  <a:srgbClr val="DBE4F5"/>
                </a:solidFill>
                <a:latin typeface="Consolas"/>
              </a:rPr>
              <a:t>itp = make_interpreter("mobilenet_v2_1.0_224_quant_edgetpu.tflite"); itp.allocate_tensors()</a:t>
            </a:r>
          </a:p>
          <a:p>
            <a:r>
              <a:rPr sz="1000">
                <a:solidFill>
                  <a:srgbClr val="DBE4F5"/>
                </a:solidFill>
                <a:latin typeface="Consolas"/>
              </a:rPr>
              <a:t>img = Image.open("cat.jpg").convert("RGB").resize(common.input_size(itp))</a:t>
            </a:r>
          </a:p>
          <a:p>
            <a:r>
              <a:rPr sz="1000">
                <a:solidFill>
                  <a:srgbClr val="DBE4F5"/>
                </a:solidFill>
                <a:latin typeface="Consolas"/>
              </a:rPr>
              <a:t>common.set_input(itp, img)</a:t>
            </a:r>
          </a:p>
          <a:p>
            <a:r>
              <a:rPr sz="1000">
                <a:solidFill>
                  <a:srgbClr val="DBE4F5"/>
                </a:solidFill>
                <a:latin typeface="Consolas"/>
              </a:rPr>
              <a:t>for _ in range(10): itp.invoke()</a:t>
            </a:r>
          </a:p>
          <a:p>
            <a:r>
              <a:rPr sz="1000">
                <a:solidFill>
                  <a:srgbClr val="DBE4F5"/>
                </a:solidFill>
                <a:latin typeface="Consolas"/>
              </a:rPr>
              <a:t>t = []</a:t>
            </a:r>
          </a:p>
          <a:p>
            <a:r>
              <a:rPr sz="1000">
                <a:solidFill>
                  <a:srgbClr val="DBE4F5"/>
                </a:solidFill>
                <a:latin typeface="Consolas"/>
              </a:rPr>
              <a:t>for _ in range(200):</a:t>
            </a:r>
          </a:p>
          <a:p>
            <a:r>
              <a:rPr sz="1000">
                <a:solidFill>
                  <a:srgbClr val="DBE4F5"/>
                </a:solidFill>
                <a:latin typeface="Consolas"/>
              </a:rPr>
              <a:t>    t0 = time.perf_counter(); itp.invoke(); t.append(time.perf_counter() - t0)</a:t>
            </a:r>
          </a:p>
          <a:p>
            <a:r>
              <a:rPr sz="1000">
                <a:solidFill>
                  <a:srgbClr val="DBE4F5"/>
                </a:solidFill>
                <a:latin typeface="Consolas"/>
              </a:rPr>
              <a:t>print(f"Edge TPU MobileNetV2: p50 {np.percentile(t,50)*1e3:.2f} ms  p95 {np.percentile(t,95)*1e3:.2f} ms")</a:t>
            </a:r>
          </a:p>
          <a:p>
            <a:r>
              <a:rPr sz="1000">
                <a:solidFill>
                  <a:srgbClr val="DBE4F5"/>
                </a:solidFill>
                <a:latin typeface="Consolas"/>
              </a:rPr>
              <a:t>print(classify.get_classes(itp, top_k=3))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Cloud va Edge arxitekturalarini miqdoriy taqqoslash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 Gibrid variant ko'p sanoat tizimlarida optimal: chekkada 95 % qarorlar, bulutda sifat nazorati, qayta o'qitish uchun ma'lumot yig'ish va markaziy monitoring.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Cloud va Edge arxitekturalarini miqdoriy taqqoslash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graphicFrame>
        <p:nvGraphicFramePr>
          <p:cNvPr id="26" name="Table 25"/>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Cloud (T4 GPU, K8s, 2 nusxa)</a:t>
                      </a:r>
                    </a:p>
                  </a:txBody>
                  <a:tcPr>
                    <a:solidFill>
                      <a:srgbClr val="1C2755"/>
                    </a:solidFill>
                  </a:tcPr>
                </a:tc>
                <a:tc>
                  <a:txBody>
                    <a:bodyPr/>
                    <a:lstStyle/>
                    <a:p>
                      <a:r>
                        <a:rPr sz="1200" b="1">
                          <a:solidFill>
                            <a:srgbClr val="22D3EE"/>
                          </a:solidFill>
                          <a:latin typeface="Segoe UI"/>
                        </a:rPr>
                        <a:t>Edge (Jetson Orin NX, 1 dona)</a:t>
                      </a:r>
                    </a:p>
                  </a:txBody>
                  <a:tcPr>
                    <a:solidFill>
                      <a:srgbClr val="1C2755"/>
                    </a:solidFill>
                  </a:tcPr>
                </a:tc>
                <a:tc>
                  <a:txBody>
                    <a:bodyPr/>
                    <a:lstStyle/>
                    <a:p>
                      <a:r>
                        <a:rPr sz="1200" b="1">
                          <a:solidFill>
                            <a:srgbClr val="22D3EE"/>
                          </a:solidFill>
                          <a:latin typeface="Segoe UI"/>
                        </a:rPr>
                        <a:t>Gibrid (Orin + bulutda og'ir model shubhali kadrlar uchun)</a:t>
                      </a:r>
                    </a:p>
                  </a:txBody>
                  <a:tcPr>
                    <a:solidFill>
                      <a:srgbClr val="1C2755"/>
                    </a:solidFill>
                  </a:tcPr>
                </a:tc>
              </a:tr>
              <a:tr h="520000">
                <a:tc>
                  <a:txBody>
                    <a:bodyPr/>
                    <a:lstStyle/>
                    <a:p>
                      <a:r>
                        <a:rPr sz="1200" b="0">
                          <a:solidFill>
                            <a:srgbClr val="E8EEFA"/>
                          </a:solidFill>
                          <a:latin typeface="Segoe UI"/>
                        </a:rPr>
                        <a:t>Uchdan-uchga kechikish (p95)</a:t>
                      </a:r>
                    </a:p>
                  </a:txBody>
                  <a:tcPr>
                    <a:solidFill>
                      <a:srgbClr val="111834"/>
                    </a:solidFill>
                  </a:tcPr>
                </a:tc>
                <a:tc>
                  <a:txBody>
                    <a:bodyPr/>
                    <a:lstStyle/>
                    <a:p>
                      <a:r>
                        <a:rPr sz="1200" b="0">
                          <a:solidFill>
                            <a:srgbClr val="E8EEFA"/>
                          </a:solidFill>
                          <a:latin typeface="Segoe UI"/>
                        </a:rPr>
                        <a:t>120–200 ms (RTT 80 ms + navbat + inferens)</a:t>
                      </a:r>
                    </a:p>
                  </a:txBody>
                  <a:tcPr>
                    <a:solidFill>
                      <a:srgbClr val="111834"/>
                    </a:solidFill>
                  </a:tcPr>
                </a:tc>
                <a:tc>
                  <a:txBody>
                    <a:bodyPr/>
                    <a:lstStyle/>
                    <a:p>
                      <a:r>
                        <a:rPr sz="1200" b="0">
                          <a:solidFill>
                            <a:srgbClr val="E8EEFA"/>
                          </a:solidFill>
                          <a:latin typeface="Segoe UI"/>
                        </a:rPr>
                        <a:t>25–40 ms</a:t>
                      </a:r>
                    </a:p>
                  </a:txBody>
                  <a:tcPr>
                    <a:solidFill>
                      <a:srgbClr val="111834"/>
                    </a:solidFill>
                  </a:tcPr>
                </a:tc>
                <a:tc>
                  <a:txBody>
                    <a:bodyPr/>
                    <a:lstStyle/>
                    <a:p>
                      <a:r>
                        <a:rPr sz="1200" b="0">
                          <a:solidFill>
                            <a:srgbClr val="E8EEFA"/>
                          </a:solidFill>
                          <a:latin typeface="Segoe UI"/>
                        </a:rPr>
                        <a:t>30 ms (asosiy), 200 ms (qayta tekshiruv)</a:t>
                      </a:r>
                    </a:p>
                  </a:txBody>
                  <a:tcPr>
                    <a:solidFill>
                      <a:srgbClr val="111834"/>
                    </a:solidFill>
                  </a:tcPr>
                </a:tc>
              </a:tr>
              <a:tr h="520000">
                <a:tc>
                  <a:txBody>
                    <a:bodyPr/>
                    <a:lstStyle/>
                    <a:p>
                      <a:r>
                        <a:rPr sz="1200" b="0">
                          <a:solidFill>
                            <a:srgbClr val="E8EEFA"/>
                          </a:solidFill>
                          <a:latin typeface="Segoe UI"/>
                        </a:rPr>
                        <a:t>Tarmoq trafigi</a:t>
                      </a:r>
                    </a:p>
                  </a:txBody>
                  <a:tcPr>
                    <a:solidFill>
                      <a:srgbClr val="161F40"/>
                    </a:solidFill>
                  </a:tcPr>
                </a:tc>
                <a:tc>
                  <a:txBody>
                    <a:bodyPr/>
                    <a:lstStyle/>
                    <a:p>
                      <a:r>
                        <a:rPr sz="1200" b="0">
                          <a:solidFill>
                            <a:srgbClr val="E8EEFA"/>
                          </a:solidFill>
                          <a:latin typeface="Segoe UI"/>
                        </a:rPr>
                        <a:t>64 Mbit/s uzluksiz (16 oqim)</a:t>
                      </a:r>
                    </a:p>
                  </a:txBody>
                  <a:tcPr>
                    <a:solidFill>
                      <a:srgbClr val="161F40"/>
                    </a:solidFill>
                  </a:tcPr>
                </a:tc>
                <a:tc>
                  <a:txBody>
                    <a:bodyPr/>
                    <a:lstStyle/>
                    <a:p>
                      <a:r>
                        <a:rPr sz="1200" b="0">
                          <a:solidFill>
                            <a:srgbClr val="E8EEFA"/>
                          </a:solidFill>
                          <a:latin typeface="Segoe UI"/>
                        </a:rPr>
                        <a:t>~10 kbit/s (hodisalar)</a:t>
                      </a:r>
                    </a:p>
                  </a:txBody>
                  <a:tcPr>
                    <a:solidFill>
                      <a:srgbClr val="161F40"/>
                    </a:solidFill>
                  </a:tcPr>
                </a:tc>
                <a:tc>
                  <a:txBody>
                    <a:bodyPr/>
                    <a:lstStyle/>
                    <a:p>
                      <a:r>
                        <a:rPr sz="1200" b="0">
                          <a:solidFill>
                            <a:srgbClr val="E8EEFA"/>
                          </a:solidFill>
                          <a:latin typeface="Segoe UI"/>
                        </a:rPr>
                        <a:t>~100 kbit/s (shubhali kadrlar)</a:t>
                      </a:r>
                    </a:p>
                  </a:txBody>
                  <a:tcPr>
                    <a:solidFill>
                      <a:srgbClr val="161F40"/>
                    </a:solidFill>
                  </a:tcPr>
                </a:tc>
              </a:tr>
              <a:tr h="520000">
                <a:tc>
                  <a:txBody>
                    <a:bodyPr/>
                    <a:lstStyle/>
                    <a:p>
                      <a:r>
                        <a:rPr sz="1200" b="0">
                          <a:solidFill>
                            <a:srgbClr val="E8EEFA"/>
                          </a:solidFill>
                          <a:latin typeface="Segoe UI"/>
                        </a:rPr>
                        <a:t>3 yillik xarajat</a:t>
                      </a:r>
                    </a:p>
                  </a:txBody>
                  <a:tcPr>
                    <a:solidFill>
                      <a:srgbClr val="111834"/>
                    </a:solidFill>
                  </a:tcPr>
                </a:tc>
                <a:tc>
                  <a:txBody>
                    <a:bodyPr/>
                    <a:lstStyle/>
                    <a:p>
                      <a:r>
                        <a:rPr sz="1200" b="0">
                          <a:solidFill>
                            <a:srgbClr val="E8EEFA"/>
                          </a:solidFill>
                          <a:latin typeface="Segoe UI"/>
                        </a:rPr>
                        <a:t>GPU soati 0,5 $ × 2 × 26 280 soat ≈ 26 000 $ + trafik</a:t>
                      </a:r>
                    </a:p>
                  </a:txBody>
                  <a:tcPr>
                    <a:solidFill>
                      <a:srgbClr val="111834"/>
                    </a:solidFill>
                  </a:tcPr>
                </a:tc>
                <a:tc>
                  <a:txBody>
                    <a:bodyPr/>
                    <a:lstStyle/>
                    <a:p>
                      <a:r>
                        <a:rPr sz="1200" b="0">
                          <a:solidFill>
                            <a:srgbClr val="E8EEFA"/>
                          </a:solidFill>
                          <a:latin typeface="Segoe UI"/>
                        </a:rPr>
                        <a:t>700 $ qurilma + 300 $ korpus/sovutish + 3 yil 25 Vt ≈ 660 kVt·s ≈ 100 $ ≈ 1 100 $</a:t>
                      </a:r>
                    </a:p>
                  </a:txBody>
                  <a:tcPr>
                    <a:solidFill>
                      <a:srgbClr val="111834"/>
                    </a:solidFill>
                  </a:tcPr>
                </a:tc>
                <a:tc>
                  <a:txBody>
                    <a:bodyPr/>
                    <a:lstStyle/>
                    <a:p>
                      <a:r>
                        <a:rPr sz="1200" b="0">
                          <a:solidFill>
                            <a:srgbClr val="E8EEFA"/>
                          </a:solidFill>
                          <a:latin typeface="Segoe UI"/>
                        </a:rPr>
                        <a:t>≈ 1 100 $ + bulut 5 % vaqt ≈ 2 500 $</a:t>
                      </a:r>
                    </a:p>
                  </a:txBody>
                  <a:tcPr>
                    <a:solidFill>
                      <a:srgbClr val="111834"/>
                    </a:solidFill>
                  </a:tcPr>
                </a:tc>
              </a:tr>
              <a:tr h="520000">
                <a:tc>
                  <a:txBody>
                    <a:bodyPr/>
                    <a:lstStyle/>
                    <a:p>
                      <a:r>
                        <a:rPr sz="1200" b="0">
                          <a:solidFill>
                            <a:srgbClr val="E8EEFA"/>
                          </a:solidFill>
                          <a:latin typeface="Segoe UI"/>
                        </a:rPr>
                        <a:t>Energiya (inferens boshiga, to'liq)</a:t>
                      </a:r>
                    </a:p>
                  </a:txBody>
                  <a:tcPr>
                    <a:solidFill>
                      <a:srgbClr val="161F40"/>
                    </a:solidFill>
                  </a:tcPr>
                </a:tc>
                <a:tc>
                  <a:txBody>
                    <a:bodyPr/>
                    <a:lstStyle/>
                    <a:p>
                      <a:r>
                        <a:rPr sz="1200" b="0">
                          <a:solidFill>
                            <a:srgbClr val="E8EEFA"/>
                          </a:solidFill>
                          <a:latin typeface="Segoe UI"/>
                        </a:rPr>
                        <a:t>~45 mJ + ma'lumotlar markazi PUE 1,3 + tarmoq</a:t>
                      </a:r>
                    </a:p>
                  </a:txBody>
                  <a:tcPr>
                    <a:solidFill>
                      <a:srgbClr val="161F40"/>
                    </a:solidFill>
                  </a:tcPr>
                </a:tc>
                <a:tc>
                  <a:txBody>
                    <a:bodyPr/>
                    <a:lstStyle/>
                    <a:p>
                      <a:r>
                        <a:rPr sz="1200" b="0">
                          <a:solidFill>
                            <a:srgbClr val="E8EEFA"/>
                          </a:solidFill>
                          <a:latin typeface="Segoe UI"/>
                        </a:rPr>
                        <a:t>~40 mJ (yuklanganda), bo'sh holat kam</a:t>
                      </a:r>
                    </a:p>
                  </a:txBody>
                  <a:tcPr>
                    <a:solidFill>
                      <a:srgbClr val="161F40"/>
                    </a:solidFill>
                  </a:tcPr>
                </a:tc>
                <a:tc>
                  <a:txBody>
                    <a:bodyPr/>
                    <a:lstStyle/>
                    <a:p>
                      <a:r>
                        <a:rPr sz="1200" b="0">
                          <a:solidFill>
                            <a:srgbClr val="E8EEFA"/>
                          </a:solidFill>
                          <a:latin typeface="Segoe UI"/>
                        </a:rPr>
                        <a:t>~45 mJ</a:t>
                      </a:r>
                    </a:p>
                  </a:txBody>
                  <a:tcPr>
                    <a:solidFill>
                      <a:srgbClr val="161F40"/>
                    </a:solidFill>
                  </a:tcPr>
                </a:tc>
              </a:tr>
              <a:tr h="520000">
                <a:tc>
                  <a:txBody>
                    <a:bodyPr/>
                    <a:lstStyle/>
                    <a:p>
                      <a:r>
                        <a:rPr sz="1200" b="0">
                          <a:solidFill>
                            <a:srgbClr val="E8EEFA"/>
                          </a:solidFill>
                          <a:latin typeface="Segoe UI"/>
                        </a:rPr>
                        <a:t>Oflayn ishlash</a:t>
                      </a:r>
                    </a:p>
                  </a:txBody>
                  <a:tcPr>
                    <a:solidFill>
                      <a:srgbClr val="111834"/>
                    </a:solidFill>
                  </a:tcPr>
                </a:tc>
                <a:tc>
                  <a:txBody>
                    <a:bodyPr/>
                    <a:lstStyle/>
                    <a:p>
                      <a:r>
                        <a:rPr sz="1200" b="0">
                          <a:solidFill>
                            <a:srgbClr val="E8EEFA"/>
                          </a:solidFill>
                          <a:latin typeface="Segoe UI"/>
                        </a:rPr>
                        <a:t>yo'q</a:t>
                      </a:r>
                    </a:p>
                  </a:txBody>
                  <a:tcPr>
                    <a:solidFill>
                      <a:srgbClr val="111834"/>
                    </a:solidFill>
                  </a:tcPr>
                </a:tc>
                <a:tc>
                  <a:txBody>
                    <a:bodyPr/>
                    <a:lstStyle/>
                    <a:p>
                      <a:r>
                        <a:rPr sz="1200" b="0">
                          <a:solidFill>
                            <a:srgbClr val="E8EEFA"/>
                          </a:solidFill>
                          <a:latin typeface="Segoe UI"/>
                        </a:rPr>
                        <a:t>ha</a:t>
                      </a:r>
                    </a:p>
                  </a:txBody>
                  <a:tcPr>
                    <a:solidFill>
                      <a:srgbClr val="111834"/>
                    </a:solidFill>
                  </a:tcPr>
                </a:tc>
                <a:tc>
                  <a:txBody>
                    <a:bodyPr/>
                    <a:lstStyle/>
                    <a:p>
                      <a:r>
                        <a:rPr sz="1200" b="0">
                          <a:solidFill>
                            <a:srgbClr val="E8EEFA"/>
                          </a:solidFill>
                          <a:latin typeface="Segoe UI"/>
                        </a:rPr>
                        <a:t>asosiy funksiya ha</a:t>
                      </a:r>
                    </a:p>
                  </a:txBody>
                  <a:tcPr>
                    <a:solidFill>
                      <a:srgbClr val="111834"/>
                    </a:solidFill>
                  </a:tcPr>
                </a:tc>
              </a:tr>
              <a:tr h="520000">
                <a:tc>
                  <a:txBody>
                    <a:bodyPr/>
                    <a:lstStyle/>
                    <a:p>
                      <a:r>
                        <a:rPr sz="1200" b="0">
                          <a:solidFill>
                            <a:srgbClr val="E8EEFA"/>
                          </a:solidFill>
                          <a:latin typeface="Segoe UI"/>
                        </a:rPr>
                        <a:t>Maxfiylik</a:t>
                      </a:r>
                    </a:p>
                  </a:txBody>
                  <a:tcPr>
                    <a:solidFill>
                      <a:srgbClr val="161F40"/>
                    </a:solidFill>
                  </a:tcPr>
                </a:tc>
                <a:tc>
                  <a:txBody>
                    <a:bodyPr/>
                    <a:lstStyle/>
                    <a:p>
                      <a:r>
                        <a:rPr sz="1200" b="0">
                          <a:solidFill>
                            <a:srgbClr val="E8EEFA"/>
                          </a:solidFill>
                          <a:latin typeface="Segoe UI"/>
                        </a:rPr>
                        <a:t>video binodan chiqadi (shifrlash shart)</a:t>
                      </a:r>
                    </a:p>
                  </a:txBody>
                  <a:tcPr>
                    <a:solidFill>
                      <a:srgbClr val="161F40"/>
                    </a:solidFill>
                  </a:tcPr>
                </a:tc>
                <a:tc>
                  <a:txBody>
                    <a:bodyPr/>
                    <a:lstStyle/>
                    <a:p>
                      <a:r>
                        <a:rPr sz="1200" b="0">
                          <a:solidFill>
                            <a:srgbClr val="E8EEFA"/>
                          </a:solidFill>
                          <a:latin typeface="Segoe UI"/>
                        </a:rPr>
                        <a:t>video binoda qoladi</a:t>
                      </a:r>
                    </a:p>
                  </a:txBody>
                  <a:tcPr>
                    <a:solidFill>
                      <a:srgbClr val="161F40"/>
                    </a:solidFill>
                  </a:tcPr>
                </a:tc>
                <a:tc>
                  <a:txBody>
                    <a:bodyPr/>
                    <a:lstStyle/>
                    <a:p>
                      <a:r>
                        <a:rPr sz="1200" b="0">
                          <a:solidFill>
                            <a:srgbClr val="E8EEFA"/>
                          </a:solidFill>
                          <a:latin typeface="Segoe UI"/>
                        </a:rPr>
                        <a:t>faqat kesilgan kadrlar chiqadi</a:t>
                      </a:r>
                    </a:p>
                  </a:txBody>
                  <a:tcPr>
                    <a:solidFill>
                      <a:srgbClr val="161F40"/>
                    </a:solidFill>
                  </a:tcPr>
                </a:tc>
              </a:tr>
              <a:tr h="520000">
                <a:tc>
                  <a:txBody>
                    <a:bodyPr/>
                    <a:lstStyle/>
                    <a:p>
                      <a:r>
                        <a:rPr sz="1200" b="0">
                          <a:solidFill>
                            <a:srgbClr val="E8EEFA"/>
                          </a:solidFill>
                          <a:latin typeface="Segoe UI"/>
                        </a:rPr>
                        <a:t>Masshtablash</a:t>
                      </a:r>
                    </a:p>
                  </a:txBody>
                  <a:tcPr>
                    <a:solidFill>
                      <a:srgbClr val="111834"/>
                    </a:solidFill>
                  </a:tcPr>
                </a:tc>
                <a:tc>
                  <a:txBody>
                    <a:bodyPr/>
                    <a:lstStyle/>
                    <a:p>
                      <a:r>
                        <a:rPr sz="1200" b="0">
                          <a:solidFill>
                            <a:srgbClr val="E8EEFA"/>
                          </a:solidFill>
                          <a:latin typeface="Segoe UI"/>
                        </a:rPr>
                        <a:t>daqiqalarda (HPA)</a:t>
                      </a:r>
                    </a:p>
                  </a:txBody>
                  <a:tcPr>
                    <a:solidFill>
                      <a:srgbClr val="111834"/>
                    </a:solidFill>
                  </a:tcPr>
                </a:tc>
                <a:tc>
                  <a:txBody>
                    <a:bodyPr/>
                    <a:lstStyle/>
                    <a:p>
                      <a:r>
                        <a:rPr sz="1200" b="0">
                          <a:solidFill>
                            <a:srgbClr val="E8EEFA"/>
                          </a:solidFill>
                          <a:latin typeface="Segoe UI"/>
                        </a:rPr>
                        <a:t>yangi qurilma sotib olish</a:t>
                      </a:r>
                    </a:p>
                  </a:txBody>
                  <a:tcPr>
                    <a:solidFill>
                      <a:srgbClr val="111834"/>
                    </a:solidFill>
                  </a:tcPr>
                </a:tc>
                <a:tc>
                  <a:txBody>
                    <a:bodyPr/>
                    <a:lstStyle/>
                    <a:p>
                      <a:r>
                        <a:rPr sz="1200" b="0">
                          <a:solidFill>
                            <a:srgbClr val="E8EEFA"/>
                          </a:solidFill>
                          <a:latin typeface="Segoe UI"/>
                        </a:rPr>
                        <a:t>ikkalasi</a:t>
                      </a:r>
                    </a:p>
                  </a:txBody>
                  <a:tcPr>
                    <a:solidFill>
                      <a:srgbClr val="111834"/>
                    </a:solidFill>
                  </a:tcPr>
                </a:tc>
              </a:tr>
              <a:tr h="520000">
                <a:tc>
                  <a:txBody>
                    <a:bodyPr/>
                    <a:lstStyle/>
                    <a:p>
                      <a:r>
                        <a:rPr sz="1200" b="0">
                          <a:solidFill>
                            <a:srgbClr val="E8EEFA"/>
                          </a:solidFill>
                          <a:latin typeface="Segoe UI"/>
                        </a:rPr>
                        <a:t>Yangilash</a:t>
                      </a:r>
                    </a:p>
                  </a:txBody>
                  <a:tcPr>
                    <a:solidFill>
                      <a:srgbClr val="161F40"/>
                    </a:solidFill>
                  </a:tcPr>
                </a:tc>
                <a:tc>
                  <a:txBody>
                    <a:bodyPr/>
                    <a:lstStyle/>
                    <a:p>
                      <a:r>
                        <a:rPr sz="1200" b="0">
                          <a:solidFill>
                            <a:srgbClr val="E8EEFA"/>
                          </a:solidFill>
                          <a:latin typeface="Segoe UI"/>
                        </a:rPr>
                        <a:t>bir joyda, rollout</a:t>
                      </a:r>
                    </a:p>
                  </a:txBody>
                  <a:tcPr>
                    <a:solidFill>
                      <a:srgbClr val="161F40"/>
                    </a:solidFill>
                  </a:tcPr>
                </a:tc>
                <a:tc>
                  <a:txBody>
                    <a:bodyPr/>
                    <a:lstStyle/>
                    <a:p>
                      <a:r>
                        <a:rPr sz="1200" b="0">
                          <a:solidFill>
                            <a:srgbClr val="E8EEFA"/>
                          </a:solidFill>
                          <a:latin typeface="Segoe UI"/>
                        </a:rPr>
                        <a:t>OTA, flot boshqaruvi</a:t>
                      </a:r>
                    </a:p>
                  </a:txBody>
                  <a:tcPr>
                    <a:solidFill>
                      <a:srgbClr val="161F40"/>
                    </a:solidFill>
                  </a:tcPr>
                </a:tc>
                <a:tc>
                  <a:txBody>
                    <a:bodyPr/>
                    <a:lstStyle/>
                    <a:p>
                      <a:r>
                        <a:rPr sz="1200" b="0">
                          <a:solidFill>
                            <a:srgbClr val="E8EEFA"/>
                          </a:solidFill>
                          <a:latin typeface="Segoe UI"/>
                        </a:rPr>
                        <a:t>ikkalasi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Cloud va Edge arxitekturalarini miqdoriy taqqoslash (davomi)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graphicFrame>
        <p:nvGraphicFramePr>
          <p:cNvPr id="24" name="Table 23"/>
          <p:cNvGraphicFramePr>
            <a:graphicFrameLocks noGrp="1"/>
          </p:cNvGraphicFramePr>
          <p:nvPr/>
        </p:nvGraphicFramePr>
        <p:xfrm>
          <a:off x="550000" y="1400000"/>
          <a:ext cx="11100000" cy="10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Cloud (T4 GPU, K8s, 2 nusxa)</a:t>
                      </a:r>
                    </a:p>
                  </a:txBody>
                  <a:tcPr>
                    <a:solidFill>
                      <a:srgbClr val="1C2755"/>
                    </a:solidFill>
                  </a:tcPr>
                </a:tc>
                <a:tc>
                  <a:txBody>
                    <a:bodyPr/>
                    <a:lstStyle/>
                    <a:p>
                      <a:r>
                        <a:rPr sz="1200" b="1">
                          <a:solidFill>
                            <a:srgbClr val="22D3EE"/>
                          </a:solidFill>
                          <a:latin typeface="Segoe UI"/>
                        </a:rPr>
                        <a:t>Edge (Jetson Orin NX, 1 dona)</a:t>
                      </a:r>
                    </a:p>
                  </a:txBody>
                  <a:tcPr>
                    <a:solidFill>
                      <a:srgbClr val="1C2755"/>
                    </a:solidFill>
                  </a:tcPr>
                </a:tc>
                <a:tc>
                  <a:txBody>
                    <a:bodyPr/>
                    <a:lstStyle/>
                    <a:p>
                      <a:r>
                        <a:rPr sz="1200" b="1">
                          <a:solidFill>
                            <a:srgbClr val="22D3EE"/>
                          </a:solidFill>
                          <a:latin typeface="Segoe UI"/>
                        </a:rPr>
                        <a:t>Gibrid (Orin + bulutda og'ir model shubhali kadrlar uchun)</a:t>
                      </a:r>
                    </a:p>
                  </a:txBody>
                  <a:tcPr>
                    <a:solidFill>
                      <a:srgbClr val="1C2755"/>
                    </a:solidFill>
                  </a:tcPr>
                </a:tc>
              </a:tr>
              <a:tr h="520000">
                <a:tc>
                  <a:txBody>
                    <a:bodyPr/>
                    <a:lstStyle/>
                    <a:p>
                      <a:r>
                        <a:rPr sz="1200" b="0">
                          <a:solidFill>
                            <a:srgbClr val="E8EEFA"/>
                          </a:solidFill>
                          <a:latin typeface="Segoe UI"/>
                        </a:rPr>
                        <a:t>Nosozlikka bardoshlilik</a:t>
                      </a:r>
                    </a:p>
                  </a:txBody>
                  <a:tcPr>
                    <a:solidFill>
                      <a:srgbClr val="111834"/>
                    </a:solidFill>
                  </a:tcPr>
                </a:tc>
                <a:tc>
                  <a:txBody>
                    <a:bodyPr/>
                    <a:lstStyle/>
                    <a:p>
                      <a:r>
                        <a:rPr sz="1200" b="0">
                          <a:solidFill>
                            <a:srgbClr val="E8EEFA"/>
                          </a:solidFill>
                          <a:latin typeface="Segoe UI"/>
                        </a:rPr>
                        <a:t>yuqori (ko'p nusxa, zonalar)</a:t>
                      </a:r>
                    </a:p>
                  </a:txBody>
                  <a:tcPr>
                    <a:solidFill>
                      <a:srgbClr val="111834"/>
                    </a:solidFill>
                  </a:tcPr>
                </a:tc>
                <a:tc>
                  <a:txBody>
                    <a:bodyPr/>
                    <a:lstStyle/>
                    <a:p>
                      <a:r>
                        <a:rPr sz="1200" b="0">
                          <a:solidFill>
                            <a:srgbClr val="E8EEFA"/>
                          </a:solidFill>
                          <a:latin typeface="Segoe UI"/>
                        </a:rPr>
                        <a:t>yagona nuqta (zaxira qurilma kerak)</a:t>
                      </a:r>
                    </a:p>
                  </a:txBody>
                  <a:tcPr>
                    <a:solidFill>
                      <a:srgbClr val="111834"/>
                    </a:solidFill>
                  </a:tcPr>
                </a:tc>
                <a:tc>
                  <a:txBody>
                    <a:bodyPr/>
                    <a:lstStyle/>
                    <a:p>
                      <a:r>
                        <a:rPr sz="1200" b="0">
                          <a:solidFill>
                            <a:srgbClr val="E8EEFA"/>
                          </a:solidFill>
                          <a:latin typeface="Segoe UI"/>
                        </a:rPr>
                        <a:t>o'rtacha</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sp>
        <p:nvSpPr>
          <p:cNvPr id="25" name="Rounded Rectangle 24"/>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Hisobot (6–8 bet): (1) xizmat kodi tavsifi va API hujjati (FastAPI /docs ekran tasviri); (2) Dockerfile, tasvir hajmi, ishga tushish vaqti, mahalliy yuklama sinovi natijalari; (3) K8s manifestlari, kubectl get pods/hpa chiqishlari yuklama oldidan, davomida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sp>
        <p:nvSpPr>
          <p:cNvPr id="26" name="Rounded Rectangle 2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Qo'shimcha 10 ball: GPU K8s (NVIDIA device plugin, nvidia.com/gpu limiti) va KEDA/Prometheus Adapter bilan so'rov/s bo'yicha masshtablash; yoki Jetson'da k3s agent sifatida ishlab, bitta kubectl bilan ham bulut, ham chekka Pod'larni boshqarish (nodeSelector…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graphicFrame>
        <p:nvGraphicFramePr>
          <p:cNvPr id="23" name="Table 22"/>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FastAPI xizmati ishlaydi, probe'lar va metrikalar bor, sozlamalar muhit o'zgaruvchilaridan</a:t>
                      </a:r>
                    </a:p>
                  </a:txBody>
                  <a:tcPr>
                    <a:solidFill>
                      <a:srgbClr val="111834"/>
                    </a:solidFill>
                  </a:tcPr>
                </a:tc>
                <a:tc>
                  <a:txBody>
                    <a:bodyPr/>
                    <a:lstStyle/>
                    <a:p>
                      <a:r>
                        <a:rPr sz="1000" b="0">
                          <a:solidFill>
                            <a:srgbClr val="E8EEFA"/>
                          </a:solidFill>
                          <a:latin typeface="Segoe UI"/>
                        </a:rPr>
                        <a:t>15</a:t>
                      </a:r>
                    </a:p>
                  </a:txBody>
                  <a:tcPr>
                    <a:solidFill>
                      <a:srgbClr val="111834"/>
                    </a:solidFill>
                  </a:tcPr>
                </a:tc>
              </a:tr>
              <a:tr h="520000">
                <a:tc>
                  <a:txBody>
                    <a:bodyPr/>
                    <a:lstStyle/>
                    <a:p>
                      <a:r>
                        <a:rPr sz="1000" b="0">
                          <a:solidFill>
                            <a:srgbClr val="E8EEFA"/>
                          </a:solidFill>
                          <a:latin typeface="Segoe UI"/>
                        </a:rPr>
                        <a:t>Dockerfile ko'p bosqichli, root'siz, tasvir hajmi va resurs cheklovlari o'lchangan</a:t>
                      </a:r>
                    </a:p>
                  </a:txBody>
                  <a:tcPr>
                    <a:solidFill>
                      <a:srgbClr val="161F40"/>
                    </a:solidFill>
                  </a:tcPr>
                </a:tc>
                <a:tc>
                  <a:txBody>
                    <a:bodyPr/>
                    <a:lstStyle/>
                    <a:p>
                      <a:r>
                        <a:rPr sz="1000" b="0">
                          <a:solidFill>
                            <a:srgbClr val="E8EEFA"/>
                          </a:solidFill>
                          <a:latin typeface="Segoe UI"/>
                        </a:rPr>
                        <a:t>15</a:t>
                      </a:r>
                    </a:p>
                  </a:txBody>
                  <a:tcPr>
                    <a:solidFill>
                      <a:srgbClr val="161F40"/>
                    </a:solidFill>
                  </a:tcPr>
                </a:tc>
              </a:tr>
              <a:tr h="520000">
                <a:tc>
                  <a:txBody>
                    <a:bodyPr/>
                    <a:lstStyle/>
                    <a:p>
                      <a:r>
                        <a:rPr sz="1000" b="0">
                          <a:solidFill>
                            <a:srgbClr val="E8EEFA"/>
                          </a:solidFill>
                          <a:latin typeface="Segoe UI"/>
                        </a:rPr>
                        <a:t>K8s: Deployment/Service/HPA/ConfigMap to'g'ri, HPA yuklama ostida ishlagani ko'rsatilgan, rollout xatosiz</a:t>
                      </a:r>
                    </a:p>
                  </a:txBody>
                  <a:tcPr>
                    <a:solidFill>
                      <a:srgbClr val="111834"/>
                    </a:solidFill>
                  </a:tcPr>
                </a:tc>
                <a:tc>
                  <a:txBody>
                    <a:bodyPr/>
                    <a:lstStyle/>
                    <a:p>
                      <a:r>
                        <a:rPr sz="1000" b="0">
                          <a:solidFill>
                            <a:srgbClr val="E8EEFA"/>
                          </a:solidFill>
                          <a:latin typeface="Segoe UI"/>
                        </a:rPr>
                        <a:t>25</a:t>
                      </a:r>
                    </a:p>
                  </a:txBody>
                  <a:tcPr>
                    <a:solidFill>
                      <a:srgbClr val="111834"/>
                    </a:solidFill>
                  </a:tcPr>
                </a:tc>
              </a:tr>
              <a:tr h="520000">
                <a:tc>
                  <a:txBody>
                    <a:bodyPr/>
                    <a:lstStyle/>
                    <a:p>
                      <a:r>
                        <a:rPr sz="1000" b="0">
                          <a:solidFill>
                            <a:srgbClr val="E8EEFA"/>
                          </a:solidFill>
                          <a:latin typeface="Segoe UI"/>
                        </a:rPr>
                        <a:t>Chekka qurilmada inferens: dvigatel qurilgan, latency va quvvat kamida 2 rejimda o'lchangan, to'liq so'rov kechikishi tahlil qilingan</a:t>
                      </a:r>
                    </a:p>
                  </a:txBody>
                  <a:tcPr>
                    <a:solidFill>
                      <a:srgbClr val="161F40"/>
                    </a:solidFill>
                  </a:tcPr>
                </a:tc>
                <a:tc>
                  <a:txBody>
                    <a:bodyPr/>
                    <a:lstStyle/>
                    <a:p>
                      <a:r>
                        <a:rPr sz="1000" b="0">
                          <a:solidFill>
                            <a:srgbClr val="E8EEFA"/>
                          </a:solidFill>
                          <a:latin typeface="Segoe UI"/>
                        </a:rPr>
                        <a:t>20</a:t>
                      </a:r>
                    </a:p>
                  </a:txBody>
                  <a:tcPr>
                    <a:solidFill>
                      <a:srgbClr val="161F40"/>
                    </a:solidFill>
                  </a:tcPr>
                </a:tc>
              </a:tr>
              <a:tr h="520000">
                <a:tc>
                  <a:txBody>
                    <a:bodyPr/>
                    <a:lstStyle/>
                    <a:p>
                      <a:r>
                        <a:rPr sz="1000" b="0">
                          <a:solidFill>
                            <a:srgbClr val="E8EEFA"/>
                          </a:solidFill>
                          <a:latin typeface="Segoe UI"/>
                        </a:rPr>
                        <a:t>Cloud/Edge/Gibrid taqqoslash o'z o'lchovlari va asoslangan narxlar bilan, ssenariyga mos tavsiya</a:t>
                      </a:r>
                    </a:p>
                  </a:txBody>
                  <a:tcPr>
                    <a:solidFill>
                      <a:srgbClr val="111834"/>
                    </a:solidFill>
                  </a:tcPr>
                </a:tc>
                <a:tc>
                  <a:txBody>
                    <a:bodyPr/>
                    <a:lstStyle/>
                    <a:p>
                      <a:r>
                        <a:rPr sz="1000" b="0">
                          <a:solidFill>
                            <a:srgbClr val="E8EEFA"/>
                          </a:solidFill>
                          <a:latin typeface="Segoe UI"/>
                        </a:rPr>
                        <a:t>15</a:t>
                      </a:r>
                    </a:p>
                  </a:txBody>
                  <a:tcPr>
                    <a:solidFill>
                      <a:srgbClr val="111834"/>
                    </a:solidFill>
                  </a:tcPr>
                </a:tc>
              </a:tr>
              <a:tr h="520000">
                <a:tc>
                  <a:txBody>
                    <a:bodyPr/>
                    <a:lstStyle/>
                    <a:p>
                      <a:r>
                        <a:rPr sz="1000" b="0">
                          <a:solidFill>
                            <a:srgbClr val="E8EEFA"/>
                          </a:solidFill>
                          <a:latin typeface="Segoe UI"/>
                        </a:rPr>
                        <a:t>Hisobot va himoya</a:t>
                      </a:r>
                    </a:p>
                  </a:txBody>
                  <a:tcPr>
                    <a:solidFill>
                      <a:srgbClr val="161F40"/>
                    </a:solidFill>
                  </a:tcPr>
                </a:tc>
                <a:tc>
                  <a:txBody>
                    <a:bodyPr/>
                    <a:lstStyle/>
                    <a:p>
                      <a:r>
                        <a:rPr sz="1000" b="0">
                          <a:solidFill>
                            <a:srgbClr val="E8EEFA"/>
                          </a:solidFill>
                          <a:latin typeface="Segoe UI"/>
                        </a:rPr>
                        <a:t>10</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ef12165dc255602f.jpg"/>
          <p:cNvPicPr>
            <a:picLocks noChangeAspect="1"/>
          </p:cNvPicPr>
          <p:nvPr/>
        </p:nvPicPr>
        <p:blipFill>
          <a:blip r:embed="rId2"/>
          <a:srcRect l="14533" r="14533"/>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Simon A. Eugster · Wikimedia Commons · CC BY-SA 3.0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Mashg'ulot natijalari joylashtirish bosqichining uchta asosiy haqiqatini ko'rsatadi.</a:t>
            </a:r>
          </a:p>
          <a:p>
            <a:pPr>
              <a:spcBef>
                <a:spcPts val="400"/>
              </a:spcBef>
            </a:pPr>
            <a:r>
              <a:rPr sz="1600">
                <a:solidFill>
                  <a:srgbClr val="AEBBD9"/>
                </a:solidFill>
                <a:latin typeface="Segoe UI"/>
              </a:rPr>
              <a:t>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363880"/>
            <a:ext cx="50000" cy="28522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Ikkinchi: masshtablash reaktiv va kechikishli — HPA 45–60 soniyada javob beradi, GPU Pod esa TensorRT dvigatelini yuklash bilan 30–40 soniya ishga tushadi; demak, keskin yuklama o'sishiga tayyorlanish uchun zaxira nusxalar (minReplicas) yoki prognozli…</a:t>
            </a:r>
          </a:p>
          <a:p>
            <a:pPr>
              <a:spcBef>
                <a:spcPts val="400"/>
              </a:spcBef>
            </a:pPr>
            <a:r>
              <a:rPr sz="1600">
                <a:solidFill>
                  <a:srgbClr val="AEBBD9"/>
                </a:solidFill>
                <a:latin typeface="Segoe UI"/>
              </a:rPr>
              <a:t>Uchinchi: Cloud va Edge qarori ko'p mezonli — bir ssenariyda 20 baravar farq beradigan TCO boshqasida teskari bo'lishi mumkin; muhandis har bir loyiha uchun jadvalni qaytadan to'ldirishi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49</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531520"/>
            <a:ext cx="50000" cy="25169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Cheklovlar.</a:t>
            </a:r>
          </a:p>
          <a:p>
            <a:pPr>
              <a:spcBef>
                <a:spcPts val="400"/>
              </a:spcBef>
            </a:pPr>
            <a:r>
              <a:rPr sz="1400">
                <a:solidFill>
                  <a:srgbClr val="AEBBD9"/>
                </a:solidFill>
                <a:latin typeface="Segoe UI"/>
              </a:rPr>
              <a:t>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 Bulut narxlari mintaqa va vaqt bo'yicha o'zgaradi — hisobotda sana va manba ko'rsatilishi shart.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048a68667d252f9.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Anthere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766216"/>
            <a:ext cx="50000" cy="204756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9" name="TextBox 28"/>
          <p:cNvSpPr txBox="1"/>
          <p:nvPr/>
        </p:nvSpPr>
        <p:spPr>
          <a:xfrm>
            <a:off x="1300000" y="2726216"/>
            <a:ext cx="5900000" cy="2127568"/>
          </a:xfrm>
          <a:prstGeom prst="rect">
            <a:avLst/>
          </a:prstGeom>
          <a:noFill/>
        </p:spPr>
        <p:txBody>
          <a:bodyPr wrap="square" anchor="ctr">
            <a:spAutoFit/>
          </a:bodyPr>
          <a:lstStyle/>
          <a:p>
            <a:r>
              <a:rPr sz="1500" b="1">
                <a:solidFill>
                  <a:srgbClr val="E8EEFA"/>
                </a:solidFill>
                <a:latin typeface="Segoe UI"/>
              </a:rPr>
              <a:t>Muqobil yondashuvlar.</a:t>
            </a:r>
          </a:p>
          <a:p>
            <a:pPr>
              <a:spcBef>
                <a:spcPts val="400"/>
              </a:spcBef>
            </a:pPr>
            <a:r>
              <a:rPr sz="1400">
                <a:solidFill>
                  <a:srgbClr val="AEBBD9"/>
                </a:solidFill>
                <a:latin typeface="Segoe UI"/>
              </a:rPr>
              <a:t>Xizmat qatlami uchun FastAPI o'rniga ixtisoslashgan inferens serverlar: NVIDIA Triton Inference Server (dinamik paketlash, ko'p model, TensorRT/ONNX/PyTorch backendlar, Prometheus metrikalari tayyor), TorchServe, KServe (K8s'da serverless inferens, nolga qadar masshtablash), BentoML. Orkestratsiya uchun K8s o'rniga kichik tizimlarda Docker Compose yoki Nomad; chekka flotlar uchun k3s + Fleet, Balena, AWS IoT Greengrass, Azure IoT Edge.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94cd127ff92307cd.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Christopher Bowns · Wikimedia Commons · CC BY-SA 2.0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2ce123b9a0f5e6f.jpg"/>
          <p:cNvPicPr>
            <a:picLocks noChangeAspect="1"/>
          </p:cNvPicPr>
          <p:nvPr/>
        </p:nvPicPr>
        <p:blipFill>
          <a:blip r:embed="rId2"/>
          <a:srcRect t="6303" b="630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Ubahnverleih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PyTorch to'liq o'rnatilgan 5 GB tasvir. Inferens uchun ONNX Runtime yoki TensorRT runtime yetarli; devel asos tasvir, pip keshi va o'qitish kutubxonalari olib tashlansa, tasvir 5–10 baravar kichrayadi, tortish va ishga tushish tezlashadi.</a:t>
            </a:r>
          </a:p>
        </p:txBody>
      </p:sp>
      <p:sp>
        <p:nvSpPr>
          <p:cNvPr id="31" name="Rounded Rectangle 30"/>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Readiness probe'siz Deployment. Yangi Pod model yuklab bo'lmasdan trafik oladi.</a:t>
            </a:r>
          </a:p>
          <a:p>
            <a:pPr>
              <a:spcBef>
                <a:spcPts val="400"/>
              </a:spcBef>
            </a:pPr>
            <a:r>
              <a:rPr sz="1400">
                <a:solidFill>
                  <a:srgbClr val="AEBBD9"/>
                </a:solidFill>
                <a:latin typeface="Segoe UI"/>
              </a:rPr>
              <a:t>503 xatolar; yoki aksincha, liveness probe muddati qisqa bo'lib, sekin yuklanayotgan GPU Pod'ni K8s cheksiz qayta ishga tushiradi (CrashLoopBackOff). initialDelaySeconds va failureThreshold ni haqiqiy ishga tushish vaqtidan kelib chiqib sozlang.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Resurs so'rovlarini ko'rsatmaslik. requests siz HPA ishlamaydi, scheduler Pod'larni noto'g'ri taqsimlaydi; limits siz bitta xotira sizib chiquvchi Pod tugunni o'ldiradi. GPU Pod'da nvidia.com/gpu limiti majburiy.</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TensorRT dvigatelini tasvirga joylash. Dvigatel GPU modeli va TensorRT versiyasiga bog'liq; tasvirni boshqa tugunga ko'chirganda ishlamaydi. ONNX'ni joylang, dvigatelni ishga tushishda (yoki init-konteynerda, keshlab) quring.</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Konteynerni root sifatida ishga tushirish va --network host ni har joyda ishlatish. Xavfsizlik auditi birinchi bo'lib shuni topadi. USER, runAsNonRoot, kerak bo'lgan portlarni oching.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61e220ee68f56061.jpg"/>
          <p:cNvPicPr>
            <a:picLocks noChangeAspect="1"/>
          </p:cNvPicPr>
          <p:nvPr/>
        </p:nvPicPr>
        <p:blipFill>
          <a:blip r:embed="rId2"/>
          <a:srcRect l="18255" r="1825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Natalia Sokal · Wikimedia Commons · CC BY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076824"/>
            <a:ext cx="50000" cy="157817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65912"/>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29" name="TextBox 28"/>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Jetson'da quvvat rejimini tekshirmaslik. Standart rejim 15 Vt bo'lishi mumkin.</a:t>
            </a:r>
          </a:p>
          <a:p>
            <a:pPr>
              <a:spcBef>
                <a:spcPts val="400"/>
              </a:spcBef>
            </a:pPr>
            <a:r>
              <a:rPr sz="1400">
                <a:solidFill>
                  <a:srgbClr val="AEBBD9"/>
                </a:solidFill>
                <a:latin typeface="Segoe UI"/>
              </a:rPr>
              <a:t>Natijalar 25 Vt rejimidan 1,5–2 baravar yomon chiqadi va «Jetson sekin» degan noto'g'ri xulosa paydo bo'ladi. Har o'lchovda nvpmodel -q chiqishini hisobotga kiriting; termal cheklovni tegrastats dagi haroratdan kuzating.</a:t>
            </a:r>
          </a:p>
        </p:txBody>
      </p:sp>
      <p:sp>
        <p:nvSpPr>
          <p:cNvPr id="30" name="Rounded Rectangle 29"/>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51408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3" name="TextBox 32"/>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Chekka qurilmada oldindan ishlovni CPU'da qoldirish. ARM CPU'da JPEG dekodlash va resize inferensdan 5–7 baravar uzoq. NVDEC, VPI, DALI yoki hech bo'lmaganda pillow-simd/turbojpeg ishlating.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076824"/>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91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0" name="TextBox 29"/>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p:txBody>
      </p:sp>
      <p:sp>
        <p:nvSpPr>
          <p:cNvPr id="31" name="Rounded Rectangle 30"/>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57817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1408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4" name="TextBox 33"/>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Cloud narxini faqat GPU soatidan hisoblash. Tarmoq chiqish trafigi (egress), yuk balanslagich, saqlash, loglar va monitoring xizmatlari jami narxning 20–40 foizini tashkil etishi mumkin. TCO'da barchasini ko'rsating.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A4 · Edge AI va Cloud AI platformalarida sun'iy intellekt tizimlarini joylashtirish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56</a:t>
            </a:r>
          </a:p>
        </p:txBody>
      </p:sp>
      <p:sp>
        <p:nvSpPr>
          <p:cNvPr id="26" name="Rounded Rectangle 25"/>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mage.png"/>
          <p:cNvPicPr>
            <a:picLocks noChangeAspect="1"/>
          </p:cNvPicPr>
          <p:nvPr/>
        </p:nvPicPr>
        <p:blipFill>
          <a:blip r:embed="rId2"/>
          <a:stretch>
            <a:fillRect/>
          </a:stretch>
        </p:blipFill>
        <p:spPr>
          <a:xfrm>
            <a:off x="8300000" y="1600000"/>
            <a:ext cx="3200000" cy="3200000"/>
          </a:xfrm>
          <a:prstGeom prst="rect">
            <a:avLst/>
          </a:prstGeom>
        </p:spPr>
      </p:pic>
      <p:sp>
        <p:nvSpPr>
          <p:cNvPr id="28" name="TextBox 27"/>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A4 → 🧪 Virtual bajarish (6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ppt_x</p:attrName>
                                        </p:attrNameLst>
                                      </p:cBhvr>
                                      <p:tavLst>
                                        <p:tav tm="0">
                                          <p:val>
                                            <p:strVal val="#ppt_x"/>
                                          </p:val>
                                        </p:tav>
                                        <p:tav tm="100000">
                                          <p:val>
                                            <p:strVal val="#ppt_x"/>
                                          </p:val>
                                        </p:tav>
                                      </p:tavLst>
                                    </p:anim>
                                    <p:anim calcmode="lin" valueType="num">
                                      <p:cBhvr additive="base">
                                        <p:cTn id="29"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8" grpId="0" animBg="1"/>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1" name="Rectangle 90"/>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3" name="TextBox 92"/>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200"/>
                            </p:stCondLst>
                            <p:childTnLst>
                              <p:par>
                                <p:cTn id="352" presetID="53" presetClass="entr" presetSubtype="16"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anim calcmode="lin" valueType="num">
                                      <p:cBhvr additive="base">
                                        <p:cTn id="355" dur="550" fill="hold"/>
                                        <p:tgtEl>
                                          <p:spTgt spid="90"/>
                                        </p:tgtEl>
                                        <p:attrNameLst>
                                          <p:attrName>ppt_w</p:attrName>
                                        </p:attrNameLst>
                                      </p:cBhvr>
                                      <p:tavLst>
                                        <p:tav tm="0">
                                          <p:val>
                                            <p:strVal val="0"/>
                                          </p:val>
                                        </p:tav>
                                        <p:tav tm="100000">
                                          <p:val>
                                            <p:strVal val="#ppt_w"/>
                                          </p:val>
                                        </p:tav>
                                      </p:tavLst>
                                    </p:anim>
                                    <p:anim calcmode="lin" valueType="num">
                                      <p:cBhvr additive="base">
                                        <p:cTn id="356" dur="550" fill="hold"/>
                                        <p:tgtEl>
                                          <p:spTgt spid="90"/>
                                        </p:tgtEl>
                                        <p:attrNameLst>
                                          <p:attrName>ppt_h</p:attrName>
                                        </p:attrNameLst>
                                      </p:cBhvr>
                                      <p:tavLst>
                                        <p:tav tm="0">
                                          <p:val>
                                            <p:strVal val="0"/>
                                          </p:val>
                                        </p:tav>
                                        <p:tav tm="100000">
                                          <p:val>
                                            <p:strVal val="#ppt_h"/>
                                          </p:val>
                                        </p:tav>
                                      </p:tavLst>
                                    </p:anim>
                                  </p:childTnLst>
                                </p:cTn>
                              </p:par>
                            </p:childTnLst>
                          </p:cTn>
                        </p:par>
                        <p:par>
                          <p:cTn id="357" fill="hold">
                            <p:stCondLst>
                              <p:cond delay="350"/>
                            </p:stCondLst>
                            <p:childTnLst>
                              <p:par>
                                <p:cTn id="358" presetID="22" presetClass="entr" presetSubtype="8" fill="hold" grpId="0" nodeType="afterEffect">
                                  <p:stCondLst>
                                    <p:cond delay="0"/>
                                  </p:stCondLst>
                                  <p:childTnLst>
                                    <p:set>
                                      <p:cBhvr>
                                        <p:cTn id="359" dur="1" fill="hold">
                                          <p:stCondLst>
                                            <p:cond delay="0"/>
                                          </p:stCondLst>
                                        </p:cTn>
                                        <p:tgtEl>
                                          <p:spTgt spid="91"/>
                                        </p:tgtEl>
                                        <p:attrNameLst>
                                          <p:attrName>style.visibility</p:attrName>
                                        </p:attrNameLst>
                                      </p:cBhvr>
                                      <p:to>
                                        <p:strVal val="visible"/>
                                      </p:to>
                                    </p:set>
                                    <p:animEffect transition="in" filter="wipe(left)">
                                      <p:cBhvr>
                                        <p:cTn id="361" dur="800"/>
                                        <p:tgtEl>
                                          <p:spTgt spid="91"/>
                                        </p:tgtEl>
                                      </p:cBhvr>
                                    </p:animEffect>
                                  </p:childTnLst>
                                </p:cTn>
                              </p:par>
                            </p:childTnLst>
                          </p:cTn>
                        </p:par>
                        <p:par>
                          <p:cTn id="362" fill="hold">
                            <p:stCondLst>
                              <p:cond delay="500"/>
                            </p:stCondLst>
                            <p:childTnLst>
                              <p:par>
                                <p:cTn id="363" presetID="42" presetClass="entr" presetSubtype="0" fill="hold" grpId="0" nodeType="afterEffect">
                                  <p:stCondLst>
                                    <p:cond delay="0"/>
                                  </p:stCondLst>
                                  <p:childTnLst>
                                    <p:set>
                                      <p:cBhvr>
                                        <p:cTn id="364" dur="1" fill="hold">
                                          <p:stCondLst>
                                            <p:cond delay="0"/>
                                          </p:stCondLst>
                                        </p:cTn>
                                        <p:tgtEl>
                                          <p:spTgt spid="92"/>
                                        </p:tgtEl>
                                        <p:attrNameLst>
                                          <p:attrName>style.visibility</p:attrName>
                                        </p:attrNameLst>
                                      </p:cBhvr>
                                      <p:to>
                                        <p:strVal val="visible"/>
                                      </p:to>
                                    </p:set>
                                    <p:animEffect transition="in" filter="fade">
                                      <p:cBhvr>
                                        <p:cTn id="365" dur="550"/>
                                        <p:tgtEl>
                                          <p:spTgt spid="92"/>
                                        </p:tgtEl>
                                      </p:cBhvr>
                                    </p:animEffect>
                                    <p:anim calcmode="lin" valueType="num">
                                      <p:cBhvr additive="base">
                                        <p:cTn id="366" dur="550" fill="hold"/>
                                        <p:tgtEl>
                                          <p:spTgt spid="92"/>
                                        </p:tgtEl>
                                        <p:attrNameLst>
                                          <p:attrName>ppt_x</p:attrName>
                                        </p:attrNameLst>
                                      </p:cBhvr>
                                      <p:tavLst>
                                        <p:tav tm="0">
                                          <p:val>
                                            <p:strVal val="#ppt_x"/>
                                          </p:val>
                                        </p:tav>
                                        <p:tav tm="100000">
                                          <p:val>
                                            <p:strVal val="#ppt_x"/>
                                          </p:val>
                                        </p:tav>
                                      </p:tavLst>
                                    </p:anim>
                                    <p:anim calcmode="lin" valueType="num">
                                      <p:cBhvr additive="base">
                                        <p:cTn id="367" dur="550" fill="hold"/>
                                        <p:tgtEl>
                                          <p:spTgt spid="92"/>
                                        </p:tgtEl>
                                        <p:attrNameLst>
                                          <p:attrName>ppt_y</p:attrName>
                                        </p:attrNameLst>
                                      </p:cBhvr>
                                      <p:tavLst>
                                        <p:tav tm="0">
                                          <p:val>
                                            <p:strVal val="#ppt_y+.08"/>
                                          </p:val>
                                        </p:tav>
                                        <p:tav tm="100000">
                                          <p:val>
                                            <p:strVal val="#ppt_y"/>
                                          </p:val>
                                        </p:tav>
                                      </p:tavLst>
                                    </p:anim>
                                  </p:childTnLst>
                                </p:cTn>
                              </p:par>
                            </p:childTnLst>
                          </p:cTn>
                        </p:par>
                        <p:par>
                          <p:cTn id="368" fill="hold">
                            <p:stCondLst>
                              <p:cond delay="650"/>
                            </p:stCondLst>
                            <p:childTnLst>
                              <p:par>
                                <p:cTn id="369" presetID="10" presetClass="entr" presetSubtype="0" fill="hold" grpId="0" nodeType="afterEffect">
                                  <p:stCondLst>
                                    <p:cond delay="0"/>
                                  </p:stCondLst>
                                  <p:childTnLst>
                                    <p:set>
                                      <p:cBhvr>
                                        <p:cTn id="370" dur="1" fill="hold">
                                          <p:stCondLst>
                                            <p:cond delay="0"/>
                                          </p:stCondLst>
                                        </p:cTn>
                                        <p:tgtEl>
                                          <p:spTgt spid="93"/>
                                        </p:tgtEl>
                                        <p:attrNameLst>
                                          <p:attrName>style.visibility</p:attrName>
                                        </p:attrNameLst>
                                      </p:cBhvr>
                                      <p:to>
                                        <p:strVal val="visible"/>
                                      </p:to>
                                    </p:set>
                                    <p:animEffect transition="in" filter="fade">
                                      <p:cBhvr>
                                        <p:cTn id="371" dur="550"/>
                                        <p:tgtEl>
                                          <p:spTgt spid="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
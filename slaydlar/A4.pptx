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Mashg'ulotning maqsadi — optimallashtirilgan sun'iy intellekt modelini real xizmat ko'rinishida ikki xil muhitga joylashtirish (deployment) ko'nikmasini shakllantirish: bulutli (cloud) muhitda Docker konteyneri va Kubernetes orkestratsiyasi orqali masshtablanadigan inferens xizmati sifatida, chekka (edge) muhitda esa NVIDIA Jetson yoki Google Coral Edge TPU qurilmasida mahalliy inferens sifatida; so'ngra ikki arxitekturani kechikish, o'tkazuvchanlik, narx, energiya, ishonchlilik va maxfiylik bo'yicha qiyosiy tahlil qilish.</a:t>
            </a:r>
          </a:p>
          <a:p/>
          <a:p>
            <a:r>
              <a:t>Mashg'ulot yakunida talaba:</a:t>
            </a:r>
          </a:p>
          <a:p/>
          <a:p>
            <a:r>
              <a:t>Inferens modelini FastAPI asosida HTTP xizmatiga o'rab, ko'p bosqichli (multi-stage) Dockerfile yozadi va konteyner hajmi, ishga tushish vaqti va resurs cheklovlarini boshqaradi;</a:t>
            </a:r>
          </a:p>
          <a:p/>
          <a:p>
            <a:r>
              <a:t>Kubernetes'da Deployment, Service, HorizontalPodAutoscaler va resurs so'rovlari (requests/limits) manifestlarini yozib, xizmatni minikube yoki k3s klasterida ishga tushiradi, yuklama ostida avtomatik masshtablashni kuzatadi;</a:t>
            </a:r>
          </a:p>
          <a:p/>
          <a:p>
            <a:r>
              <a:t>Jetson qurilmasida TensorRT dvigatelini yoki Coral Edge TPU'da TFLite modelini ishga tushirib, chekka inferensning latency va quvvatini o'lchaydi;</a:t>
            </a:r>
          </a:p>
          <a:p/>
          <a:p>
            <a:r>
              <a:t>Cloud va Edge arxitekturalarini miqdoriy mezonlar (uchdan-uchga kechikish, tarmoq trafigi, 3 yillik TCO, Vt/inferens, maxfiylik, oflayn ishlash) bo'yicha solishtirib, gibrid arxitektura uchun asoslangan taklif beradi;</a:t>
            </a:r>
          </a:p>
          <a:p/>
          <a:p>
            <a:r>
              <a:t>Xizmatning kuzatiluvchanligini (observability) — Prometheus metrikalari, sog'liq tekshiruvi (health check), loglar — joylashtirishning ajralmas qismi sifatida tashkil etadi.</a:t>
            </a:r>
          </a:p>
          <a:p/>
          <a:p>
            <a:r>
              <a:t>Mavzu fanning TN4 (AI tizimlarini joylashtirish va ekspluatatsiya qilish), TN6 (Edge va Cloud infratuzilmasini loyihalash) hamda TN7 (muhandislik hujjatlari va himoya) ta'lim natijalariga xizmat qiladi; M6, M7 va M12 ma'ruzalarining amaliy davomi va sillabusdagi 4-mustaqil ta'lim topshirig'ining asosidir. A1 da tanlangan platforma va A3 da optimallashtirilgan model bu yerda yakuniy shaklga keladi.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Mashg'ulotning maqsadi — optimallashtirilgan sun'iy intellekt modelini real xizmat ko'rinishida ikki xil muhitga joylashtirish (deployment) ko'nikmasini shakllantirish: bulutli (cloud) muhitda Docker konteyneri va Kubernetes orkestratsiyasi orqali masshtablanadigan inferens xizmati sifatida, chekka (edge) muhitda esa NVIDIA Jetson yoki Google Coral Edge TPU qurilmasida mahalliy inferens sifatida; so'ngra ikki arxitekturani kechikish, o'tkazuvchanlik, narx, energiya, ishonchlilik va maxfiylik bo'yicha qiyosiy tahlil qilish.</a:t>
            </a:r>
          </a:p>
          <a:p/>
          <a:p>
            <a:r>
              <a:t>Mashg'ulot yakunida talaba:</a:t>
            </a:r>
          </a:p>
          <a:p/>
          <a:p>
            <a:r>
              <a:t>Inferens modelini FastAPI asosida HTTP xizmatiga o'rab, ko'p bosqichli (multi-stage) Dockerfile yozadi va konteyner hajmi, ishga tushish vaqti va resurs cheklovlarini boshqaradi;</a:t>
            </a:r>
          </a:p>
          <a:p/>
          <a:p>
            <a:r>
              <a:t>Kubernetes'da Deployment, Service, HorizontalPodAutoscaler va resurs so'rovlari (requests/limits) manifestlarini yozib, xizmatni minikube yoki k3s klasterida ishga tushiradi, yuklama ostida avtomatik masshtablashni kuzatadi;</a:t>
            </a:r>
          </a:p>
          <a:p/>
          <a:p>
            <a:r>
              <a:t>Jetson qurilmasida TensorRT dvigatelini yoki Coral Edge TPU'da TFLite modelini ishga tushirib, chekka inferensning latency va quvvatini o'lchaydi;</a:t>
            </a:r>
          </a:p>
          <a:p/>
          <a:p>
            <a:r>
              <a:t>Cloud va Edge arxitekturalarini miqdoriy mezonlar (uchdan-uchga kechikish, tarmoq trafigi, 3 yillik TCO, Vt/inferens, maxfiylik, oflayn ishlash) bo'yicha solishtirib, gibrid arxitektura uchun asoslangan taklif beradi;</a:t>
            </a:r>
          </a:p>
          <a:p/>
          <a:p>
            <a:r>
              <a:t>Xizmatning kuzatiluvchanligini (observability) — Prometheus metrikalari, sog'liq tekshiruvi (health check), loglar — joylashtirishning ajralmas qismi sifatida tashkil etadi.</a:t>
            </a:r>
          </a:p>
          <a:p/>
          <a:p>
            <a:r>
              <a:t>Mavzu fanning TN4 (AI tizimlarini joylashtirish va ekspluatatsiya qilish), TN6 (Edge va Cloud infratuzilmasini loyihalash) hamda TN7 (muhandislik hujjatlari va himoya) ta'lim natijalariga xizmat qiladi; M6, M7 va M12 ma'ruzalarining amaliy davomi va sillabusdagi 4-mustaqil ta'lim topshirig'ining asosidir. A1 da tanlangan platforma va A3 da optimallashtirilgan model bu yerda yakuniy shaklga keladi.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qanchalik tez va aniq bo'lmasin, foydalanuvchi uchun u faqat xizmat sifatida mavjud bo'lganda qiymatga ega. Joylashtirish bosqichi ko'pincha e'tibordan chetda qoladi, holbuki sanoatda muammolarning katta qismi aynan shu yerda yuzaga keladi: «mening kompyuterimda ishlagan edi» sindromi (kutubxona versiyalari nomuvofiqligi), bitta nusxa (instance) yuklama ostida yiqilishi, GPU xotirasi tugashi, yangilanishda xizmat to'xtashi, chekka qurilmada internet uzilganda tizim ishdan chiqishi. Konteynerlashtirish va orkestratsiya aynan shu muammolarni tizimli hal qilish uchun yaratilgan.</a:t>
            </a:r>
          </a:p>
          <a:p/>
          <a:p>
            <a:r>
              <a:t>Docker konteyneri — ilova va uning barcha bog'liqliklarini (kutubxonalar, CUDA runtime, model fayli) bitta ko'chma tasvirga (image) joylash; xost yadrosi (kernel) umumiy, lekin fayl tizimi, jarayonlar va tarmoq izolyatsiyalangan. Kubernetes (K8s) — konteynerlarni klaster bo'ylab boshqaruvchi tizim: nechta nusxa ishlashi, qaysi tugunda (node), qancha resurs bilan, nosozlikda nima bo'lishi, yuklama o'sganda qanday masshtablash — bularning barchasi deklarativ YAML manifestlarida yoziladi va K8s boshqaruvchisi (controller) haqiqiy holatni istalgan holatga keltirib turadi. NVIDIA device plugin orqali GPU'lar ham K8s resursi sifatida (nvidia.com/gpu: 1) ajratiladi.</a:t>
            </a:r>
          </a:p>
          <a:p/>
          <a:p>
            <a:r>
              <a:t>Chekka hisoblash (Edge AI) boshqa falsafa: ma'lumot paydo bo'lgan joyda — kamera, stanok, avtomobil, tibbiy qurilma yonida — qayta ishlanadi. Afzalliklari: millisekundli kechikish (tarmoqqa bog'liq emas), tarmoq trafigini tejash (16 kamera 64 Mbit/s uzluksiz oqim o'rniga faqat hodisalar), maxfiylik (video binodan chiqmaydi), oflayn ishlash. Kamchiliklari: cheklangan hisoblash va xotira, yangilash va monitoring murakkabligi, fizik xavfsizlik, minglab qurilmani boshqarish. Real tizimlar ko'pincha gibrid: chekkada tezkor birlamchi inferens, bulutda og'ir model, qayta o'qitish, tahlil va boshqaruv. Mashg'ulotda biz ikkala tomonni qurib, keyin ularni A1 dagi shaxsiy himoya vositalari (SHV) aniqlash ssenariysi uchun solishtiramiz.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xizmatining Docker tasviri odatiy veb-ilovadan farq qiladi: CUDA kutubxonalari (1–3 GB), PyTorch (2 GB dan ortiq), model fayli (yuzlab MB). Shu sababli bir necha amaliy qoida mavjud. Ko'p bosqichli qurish (multi-stage build): birinchi bosqichda kompilyatsiya va bog'liqliklar o'rnatiladi, ikkinchisiga faqat kerakli fayllar ko'chiriladi — yakuniy tasvir 2–5 baravar kichrayadi. Asos tasvirni to'g'ri tanlash: nvidia/cuda:12.x-runtime (devel emas — kompilyator keraksiz), yoki nvcr.io/nvidia/tensorrt, yoki CPU uchun python:3.11-slim. Qatlamlar tartibi: kam o'zgaradigan qatlamlar (OS paketlari, kutubxonalar) avval, tez o'zgaradigan (ilova kodi) oxirida — kesh qayta ishlatiladi. Model faylini tasvirga emas, hajm (volume) yoki ob'ekt omboridan (S3/MinIO) ishga tushishda yuklash — tasvir model versiyasidan mustaqil bo'ladi. Konteyner ildiz foydalanuvchi (root) sifatida emas, cheklangan foydalanuvchi bilan ishlashi — xavfsizlik talabi. GPU kirish uchun NVIDIA Container Toolkit o'rnatiladi va konteyner --gpus all bilan ishga tushiriladi.</a:t>
            </a:r>
          </a:p>
          <a:p/>
          <a:p>
            <a:r>
              <a:t>ONNX Runtime CPU asosidagi xizmat tasviri odatda 400–600 MB, TensorRT GPU tasviri 3–6 GB bo'ladi; ishga tushish vaqti (model yuklanishi bilan) mos ravishda 2–5 soniya va 10–40 soniya (TensorRT dvigatelini deserializatsiya qilish yoki qurish). Bu raqamlar K8s'da sog'liq tekshiruvi (readiness probe) muddatini va avtomatik masshtablash reaktsiya vaqtini belgilaydi.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probe (xizmat so'rov qabul qilishga tayyormi) va liveness probe (jarayon tirikmi) AI xizmatida farq qiladi: model yuklanayotgan 30 soniya davomida Pod tirik, lekin tayyor emas — trafik unga yuborilmasligi kerak. GPU Pod'lar uchun limits majburiy va bo'lingan (fractional) GPU standart K8s'da yo'q — bitta Pod bitta GPU; bo'lish uchun NVIDIA MPS, time-slicing yoki MIG (A100/H100) ishlatiladi. Avtomatik masshtablash GPU xizmatlari uchun CPU foizi emas, balki navbat uzunligi yoki so'rov/s bo'yicha (Prometheus Adapter yoki KEDA orqali) sozlanadi, chunki GPU xizmatining CPU yuklamasi kam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Jetson — ARM CPU + Ampere GPU (Orin avlodi) + apparat video kodek + umumiy LPDDR5 xotira bir chipda (SoC). JetPack dasturiy to'plami Ubuntu, CUDA, cuDNN, TensorRT, DeepStream va konteyner qo'llab-quvvatlashini (NVIDIA Container Runtime, l4t asos tasvirlar) o'z ichiga oladi. Quvvat rejimlari nvpmodel bilan boshqariladi (Orin NX: 10, 15, 25 Vt), jetson_clocks chastotani maksimumga qotiradi, tegrastats GPU/CPU yuklama, harorat va quvvatni ko'rsatadi. Jetson'da TensorRT dvigateli aynan shu qurilmada quriladi (A3 dagi qoida), FP16 va INT8 Tensor Core'larda ishlaydi; DLA (Deep Learning Accelerator) bloklari ba'zi qatlamlarni GPU'dan ham tejamkor bajaradi.</a:t>
            </a:r>
          </a:p>
          <a:p/>
          <a:p>
            <a:r>
              <a:t>Google Coral Edge TPU — 4 TOPS INT8 ASIC, ~2 Vt, USB yoki M.2/PCIe modul, shuningdek Dev Board. Faqat to'liq INT8 kvantlangan TensorFlow Lite modeli, Edge TPU kompilyatori (edgetpu_compiler) orqali kompilyatsiya qilingan holda ishlaydi; qo'llab-quvvatlanmagan operatorlar CPU'da bajariladi (kompilyator buni hisobotda ko'rsatadi). 8 MB on-chip xotiraga sig'adigan modellar (MobileNet, EfficientDet-Lite, kichik YOLO variantlari) 5–15 ms da ishlaydi; kattaroq modellarda vaznlar USB orqali oqimlanadi va tezlik bir necha baravar tushadi.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Uchdan-uchga kechikish: Edge'da tarmoq ishtirok etmaydi — 10–50 ms; Cloud'da mintaqaviy ma'lumotlar markazigacha 20–80 ms RTT (O'zbekistondan eng yaqin yirik bulut mintaqalari — Frankfurt, Mumbai, Singapur — 80–150 ms) plus navbat va inferens. Tarmoq trafigi: Edge faqat hodisalar va metrikalarni yuboradi (kB/s), Cloud xom oqimni talab qiladi (Mbit/s). TCO: Cloud — operatsion xarajat (GPU soati 0,5–4 AQSh dollari T4/A10/A100 uchun, mintaqaga qarab), Edge — kapital xarajat (qurilma 300–2000 dollar) plus texnik xizmat. Energiya: Edge inferens boshiga 10–50 mJ, Cloud'da tezlatkichning o'zi samaraliroq bo'lishi mumkin, lekin ma'lumotlar markazi PUE (1,1–1,5) va tarmoq uzatish energiyasi qo'shiladi. Ishonchlilik: Cloud — 99,9 % va undan yuqori SLA, lekin internetga bog'liq; Edge — mahalliy avtonomiya, lekin qurilma nosozligini masofadan tuzatish qiyin. Maxfiylik va me'yoriy talablar: shaxsiy ma'lumot (yuz, tibbiy tasvir) binoni tark etmasligi ko'p hollarda qonuniy talab. Yangilash va boshqaruv: Cloud'da bir marta, Edge'da minglab qurilmaga — OTA (over-the-air) va flot boshqaruvi kerak.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Xizmatga kamida to'rtta signal kiritiladi: so'rovlar soni (sekundiga), xatolar ulushi, kechikish gistogrammasi (p50/p95/p99 hisoblash uchun) va resurs ko'rsatkichlari (GPU bandligi, xotira, harorat). Prometheus format standart; FastAPI uchun prometheus-fastapi-instrumentator yoki prometheus_client. Loglar strukturali (JSON) bo'lib, so'rov identifikatori bilan bog'lanadi. Bu ma'lumotlar M12 dagi MLOps jarayonlari — drift aniqlash, modelni avtomatik qayta joylash — uchun asos bo'ladi.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Laboratoriya topshirig'i: «ResNet-50/YOLOv8 inferens xizmatini Docker + Kubernetes'da bulutli uslubda va Jetson/Edge TPU'da chekka uslubda joylashtirish, ikki arxitekturani taqqoslash».</a:t>
            </a:r>
          </a:p>
          <a:p/>
          <a:p>
            <a:r>
              <a:t>Talab qilinadigan muhit. Bulut qismi: Linux ish stantsiyasi yoki virtual mashina (kamida 4 vCPU, 8 GB RAM, 30 GB disk); Docker Engine 24 yoki yuqori; kubectl 1.28+; minikube 1.32+ (yoki k3s 1.28+ — Jetson'da ham ishlaydi); GPU bo'lsa — NVIDIA drayver 535+, NVIDIA Container Toolkit, minikube --driver=docker --gpus=all yoki k3s + NVIDIA device plugin. Python 3.11, fastapi, uvicorn, onnxruntime (yoki onnxruntime-gpu), numpy, pillow, prometheus-fastapi-instrumentator; yuklama generatori hey yoki locust. Chekka qismi: NVIDIA Jetson Orin Nano/NX (JetPack 6.x, TensorRT 8.6/10) yoki Coral USB Accelerator + Raspberry Pi 4/5 (yoki x86 noutbuk) libedgetpu, pycoral yoki tflite-runtime bilan. Modellar: A3 dan resnet50_fp32.onnx va resnet50_int8.onnx; Coral uchun rasmiy kvantlangan MobileNetV2 yoki EfficientNet-Lite TFLite modeli (Coral model bog'idan). Vaqt: 2 akademik soat auditoriyada (Docker + minikube), Jetson/Coral qismi laboratoriya qurilmalarida navbat bilan yoki uyda.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Nima bo'ldi va nega. Xizmat 12 omilli ilova (twelve-factor app) tamoyiliga ko'ra barcha sozlamalarni muhit o'zgaruvchilaridan oladi — bitta tasvir CPU va GPU uchun ishlatiladi. /healthz va /readyz ajratilgan: model yuklanayotganda Pod o'ldirilmasligi, lekin trafik ham olmasligi kerak. Isinish startup'da bajariladi — birinchi foydalanuvchi so'rovi sekin bo'lmaydi. Vaqt o'lchovi javobda qaytariladi — kechikish qayerda ekanini (oldindan ishlov yoki inferens) darhol ko'rish mumkin.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(4 vCPU noutbuk, INT8 model, --cpus=2, taxminiy): tasvir hajmi ~480 MB; ishga tushish 3–4 s; bitta so'rov — preprocess 4 ms + inferens 14 ms; hey 8 parallel mijoz bilan: ~95 so'rov/s, p50 80 ms, p95 130 ms (2 CPU'da navbat tufayli).</a:t>
            </a:r>
          </a:p>
          <a:p/>
          <a:p>
            <a:r>
              <a:t>Nima bo'ldi va nega. Ko'p bosqichli qurish pip keshini va qurish vositalarini yakuniy tasvirdan chiqarib tashladi. --cpus=2 --memory=1g K8s'dagi limits ning mahalliy ekvivalenti — xizmat shu cheklovda qanday ishlashini oldindan ko'ramiz: 2 CPU'da bitta uvicorn ishchisi 14 ms inferens bilan nazariy 70 so'rov/s beradi, paralel so'rovlar navbatda turadi — p95 oshadi. Bu HPA uchun chegara qiymatini tanlashga asos.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(taxminiy, 4 vCPU minikube): yuklama boshlanganidan 45–60 s o'tib HPA nusxalar sonini 2 → 4 ga oshiradi (CPU 60 % chegarasi oshganda; kubectl top pods har Pod'da 1400–1900m ko'rsatadi); throughput 2 nusxada ~140 so'rov/s dan 4 nusxada ~250 so'rov/s ga (klaster 4 vCPU bilan cheklangani uchun chiziqli emas); p95 kechikish 280 ms dan 150 ms ga tushadi; yuklama tugagach 3 daqiqadan keyin 2 ga qaytadi. rollout davomida maxUnavailable: 0 tufayli xizmat to'xtamaydi — hey xatolar soni 0.</a:t>
            </a:r>
          </a:p>
          <a:p/>
          <a:p>
            <a:r>
              <a:t>Nima bo'ldi va nega. Deklarativ manifest «istalgan holat»ni tavsifladi, K8s boshqaruvchisi uni ta'minladi: Pod yiqilsa qayta yaratadi, yuklama o'ssa nusxa qo'shadi, yangilash paytida eski nusxani yangisi tayyor bo'lgandagina to'xtatadi. Readiness probe'siz yangi Pod model yuklanmasdan trafik olib, 503 xatolar bergan bo'lardi. requests HPA hisobi uchun asos (foiz requests ga nisbatan), limits esa bitta Pod butun tugunni egallab olmasligi uchun. GPU variantida HPA CPU bo'yicha ishlamaydi — talaba qo'shimcha topshiriqda KEDA yoki Prometheus Adapter orqali http_requests_total tezligi bo'yicha masshtablashni sozlaydi.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(Jetson Orin NX 16 GB, 25 Vt rejimi, batch 1, taxminiy):</a:t>
            </a:r>
          </a:p>
          <a:p/>
          <a:p>
            <a:r>
              <a:t>Nima bo'ldi va nega. Jetson'da INT8 dvigatel T4 ga nisbatan (A3: 3,1 ms batch 8 → 0,4 ms/rasm) batch 1 da 2,6 ms — chekka qurilma uchun juda yaxshi, lekin throughput'da T4 dan 7 baravar past. Energiya: 39 mJ/rasm — T4 ning 27 mJ/rasm ko'rsatkichiga yaqin, bo'sh quvvat esa 5,5 Vt (T4: 25 Vt) — kam yuklamada Jetson ancha tejamkor. 10 Vt rejimida latency 2 baravar oshdi, lekin batareyali qurilma uchun bu kompromiss maqbul bo'lishi mumkin. Eng muhim kuzatuv oxirgi qatorda: HTTP xizmat orqali to'liq so'rov 19 ms — inferensning o'zi 2,6 ms, qolgani JPEG dekodlash, resize va Python xarajati ARM CPU'da. Chekka tizimda oldindan ishlovni GPU'ga (NVDEC + VPI/DALI) ko'chirish inferensni optimallashtirishdan muhimroq — A1 dagi quvur liniyasi tahlili shu yerda tasdiqlanadi.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Kutilgan natija (Coral USB Accelerator, USB 3.0, taxminiy): MobileNetV2 p50 ≈ 2,8 ms (USB 2.0 da ≈ 12 ms — interfeys tiqilib qoladi); quvvat ~1,5–2 Vt → ~5 mJ/rasm; ResNet-50 (kvantlangan, 25 MB vazn 8 MB SRAM'ga sig'maydi) ≈ 15–18 ms. Xost CPU (Raspberry Pi 4) da xuddi shu TFLite model 60–80 ms — Edge TPU 20–25 baravar tezlanish beradi.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ssenariysi (16 kamera, 160 inferens/s, 3 yil) uchun quyidagi jadvalni to'ldiring; raqamlar o'z o'lchovlaringiz va ochiq narxlardan olinadi (taxminiy namuna):</a:t>
            </a:r>
          </a:p>
          <a:p/>
          <a:p>
            <a:r>
              <a:t>Nima bo'ldi va nega. SHV ssenariysida Edge aniq ustun: kechikish 5 baravar kam, 3 yillik xarajat 20 baravar kam, video binoda qoladi. Cloud esa boshqa ssenariyda — masalan, 10 000 foydalanuvchiga mobil ilova orqali tasvir tasniflash xizmati — yagona oqilona yechim, chunki yuklama notekis va foydalanuvchilar geografik tarqalgan. Gibrid variant ko'p sanoat tizimlarida optimal: chekkada 95 % qarorlar, bulutda sifat nazorati, qayta o'qitish uchun ma'lumot yig'ish va markaziy monitoring. Jadval talabaga shuni ko'rsatadi: «Cloud yoki Edge» savolining javobi texnik emas, ssenariyga bog'liq.</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Hisobot (6–8 bet): (1) xizmat kodi tavsifi va API hujjati (FastAPI /docs ekran tasviri); (2) Dockerfile, tasvir hajmi, ishga tushish vaqti, mahalliy yuklama sinovi natijalari; (3) K8s manifestlari, kubectl get pods/hpa chiqishlari yuklama oldidan, davomida va keyin; HPA reaksiya vaqti grafigi; rollout davomida xatolar soni; (4) Jetson yoki Coral o'lchovlari jadvali — quvvat rejimlari bo'yicha, HTTP xizmat orqali to'liq kechikish taqsimoti; (5) Cloud/Edge/Gibrid taqqoslash jadvali o'z raqamlari va manbalari bilan; (6) tanlangan ssenariy uchun yakuniy arxitektura tavsiyasi va A1 dagi strukturaviy sxemaning yangilangan varianti; (7) xulosa.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Qo'shimcha 10 ball: GPU K8s (NVIDIA device plugin, nvidia.com/gpu limiti) va KEDA/Prometheus Adapter bilan so'rov/s bo'yicha masshtablash; yoki Jetson'da k3s agent sifatida ishlab, bitta kubectl bilan ham bulut, ham chekka Pod'larni boshqarish (nodeSelector kubernetes.io/arch=arm64); yoki DeepStream bilan NVDEC → TensorRT quvur liniyasini qurib, HTTP xizmatdagi 19 ms ni 5 ms gacha tushirish.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Mashg'ulot natijalari joylashtirish bosqichining uchta asosiy haqiqatini ko'rsatadi. Birinchi: inferensning o'zi butun kechikishning kichik qismi — Jetson'da 2,6 ms inferens, 19 ms to'liq so'rov; K8s'da 14 ms inferens, yuklama ostida 150–280 ms p95. Qolgan vaqt oldindan ishlov, seriyalash, navbat va tarmoqda. Shuning uchun ishlab chiqarish tizimini optimallashtirish modeldan emas, quvur liniyasini profillashdan boshlanadi. Ikkinchi: masshtablash reaktiv va kechikishli — HPA 45–60 soniyada javob beradi, GPU Pod esa TensorRT dvigatelini yuklash bilan 30–40 soniya ishga tushadi; demak, keskin yuklama o'sishiga tayyorlanish uchun zaxira nusxalar (minReplicas) yoki prognozli masshtablash kerak, bu esa narxni oshiradi — Cloud'ning «faqat ishlatganing uchun to'laysan» afzalligi qisman yo'qoladi. Uchinchi: Cloud va Edge qarori ko'p mezonli — bir ssenariyda 20 baravar farq beradigan TCO boshqasida teskari bo'lishi mumkin; muhandis har bir loyiha uchun jadvalni qaytadan to'ldirishi kerak.</a:t>
            </a:r>
          </a:p>
          <a:p/>
          <a:p>
            <a:r>
              <a:t>Cheklovlar. Minikube — bitta tugunli o'quv klasteri; real klasterda tugunlar orasidagi tarmoq, Pod'larni joylashtirish (scheduling), tugun nosozligi, saqlash tizimlari qo'shiladi. hostPath hajmi faqat o'quv maqsadida; ishlab chiqarishda model ombori (MLflow, S3) va init-konteyner ishlatiladi. Quvvat o'lchovlari tegrastats va nvidia-smi aniqligi (±5–10 %) bilan cheklangan; aniq energiya auditi uchun tashqi vattmetr kerak. Bulut narxlari mintaqa va vaqt bo'yicha o'zgaradi — hisobotda sana va manba ko'rsatilishi shart. Xavfsizlik (TLS, autentifikatsiya, tarmoq siyosatlari) mashg'ulotda qisqartirilgan — M9 va A6 da chuqurlashtiriladi.</a:t>
            </a:r>
          </a:p>
          <a:p/>
          <a:p>
            <a:r>
              <a:t>Muqobil yondashuvlar. Xizmat qatlami uchun FastAPI o'rniga ixtisoslashgan inferens serverlar: NVIDIA Triton Inference Server (dinamik paketlash, ko'p model, TensorRT/ONNX/PyTorch backendlar, Prometheus metrikalari tayyor), TorchServe, KServe (K8s'da serverless inferens, nolga qadar masshtablash), BentoML. Orkestratsiya uchun K8s o'rniga kichik tizimlarda Docker Compose yoki Nomad; chekka flotlar uchun k3s + Fleet, Balena, AWS IoT Greengrass, Azure IoT Edge. Chekka inferens dvigateli sifatida TensorRT o'rniga ONNX Runtime (ko'chma, biroz sekinroq), TFLite + XNNPACK (ARM CPU), Apache TVM (avtomatik yadro sozlash istalgan apparat uchun).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 to'liq o'rnatilgan 5 GB tasvir. Inferens uchun ONNX Runtime yoki TensorRT runtime yetarli; devel asos tasvir, pip keshi va o'qitish kutubxonalari olib tashlansa, tasvir 5–10 baravar kichrayadi, tortish va ishga tushish tezlashadi.</a:t>
            </a:r>
          </a:p>
          <a:p/>
          <a:p>
            <a:r>
              <a:t>Readiness probe'siz Deployment. Yangi Pod model yuklab bo'lmasdan trafik oladi — 503 xatolar; yoki aksincha, liveness probe muddati qisqa bo'lib, sekin yuklanayotgan GPU Pod'ni K8s cheksiz qayta ishga tushiradi (CrashLoopBackOff). initialDelaySeconds va failureThreshold ni haqiqiy ishga tushish vaqtidan kelib chiqib sozlang.</a:t>
            </a:r>
          </a:p>
          <a:p/>
          <a:p>
            <a:r>
              <a:t>Resurs so'rovlarini ko'rsatmaslik. requests siz HPA ishlamaydi, scheduler Pod'larni noto'g'ri taqsimlaydi; limits siz bitta xotira sizib chiquvchi Pod tugunni o'ldiradi. GPU Pod'da nvidia.com/gpu limiti majburiy.</a:t>
            </a:r>
          </a:p>
          <a:p/>
          <a:p>
            <a:r>
              <a:t>TensorRT dvigatelini tasvirga joylash. Dvigatel GPU modeli va TensorRT versiyasiga bog'liq; tasvirni boshqa tugunga ko'chirganda ishlamaydi. ONNX'ni joylang, dvigatelni ishga tushishda (yoki init-konteynerda, keshlab) quring.</a:t>
            </a:r>
          </a:p>
          <a:p/>
          <a:p>
            <a:r>
              <a:t>Konteynerni root sifatida ishga tushirish va --network host ni har joyda ishlatish. Xavfsizlik auditi birinchi bo'lib shuni topadi. USER, runAsNonRoot, kerak bo'lgan portlarni oching.</a:t>
            </a:r>
          </a:p>
          <a:p/>
          <a:p>
            <a:r>
              <a:t>Jetson'da quvvat rejimini tekshirmaslik. Standart rejim 15 Vt bo'lishi mumkin — natijalar 25 Vt rejimidan 1,5–2 baravar yomon chiqadi va «Jetson sekin» degan noto'g'ri xulosa paydo bo'ladi. Har o'lchovda nvpmodel -q chiqishini hisobotga kiriting; termal cheklovni tegrastats dagi haroratdan kuzating.</a:t>
            </a:r>
          </a:p>
          <a:p/>
          <a:p>
            <a:r>
              <a:t>Chekka qurilmada oldindan ishlovni CPU'da qoldirish. ARM CPU'da JPEG dekodlash va resize inferensdan 5–7 baravar uzoq. NVDEC, VPI, DALI yoki hech bo'lmaganda pillow-simd/turbojpeg ishlating.</a:t>
            </a:r>
          </a:p>
          <a:p/>
          <a:p>
            <a:r>
              <a:t>Edge TPU'ga kompilyatsiya qilinmagan yoki qisman kompilyatsiya qilingan model. Kompilyator hisobotida CPU'ga tushgan operatorlar bo'lsa, tezlik 10 baravar yomonlashadi. Model arxitekturasini qo'llab-quvvatlanadigan operatorlar bilan cheklang va to'liq INT8 kvantlang (kirish/chiqish ham).</a:t>
            </a:r>
          </a:p>
          <a:p/>
          <a:p>
            <a:r>
              <a:t>Cloud narxini faqat GPU soatidan hisoblash. Tarmoq chiqish trafigi (egress), yuk balanslagich, saqlash, loglar va monitoring xizmatlari jami narxning 20–40 foizini tashkil etishi mumkin. TCO'da barchasini ko'rsating.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PyTorch to'liq o'rnatilgan 5 GB tasvir. Inferens uchun ONNX Runtime yoki TensorRT runtime yetarli; devel asos tasvir, pip keshi va o'qitish kutubxonalari olib tashlansa, tasvir 5–10 baravar kichrayadi, tortish va ishga tushish tezlashadi.</a:t>
            </a:r>
          </a:p>
          <a:p/>
          <a:p>
            <a:r>
              <a:t>Readiness probe'siz Deployment. Yangi Pod model yuklab bo'lmasdan trafik oladi — 503 xatolar; yoki aksincha, liveness probe muddati qisqa bo'lib, sekin yuklanayotgan GPU Pod'ni K8s cheksiz qayta ishga tushiradi (CrashLoopBackOff). initialDelaySeconds va failureThreshold ni haqiqiy ishga tushish vaqtidan kelib chiqib sozlang.</a:t>
            </a:r>
          </a:p>
          <a:p/>
          <a:p>
            <a:r>
              <a:t>Resurs so'rovlarini ko'rsatmaslik. requests siz HPA ishlamaydi, scheduler Pod'larni noto'g'ri taqsimlaydi; limits siz bitta xotira sizib chiquvchi Pod tugunni o'ldiradi. GPU Pod'da nvidia.com/gpu limiti majburiy.</a:t>
            </a:r>
          </a:p>
          <a:p/>
          <a:p>
            <a:r>
              <a:t>TensorRT dvigatelini tasvirga joylash. Dvigatel GPU modeli va TensorRT versiyasiga bog'liq; tasvirni boshqa tugunga ko'chirganda ishlamaydi. ONNX'ni joylang, dvigatelni ishga tushishda (yoki init-konteynerda, keshlab) quring.</a:t>
            </a:r>
          </a:p>
          <a:p/>
          <a:p>
            <a:r>
              <a:t>Konteynerni root sifatida ishga tushirish va --network host ni har joyda ishlatish. Xavfsizlik auditi birinchi bo'lib shuni topadi. USER, runAsNonRoot, kerak bo'lgan portlarni oching.</a:t>
            </a:r>
          </a:p>
          <a:p/>
          <a:p>
            <a:r>
              <a:t>Jetson'da quvvat rejimini tekshirmaslik. Standart rejim 15 Vt bo'lishi mumkin — natijalar 25 Vt rejimidan 1,5–2 baravar yomon chiqadi va «Jetson sekin» degan noto'g'ri xulosa paydo bo'ladi. Har o'lchovda nvpmodel -q chiqishini hisobotga kiriting; termal cheklovni tegrastats dagi haroratdan kuzating.</a:t>
            </a:r>
          </a:p>
          <a:p/>
          <a:p>
            <a:r>
              <a:t>Chekka qurilmada oldindan ishlovni CPU'da qoldirish. ARM CPU'da JPEG dekodlash va resize inferensdan 5–7 baravar uzoq. NVDEC, VPI, DALI yoki hech bo'lmaganda pillow-simd/turbojpeg ishlating.</a:t>
            </a:r>
          </a:p>
          <a:p/>
          <a:p>
            <a:r>
              <a:t>Edge TPU'ga kompilyatsiya qilinmagan yoki qisman kompilyatsiya qilingan model. Kompilyator hisobotida CPU'ga tushgan operatorlar bo'lsa, tezlik 10 baravar yomonlashadi. Model arxitekturasini qo'llab-quvvatlanadigan operatorlar bilan cheklang va to'liq INT8 kvantlang (kirish/chiqish ham).</a:t>
            </a:r>
          </a:p>
          <a:p/>
          <a:p>
            <a:r>
              <a:t>Cloud narxini faqat GPU soatidan hisoblash. Tarmoq chiqish trafigi (egress), yuk balanslagich, saqlash, loglar va monitoring xizmatlari jami narxning 20–40 foizini tashkil etishi mumkin. TCO'da barchasini ko'rsating.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va liveness probe'larning farqi AI xizmatida nima uchun oddiy veb-ilovadagidan muhimroq? Ikkalasini bitta /healthz ga birlashtirsak qanday nosozlik ssenariysi yuzaga keladi?</a:t>
            </a:r>
          </a:p>
          <a:p/>
          <a:p>
            <a:r>
              <a:t>HPA CPU foizi bo'yicha GPU xizmatini masshtablay olmaydi. Qaysi metrikani tanlagan bo'lardingiz va uni qanday yig'ib HPA'ga yetkazasiz? Metrika tanlovi navbat kechikishiga qanday ta'sir qiladi?</a:t>
            </a:r>
          </a:p>
          <a:p/>
          <a:p>
            <a:r>
              <a:t>Jetson'da inferens 2,6 ms, HTTP so'rov 19 ms. Qolgan 16 ms ni tarkibiy qismlarga ajrating va har biri uchun optimallashtirish usulini taklif qiling. Qaysi biri eng katta samara beradi?</a:t>
            </a:r>
          </a:p>
          <a:p/>
          <a:p>
            <a:r>
              <a:t>3 yillik TCO jadvalida Edge 20 baravar arzon chiqdi. Qaysi yashirin xarajatlar (texnik xizmat, yangilash, zaxira qurilma, muhandis vaqti) bu farqni kamaytiradi va qachon Cloud arzonroq bo'ladi?</a:t>
            </a:r>
          </a:p>
          <a:p/>
          <a:p>
            <a:r>
              <a:t>Rolling update maxUnavailable: 0, maxSurge: 1 bilan xatosiz o'tdi. GPU'lar soni cheklangan klasterda (har Pod'ga 1 GPU, jami 2 GPU) bu strategiya ishlaydimi? Qanday muqobil bor?</a:t>
            </a:r>
          </a:p>
          <a:p/>
          <a:p>
            <a:r>
              <a:t>Gibrid arxitekturada «shubhali kadr» mezoni qanday belgilanadi (ishonch chegarasi, sinflar, vaqt)? Mezon noto'g'ri bo'lsa, tarmoq trafigi va bulut xarajati qanday o'zgaradi?</a:t>
            </a:r>
          </a:p>
          <a:p/>
          <a:p>
            <a:r>
              <a:t>Minglab Jetson qurilmasini boshqarish uchun k3s + Fleet, Balena yoki o'z OTA mexanizmi — qaysi birini tanlaysiz va nima uchun? Qurilma internetga haftada bir marta ulansa, qanday muammolar paydo bo'ladi?</a:t>
            </a:r>
          </a:p>
          <a:p/>
          <a:p>
            <a:r>
              <a:t>Edge TPU faqat INT8 ni qo'llab-quvvatlaydi va 8 MB SRAM'ga ega. Bu cheklovlar model arxitekturasini tanlashga qanday ta'sir qiladi? ResNet-50 o'rniga qaysi arxitekturalar mos va nima uchun?</a:t>
            </a:r>
          </a:p>
          <a:p/>
          <a:p>
            <a:r>
              <a:t>Bo'sh holat quvvati (Jetson 5,5 Vt, T4 25 Vt) energiya samaradorligini baholashda qachon hal qiluvchi bo'ladi? Yuklama 10 % vaqt mavjud bo'lsa, inferens boshiga energiyani qayta hisoblang.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va liveness probe'larning farqi AI xizmatida nima uchun oddiy veb-ilovadagidan muhimroq? Ikkalasini bitta /healthz ga birlashtirsak qanday nosozlik ssenariysi yuzaga keladi?</a:t>
            </a:r>
          </a:p>
          <a:p/>
          <a:p>
            <a:r>
              <a:t>HPA CPU foizi bo'yicha GPU xizmatini masshtablay olmaydi. Qaysi metrikani tanlagan bo'lardingiz va uni qanday yig'ib HPA'ga yetkazasiz? Metrika tanlovi navbat kechikishiga qanday ta'sir qiladi?</a:t>
            </a:r>
          </a:p>
          <a:p/>
          <a:p>
            <a:r>
              <a:t>Jetson'da inferens 2,6 ms, HTTP so'rov 19 ms. Qolgan 16 ms ni tarkibiy qismlarga ajrating va har biri uchun optimallashtirish usulini taklif qiling. Qaysi biri eng katta samara beradi?</a:t>
            </a:r>
          </a:p>
          <a:p/>
          <a:p>
            <a:r>
              <a:t>3 yillik TCO jadvalida Edge 20 baravar arzon chiqdi. Qaysi yashirin xarajatlar (texnik xizmat, yangilash, zaxira qurilma, muhandis vaqti) bu farqni kamaytiradi va qachon Cloud arzonroq bo'ladi?</a:t>
            </a:r>
          </a:p>
          <a:p/>
          <a:p>
            <a:r>
              <a:t>Rolling update maxUnavailable: 0, maxSurge: 1 bilan xatosiz o'tdi. GPU'lar soni cheklangan klasterda (har Pod'ga 1 GPU, jami 2 GPU) bu strategiya ishlaydimi? Qanday muqobil bor?</a:t>
            </a:r>
          </a:p>
          <a:p/>
          <a:p>
            <a:r>
              <a:t>Gibrid arxitekturada «shubhali kadr» mezoni qanday belgilanadi (ishonch chegarasi, sinflar, vaqt)? Mezon noto'g'ri bo'lsa, tarmoq trafigi va bulut xarajati qanday o'zgaradi?</a:t>
            </a:r>
          </a:p>
          <a:p/>
          <a:p>
            <a:r>
              <a:t>Minglab Jetson qurilmasini boshqarish uchun k3s + Fleet, Balena yoki o'z OTA mexanizmi — qaysi birini tanlaysiz va nima uchun? Qurilma internetga haftada bir marta ulansa, qanday muammolar paydo bo'ladi?</a:t>
            </a:r>
          </a:p>
          <a:p/>
          <a:p>
            <a:r>
              <a:t>Edge TPU faqat INT8 ni qo'llab-quvvatlaydi va 8 MB SRAM'ga ega. Bu cheklovlar model arxitekturasini tanlashga qanday ta'sir qiladi? ResNet-50 o'rniga qaysi arxitekturalar mos va nima uchun?</a:t>
            </a:r>
          </a:p>
          <a:p/>
          <a:p>
            <a:r>
              <a:t>Bo'sh holat quvvati (Jetson 5,5 Vt, T4 25 Vt) energiya samaradorligini baholashda qachon hal qiluvchi bo'ladi? Yuklama 10 % vaqt mavjud bo'lsa, inferens boshiga energiyani qayta hisoblang.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1-topshiriq (sillabusdagi 4-mustaqil ta'lim topshirig'i). O'zingiz tanlagan modelni (A3 dagi optimallashtirilgan versiyasi) to'liq xizmat sifatida loyihalang va joylashtiring: FastAPI yoki Triton xizmati, ko'p bosqichli Dockerfile, K8s manifestlari (Deployment, Service, HPA, ConfigMap, Ingress), Prometheus + Grafana monitoring paneli (so'rov/s, p95, xatolar, GPU/CPU), yuklama sinovi (locust) natijalari va bitta nosozlik ssenariysi (Pod o'ldirish, tugun to'xtatish) ostida xizmat xatti-harakati. Hisobot 8–10 bet + repozitoriy. Baholash: ishlaydigan joylashtirish (30 %), monitoring va nosozlikka bardoshlilik (25 %), yuklama sinovi va tahlil (25 %), hujjatlar sifati (20 %).</a:t>
            </a:r>
          </a:p>
          <a:p/>
          <a:p>
            <a:r>
              <a:t>2-topshiriq. A1 da loyihalagan tizimingiz uchun Cloud, Edge va Gibrid arxitekturalarining batafsil texnik-iqtisodiy taqqoslashini tayyorlang: kechikish byudjeti (A1), o'lchangan inferens ko'rsatkichlari (A3, A4), ochiq bulut narxlari (sana va manba bilan), qurilma narxlari, energiya tariflari, texnik xizmat baholari; 1, 3 va 5 yillik TCO; sezgirlik tahlili (kameralar soni 2 baravar oshsa, bulut narxi 30 % tushsa). Yakuniy tavsiya va yangilangan strukturaviy sxema. Hajm 5–6 bet. Baholash: raqamlarning asoslanganligi va manbalar (40 %), sezgirlik tahlili (30 %), tavsiya va sxema (30 %).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topshiriqlar virtual laboratoriyada bajariladi (sayt ichidagi CPU sandbox: 2 yadro, 1,5 GB, tarmoq yo'q, 90 s) — laboratoriya bosqichlari kodini o'zgartirib bajariladi, har birining to'liq matni virtual laboratoriya sahifasida. Jami 100 ball: 3 oson (5 ball), 4 o'rta (10 ball), 3 qiyin (15 ball).</a:t>
            </a:r>
          </a:p>
          <a:p/>
          <a:p>
            <a:r>
              <a:t>Probe'lar ssenariysi — oson, 5 ball.</a:t>
            </a:r>
          </a:p>
          <a:p/>
          <a:p>
            <a:r>
              <a:t>Dockerfile qoidalarini kengaytirish — oson, 5 ball.</a:t>
            </a:r>
          </a:p>
          <a:p/>
          <a:p>
            <a:r>
              <a:t>TCO parametrlarini yangilash — oson, 5 ball.</a:t>
            </a:r>
          </a:p>
          <a:p/>
          <a:p>
            <a:r>
              <a:t>Kechikish byudjeti dekompozitsiyasi — o'rta, 10 ball.</a:t>
            </a:r>
          </a:p>
          <a:p/>
          <a:p>
            <a:r>
              <a:t>Manifest validatori kengaytmasi — o'rta, 10 ball.</a:t>
            </a:r>
          </a:p>
          <a:p/>
          <a:p>
            <a:r>
              <a:t>KEDA uslubida so'rov/s bo'yicha masshtablash — o'rta, 10 ball.</a:t>
            </a:r>
          </a:p>
          <a:p/>
          <a:p>
            <a:r>
              <a:t>Rolling update simulyatsiyasi — o'rta, 10 ball.</a:t>
            </a:r>
          </a:p>
          <a:p/>
          <a:p>
            <a:r>
              <a:t>Chekka qurilma simulyatori va gibrid mezon — qiyin, 15 ball.</a:t>
            </a:r>
          </a:p>
          <a:p/>
          <a:p>
            <a:r>
              <a:t>Xizmatga nosozlik kiritish (chaos) sinovi — qiyin, 15 ball.</a:t>
            </a:r>
          </a:p>
          <a:p/>
          <a:p>
            <a:r>
              <a:t>To'liq joylashtirish hisoboti o'z ssenariyingiz uchun — qiyin, 15 ball.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topshiriqlar virtual laboratoriyada bajariladi (sayt ichidagi CPU sandbox: 2 yadro, 1,5 GB, tarmoq yo'q, 90 s) — laboratoriya bosqichlari kodini o'zgartirib bajariladi, har birining to'liq matni virtual laboratoriya sahifasida. Jami 100 ball: 3 oson (5 ball), 4 o'rta (10 ball), 3 qiyin (15 ball).</a:t>
            </a:r>
          </a:p>
          <a:p/>
          <a:p>
            <a:r>
              <a:t>Probe'lar ssenariysi — oson, 5 ball.</a:t>
            </a:r>
          </a:p>
          <a:p/>
          <a:p>
            <a:r>
              <a:t>Dockerfile qoidalarini kengaytirish — oson, 5 ball.</a:t>
            </a:r>
          </a:p>
          <a:p/>
          <a:p>
            <a:r>
              <a:t>TCO parametrlarini yangilash — oson, 5 ball.</a:t>
            </a:r>
          </a:p>
          <a:p/>
          <a:p>
            <a:r>
              <a:t>Kechikish byudjeti dekompozitsiyasi — o'rta, 10 ball.</a:t>
            </a:r>
          </a:p>
          <a:p/>
          <a:p>
            <a:r>
              <a:t>Manifest validatori kengaytmasi — o'rta, 10 ball.</a:t>
            </a:r>
          </a:p>
          <a:p/>
          <a:p>
            <a:r>
              <a:t>KEDA uslubida so'rov/s bo'yicha masshtablash — o'rta, 10 ball.</a:t>
            </a:r>
          </a:p>
          <a:p/>
          <a:p>
            <a:r>
              <a:t>Rolling update simulyatsiyasi — o'rta, 10 ball.</a:t>
            </a:r>
          </a:p>
          <a:p/>
          <a:p>
            <a:r>
              <a:t>Chekka qurilma simulyatori va gibrid mezon — qiyin, 15 ball.</a:t>
            </a:r>
          </a:p>
          <a:p/>
          <a:p>
            <a:r>
              <a:t>Xizmatga nosozlik kiritish (chaos) sinovi — qiyin, 15 ball.</a:t>
            </a:r>
          </a:p>
          <a:p/>
          <a:p>
            <a:r>
              <a:t>To'liq joylashtirish hisoboti o'z ssenariyingiz uchun — qiyin, 15 ball.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Quyidagi topshiriqlar virtual laboratoriyada bajariladi (sayt ichidagi CPU sandbox: 2 yadro, 1,5 GB, tarmoq yo'q, 90 s) — laboratoriya bosqichlari kodini o'zgartirib bajariladi, har birining to'liq matni virtual laboratoriya sahifasida. Jami 100 ball: 3 oson (5 ball), 4 o'rta (10 ball), 3 qiyin (15 ball).</a:t>
            </a:r>
          </a:p>
          <a:p/>
          <a:p>
            <a:r>
              <a:t>Probe'lar ssenariysi — oson, 5 ball.</a:t>
            </a:r>
          </a:p>
          <a:p/>
          <a:p>
            <a:r>
              <a:t>Dockerfile qoidalarini kengaytirish — oson, 5 ball.</a:t>
            </a:r>
          </a:p>
          <a:p/>
          <a:p>
            <a:r>
              <a:t>TCO parametrlarini yangilash — oson, 5 ball.</a:t>
            </a:r>
          </a:p>
          <a:p/>
          <a:p>
            <a:r>
              <a:t>Kechikish byudjeti dekompozitsiyasi — o'rta, 10 ball.</a:t>
            </a:r>
          </a:p>
          <a:p/>
          <a:p>
            <a:r>
              <a:t>Manifest validatori kengaytmasi — o'rta, 10 ball.</a:t>
            </a:r>
          </a:p>
          <a:p/>
          <a:p>
            <a:r>
              <a:t>KEDA uslubida so'rov/s bo'yicha masshtablash — o'rta, 10 ball.</a:t>
            </a:r>
          </a:p>
          <a:p/>
          <a:p>
            <a:r>
              <a:t>Rolling update simulyatsiyasi — o'rta, 10 ball.</a:t>
            </a:r>
          </a:p>
          <a:p/>
          <a:p>
            <a:r>
              <a:t>Chekka qurilma simulyatori va gibrid mezon — qiyin, 15 ball.</a:t>
            </a:r>
          </a:p>
          <a:p/>
          <a:p>
            <a:r>
              <a:t>Xizmatga nosozlik kiritish (chaos) sinovi — qiyin, 15 ball.</a:t>
            </a:r>
          </a:p>
          <a:p/>
          <a:p>
            <a:r>
              <a:t>To'liq joylashtirish hisoboti o'z ssenariyingiz uchun — qiyin, 15 ball.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AI ilovalarini joylashtirish va ekspluatatsiya.</a:t>
            </a:r>
          </a:p>
          <a:p/>
          <a:p>
            <a:r>
              <a:t>[3] Amershi, S. va boshq. Machine Learning Engineering. MIT Press, 2025. — ML tizimlarini ishlab chiqarishga chiqarish, monitoring, jamoa jarayonlari.</a:t>
            </a:r>
          </a:p>
          <a:p/>
          <a:p>
            <a:r>
              <a:t>[4] Sze, V., Chen, Y.-H., Yang, T.-J., &amp; Emer, J. S. Efficient Processing of Deep Neural Networks. Morgan &amp; Claypool, 2020. — chekka qurilmalarda energiya samaradorligi.</a:t>
            </a:r>
          </a:p>
          <a:p/>
          <a:p>
            <a:r>
              <a:t>[6] NVIDIA Developer Portal — Jetson hujjatlari (JetPack, nvpmodel, tegrastats), NVIDIA Container Toolkit, TensorRT, Triton Inference Server (https://developer.nvidia.com).</a:t>
            </a:r>
          </a:p>
          <a:p/>
          <a:p>
            <a:r>
              <a:t>[8] TensorFlow rasmiy hujjatlari — TensorFlow Lite va to'liq butun sonli kvantlash (https://www.tensorflow.org).</a:t>
            </a:r>
          </a:p>
          <a:p/>
          <a:p>
            <a:r>
              <a:t>[9] Kubernetes rasmiy hujjatlari — Deployment, Service, HorizontalPodAutoscaler, probe'lar, resurslarni boshqarish, GPU'larni rejalashtirish (https://kubernetes.io/docs).</a:t>
            </a:r>
          </a:p>
          <a:p/>
          <a:p>
            <a:r>
              <a:t>[10] ONNX rasmiy sayti (https://onnx.ai) va ONNX Runtime hujjatlari (https://onnxruntime.ai/docs).</a:t>
            </a:r>
          </a:p>
          <a:p/>
          <a:p>
            <a:r>
              <a:t>Docker rasmiy hujjatlari — Dockerfile eng yaxshi amaliyotlari, ko'p bosqichli qurish (https://docs.docker.com).</a:t>
            </a:r>
          </a:p>
          <a:p/>
          <a:p>
            <a:r>
              <a:t>Google Coral hujjatlari — Edge TPU kompilyatori, qo'llab-quvvatlanadigan operatorlar, PyCoral API (https://coral.ai/docs).</a:t>
            </a:r>
          </a:p>
          <a:p/>
          <a:p>
            <a:r>
              <a:t>FastAPI rasmiy hujjatlari (https://fastapi.tiangolo.com); minikube hujjatlari (https://minikube.sigs.k8s.io/docs); k3s hujjatlari (https://docs.k3s.io).</a:t>
            </a:r>
          </a:p>
          <a:p/>
          <a:p>
            <a:r>
              <a:t>Satyanarayanan, M. The Emergence of Edge Computing. IEEE Computer, 50(1), 2017. — chekka hisoblash konsepsiyasining asosiy maqolasi.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AI ilovalarini joylashtirish va ekspluatatsiya.</a:t>
            </a:r>
          </a:p>
          <a:p/>
          <a:p>
            <a:r>
              <a:t>[3] Amershi, S. va boshq. Machine Learning Engineering. MIT Press, 2025. — ML tizimlarini ishlab chiqarishga chiqarish, monitoring, jamoa jarayonlari.</a:t>
            </a:r>
          </a:p>
          <a:p/>
          <a:p>
            <a:r>
              <a:t>[4] Sze, V., Chen, Y.-H., Yang, T.-J., &amp; Emer, J. S. Efficient Processing of Deep Neural Networks. Morgan &amp; Claypool, 2020. — chekka qurilmalarda energiya samaradorligi.</a:t>
            </a:r>
          </a:p>
          <a:p/>
          <a:p>
            <a:r>
              <a:t>[6] NVIDIA Developer Portal — Jetson hujjatlari (JetPack, nvpmodel, tegrastats), NVIDIA Container Toolkit, TensorRT, Triton Inference Server (https://developer.nvidia.com).</a:t>
            </a:r>
          </a:p>
          <a:p/>
          <a:p>
            <a:r>
              <a:t>[8] TensorFlow rasmiy hujjatlari — TensorFlow Lite va to'liq butun sonli kvantlash (https://www.tensorflow.org).</a:t>
            </a:r>
          </a:p>
          <a:p/>
          <a:p>
            <a:r>
              <a:t>[9] Kubernetes rasmiy hujjatlari — Deployment, Service, HorizontalPodAutoscaler, probe'lar, resurslarni boshqarish, GPU'larni rejalashtirish (https://kubernetes.io/docs).</a:t>
            </a:r>
          </a:p>
          <a:p/>
          <a:p>
            <a:r>
              <a:t>[10] ONNX rasmiy sayti (https://onnx.ai) va ONNX Runtime hujjatlari (https://onnxruntime.ai/docs).</a:t>
            </a:r>
          </a:p>
          <a:p/>
          <a:p>
            <a:r>
              <a:t>Docker rasmiy hujjatlari — Dockerfile eng yaxshi amaliyotlari, ko'p bosqichli qurish (https://docs.docker.com).</a:t>
            </a:r>
          </a:p>
          <a:p/>
          <a:p>
            <a:r>
              <a:t>Google Coral hujjatlari — Edge TPU kompilyatori, qo'llab-quvvatlanadigan operatorlar, PyCoral API (https://coral.ai/docs).</a:t>
            </a:r>
          </a:p>
          <a:p/>
          <a:p>
            <a:r>
              <a:t>FastAPI rasmiy hujjatlari (https://fastapi.tiangolo.com); minikube hujjatlari (https://minikube.sigs.k8s.io/docs); k3s hujjatlari (https://docs.k3s.io).</a:t>
            </a:r>
          </a:p>
          <a:p/>
          <a:p>
            <a:r>
              <a:t>Satyanarayanan, M. The Emergence of Edge Computing. IEEE Computer, 50(1), 2017. — chekka hisoblash konsepsiyasining asosiy maqolasi.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Kneusel, R. T. Artificial Intelligence Engineering: A Practical Guide for AI Applications. No Starch Press, 2023. — AI ilovalarini joylashtirish va ekspluatatsiya.</a:t>
            </a:r>
          </a:p>
          <a:p/>
          <a:p>
            <a:r>
              <a:t>[3] Amershi, S. va boshq. Machine Learning Engineering. MIT Press, 2025. — ML tizimlarini ishlab chiqarishga chiqarish, monitoring, jamoa jarayonlari.</a:t>
            </a:r>
          </a:p>
          <a:p/>
          <a:p>
            <a:r>
              <a:t>[4] Sze, V., Chen, Y.-H., Yang, T.-J., &amp; Emer, J. S. Efficient Processing of Deep Neural Networks. Morgan &amp; Claypool, 2020. — chekka qurilmalarda energiya samaradorligi.</a:t>
            </a:r>
          </a:p>
          <a:p/>
          <a:p>
            <a:r>
              <a:t>[6] NVIDIA Developer Portal — Jetson hujjatlari (JetPack, nvpmodel, tegrastats), NVIDIA Container Toolkit, TensorRT, Triton Inference Server (https://developer.nvidia.com).</a:t>
            </a:r>
          </a:p>
          <a:p/>
          <a:p>
            <a:r>
              <a:t>[8] TensorFlow rasmiy hujjatlari — TensorFlow Lite va to'liq butun sonli kvantlash (https://www.tensorflow.org).</a:t>
            </a:r>
          </a:p>
          <a:p/>
          <a:p>
            <a:r>
              <a:t>[9] Kubernetes rasmiy hujjatlari — Deployment, Service, HorizontalPodAutoscaler, probe'lar, resurslarni boshqarish, GPU'larni rejalashtirish (https://kubernetes.io/docs).</a:t>
            </a:r>
          </a:p>
          <a:p/>
          <a:p>
            <a:r>
              <a:t>[10] ONNX rasmiy sayti (https://onnx.ai) va ONNX Runtime hujjatlari (https://onnxruntime.ai/docs).</a:t>
            </a:r>
          </a:p>
          <a:p/>
          <a:p>
            <a:r>
              <a:t>Docker rasmiy hujjatlari — Dockerfile eng yaxshi amaliyotlari, ko'p bosqichli qurish (https://docs.docker.com).</a:t>
            </a:r>
          </a:p>
          <a:p/>
          <a:p>
            <a:r>
              <a:t>Google Coral hujjatlari — Edge TPU kompilyatori, qo'llab-quvvatlanadigan operatorlar, PyCoral API (https://coral.ai/docs).</a:t>
            </a:r>
          </a:p>
          <a:p/>
          <a:p>
            <a:r>
              <a:t>FastAPI rasmiy hujjatlari (https://fastapi.tiangolo.com); minikube hujjatlari (https://minikube.sigs.k8s.io/docs); k3s hujjatlari (https://docs.k3s.io).</a:t>
            </a:r>
          </a:p>
          <a:p/>
          <a:p>
            <a:r>
              <a:t>Satyanarayanan, M. The Emergence of Edge Computing. IEEE Computer, 50(1), 2017. — chekka hisoblash konsepsiyasining asosiy maqolasi.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LABORATORIYA ISHI · A4 · 2 soat</a:t>
            </a:r>
          </a:p>
        </p:txBody>
      </p:sp>
      <p:sp>
        <p:nvSpPr>
          <p:cNvPr id="9" name="TextBox 8"/>
          <p:cNvSpPr txBox="1"/>
          <p:nvPr/>
        </p:nvSpPr>
        <p:spPr>
          <a:xfrm>
            <a:off x="700000" y="1900000"/>
            <a:ext cx="8400000" cy="2600000"/>
          </a:xfrm>
          <a:prstGeom prst="rect">
            <a:avLst/>
          </a:prstGeom>
          <a:noFill/>
        </p:spPr>
        <p:txBody>
          <a:bodyPr wrap="square" anchor="t" lIns="50800" rIns="50800">
            <a:spAutoFit/>
          </a:bodyPr>
          <a:lstStyle/>
          <a:p>
            <a:pPr algn="l"/>
            <a:r>
              <a:rPr sz="3800" b="1">
                <a:solidFill>
                  <a:srgbClr val="FFFFFF"/>
                </a:solidFill>
                <a:latin typeface="Calibri"/>
              </a:rPr>
              <a:t>Edge AI va Cloud AI platformalarida sun'iy intellekt tizimlarini joylashtirish</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50"/>
                                        <p:tgtEl>
                                          <p:spTgt spid="7"/>
                                        </p:tgtEl>
                                      </p:cBhvr>
                                    </p:animEffect>
                                  </p:childTnLst>
                                </p:cTn>
                              </p:par>
                            </p:childTnLst>
                          </p:cTn>
                        </p:par>
                        <p:par>
                          <p:cTn id="25" fill="hold">
                            <p:stCondLst>
                              <p:cond delay="550"/>
                            </p:stCondLst>
                            <p:childTnLst>
                              <p:par>
                                <p:cTn id="26" presetID="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9" dur="550" fill="hold"/>
                                        <p:tgtEl>
                                          <p:spTgt spid="8"/>
                                        </p:tgtEl>
                                        <p:attrNameLst>
                                          <p:attrName>ppt_x</p:attrName>
                                        </p:attrNameLst>
                                      </p:cBhvr>
                                      <p:tavLst>
                                        <p:tav tm="0">
                                          <p:val>
                                            <p:strVal val="0-#ppt_w/2"/>
                                          </p:val>
                                        </p:tav>
                                        <p:tav tm="100000">
                                          <p:val>
                                            <p:strVal val="#ppt_x"/>
                                          </p:val>
                                        </p:tav>
                                      </p:tavLst>
                                    </p:anim>
                                    <p:anim calcmode="lin" valueType="num">
                                      <p:cBhvr additive="base">
                                        <p:cTn id="30" dur="550" fill="hold"/>
                                        <p:tgtEl>
                                          <p:spTgt spid="8"/>
                                        </p:tgtEl>
                                        <p:attrNameLst>
                                          <p:attrName>ppt_y</p:attrName>
                                        </p:attrNameLst>
                                      </p:cBhvr>
                                      <p:tavLst>
                                        <p:tav tm="0">
                                          <p:val>
                                            <p:strVal val="#ppt_y"/>
                                          </p:val>
                                        </p:tav>
                                        <p:tav tm="100000">
                                          <p:val>
                                            <p:strVal val="#ppt_y"/>
                                          </p:val>
                                        </p:tav>
                                      </p:tavLst>
                                    </p:anim>
                                  </p:childTnLst>
                                </p:cTn>
                              </p:par>
                            </p:childTnLst>
                          </p:cTn>
                        </p:par>
                        <p:par>
                          <p:cTn id="31" fill="hold">
                            <p:stCondLst>
                              <p:cond delay="700"/>
                            </p:stCondLst>
                            <p:childTnLst>
                              <p:par>
                                <p:cTn id="32" presetID="42"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50"/>
                                        <p:tgtEl>
                                          <p:spTgt spid="9"/>
                                        </p:tgtEl>
                                      </p:cBhvr>
                                    </p:animEffect>
                                    <p:anim calcmode="lin" valueType="num">
                                      <p:cBhvr additive="base">
                                        <p:cTn id="35" dur="550" fill="hold"/>
                                        <p:tgtEl>
                                          <p:spTgt spid="9"/>
                                        </p:tgtEl>
                                        <p:attrNameLst>
                                          <p:attrName>ppt_x</p:attrName>
                                        </p:attrNameLst>
                                      </p:cBhvr>
                                      <p:tavLst>
                                        <p:tav tm="0">
                                          <p:val>
                                            <p:strVal val="#ppt_x"/>
                                          </p:val>
                                        </p:tav>
                                        <p:tav tm="100000">
                                          <p:val>
                                            <p:strVal val="#ppt_x"/>
                                          </p:val>
                                        </p:tav>
                                      </p:tavLst>
                                    </p:anim>
                                    <p:anim calcmode="lin" valueType="num">
                                      <p:cBhvr additive="base">
                                        <p:cTn id="36" dur="550" fill="hold"/>
                                        <p:tgtEl>
                                          <p:spTgt spid="9"/>
                                        </p:tgtEl>
                                        <p:attrNameLst>
                                          <p:attrName>ppt_y</p:attrName>
                                        </p:attrNameLst>
                                      </p:cBhvr>
                                      <p:tavLst>
                                        <p:tav tm="0">
                                          <p:val>
                                            <p:strVal val="#ppt_y+.08"/>
                                          </p:val>
                                        </p:tav>
                                        <p:tav tm="100000">
                                          <p:val>
                                            <p:strVal val="#ppt_y"/>
                                          </p:val>
                                        </p:tav>
                                      </p:tavLst>
                                    </p:anim>
                                  </p:childTnLst>
                                </p:cTn>
                              </p:par>
                            </p:childTnLst>
                          </p:cTn>
                        </p:par>
                        <p:par>
                          <p:cTn id="37" fill="hold">
                            <p:stCondLst>
                              <p:cond delay="850"/>
                            </p:stCondLst>
                            <p:childTnLst>
                              <p:par>
                                <p:cTn id="38" presetID="22" presetClass="entr" presetSubtype="8"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1" dur="800"/>
                                        <p:tgtEl>
                                          <p:spTgt spid="6"/>
                                        </p:tgtEl>
                                      </p:cBhvr>
                                    </p:animEffect>
                                  </p:childTnLst>
                                </p:cTn>
                              </p:par>
                            </p:childTnLst>
                          </p:cTn>
                        </p:par>
                        <p:par>
                          <p:cTn id="42" fill="hold">
                            <p:stCondLst>
                              <p:cond delay="1000"/>
                            </p:stCondLst>
                            <p:childTnLst>
                              <p:par>
                                <p:cTn id="43" presetID="10" presetClass="entr" presetSubtype="0"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MAVZU</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387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263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387000"/>
          </a:xfrm>
          <a:prstGeom prst="rect">
            <a:avLst/>
          </a:prstGeom>
          <a:noFill/>
        </p:spPr>
        <p:txBody>
          <a:bodyPr wrap="square" anchor="ctr" lIns="50800" rIns="50800">
            <a:spAutoFit/>
          </a:bodyPr>
          <a:lstStyle/>
          <a:p>
            <a:pPr algn="l"/>
            <a:r>
              <a:rPr sz="1900" b="0">
                <a:solidFill>
                  <a:srgbClr val="1B2430"/>
                </a:solidFill>
                <a:latin typeface="Calibri"/>
              </a:rPr>
              <a:t>Mavzuning maqsadi va o'rganish natijalari</a:t>
            </a:r>
          </a:p>
        </p:txBody>
      </p:sp>
      <p:sp>
        <p:nvSpPr>
          <p:cNvPr id="14" name="Rounded Rectangle 13"/>
          <p:cNvSpPr/>
          <p:nvPr/>
        </p:nvSpPr>
        <p:spPr>
          <a:xfrm>
            <a:off x="550000" y="1807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1807000"/>
            <a:ext cx="70000" cy="387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1770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1807000"/>
            <a:ext cx="10050000" cy="387000"/>
          </a:xfrm>
          <a:prstGeom prst="rect">
            <a:avLst/>
          </a:prstGeom>
          <a:noFill/>
        </p:spPr>
        <p:txBody>
          <a:bodyPr wrap="square" anchor="ctr" lIns="50800" rIns="50800">
            <a:spAutoFit/>
          </a:bodyPr>
          <a:lstStyle/>
          <a:p>
            <a:pPr algn="l"/>
            <a:r>
              <a:rPr sz="1900" b="0">
                <a:solidFill>
                  <a:srgbClr val="1B2430"/>
                </a:solidFill>
                <a:latin typeface="Calibri"/>
              </a:rPr>
              <a:t>Kirish</a:t>
            </a:r>
          </a:p>
        </p:txBody>
      </p:sp>
      <p:sp>
        <p:nvSpPr>
          <p:cNvPr id="18" name="Rounded Rectangle 17"/>
          <p:cNvSpPr/>
          <p:nvPr/>
        </p:nvSpPr>
        <p:spPr>
          <a:xfrm>
            <a:off x="550000" y="2314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314000"/>
            <a:ext cx="70000" cy="387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2277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314000"/>
            <a:ext cx="10050000" cy="387000"/>
          </a:xfrm>
          <a:prstGeom prst="rect">
            <a:avLst/>
          </a:prstGeom>
          <a:noFill/>
        </p:spPr>
        <p:txBody>
          <a:bodyPr wrap="square" anchor="ctr" lIns="50800" rIns="50800">
            <a:spAutoFit/>
          </a:bodyPr>
          <a:lstStyle/>
          <a:p>
            <a:pPr algn="l"/>
            <a:r>
              <a:rPr sz="1900" b="0">
                <a:solidFill>
                  <a:srgbClr val="1B2430"/>
                </a:solidFill>
                <a:latin typeface="Calibri"/>
              </a:rPr>
              <a:t>Nazariy asoslar</a:t>
            </a:r>
          </a:p>
        </p:txBody>
      </p:sp>
      <p:sp>
        <p:nvSpPr>
          <p:cNvPr id="22" name="Rounded Rectangle 21"/>
          <p:cNvSpPr/>
          <p:nvPr/>
        </p:nvSpPr>
        <p:spPr>
          <a:xfrm>
            <a:off x="550000" y="2821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2821000"/>
            <a:ext cx="70000" cy="387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2784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2821000"/>
            <a:ext cx="10050000" cy="387000"/>
          </a:xfrm>
          <a:prstGeom prst="rect">
            <a:avLst/>
          </a:prstGeom>
          <a:noFill/>
        </p:spPr>
        <p:txBody>
          <a:bodyPr wrap="square" anchor="ctr" lIns="50800" rIns="50800">
            <a:spAutoFit/>
          </a:bodyPr>
          <a:lstStyle/>
          <a:p>
            <a:pPr algn="l"/>
            <a:r>
              <a:rPr sz="1900" b="0">
                <a:solidFill>
                  <a:srgbClr val="1B2430"/>
                </a:solidFill>
                <a:latin typeface="Calibri"/>
              </a:rPr>
              <a:t>Amaliy misol</a:t>
            </a:r>
          </a:p>
        </p:txBody>
      </p:sp>
      <p:sp>
        <p:nvSpPr>
          <p:cNvPr id="26" name="Rounded Rectangle 25"/>
          <p:cNvSpPr/>
          <p:nvPr/>
        </p:nvSpPr>
        <p:spPr>
          <a:xfrm>
            <a:off x="550000" y="3328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3328000"/>
            <a:ext cx="70000" cy="387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32915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3328000"/>
            <a:ext cx="10050000" cy="387000"/>
          </a:xfrm>
          <a:prstGeom prst="rect">
            <a:avLst/>
          </a:prstGeom>
          <a:noFill/>
        </p:spPr>
        <p:txBody>
          <a:bodyPr wrap="square" anchor="ctr" lIns="50800" rIns="50800">
            <a:spAutoFit/>
          </a:bodyPr>
          <a:lstStyle/>
          <a:p>
            <a:pPr algn="l"/>
            <a:r>
              <a:rPr sz="1900" b="0">
                <a:solidFill>
                  <a:srgbClr val="1B2430"/>
                </a:solidFill>
                <a:latin typeface="Calibri"/>
              </a:rPr>
              <a:t>Natijalarni tahlil qilish</a:t>
            </a:r>
          </a:p>
        </p:txBody>
      </p:sp>
      <p:sp>
        <p:nvSpPr>
          <p:cNvPr id="30" name="Rounded Rectangle 29"/>
          <p:cNvSpPr/>
          <p:nvPr/>
        </p:nvSpPr>
        <p:spPr>
          <a:xfrm>
            <a:off x="550000" y="3835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3835000"/>
            <a:ext cx="70000" cy="387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37985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3835000"/>
            <a:ext cx="10050000" cy="387000"/>
          </a:xfrm>
          <a:prstGeom prst="rect">
            <a:avLst/>
          </a:prstGeom>
          <a:noFill/>
        </p:spPr>
        <p:txBody>
          <a:bodyPr wrap="square" anchor="ctr" lIns="50800" rIns="50800">
            <a:spAutoFit/>
          </a:bodyPr>
          <a:lstStyle/>
          <a:p>
            <a:pPr algn="l"/>
            <a:r>
              <a:rPr sz="1900" b="0">
                <a:solidFill>
                  <a:srgbClr val="1B2430"/>
                </a:solidFill>
                <a:latin typeface="Calibri"/>
              </a:rPr>
              <a:t>Keng tarqalgan xatolar va amaliy tavsiyalar</a:t>
            </a:r>
          </a:p>
        </p:txBody>
      </p:sp>
      <p:sp>
        <p:nvSpPr>
          <p:cNvPr id="34" name="Rounded Rectangle 33"/>
          <p:cNvSpPr/>
          <p:nvPr/>
        </p:nvSpPr>
        <p:spPr>
          <a:xfrm>
            <a:off x="550000" y="4342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4342000"/>
            <a:ext cx="70000" cy="387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0000" y="4305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37" name="TextBox 36"/>
          <p:cNvSpPr txBox="1"/>
          <p:nvPr/>
        </p:nvSpPr>
        <p:spPr>
          <a:xfrm>
            <a:off x="1450000" y="4342000"/>
            <a:ext cx="10050000" cy="387000"/>
          </a:xfrm>
          <a:prstGeom prst="rect">
            <a:avLst/>
          </a:prstGeom>
          <a:noFill/>
        </p:spPr>
        <p:txBody>
          <a:bodyPr wrap="square" anchor="ctr" lIns="50800" rIns="50800">
            <a:spAutoFit/>
          </a:bodyPr>
          <a:lstStyle/>
          <a:p>
            <a:pPr algn="l"/>
            <a:r>
              <a:rPr sz="1900" b="0">
                <a:solidFill>
                  <a:srgbClr val="1B2430"/>
                </a:solidFill>
                <a:latin typeface="Calibri"/>
              </a:rPr>
              <a:t>Nazorat savollari</a:t>
            </a:r>
          </a:p>
        </p:txBody>
      </p:sp>
      <p:sp>
        <p:nvSpPr>
          <p:cNvPr id="38" name="Rounded Rectangle 37"/>
          <p:cNvSpPr/>
          <p:nvPr/>
        </p:nvSpPr>
        <p:spPr>
          <a:xfrm>
            <a:off x="550000" y="4849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0000" y="4849000"/>
            <a:ext cx="70000" cy="387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0000" y="4812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41" name="TextBox 40"/>
          <p:cNvSpPr txBox="1"/>
          <p:nvPr/>
        </p:nvSpPr>
        <p:spPr>
          <a:xfrm>
            <a:off x="1450000" y="4849000"/>
            <a:ext cx="10050000" cy="387000"/>
          </a:xfrm>
          <a:prstGeom prst="rect">
            <a:avLst/>
          </a:prstGeom>
          <a:noFill/>
        </p:spPr>
        <p:txBody>
          <a:bodyPr wrap="square" anchor="ctr" lIns="50800" rIns="50800">
            <a:spAutoFit/>
          </a:bodyPr>
          <a:lstStyle/>
          <a:p>
            <a:pPr algn="l"/>
            <a:r>
              <a:rPr sz="1900" b="0">
                <a:solidFill>
                  <a:srgbClr val="1B2430"/>
                </a:solidFill>
                <a:latin typeface="Calibri"/>
              </a:rPr>
              <a:t>Mustaqil ish uchun topshiriq</a:t>
            </a:r>
          </a:p>
        </p:txBody>
      </p:sp>
      <p:sp>
        <p:nvSpPr>
          <p:cNvPr id="42" name="Rounded Rectangle 41"/>
          <p:cNvSpPr/>
          <p:nvPr/>
        </p:nvSpPr>
        <p:spPr>
          <a:xfrm>
            <a:off x="550000" y="5356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50000" y="5356000"/>
            <a:ext cx="70000" cy="387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0000" y="5319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45" name="TextBox 44"/>
          <p:cNvSpPr txBox="1"/>
          <p:nvPr/>
        </p:nvSpPr>
        <p:spPr>
          <a:xfrm>
            <a:off x="1450000" y="5356000"/>
            <a:ext cx="10050000" cy="387000"/>
          </a:xfrm>
          <a:prstGeom prst="rect">
            <a:avLst/>
          </a:prstGeom>
          <a:noFill/>
        </p:spPr>
        <p:txBody>
          <a:bodyPr wrap="square" anchor="ctr" lIns="50800" rIns="50800">
            <a:spAutoFit/>
          </a:bodyPr>
          <a:lstStyle/>
          <a:p>
            <a:pPr algn="l"/>
            <a:r>
              <a:rPr sz="1900" b="0">
                <a:solidFill>
                  <a:srgbClr val="1B2430"/>
                </a:solidFill>
                <a:latin typeface="Calibri"/>
              </a:rPr>
              <a:t>Qo'shimcha topshiriqlar (10 ta)</a:t>
            </a:r>
          </a:p>
        </p:txBody>
      </p:sp>
      <p:sp>
        <p:nvSpPr>
          <p:cNvPr id="46" name="Rounded Rectangle 45"/>
          <p:cNvSpPr/>
          <p:nvPr/>
        </p:nvSpPr>
        <p:spPr>
          <a:xfrm>
            <a:off x="550000" y="5863000"/>
            <a:ext cx="11100000" cy="387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50000" y="5863000"/>
            <a:ext cx="70000" cy="387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00000" y="5826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49" name="TextBox 48"/>
          <p:cNvSpPr txBox="1"/>
          <p:nvPr/>
        </p:nvSpPr>
        <p:spPr>
          <a:xfrm>
            <a:off x="1450000" y="5863000"/>
            <a:ext cx="10050000" cy="387000"/>
          </a:xfrm>
          <a:prstGeom prst="rect">
            <a:avLst/>
          </a:prstGeom>
          <a:noFill/>
        </p:spPr>
        <p:txBody>
          <a:bodyPr wrap="square" anchor="ctr" lIns="50800" rIns="50800">
            <a:spAutoFit/>
          </a:bodyPr>
          <a:lstStyle/>
          <a:p>
            <a:pPr algn="l"/>
            <a:r>
              <a:rPr sz="1900" b="0">
                <a:solidFill>
                  <a:srgbClr val="1B2430"/>
                </a:solidFill>
                <a:latin typeface="Calibri"/>
              </a:rPr>
              <a:t>Foydalanilgan manbalar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par>
                          <p:cTn id="151" fill="hold">
                            <p:stCondLst>
                              <p:cond delay="1540"/>
                            </p:stCondLst>
                            <p:childTnLst>
                              <p:par>
                                <p:cTn id="152" presetID="42" presetClass="entr" presetSubtype="0" fill="hold" grpId="0" nodeType="afterEffect">
                                  <p:stCondLst>
                                    <p:cond delay="0"/>
                                  </p:stCondLst>
                                  <p:childTnLst>
                                    <p:set>
                                      <p:cBhvr>
                                        <p:cTn id="153" dur="1" fill="hold">
                                          <p:stCondLst>
                                            <p:cond delay="0"/>
                                          </p:stCondLst>
                                        </p:cTn>
                                        <p:tgtEl>
                                          <p:spTgt spid="34"/>
                                        </p:tgtEl>
                                        <p:attrNameLst>
                                          <p:attrName>style.visibility</p:attrName>
                                        </p:attrNameLst>
                                      </p:cBhvr>
                                      <p:to>
                                        <p:strVal val="visible"/>
                                      </p:to>
                                    </p:set>
                                    <p:animEffect transition="in" filter="fade">
                                      <p:cBhvr>
                                        <p:cTn id="154" dur="550"/>
                                        <p:tgtEl>
                                          <p:spTgt spid="34"/>
                                        </p:tgtEl>
                                      </p:cBhvr>
                                    </p:animEffect>
                                    <p:anim calcmode="lin" valueType="num">
                                      <p:cBhvr additive="base">
                                        <p:cTn id="155" dur="550" fill="hold"/>
                                        <p:tgtEl>
                                          <p:spTgt spid="34"/>
                                        </p:tgtEl>
                                        <p:attrNameLst>
                                          <p:attrName>ppt_x</p:attrName>
                                        </p:attrNameLst>
                                      </p:cBhvr>
                                      <p:tavLst>
                                        <p:tav tm="0">
                                          <p:val>
                                            <p:strVal val="#ppt_x"/>
                                          </p:val>
                                        </p:tav>
                                        <p:tav tm="100000">
                                          <p:val>
                                            <p:strVal val="#ppt_x"/>
                                          </p:val>
                                        </p:tav>
                                      </p:tavLst>
                                    </p:anim>
                                    <p:anim calcmode="lin" valueType="num">
                                      <p:cBhvr additive="base">
                                        <p:cTn id="156" dur="550" fill="hold"/>
                                        <p:tgtEl>
                                          <p:spTgt spid="34"/>
                                        </p:tgtEl>
                                        <p:attrNameLst>
                                          <p:attrName>ppt_y</p:attrName>
                                        </p:attrNameLst>
                                      </p:cBhvr>
                                      <p:tavLst>
                                        <p:tav tm="0">
                                          <p:val>
                                            <p:strVal val="#ppt_y+.08"/>
                                          </p:val>
                                        </p:tav>
                                        <p:tav tm="100000">
                                          <p:val>
                                            <p:strVal val="#ppt_y"/>
                                          </p:val>
                                        </p:tav>
                                      </p:tavLst>
                                    </p:anim>
                                  </p:childTnLst>
                                </p:cTn>
                              </p:par>
                            </p:childTnLst>
                          </p:cTn>
                        </p:par>
                        <p:par>
                          <p:cTn id="157" fill="hold">
                            <p:stCondLst>
                              <p:cond delay="1540"/>
                            </p:stCondLst>
                            <p:childTnLst>
                              <p:par>
                                <p:cTn id="158" presetID="42" presetClass="entr" presetSubtype="0" fill="hold" grpId="0" nodeType="after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550"/>
                                        <p:tgtEl>
                                          <p:spTgt spid="35"/>
                                        </p:tgtEl>
                                      </p:cBhvr>
                                    </p:animEffect>
                                    <p:anim calcmode="lin" valueType="num">
                                      <p:cBhvr additive="base">
                                        <p:cTn id="161" dur="550" fill="hold"/>
                                        <p:tgtEl>
                                          <p:spTgt spid="35"/>
                                        </p:tgtEl>
                                        <p:attrNameLst>
                                          <p:attrName>ppt_x</p:attrName>
                                        </p:attrNameLst>
                                      </p:cBhvr>
                                      <p:tavLst>
                                        <p:tav tm="0">
                                          <p:val>
                                            <p:strVal val="#ppt_x"/>
                                          </p:val>
                                        </p:tav>
                                        <p:tav tm="100000">
                                          <p:val>
                                            <p:strVal val="#ppt_x"/>
                                          </p:val>
                                        </p:tav>
                                      </p:tavLst>
                                    </p:anim>
                                    <p:anim calcmode="lin" valueType="num">
                                      <p:cBhvr additive="base">
                                        <p:cTn id="162" dur="550" fill="hold"/>
                                        <p:tgtEl>
                                          <p:spTgt spid="35"/>
                                        </p:tgtEl>
                                        <p:attrNameLst>
                                          <p:attrName>ppt_y</p:attrName>
                                        </p:attrNameLst>
                                      </p:cBhvr>
                                      <p:tavLst>
                                        <p:tav tm="0">
                                          <p:val>
                                            <p:strVal val="#ppt_y+.08"/>
                                          </p:val>
                                        </p:tav>
                                        <p:tav tm="100000">
                                          <p:val>
                                            <p:strVal val="#ppt_y"/>
                                          </p:val>
                                        </p:tav>
                                      </p:tavLst>
                                    </p:anim>
                                  </p:childTnLst>
                                </p:cTn>
                              </p:par>
                            </p:childTnLst>
                          </p:cTn>
                        </p:par>
                        <p:par>
                          <p:cTn id="163" fill="hold">
                            <p:stCondLst>
                              <p:cond delay="1540"/>
                            </p:stCondLst>
                            <p:childTnLst>
                              <p:par>
                                <p:cTn id="164" presetID="53" presetClass="entr" presetSubtype="16" fill="hold" grpId="0" nodeType="afterEffect">
                                  <p:stCondLst>
                                    <p:cond delay="0"/>
                                  </p:stCondLst>
                                  <p:childTnLst>
                                    <p:set>
                                      <p:cBhvr>
                                        <p:cTn id="165" dur="1" fill="hold">
                                          <p:stCondLst>
                                            <p:cond delay="0"/>
                                          </p:stCondLst>
                                        </p:cTn>
                                        <p:tgtEl>
                                          <p:spTgt spid="36"/>
                                        </p:tgtEl>
                                        <p:attrNameLst>
                                          <p:attrName>style.visibility</p:attrName>
                                        </p:attrNameLst>
                                      </p:cBhvr>
                                      <p:to>
                                        <p:strVal val="visible"/>
                                      </p:to>
                                    </p:set>
                                    <p:animEffect transition="in" filter="fade">
                                      <p:cBhvr>
                                        <p:cTn id="166" dur="550"/>
                                        <p:tgtEl>
                                          <p:spTgt spid="36"/>
                                        </p:tgtEl>
                                      </p:cBhvr>
                                    </p:animEffect>
                                    <p:anim calcmode="lin" valueType="num">
                                      <p:cBhvr additive="base">
                                        <p:cTn id="167" dur="550" fill="hold"/>
                                        <p:tgtEl>
                                          <p:spTgt spid="36"/>
                                        </p:tgtEl>
                                        <p:attrNameLst>
                                          <p:attrName>ppt_w</p:attrName>
                                        </p:attrNameLst>
                                      </p:cBhvr>
                                      <p:tavLst>
                                        <p:tav tm="0">
                                          <p:val>
                                            <p:strVal val="0"/>
                                          </p:val>
                                        </p:tav>
                                        <p:tav tm="100000">
                                          <p:val>
                                            <p:strVal val="#ppt_w"/>
                                          </p:val>
                                        </p:tav>
                                      </p:tavLst>
                                    </p:anim>
                                    <p:anim calcmode="lin" valueType="num">
                                      <p:cBhvr additive="base">
                                        <p:cTn id="168" dur="550" fill="hold"/>
                                        <p:tgtEl>
                                          <p:spTgt spid="36"/>
                                        </p:tgtEl>
                                        <p:attrNameLst>
                                          <p:attrName>ppt_h</p:attrName>
                                        </p:attrNameLst>
                                      </p:cBhvr>
                                      <p:tavLst>
                                        <p:tav tm="0">
                                          <p:val>
                                            <p:strVal val="0"/>
                                          </p:val>
                                        </p:tav>
                                        <p:tav tm="100000">
                                          <p:val>
                                            <p:strVal val="#ppt_h"/>
                                          </p:val>
                                        </p:tav>
                                      </p:tavLst>
                                    </p:anim>
                                  </p:childTnLst>
                                </p:cTn>
                              </p:par>
                            </p:childTnLst>
                          </p:cTn>
                        </p:par>
                        <p:par>
                          <p:cTn id="169" fill="hold">
                            <p:stCondLst>
                              <p:cond delay="1540"/>
                            </p:stCondLst>
                            <p:childTnLst>
                              <p:par>
                                <p:cTn id="170" presetID="42" presetClass="entr" presetSubtype="0" fill="hold" grpId="0" nodeType="after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50"/>
                                        <p:tgtEl>
                                          <p:spTgt spid="37"/>
                                        </p:tgtEl>
                                      </p:cBhvr>
                                    </p:animEffect>
                                    <p:anim calcmode="lin" valueType="num">
                                      <p:cBhvr additive="base">
                                        <p:cTn id="173" dur="550" fill="hold"/>
                                        <p:tgtEl>
                                          <p:spTgt spid="37"/>
                                        </p:tgtEl>
                                        <p:attrNameLst>
                                          <p:attrName>ppt_x</p:attrName>
                                        </p:attrNameLst>
                                      </p:cBhvr>
                                      <p:tavLst>
                                        <p:tav tm="0">
                                          <p:val>
                                            <p:strVal val="#ppt_x"/>
                                          </p:val>
                                        </p:tav>
                                        <p:tav tm="100000">
                                          <p:val>
                                            <p:strVal val="#ppt_x"/>
                                          </p:val>
                                        </p:tav>
                                      </p:tavLst>
                                    </p:anim>
                                    <p:anim calcmode="lin" valueType="num">
                                      <p:cBhvr additive="base">
                                        <p:cTn id="174" dur="550" fill="hold"/>
                                        <p:tgtEl>
                                          <p:spTgt spid="37"/>
                                        </p:tgtEl>
                                        <p:attrNameLst>
                                          <p:attrName>ppt_y</p:attrName>
                                        </p:attrNameLst>
                                      </p:cBhvr>
                                      <p:tavLst>
                                        <p:tav tm="0">
                                          <p:val>
                                            <p:strVal val="#ppt_y+.08"/>
                                          </p:val>
                                        </p:tav>
                                        <p:tav tm="100000">
                                          <p:val>
                                            <p:strVal val="#ppt_y"/>
                                          </p:val>
                                        </p:tav>
                                      </p:tavLst>
                                    </p:anim>
                                  </p:childTnLst>
                                </p:cTn>
                              </p:par>
                            </p:childTnLst>
                          </p:cTn>
                        </p:par>
                        <p:par>
                          <p:cTn id="175" fill="hold">
                            <p:stCondLst>
                              <p:cond delay="1760"/>
                            </p:stCondLst>
                            <p:childTnLst>
                              <p:par>
                                <p:cTn id="176" presetID="42" presetClass="entr" presetSubtype="0" fill="hold" grpId="0" nodeType="afterEffect">
                                  <p:stCondLst>
                                    <p:cond delay="0"/>
                                  </p:stCondLst>
                                  <p:childTnLst>
                                    <p:set>
                                      <p:cBhvr>
                                        <p:cTn id="177" dur="1" fill="hold">
                                          <p:stCondLst>
                                            <p:cond delay="0"/>
                                          </p:stCondLst>
                                        </p:cTn>
                                        <p:tgtEl>
                                          <p:spTgt spid="38"/>
                                        </p:tgtEl>
                                        <p:attrNameLst>
                                          <p:attrName>style.visibility</p:attrName>
                                        </p:attrNameLst>
                                      </p:cBhvr>
                                      <p:to>
                                        <p:strVal val="visible"/>
                                      </p:to>
                                    </p:set>
                                    <p:animEffect transition="in" filter="fade">
                                      <p:cBhvr>
                                        <p:cTn id="178" dur="550"/>
                                        <p:tgtEl>
                                          <p:spTgt spid="38"/>
                                        </p:tgtEl>
                                      </p:cBhvr>
                                    </p:animEffect>
                                    <p:anim calcmode="lin" valueType="num">
                                      <p:cBhvr additive="base">
                                        <p:cTn id="179" dur="550" fill="hold"/>
                                        <p:tgtEl>
                                          <p:spTgt spid="38"/>
                                        </p:tgtEl>
                                        <p:attrNameLst>
                                          <p:attrName>ppt_x</p:attrName>
                                        </p:attrNameLst>
                                      </p:cBhvr>
                                      <p:tavLst>
                                        <p:tav tm="0">
                                          <p:val>
                                            <p:strVal val="#ppt_x"/>
                                          </p:val>
                                        </p:tav>
                                        <p:tav tm="100000">
                                          <p:val>
                                            <p:strVal val="#ppt_x"/>
                                          </p:val>
                                        </p:tav>
                                      </p:tavLst>
                                    </p:anim>
                                    <p:anim calcmode="lin" valueType="num">
                                      <p:cBhvr additive="base">
                                        <p:cTn id="180" dur="550" fill="hold"/>
                                        <p:tgtEl>
                                          <p:spTgt spid="38"/>
                                        </p:tgtEl>
                                        <p:attrNameLst>
                                          <p:attrName>ppt_y</p:attrName>
                                        </p:attrNameLst>
                                      </p:cBhvr>
                                      <p:tavLst>
                                        <p:tav tm="0">
                                          <p:val>
                                            <p:strVal val="#ppt_y+.08"/>
                                          </p:val>
                                        </p:tav>
                                        <p:tav tm="100000">
                                          <p:val>
                                            <p:strVal val="#ppt_y"/>
                                          </p:val>
                                        </p:tav>
                                      </p:tavLst>
                                    </p:anim>
                                  </p:childTnLst>
                                </p:cTn>
                              </p:par>
                            </p:childTnLst>
                          </p:cTn>
                        </p:par>
                        <p:par>
                          <p:cTn id="181" fill="hold">
                            <p:stCondLst>
                              <p:cond delay="1760"/>
                            </p:stCondLst>
                            <p:childTnLst>
                              <p:par>
                                <p:cTn id="182" presetID="42" presetClass="entr" presetSubtype="0" fill="hold" grpId="0" nodeType="afterEffect">
                                  <p:stCondLst>
                                    <p:cond delay="0"/>
                                  </p:stCondLst>
                                  <p:childTnLst>
                                    <p:set>
                                      <p:cBhvr>
                                        <p:cTn id="183" dur="1" fill="hold">
                                          <p:stCondLst>
                                            <p:cond delay="0"/>
                                          </p:stCondLst>
                                        </p:cTn>
                                        <p:tgtEl>
                                          <p:spTgt spid="39"/>
                                        </p:tgtEl>
                                        <p:attrNameLst>
                                          <p:attrName>style.visibility</p:attrName>
                                        </p:attrNameLst>
                                      </p:cBhvr>
                                      <p:to>
                                        <p:strVal val="visible"/>
                                      </p:to>
                                    </p:set>
                                    <p:animEffect transition="in" filter="fade">
                                      <p:cBhvr>
                                        <p:cTn id="184" dur="550"/>
                                        <p:tgtEl>
                                          <p:spTgt spid="39"/>
                                        </p:tgtEl>
                                      </p:cBhvr>
                                    </p:animEffect>
                                    <p:anim calcmode="lin" valueType="num">
                                      <p:cBhvr additive="base">
                                        <p:cTn id="185" dur="550" fill="hold"/>
                                        <p:tgtEl>
                                          <p:spTgt spid="39"/>
                                        </p:tgtEl>
                                        <p:attrNameLst>
                                          <p:attrName>ppt_x</p:attrName>
                                        </p:attrNameLst>
                                      </p:cBhvr>
                                      <p:tavLst>
                                        <p:tav tm="0">
                                          <p:val>
                                            <p:strVal val="#ppt_x"/>
                                          </p:val>
                                        </p:tav>
                                        <p:tav tm="100000">
                                          <p:val>
                                            <p:strVal val="#ppt_x"/>
                                          </p:val>
                                        </p:tav>
                                      </p:tavLst>
                                    </p:anim>
                                    <p:anim calcmode="lin" valueType="num">
                                      <p:cBhvr additive="base">
                                        <p:cTn id="186" dur="550" fill="hold"/>
                                        <p:tgtEl>
                                          <p:spTgt spid="39"/>
                                        </p:tgtEl>
                                        <p:attrNameLst>
                                          <p:attrName>ppt_y</p:attrName>
                                        </p:attrNameLst>
                                      </p:cBhvr>
                                      <p:tavLst>
                                        <p:tav tm="0">
                                          <p:val>
                                            <p:strVal val="#ppt_y+.08"/>
                                          </p:val>
                                        </p:tav>
                                        <p:tav tm="100000">
                                          <p:val>
                                            <p:strVal val="#ppt_y"/>
                                          </p:val>
                                        </p:tav>
                                      </p:tavLst>
                                    </p:anim>
                                  </p:childTnLst>
                                </p:cTn>
                              </p:par>
                            </p:childTnLst>
                          </p:cTn>
                        </p:par>
                        <p:par>
                          <p:cTn id="187" fill="hold">
                            <p:stCondLst>
                              <p:cond delay="1760"/>
                            </p:stCondLst>
                            <p:childTnLst>
                              <p:par>
                                <p:cTn id="188" presetID="53" presetClass="entr" presetSubtype="16" fill="hold" grpId="0" nodeType="afterEffect">
                                  <p:stCondLst>
                                    <p:cond delay="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550"/>
                                        <p:tgtEl>
                                          <p:spTgt spid="40"/>
                                        </p:tgtEl>
                                      </p:cBhvr>
                                    </p:animEffect>
                                    <p:anim calcmode="lin" valueType="num">
                                      <p:cBhvr additive="base">
                                        <p:cTn id="191" dur="550" fill="hold"/>
                                        <p:tgtEl>
                                          <p:spTgt spid="40"/>
                                        </p:tgtEl>
                                        <p:attrNameLst>
                                          <p:attrName>ppt_w</p:attrName>
                                        </p:attrNameLst>
                                      </p:cBhvr>
                                      <p:tavLst>
                                        <p:tav tm="0">
                                          <p:val>
                                            <p:strVal val="0"/>
                                          </p:val>
                                        </p:tav>
                                        <p:tav tm="100000">
                                          <p:val>
                                            <p:strVal val="#ppt_w"/>
                                          </p:val>
                                        </p:tav>
                                      </p:tavLst>
                                    </p:anim>
                                    <p:anim calcmode="lin" valueType="num">
                                      <p:cBhvr additive="base">
                                        <p:cTn id="192" dur="550" fill="hold"/>
                                        <p:tgtEl>
                                          <p:spTgt spid="40"/>
                                        </p:tgtEl>
                                        <p:attrNameLst>
                                          <p:attrName>ppt_h</p:attrName>
                                        </p:attrNameLst>
                                      </p:cBhvr>
                                      <p:tavLst>
                                        <p:tav tm="0">
                                          <p:val>
                                            <p:strVal val="0"/>
                                          </p:val>
                                        </p:tav>
                                        <p:tav tm="100000">
                                          <p:val>
                                            <p:strVal val="#ppt_h"/>
                                          </p:val>
                                        </p:tav>
                                      </p:tavLst>
                                    </p:anim>
                                  </p:childTnLst>
                                </p:cTn>
                              </p:par>
                            </p:childTnLst>
                          </p:cTn>
                        </p:par>
                        <p:par>
                          <p:cTn id="193" fill="hold">
                            <p:stCondLst>
                              <p:cond delay="1760"/>
                            </p:stCondLst>
                            <p:childTnLst>
                              <p:par>
                                <p:cTn id="194" presetID="42" presetClass="entr" presetSubtype="0" fill="hold" grpId="0" nodeType="afterEffect">
                                  <p:stCondLst>
                                    <p:cond delay="0"/>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550"/>
                                        <p:tgtEl>
                                          <p:spTgt spid="41"/>
                                        </p:tgtEl>
                                      </p:cBhvr>
                                    </p:animEffect>
                                    <p:anim calcmode="lin" valueType="num">
                                      <p:cBhvr additive="base">
                                        <p:cTn id="197" dur="550" fill="hold"/>
                                        <p:tgtEl>
                                          <p:spTgt spid="41"/>
                                        </p:tgtEl>
                                        <p:attrNameLst>
                                          <p:attrName>ppt_x</p:attrName>
                                        </p:attrNameLst>
                                      </p:cBhvr>
                                      <p:tavLst>
                                        <p:tav tm="0">
                                          <p:val>
                                            <p:strVal val="#ppt_x"/>
                                          </p:val>
                                        </p:tav>
                                        <p:tav tm="100000">
                                          <p:val>
                                            <p:strVal val="#ppt_x"/>
                                          </p:val>
                                        </p:tav>
                                      </p:tavLst>
                                    </p:anim>
                                    <p:anim calcmode="lin" valueType="num">
                                      <p:cBhvr additive="base">
                                        <p:cTn id="198" dur="550" fill="hold"/>
                                        <p:tgtEl>
                                          <p:spTgt spid="41"/>
                                        </p:tgtEl>
                                        <p:attrNameLst>
                                          <p:attrName>ppt_y</p:attrName>
                                        </p:attrNameLst>
                                      </p:cBhvr>
                                      <p:tavLst>
                                        <p:tav tm="0">
                                          <p:val>
                                            <p:strVal val="#ppt_y+.08"/>
                                          </p:val>
                                        </p:tav>
                                        <p:tav tm="100000">
                                          <p:val>
                                            <p:strVal val="#ppt_y"/>
                                          </p:val>
                                        </p:tav>
                                      </p:tavLst>
                                    </p:anim>
                                  </p:childTnLst>
                                </p:cTn>
                              </p:par>
                            </p:childTnLst>
                          </p:cTn>
                        </p:par>
                        <p:par>
                          <p:cTn id="199" fill="hold">
                            <p:stCondLst>
                              <p:cond delay="1980"/>
                            </p:stCondLst>
                            <p:childTnLst>
                              <p:par>
                                <p:cTn id="200" presetID="42" presetClass="entr" presetSubtype="0" fill="hold" grpId="0" nodeType="afterEffect">
                                  <p:stCondLst>
                                    <p:cond delay="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550"/>
                                        <p:tgtEl>
                                          <p:spTgt spid="42"/>
                                        </p:tgtEl>
                                      </p:cBhvr>
                                    </p:animEffect>
                                    <p:anim calcmode="lin" valueType="num">
                                      <p:cBhvr additive="base">
                                        <p:cTn id="203" dur="550" fill="hold"/>
                                        <p:tgtEl>
                                          <p:spTgt spid="42"/>
                                        </p:tgtEl>
                                        <p:attrNameLst>
                                          <p:attrName>ppt_x</p:attrName>
                                        </p:attrNameLst>
                                      </p:cBhvr>
                                      <p:tavLst>
                                        <p:tav tm="0">
                                          <p:val>
                                            <p:strVal val="#ppt_x"/>
                                          </p:val>
                                        </p:tav>
                                        <p:tav tm="100000">
                                          <p:val>
                                            <p:strVal val="#ppt_x"/>
                                          </p:val>
                                        </p:tav>
                                      </p:tavLst>
                                    </p:anim>
                                    <p:anim calcmode="lin" valueType="num">
                                      <p:cBhvr additive="base">
                                        <p:cTn id="204" dur="550" fill="hold"/>
                                        <p:tgtEl>
                                          <p:spTgt spid="42"/>
                                        </p:tgtEl>
                                        <p:attrNameLst>
                                          <p:attrName>ppt_y</p:attrName>
                                        </p:attrNameLst>
                                      </p:cBhvr>
                                      <p:tavLst>
                                        <p:tav tm="0">
                                          <p:val>
                                            <p:strVal val="#ppt_y+.08"/>
                                          </p:val>
                                        </p:tav>
                                        <p:tav tm="100000">
                                          <p:val>
                                            <p:strVal val="#ppt_y"/>
                                          </p:val>
                                        </p:tav>
                                      </p:tavLst>
                                    </p:anim>
                                  </p:childTnLst>
                                </p:cTn>
                              </p:par>
                            </p:childTnLst>
                          </p:cTn>
                        </p:par>
                        <p:par>
                          <p:cTn id="205" fill="hold">
                            <p:stCondLst>
                              <p:cond delay="1980"/>
                            </p:stCondLst>
                            <p:childTnLst>
                              <p:par>
                                <p:cTn id="206" presetID="42" presetClass="entr" presetSubtype="0" fill="hold" grpId="0" nodeType="afterEffect">
                                  <p:stCondLst>
                                    <p:cond delay="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550"/>
                                        <p:tgtEl>
                                          <p:spTgt spid="43"/>
                                        </p:tgtEl>
                                      </p:cBhvr>
                                    </p:animEffect>
                                    <p:anim calcmode="lin" valueType="num">
                                      <p:cBhvr additive="base">
                                        <p:cTn id="209" dur="550" fill="hold"/>
                                        <p:tgtEl>
                                          <p:spTgt spid="43"/>
                                        </p:tgtEl>
                                        <p:attrNameLst>
                                          <p:attrName>ppt_x</p:attrName>
                                        </p:attrNameLst>
                                      </p:cBhvr>
                                      <p:tavLst>
                                        <p:tav tm="0">
                                          <p:val>
                                            <p:strVal val="#ppt_x"/>
                                          </p:val>
                                        </p:tav>
                                        <p:tav tm="100000">
                                          <p:val>
                                            <p:strVal val="#ppt_x"/>
                                          </p:val>
                                        </p:tav>
                                      </p:tavLst>
                                    </p:anim>
                                    <p:anim calcmode="lin" valueType="num">
                                      <p:cBhvr additive="base">
                                        <p:cTn id="210" dur="550" fill="hold"/>
                                        <p:tgtEl>
                                          <p:spTgt spid="43"/>
                                        </p:tgtEl>
                                        <p:attrNameLst>
                                          <p:attrName>ppt_y</p:attrName>
                                        </p:attrNameLst>
                                      </p:cBhvr>
                                      <p:tavLst>
                                        <p:tav tm="0">
                                          <p:val>
                                            <p:strVal val="#ppt_y+.08"/>
                                          </p:val>
                                        </p:tav>
                                        <p:tav tm="100000">
                                          <p:val>
                                            <p:strVal val="#ppt_y"/>
                                          </p:val>
                                        </p:tav>
                                      </p:tavLst>
                                    </p:anim>
                                  </p:childTnLst>
                                </p:cTn>
                              </p:par>
                            </p:childTnLst>
                          </p:cTn>
                        </p:par>
                        <p:par>
                          <p:cTn id="211" fill="hold">
                            <p:stCondLst>
                              <p:cond delay="1980"/>
                            </p:stCondLst>
                            <p:childTnLst>
                              <p:par>
                                <p:cTn id="212" presetID="53" presetClass="entr" presetSubtype="16" fill="hold" grpId="0" nodeType="afterEffect">
                                  <p:stCondLst>
                                    <p:cond delay="0"/>
                                  </p:stCondLst>
                                  <p:childTnLst>
                                    <p:set>
                                      <p:cBhvr>
                                        <p:cTn id="213" dur="1" fill="hold">
                                          <p:stCondLst>
                                            <p:cond delay="0"/>
                                          </p:stCondLst>
                                        </p:cTn>
                                        <p:tgtEl>
                                          <p:spTgt spid="44"/>
                                        </p:tgtEl>
                                        <p:attrNameLst>
                                          <p:attrName>style.visibility</p:attrName>
                                        </p:attrNameLst>
                                      </p:cBhvr>
                                      <p:to>
                                        <p:strVal val="visible"/>
                                      </p:to>
                                    </p:set>
                                    <p:animEffect transition="in" filter="fade">
                                      <p:cBhvr>
                                        <p:cTn id="214" dur="550"/>
                                        <p:tgtEl>
                                          <p:spTgt spid="44"/>
                                        </p:tgtEl>
                                      </p:cBhvr>
                                    </p:animEffect>
                                    <p:anim calcmode="lin" valueType="num">
                                      <p:cBhvr additive="base">
                                        <p:cTn id="215" dur="550" fill="hold"/>
                                        <p:tgtEl>
                                          <p:spTgt spid="44"/>
                                        </p:tgtEl>
                                        <p:attrNameLst>
                                          <p:attrName>ppt_w</p:attrName>
                                        </p:attrNameLst>
                                      </p:cBhvr>
                                      <p:tavLst>
                                        <p:tav tm="0">
                                          <p:val>
                                            <p:strVal val="0"/>
                                          </p:val>
                                        </p:tav>
                                        <p:tav tm="100000">
                                          <p:val>
                                            <p:strVal val="#ppt_w"/>
                                          </p:val>
                                        </p:tav>
                                      </p:tavLst>
                                    </p:anim>
                                    <p:anim calcmode="lin" valueType="num">
                                      <p:cBhvr additive="base">
                                        <p:cTn id="216" dur="550" fill="hold"/>
                                        <p:tgtEl>
                                          <p:spTgt spid="44"/>
                                        </p:tgtEl>
                                        <p:attrNameLst>
                                          <p:attrName>ppt_h</p:attrName>
                                        </p:attrNameLst>
                                      </p:cBhvr>
                                      <p:tavLst>
                                        <p:tav tm="0">
                                          <p:val>
                                            <p:strVal val="0"/>
                                          </p:val>
                                        </p:tav>
                                        <p:tav tm="100000">
                                          <p:val>
                                            <p:strVal val="#ppt_h"/>
                                          </p:val>
                                        </p:tav>
                                      </p:tavLst>
                                    </p:anim>
                                  </p:childTnLst>
                                </p:cTn>
                              </p:par>
                            </p:childTnLst>
                          </p:cTn>
                        </p:par>
                        <p:par>
                          <p:cTn id="217" fill="hold">
                            <p:stCondLst>
                              <p:cond delay="1980"/>
                            </p:stCondLst>
                            <p:childTnLst>
                              <p:par>
                                <p:cTn id="218" presetID="42" presetClass="entr" presetSubtype="0" fill="hold" grpId="0" nodeType="afterEffect">
                                  <p:stCondLst>
                                    <p:cond delay="0"/>
                                  </p:stCondLst>
                                  <p:childTnLst>
                                    <p:set>
                                      <p:cBhvr>
                                        <p:cTn id="219" dur="1" fill="hold">
                                          <p:stCondLst>
                                            <p:cond delay="0"/>
                                          </p:stCondLst>
                                        </p:cTn>
                                        <p:tgtEl>
                                          <p:spTgt spid="45"/>
                                        </p:tgtEl>
                                        <p:attrNameLst>
                                          <p:attrName>style.visibility</p:attrName>
                                        </p:attrNameLst>
                                      </p:cBhvr>
                                      <p:to>
                                        <p:strVal val="visible"/>
                                      </p:to>
                                    </p:set>
                                    <p:animEffect transition="in" filter="fade">
                                      <p:cBhvr>
                                        <p:cTn id="220" dur="550"/>
                                        <p:tgtEl>
                                          <p:spTgt spid="45"/>
                                        </p:tgtEl>
                                      </p:cBhvr>
                                    </p:animEffect>
                                    <p:anim calcmode="lin" valueType="num">
                                      <p:cBhvr additive="base">
                                        <p:cTn id="221" dur="550" fill="hold"/>
                                        <p:tgtEl>
                                          <p:spTgt spid="45"/>
                                        </p:tgtEl>
                                        <p:attrNameLst>
                                          <p:attrName>ppt_x</p:attrName>
                                        </p:attrNameLst>
                                      </p:cBhvr>
                                      <p:tavLst>
                                        <p:tav tm="0">
                                          <p:val>
                                            <p:strVal val="#ppt_x"/>
                                          </p:val>
                                        </p:tav>
                                        <p:tav tm="100000">
                                          <p:val>
                                            <p:strVal val="#ppt_x"/>
                                          </p:val>
                                        </p:tav>
                                      </p:tavLst>
                                    </p:anim>
                                    <p:anim calcmode="lin" valueType="num">
                                      <p:cBhvr additive="base">
                                        <p:cTn id="222" dur="550" fill="hold"/>
                                        <p:tgtEl>
                                          <p:spTgt spid="45"/>
                                        </p:tgtEl>
                                        <p:attrNameLst>
                                          <p:attrName>ppt_y</p:attrName>
                                        </p:attrNameLst>
                                      </p:cBhvr>
                                      <p:tavLst>
                                        <p:tav tm="0">
                                          <p:val>
                                            <p:strVal val="#ppt_y+.08"/>
                                          </p:val>
                                        </p:tav>
                                        <p:tav tm="100000">
                                          <p:val>
                                            <p:strVal val="#ppt_y"/>
                                          </p:val>
                                        </p:tav>
                                      </p:tavLst>
                                    </p:anim>
                                  </p:childTnLst>
                                </p:cTn>
                              </p:par>
                            </p:childTnLst>
                          </p:cTn>
                        </p:par>
                        <p:par>
                          <p:cTn id="223" fill="hold">
                            <p:stCondLst>
                              <p:cond delay="2200"/>
                            </p:stCondLst>
                            <p:childTnLst>
                              <p:par>
                                <p:cTn id="224" presetID="42" presetClass="entr" presetSubtype="0" fill="hold" grpId="0" nodeType="afterEffect">
                                  <p:stCondLst>
                                    <p:cond delay="0"/>
                                  </p:stCondLst>
                                  <p:childTnLst>
                                    <p:set>
                                      <p:cBhvr>
                                        <p:cTn id="225" dur="1" fill="hold">
                                          <p:stCondLst>
                                            <p:cond delay="0"/>
                                          </p:stCondLst>
                                        </p:cTn>
                                        <p:tgtEl>
                                          <p:spTgt spid="46"/>
                                        </p:tgtEl>
                                        <p:attrNameLst>
                                          <p:attrName>style.visibility</p:attrName>
                                        </p:attrNameLst>
                                      </p:cBhvr>
                                      <p:to>
                                        <p:strVal val="visible"/>
                                      </p:to>
                                    </p:set>
                                    <p:animEffect transition="in" filter="fade">
                                      <p:cBhvr>
                                        <p:cTn id="226" dur="550"/>
                                        <p:tgtEl>
                                          <p:spTgt spid="46"/>
                                        </p:tgtEl>
                                      </p:cBhvr>
                                    </p:animEffect>
                                    <p:anim calcmode="lin" valueType="num">
                                      <p:cBhvr additive="base">
                                        <p:cTn id="227" dur="550" fill="hold"/>
                                        <p:tgtEl>
                                          <p:spTgt spid="46"/>
                                        </p:tgtEl>
                                        <p:attrNameLst>
                                          <p:attrName>ppt_x</p:attrName>
                                        </p:attrNameLst>
                                      </p:cBhvr>
                                      <p:tavLst>
                                        <p:tav tm="0">
                                          <p:val>
                                            <p:strVal val="#ppt_x"/>
                                          </p:val>
                                        </p:tav>
                                        <p:tav tm="100000">
                                          <p:val>
                                            <p:strVal val="#ppt_x"/>
                                          </p:val>
                                        </p:tav>
                                      </p:tavLst>
                                    </p:anim>
                                    <p:anim calcmode="lin" valueType="num">
                                      <p:cBhvr additive="base">
                                        <p:cTn id="228" dur="550" fill="hold"/>
                                        <p:tgtEl>
                                          <p:spTgt spid="46"/>
                                        </p:tgtEl>
                                        <p:attrNameLst>
                                          <p:attrName>ppt_y</p:attrName>
                                        </p:attrNameLst>
                                      </p:cBhvr>
                                      <p:tavLst>
                                        <p:tav tm="0">
                                          <p:val>
                                            <p:strVal val="#ppt_y+.08"/>
                                          </p:val>
                                        </p:tav>
                                        <p:tav tm="100000">
                                          <p:val>
                                            <p:strVal val="#ppt_y"/>
                                          </p:val>
                                        </p:tav>
                                      </p:tavLst>
                                    </p:anim>
                                  </p:childTnLst>
                                </p:cTn>
                              </p:par>
                            </p:childTnLst>
                          </p:cTn>
                        </p:par>
                        <p:par>
                          <p:cTn id="229" fill="hold">
                            <p:stCondLst>
                              <p:cond delay="2200"/>
                            </p:stCondLst>
                            <p:childTnLst>
                              <p:par>
                                <p:cTn id="230" presetID="42" presetClass="entr" presetSubtype="0" fill="hold" grpId="0" nodeType="afterEffect">
                                  <p:stCondLst>
                                    <p:cond delay="0"/>
                                  </p:stCondLst>
                                  <p:childTnLst>
                                    <p:set>
                                      <p:cBhvr>
                                        <p:cTn id="231" dur="1" fill="hold">
                                          <p:stCondLst>
                                            <p:cond delay="0"/>
                                          </p:stCondLst>
                                        </p:cTn>
                                        <p:tgtEl>
                                          <p:spTgt spid="47"/>
                                        </p:tgtEl>
                                        <p:attrNameLst>
                                          <p:attrName>style.visibility</p:attrName>
                                        </p:attrNameLst>
                                      </p:cBhvr>
                                      <p:to>
                                        <p:strVal val="visible"/>
                                      </p:to>
                                    </p:set>
                                    <p:animEffect transition="in" filter="fade">
                                      <p:cBhvr>
                                        <p:cTn id="232" dur="550"/>
                                        <p:tgtEl>
                                          <p:spTgt spid="47"/>
                                        </p:tgtEl>
                                      </p:cBhvr>
                                    </p:animEffect>
                                    <p:anim calcmode="lin" valueType="num">
                                      <p:cBhvr additive="base">
                                        <p:cTn id="233" dur="550" fill="hold"/>
                                        <p:tgtEl>
                                          <p:spTgt spid="47"/>
                                        </p:tgtEl>
                                        <p:attrNameLst>
                                          <p:attrName>ppt_x</p:attrName>
                                        </p:attrNameLst>
                                      </p:cBhvr>
                                      <p:tavLst>
                                        <p:tav tm="0">
                                          <p:val>
                                            <p:strVal val="#ppt_x"/>
                                          </p:val>
                                        </p:tav>
                                        <p:tav tm="100000">
                                          <p:val>
                                            <p:strVal val="#ppt_x"/>
                                          </p:val>
                                        </p:tav>
                                      </p:tavLst>
                                    </p:anim>
                                    <p:anim calcmode="lin" valueType="num">
                                      <p:cBhvr additive="base">
                                        <p:cTn id="234" dur="550" fill="hold"/>
                                        <p:tgtEl>
                                          <p:spTgt spid="47"/>
                                        </p:tgtEl>
                                        <p:attrNameLst>
                                          <p:attrName>ppt_y</p:attrName>
                                        </p:attrNameLst>
                                      </p:cBhvr>
                                      <p:tavLst>
                                        <p:tav tm="0">
                                          <p:val>
                                            <p:strVal val="#ppt_y+.08"/>
                                          </p:val>
                                        </p:tav>
                                        <p:tav tm="100000">
                                          <p:val>
                                            <p:strVal val="#ppt_y"/>
                                          </p:val>
                                        </p:tav>
                                      </p:tavLst>
                                    </p:anim>
                                  </p:childTnLst>
                                </p:cTn>
                              </p:par>
                            </p:childTnLst>
                          </p:cTn>
                        </p:par>
                        <p:par>
                          <p:cTn id="235" fill="hold">
                            <p:stCondLst>
                              <p:cond delay="2200"/>
                            </p:stCondLst>
                            <p:childTnLst>
                              <p:par>
                                <p:cTn id="236" presetID="53" presetClass="entr" presetSubtype="16" fill="hold" grpId="0" nodeType="afterEffect">
                                  <p:stCondLst>
                                    <p:cond delay="0"/>
                                  </p:stCondLst>
                                  <p:childTnLst>
                                    <p:set>
                                      <p:cBhvr>
                                        <p:cTn id="237" dur="1" fill="hold">
                                          <p:stCondLst>
                                            <p:cond delay="0"/>
                                          </p:stCondLst>
                                        </p:cTn>
                                        <p:tgtEl>
                                          <p:spTgt spid="48"/>
                                        </p:tgtEl>
                                        <p:attrNameLst>
                                          <p:attrName>style.visibility</p:attrName>
                                        </p:attrNameLst>
                                      </p:cBhvr>
                                      <p:to>
                                        <p:strVal val="visible"/>
                                      </p:to>
                                    </p:set>
                                    <p:animEffect transition="in" filter="fade">
                                      <p:cBhvr>
                                        <p:cTn id="238" dur="550"/>
                                        <p:tgtEl>
                                          <p:spTgt spid="48"/>
                                        </p:tgtEl>
                                      </p:cBhvr>
                                    </p:animEffect>
                                    <p:anim calcmode="lin" valueType="num">
                                      <p:cBhvr additive="base">
                                        <p:cTn id="239" dur="550" fill="hold"/>
                                        <p:tgtEl>
                                          <p:spTgt spid="48"/>
                                        </p:tgtEl>
                                        <p:attrNameLst>
                                          <p:attrName>ppt_w</p:attrName>
                                        </p:attrNameLst>
                                      </p:cBhvr>
                                      <p:tavLst>
                                        <p:tav tm="0">
                                          <p:val>
                                            <p:strVal val="0"/>
                                          </p:val>
                                        </p:tav>
                                        <p:tav tm="100000">
                                          <p:val>
                                            <p:strVal val="#ppt_w"/>
                                          </p:val>
                                        </p:tav>
                                      </p:tavLst>
                                    </p:anim>
                                    <p:anim calcmode="lin" valueType="num">
                                      <p:cBhvr additive="base">
                                        <p:cTn id="240" dur="550" fill="hold"/>
                                        <p:tgtEl>
                                          <p:spTgt spid="48"/>
                                        </p:tgtEl>
                                        <p:attrNameLst>
                                          <p:attrName>ppt_h</p:attrName>
                                        </p:attrNameLst>
                                      </p:cBhvr>
                                      <p:tavLst>
                                        <p:tav tm="0">
                                          <p:val>
                                            <p:strVal val="0"/>
                                          </p:val>
                                        </p:tav>
                                        <p:tav tm="100000">
                                          <p:val>
                                            <p:strVal val="#ppt_h"/>
                                          </p:val>
                                        </p:tav>
                                      </p:tavLst>
                                    </p:anim>
                                  </p:childTnLst>
                                </p:cTn>
                              </p:par>
                            </p:childTnLst>
                          </p:cTn>
                        </p:par>
                        <p:par>
                          <p:cTn id="241" fill="hold">
                            <p:stCondLst>
                              <p:cond delay="2200"/>
                            </p:stCondLst>
                            <p:childTnLst>
                              <p:par>
                                <p:cTn id="242" presetID="42" presetClass="entr" presetSubtype="0" fill="hold" grpId="0" nodeType="afterEffect">
                                  <p:stCondLst>
                                    <p:cond delay="0"/>
                                  </p:stCondLst>
                                  <p:childTnLst>
                                    <p:set>
                                      <p:cBhvr>
                                        <p:cTn id="243" dur="1" fill="hold">
                                          <p:stCondLst>
                                            <p:cond delay="0"/>
                                          </p:stCondLst>
                                        </p:cTn>
                                        <p:tgtEl>
                                          <p:spTgt spid="49"/>
                                        </p:tgtEl>
                                        <p:attrNameLst>
                                          <p:attrName>style.visibility</p:attrName>
                                        </p:attrNameLst>
                                      </p:cBhvr>
                                      <p:to>
                                        <p:strVal val="visible"/>
                                      </p:to>
                                    </p:set>
                                    <p:animEffect transition="in" filter="fade">
                                      <p:cBhvr>
                                        <p:cTn id="244" dur="550"/>
                                        <p:tgtEl>
                                          <p:spTgt spid="49"/>
                                        </p:tgtEl>
                                      </p:cBhvr>
                                    </p:animEffect>
                                    <p:anim calcmode="lin" valueType="num">
                                      <p:cBhvr additive="base">
                                        <p:cTn id="245" dur="550" fill="hold"/>
                                        <p:tgtEl>
                                          <p:spTgt spid="49"/>
                                        </p:tgtEl>
                                        <p:attrNameLst>
                                          <p:attrName>ppt_x</p:attrName>
                                        </p:attrNameLst>
                                      </p:cBhvr>
                                      <p:tavLst>
                                        <p:tav tm="0">
                                          <p:val>
                                            <p:strVal val="#ppt_x"/>
                                          </p:val>
                                        </p:tav>
                                        <p:tav tm="100000">
                                          <p:val>
                                            <p:strVal val="#ppt_x"/>
                                          </p:val>
                                        </p:tav>
                                      </p:tavLst>
                                    </p:anim>
                                    <p:anim calcmode="lin" valueType="num">
                                      <p:cBhvr additive="base">
                                        <p:cTn id="246" dur="550" fill="hold"/>
                                        <p:tgtEl>
                                          <p:spTgt spid="4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01</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Mavzuning maqsadi va o'rganish natijalari</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Mashg'ulotning maqsadi — optimallashtirilgan sun'iy intellekt modelini real xizmat ko'rinishida ikki xil muhitga joylashtirish (deployment) ko'nikmasini shakllantirish: bulutli (cloud)…</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Mashg'ulot yakunida talaba:</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Inferens modelini FastAPI asosida HTTP xizmatiga o'rab, ko'p bosqichli (multi-stage) Dockerfile yozadi va konteyner hajmi, ishga tushish vaqti va resurs cheklovlarini boshqaradi;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Kubernetes'da Deployment, Service, HorizontalPodAutoscaler va resurs so'rovlari (requests/limits) manifestlarini yozib, xizmatni minikube yoki k3s klasterida ishga tushiradi, yuklama ostida…</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Jetson qurilmasida TensorRT dvigatelini yoki Coral Edge TPU'da TFLite modelini ishga tushirib, chekka inferensning latency va quvvatini o'lchaydi;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Mavzuning maqsadi va o'rganish natijalari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800" b="0">
                <a:solidFill>
                  <a:srgbClr val="1B2430"/>
                </a:solidFill>
                <a:latin typeface="Calibri"/>
              </a:rPr>
              <a:t>Cloud va Edge arxitekturalarini miqdoriy mezonlar (uchdan-uchga kechikish, tarmoq trafigi, 3 yillik TCO, Vt/inferens, maxfiylik, oflayn ishlash) bo'yicha solishtirib, gibrid arxitektura…</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800" b="0">
                <a:solidFill>
                  <a:srgbClr val="1B2430"/>
                </a:solidFill>
                <a:latin typeface="Calibri"/>
              </a:rPr>
              <a:t>Xizmatning kuzatiluvchanligini (observability) — Prometheus metrikalari, sog'liq tekshiruvi (health check), loglar — joylashtirishning ajralmas qismi sifatida tashkil etadi.</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800" b="0">
                <a:solidFill>
                  <a:srgbClr val="1B2430"/>
                </a:solidFill>
                <a:latin typeface="Calibri"/>
              </a:rPr>
              <a:t>Mavzu fanning TN4 (AI tizimlarini joylashtirish va ekspluatatsiya qilish), TN6 (Edge va Cloud infratuzilmasini loyihalash) hamda TN7 (muhandislik hujjatlari va himoya) ta'lim natijalariga…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02</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Kirish</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Kirish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Model qanchalik tez va aniq bo'lmasin, foydalanuvchi uchun u faqat xizmat sifatida mavjud bo'lganda qiymatga ega. Joylashtirish bosqichi ko'pincha e'tibordan chetda qoladi, holbuki sanoatda muammolarning katta qismi aynan shu yerda yuzaga keladi: «mening…</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Docker konteyneri — ilova va uning barcha bog'liqliklarini (kutubxonalar, CUDA runtime, model fayli) bitta ko'chma tasvirga (image) joylash; xost yadrosi (kernel) umumiy, lekin fayl tizimi, jarayonlar va tarmoq izolyatsiyalangan. Kubernetes (K8s) —…</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Chekka hisoblash (Edge AI) boshqa falsafa: ma'lumot paydo bo'lgan joyda — kamera, stanok, avtomobil, tibbiy qurilma yonida — qayta ishlanadi. Afzalliklari: millisekundli kechikish (tarmoqqa bog'liq emas), tarmoq trafigini tejash (16 kamera 64 Mbit/s uzluksiz…</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03</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Nazariy asoslar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Konteynerlashtirish va AI uchun Docker amaliyoti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AI xizmatining Docker tasviri odatiy veb-ilovadan farq qiladi: CUDA kutubxonalari (1–3 GB), PyTorch (2 GB dan ortiq), model fayli (yuzlab MB). Shu sababli bir necha amaliy qoida mavjud.</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ONNX Runtime CPU asosidagi xizmat tasviri odatda 400–600 MB, TensorRT GPU tasviri 3–6 GB bo'ladi; ishga tushish vaqti (model yuklanishi bilan) mos ravishda 2–5 soniya va 10–40 soniya (TensorRT dvigatelini deserializatsiya qilish yoki qurish). Bu raqamlar…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Kubernetes: AI xizmatining asosiy ob'ektlari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Readiness probe (xizmat so'rov qabul qilishga tayyormi) va liveness probe (jarayon tirikmi) AI xizmatida farq qiladi: model yuklanayotgan 30 soniya davomida Pod tirik, lekin tayyor emas — trafik unga yuborilmasligi kerak. GPU Pod'lar uchun limits majburiy va…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Kubernetes: AI xizmatining asosiy ob'ektlari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graphicFrame>
        <p:nvGraphicFramePr>
          <p:cNvPr id="10" name="Table 9"/>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Ob'ekt</a:t>
                      </a:r>
                    </a:p>
                  </a:txBody>
                  <a:tcPr>
                    <a:solidFill>
                      <a:srgbClr val="2D5C8F"/>
                    </a:solidFill>
                  </a:tcPr>
                </a:tc>
                <a:tc>
                  <a:txBody>
                    <a:bodyPr/>
                    <a:lstStyle/>
                    <a:p>
                      <a:r>
                        <a:rPr sz="1200" b="1">
                          <a:solidFill>
                            <a:srgbClr val="FFFFFF"/>
                          </a:solidFill>
                          <a:latin typeface="Calibri"/>
                        </a:rPr>
                        <a:t>Vazifasi</a:t>
                      </a:r>
                    </a:p>
                  </a:txBody>
                  <a:tcPr>
                    <a:solidFill>
                      <a:srgbClr val="2D5C8F"/>
                    </a:solidFill>
                  </a:tcPr>
                </a:tc>
                <a:tc>
                  <a:txBody>
                    <a:bodyPr/>
                    <a:lstStyle/>
                    <a:p>
                      <a:r>
                        <a:rPr sz="1200" b="1">
                          <a:solidFill>
                            <a:srgbClr val="FFFFFF"/>
                          </a:solidFill>
                          <a:latin typeface="Calibri"/>
                        </a:rPr>
                        <a:t>AI xizmatida muhim parametrlar</a:t>
                      </a:r>
                    </a:p>
                  </a:txBody>
                  <a:tcPr>
                    <a:solidFill>
                      <a:srgbClr val="2D5C8F"/>
                    </a:solidFill>
                  </a:tcPr>
                </a:tc>
              </a:tr>
              <a:tr h="520000">
                <a:tc>
                  <a:txBody>
                    <a:bodyPr/>
                    <a:lstStyle/>
                    <a:p>
                      <a:r>
                        <a:rPr sz="1200" b="0">
                          <a:solidFill>
                            <a:srgbClr val="1B2430"/>
                          </a:solidFill>
                          <a:latin typeface="Calibri"/>
                        </a:rPr>
                        <a:t>Pod</a:t>
                      </a:r>
                    </a:p>
                  </a:txBody>
                  <a:tcPr>
                    <a:solidFill>
                      <a:srgbClr val="F1F4F8"/>
                    </a:solidFill>
                  </a:tcPr>
                </a:tc>
                <a:tc>
                  <a:txBody>
                    <a:bodyPr/>
                    <a:lstStyle/>
                    <a:p>
                      <a:r>
                        <a:rPr sz="1200" b="0">
                          <a:solidFill>
                            <a:srgbClr val="1B2430"/>
                          </a:solidFill>
                          <a:latin typeface="Calibri"/>
                        </a:rPr>
                        <a:t>bir yoki bir nechta konteyner, eng kichik joylash birligi</a:t>
                      </a:r>
                    </a:p>
                  </a:txBody>
                  <a:tcPr>
                    <a:solidFill>
                      <a:srgbClr val="F1F4F8"/>
                    </a:solidFill>
                  </a:tcPr>
                </a:tc>
                <a:tc>
                  <a:txBody>
                    <a:bodyPr/>
                    <a:lstStyle/>
                    <a:p>
                      <a:r>
                        <a:rPr sz="1200" b="0">
                          <a:solidFill>
                            <a:srgbClr val="1B2430"/>
                          </a:solidFill>
                          <a:latin typeface="Calibri"/>
                        </a:rPr>
                        <a:t>resources.requests/limits (CPU, xotira, nvidia.com/gpu)</a:t>
                      </a:r>
                    </a:p>
                  </a:txBody>
                  <a:tcPr>
                    <a:solidFill>
                      <a:srgbClr val="F1F4F8"/>
                    </a:solidFill>
                  </a:tcPr>
                </a:tc>
              </a:tr>
              <a:tr h="520000">
                <a:tc>
                  <a:txBody>
                    <a:bodyPr/>
                    <a:lstStyle/>
                    <a:p>
                      <a:r>
                        <a:rPr sz="1200" b="0">
                          <a:solidFill>
                            <a:srgbClr val="1B2430"/>
                          </a:solidFill>
                          <a:latin typeface="Calibri"/>
                        </a:rPr>
                        <a:t>Deployment</a:t>
                      </a:r>
                    </a:p>
                  </a:txBody>
                  <a:tcPr>
                    <a:solidFill>
                      <a:srgbClr val="FFFFFF"/>
                    </a:solidFill>
                  </a:tcPr>
                </a:tc>
                <a:tc>
                  <a:txBody>
                    <a:bodyPr/>
                    <a:lstStyle/>
                    <a:p>
                      <a:r>
                        <a:rPr sz="1200" b="0">
                          <a:solidFill>
                            <a:srgbClr val="1B2430"/>
                          </a:solidFill>
                          <a:latin typeface="Calibri"/>
                        </a:rPr>
                        <a:t>Pod nusxalarini boshqaradi, yangilanishni bosqichma-bosqich (rolling update) bajaradi</a:t>
                      </a:r>
                    </a:p>
                  </a:txBody>
                  <a:tcPr>
                    <a:solidFill>
                      <a:srgbClr val="FFFFFF"/>
                    </a:solidFill>
                  </a:tcPr>
                </a:tc>
                <a:tc>
                  <a:txBody>
                    <a:bodyPr/>
                    <a:lstStyle/>
                    <a:p>
                      <a:r>
                        <a:rPr sz="1200" b="0">
                          <a:solidFill>
                            <a:srgbClr val="1B2430"/>
                          </a:solidFill>
                          <a:latin typeface="Calibri"/>
                        </a:rPr>
                        <a:t>replicas, strategy.rollingUpdate.maxUnavailable, probe'lar</a:t>
                      </a:r>
                    </a:p>
                  </a:txBody>
                  <a:tcPr>
                    <a:solidFill>
                      <a:srgbClr val="FFFFFF"/>
                    </a:solidFill>
                  </a:tcPr>
                </a:tc>
              </a:tr>
              <a:tr h="520000">
                <a:tc>
                  <a:txBody>
                    <a:bodyPr/>
                    <a:lstStyle/>
                    <a:p>
                      <a:r>
                        <a:rPr sz="1200" b="0">
                          <a:solidFill>
                            <a:srgbClr val="1B2430"/>
                          </a:solidFill>
                          <a:latin typeface="Calibri"/>
                        </a:rPr>
                        <a:t>Service</a:t>
                      </a:r>
                    </a:p>
                  </a:txBody>
                  <a:tcPr>
                    <a:solidFill>
                      <a:srgbClr val="F1F4F8"/>
                    </a:solidFill>
                  </a:tcPr>
                </a:tc>
                <a:tc>
                  <a:txBody>
                    <a:bodyPr/>
                    <a:lstStyle/>
                    <a:p>
                      <a:r>
                        <a:rPr sz="1200" b="0">
                          <a:solidFill>
                            <a:srgbClr val="1B2430"/>
                          </a:solidFill>
                          <a:latin typeface="Calibri"/>
                        </a:rPr>
                        <a:t>Pod'larga barqaror tarmoq manzili va yuk taqsimlash</a:t>
                      </a:r>
                    </a:p>
                  </a:txBody>
                  <a:tcPr>
                    <a:solidFill>
                      <a:srgbClr val="F1F4F8"/>
                    </a:solidFill>
                  </a:tcPr>
                </a:tc>
                <a:tc>
                  <a:txBody>
                    <a:bodyPr/>
                    <a:lstStyle/>
                    <a:p>
                      <a:r>
                        <a:rPr sz="1200" b="0">
                          <a:solidFill>
                            <a:srgbClr val="1B2430"/>
                          </a:solidFill>
                          <a:latin typeface="Calibri"/>
                        </a:rPr>
                        <a:t>ClusterIP (ichki), NodePort/LoadBalancer (tashqi)</a:t>
                      </a:r>
                    </a:p>
                  </a:txBody>
                  <a:tcPr>
                    <a:solidFill>
                      <a:srgbClr val="F1F4F8"/>
                    </a:solidFill>
                  </a:tcPr>
                </a:tc>
              </a:tr>
              <a:tr h="520000">
                <a:tc>
                  <a:txBody>
                    <a:bodyPr/>
                    <a:lstStyle/>
                    <a:p>
                      <a:r>
                        <a:rPr sz="1200" b="0">
                          <a:solidFill>
                            <a:srgbClr val="1B2430"/>
                          </a:solidFill>
                          <a:latin typeface="Calibri"/>
                        </a:rPr>
                        <a:t>HorizontalPodAutoscaler (HPA)</a:t>
                      </a:r>
                    </a:p>
                  </a:txBody>
                  <a:tcPr>
                    <a:solidFill>
                      <a:srgbClr val="FFFFFF"/>
                    </a:solidFill>
                  </a:tcPr>
                </a:tc>
                <a:tc>
                  <a:txBody>
                    <a:bodyPr/>
                    <a:lstStyle/>
                    <a:p>
                      <a:r>
                        <a:rPr sz="1200" b="0">
                          <a:solidFill>
                            <a:srgbClr val="1B2430"/>
                          </a:solidFill>
                          <a:latin typeface="Calibri"/>
                        </a:rPr>
                        <a:t>metrikaga qarab nusxalar sonini avtomatik o'zgartiradi</a:t>
                      </a:r>
                    </a:p>
                  </a:txBody>
                  <a:tcPr>
                    <a:solidFill>
                      <a:srgbClr val="FFFFFF"/>
                    </a:solidFill>
                  </a:tcPr>
                </a:tc>
                <a:tc>
                  <a:txBody>
                    <a:bodyPr/>
                    <a:lstStyle/>
                    <a:p>
                      <a:r>
                        <a:rPr sz="1200" b="0">
                          <a:solidFill>
                            <a:srgbClr val="1B2430"/>
                          </a:solidFill>
                          <a:latin typeface="Calibri"/>
                        </a:rPr>
                        <a:t>CPU foizi, maxsus metrika (so'rov/s, GPU bandligi)</a:t>
                      </a:r>
                    </a:p>
                  </a:txBody>
                  <a:tcPr>
                    <a:solidFill>
                      <a:srgbClr val="FFFFFF"/>
                    </a:solidFill>
                  </a:tcPr>
                </a:tc>
              </a:tr>
              <a:tr h="520000">
                <a:tc>
                  <a:txBody>
                    <a:bodyPr/>
                    <a:lstStyle/>
                    <a:p>
                      <a:r>
                        <a:rPr sz="1200" b="0">
                          <a:solidFill>
                            <a:srgbClr val="1B2430"/>
                          </a:solidFill>
                          <a:latin typeface="Calibri"/>
                        </a:rPr>
                        <a:t>ConfigMap / Secret</a:t>
                      </a:r>
                    </a:p>
                  </a:txBody>
                  <a:tcPr>
                    <a:solidFill>
                      <a:srgbClr val="F1F4F8"/>
                    </a:solidFill>
                  </a:tcPr>
                </a:tc>
                <a:tc>
                  <a:txBody>
                    <a:bodyPr/>
                    <a:lstStyle/>
                    <a:p>
                      <a:r>
                        <a:rPr sz="1200" b="0">
                          <a:solidFill>
                            <a:srgbClr val="1B2430"/>
                          </a:solidFill>
                          <a:latin typeface="Calibri"/>
                        </a:rPr>
                        <a:t>sozlamalar va sirlar</a:t>
                      </a:r>
                    </a:p>
                  </a:txBody>
                  <a:tcPr>
                    <a:solidFill>
                      <a:srgbClr val="F1F4F8"/>
                    </a:solidFill>
                  </a:tcPr>
                </a:tc>
                <a:tc>
                  <a:txBody>
                    <a:bodyPr/>
                    <a:lstStyle/>
                    <a:p>
                      <a:r>
                        <a:rPr sz="1200" b="0">
                          <a:solidFill>
                            <a:srgbClr val="1B2430"/>
                          </a:solidFill>
                          <a:latin typeface="Calibri"/>
                        </a:rPr>
                        <a:t>model yo'li, paket o'lchami, API kalitlari</a:t>
                      </a:r>
                    </a:p>
                  </a:txBody>
                  <a:tcPr>
                    <a:solidFill>
                      <a:srgbClr val="F1F4F8"/>
                    </a:solidFill>
                  </a:tcPr>
                </a:tc>
              </a:tr>
              <a:tr h="520000">
                <a:tc>
                  <a:txBody>
                    <a:bodyPr/>
                    <a:lstStyle/>
                    <a:p>
                      <a:r>
                        <a:rPr sz="1200" b="0">
                          <a:solidFill>
                            <a:srgbClr val="1B2430"/>
                          </a:solidFill>
                          <a:latin typeface="Calibri"/>
                        </a:rPr>
                        <a:t>PersistentVolume</a:t>
                      </a:r>
                    </a:p>
                  </a:txBody>
                  <a:tcPr>
                    <a:solidFill>
                      <a:srgbClr val="FFFFFF"/>
                    </a:solidFill>
                  </a:tcPr>
                </a:tc>
                <a:tc>
                  <a:txBody>
                    <a:bodyPr/>
                    <a:lstStyle/>
                    <a:p>
                      <a:r>
                        <a:rPr sz="1200" b="0">
                          <a:solidFill>
                            <a:srgbClr val="1B2430"/>
                          </a:solidFill>
                          <a:latin typeface="Calibri"/>
                        </a:rPr>
                        <a:t>saqlash</a:t>
                      </a:r>
                    </a:p>
                  </a:txBody>
                  <a:tcPr>
                    <a:solidFill>
                      <a:srgbClr val="FFFFFF"/>
                    </a:solidFill>
                  </a:tcPr>
                </a:tc>
                <a:tc>
                  <a:txBody>
                    <a:bodyPr/>
                    <a:lstStyle/>
                    <a:p>
                      <a:r>
                        <a:rPr sz="1200" b="0">
                          <a:solidFill>
                            <a:srgbClr val="1B2430"/>
                          </a:solidFill>
                          <a:latin typeface="Calibri"/>
                        </a:rPr>
                        <a:t>model ombori, kalibrlash ma'lumotlari</a:t>
                      </a:r>
                    </a:p>
                  </a:txBody>
                  <a:tcPr>
                    <a:solidFill>
                      <a:srgbClr val="FFFFFF"/>
                    </a:solidFill>
                  </a:tcPr>
                </a:tc>
              </a:tr>
              <a:tr h="520000">
                <a:tc>
                  <a:txBody>
                    <a:bodyPr/>
                    <a:lstStyle/>
                    <a:p>
                      <a:r>
                        <a:rPr sz="1200" b="0">
                          <a:solidFill>
                            <a:srgbClr val="1B2430"/>
                          </a:solidFill>
                          <a:latin typeface="Calibri"/>
                        </a:rPr>
                        <a:t>Ingress</a:t>
                      </a:r>
                    </a:p>
                  </a:txBody>
                  <a:tcPr>
                    <a:solidFill>
                      <a:srgbClr val="F1F4F8"/>
                    </a:solidFill>
                  </a:tcPr>
                </a:tc>
                <a:tc>
                  <a:txBody>
                    <a:bodyPr/>
                    <a:lstStyle/>
                    <a:p>
                      <a:r>
                        <a:rPr sz="1200" b="0">
                          <a:solidFill>
                            <a:srgbClr val="1B2430"/>
                          </a:solidFill>
                          <a:latin typeface="Calibri"/>
                        </a:rPr>
                        <a:t>HTTP marshrutlash, TLS</a:t>
                      </a:r>
                    </a:p>
                  </a:txBody>
                  <a:tcPr>
                    <a:solidFill>
                      <a:srgbClr val="F1F4F8"/>
                    </a:solidFill>
                  </a:tcPr>
                </a:tc>
                <a:tc>
                  <a:txBody>
                    <a:bodyPr/>
                    <a:lstStyle/>
                    <a:p>
                      <a:r>
                        <a:rPr sz="1200" b="0">
                          <a:solidFill>
                            <a:srgbClr val="1B2430"/>
                          </a:solidFill>
                          <a:latin typeface="Calibri"/>
                        </a:rPr>
                        <a:t>yagona kirish nuqtasi, versiyalar bo'yicha trafik bo'lish</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Chekka platformalar: Jetson va Edge TPU</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NVIDIA Jetson — ARM CPU + Ampere GPU (Orin avlodi) + apparat video kodek + umumiy LPDDR5 xotira bir chipda (SoC). JetPack dasturiy to'plami Ubuntu, CUDA, cuDNN, TensorRT, DeepStream va konteyner qo'llab-quvvatlashini (NVIDIA Container Runtime, l4t asos…</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Google Coral Edge TPU — 4 TOPS INT8 ASIC, ~2 Vt, USB yoki M.2/PCIe modul, shuningdek Dev Board. Faqat to'liq INT8 kvantlangan TensorFlow Lite modeli, Edge TPU kompilyatori (edgetpu_compiler) orqali kompilyatsiya qilingan holda ishlaydi; qo'llab-quvvatlanmagan…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Chekka platformalar: Jetson va Edge TPU</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graphicFrame>
        <p:nvGraphicFramePr>
          <p:cNvPr id="10" name="Table 9"/>
          <p:cNvGraphicFramePr>
            <a:graphicFrameLocks noGrp="1"/>
          </p:cNvGraphicFramePr>
          <p:nvPr/>
        </p:nvGraphicFramePr>
        <p:xfrm>
          <a:off x="500000" y="1350000"/>
          <a:ext cx="11200000" cy="416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400" b="1">
                          <a:solidFill>
                            <a:srgbClr val="FFFFFF"/>
                          </a:solidFill>
                          <a:latin typeface="Calibri"/>
                        </a:rPr>
                        <a:t>Ko'rsatkich</a:t>
                      </a:r>
                    </a:p>
                  </a:txBody>
                  <a:tcPr>
                    <a:solidFill>
                      <a:srgbClr val="2D5C8F"/>
                    </a:solidFill>
                  </a:tcPr>
                </a:tc>
                <a:tc>
                  <a:txBody>
                    <a:bodyPr/>
                    <a:lstStyle/>
                    <a:p>
                      <a:r>
                        <a:rPr sz="1400" b="1">
                          <a:solidFill>
                            <a:srgbClr val="FFFFFF"/>
                          </a:solidFill>
                          <a:latin typeface="Calibri"/>
                        </a:rPr>
                        <a:t>Jetson Orin NX 16 GB</a:t>
                      </a:r>
                    </a:p>
                  </a:txBody>
                  <a:tcPr>
                    <a:solidFill>
                      <a:srgbClr val="2D5C8F"/>
                    </a:solidFill>
                  </a:tcPr>
                </a:tc>
                <a:tc>
                  <a:txBody>
                    <a:bodyPr/>
                    <a:lstStyle/>
                    <a:p>
                      <a:r>
                        <a:rPr sz="1400" b="1">
                          <a:solidFill>
                            <a:srgbClr val="FFFFFF"/>
                          </a:solidFill>
                          <a:latin typeface="Calibri"/>
                        </a:rPr>
                        <a:t>Jetson Orin Nano 8 GB</a:t>
                      </a:r>
                    </a:p>
                  </a:txBody>
                  <a:tcPr>
                    <a:solidFill>
                      <a:srgbClr val="2D5C8F"/>
                    </a:solidFill>
                  </a:tcPr>
                </a:tc>
                <a:tc>
                  <a:txBody>
                    <a:bodyPr/>
                    <a:lstStyle/>
                    <a:p>
                      <a:r>
                        <a:rPr sz="1400" b="1">
                          <a:solidFill>
                            <a:srgbClr val="FFFFFF"/>
                          </a:solidFill>
                          <a:latin typeface="Calibri"/>
                        </a:rPr>
                        <a:t>Coral Edge TPU (M.2)</a:t>
                      </a:r>
                    </a:p>
                  </a:txBody>
                  <a:tcPr>
                    <a:solidFill>
                      <a:srgbClr val="2D5C8F"/>
                    </a:solidFill>
                  </a:tcPr>
                </a:tc>
              </a:tr>
              <a:tr h="520000">
                <a:tc>
                  <a:txBody>
                    <a:bodyPr/>
                    <a:lstStyle/>
                    <a:p>
                      <a:r>
                        <a:rPr sz="1400" b="0">
                          <a:solidFill>
                            <a:srgbClr val="1B2430"/>
                          </a:solidFill>
                          <a:latin typeface="Calibri"/>
                        </a:rPr>
                        <a:t>Inferens unumdorligi</a:t>
                      </a:r>
                    </a:p>
                  </a:txBody>
                  <a:tcPr>
                    <a:solidFill>
                      <a:srgbClr val="F1F4F8"/>
                    </a:solidFill>
                  </a:tcPr>
                </a:tc>
                <a:tc>
                  <a:txBody>
                    <a:bodyPr/>
                    <a:lstStyle/>
                    <a:p>
                      <a:r>
                        <a:rPr sz="1400" b="0">
                          <a:solidFill>
                            <a:srgbClr val="1B2430"/>
                          </a:solidFill>
                          <a:latin typeface="Calibri"/>
                        </a:rPr>
                        <a:t>~50 TOPS INT8 dense</a:t>
                      </a:r>
                    </a:p>
                  </a:txBody>
                  <a:tcPr>
                    <a:solidFill>
                      <a:srgbClr val="F1F4F8"/>
                    </a:solidFill>
                  </a:tcPr>
                </a:tc>
                <a:tc>
                  <a:txBody>
                    <a:bodyPr/>
                    <a:lstStyle/>
                    <a:p>
                      <a:r>
                        <a:rPr sz="1400" b="0">
                          <a:solidFill>
                            <a:srgbClr val="1B2430"/>
                          </a:solidFill>
                          <a:latin typeface="Calibri"/>
                        </a:rPr>
                        <a:t>~20 TOPS INT8 dense</a:t>
                      </a:r>
                    </a:p>
                  </a:txBody>
                  <a:tcPr>
                    <a:solidFill>
                      <a:srgbClr val="F1F4F8"/>
                    </a:solidFill>
                  </a:tcPr>
                </a:tc>
                <a:tc>
                  <a:txBody>
                    <a:bodyPr/>
                    <a:lstStyle/>
                    <a:p>
                      <a:r>
                        <a:rPr sz="1400" b="0">
                          <a:solidFill>
                            <a:srgbClr val="1B2430"/>
                          </a:solidFill>
                          <a:latin typeface="Calibri"/>
                        </a:rPr>
                        <a:t>4 TOPS INT8</a:t>
                      </a:r>
                    </a:p>
                  </a:txBody>
                  <a:tcPr>
                    <a:solidFill>
                      <a:srgbClr val="F1F4F8"/>
                    </a:solidFill>
                  </a:tcPr>
                </a:tc>
              </a:tr>
              <a:tr h="520000">
                <a:tc>
                  <a:txBody>
                    <a:bodyPr/>
                    <a:lstStyle/>
                    <a:p>
                      <a:r>
                        <a:rPr sz="1400" b="0">
                          <a:solidFill>
                            <a:srgbClr val="1B2430"/>
                          </a:solidFill>
                          <a:latin typeface="Calibri"/>
                        </a:rPr>
                        <a:t>Quvvat</a:t>
                      </a:r>
                    </a:p>
                  </a:txBody>
                  <a:tcPr>
                    <a:solidFill>
                      <a:srgbClr val="FFFFFF"/>
                    </a:solidFill>
                  </a:tcPr>
                </a:tc>
                <a:tc>
                  <a:txBody>
                    <a:bodyPr/>
                    <a:lstStyle/>
                    <a:p>
                      <a:r>
                        <a:rPr sz="1400" b="0">
                          <a:solidFill>
                            <a:srgbClr val="1B2430"/>
                          </a:solidFill>
                          <a:latin typeface="Calibri"/>
                        </a:rPr>
                        <a:t>10–25 Vt</a:t>
                      </a:r>
                    </a:p>
                  </a:txBody>
                  <a:tcPr>
                    <a:solidFill>
                      <a:srgbClr val="FFFFFF"/>
                    </a:solidFill>
                  </a:tcPr>
                </a:tc>
                <a:tc>
                  <a:txBody>
                    <a:bodyPr/>
                    <a:lstStyle/>
                    <a:p>
                      <a:r>
                        <a:rPr sz="1400" b="0">
                          <a:solidFill>
                            <a:srgbClr val="1B2430"/>
                          </a:solidFill>
                          <a:latin typeface="Calibri"/>
                        </a:rPr>
                        <a:t>7–15 Vt</a:t>
                      </a:r>
                    </a:p>
                  </a:txBody>
                  <a:tcPr>
                    <a:solidFill>
                      <a:srgbClr val="FFFFFF"/>
                    </a:solidFill>
                  </a:tcPr>
                </a:tc>
                <a:tc>
                  <a:txBody>
                    <a:bodyPr/>
                    <a:lstStyle/>
                    <a:p>
                      <a:r>
                        <a:rPr sz="1400" b="0">
                          <a:solidFill>
                            <a:srgbClr val="1B2430"/>
                          </a:solidFill>
                          <a:latin typeface="Calibri"/>
                        </a:rPr>
                        <a:t>~2 Vt</a:t>
                      </a:r>
                    </a:p>
                  </a:txBody>
                  <a:tcPr>
                    <a:solidFill>
                      <a:srgbClr val="FFFFFF"/>
                    </a:solidFill>
                  </a:tcPr>
                </a:tc>
              </a:tr>
              <a:tr h="520000">
                <a:tc>
                  <a:txBody>
                    <a:bodyPr/>
                    <a:lstStyle/>
                    <a:p>
                      <a:r>
                        <a:rPr sz="1400" b="0">
                          <a:solidFill>
                            <a:srgbClr val="1B2430"/>
                          </a:solidFill>
                          <a:latin typeface="Calibri"/>
                        </a:rPr>
                        <a:t>Formatlar</a:t>
                      </a:r>
                    </a:p>
                  </a:txBody>
                  <a:tcPr>
                    <a:solidFill>
                      <a:srgbClr val="F1F4F8"/>
                    </a:solidFill>
                  </a:tcPr>
                </a:tc>
                <a:tc>
                  <a:txBody>
                    <a:bodyPr/>
                    <a:lstStyle/>
                    <a:p>
                      <a:r>
                        <a:rPr sz="1400" b="0">
                          <a:solidFill>
                            <a:srgbClr val="1B2430"/>
                          </a:solidFill>
                          <a:latin typeface="Calibri"/>
                        </a:rPr>
                        <a:t>FP32/FP16/INT8</a:t>
                      </a:r>
                    </a:p>
                  </a:txBody>
                  <a:tcPr>
                    <a:solidFill>
                      <a:srgbClr val="F1F4F8"/>
                    </a:solidFill>
                  </a:tcPr>
                </a:tc>
                <a:tc>
                  <a:txBody>
                    <a:bodyPr/>
                    <a:lstStyle/>
                    <a:p>
                      <a:r>
                        <a:rPr sz="1400" b="0">
                          <a:solidFill>
                            <a:srgbClr val="1B2430"/>
                          </a:solidFill>
                          <a:latin typeface="Calibri"/>
                        </a:rPr>
                        <a:t>FP32/FP16/INT8</a:t>
                      </a:r>
                    </a:p>
                  </a:txBody>
                  <a:tcPr>
                    <a:solidFill>
                      <a:srgbClr val="F1F4F8"/>
                    </a:solidFill>
                  </a:tcPr>
                </a:tc>
                <a:tc>
                  <a:txBody>
                    <a:bodyPr/>
                    <a:lstStyle/>
                    <a:p>
                      <a:r>
                        <a:rPr sz="1400" b="0">
                          <a:solidFill>
                            <a:srgbClr val="1B2430"/>
                          </a:solidFill>
                          <a:latin typeface="Calibri"/>
                        </a:rPr>
                        <a:t>faqat INT8 TFLite</a:t>
                      </a:r>
                    </a:p>
                  </a:txBody>
                  <a:tcPr>
                    <a:solidFill>
                      <a:srgbClr val="F1F4F8"/>
                    </a:solidFill>
                  </a:tcPr>
                </a:tc>
              </a:tr>
              <a:tr h="520000">
                <a:tc>
                  <a:txBody>
                    <a:bodyPr/>
                    <a:lstStyle/>
                    <a:p>
                      <a:r>
                        <a:rPr sz="1400" b="0">
                          <a:solidFill>
                            <a:srgbClr val="1B2430"/>
                          </a:solidFill>
                          <a:latin typeface="Calibri"/>
                        </a:rPr>
                        <a:t>ResNet-50 batch 1 (taxminiy)</a:t>
                      </a:r>
                    </a:p>
                  </a:txBody>
                  <a:tcPr>
                    <a:solidFill>
                      <a:srgbClr val="FFFFFF"/>
                    </a:solidFill>
                  </a:tcPr>
                </a:tc>
                <a:tc>
                  <a:txBody>
                    <a:bodyPr/>
                    <a:lstStyle/>
                    <a:p>
                      <a:r>
                        <a:rPr sz="1400" b="0">
                          <a:solidFill>
                            <a:srgbClr val="1B2430"/>
                          </a:solidFill>
                          <a:latin typeface="Calibri"/>
                        </a:rPr>
                        <a:t>~2,5 ms INT8 (TensorRT)</a:t>
                      </a:r>
                    </a:p>
                  </a:txBody>
                  <a:tcPr>
                    <a:solidFill>
                      <a:srgbClr val="FFFFFF"/>
                    </a:solidFill>
                  </a:tcPr>
                </a:tc>
                <a:tc>
                  <a:txBody>
                    <a:bodyPr/>
                    <a:lstStyle/>
                    <a:p>
                      <a:r>
                        <a:rPr sz="1400" b="0">
                          <a:solidFill>
                            <a:srgbClr val="1B2430"/>
                          </a:solidFill>
                          <a:latin typeface="Calibri"/>
                        </a:rPr>
                        <a:t>~5 ms INT8</a:t>
                      </a:r>
                    </a:p>
                  </a:txBody>
                  <a:tcPr>
                    <a:solidFill>
                      <a:srgbClr val="FFFFFF"/>
                    </a:solidFill>
                  </a:tcPr>
                </a:tc>
                <a:tc>
                  <a:txBody>
                    <a:bodyPr/>
                    <a:lstStyle/>
                    <a:p>
                      <a:r>
                        <a:rPr sz="1400" b="0">
                          <a:solidFill>
                            <a:srgbClr val="1B2430"/>
                          </a:solidFill>
                          <a:latin typeface="Calibri"/>
                        </a:rPr>
                        <a:t>~15 ms (kvantlangan)</a:t>
                      </a:r>
                    </a:p>
                  </a:txBody>
                  <a:tcPr>
                    <a:solidFill>
                      <a:srgbClr val="FFFFFF"/>
                    </a:solidFill>
                  </a:tcPr>
                </a:tc>
              </a:tr>
              <a:tr h="520000">
                <a:tc>
                  <a:txBody>
                    <a:bodyPr/>
                    <a:lstStyle/>
                    <a:p>
                      <a:r>
                        <a:rPr sz="1400" b="0">
                          <a:solidFill>
                            <a:srgbClr val="1B2430"/>
                          </a:solidFill>
                          <a:latin typeface="Calibri"/>
                        </a:rPr>
                        <a:t>Video dekodlash</a:t>
                      </a:r>
                    </a:p>
                  </a:txBody>
                  <a:tcPr>
                    <a:solidFill>
                      <a:srgbClr val="F1F4F8"/>
                    </a:solidFill>
                  </a:tcPr>
                </a:tc>
                <a:tc>
                  <a:txBody>
                    <a:bodyPr/>
                    <a:lstStyle/>
                    <a:p>
                      <a:r>
                        <a:rPr sz="1400" b="0">
                          <a:solidFill>
                            <a:srgbClr val="1B2430"/>
                          </a:solidFill>
                          <a:latin typeface="Calibri"/>
                        </a:rPr>
                        <a:t>NVDEC apparat</a:t>
                      </a:r>
                    </a:p>
                  </a:txBody>
                  <a:tcPr>
                    <a:solidFill>
                      <a:srgbClr val="F1F4F8"/>
                    </a:solidFill>
                  </a:tcPr>
                </a:tc>
                <a:tc>
                  <a:txBody>
                    <a:bodyPr/>
                    <a:lstStyle/>
                    <a:p>
                      <a:r>
                        <a:rPr sz="1400" b="0">
                          <a:solidFill>
                            <a:srgbClr val="1B2430"/>
                          </a:solidFill>
                          <a:latin typeface="Calibri"/>
                        </a:rPr>
                        <a:t>NVDEC apparat</a:t>
                      </a:r>
                    </a:p>
                  </a:txBody>
                  <a:tcPr>
                    <a:solidFill>
                      <a:srgbClr val="F1F4F8"/>
                    </a:solidFill>
                  </a:tcPr>
                </a:tc>
                <a:tc>
                  <a:txBody>
                    <a:bodyPr/>
                    <a:lstStyle/>
                    <a:p>
                      <a:r>
                        <a:rPr sz="1400" b="0">
                          <a:solidFill>
                            <a:srgbClr val="1B2430"/>
                          </a:solidFill>
                          <a:latin typeface="Calibri"/>
                        </a:rPr>
                        <a:t>yo'q</a:t>
                      </a:r>
                    </a:p>
                  </a:txBody>
                  <a:tcPr>
                    <a:solidFill>
                      <a:srgbClr val="F1F4F8"/>
                    </a:solidFill>
                  </a:tcPr>
                </a:tc>
              </a:tr>
              <a:tr h="520000">
                <a:tc>
                  <a:txBody>
                    <a:bodyPr/>
                    <a:lstStyle/>
                    <a:p>
                      <a:r>
                        <a:rPr sz="1400" b="0">
                          <a:solidFill>
                            <a:srgbClr val="1B2430"/>
                          </a:solidFill>
                          <a:latin typeface="Calibri"/>
                        </a:rPr>
                        <a:t>Konteynerlar</a:t>
                      </a:r>
                    </a:p>
                  </a:txBody>
                  <a:tcPr>
                    <a:solidFill>
                      <a:srgbClr val="FFFFFF"/>
                    </a:solidFill>
                  </a:tcPr>
                </a:tc>
                <a:tc>
                  <a:txBody>
                    <a:bodyPr/>
                    <a:lstStyle/>
                    <a:p>
                      <a:r>
                        <a:rPr sz="1400" b="0">
                          <a:solidFill>
                            <a:srgbClr val="1B2430"/>
                          </a:solidFill>
                          <a:latin typeface="Calibri"/>
                        </a:rPr>
                        <a:t>Docker + NVIDIA runtime</a:t>
                      </a:r>
                    </a:p>
                  </a:txBody>
                  <a:tcPr>
                    <a:solidFill>
                      <a:srgbClr val="FFFFFF"/>
                    </a:solidFill>
                  </a:tcPr>
                </a:tc>
                <a:tc>
                  <a:txBody>
                    <a:bodyPr/>
                    <a:lstStyle/>
                    <a:p>
                      <a:r>
                        <a:rPr sz="1400" b="0">
                          <a:solidFill>
                            <a:srgbClr val="1B2430"/>
                          </a:solidFill>
                          <a:latin typeface="Calibri"/>
                        </a:rPr>
                        <a:t>Docker + NVIDIA runtime</a:t>
                      </a:r>
                    </a:p>
                  </a:txBody>
                  <a:tcPr>
                    <a:solidFill>
                      <a:srgbClr val="FFFFFF"/>
                    </a:solidFill>
                  </a:tcPr>
                </a:tc>
                <a:tc>
                  <a:txBody>
                    <a:bodyPr/>
                    <a:lstStyle/>
                    <a:p>
                      <a:r>
                        <a:rPr sz="1400" b="0">
                          <a:solidFill>
                            <a:srgbClr val="1B2430"/>
                          </a:solidFill>
                          <a:latin typeface="Calibri"/>
                        </a:rPr>
                        <a:t>Docker (host CPU), USB o'tkazish</a:t>
                      </a:r>
                    </a:p>
                  </a:txBody>
                  <a:tcPr>
                    <a:solidFill>
                      <a:srgbClr val="FFFFFF"/>
                    </a:solidFill>
                  </a:tcPr>
                </a:tc>
              </a:tr>
              <a:tr h="520000">
                <a:tc>
                  <a:txBody>
                    <a:bodyPr/>
                    <a:lstStyle/>
                    <a:p>
                      <a:r>
                        <a:rPr sz="1400" b="0">
                          <a:solidFill>
                            <a:srgbClr val="1B2430"/>
                          </a:solidFill>
                          <a:latin typeface="Calibri"/>
                        </a:rPr>
                        <a:t>Masofadan boshqarish</a:t>
                      </a:r>
                    </a:p>
                  </a:txBody>
                  <a:tcPr>
                    <a:solidFill>
                      <a:srgbClr val="F1F4F8"/>
                    </a:solidFill>
                  </a:tcPr>
                </a:tc>
                <a:tc>
                  <a:txBody>
                    <a:bodyPr/>
                    <a:lstStyle/>
                    <a:p>
                      <a:r>
                        <a:rPr sz="1400" b="0">
                          <a:solidFill>
                            <a:srgbClr val="1B2430"/>
                          </a:solidFill>
                          <a:latin typeface="Calibri"/>
                        </a:rPr>
                        <a:t>k3s agent, Fleet, Balena</a:t>
                      </a:r>
                    </a:p>
                  </a:txBody>
                  <a:tcPr>
                    <a:solidFill>
                      <a:srgbClr val="F1F4F8"/>
                    </a:solidFill>
                  </a:tcPr>
                </a:tc>
                <a:tc>
                  <a:txBody>
                    <a:bodyPr/>
                    <a:lstStyle/>
                    <a:p>
                      <a:r>
                        <a:rPr sz="1400" b="0">
                          <a:solidFill>
                            <a:srgbClr val="1B2430"/>
                          </a:solidFill>
                          <a:latin typeface="Calibri"/>
                        </a:rPr>
                        <a:t>k3s agent</a:t>
                      </a:r>
                    </a:p>
                  </a:txBody>
                  <a:tcPr>
                    <a:solidFill>
                      <a:srgbClr val="F1F4F8"/>
                    </a:solidFill>
                  </a:tcPr>
                </a:tc>
                <a:tc>
                  <a:txBody>
                    <a:bodyPr/>
                    <a:lstStyle/>
                    <a:p>
                      <a:r>
                        <a:rPr sz="1400" b="0">
                          <a:solidFill>
                            <a:srgbClr val="1B2430"/>
                          </a:solidFill>
                          <a:latin typeface="Calibri"/>
                        </a:rPr>
                        <a:t>Balena, Mender</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Cloud va Edge arxitekturalarini solishtirish mezonlari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14</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Uchdan-uchga kechikish: Edge'da tarmoq ishtirok etmaydi — 10–50 ms; Cloud'da mintaqaviy ma'lumotlar markazigacha 20–80 ms RTT (O'zbekistondan eng yaqin yirik bulut mintaqalari — Frankfurt, Mumbai, Singapur — 80–150 ms) plus navbat va inferens. Tarmoq trafigi:…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NAZARIY ASOSLAR</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Kuzatiluvchanlik va ekspluatatsiya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Xizmatga kamida to'rtta signal kiritiladi: so'rovlar soni (sekundiga), xatolar ulushi, kechikish gistogrammasi (p50/p95/p99 hisoblash uchun) va resurs ko'rsatkichlari (GPU bandligi, xotira, harorat). Prometheus format standart; FastAPI uchun…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04</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Amaliy misol</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Amaliy misol</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Laboratoriya topshirig'i: «ResNet-50/YOLOv8 inferens xizmatini Docker + Kubernetes'da bulutli uslubda va Jetson/Edge TPU'da chekka uslubda joylashtirish, ikki arxitekturani taqqoslash».</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Talab qilinadigan muhit. Bulut qismi: Linux ish stantsiyasi yoki virtual mashina (kamida 4 vCPU, 8 GB RAM, 30 GB disk); Docker Engine 24 yoki yuqori; kubectl 1.28+; minikube 1.32+ (yoki k3s 1.28+ — Jetson'da ham ishlaydi); GPU bo'lsa — NVIDIA drayver 535+,…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FastAPI inferens xizmati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Xizmat 12 omilli ilova (twelve-factor app) tamoyiliga ko'ra barcha sozlamalarni muhit o'zgaruvchilaridan oladi — bitta tasvir CPU va GPU uchun ishlatiladi. /healthz va /readyz ajratilgan: model yuklanayotganda Pod o'ldirilmasligi, lekin…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1-qadam. FastAPI inferens xizmati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19</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7FD6D7"/>
                </a:solidFill>
                <a:latin typeface="Consolas"/>
              </a:rPr>
              <a:t># app/main.py</a:t>
            </a:r>
          </a:p>
          <a:p>
            <a:r>
              <a:rPr sz="1200">
                <a:solidFill>
                  <a:srgbClr val="E2E8F0"/>
                </a:solidFill>
                <a:latin typeface="Consolas"/>
              </a:rPr>
              <a:t>import os, io, time, numpy as np, onnxruntime as ort</a:t>
            </a:r>
          </a:p>
          <a:p>
            <a:r>
              <a:rPr sz="1200">
                <a:solidFill>
                  <a:srgbClr val="E2E8F0"/>
                </a:solidFill>
                <a:latin typeface="Consolas"/>
              </a:rPr>
              <a:t>from fastapi import FastAPI, File, UploadFile, HTTPException</a:t>
            </a:r>
          </a:p>
          <a:p>
            <a:r>
              <a:rPr sz="1200">
                <a:solidFill>
                  <a:srgbClr val="E2E8F0"/>
                </a:solidFill>
                <a:latin typeface="Consolas"/>
              </a:rPr>
              <a:t>from PIL import Image</a:t>
            </a:r>
          </a:p>
          <a:p>
            <a:r>
              <a:rPr sz="1200">
                <a:solidFill>
                  <a:srgbClr val="E2E8F0"/>
                </a:solidFill>
                <a:latin typeface="Consolas"/>
              </a:rPr>
              <a:t>from prometheus_fastapi_instrumentator import Instrumentator</a:t>
            </a:r>
          </a:p>
          <a:p>
            <a:r>
              <a:rPr sz="1200">
                <a:solidFill>
                  <a:srgbClr val="E2E8F0"/>
                </a:solidFill>
                <a:latin typeface="Consolas"/>
              </a:rPr>
              <a:t> </a:t>
            </a:r>
          </a:p>
          <a:p>
            <a:r>
              <a:rPr sz="1200">
                <a:solidFill>
                  <a:srgbClr val="E2E8F0"/>
                </a:solidFill>
                <a:latin typeface="Consolas"/>
              </a:rPr>
              <a:t>MODEL = os.getenv("MODEL_PATH", "/models/resnet50_int8.onnx")</a:t>
            </a:r>
          </a:p>
          <a:p>
            <a:r>
              <a:rPr sz="1200">
                <a:solidFill>
                  <a:srgbClr val="E2E8F0"/>
                </a:solidFill>
                <a:latin typeface="Consolas"/>
              </a:rPr>
              <a:t>PROVIDERS = os.getenv("ORT_PROVIDERS", "CPUExecutionProvider").split(",")</a:t>
            </a:r>
          </a:p>
          <a:p>
            <a:r>
              <a:rPr sz="1200">
                <a:solidFill>
                  <a:srgbClr val="E2E8F0"/>
                </a:solidFill>
                <a:latin typeface="Consolas"/>
              </a:rPr>
              <a:t>THREADS = int(os.getenv("ORT_THREADS", "2"))</a:t>
            </a:r>
          </a:p>
          <a:p>
            <a:r>
              <a:rPr sz="1200">
                <a:solidFill>
                  <a:srgbClr val="E2E8F0"/>
                </a:solidFill>
                <a:latin typeface="Consolas"/>
              </a:rPr>
              <a:t>MEAN = np.array([0.485, 0.456, 0.406], np.float32)[:, None, None]</a:t>
            </a:r>
          </a:p>
          <a:p>
            <a:r>
              <a:rPr sz="1200">
                <a:solidFill>
                  <a:srgbClr val="E2E8F0"/>
                </a:solidFill>
                <a:latin typeface="Consolas"/>
              </a:rPr>
              <a:t>STD = np.array([0.229, 0.224, 0.225], np.float32)[:, None, None]</a:t>
            </a:r>
          </a:p>
          <a:p>
            <a:r>
              <a:rPr sz="1200">
                <a:solidFill>
                  <a:srgbClr val="E2E8F0"/>
                </a:solidFill>
                <a:latin typeface="Consolas"/>
              </a:rPr>
              <a:t> </a:t>
            </a:r>
          </a:p>
          <a:p>
            <a:r>
              <a:rPr sz="1200">
                <a:solidFill>
                  <a:srgbClr val="E2E8F0"/>
                </a:solidFill>
                <a:latin typeface="Consolas"/>
              </a:rPr>
              <a:t>app = FastAPI(title="rn50-infer")</a:t>
            </a:r>
          </a:p>
          <a:p>
            <a:r>
              <a:rPr sz="1200">
                <a:solidFill>
                  <a:srgbClr val="E2E8F0"/>
                </a:solidFill>
                <a:latin typeface="Consolas"/>
              </a:rPr>
              <a:t>Instrumentator().instrument(app).expose(app, endpoint="/metrics")   # Prometheus /metrics</a:t>
            </a:r>
          </a:p>
          <a:p>
            <a:r>
              <a:rPr sz="1200">
                <a:solidFill>
                  <a:srgbClr val="E2E8F0"/>
                </a:solidFill>
                <a:latin typeface="Consolas"/>
              </a:rPr>
              <a:t>state = {"ready": False, "session": None, "labels": None}</a:t>
            </a:r>
          </a:p>
          <a:p>
            <a:r>
              <a:rPr sz="1200">
                <a:solidFill>
                  <a:srgbClr val="E2E8F0"/>
                </a:solidFill>
                <a:latin typeface="Consolas"/>
              </a:rPr>
              <a:t> </a:t>
            </a:r>
          </a:p>
          <a:p>
            <a:r>
              <a:rPr sz="1200">
                <a:solidFill>
                  <a:srgbClr val="E2E8F0"/>
                </a:solidFill>
                <a:latin typeface="Consolas"/>
              </a:rPr>
              <a:t>@app.on_event("startup")</a:t>
            </a:r>
          </a:p>
          <a:p>
            <a:r>
              <a:rPr sz="1200">
                <a:solidFill>
                  <a:srgbClr val="E2E8F0"/>
                </a:solidFill>
                <a:latin typeface="Consolas"/>
              </a:rPr>
              <a:t>def load():</a:t>
            </a:r>
          </a:p>
          <a:p>
            <a:r>
              <a:rPr sz="1200">
                <a:solidFill>
                  <a:srgbClr val="E2E8F0"/>
                </a:solidFill>
                <a:latin typeface="Consolas"/>
              </a:rPr>
              <a:t>    so = ort.SessionOptions(); so.intra_op_num_threads = THREADS</a:t>
            </a:r>
          </a:p>
          <a:p>
            <a:r>
              <a:rPr sz="1200">
                <a:solidFill>
                  <a:srgbClr val="E2E8F0"/>
                </a:solidFill>
                <a:latin typeface="Consolas"/>
              </a:rPr>
              <a:t>    so.graph_optimization_level = ort.GraphOptimizationLevel.ORT_ENABLE_ALL</a:t>
            </a:r>
          </a:p>
          <a:p>
            <a:r>
              <a:rPr sz="12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Ko'p bosqichli Dockerfile va mahalliy sinov</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(4 vCPU noutbuk, INT8 model, --cpus=2, taxminiy): tasvir hajmi ~480 MB; ishga tushish 3–4 s; bitta so'rov — preprocess 4 ms + inferens 14 ms; hey 8 parallel mijoz bilan: ~95…</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Ko'p bosqichli qurish pip keshini va qurish vositalarini yakuniy tasvirdan chiqarib tashladi. --cpus=2 --memory=1g K8s'dagi limits ning mahalliy ekvivalenti — xizmat shu cheklovda qanday ishlashini oldindan ko'ramiz: 2 CPU'da bitta…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Ko'p bosqichli Dockerfile va mahalliy sinov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21</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Dockerfile  (CPU varianti; GPU uchun asos tasvirni nvidia/cuda:12.4.1-runtime-ubuntu22.04 ga va onnxruntime-gpu ga alm</a:t>
            </a:r>
          </a:p>
          <a:p>
            <a:r>
              <a:rPr sz="1000">
                <a:solidFill>
                  <a:srgbClr val="E2E8F0"/>
                </a:solidFill>
                <a:latin typeface="Consolas"/>
              </a:rPr>
              <a:t>FROM python:3.11-slim AS builder</a:t>
            </a:r>
          </a:p>
          <a:p>
            <a:r>
              <a:rPr sz="1000">
                <a:solidFill>
                  <a:srgbClr val="E2E8F0"/>
                </a:solidFill>
                <a:latin typeface="Consolas"/>
              </a:rPr>
              <a:t>WORKDIR /build</a:t>
            </a:r>
          </a:p>
          <a:p>
            <a:r>
              <a:rPr sz="1000">
                <a:solidFill>
                  <a:srgbClr val="E2E8F0"/>
                </a:solidFill>
                <a:latin typeface="Consolas"/>
              </a:rPr>
              <a:t>COPY requirements.txt .</a:t>
            </a:r>
          </a:p>
          <a:p>
            <a:r>
              <a:rPr sz="1000">
                <a:solidFill>
                  <a:srgbClr val="E2E8F0"/>
                </a:solidFill>
                <a:latin typeface="Consolas"/>
              </a:rPr>
              <a:t>RUN pip install --no-cache-dir --prefix=/install -r requirements.txt</a:t>
            </a:r>
          </a:p>
          <a:p>
            <a:r>
              <a:rPr sz="1000">
                <a:solidFill>
                  <a:srgbClr val="E2E8F0"/>
                </a:solidFill>
                <a:latin typeface="Consolas"/>
              </a:rPr>
              <a:t> </a:t>
            </a:r>
          </a:p>
          <a:p>
            <a:r>
              <a:rPr sz="1000">
                <a:solidFill>
                  <a:srgbClr val="E2E8F0"/>
                </a:solidFill>
                <a:latin typeface="Consolas"/>
              </a:rPr>
              <a:t>FROM python:3.11-slim</a:t>
            </a:r>
          </a:p>
          <a:p>
            <a:r>
              <a:rPr sz="1000">
                <a:solidFill>
                  <a:srgbClr val="E2E8F0"/>
                </a:solidFill>
                <a:latin typeface="Consolas"/>
              </a:rPr>
              <a:t>RUN useradd -m -u 10001 infer &amp;&amp; mkdir -p /models &amp;&amp; chown infer /models</a:t>
            </a:r>
          </a:p>
          <a:p>
            <a:r>
              <a:rPr sz="1000">
                <a:solidFill>
                  <a:srgbClr val="E2E8F0"/>
                </a:solidFill>
                <a:latin typeface="Consolas"/>
              </a:rPr>
              <a:t>COPY --from=builder /install /usr/local</a:t>
            </a:r>
          </a:p>
          <a:p>
            <a:r>
              <a:rPr sz="1000">
                <a:solidFill>
                  <a:srgbClr val="E2E8F0"/>
                </a:solidFill>
                <a:latin typeface="Consolas"/>
              </a:rPr>
              <a:t>WORKDIR /app</a:t>
            </a:r>
          </a:p>
          <a:p>
            <a:r>
              <a:rPr sz="1000">
                <a:solidFill>
                  <a:srgbClr val="E2E8F0"/>
                </a:solidFill>
                <a:latin typeface="Consolas"/>
              </a:rPr>
              <a:t>COPY app/ /app/</a:t>
            </a:r>
          </a:p>
          <a:p>
            <a:r>
              <a:rPr sz="1000">
                <a:solidFill>
                  <a:srgbClr val="E2E8F0"/>
                </a:solidFill>
                <a:latin typeface="Consolas"/>
              </a:rPr>
              <a:t>COPY imagenet_classes.txt /app/</a:t>
            </a:r>
          </a:p>
          <a:p>
            <a:r>
              <a:rPr sz="1000">
                <a:solidFill>
                  <a:srgbClr val="E2E8F0"/>
                </a:solidFill>
                <a:latin typeface="Consolas"/>
              </a:rPr>
              <a:t>USER infer</a:t>
            </a:r>
          </a:p>
          <a:p>
            <a:r>
              <a:rPr sz="1000">
                <a:solidFill>
                  <a:srgbClr val="E2E8F0"/>
                </a:solidFill>
                <a:latin typeface="Consolas"/>
              </a:rPr>
              <a:t>ENV MODEL_PATH=/models/resnet50_int8.onnx ORT_THREADS=2 PYTHONUNBUFFERED=1</a:t>
            </a:r>
          </a:p>
          <a:p>
            <a:r>
              <a:rPr sz="1000">
                <a:solidFill>
                  <a:srgbClr val="E2E8F0"/>
                </a:solidFill>
                <a:latin typeface="Consolas"/>
              </a:rPr>
              <a:t>EXPOSE 8000</a:t>
            </a:r>
          </a:p>
          <a:p>
            <a:r>
              <a:rPr sz="1000">
                <a:solidFill>
                  <a:srgbClr val="E2E8F0"/>
                </a:solidFill>
                <a:latin typeface="Consolas"/>
              </a:rPr>
              <a:t>HEALTHCHECK --interval=10s --timeout=3s --start-period=20s CMD python -c "import urllib.request;urllib.request.urlopen('</a:t>
            </a:r>
          </a:p>
          <a:p>
            <a:r>
              <a:rPr sz="1000">
                <a:solidFill>
                  <a:srgbClr val="E2E8F0"/>
                </a:solidFill>
                <a:latin typeface="Consolas"/>
              </a:rPr>
              <a:t>CMD ["uvicorn", "main:app", "--host", "0.0.0.0", "--port", "8000", "--workers", "1"]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2-qadam. Ko'p bosqichli Dockerfile va mahalliy sinov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22</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requirements.txt: fastapi==0.110.* uvicorn[standard]==0.29.* onnxruntime==1.17.* numpy pillow python-multipart prometh</a:t>
            </a:r>
          </a:p>
          <a:p>
            <a:r>
              <a:rPr sz="1000">
                <a:solidFill>
                  <a:srgbClr val="E2E8F0"/>
                </a:solidFill>
                <a:latin typeface="Consolas"/>
              </a:rPr>
              <a:t>docker build -t rn50-infer:1.0 .</a:t>
            </a:r>
          </a:p>
          <a:p>
            <a:r>
              <a:rPr sz="1000">
                <a:solidFill>
                  <a:srgbClr val="E2E8F0"/>
                </a:solidFill>
                <a:latin typeface="Consolas"/>
              </a:rPr>
              <a:t>docker images rn50-infer                       # hajm: ~480 MB (slim + ORT); devel/pytorch asosida 4 GB dan ortiq bo'lar</a:t>
            </a:r>
          </a:p>
          <a:p>
            <a:r>
              <a:rPr sz="1000">
                <a:solidFill>
                  <a:srgbClr val="E2E8F0"/>
                </a:solidFill>
                <a:latin typeface="Consolas"/>
              </a:rPr>
              <a:t>docker run -d --name rn50 -p 8000:8000 -v $PWD/models:/models:ro --cpus=2 --memory=1g rn50-infer:1.0</a:t>
            </a:r>
          </a:p>
          <a:p>
            <a:r>
              <a:rPr sz="1000">
                <a:solidFill>
                  <a:srgbClr val="E2E8F0"/>
                </a:solidFill>
                <a:latin typeface="Consolas"/>
              </a:rPr>
              <a:t>time curl -sf localhost:8000/readyz            # ~3 s dan keyin tayyor</a:t>
            </a:r>
          </a:p>
          <a:p>
            <a:r>
              <a:rPr sz="1000">
                <a:solidFill>
                  <a:srgbClr val="E2E8F0"/>
                </a:solidFill>
                <a:latin typeface="Consolas"/>
              </a:rPr>
              <a:t>curl -s -F file=@cat.jpg localhost:8000/predict | python -m json.tool</a:t>
            </a:r>
          </a:p>
          <a:p>
            <a:r>
              <a:rPr sz="1000">
                <a:solidFill>
                  <a:srgbClr val="E2E8F0"/>
                </a:solidFill>
                <a:latin typeface="Consolas"/>
              </a:rPr>
              <a:t>hey -z 30s -c 8 -m POST -D cat.jpg -T multipart/form-data localhost:8000/predict   # yuklama sinovi (hey o'rniga locust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Kubernetes manifestlari va minikube'da joylash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23</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(taxminiy, 4 vCPU minikube): yuklama boshlanganidan 45–60 s o'tib HPA nusxalar sonini 2 → 4 ga oshiradi (CPU 60 % chegarasi oshganda; kubectl top pods har Pod'da 1400–1900m ko'rsatadi); throughput 2 nusxada ~140 so'rov/s dan 4 nusxada ~250…</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Deklarativ manifest «istalgan holat»ni tavsifladi, K8s boshqaruvchisi uni ta'minladi: Pod yiqilsa qayta yaratadi, yuklama o'ssa nusxa qo'shadi, yangilash paytida eski nusxani yangisi tayyor bo'lgandagina to'xtatadi. Readiness probe'siz…</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Kubernetes manifestlari va minikube'da joylash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24</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k8s/deployment.yaml</a:t>
            </a:r>
          </a:p>
          <a:p>
            <a:r>
              <a:rPr sz="1000">
                <a:solidFill>
                  <a:srgbClr val="E2E8F0"/>
                </a:solidFill>
                <a:latin typeface="Consolas"/>
              </a:rPr>
              <a:t>apiVersion: apps/v1</a:t>
            </a:r>
          </a:p>
          <a:p>
            <a:r>
              <a:rPr sz="1000">
                <a:solidFill>
                  <a:srgbClr val="E2E8F0"/>
                </a:solidFill>
                <a:latin typeface="Consolas"/>
              </a:rPr>
              <a:t>kind: Deployment</a:t>
            </a:r>
          </a:p>
          <a:p>
            <a:r>
              <a:rPr sz="1000">
                <a:solidFill>
                  <a:srgbClr val="E2E8F0"/>
                </a:solidFill>
                <a:latin typeface="Consolas"/>
              </a:rPr>
              <a:t>metadata: { name: rn50-infer, labels: { app: rn50-infer } }</a:t>
            </a:r>
          </a:p>
          <a:p>
            <a:r>
              <a:rPr sz="1000">
                <a:solidFill>
                  <a:srgbClr val="E2E8F0"/>
                </a:solidFill>
                <a:latin typeface="Consolas"/>
              </a:rPr>
              <a:t>spec:</a:t>
            </a:r>
          </a:p>
          <a:p>
            <a:r>
              <a:rPr sz="1000">
                <a:solidFill>
                  <a:srgbClr val="E2E8F0"/>
                </a:solidFill>
                <a:latin typeface="Consolas"/>
              </a:rPr>
              <a:t>  replicas: 2</a:t>
            </a:r>
          </a:p>
          <a:p>
            <a:r>
              <a:rPr sz="1000">
                <a:solidFill>
                  <a:srgbClr val="E2E8F0"/>
                </a:solidFill>
                <a:latin typeface="Consolas"/>
              </a:rPr>
              <a:t>  strategy: { type: RollingUpdate, rollingUpdate: { maxUnavailable: 0, maxSurge: 1 } }</a:t>
            </a:r>
          </a:p>
          <a:p>
            <a:r>
              <a:rPr sz="1000">
                <a:solidFill>
                  <a:srgbClr val="E2E8F0"/>
                </a:solidFill>
                <a:latin typeface="Consolas"/>
              </a:rPr>
              <a:t>  selector: { matchLabels: { app: rn50-infer } }</a:t>
            </a:r>
          </a:p>
          <a:p>
            <a:r>
              <a:rPr sz="1000">
                <a:solidFill>
                  <a:srgbClr val="E2E8F0"/>
                </a:solidFill>
                <a:latin typeface="Consolas"/>
              </a:rPr>
              <a:t>  template:</a:t>
            </a:r>
          </a:p>
          <a:p>
            <a:r>
              <a:rPr sz="1000">
                <a:solidFill>
                  <a:srgbClr val="E2E8F0"/>
                </a:solidFill>
                <a:latin typeface="Consolas"/>
              </a:rPr>
              <a:t>    metadata:</a:t>
            </a:r>
          </a:p>
          <a:p>
            <a:r>
              <a:rPr sz="1000">
                <a:solidFill>
                  <a:srgbClr val="E2E8F0"/>
                </a:solidFill>
                <a:latin typeface="Consolas"/>
              </a:rPr>
              <a:t>      labels: { app: rn50-infer }</a:t>
            </a:r>
          </a:p>
          <a:p>
            <a:r>
              <a:rPr sz="1000">
                <a:solidFill>
                  <a:srgbClr val="E2E8F0"/>
                </a:solidFill>
                <a:latin typeface="Consolas"/>
              </a:rPr>
              <a:t>      annotations: { prometheus.io/scrape: "true", prometheus.io/port: "8000", prometheus.io/path: "/metrics" }</a:t>
            </a:r>
          </a:p>
          <a:p>
            <a:r>
              <a:rPr sz="1000">
                <a:solidFill>
                  <a:srgbClr val="E2E8F0"/>
                </a:solidFill>
                <a:latin typeface="Consolas"/>
              </a:rPr>
              <a:t>    spec:</a:t>
            </a:r>
          </a:p>
          <a:p>
            <a:r>
              <a:rPr sz="1000">
                <a:solidFill>
                  <a:srgbClr val="E2E8F0"/>
                </a:solidFill>
                <a:latin typeface="Consolas"/>
              </a:rPr>
              <a:t>      securityContext: { runAsNonRoot: true, runAsUser: 10001 }</a:t>
            </a:r>
          </a:p>
          <a:p>
            <a:r>
              <a:rPr sz="1000">
                <a:solidFill>
                  <a:srgbClr val="E2E8F0"/>
                </a:solidFill>
                <a:latin typeface="Consolas"/>
              </a:rPr>
              <a:t>      containers:</a:t>
            </a:r>
          </a:p>
          <a:p>
            <a:r>
              <a:rPr sz="1000">
                <a:solidFill>
                  <a:srgbClr val="E2E8F0"/>
                </a:solidFill>
                <a:latin typeface="Consolas"/>
              </a:rPr>
              <a:t>        - name: infer</a:t>
            </a:r>
          </a:p>
          <a:p>
            <a:r>
              <a:rPr sz="1000">
                <a:solidFill>
                  <a:srgbClr val="E2E8F0"/>
                </a:solidFill>
                <a:latin typeface="Consolas"/>
              </a:rPr>
              <a:t>          image: rn50-infer:1.0</a:t>
            </a:r>
          </a:p>
          <a:p>
            <a:r>
              <a:rPr sz="1000">
                <a:solidFill>
                  <a:srgbClr val="E2E8F0"/>
                </a:solidFill>
                <a:latin typeface="Consolas"/>
              </a:rPr>
              <a:t>          imagePullPolicy: IfNotPresent</a:t>
            </a:r>
          </a:p>
          <a:p>
            <a:r>
              <a:rPr sz="1000">
                <a:solidFill>
                  <a:srgbClr val="E2E8F0"/>
                </a:solidFill>
                <a:latin typeface="Consolas"/>
              </a:rPr>
              <a:t>          ports: [{ containerPort: 8000 }]</a:t>
            </a:r>
          </a:p>
          <a:p>
            <a:r>
              <a:rPr sz="1000">
                <a:solidFill>
                  <a:srgbClr val="E2E8F0"/>
                </a:solidFill>
                <a:latin typeface="Consolas"/>
              </a:rPr>
              <a:t>          env:</a:t>
            </a:r>
          </a:p>
          <a:p>
            <a:r>
              <a:rPr sz="1000">
                <a:solidFill>
                  <a:srgbClr val="7FD6D7"/>
                </a:solidFill>
                <a:latin typeface="Consolas"/>
              </a:rPr>
              <a:t># … (to‘liq kod — mavzu matnida / GitHub’da)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3-qadam. Kubernetes manifestlari va minikube'da joylash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25</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E2E8F0"/>
                </a:solidFill>
                <a:latin typeface="Consolas"/>
              </a:rPr>
              <a:t>minikube start --cpus=4 --memory=8g --driver=docker</a:t>
            </a:r>
          </a:p>
          <a:p>
            <a:r>
              <a:rPr sz="1000">
                <a:solidFill>
                  <a:srgbClr val="E2E8F0"/>
                </a:solidFill>
                <a:latin typeface="Consolas"/>
              </a:rPr>
              <a:t>minikube addons enable metrics-server</a:t>
            </a:r>
          </a:p>
          <a:p>
            <a:r>
              <a:rPr sz="1000">
                <a:solidFill>
                  <a:srgbClr val="E2E8F0"/>
                </a:solidFill>
                <a:latin typeface="Consolas"/>
              </a:rPr>
              <a:t>minikube image load rn50-infer:1.0                      # mahalliy tasvirni klasterga yuklash</a:t>
            </a:r>
          </a:p>
          <a:p>
            <a:r>
              <a:rPr sz="1000">
                <a:solidFill>
                  <a:srgbClr val="E2E8F0"/>
                </a:solidFill>
                <a:latin typeface="Consolas"/>
              </a:rPr>
              <a:t>minikube ssh -- sudo mkdir -p /data/models &amp;&amp; minikube cp models/resnet50_int8.onnx /data/models/resnet50_int8.onnx</a:t>
            </a:r>
          </a:p>
          <a:p>
            <a:r>
              <a:rPr sz="1000">
                <a:solidFill>
                  <a:srgbClr val="E2E8F0"/>
                </a:solidFill>
                <a:latin typeface="Consolas"/>
              </a:rPr>
              <a:t>kubectl apply -f k8s/</a:t>
            </a:r>
          </a:p>
          <a:p>
            <a:r>
              <a:rPr sz="1000">
                <a:solidFill>
                  <a:srgbClr val="E2E8F0"/>
                </a:solidFill>
                <a:latin typeface="Consolas"/>
              </a:rPr>
              <a:t>kubectl rollout status deployment/rn50-infer</a:t>
            </a:r>
          </a:p>
          <a:p>
            <a:r>
              <a:rPr sz="1000">
                <a:solidFill>
                  <a:srgbClr val="E2E8F0"/>
                </a:solidFill>
                <a:latin typeface="Consolas"/>
              </a:rPr>
              <a:t>kubectl get pods -o wide                                # 2 ta Pod Running, READY 1/1</a:t>
            </a:r>
          </a:p>
          <a:p>
            <a:r>
              <a:rPr sz="1000">
                <a:solidFill>
                  <a:srgbClr val="E2E8F0"/>
                </a:solidFill>
                <a:latin typeface="Consolas"/>
              </a:rPr>
              <a:t>URL=$(minikube service rn50-infer --url)</a:t>
            </a:r>
          </a:p>
          <a:p>
            <a:r>
              <a:rPr sz="1000">
                <a:solidFill>
                  <a:srgbClr val="E2E8F0"/>
                </a:solidFill>
                <a:latin typeface="Consolas"/>
              </a:rPr>
              <a:t>hey -z 120s -c 32 -m POST -D cat.jpg -T multipart/form-data $URL/predict &amp;</a:t>
            </a:r>
          </a:p>
          <a:p>
            <a:r>
              <a:rPr sz="1000">
                <a:solidFill>
                  <a:srgbClr val="E2E8F0"/>
                </a:solidFill>
                <a:latin typeface="Consolas"/>
              </a:rPr>
              <a:t>watch -n 5 'kubectl get hpa rn50-infer; kubectl top pods'</a:t>
            </a:r>
          </a:p>
          <a:p>
            <a:r>
              <a:rPr sz="1000">
                <a:solidFill>
                  <a:srgbClr val="7FD6D7"/>
                </a:solidFill>
                <a:latin typeface="Consolas"/>
              </a:rPr>
              <a:t># yangilanish: model v2 ConfigMap orqali</a:t>
            </a:r>
          </a:p>
          <a:p>
            <a:r>
              <a:rPr sz="1000">
                <a:solidFill>
                  <a:srgbClr val="E2E8F0"/>
                </a:solidFill>
                <a:latin typeface="Consolas"/>
              </a:rPr>
              <a:t>kubectl set image deployment/rn50-infer infer=rn50-infer:1.1 &amp;&amp; kubectl rollout status deployment/rn50-infer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Chekka joylash: Jetson'da TensorRT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26</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(Jetson Orin NX 16 GB, 25 Vt rejimi, batch 1, taxminiy):</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Jetson'da INT8 dvigatel T4 ga nisbatan (A3: 3,1 ms batch 8 → 0,4 ms/rasm) batch 1 da 2,6 ms — chekka qurilma uchun juda yaxshi, lekin throughput'da T4 dan 7 baravar past. Energiya: 39 mJ/rasm — T4 ning 27 mJ/rasm ko'rsatkichiga yaqin,…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Chekka joylash: Jetson'da TensorRT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27</a:t>
            </a:r>
          </a:p>
        </p:txBody>
      </p:sp>
      <p:graphicFrame>
        <p:nvGraphicFramePr>
          <p:cNvPr id="10" name="Table 9"/>
          <p:cNvGraphicFramePr>
            <a:graphicFrameLocks noGrp="1"/>
          </p:cNvGraphicFramePr>
          <p:nvPr/>
        </p:nvGraphicFramePr>
        <p:xfrm>
          <a:off x="500000" y="1350000"/>
          <a:ext cx="11200000" cy="2600000"/>
        </p:xfrm>
        <a:graphic>
          <a:graphicData uri="http://schemas.openxmlformats.org/drawingml/2006/table">
            <a:tbl>
              <a:tblPr firstRow="1" bandRow="1">
                <a:tableStyleId>{5C22544A-7EE6-4342-B048-85BDC9FD1C3A}</a:tableStyleId>
              </a:tblPr>
              <a:tblGrid>
                <a:gridCol w="1866666"/>
                <a:gridCol w="1866666"/>
                <a:gridCol w="1866666"/>
                <a:gridCol w="1866666"/>
                <a:gridCol w="1866666"/>
                <a:gridCol w="1866670"/>
              </a:tblGrid>
              <a:tr h="520000">
                <a:tc>
                  <a:txBody>
                    <a:bodyPr/>
                    <a:lstStyle/>
                    <a:p>
                      <a:r>
                        <a:rPr sz="1200" b="1">
                          <a:solidFill>
                            <a:srgbClr val="FFFFFF"/>
                          </a:solidFill>
                          <a:latin typeface="Calibri"/>
                        </a:rPr>
                        <a:t>Konfiguratsiya</a:t>
                      </a:r>
                    </a:p>
                  </a:txBody>
                  <a:tcPr>
                    <a:solidFill>
                      <a:srgbClr val="2D5C8F"/>
                    </a:solidFill>
                  </a:tcPr>
                </a:tc>
                <a:tc>
                  <a:txBody>
                    <a:bodyPr/>
                    <a:lstStyle/>
                    <a:p>
                      <a:r>
                        <a:rPr sz="1200" b="1">
                          <a:solidFill>
                            <a:srgbClr val="FFFFFF"/>
                          </a:solidFill>
                          <a:latin typeface="Calibri"/>
                        </a:rPr>
                        <a:t>p50, ms</a:t>
                      </a:r>
                    </a:p>
                  </a:txBody>
                  <a:tcPr>
                    <a:solidFill>
                      <a:srgbClr val="2D5C8F"/>
                    </a:solidFill>
                  </a:tcPr>
                </a:tc>
                <a:tc>
                  <a:txBody>
                    <a:bodyPr/>
                    <a:lstStyle/>
                    <a:p>
                      <a:r>
                        <a:rPr sz="1200" b="1">
                          <a:solidFill>
                            <a:srgbClr val="FFFFFF"/>
                          </a:solidFill>
                          <a:latin typeface="Calibri"/>
                        </a:rPr>
                        <a:t>p95, ms</a:t>
                      </a:r>
                    </a:p>
                  </a:txBody>
                  <a:tcPr>
                    <a:solidFill>
                      <a:srgbClr val="2D5C8F"/>
                    </a:solidFill>
                  </a:tcPr>
                </a:tc>
                <a:tc>
                  <a:txBody>
                    <a:bodyPr/>
                    <a:lstStyle/>
                    <a:p>
                      <a:r>
                        <a:rPr sz="1200" b="1">
                          <a:solidFill>
                            <a:srgbClr val="FFFFFF"/>
                          </a:solidFill>
                          <a:latin typeface="Calibri"/>
                        </a:rPr>
                        <a:t>Throughput, rasm/s</a:t>
                      </a:r>
                    </a:p>
                  </a:txBody>
                  <a:tcPr>
                    <a:solidFill>
                      <a:srgbClr val="2D5C8F"/>
                    </a:solidFill>
                  </a:tcPr>
                </a:tc>
                <a:tc>
                  <a:txBody>
                    <a:bodyPr/>
                    <a:lstStyle/>
                    <a:p>
                      <a:r>
                        <a:rPr sz="1200" b="1">
                          <a:solidFill>
                            <a:srgbClr val="FFFFFF"/>
                          </a:solidFill>
                          <a:latin typeface="Calibri"/>
                        </a:rPr>
                        <a:t>VDD_IN o'rtacha, Vt</a:t>
                      </a:r>
                    </a:p>
                  </a:txBody>
                  <a:tcPr>
                    <a:solidFill>
                      <a:srgbClr val="2D5C8F"/>
                    </a:solidFill>
                  </a:tcPr>
                </a:tc>
                <a:tc>
                  <a:txBody>
                    <a:bodyPr/>
                    <a:lstStyle/>
                    <a:p>
                      <a:r>
                        <a:rPr sz="1200" b="1">
                          <a:solidFill>
                            <a:srgbClr val="FFFFFF"/>
                          </a:solidFill>
                          <a:latin typeface="Calibri"/>
                        </a:rPr>
                        <a:t>mJ/rasm</a:t>
                      </a:r>
                    </a:p>
                  </a:txBody>
                  <a:tcPr>
                    <a:solidFill>
                      <a:srgbClr val="2D5C8F"/>
                    </a:solidFill>
                  </a:tcPr>
                </a:tc>
              </a:tr>
              <a:tr h="520000">
                <a:tc>
                  <a:txBody>
                    <a:bodyPr/>
                    <a:lstStyle/>
                    <a:p>
                      <a:r>
                        <a:rPr sz="1200" b="0">
                          <a:solidFill>
                            <a:srgbClr val="1B2430"/>
                          </a:solidFill>
                          <a:latin typeface="Calibri"/>
                        </a:rPr>
                        <a:t>TensorRT FP16</a:t>
                      </a:r>
                    </a:p>
                  </a:txBody>
                  <a:tcPr>
                    <a:solidFill>
                      <a:srgbClr val="F1F4F8"/>
                    </a:solidFill>
                  </a:tcPr>
                </a:tc>
                <a:tc>
                  <a:txBody>
                    <a:bodyPr/>
                    <a:lstStyle/>
                    <a:p>
                      <a:r>
                        <a:rPr sz="1200" b="0">
                          <a:solidFill>
                            <a:srgbClr val="1B2430"/>
                          </a:solidFill>
                          <a:latin typeface="Calibri"/>
                        </a:rPr>
                        <a:t>4,1</a:t>
                      </a:r>
                    </a:p>
                  </a:txBody>
                  <a:tcPr>
                    <a:solidFill>
                      <a:srgbClr val="F1F4F8"/>
                    </a:solidFill>
                  </a:tcPr>
                </a:tc>
                <a:tc>
                  <a:txBody>
                    <a:bodyPr/>
                    <a:lstStyle/>
                    <a:p>
                      <a:r>
                        <a:rPr sz="1200" b="0">
                          <a:solidFill>
                            <a:srgbClr val="1B2430"/>
                          </a:solidFill>
                          <a:latin typeface="Calibri"/>
                        </a:rPr>
                        <a:t>4,5</a:t>
                      </a:r>
                    </a:p>
                  </a:txBody>
                  <a:tcPr>
                    <a:solidFill>
                      <a:srgbClr val="F1F4F8"/>
                    </a:solidFill>
                  </a:tcPr>
                </a:tc>
                <a:tc>
                  <a:txBody>
                    <a:bodyPr/>
                    <a:lstStyle/>
                    <a:p>
                      <a:r>
                        <a:rPr sz="1200" b="0">
                          <a:solidFill>
                            <a:srgbClr val="1B2430"/>
                          </a:solidFill>
                          <a:latin typeface="Calibri"/>
                        </a:rPr>
                        <a:t>240</a:t>
                      </a:r>
                    </a:p>
                  </a:txBody>
                  <a:tcPr>
                    <a:solidFill>
                      <a:srgbClr val="F1F4F8"/>
                    </a:solidFill>
                  </a:tcPr>
                </a:tc>
                <a:tc>
                  <a:txBody>
                    <a:bodyPr/>
                    <a:lstStyle/>
                    <a:p>
                      <a:r>
                        <a:rPr sz="1200" b="0">
                          <a:solidFill>
                            <a:srgbClr val="1B2430"/>
                          </a:solidFill>
                          <a:latin typeface="Calibri"/>
                        </a:rPr>
                        <a:t>14,5</a:t>
                      </a:r>
                    </a:p>
                  </a:txBody>
                  <a:tcPr>
                    <a:solidFill>
                      <a:srgbClr val="F1F4F8"/>
                    </a:solidFill>
                  </a:tcPr>
                </a:tc>
                <a:tc>
                  <a:txBody>
                    <a:bodyPr/>
                    <a:lstStyle/>
                    <a:p>
                      <a:r>
                        <a:rPr sz="1200" b="0">
                          <a:solidFill>
                            <a:srgbClr val="1B2430"/>
                          </a:solidFill>
                          <a:latin typeface="Calibri"/>
                        </a:rPr>
                        <a:t>60</a:t>
                      </a:r>
                    </a:p>
                  </a:txBody>
                  <a:tcPr>
                    <a:solidFill>
                      <a:srgbClr val="F1F4F8"/>
                    </a:solidFill>
                  </a:tcPr>
                </a:tc>
              </a:tr>
              <a:tr h="520000">
                <a:tc>
                  <a:txBody>
                    <a:bodyPr/>
                    <a:lstStyle/>
                    <a:p>
                      <a:r>
                        <a:rPr sz="1200" b="0">
                          <a:solidFill>
                            <a:srgbClr val="1B2430"/>
                          </a:solidFill>
                          <a:latin typeface="Calibri"/>
                        </a:rPr>
                        <a:t>TensorRT INT8</a:t>
                      </a:r>
                    </a:p>
                  </a:txBody>
                  <a:tcPr>
                    <a:solidFill>
                      <a:srgbClr val="FFFFFF"/>
                    </a:solidFill>
                  </a:tcPr>
                </a:tc>
                <a:tc>
                  <a:txBody>
                    <a:bodyPr/>
                    <a:lstStyle/>
                    <a:p>
                      <a:r>
                        <a:rPr sz="1200" b="0">
                          <a:solidFill>
                            <a:srgbClr val="1B2430"/>
                          </a:solidFill>
                          <a:latin typeface="Calibri"/>
                        </a:rPr>
                        <a:t>2,6</a:t>
                      </a:r>
                    </a:p>
                  </a:txBody>
                  <a:tcPr>
                    <a:solidFill>
                      <a:srgbClr val="FFFFFF"/>
                    </a:solidFill>
                  </a:tcPr>
                </a:tc>
                <a:tc>
                  <a:txBody>
                    <a:bodyPr/>
                    <a:lstStyle/>
                    <a:p>
                      <a:r>
                        <a:rPr sz="1200" b="0">
                          <a:solidFill>
                            <a:srgbClr val="1B2430"/>
                          </a:solidFill>
                          <a:latin typeface="Calibri"/>
                        </a:rPr>
                        <a:t>2,9</a:t>
                      </a:r>
                    </a:p>
                  </a:txBody>
                  <a:tcPr>
                    <a:solidFill>
                      <a:srgbClr val="FFFFFF"/>
                    </a:solidFill>
                  </a:tcPr>
                </a:tc>
                <a:tc>
                  <a:txBody>
                    <a:bodyPr/>
                    <a:lstStyle/>
                    <a:p>
                      <a:r>
                        <a:rPr sz="1200" b="0">
                          <a:solidFill>
                            <a:srgbClr val="1B2430"/>
                          </a:solidFill>
                          <a:latin typeface="Calibri"/>
                        </a:rPr>
                        <a:t>380</a:t>
                      </a:r>
                    </a:p>
                  </a:txBody>
                  <a:tcPr>
                    <a:solidFill>
                      <a:srgbClr val="FFFFFF"/>
                    </a:solidFill>
                  </a:tcPr>
                </a:tc>
                <a:tc>
                  <a:txBody>
                    <a:bodyPr/>
                    <a:lstStyle/>
                    <a:p>
                      <a:r>
                        <a:rPr sz="1200" b="0">
                          <a:solidFill>
                            <a:srgbClr val="1B2430"/>
                          </a:solidFill>
                          <a:latin typeface="Calibri"/>
                        </a:rPr>
                        <a:t>15,0</a:t>
                      </a:r>
                    </a:p>
                  </a:txBody>
                  <a:tcPr>
                    <a:solidFill>
                      <a:srgbClr val="FFFFFF"/>
                    </a:solidFill>
                  </a:tcPr>
                </a:tc>
                <a:tc>
                  <a:txBody>
                    <a:bodyPr/>
                    <a:lstStyle/>
                    <a:p>
                      <a:r>
                        <a:rPr sz="1200" b="0">
                          <a:solidFill>
                            <a:srgbClr val="1B2430"/>
                          </a:solidFill>
                          <a:latin typeface="Calibri"/>
                        </a:rPr>
                        <a:t>39</a:t>
                      </a:r>
                    </a:p>
                  </a:txBody>
                  <a:tcPr>
                    <a:solidFill>
                      <a:srgbClr val="FFFFFF"/>
                    </a:solidFill>
                  </a:tcPr>
                </a:tc>
              </a:tr>
              <a:tr h="520000">
                <a:tc>
                  <a:txBody>
                    <a:bodyPr/>
                    <a:lstStyle/>
                    <a:p>
                      <a:r>
                        <a:rPr sz="1200" b="0">
                          <a:solidFill>
                            <a:srgbClr val="1B2430"/>
                          </a:solidFill>
                          <a:latin typeface="Calibri"/>
                        </a:rPr>
                        <a:t>INT8, 10 Vt rejimi</a:t>
                      </a:r>
                    </a:p>
                  </a:txBody>
                  <a:tcPr>
                    <a:solidFill>
                      <a:srgbClr val="F1F4F8"/>
                    </a:solidFill>
                  </a:tcPr>
                </a:tc>
                <a:tc>
                  <a:txBody>
                    <a:bodyPr/>
                    <a:lstStyle/>
                    <a:p>
                      <a:r>
                        <a:rPr sz="1200" b="0">
                          <a:solidFill>
                            <a:srgbClr val="1B2430"/>
                          </a:solidFill>
                          <a:latin typeface="Calibri"/>
                        </a:rPr>
                        <a:t>5,8</a:t>
                      </a:r>
                    </a:p>
                  </a:txBody>
                  <a:tcPr>
                    <a:solidFill>
                      <a:srgbClr val="F1F4F8"/>
                    </a:solidFill>
                  </a:tcPr>
                </a:tc>
                <a:tc>
                  <a:txBody>
                    <a:bodyPr/>
                    <a:lstStyle/>
                    <a:p>
                      <a:r>
                        <a:rPr sz="1200" b="0">
                          <a:solidFill>
                            <a:srgbClr val="1B2430"/>
                          </a:solidFill>
                          <a:latin typeface="Calibri"/>
                        </a:rPr>
                        <a:t>6,4</a:t>
                      </a:r>
                    </a:p>
                  </a:txBody>
                  <a:tcPr>
                    <a:solidFill>
                      <a:srgbClr val="F1F4F8"/>
                    </a:solidFill>
                  </a:tcPr>
                </a:tc>
                <a:tc>
                  <a:txBody>
                    <a:bodyPr/>
                    <a:lstStyle/>
                    <a:p>
                      <a:r>
                        <a:rPr sz="1200" b="0">
                          <a:solidFill>
                            <a:srgbClr val="1B2430"/>
                          </a:solidFill>
                          <a:latin typeface="Calibri"/>
                        </a:rPr>
                        <a:t>170</a:t>
                      </a:r>
                    </a:p>
                  </a:txBody>
                  <a:tcPr>
                    <a:solidFill>
                      <a:srgbClr val="F1F4F8"/>
                    </a:solidFill>
                  </a:tcPr>
                </a:tc>
                <a:tc>
                  <a:txBody>
                    <a:bodyPr/>
                    <a:lstStyle/>
                    <a:p>
                      <a:r>
                        <a:rPr sz="1200" b="0">
                          <a:solidFill>
                            <a:srgbClr val="1B2430"/>
                          </a:solidFill>
                          <a:latin typeface="Calibri"/>
                        </a:rPr>
                        <a:t>8,5</a:t>
                      </a:r>
                    </a:p>
                  </a:txBody>
                  <a:tcPr>
                    <a:solidFill>
                      <a:srgbClr val="F1F4F8"/>
                    </a:solidFill>
                  </a:tcPr>
                </a:tc>
                <a:tc>
                  <a:txBody>
                    <a:bodyPr/>
                    <a:lstStyle/>
                    <a:p>
                      <a:r>
                        <a:rPr sz="1200" b="0">
                          <a:solidFill>
                            <a:srgbClr val="1B2430"/>
                          </a:solidFill>
                          <a:latin typeface="Calibri"/>
                        </a:rPr>
                        <a:t>50</a:t>
                      </a:r>
                    </a:p>
                  </a:txBody>
                  <a:tcPr>
                    <a:solidFill>
                      <a:srgbClr val="F1F4F8"/>
                    </a:solidFill>
                  </a:tcPr>
                </a:tc>
              </a:tr>
              <a:tr h="520000">
                <a:tc>
                  <a:txBody>
                    <a:bodyPr/>
                    <a:lstStyle/>
                    <a:p>
                      <a:r>
                        <a:rPr sz="1200" b="0">
                          <a:solidFill>
                            <a:srgbClr val="1B2430"/>
                          </a:solidFill>
                          <a:latin typeface="Calibri"/>
                        </a:rPr>
                        <a:t>HTTP xizmat orqali INT8 (preprocess + JPEG bilan)</a:t>
                      </a:r>
                    </a:p>
                  </a:txBody>
                  <a:tcPr>
                    <a:solidFill>
                      <a:srgbClr val="FFFFFF"/>
                    </a:solidFill>
                  </a:tcPr>
                </a:tc>
                <a:tc>
                  <a:txBody>
                    <a:bodyPr/>
                    <a:lstStyle/>
                    <a:p>
                      <a:r>
                        <a:rPr sz="1200" b="0">
                          <a:solidFill>
                            <a:srgbClr val="1B2430"/>
                          </a:solidFill>
                          <a:latin typeface="Calibri"/>
                        </a:rPr>
                        <a:t>19</a:t>
                      </a:r>
                    </a:p>
                  </a:txBody>
                  <a:tcPr>
                    <a:solidFill>
                      <a:srgbClr val="FFFFFF"/>
                    </a:solidFill>
                  </a:tcPr>
                </a:tc>
                <a:tc>
                  <a:txBody>
                    <a:bodyPr/>
                    <a:lstStyle/>
                    <a:p>
                      <a:r>
                        <a:rPr sz="1200" b="0">
                          <a:solidFill>
                            <a:srgbClr val="1B2430"/>
                          </a:solidFill>
                          <a:latin typeface="Calibri"/>
                        </a:rPr>
                        <a:t>26</a:t>
                      </a:r>
                    </a:p>
                  </a:txBody>
                  <a:tcPr>
                    <a:solidFill>
                      <a:srgbClr val="FFFFFF"/>
                    </a:solidFill>
                  </a:tcPr>
                </a:tc>
                <a:tc>
                  <a:txBody>
                    <a:bodyPr/>
                    <a:lstStyle/>
                    <a:p>
                      <a:r>
                        <a:rPr sz="1200" b="0">
                          <a:solidFill>
                            <a:srgbClr val="1B2430"/>
                          </a:solidFill>
                          <a:latin typeface="Calibri"/>
                        </a:rPr>
                        <a:t>50 (1 ishchi)</a:t>
                      </a:r>
                    </a:p>
                  </a:txBody>
                  <a:tcPr>
                    <a:solidFill>
                      <a:srgbClr val="FFFFFF"/>
                    </a:solidFill>
                  </a:tcPr>
                </a:tc>
                <a:tc>
                  <a:txBody>
                    <a:bodyPr/>
                    <a:lstStyle/>
                    <a:p>
                      <a:r>
                        <a:rPr sz="1200" b="0">
                          <a:solidFill>
                            <a:srgbClr val="1B2430"/>
                          </a:solidFill>
                          <a:latin typeface="Calibri"/>
                        </a:rPr>
                        <a:t>13</a:t>
                      </a:r>
                    </a:p>
                  </a:txBody>
                  <a:tcPr>
                    <a:solidFill>
                      <a:srgbClr val="FFFFFF"/>
                    </a:solidFill>
                  </a:tcPr>
                </a:tc>
                <a:tc>
                  <a:txBody>
                    <a:bodyPr/>
                    <a:lstStyle/>
                    <a:p>
                      <a:r>
                        <a:rPr sz="1200" b="0">
                          <a:solidFill>
                            <a:srgbClr val="1B2430"/>
                          </a:solidFill>
                          <a:latin typeface="Calibri"/>
                        </a:rPr>
                        <a:t>260</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Chekka joylash: Jetson'da TensorRT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28</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Jetson Orin (JetPack 6.x) da bajariladi</a:t>
            </a:r>
          </a:p>
          <a:p>
            <a:r>
              <a:rPr sz="1000">
                <a:solidFill>
                  <a:srgbClr val="E2E8F0"/>
                </a:solidFill>
                <a:latin typeface="Consolas"/>
              </a:rPr>
              <a:t>sudo nvpmodel -m 0 &amp;&amp; sudo jetson_clocks               # maksimal quvvat rejimi (Orin NX: 25 Vt) va qotirilgan chastota</a:t>
            </a:r>
          </a:p>
          <a:p>
            <a:r>
              <a:rPr sz="1000">
                <a:solidFill>
                  <a:srgbClr val="E2E8F0"/>
                </a:solidFill>
                <a:latin typeface="Consolas"/>
              </a:rPr>
              <a:t>nvpmodel -q                                             # joriy rejimni tekshirish</a:t>
            </a:r>
          </a:p>
          <a:p>
            <a:r>
              <a:rPr sz="1000">
                <a:solidFill>
                  <a:srgbClr val="7FD6D7"/>
                </a:solidFill>
                <a:latin typeface="Consolas"/>
              </a:rPr>
              <a:t># A3 dan ONNX faylni ko'chirib, dvigatelni AYNAN shu qurilmada qurish</a:t>
            </a:r>
          </a:p>
          <a:p>
            <a:r>
              <a:rPr sz="1000">
                <a:solidFill>
                  <a:srgbClr val="E2E8F0"/>
                </a:solidFill>
                <a:latin typeface="Consolas"/>
              </a:rPr>
              <a:t>/usr/src/tensorrt/bin/trtexec --onnx=resnet50_fp32.onnx --fp16 --saveEngine=rn50_fp16_orin.plan \</a:t>
            </a:r>
          </a:p>
          <a:p>
            <a:r>
              <a:rPr sz="1000">
                <a:solidFill>
                  <a:srgbClr val="E2E8F0"/>
                </a:solidFill>
                <a:latin typeface="Consolas"/>
              </a:rPr>
              <a:t>    --shapes=input:1x3x224x224 --iterations=500 --warmUp=1000 --percentile=95 | tee trt_orin_fp16.log</a:t>
            </a:r>
          </a:p>
          <a:p>
            <a:r>
              <a:rPr sz="1000">
                <a:solidFill>
                  <a:srgbClr val="E2E8F0"/>
                </a:solidFill>
                <a:latin typeface="Consolas"/>
              </a:rPr>
              <a:t>/usr/src/tensorrt/bin/trtexec --onnx=resnet50_int8.onnx --int8 --fp16 --saveEngine=rn50_int8_orin.plan \</a:t>
            </a:r>
          </a:p>
          <a:p>
            <a:r>
              <a:rPr sz="1000">
                <a:solidFill>
                  <a:srgbClr val="E2E8F0"/>
                </a:solidFill>
                <a:latin typeface="Consolas"/>
              </a:rPr>
              <a:t>    --shapes=input:1x3x224x224 --iterations=500 --warmUp=1000 --percentile=95 | tee trt_orin_int8.log</a:t>
            </a:r>
          </a:p>
          <a:p>
            <a:r>
              <a:rPr sz="1000">
                <a:solidFill>
                  <a:srgbClr val="7FD6D7"/>
                </a:solidFill>
                <a:latin typeface="Consolas"/>
              </a:rPr>
              <a:t># Quvvatni parallel o'lchash (boshqa terminalda), 100 ms oraliqda</a:t>
            </a:r>
          </a:p>
          <a:p>
            <a:r>
              <a:rPr sz="1000">
                <a:solidFill>
                  <a:srgbClr val="E2E8F0"/>
                </a:solidFill>
                <a:latin typeface="Consolas"/>
              </a:rPr>
              <a:t>sudo tegrastats --interval 100 --logfile tegra_int8.log &amp;</a:t>
            </a:r>
          </a:p>
          <a:p>
            <a:r>
              <a:rPr sz="1000">
                <a:solidFill>
                  <a:srgbClr val="E2E8F0"/>
                </a:solidFill>
                <a:latin typeface="Consolas"/>
              </a:rPr>
              <a:t>/usr/src/tensorrt/bin/trtexec --loadEngine=rn50_int8_orin.plan --iterations=3000 --shapes=input:1x3x224x224</a:t>
            </a:r>
          </a:p>
          <a:p>
            <a:r>
              <a:rPr sz="1000">
                <a:solidFill>
                  <a:srgbClr val="E2E8F0"/>
                </a:solidFill>
                <a:latin typeface="Consolas"/>
              </a:rPr>
              <a:t>sudo pkill tegrastats</a:t>
            </a:r>
          </a:p>
          <a:p>
            <a:r>
              <a:rPr sz="1000">
                <a:solidFill>
                  <a:srgbClr val="E2E8F0"/>
                </a:solidFill>
                <a:latin typeface="Consolas"/>
              </a:rPr>
              <a:t>grep -o 'VDD_IN [0-9]*mW' tegra_int8.log | awk '{s+=$2; n++} END {print "o'\''rtacha quvvat, mW:", s/n}'</a:t>
            </a:r>
          </a:p>
          <a:p>
            <a:r>
              <a:rPr sz="1000">
                <a:solidFill>
                  <a:srgbClr val="7FD6D7"/>
                </a:solidFill>
                <a:latin typeface="Consolas"/>
              </a:rPr>
              <a:t># Xizmatni Jetson'da konteynerda ishga tushirish (l4t asos tasvir, GPU runtime)</a:t>
            </a:r>
          </a:p>
          <a:p>
            <a:r>
              <a:rPr sz="1000">
                <a:solidFill>
                  <a:srgbClr val="E2E8F0"/>
                </a:solidFill>
                <a:latin typeface="Consolas"/>
              </a:rPr>
              <a:t>sudo docker run -d --runtime nvidia --network host -v $PWD/models:/models:ro \</a:t>
            </a:r>
          </a:p>
          <a:p>
            <a:r>
              <a:rPr sz="1000">
                <a:solidFill>
                  <a:srgbClr val="E2E8F0"/>
                </a:solidFill>
                <a:latin typeface="Consolas"/>
              </a:rPr>
              <a:t>    -e MODEL_PATH=/models/resnet50_int8.onnx -e ORT_PROVIDERS=TensorrtExecutionProvider,CUDAExecutionProvider \</a:t>
            </a:r>
          </a:p>
          <a:p>
            <a:r>
              <a:rPr sz="1000">
                <a:solidFill>
                  <a:srgbClr val="E2E8F0"/>
                </a:solidFill>
                <a:latin typeface="Consolas"/>
              </a:rPr>
              <a:t>    rn50-infer:1.0-l4t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(muqobil). Coral Edge TPU'da TFLite</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29</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Kutilgan natija (Coral USB Accelerator, USB 3.0, taxminiy): MobileNetV2 p50 ≈ 2,8 ms (USB 2.0 da ≈ 12 ms — interfeys tiqilib qoladi); quvvat ~1,5–2 Vt → ~5 mJ/rasm; ResNet-50 (kvantlangan, 25 MB vazn 8 MB SRAM'ga sig'maydi) ≈ 15–18 ms. Xost CPU (Raspberry Pi…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(muqobil). Coral Edge TPU'da TFLite — kod 1</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30</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Xost (Raspberry Pi yoki x86 Linux) da: libedgetpu va pycoral o'rnatilgan</a:t>
            </a:r>
          </a:p>
          <a:p>
            <a:r>
              <a:rPr sz="1000">
                <a:solidFill>
                  <a:srgbClr val="7FD6D7"/>
                </a:solidFill>
                <a:latin typeface="Consolas"/>
              </a:rPr>
              <a:t># Coral model bog'idan to'liq kvantlangan va kompilyatsiya qilingan model:</a:t>
            </a:r>
          </a:p>
          <a:p>
            <a:r>
              <a:rPr sz="1000">
                <a:solidFill>
                  <a:srgbClr val="E2E8F0"/>
                </a:solidFill>
                <a:latin typeface="Consolas"/>
              </a:rPr>
              <a:t>wget https://raw.githubusercontent.com/google-coral/test_data/master/mobilenet_v2_1.0_224_quant_edgetpu.tflite</a:t>
            </a:r>
          </a:p>
          <a:p>
            <a:r>
              <a:rPr sz="1000">
                <a:solidFill>
                  <a:srgbClr val="E2E8F0"/>
                </a:solidFill>
                <a:latin typeface="Consolas"/>
              </a:rPr>
              <a:t>wget https://raw.githubusercontent.com/google-coral/test_data/master/imagenet_labels.txt</a:t>
            </a:r>
          </a:p>
          <a:p>
            <a:r>
              <a:rPr sz="1000">
                <a:solidFill>
                  <a:srgbClr val="7FD6D7"/>
                </a:solidFill>
                <a:latin typeface="Consolas"/>
              </a:rPr>
              <a:t># O'z modelini tayyorlash ketma-ketligi (hisobotda tavsiflang): TF/Keras → TFLite to'liq INT8 (representative dataset) →</a:t>
            </a:r>
          </a:p>
          <a:p>
            <a:r>
              <a:rPr sz="1000">
                <a:solidFill>
                  <a:srgbClr val="7FD6D7"/>
                </a:solidFill>
                <a:latin typeface="Consolas"/>
              </a:rPr>
              <a:t># Kompilyator chiqishida "Number of operations that will run on Edge TPU: N / M" qatorini tekshiring — M-N ta operator 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4-qadam (muqobil). Coral Edge TPU'da TFLite — kod 2</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31</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coral_bench.py</a:t>
            </a:r>
          </a:p>
          <a:p>
            <a:r>
              <a:rPr sz="1000">
                <a:solidFill>
                  <a:srgbClr val="E2E8F0"/>
                </a:solidFill>
                <a:latin typeface="Consolas"/>
              </a:rPr>
              <a:t>import time, numpy as np</a:t>
            </a:r>
          </a:p>
          <a:p>
            <a:r>
              <a:rPr sz="1000">
                <a:solidFill>
                  <a:srgbClr val="E2E8F0"/>
                </a:solidFill>
                <a:latin typeface="Consolas"/>
              </a:rPr>
              <a:t>from pycoral.utils.edgetpu import make_interpreter</a:t>
            </a:r>
          </a:p>
          <a:p>
            <a:r>
              <a:rPr sz="1000">
                <a:solidFill>
                  <a:srgbClr val="E2E8F0"/>
                </a:solidFill>
                <a:latin typeface="Consolas"/>
              </a:rPr>
              <a:t>from pycoral.adapters import common, classify</a:t>
            </a:r>
          </a:p>
          <a:p>
            <a:r>
              <a:rPr sz="1000">
                <a:solidFill>
                  <a:srgbClr val="E2E8F0"/>
                </a:solidFill>
                <a:latin typeface="Consolas"/>
              </a:rPr>
              <a:t>from PIL import Image</a:t>
            </a:r>
          </a:p>
          <a:p>
            <a:r>
              <a:rPr sz="1000">
                <a:solidFill>
                  <a:srgbClr val="E2E8F0"/>
                </a:solidFill>
                <a:latin typeface="Consolas"/>
              </a:rPr>
              <a:t>itp = make_interpreter("mobilenet_v2_1.0_224_quant_edgetpu.tflite"); itp.allocate_tensors()</a:t>
            </a:r>
          </a:p>
          <a:p>
            <a:r>
              <a:rPr sz="1000">
                <a:solidFill>
                  <a:srgbClr val="E2E8F0"/>
                </a:solidFill>
                <a:latin typeface="Consolas"/>
              </a:rPr>
              <a:t>img = Image.open("cat.jpg").convert("RGB").resize(common.input_size(itp))</a:t>
            </a:r>
          </a:p>
          <a:p>
            <a:r>
              <a:rPr sz="1000">
                <a:solidFill>
                  <a:srgbClr val="E2E8F0"/>
                </a:solidFill>
                <a:latin typeface="Consolas"/>
              </a:rPr>
              <a:t>common.set_input(itp, img)</a:t>
            </a:r>
          </a:p>
          <a:p>
            <a:r>
              <a:rPr sz="1000">
                <a:solidFill>
                  <a:srgbClr val="E2E8F0"/>
                </a:solidFill>
                <a:latin typeface="Consolas"/>
              </a:rPr>
              <a:t>for _ in range(10): itp.invoke()</a:t>
            </a:r>
          </a:p>
          <a:p>
            <a:r>
              <a:rPr sz="1000">
                <a:solidFill>
                  <a:srgbClr val="E2E8F0"/>
                </a:solidFill>
                <a:latin typeface="Consolas"/>
              </a:rPr>
              <a:t>t = []</a:t>
            </a:r>
          </a:p>
          <a:p>
            <a:r>
              <a:rPr sz="1000">
                <a:solidFill>
                  <a:srgbClr val="E2E8F0"/>
                </a:solidFill>
                <a:latin typeface="Consolas"/>
              </a:rPr>
              <a:t>for _ in range(200):</a:t>
            </a:r>
          </a:p>
          <a:p>
            <a:r>
              <a:rPr sz="1000">
                <a:solidFill>
                  <a:srgbClr val="E2E8F0"/>
                </a:solidFill>
                <a:latin typeface="Consolas"/>
              </a:rPr>
              <a:t>    t0 = time.perf_counter(); itp.invoke(); t.append(time.perf_counter() - t0)</a:t>
            </a:r>
          </a:p>
          <a:p>
            <a:r>
              <a:rPr sz="1000">
                <a:solidFill>
                  <a:srgbClr val="E2E8F0"/>
                </a:solidFill>
                <a:latin typeface="Consolas"/>
              </a:rPr>
              <a:t>print(f"Edge TPU MobileNetV2: p50 {np.percentile(t,50)*1e3:.2f} ms  p95 {np.percentile(t,95)*1e3:.2f} ms")</a:t>
            </a:r>
          </a:p>
          <a:p>
            <a:r>
              <a:rPr sz="1000">
                <a:solidFill>
                  <a:srgbClr val="E2E8F0"/>
                </a:solidFill>
                <a:latin typeface="Consolas"/>
              </a:rPr>
              <a:t>print(classify.get_classes(itp, top_k=3))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Cloud va Edge arxitekturalarini miqdoriy taqqoslash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32</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A1 ssenariysi (16 kamera, 160 inferens/s, 3 yil) uchun quyidagi jadvalni to'ldiring; raqamlar o'z o'lchovlaringiz va ochiq narxlardan olinadi (taxminiy namuna):</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Nima bo'ldi va nega. SHV ssenariysida Edge aniq ustun: kechikish 5 baravar kam, 3 yillik xarajat 20 baravar kam, video binoda qoladi. Cloud esa boshqa ssenariyda — masalan, 10 000 foydalanuvchiga mobil ilova orqali tasvir tasniflash xizmati — yagona oqilona…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Cloud va Edge arxitekturalarini miqdoriy taqqoslash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33</a:t>
            </a:r>
          </a:p>
        </p:txBody>
      </p:sp>
      <p:graphicFrame>
        <p:nvGraphicFramePr>
          <p:cNvPr id="10" name="Table 9"/>
          <p:cNvGraphicFramePr>
            <a:graphicFrameLocks noGrp="1"/>
          </p:cNvGraphicFramePr>
          <p:nvPr/>
        </p:nvGraphicFramePr>
        <p:xfrm>
          <a:off x="500000" y="1350000"/>
          <a:ext cx="11200000" cy="468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Mezon</a:t>
                      </a:r>
                    </a:p>
                  </a:txBody>
                  <a:tcPr>
                    <a:solidFill>
                      <a:srgbClr val="2D5C8F"/>
                    </a:solidFill>
                  </a:tcPr>
                </a:tc>
                <a:tc>
                  <a:txBody>
                    <a:bodyPr/>
                    <a:lstStyle/>
                    <a:p>
                      <a:r>
                        <a:rPr sz="1200" b="1">
                          <a:solidFill>
                            <a:srgbClr val="FFFFFF"/>
                          </a:solidFill>
                          <a:latin typeface="Calibri"/>
                        </a:rPr>
                        <a:t>Cloud (T4 GPU, K8s, 2 nusxa)</a:t>
                      </a:r>
                    </a:p>
                  </a:txBody>
                  <a:tcPr>
                    <a:solidFill>
                      <a:srgbClr val="2D5C8F"/>
                    </a:solidFill>
                  </a:tcPr>
                </a:tc>
                <a:tc>
                  <a:txBody>
                    <a:bodyPr/>
                    <a:lstStyle/>
                    <a:p>
                      <a:r>
                        <a:rPr sz="1200" b="1">
                          <a:solidFill>
                            <a:srgbClr val="FFFFFF"/>
                          </a:solidFill>
                          <a:latin typeface="Calibri"/>
                        </a:rPr>
                        <a:t>Edge (Jetson Orin NX, 1 dona)</a:t>
                      </a:r>
                    </a:p>
                  </a:txBody>
                  <a:tcPr>
                    <a:solidFill>
                      <a:srgbClr val="2D5C8F"/>
                    </a:solidFill>
                  </a:tcPr>
                </a:tc>
                <a:tc>
                  <a:txBody>
                    <a:bodyPr/>
                    <a:lstStyle/>
                    <a:p>
                      <a:r>
                        <a:rPr sz="1200" b="1">
                          <a:solidFill>
                            <a:srgbClr val="FFFFFF"/>
                          </a:solidFill>
                          <a:latin typeface="Calibri"/>
                        </a:rPr>
                        <a:t>Gibrid (Orin + bulutda og'ir model shubhali kadrlar uchun)</a:t>
                      </a:r>
                    </a:p>
                  </a:txBody>
                  <a:tcPr>
                    <a:solidFill>
                      <a:srgbClr val="2D5C8F"/>
                    </a:solidFill>
                  </a:tcPr>
                </a:tc>
              </a:tr>
              <a:tr h="520000">
                <a:tc>
                  <a:txBody>
                    <a:bodyPr/>
                    <a:lstStyle/>
                    <a:p>
                      <a:r>
                        <a:rPr sz="1200" b="0">
                          <a:solidFill>
                            <a:srgbClr val="1B2430"/>
                          </a:solidFill>
                          <a:latin typeface="Calibri"/>
                        </a:rPr>
                        <a:t>Uchdan-uchga kechikish (p95)</a:t>
                      </a:r>
                    </a:p>
                  </a:txBody>
                  <a:tcPr>
                    <a:solidFill>
                      <a:srgbClr val="F1F4F8"/>
                    </a:solidFill>
                  </a:tcPr>
                </a:tc>
                <a:tc>
                  <a:txBody>
                    <a:bodyPr/>
                    <a:lstStyle/>
                    <a:p>
                      <a:r>
                        <a:rPr sz="1200" b="0">
                          <a:solidFill>
                            <a:srgbClr val="1B2430"/>
                          </a:solidFill>
                          <a:latin typeface="Calibri"/>
                        </a:rPr>
                        <a:t>120–200 ms (RTT 80 ms + navbat + inferens)</a:t>
                      </a:r>
                    </a:p>
                  </a:txBody>
                  <a:tcPr>
                    <a:solidFill>
                      <a:srgbClr val="F1F4F8"/>
                    </a:solidFill>
                  </a:tcPr>
                </a:tc>
                <a:tc>
                  <a:txBody>
                    <a:bodyPr/>
                    <a:lstStyle/>
                    <a:p>
                      <a:r>
                        <a:rPr sz="1200" b="0">
                          <a:solidFill>
                            <a:srgbClr val="1B2430"/>
                          </a:solidFill>
                          <a:latin typeface="Calibri"/>
                        </a:rPr>
                        <a:t>25–40 ms</a:t>
                      </a:r>
                    </a:p>
                  </a:txBody>
                  <a:tcPr>
                    <a:solidFill>
                      <a:srgbClr val="F1F4F8"/>
                    </a:solidFill>
                  </a:tcPr>
                </a:tc>
                <a:tc>
                  <a:txBody>
                    <a:bodyPr/>
                    <a:lstStyle/>
                    <a:p>
                      <a:r>
                        <a:rPr sz="1200" b="0">
                          <a:solidFill>
                            <a:srgbClr val="1B2430"/>
                          </a:solidFill>
                          <a:latin typeface="Calibri"/>
                        </a:rPr>
                        <a:t>30 ms (asosiy), 200 ms (qayta tekshiruv)</a:t>
                      </a:r>
                    </a:p>
                  </a:txBody>
                  <a:tcPr>
                    <a:solidFill>
                      <a:srgbClr val="F1F4F8"/>
                    </a:solidFill>
                  </a:tcPr>
                </a:tc>
              </a:tr>
              <a:tr h="520000">
                <a:tc>
                  <a:txBody>
                    <a:bodyPr/>
                    <a:lstStyle/>
                    <a:p>
                      <a:r>
                        <a:rPr sz="1200" b="0">
                          <a:solidFill>
                            <a:srgbClr val="1B2430"/>
                          </a:solidFill>
                          <a:latin typeface="Calibri"/>
                        </a:rPr>
                        <a:t>Tarmoq trafigi</a:t>
                      </a:r>
                    </a:p>
                  </a:txBody>
                  <a:tcPr>
                    <a:solidFill>
                      <a:srgbClr val="FFFFFF"/>
                    </a:solidFill>
                  </a:tcPr>
                </a:tc>
                <a:tc>
                  <a:txBody>
                    <a:bodyPr/>
                    <a:lstStyle/>
                    <a:p>
                      <a:r>
                        <a:rPr sz="1200" b="0">
                          <a:solidFill>
                            <a:srgbClr val="1B2430"/>
                          </a:solidFill>
                          <a:latin typeface="Calibri"/>
                        </a:rPr>
                        <a:t>64 Mbit/s uzluksiz (16 oqim)</a:t>
                      </a:r>
                    </a:p>
                  </a:txBody>
                  <a:tcPr>
                    <a:solidFill>
                      <a:srgbClr val="FFFFFF"/>
                    </a:solidFill>
                  </a:tcPr>
                </a:tc>
                <a:tc>
                  <a:txBody>
                    <a:bodyPr/>
                    <a:lstStyle/>
                    <a:p>
                      <a:r>
                        <a:rPr sz="1200" b="0">
                          <a:solidFill>
                            <a:srgbClr val="1B2430"/>
                          </a:solidFill>
                          <a:latin typeface="Calibri"/>
                        </a:rPr>
                        <a:t>~10 kbit/s (hodisalar)</a:t>
                      </a:r>
                    </a:p>
                  </a:txBody>
                  <a:tcPr>
                    <a:solidFill>
                      <a:srgbClr val="FFFFFF"/>
                    </a:solidFill>
                  </a:tcPr>
                </a:tc>
                <a:tc>
                  <a:txBody>
                    <a:bodyPr/>
                    <a:lstStyle/>
                    <a:p>
                      <a:r>
                        <a:rPr sz="1200" b="0">
                          <a:solidFill>
                            <a:srgbClr val="1B2430"/>
                          </a:solidFill>
                          <a:latin typeface="Calibri"/>
                        </a:rPr>
                        <a:t>~100 kbit/s (shubhali kadrlar)</a:t>
                      </a:r>
                    </a:p>
                  </a:txBody>
                  <a:tcPr>
                    <a:solidFill>
                      <a:srgbClr val="FFFFFF"/>
                    </a:solidFill>
                  </a:tcPr>
                </a:tc>
              </a:tr>
              <a:tr h="520000">
                <a:tc>
                  <a:txBody>
                    <a:bodyPr/>
                    <a:lstStyle/>
                    <a:p>
                      <a:r>
                        <a:rPr sz="1200" b="0">
                          <a:solidFill>
                            <a:srgbClr val="1B2430"/>
                          </a:solidFill>
                          <a:latin typeface="Calibri"/>
                        </a:rPr>
                        <a:t>3 yillik xarajat</a:t>
                      </a:r>
                    </a:p>
                  </a:txBody>
                  <a:tcPr>
                    <a:solidFill>
                      <a:srgbClr val="F1F4F8"/>
                    </a:solidFill>
                  </a:tcPr>
                </a:tc>
                <a:tc>
                  <a:txBody>
                    <a:bodyPr/>
                    <a:lstStyle/>
                    <a:p>
                      <a:r>
                        <a:rPr sz="1200" b="0">
                          <a:solidFill>
                            <a:srgbClr val="1B2430"/>
                          </a:solidFill>
                          <a:latin typeface="Calibri"/>
                        </a:rPr>
                        <a:t>GPU soati 0,5 $ × 2 × 26 280 soat ≈ 26 000 $ + trafik</a:t>
                      </a:r>
                    </a:p>
                  </a:txBody>
                  <a:tcPr>
                    <a:solidFill>
                      <a:srgbClr val="F1F4F8"/>
                    </a:solidFill>
                  </a:tcPr>
                </a:tc>
                <a:tc>
                  <a:txBody>
                    <a:bodyPr/>
                    <a:lstStyle/>
                    <a:p>
                      <a:r>
                        <a:rPr sz="1200" b="0">
                          <a:solidFill>
                            <a:srgbClr val="1B2430"/>
                          </a:solidFill>
                          <a:latin typeface="Calibri"/>
                        </a:rPr>
                        <a:t>700 $ qurilma + 300 $ korpus/sovutish + 3 yil 25 Vt ≈ 660 kVt·s ≈ 100 $ ≈ 1 100 $</a:t>
                      </a:r>
                    </a:p>
                  </a:txBody>
                  <a:tcPr>
                    <a:solidFill>
                      <a:srgbClr val="F1F4F8"/>
                    </a:solidFill>
                  </a:tcPr>
                </a:tc>
                <a:tc>
                  <a:txBody>
                    <a:bodyPr/>
                    <a:lstStyle/>
                    <a:p>
                      <a:r>
                        <a:rPr sz="1200" b="0">
                          <a:solidFill>
                            <a:srgbClr val="1B2430"/>
                          </a:solidFill>
                          <a:latin typeface="Calibri"/>
                        </a:rPr>
                        <a:t>≈ 1 100 $ + bulut 5 % vaqt ≈ 2 500 $</a:t>
                      </a:r>
                    </a:p>
                  </a:txBody>
                  <a:tcPr>
                    <a:solidFill>
                      <a:srgbClr val="F1F4F8"/>
                    </a:solidFill>
                  </a:tcPr>
                </a:tc>
              </a:tr>
              <a:tr h="520000">
                <a:tc>
                  <a:txBody>
                    <a:bodyPr/>
                    <a:lstStyle/>
                    <a:p>
                      <a:r>
                        <a:rPr sz="1200" b="0">
                          <a:solidFill>
                            <a:srgbClr val="1B2430"/>
                          </a:solidFill>
                          <a:latin typeface="Calibri"/>
                        </a:rPr>
                        <a:t>Energiya (inferens boshiga, to'liq)</a:t>
                      </a:r>
                    </a:p>
                  </a:txBody>
                  <a:tcPr>
                    <a:solidFill>
                      <a:srgbClr val="FFFFFF"/>
                    </a:solidFill>
                  </a:tcPr>
                </a:tc>
                <a:tc>
                  <a:txBody>
                    <a:bodyPr/>
                    <a:lstStyle/>
                    <a:p>
                      <a:r>
                        <a:rPr sz="1200" b="0">
                          <a:solidFill>
                            <a:srgbClr val="1B2430"/>
                          </a:solidFill>
                          <a:latin typeface="Calibri"/>
                        </a:rPr>
                        <a:t>~45 mJ + ma'lumotlar markazi PUE 1,3 + tarmoq</a:t>
                      </a:r>
                    </a:p>
                  </a:txBody>
                  <a:tcPr>
                    <a:solidFill>
                      <a:srgbClr val="FFFFFF"/>
                    </a:solidFill>
                  </a:tcPr>
                </a:tc>
                <a:tc>
                  <a:txBody>
                    <a:bodyPr/>
                    <a:lstStyle/>
                    <a:p>
                      <a:r>
                        <a:rPr sz="1200" b="0">
                          <a:solidFill>
                            <a:srgbClr val="1B2430"/>
                          </a:solidFill>
                          <a:latin typeface="Calibri"/>
                        </a:rPr>
                        <a:t>~40 mJ (yuklanganda), bo'sh holat kam</a:t>
                      </a:r>
                    </a:p>
                  </a:txBody>
                  <a:tcPr>
                    <a:solidFill>
                      <a:srgbClr val="FFFFFF"/>
                    </a:solidFill>
                  </a:tcPr>
                </a:tc>
                <a:tc>
                  <a:txBody>
                    <a:bodyPr/>
                    <a:lstStyle/>
                    <a:p>
                      <a:r>
                        <a:rPr sz="1200" b="0">
                          <a:solidFill>
                            <a:srgbClr val="1B2430"/>
                          </a:solidFill>
                          <a:latin typeface="Calibri"/>
                        </a:rPr>
                        <a:t>~45 mJ</a:t>
                      </a:r>
                    </a:p>
                  </a:txBody>
                  <a:tcPr>
                    <a:solidFill>
                      <a:srgbClr val="FFFFFF"/>
                    </a:solidFill>
                  </a:tcPr>
                </a:tc>
              </a:tr>
              <a:tr h="520000">
                <a:tc>
                  <a:txBody>
                    <a:bodyPr/>
                    <a:lstStyle/>
                    <a:p>
                      <a:r>
                        <a:rPr sz="1200" b="0">
                          <a:solidFill>
                            <a:srgbClr val="1B2430"/>
                          </a:solidFill>
                          <a:latin typeface="Calibri"/>
                        </a:rPr>
                        <a:t>Oflayn ishlash</a:t>
                      </a:r>
                    </a:p>
                  </a:txBody>
                  <a:tcPr>
                    <a:solidFill>
                      <a:srgbClr val="F1F4F8"/>
                    </a:solidFill>
                  </a:tcPr>
                </a:tc>
                <a:tc>
                  <a:txBody>
                    <a:bodyPr/>
                    <a:lstStyle/>
                    <a:p>
                      <a:r>
                        <a:rPr sz="1200" b="0">
                          <a:solidFill>
                            <a:srgbClr val="1B2430"/>
                          </a:solidFill>
                          <a:latin typeface="Calibri"/>
                        </a:rPr>
                        <a:t>yo'q</a:t>
                      </a:r>
                    </a:p>
                  </a:txBody>
                  <a:tcPr>
                    <a:solidFill>
                      <a:srgbClr val="F1F4F8"/>
                    </a:solidFill>
                  </a:tcPr>
                </a:tc>
                <a:tc>
                  <a:txBody>
                    <a:bodyPr/>
                    <a:lstStyle/>
                    <a:p>
                      <a:r>
                        <a:rPr sz="1200" b="0">
                          <a:solidFill>
                            <a:srgbClr val="1B2430"/>
                          </a:solidFill>
                          <a:latin typeface="Calibri"/>
                        </a:rPr>
                        <a:t>ha</a:t>
                      </a:r>
                    </a:p>
                  </a:txBody>
                  <a:tcPr>
                    <a:solidFill>
                      <a:srgbClr val="F1F4F8"/>
                    </a:solidFill>
                  </a:tcPr>
                </a:tc>
                <a:tc>
                  <a:txBody>
                    <a:bodyPr/>
                    <a:lstStyle/>
                    <a:p>
                      <a:r>
                        <a:rPr sz="1200" b="0">
                          <a:solidFill>
                            <a:srgbClr val="1B2430"/>
                          </a:solidFill>
                          <a:latin typeface="Calibri"/>
                        </a:rPr>
                        <a:t>asosiy funksiya ha</a:t>
                      </a:r>
                    </a:p>
                  </a:txBody>
                  <a:tcPr>
                    <a:solidFill>
                      <a:srgbClr val="F1F4F8"/>
                    </a:solidFill>
                  </a:tcPr>
                </a:tc>
              </a:tr>
              <a:tr h="520000">
                <a:tc>
                  <a:txBody>
                    <a:bodyPr/>
                    <a:lstStyle/>
                    <a:p>
                      <a:r>
                        <a:rPr sz="1200" b="0">
                          <a:solidFill>
                            <a:srgbClr val="1B2430"/>
                          </a:solidFill>
                          <a:latin typeface="Calibri"/>
                        </a:rPr>
                        <a:t>Maxfiylik</a:t>
                      </a:r>
                    </a:p>
                  </a:txBody>
                  <a:tcPr>
                    <a:solidFill>
                      <a:srgbClr val="FFFFFF"/>
                    </a:solidFill>
                  </a:tcPr>
                </a:tc>
                <a:tc>
                  <a:txBody>
                    <a:bodyPr/>
                    <a:lstStyle/>
                    <a:p>
                      <a:r>
                        <a:rPr sz="1200" b="0">
                          <a:solidFill>
                            <a:srgbClr val="1B2430"/>
                          </a:solidFill>
                          <a:latin typeface="Calibri"/>
                        </a:rPr>
                        <a:t>video binodan chiqadi (shifrlash shart)</a:t>
                      </a:r>
                    </a:p>
                  </a:txBody>
                  <a:tcPr>
                    <a:solidFill>
                      <a:srgbClr val="FFFFFF"/>
                    </a:solidFill>
                  </a:tcPr>
                </a:tc>
                <a:tc>
                  <a:txBody>
                    <a:bodyPr/>
                    <a:lstStyle/>
                    <a:p>
                      <a:r>
                        <a:rPr sz="1200" b="0">
                          <a:solidFill>
                            <a:srgbClr val="1B2430"/>
                          </a:solidFill>
                          <a:latin typeface="Calibri"/>
                        </a:rPr>
                        <a:t>video binoda qoladi</a:t>
                      </a:r>
                    </a:p>
                  </a:txBody>
                  <a:tcPr>
                    <a:solidFill>
                      <a:srgbClr val="FFFFFF"/>
                    </a:solidFill>
                  </a:tcPr>
                </a:tc>
                <a:tc>
                  <a:txBody>
                    <a:bodyPr/>
                    <a:lstStyle/>
                    <a:p>
                      <a:r>
                        <a:rPr sz="1200" b="0">
                          <a:solidFill>
                            <a:srgbClr val="1B2430"/>
                          </a:solidFill>
                          <a:latin typeface="Calibri"/>
                        </a:rPr>
                        <a:t>faqat kesilgan kadrlar chiqadi</a:t>
                      </a:r>
                    </a:p>
                  </a:txBody>
                  <a:tcPr>
                    <a:solidFill>
                      <a:srgbClr val="FFFFFF"/>
                    </a:solidFill>
                  </a:tcPr>
                </a:tc>
              </a:tr>
              <a:tr h="520000">
                <a:tc>
                  <a:txBody>
                    <a:bodyPr/>
                    <a:lstStyle/>
                    <a:p>
                      <a:r>
                        <a:rPr sz="1200" b="0">
                          <a:solidFill>
                            <a:srgbClr val="1B2430"/>
                          </a:solidFill>
                          <a:latin typeface="Calibri"/>
                        </a:rPr>
                        <a:t>Masshtablash</a:t>
                      </a:r>
                    </a:p>
                  </a:txBody>
                  <a:tcPr>
                    <a:solidFill>
                      <a:srgbClr val="F1F4F8"/>
                    </a:solidFill>
                  </a:tcPr>
                </a:tc>
                <a:tc>
                  <a:txBody>
                    <a:bodyPr/>
                    <a:lstStyle/>
                    <a:p>
                      <a:r>
                        <a:rPr sz="1200" b="0">
                          <a:solidFill>
                            <a:srgbClr val="1B2430"/>
                          </a:solidFill>
                          <a:latin typeface="Calibri"/>
                        </a:rPr>
                        <a:t>daqiqalarda (HPA)</a:t>
                      </a:r>
                    </a:p>
                  </a:txBody>
                  <a:tcPr>
                    <a:solidFill>
                      <a:srgbClr val="F1F4F8"/>
                    </a:solidFill>
                  </a:tcPr>
                </a:tc>
                <a:tc>
                  <a:txBody>
                    <a:bodyPr/>
                    <a:lstStyle/>
                    <a:p>
                      <a:r>
                        <a:rPr sz="1200" b="0">
                          <a:solidFill>
                            <a:srgbClr val="1B2430"/>
                          </a:solidFill>
                          <a:latin typeface="Calibri"/>
                        </a:rPr>
                        <a:t>yangi qurilma sotib olish</a:t>
                      </a:r>
                    </a:p>
                  </a:txBody>
                  <a:tcPr>
                    <a:solidFill>
                      <a:srgbClr val="F1F4F8"/>
                    </a:solidFill>
                  </a:tcPr>
                </a:tc>
                <a:tc>
                  <a:txBody>
                    <a:bodyPr/>
                    <a:lstStyle/>
                    <a:p>
                      <a:r>
                        <a:rPr sz="1200" b="0">
                          <a:solidFill>
                            <a:srgbClr val="1B2430"/>
                          </a:solidFill>
                          <a:latin typeface="Calibri"/>
                        </a:rPr>
                        <a:t>ikkalasi</a:t>
                      </a:r>
                    </a:p>
                  </a:txBody>
                  <a:tcPr>
                    <a:solidFill>
                      <a:srgbClr val="F1F4F8"/>
                    </a:solidFill>
                  </a:tcPr>
                </a:tc>
              </a:tr>
              <a:tr h="520000">
                <a:tc>
                  <a:txBody>
                    <a:bodyPr/>
                    <a:lstStyle/>
                    <a:p>
                      <a:r>
                        <a:rPr sz="1200" b="0">
                          <a:solidFill>
                            <a:srgbClr val="1B2430"/>
                          </a:solidFill>
                          <a:latin typeface="Calibri"/>
                        </a:rPr>
                        <a:t>Yangilash</a:t>
                      </a:r>
                    </a:p>
                  </a:txBody>
                  <a:tcPr>
                    <a:solidFill>
                      <a:srgbClr val="FFFFFF"/>
                    </a:solidFill>
                  </a:tcPr>
                </a:tc>
                <a:tc>
                  <a:txBody>
                    <a:bodyPr/>
                    <a:lstStyle/>
                    <a:p>
                      <a:r>
                        <a:rPr sz="1200" b="0">
                          <a:solidFill>
                            <a:srgbClr val="1B2430"/>
                          </a:solidFill>
                          <a:latin typeface="Calibri"/>
                        </a:rPr>
                        <a:t>bir joyda, rollout</a:t>
                      </a:r>
                    </a:p>
                  </a:txBody>
                  <a:tcPr>
                    <a:solidFill>
                      <a:srgbClr val="FFFFFF"/>
                    </a:solidFill>
                  </a:tcPr>
                </a:tc>
                <a:tc>
                  <a:txBody>
                    <a:bodyPr/>
                    <a:lstStyle/>
                    <a:p>
                      <a:r>
                        <a:rPr sz="1200" b="0">
                          <a:solidFill>
                            <a:srgbClr val="1B2430"/>
                          </a:solidFill>
                          <a:latin typeface="Calibri"/>
                        </a:rPr>
                        <a:t>OTA, flot boshqaruvi</a:t>
                      </a:r>
                    </a:p>
                  </a:txBody>
                  <a:tcPr>
                    <a:solidFill>
                      <a:srgbClr val="FFFFFF"/>
                    </a:solidFill>
                  </a:tcPr>
                </a:tc>
                <a:tc>
                  <a:txBody>
                    <a:bodyPr/>
                    <a:lstStyle/>
                    <a:p>
                      <a:r>
                        <a:rPr sz="1200" b="0">
                          <a:solidFill>
                            <a:srgbClr val="1B2430"/>
                          </a:solidFill>
                          <a:latin typeface="Calibri"/>
                        </a:rPr>
                        <a:t>ikkalasi</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5-qadam. Cloud va Edge arxitekturalarini miqdoriy taqqoslash (davomi)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34</a:t>
            </a:r>
          </a:p>
        </p:txBody>
      </p:sp>
      <p:graphicFrame>
        <p:nvGraphicFramePr>
          <p:cNvPr id="10" name="Table 9"/>
          <p:cNvGraphicFramePr>
            <a:graphicFrameLocks noGrp="1"/>
          </p:cNvGraphicFramePr>
          <p:nvPr/>
        </p:nvGraphicFramePr>
        <p:xfrm>
          <a:off x="500000" y="1350000"/>
          <a:ext cx="11200000" cy="1040000"/>
        </p:xfrm>
        <a:graphic>
          <a:graphicData uri="http://schemas.openxmlformats.org/drawingml/2006/table">
            <a:tbl>
              <a:tblPr firstRow="1" bandRow="1">
                <a:tableStyleId>{5C22544A-7EE6-4342-B048-85BDC9FD1C3A}</a:tableStyleId>
              </a:tblPr>
              <a:tblGrid>
                <a:gridCol w="2800000"/>
                <a:gridCol w="2800000"/>
                <a:gridCol w="2800000"/>
                <a:gridCol w="2800000"/>
              </a:tblGrid>
              <a:tr h="520000">
                <a:tc>
                  <a:txBody>
                    <a:bodyPr/>
                    <a:lstStyle/>
                    <a:p>
                      <a:r>
                        <a:rPr sz="1200" b="1">
                          <a:solidFill>
                            <a:srgbClr val="FFFFFF"/>
                          </a:solidFill>
                          <a:latin typeface="Calibri"/>
                        </a:rPr>
                        <a:t>Mezon</a:t>
                      </a:r>
                    </a:p>
                  </a:txBody>
                  <a:tcPr>
                    <a:solidFill>
                      <a:srgbClr val="2D5C8F"/>
                    </a:solidFill>
                  </a:tcPr>
                </a:tc>
                <a:tc>
                  <a:txBody>
                    <a:bodyPr/>
                    <a:lstStyle/>
                    <a:p>
                      <a:r>
                        <a:rPr sz="1200" b="1">
                          <a:solidFill>
                            <a:srgbClr val="FFFFFF"/>
                          </a:solidFill>
                          <a:latin typeface="Calibri"/>
                        </a:rPr>
                        <a:t>Cloud (T4 GPU, K8s, 2 nusxa)</a:t>
                      </a:r>
                    </a:p>
                  </a:txBody>
                  <a:tcPr>
                    <a:solidFill>
                      <a:srgbClr val="2D5C8F"/>
                    </a:solidFill>
                  </a:tcPr>
                </a:tc>
                <a:tc>
                  <a:txBody>
                    <a:bodyPr/>
                    <a:lstStyle/>
                    <a:p>
                      <a:r>
                        <a:rPr sz="1200" b="1">
                          <a:solidFill>
                            <a:srgbClr val="FFFFFF"/>
                          </a:solidFill>
                          <a:latin typeface="Calibri"/>
                        </a:rPr>
                        <a:t>Edge (Jetson Orin NX, 1 dona)</a:t>
                      </a:r>
                    </a:p>
                  </a:txBody>
                  <a:tcPr>
                    <a:solidFill>
                      <a:srgbClr val="2D5C8F"/>
                    </a:solidFill>
                  </a:tcPr>
                </a:tc>
                <a:tc>
                  <a:txBody>
                    <a:bodyPr/>
                    <a:lstStyle/>
                    <a:p>
                      <a:r>
                        <a:rPr sz="1200" b="1">
                          <a:solidFill>
                            <a:srgbClr val="FFFFFF"/>
                          </a:solidFill>
                          <a:latin typeface="Calibri"/>
                        </a:rPr>
                        <a:t>Gibrid (Orin + bulutda og'ir model shubhali kadrlar uchun)</a:t>
                      </a:r>
                    </a:p>
                  </a:txBody>
                  <a:tcPr>
                    <a:solidFill>
                      <a:srgbClr val="2D5C8F"/>
                    </a:solidFill>
                  </a:tcPr>
                </a:tc>
              </a:tr>
              <a:tr h="520000">
                <a:tc>
                  <a:txBody>
                    <a:bodyPr/>
                    <a:lstStyle/>
                    <a:p>
                      <a:r>
                        <a:rPr sz="1200" b="0">
                          <a:solidFill>
                            <a:srgbClr val="1B2430"/>
                          </a:solidFill>
                          <a:latin typeface="Calibri"/>
                        </a:rPr>
                        <a:t>Nosozlikka bardoshlilik</a:t>
                      </a:r>
                    </a:p>
                  </a:txBody>
                  <a:tcPr>
                    <a:solidFill>
                      <a:srgbClr val="F1F4F8"/>
                    </a:solidFill>
                  </a:tcPr>
                </a:tc>
                <a:tc>
                  <a:txBody>
                    <a:bodyPr/>
                    <a:lstStyle/>
                    <a:p>
                      <a:r>
                        <a:rPr sz="1200" b="0">
                          <a:solidFill>
                            <a:srgbClr val="1B2430"/>
                          </a:solidFill>
                          <a:latin typeface="Calibri"/>
                        </a:rPr>
                        <a:t>yuqori (ko'p nusxa, zonalar)</a:t>
                      </a:r>
                    </a:p>
                  </a:txBody>
                  <a:tcPr>
                    <a:solidFill>
                      <a:srgbClr val="F1F4F8"/>
                    </a:solidFill>
                  </a:tcPr>
                </a:tc>
                <a:tc>
                  <a:txBody>
                    <a:bodyPr/>
                    <a:lstStyle/>
                    <a:p>
                      <a:r>
                        <a:rPr sz="1200" b="0">
                          <a:solidFill>
                            <a:srgbClr val="1B2430"/>
                          </a:solidFill>
                          <a:latin typeface="Calibri"/>
                        </a:rPr>
                        <a:t>yagona nuqta (zaxira qurilma kerak)</a:t>
                      </a:r>
                    </a:p>
                  </a:txBody>
                  <a:tcPr>
                    <a:solidFill>
                      <a:srgbClr val="F1F4F8"/>
                    </a:solidFill>
                  </a:tcPr>
                </a:tc>
                <a:tc>
                  <a:txBody>
                    <a:bodyPr/>
                    <a:lstStyle/>
                    <a:p>
                      <a:r>
                        <a:rPr sz="1200" b="0">
                          <a:solidFill>
                            <a:srgbClr val="1B2430"/>
                          </a:solidFill>
                          <a:latin typeface="Calibri"/>
                        </a:rPr>
                        <a:t>o'rtacha</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Hisobot shakli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35</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Hisobot (6–8 bet): (1) xizmat kodi tavsifi va API hujjati (FastAPI /docs ekran tasviri); (2) Dockerfile, tasvir hajmi, ishga tushish vaqti, mahalliy yuklama sinovi natijalari; (3) K8s…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Baholash mezoni (jami 100 ball)</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36</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800" b="0">
                <a:solidFill>
                  <a:srgbClr val="1B2430"/>
                </a:solidFill>
                <a:latin typeface="Calibri"/>
              </a:rPr>
              <a:t>Qo'shimcha 10 ball: GPU K8s (NVIDIA device plugin, nvidia.com/gpu limiti) va KEDA/Prometheus Adapter bilan so'rov/s bo'yicha masshtablash; yoki Jetson'da k3s agent sifatida ishlab, bitta…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AMALIY MISOL</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Baholash mezoni (jami 100 ball)</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37</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5600000"/>
                <a:gridCol w="5600000"/>
              </a:tblGrid>
              <a:tr h="520000">
                <a:tc>
                  <a:txBody>
                    <a:bodyPr/>
                    <a:lstStyle/>
                    <a:p>
                      <a:r>
                        <a:rPr sz="1000" b="1">
                          <a:solidFill>
                            <a:srgbClr val="FFFFFF"/>
                          </a:solidFill>
                          <a:latin typeface="Calibri"/>
                        </a:rPr>
                        <a:t>Mezon</a:t>
                      </a:r>
                    </a:p>
                  </a:txBody>
                  <a:tcPr>
                    <a:solidFill>
                      <a:srgbClr val="2D5C8F"/>
                    </a:solidFill>
                  </a:tcPr>
                </a:tc>
                <a:tc>
                  <a:txBody>
                    <a:bodyPr/>
                    <a:lstStyle/>
                    <a:p>
                      <a:r>
                        <a:rPr sz="1000" b="1">
                          <a:solidFill>
                            <a:srgbClr val="FFFFFF"/>
                          </a:solidFill>
                          <a:latin typeface="Calibri"/>
                        </a:rPr>
                        <a:t>Ball</a:t>
                      </a:r>
                    </a:p>
                  </a:txBody>
                  <a:tcPr>
                    <a:solidFill>
                      <a:srgbClr val="2D5C8F"/>
                    </a:solidFill>
                  </a:tcPr>
                </a:tc>
              </a:tr>
              <a:tr h="520000">
                <a:tc>
                  <a:txBody>
                    <a:bodyPr/>
                    <a:lstStyle/>
                    <a:p>
                      <a:r>
                        <a:rPr sz="1000" b="0">
                          <a:solidFill>
                            <a:srgbClr val="1B2430"/>
                          </a:solidFill>
                          <a:latin typeface="Calibri"/>
                        </a:rPr>
                        <a:t>FastAPI xizmati ishlaydi, probe'lar va metrikalar bor, sozlamalar muhit o'zgaruvchilaridan</a:t>
                      </a:r>
                    </a:p>
                  </a:txBody>
                  <a:tcPr>
                    <a:solidFill>
                      <a:srgbClr val="F1F4F8"/>
                    </a:solidFill>
                  </a:tcPr>
                </a:tc>
                <a:tc>
                  <a:txBody>
                    <a:bodyPr/>
                    <a:lstStyle/>
                    <a:p>
                      <a:r>
                        <a:rPr sz="1000" b="0">
                          <a:solidFill>
                            <a:srgbClr val="1B2430"/>
                          </a:solidFill>
                          <a:latin typeface="Calibri"/>
                        </a:rPr>
                        <a:t>15</a:t>
                      </a:r>
                    </a:p>
                  </a:txBody>
                  <a:tcPr>
                    <a:solidFill>
                      <a:srgbClr val="F1F4F8"/>
                    </a:solidFill>
                  </a:tcPr>
                </a:tc>
              </a:tr>
              <a:tr h="520000">
                <a:tc>
                  <a:txBody>
                    <a:bodyPr/>
                    <a:lstStyle/>
                    <a:p>
                      <a:r>
                        <a:rPr sz="1000" b="0">
                          <a:solidFill>
                            <a:srgbClr val="1B2430"/>
                          </a:solidFill>
                          <a:latin typeface="Calibri"/>
                        </a:rPr>
                        <a:t>Dockerfile ko'p bosqichli, root'siz, tasvir hajmi va resurs cheklovlari o'lchangan</a:t>
                      </a:r>
                    </a:p>
                  </a:txBody>
                  <a:tcPr>
                    <a:solidFill>
                      <a:srgbClr val="FFFFFF"/>
                    </a:solidFill>
                  </a:tcPr>
                </a:tc>
                <a:tc>
                  <a:txBody>
                    <a:bodyPr/>
                    <a:lstStyle/>
                    <a:p>
                      <a:r>
                        <a:rPr sz="1000" b="0">
                          <a:solidFill>
                            <a:srgbClr val="1B2430"/>
                          </a:solidFill>
                          <a:latin typeface="Calibri"/>
                        </a:rPr>
                        <a:t>15</a:t>
                      </a:r>
                    </a:p>
                  </a:txBody>
                  <a:tcPr>
                    <a:solidFill>
                      <a:srgbClr val="FFFFFF"/>
                    </a:solidFill>
                  </a:tcPr>
                </a:tc>
              </a:tr>
              <a:tr h="520000">
                <a:tc>
                  <a:txBody>
                    <a:bodyPr/>
                    <a:lstStyle/>
                    <a:p>
                      <a:r>
                        <a:rPr sz="1000" b="0">
                          <a:solidFill>
                            <a:srgbClr val="1B2430"/>
                          </a:solidFill>
                          <a:latin typeface="Calibri"/>
                        </a:rPr>
                        <a:t>K8s: Deployment/Service/HPA/ConfigMap to'g'ri, HPA yuklama ostida ishlagani ko'rsatilgan, rollout xatosiz</a:t>
                      </a:r>
                    </a:p>
                  </a:txBody>
                  <a:tcPr>
                    <a:solidFill>
                      <a:srgbClr val="F1F4F8"/>
                    </a:solidFill>
                  </a:tcPr>
                </a:tc>
                <a:tc>
                  <a:txBody>
                    <a:bodyPr/>
                    <a:lstStyle/>
                    <a:p>
                      <a:r>
                        <a:rPr sz="1000" b="0">
                          <a:solidFill>
                            <a:srgbClr val="1B2430"/>
                          </a:solidFill>
                          <a:latin typeface="Calibri"/>
                        </a:rPr>
                        <a:t>25</a:t>
                      </a:r>
                    </a:p>
                  </a:txBody>
                  <a:tcPr>
                    <a:solidFill>
                      <a:srgbClr val="F1F4F8"/>
                    </a:solidFill>
                  </a:tcPr>
                </a:tc>
              </a:tr>
              <a:tr h="520000">
                <a:tc>
                  <a:txBody>
                    <a:bodyPr/>
                    <a:lstStyle/>
                    <a:p>
                      <a:r>
                        <a:rPr sz="1000" b="0">
                          <a:solidFill>
                            <a:srgbClr val="1B2430"/>
                          </a:solidFill>
                          <a:latin typeface="Calibri"/>
                        </a:rPr>
                        <a:t>Chekka qurilmada inferens: dvigatel qurilgan, latency va quvvat kamida 2 rejimda o'lchangan, to'liq so'rov kechikishi tahlil qilingan</a:t>
                      </a:r>
                    </a:p>
                  </a:txBody>
                  <a:tcPr>
                    <a:solidFill>
                      <a:srgbClr val="FFFFFF"/>
                    </a:solidFill>
                  </a:tcPr>
                </a:tc>
                <a:tc>
                  <a:txBody>
                    <a:bodyPr/>
                    <a:lstStyle/>
                    <a:p>
                      <a:r>
                        <a:rPr sz="1000" b="0">
                          <a:solidFill>
                            <a:srgbClr val="1B2430"/>
                          </a:solidFill>
                          <a:latin typeface="Calibri"/>
                        </a:rPr>
                        <a:t>20</a:t>
                      </a:r>
                    </a:p>
                  </a:txBody>
                  <a:tcPr>
                    <a:solidFill>
                      <a:srgbClr val="FFFFFF"/>
                    </a:solidFill>
                  </a:tcPr>
                </a:tc>
              </a:tr>
              <a:tr h="520000">
                <a:tc>
                  <a:txBody>
                    <a:bodyPr/>
                    <a:lstStyle/>
                    <a:p>
                      <a:r>
                        <a:rPr sz="1000" b="0">
                          <a:solidFill>
                            <a:srgbClr val="1B2430"/>
                          </a:solidFill>
                          <a:latin typeface="Calibri"/>
                        </a:rPr>
                        <a:t>Cloud/Edge/Gibrid taqqoslash o'z o'lchovlari va asoslangan narxlar bilan, ssenariyga mos tavsiya</a:t>
                      </a:r>
                    </a:p>
                  </a:txBody>
                  <a:tcPr>
                    <a:solidFill>
                      <a:srgbClr val="F1F4F8"/>
                    </a:solidFill>
                  </a:tcPr>
                </a:tc>
                <a:tc>
                  <a:txBody>
                    <a:bodyPr/>
                    <a:lstStyle/>
                    <a:p>
                      <a:r>
                        <a:rPr sz="1000" b="0">
                          <a:solidFill>
                            <a:srgbClr val="1B2430"/>
                          </a:solidFill>
                          <a:latin typeface="Calibri"/>
                        </a:rPr>
                        <a:t>15</a:t>
                      </a:r>
                    </a:p>
                  </a:txBody>
                  <a:tcPr>
                    <a:solidFill>
                      <a:srgbClr val="F1F4F8"/>
                    </a:solidFill>
                  </a:tcPr>
                </a:tc>
              </a:tr>
              <a:tr h="520000">
                <a:tc>
                  <a:txBody>
                    <a:bodyPr/>
                    <a:lstStyle/>
                    <a:p>
                      <a:r>
                        <a:rPr sz="1000" b="0">
                          <a:solidFill>
                            <a:srgbClr val="1B2430"/>
                          </a:solidFill>
                          <a:latin typeface="Calibri"/>
                        </a:rPr>
                        <a:t>Hisobot va himoya</a:t>
                      </a:r>
                    </a:p>
                  </a:txBody>
                  <a:tcPr>
                    <a:solidFill>
                      <a:srgbClr val="FFFFFF"/>
                    </a:solidFill>
                  </a:tcPr>
                </a:tc>
                <a:tc>
                  <a:txBody>
                    <a:bodyPr/>
                    <a:lstStyle/>
                    <a:p>
                      <a:r>
                        <a:rPr sz="1000" b="0">
                          <a:solidFill>
                            <a:srgbClr val="1B2430"/>
                          </a:solidFill>
                          <a:latin typeface="Calibri"/>
                        </a:rPr>
                        <a:t>10</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05</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Natijalarni tahlil qilish</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Natijalarni tahlil qilish</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39</a:t>
            </a:r>
          </a:p>
        </p:txBody>
      </p:sp>
      <p:sp>
        <p:nvSpPr>
          <p:cNvPr id="9" name="Rounded Rectangle 8"/>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Mashg'ulot natijalari joylashtirish bosqichining uchta asosiy haqiqatini ko'rsatadi. Birinchi: inferensning o'zi butun kechikishning kichik qismi — Jetson'da 2,6 ms inferens, 19 ms to'liq so'rov; K8s'da 14 ms inferens, yuklama ostida 150–280 ms p95.</a:t>
            </a:r>
          </a:p>
        </p:txBody>
      </p:sp>
      <p:sp>
        <p:nvSpPr>
          <p:cNvPr id="13" name="Rounded Rectangle 12"/>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Cheklovlar. Minikube — bitta tugunli o'quv klasteri; real klasterda tugunlar orasidagi tarmoq, Pod'larni joylashtirish (scheduling), tugun nosozligi, saqlash tizimlari qo'shiladi. hostPath hajmi faqat o'quv maqsadida; ishlab chiqarishda model ombori (MLflow,…</a:t>
            </a:r>
          </a:p>
        </p:txBody>
      </p:sp>
      <p:sp>
        <p:nvSpPr>
          <p:cNvPr id="17" name="Rounded Rectangle 16"/>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Muqobil yondashuvlar. Xizmat qatlami uchun FastAPI o'rniga ixtisoslashgan inferens serverlar: NVIDIA Triton Inference Server (dinamik paketlash, ko'p model, TensorRT/ONNX/PyTorch backendlar, Prometheus metrikalari tayyor), TorchServe, KServe (K8s'da…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06</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Keng tarqalgan xatolar va amaliy tavsiyalar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41</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PyTorch to'liq o'rnatilgan 5 GB tasvir. Inferens uchun ONNX Runtime yoki TensorRT runtime yetarli; devel asos tasvir, pip keshi va o'qitish kutubxonalari olib tashlansa, tasvir 5–10 baravar…</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Readiness probe'siz Deployment. Yangi Pod model yuklab bo'lmasdan trafik oladi — 503 xatolar; yoki aksincha, liveness probe muddati qisqa bo'lib, sekin yuklanayotgan GPU Pod'ni K8s cheksiz…</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Resurs so'rovlarini ko'rsatmaslik. requests siz HPA ishlamaydi, scheduler Pod'larni noto'g'ri taqsimlaydi; limits siz bitta xotira sizib chiquvchi Pod tugunni o'ldiradi. GPU Pod'da…</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TensorRT dvigatelini tasvirga joylash. Dvigatel GPU modeli va TensorRT versiyasiga bog'liq; tasvirni boshqa tugunga ko'chirganda ishlamaydi. ONNX'ni joylang, dvigatelni ishga tushishda…</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Konteynerni root sifatida ishga tushirish va --network host ni har joyda ishlatish. Xavfsizlik auditi birinchi bo'lib shuni topadi. USER, runAsNonRoot, kerak bo'lgan portlarni oching.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Keng tarqalgan xatolar va amaliy tavsiyalar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42</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Jetson'da quvvat rejimini tekshirmaslik. Standart rejim 15 Vt bo'lishi mumkin — natijalar 25 Vt rejimidan 1,5–2 baravar yomon chiqadi va «Jetson sekin» degan noto'g'ri xulosa paydo bo'ladi.…</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Chekka qurilmada oldindan ishlovni CPU'da qoldirish. ARM CPU'da JPEG dekodlash va resize inferensdan 5–7 baravar uzoq. NVDEC, VPI, DALI yoki hech bo'lmaganda pillow-simd/turbojpeg ishlating.</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Edge TPU'ga kompilyatsiya qilinmagan yoki qisman kompilyatsiya qilingan model. Kompilyator hisobotida CPU'ga tushgan operatorlar bo'lsa, tezlik 10 baravar yomonlashadi. Model…</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Cloud narxini faqat GPU soatidan hisoblash. Tarmoq chiqish trafigi (egress), yuk balanslagich, saqlash, loglar va monitoring xizmatlari jami narxning 20–40 foizini tashkil etishi mumkin.…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07</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Nazorat savollari</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Nazorat savollari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Readiness va liveness probe'larning farqi AI xizmatida nima uchun oddiy veb-ilovadagidan muhimroq? Ikkalasini bitta /healthz ga birlashtirsak qanday nosozlik ssenariysi yuzaga keladi?</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HPA CPU foizi bo'yicha GPU xizmatini masshtablay olmaydi. Qaysi metrikani tanlagan bo'lardingiz va uni qanday yig'ib HPA'ga yetkazasiz? Metrika tanlovi navbat kechikishiga qanday ta'sir…</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Jetson'da inferens 2,6 ms, HTTP so'rov 19 ms. Qolgan 16 ms ni tarkibiy qismlarga ajrating va har biri uchun optimallashtirish usulini taklif qiling. Qaysi biri eng katta samara beradi?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3 yillik TCO jadvalida Edge 20 baravar arzon chiqdi. Qaysi yashirin xarajatlar (texnik xizmat, yangilash, zaxira qurilma, muhandis vaqti) bu farqni kamaytiradi va qachon Cloud arzonroq…</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Rolling update maxUnavailable: 0, maxSurge: 1 bilan xatosiz o'tdi. GPU'lar soni cheklangan klasterda (har Pod'ga 1 GPU, jami 2 GPU) bu strategiya ishlaydimi? Qanday muqobil bor?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Nazorat savollari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45</a:t>
            </a:r>
          </a:p>
        </p:txBody>
      </p:sp>
      <p:sp>
        <p:nvSpPr>
          <p:cNvPr id="9" name="Rounded Rectangle 8"/>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11475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64375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Gibrid arxitekturada «shubhali kadr» mezoni qanday belgilanadi (ishonch chegarasi, sinflar, vaqt)? Mezon noto'g'ri bo'lsa, tarmoq trafigi va bulut xarajati qanday o'zgaradi?</a:t>
            </a:r>
          </a:p>
        </p:txBody>
      </p:sp>
      <p:sp>
        <p:nvSpPr>
          <p:cNvPr id="13" name="Rounded Rectangle 12"/>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5675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9112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Minglab Jetson qurilmasini boshqarish uchun k3s + Fleet, Balena yoki o'z OTA mexanizmi — qaysi birini tanlaysiz va nima uchun? Qurilma internetga haftada bir marta ulansa, qanday muammolar…</a:t>
            </a:r>
          </a:p>
        </p:txBody>
      </p:sp>
      <p:sp>
        <p:nvSpPr>
          <p:cNvPr id="17" name="Rounded Rectangle 16"/>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8350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41787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Edge TPU faqat INT8 ni qo'llab-quvvatlaydi va 8 MB SRAM'ga ega. Bu cheklovlar model arxitekturasini tanlashga qanday ta'sir qiladi? ResNet-50 o'rniga qaysi arxitekturalar mos va nima uchun?</a:t>
            </a:r>
          </a:p>
        </p:txBody>
      </p:sp>
      <p:sp>
        <p:nvSpPr>
          <p:cNvPr id="21" name="Rounded Rectangle 20"/>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51025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54462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Bo'sh holat quvvati (Jetson 5,5 Vt, T4 25 Vt) energiya samaradorligini baholashda qachon hal qiluvchi bo'ladi? Yuklama 10 % vaqt mavjud bo'lsa, inferens boshiga energiyani qayta hisoblang.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08</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Mustaqil ish uchun topshiriq</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Mustaqil ish uchun topshiriq</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47</a:t>
            </a:r>
          </a:p>
        </p:txBody>
      </p:sp>
      <p:sp>
        <p:nvSpPr>
          <p:cNvPr id="9" name="Rounded Rectangle 8"/>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1-topshiriq (sillabusdagi 4-mustaqil ta'lim topshirig'i). O'zingiz tanlagan modelni (A3 dagi optimallashtirilgan versiyasi) to'liq xizmat sifatida loyihalang va joylashtiring: FastAPI yoki Triton xizmati, ko'p bosqichli Dockerfile, K8s manifestlari…</a:t>
            </a:r>
          </a:p>
        </p:txBody>
      </p:sp>
      <p:sp>
        <p:nvSpPr>
          <p:cNvPr id="13" name="Rounded Rectangle 12"/>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2-topshiriq. A1 da loyihalagan tizimingiz uchun Cloud, Edge va Gibrid arxitekturalarining batafsil texnik-iqtisodiy taqqoslashini tayyorlang: kechikish byudjeti (A1), o'lchangan inferens ko'rsatkichlari (A3, A4), ochiq bulut narxlari (sana va manba bilan),…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09</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Qo'shimcha topshiriqlar (10 ta)</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Qo'shimcha topshiriqlar (10 ta)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49</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400" b="0">
                <a:solidFill>
                  <a:srgbClr val="1B2430"/>
                </a:solidFill>
                <a:latin typeface="Calibri"/>
              </a:rPr>
              <a:t>Quyidagi topshiriqlar virtual laboratoriyada bajariladi (sayt ichidagi CPU sandbox: 2 yadro, 1,5 GB, tarmoq yo'q, 90 s) — laboratoriya bosqichlari kodini o'zgartirib bajariladi, har…</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400" b="0">
                <a:solidFill>
                  <a:srgbClr val="1B2430"/>
                </a:solidFill>
                <a:latin typeface="Calibri"/>
              </a:rPr>
              <a:t>Probe'lar ssenariysi — oson, 5 ball.</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400" b="0">
                <a:solidFill>
                  <a:srgbClr val="1B2430"/>
                </a:solidFill>
                <a:latin typeface="Calibri"/>
              </a:rPr>
              <a:t>Dockerfile qoidalarini kengaytirish — oson, 5 ball.</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400" b="0">
                <a:solidFill>
                  <a:srgbClr val="1B2430"/>
                </a:solidFill>
                <a:latin typeface="Calibri"/>
              </a:rPr>
              <a:t>TCO parametrlarini yangilash — oson, 5 ball.</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400" b="0">
                <a:solidFill>
                  <a:srgbClr val="1B2430"/>
                </a:solidFill>
                <a:latin typeface="Calibri"/>
              </a:rPr>
              <a:t>Kechikish byudjeti dekompozitsiyasi — o'rta, 10 ball.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Qo'shimcha topshiriqlar (10 ta)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50</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900" b="0">
                <a:solidFill>
                  <a:srgbClr val="1B2430"/>
                </a:solidFill>
                <a:latin typeface="Calibri"/>
              </a:rPr>
              <a:t>Manifest validatori kengaytmasi — o'rta, 10 ball.</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900" b="0">
                <a:solidFill>
                  <a:srgbClr val="1B2430"/>
                </a:solidFill>
                <a:latin typeface="Calibri"/>
              </a:rPr>
              <a:t>KEDA uslubida so'rov/s bo'yicha masshtablash — o'rta, 10 ball.</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900" b="0">
                <a:solidFill>
                  <a:srgbClr val="1B2430"/>
                </a:solidFill>
                <a:latin typeface="Calibri"/>
              </a:rPr>
              <a:t>Rolling update simulyatsiyasi — o'rta, 10 ball.</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900" b="0">
                <a:solidFill>
                  <a:srgbClr val="1B2430"/>
                </a:solidFill>
                <a:latin typeface="Calibri"/>
              </a:rPr>
              <a:t>Chekka qurilma simulyatori va gibrid mezon — qiyin, 15 ball.</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900" b="0">
                <a:solidFill>
                  <a:srgbClr val="1B2430"/>
                </a:solidFill>
                <a:latin typeface="Calibri"/>
              </a:rPr>
              <a:t>Xizmatga nosozlik kiritish (chaos) sinovi — qiyin, 15 ball.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Qo'shimcha topshiriqlar (10 ta) (3)</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51</a:t>
            </a:r>
          </a:p>
        </p:txBody>
      </p:sp>
      <p:sp>
        <p:nvSpPr>
          <p:cNvPr id="9" name="Rounded Rectangle 8"/>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533333"/>
            <a:ext cx="70000" cy="1250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928333"/>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11</a:t>
            </a:r>
          </a:p>
        </p:txBody>
      </p:sp>
      <p:sp>
        <p:nvSpPr>
          <p:cNvPr id="12" name="TextBox 11"/>
          <p:cNvSpPr txBox="1"/>
          <p:nvPr/>
        </p:nvSpPr>
        <p:spPr>
          <a:xfrm>
            <a:off x="1450000" y="2533333"/>
            <a:ext cx="10050000" cy="1250000"/>
          </a:xfrm>
          <a:prstGeom prst="rect">
            <a:avLst/>
          </a:prstGeom>
          <a:noFill/>
        </p:spPr>
        <p:txBody>
          <a:bodyPr wrap="square" anchor="ctr" lIns="50800" rIns="50800">
            <a:spAutoFit/>
          </a:bodyPr>
          <a:lstStyle/>
          <a:p>
            <a:pPr algn="l"/>
            <a:r>
              <a:rPr sz="2000" b="0">
                <a:solidFill>
                  <a:srgbClr val="1B2430"/>
                </a:solidFill>
                <a:latin typeface="Calibri"/>
              </a:rPr>
              <a:t>To'liq joylashtirish hisoboti o'z ssenariyingiz uchun — qiyin, 15 ball.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1700000"/>
            <a:ext cx="3000000" cy="30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0000" y="2350000"/>
            <a:ext cx="3000000" cy="1700000"/>
          </a:xfrm>
          <a:prstGeom prst="rect">
            <a:avLst/>
          </a:prstGeom>
          <a:noFill/>
        </p:spPr>
        <p:txBody>
          <a:bodyPr wrap="square" anchor="ctr" lIns="50800" rIns="50800">
            <a:spAutoFit/>
          </a:bodyPr>
          <a:lstStyle/>
          <a:p>
            <a:pPr algn="ctr"/>
            <a:r>
              <a:rPr sz="7200" b="1">
                <a:solidFill>
                  <a:srgbClr val="FFFFFF"/>
                </a:solidFill>
                <a:latin typeface="Calibri"/>
              </a:rPr>
              <a:t>10</a:t>
            </a:r>
          </a:p>
        </p:txBody>
      </p:sp>
      <p:sp>
        <p:nvSpPr>
          <p:cNvPr id="5" name="TextBox 4"/>
          <p:cNvSpPr txBox="1"/>
          <p:nvPr/>
        </p:nvSpPr>
        <p:spPr>
          <a:xfrm>
            <a:off x="4500000" y="2400000"/>
            <a:ext cx="7000000" cy="1600000"/>
          </a:xfrm>
          <a:prstGeom prst="rect">
            <a:avLst/>
          </a:prstGeom>
          <a:noFill/>
        </p:spPr>
        <p:txBody>
          <a:bodyPr wrap="square" anchor="ctr" lIns="50800" rIns="50800">
            <a:spAutoFit/>
          </a:bodyPr>
          <a:lstStyle/>
          <a:p>
            <a:pPr algn="l"/>
            <a:r>
              <a:rPr sz="3600" b="1">
                <a:solidFill>
                  <a:srgbClr val="FFFFFF"/>
                </a:solidFill>
                <a:latin typeface="Calibri"/>
              </a:rPr>
              <a:t>Foydalanilgan manbalar</a:t>
            </a:r>
          </a:p>
        </p:txBody>
      </p:sp>
      <p:sp>
        <p:nvSpPr>
          <p:cNvPr id="6" name="Rectangle 5"/>
          <p:cNvSpPr/>
          <p:nvPr/>
        </p:nvSpPr>
        <p:spPr>
          <a:xfrm>
            <a:off x="4550000" y="41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0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250"/>
                            </p:stCondLst>
                            <p:childTnLst>
                              <p:par>
                                <p:cTn id="16" presetID="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9" dur="550" fill="hold"/>
                                        <p:tgtEl>
                                          <p:spTgt spid="5"/>
                                        </p:tgtEl>
                                        <p:attrNameLst>
                                          <p:attrName>ppt_x</p:attrName>
                                        </p:attrNameLst>
                                      </p:cBhvr>
                                      <p:tavLst>
                                        <p:tav tm="0">
                                          <p:val>
                                            <p:strVal val="0-#ppt_w/2"/>
                                          </p:val>
                                        </p:tav>
                                        <p:tav tm="100000">
                                          <p:val>
                                            <p:strVal val="#ppt_x"/>
                                          </p:val>
                                        </p:tav>
                                      </p:tavLst>
                                    </p:anim>
                                    <p:anim calcmode="lin" valueType="num">
                                      <p:cBhvr additive="base">
                                        <p:cTn id="20" dur="5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35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5"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(1)</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53</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[2] Kneusel, R. T. Artificial Intelligence Engineering: A Practical Guide for AI Applications. No Starch Press, 2023. — AI ilovalarini joylashtirish va ekspluatatsiya.</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[3] Amershi, S. va boshq. Machine Learning Engineering. MIT Press, 2025. — ML tizimlarini ishlab chiqarishga chiqarish, monitoring, jamoa jarayonlari.</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[4] Sze, V., Chen, Y.-H., Yang, T.-J., &amp; Emer, J. S. Efficient Processing of Deep Neural Networks. Morgan &amp; Claypool, 2020. — chekka qurilmalarda energiya samaradorligi.</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[6] NVIDIA Developer Portal — Jetson hujjatlari (JetPack, nvpmodel, tegrastats), NVIDIA Container Toolkit, TensorRT, Triton Inference Server (https://developer.nvidia.com).</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[8] TensorFlow rasmiy hujjatlari — TensorFlow Lite va to'liq butun sonli kvantlash (https://www.tensorflow.org).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(2)</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54</a:t>
            </a:r>
          </a:p>
        </p:txBody>
      </p:sp>
      <p:sp>
        <p:nvSpPr>
          <p:cNvPr id="9" name="Rounded Rectangle 8"/>
          <p:cNvSpPr/>
          <p:nvPr/>
        </p:nvSpPr>
        <p:spPr>
          <a:xfrm>
            <a:off x="550000" y="1300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1300000"/>
            <a:ext cx="70000" cy="894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15170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12" name="TextBox 11"/>
          <p:cNvSpPr txBox="1"/>
          <p:nvPr/>
        </p:nvSpPr>
        <p:spPr>
          <a:xfrm>
            <a:off x="1450000" y="1300000"/>
            <a:ext cx="10050000" cy="894000"/>
          </a:xfrm>
          <a:prstGeom prst="rect">
            <a:avLst/>
          </a:prstGeom>
          <a:noFill/>
        </p:spPr>
        <p:txBody>
          <a:bodyPr wrap="square" anchor="ctr" lIns="50800" rIns="50800">
            <a:spAutoFit/>
          </a:bodyPr>
          <a:lstStyle/>
          <a:p>
            <a:pPr algn="l"/>
            <a:r>
              <a:rPr sz="1600" b="0">
                <a:solidFill>
                  <a:srgbClr val="1B2430"/>
                </a:solidFill>
                <a:latin typeface="Calibri"/>
              </a:rPr>
              <a:t>[9] Kubernetes rasmiy hujjatlari — Deployment, Service, HorizontalPodAutoscaler, probe'lar, resurslarni boshqarish, GPU'larni rejalashtirish (https://kubernetes.io/docs).</a:t>
            </a:r>
          </a:p>
        </p:txBody>
      </p:sp>
      <p:sp>
        <p:nvSpPr>
          <p:cNvPr id="13" name="Rounded Rectangle 12"/>
          <p:cNvSpPr/>
          <p:nvPr/>
        </p:nvSpPr>
        <p:spPr>
          <a:xfrm>
            <a:off x="550000" y="2314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0000" y="2314000"/>
            <a:ext cx="70000" cy="894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000" y="2531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16" name="TextBox 15"/>
          <p:cNvSpPr txBox="1"/>
          <p:nvPr/>
        </p:nvSpPr>
        <p:spPr>
          <a:xfrm>
            <a:off x="1450000" y="2314000"/>
            <a:ext cx="10050000" cy="894000"/>
          </a:xfrm>
          <a:prstGeom prst="rect">
            <a:avLst/>
          </a:prstGeom>
          <a:noFill/>
        </p:spPr>
        <p:txBody>
          <a:bodyPr wrap="square" anchor="ctr" lIns="50800" rIns="50800">
            <a:spAutoFit/>
          </a:bodyPr>
          <a:lstStyle/>
          <a:p>
            <a:pPr algn="l"/>
            <a:r>
              <a:rPr sz="1600" b="0">
                <a:solidFill>
                  <a:srgbClr val="1B2430"/>
                </a:solidFill>
                <a:latin typeface="Calibri"/>
              </a:rPr>
              <a:t>[10] ONNX rasmiy sayti (https://onnx.ai) va ONNX Runtime hujjatlari (https://onnxruntime.ai/docs).</a:t>
            </a:r>
          </a:p>
        </p:txBody>
      </p:sp>
      <p:sp>
        <p:nvSpPr>
          <p:cNvPr id="17" name="Rounded Rectangle 16"/>
          <p:cNvSpPr/>
          <p:nvPr/>
        </p:nvSpPr>
        <p:spPr>
          <a:xfrm>
            <a:off x="550000" y="3328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0000" y="3328000"/>
            <a:ext cx="70000" cy="894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000" y="354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8</a:t>
            </a:r>
          </a:p>
        </p:txBody>
      </p:sp>
      <p:sp>
        <p:nvSpPr>
          <p:cNvPr id="20" name="TextBox 19"/>
          <p:cNvSpPr txBox="1"/>
          <p:nvPr/>
        </p:nvSpPr>
        <p:spPr>
          <a:xfrm>
            <a:off x="1450000" y="3328000"/>
            <a:ext cx="10050000" cy="894000"/>
          </a:xfrm>
          <a:prstGeom prst="rect">
            <a:avLst/>
          </a:prstGeom>
          <a:noFill/>
        </p:spPr>
        <p:txBody>
          <a:bodyPr wrap="square" anchor="ctr" lIns="50800" rIns="50800">
            <a:spAutoFit/>
          </a:bodyPr>
          <a:lstStyle/>
          <a:p>
            <a:pPr algn="l"/>
            <a:r>
              <a:rPr sz="1600" b="0">
                <a:solidFill>
                  <a:srgbClr val="1B2430"/>
                </a:solidFill>
                <a:latin typeface="Calibri"/>
              </a:rPr>
              <a:t>Docker rasmiy hujjatlari — Dockerfile eng yaxshi amaliyotlari, ko'p bosqichli qurish (https://docs.docker.com).</a:t>
            </a:r>
          </a:p>
        </p:txBody>
      </p:sp>
      <p:sp>
        <p:nvSpPr>
          <p:cNvPr id="21" name="Rounded Rectangle 20"/>
          <p:cNvSpPr/>
          <p:nvPr/>
        </p:nvSpPr>
        <p:spPr>
          <a:xfrm>
            <a:off x="550000" y="4342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4342000"/>
            <a:ext cx="70000" cy="894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0000" y="4559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9</a:t>
            </a:r>
          </a:p>
        </p:txBody>
      </p:sp>
      <p:sp>
        <p:nvSpPr>
          <p:cNvPr id="24" name="TextBox 23"/>
          <p:cNvSpPr txBox="1"/>
          <p:nvPr/>
        </p:nvSpPr>
        <p:spPr>
          <a:xfrm>
            <a:off x="1450000" y="4342000"/>
            <a:ext cx="10050000" cy="894000"/>
          </a:xfrm>
          <a:prstGeom prst="rect">
            <a:avLst/>
          </a:prstGeom>
          <a:noFill/>
        </p:spPr>
        <p:txBody>
          <a:bodyPr wrap="square" anchor="ctr" lIns="50800" rIns="50800">
            <a:spAutoFit/>
          </a:bodyPr>
          <a:lstStyle/>
          <a:p>
            <a:pPr algn="l"/>
            <a:r>
              <a:rPr sz="1600" b="0">
                <a:solidFill>
                  <a:srgbClr val="1B2430"/>
                </a:solidFill>
                <a:latin typeface="Calibri"/>
              </a:rPr>
              <a:t>Google Coral hujjatlari — Edge TPU kompilyatori, qo'llab-quvvatlanadigan operatorlar, PyCoral API (https://coral.ai/docs).</a:t>
            </a:r>
          </a:p>
        </p:txBody>
      </p:sp>
      <p:sp>
        <p:nvSpPr>
          <p:cNvPr id="25" name="Rounded Rectangle 24"/>
          <p:cNvSpPr/>
          <p:nvPr/>
        </p:nvSpPr>
        <p:spPr>
          <a:xfrm>
            <a:off x="550000" y="5356000"/>
            <a:ext cx="11100000" cy="894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5356000"/>
            <a:ext cx="70000" cy="894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0000" y="55730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10</a:t>
            </a:r>
          </a:p>
        </p:txBody>
      </p:sp>
      <p:sp>
        <p:nvSpPr>
          <p:cNvPr id="28" name="TextBox 27"/>
          <p:cNvSpPr txBox="1"/>
          <p:nvPr/>
        </p:nvSpPr>
        <p:spPr>
          <a:xfrm>
            <a:off x="1450000" y="5356000"/>
            <a:ext cx="10050000" cy="894000"/>
          </a:xfrm>
          <a:prstGeom prst="rect">
            <a:avLst/>
          </a:prstGeom>
          <a:noFill/>
        </p:spPr>
        <p:txBody>
          <a:bodyPr wrap="square" anchor="ctr" lIns="50800" rIns="50800">
            <a:spAutoFit/>
          </a:bodyPr>
          <a:lstStyle/>
          <a:p>
            <a:pPr algn="l"/>
            <a:r>
              <a:rPr sz="1600" b="0">
                <a:solidFill>
                  <a:srgbClr val="1B2430"/>
                </a:solidFill>
                <a:latin typeface="Calibri"/>
              </a:rPr>
              <a:t>FastAPI rasmiy hujjatlari (https://fastapi.tiangolo.com); minikube hujjatlari (https://minikube.sigs.k8s.io/docs); k3s hujjatlari (https://docs.k3s.io).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anim calcmode="lin" valueType="num">
                                      <p:cBhvr additive="base">
                                        <p:cTn id="35" dur="550" fill="hold"/>
                                        <p:tgtEl>
                                          <p:spTgt spid="13"/>
                                        </p:tgtEl>
                                        <p:attrNameLst>
                                          <p:attrName>ppt_x</p:attrName>
                                        </p:attrNameLst>
                                      </p:cBhvr>
                                      <p:tavLst>
                                        <p:tav tm="0">
                                          <p:val>
                                            <p:strVal val="#ppt_x"/>
                                          </p:val>
                                        </p:tav>
                                        <p:tav tm="100000">
                                          <p:val>
                                            <p:strVal val="#ppt_x"/>
                                          </p:val>
                                        </p:tav>
                                      </p:tavLst>
                                    </p:anim>
                                    <p:anim calcmode="lin" valueType="num">
                                      <p:cBhvr additive="base">
                                        <p:cTn id="36" dur="550" fill="hold"/>
                                        <p:tgtEl>
                                          <p:spTgt spid="13"/>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anim calcmode="lin" valueType="num">
                                      <p:cBhvr additive="base">
                                        <p:cTn id="41" dur="550" fill="hold"/>
                                        <p:tgtEl>
                                          <p:spTgt spid="14"/>
                                        </p:tgtEl>
                                        <p:attrNameLst>
                                          <p:attrName>ppt_x</p:attrName>
                                        </p:attrNameLst>
                                      </p:cBhvr>
                                      <p:tavLst>
                                        <p:tav tm="0">
                                          <p:val>
                                            <p:strVal val="#ppt_x"/>
                                          </p:val>
                                        </p:tav>
                                        <p:tav tm="100000">
                                          <p:val>
                                            <p:strVal val="#ppt_x"/>
                                          </p:val>
                                        </p:tav>
                                      </p:tavLst>
                                    </p:anim>
                                    <p:anim calcmode="lin" valueType="num">
                                      <p:cBhvr additive="base">
                                        <p:cTn id="42" dur="550" fill="hold"/>
                                        <p:tgtEl>
                                          <p:spTgt spid="14"/>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50"/>
                                        <p:tgtEl>
                                          <p:spTgt spid="15"/>
                                        </p:tgtEl>
                                      </p:cBhvr>
                                    </p:animEffect>
                                    <p:anim calcmode="lin" valueType="num">
                                      <p:cBhvr additive="base">
                                        <p:cTn id="47" dur="550" fill="hold"/>
                                        <p:tgtEl>
                                          <p:spTgt spid="15"/>
                                        </p:tgtEl>
                                        <p:attrNameLst>
                                          <p:attrName>ppt_w</p:attrName>
                                        </p:attrNameLst>
                                      </p:cBhvr>
                                      <p:tavLst>
                                        <p:tav tm="0">
                                          <p:val>
                                            <p:strVal val="0"/>
                                          </p:val>
                                        </p:tav>
                                        <p:tav tm="100000">
                                          <p:val>
                                            <p:strVal val="#ppt_w"/>
                                          </p:val>
                                        </p:tav>
                                      </p:tavLst>
                                    </p:anim>
                                    <p:anim calcmode="lin" valueType="num">
                                      <p:cBhvr additive="base">
                                        <p:cTn id="48" dur="550" fill="hold"/>
                                        <p:tgtEl>
                                          <p:spTgt spid="15"/>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50"/>
                                        <p:tgtEl>
                                          <p:spTgt spid="16"/>
                                        </p:tgtEl>
                                      </p:cBhvr>
                                    </p:animEffect>
                                    <p:anim calcmode="lin" valueType="num">
                                      <p:cBhvr additive="base">
                                        <p:cTn id="53" dur="550" fill="hold"/>
                                        <p:tgtEl>
                                          <p:spTgt spid="16"/>
                                        </p:tgtEl>
                                        <p:attrNameLst>
                                          <p:attrName>ppt_x</p:attrName>
                                        </p:attrNameLst>
                                      </p:cBhvr>
                                      <p:tavLst>
                                        <p:tav tm="0">
                                          <p:val>
                                            <p:strVal val="#ppt_x"/>
                                          </p:val>
                                        </p:tav>
                                        <p:tav tm="100000">
                                          <p:val>
                                            <p:strVal val="#ppt_x"/>
                                          </p:val>
                                        </p:tav>
                                      </p:tavLst>
                                    </p:anim>
                                    <p:anim calcmode="lin" valueType="num">
                                      <p:cBhvr additive="base">
                                        <p:cTn id="54" dur="550" fill="hold"/>
                                        <p:tgtEl>
                                          <p:spTgt spid="16"/>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550"/>
                                        <p:tgtEl>
                                          <p:spTgt spid="17"/>
                                        </p:tgtEl>
                                      </p:cBhvr>
                                    </p:animEffect>
                                    <p:anim calcmode="lin" valueType="num">
                                      <p:cBhvr additive="base">
                                        <p:cTn id="59" dur="550" fill="hold"/>
                                        <p:tgtEl>
                                          <p:spTgt spid="17"/>
                                        </p:tgtEl>
                                        <p:attrNameLst>
                                          <p:attrName>ppt_x</p:attrName>
                                        </p:attrNameLst>
                                      </p:cBhvr>
                                      <p:tavLst>
                                        <p:tav tm="0">
                                          <p:val>
                                            <p:strVal val="#ppt_x"/>
                                          </p:val>
                                        </p:tav>
                                        <p:tav tm="100000">
                                          <p:val>
                                            <p:strVal val="#ppt_x"/>
                                          </p:val>
                                        </p:tav>
                                      </p:tavLst>
                                    </p:anim>
                                    <p:anim calcmode="lin" valueType="num">
                                      <p:cBhvr additive="base">
                                        <p:cTn id="60" dur="550" fill="hold"/>
                                        <p:tgtEl>
                                          <p:spTgt spid="17"/>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50"/>
                                        <p:tgtEl>
                                          <p:spTgt spid="18"/>
                                        </p:tgtEl>
                                      </p:cBhvr>
                                    </p:animEffect>
                                    <p:anim calcmode="lin" valueType="num">
                                      <p:cBhvr additive="base">
                                        <p:cTn id="65" dur="550" fill="hold"/>
                                        <p:tgtEl>
                                          <p:spTgt spid="18"/>
                                        </p:tgtEl>
                                        <p:attrNameLst>
                                          <p:attrName>ppt_x</p:attrName>
                                        </p:attrNameLst>
                                      </p:cBhvr>
                                      <p:tavLst>
                                        <p:tav tm="0">
                                          <p:val>
                                            <p:strVal val="#ppt_x"/>
                                          </p:val>
                                        </p:tav>
                                        <p:tav tm="100000">
                                          <p:val>
                                            <p:strVal val="#ppt_x"/>
                                          </p:val>
                                        </p:tav>
                                      </p:tavLst>
                                    </p:anim>
                                    <p:anim calcmode="lin" valueType="num">
                                      <p:cBhvr additive="base">
                                        <p:cTn id="66" dur="550" fill="hold"/>
                                        <p:tgtEl>
                                          <p:spTgt spid="18"/>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anim calcmode="lin" valueType="num">
                                      <p:cBhvr additive="base">
                                        <p:cTn id="71" dur="550" fill="hold"/>
                                        <p:tgtEl>
                                          <p:spTgt spid="19"/>
                                        </p:tgtEl>
                                        <p:attrNameLst>
                                          <p:attrName>ppt_w</p:attrName>
                                        </p:attrNameLst>
                                      </p:cBhvr>
                                      <p:tavLst>
                                        <p:tav tm="0">
                                          <p:val>
                                            <p:strVal val="0"/>
                                          </p:val>
                                        </p:tav>
                                        <p:tav tm="100000">
                                          <p:val>
                                            <p:strVal val="#ppt_w"/>
                                          </p:val>
                                        </p:tav>
                                      </p:tavLst>
                                    </p:anim>
                                    <p:anim calcmode="lin" valueType="num">
                                      <p:cBhvr additive="base">
                                        <p:cTn id="72" dur="550" fill="hold"/>
                                        <p:tgtEl>
                                          <p:spTgt spid="19"/>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p:tgtEl>
                                          <p:spTgt spid="21"/>
                                        </p:tgtEl>
                                        <p:attrNameLst>
                                          <p:attrName>ppt_x</p:attrName>
                                        </p:attrNameLst>
                                      </p:cBhvr>
                                      <p:tavLst>
                                        <p:tav tm="0">
                                          <p:val>
                                            <p:strVal val="#ppt_x"/>
                                          </p:val>
                                        </p:tav>
                                        <p:tav tm="100000">
                                          <p:val>
                                            <p:strVal val="#ppt_x"/>
                                          </p:val>
                                        </p:tav>
                                      </p:tavLst>
                                    </p:anim>
                                    <p:anim calcmode="lin" valueType="num">
                                      <p:cBhvr additive="base">
                                        <p:cTn id="84" dur="550" fill="hold"/>
                                        <p:tgtEl>
                                          <p:spTgt spid="21"/>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50"/>
                                        <p:tgtEl>
                                          <p:spTgt spid="22"/>
                                        </p:tgtEl>
                                      </p:cBhvr>
                                    </p:animEffect>
                                    <p:anim calcmode="lin" valueType="num">
                                      <p:cBhvr additive="base">
                                        <p:cTn id="89" dur="550" fill="hold"/>
                                        <p:tgtEl>
                                          <p:spTgt spid="22"/>
                                        </p:tgtEl>
                                        <p:attrNameLst>
                                          <p:attrName>ppt_x</p:attrName>
                                        </p:attrNameLst>
                                      </p:cBhvr>
                                      <p:tavLst>
                                        <p:tav tm="0">
                                          <p:val>
                                            <p:strVal val="#ppt_x"/>
                                          </p:val>
                                        </p:tav>
                                        <p:tav tm="100000">
                                          <p:val>
                                            <p:strVal val="#ppt_x"/>
                                          </p:val>
                                        </p:tav>
                                      </p:tavLst>
                                    </p:anim>
                                    <p:anim calcmode="lin" valueType="num">
                                      <p:cBhvr additive="base">
                                        <p:cTn id="90" dur="550" fill="hold"/>
                                        <p:tgtEl>
                                          <p:spTgt spid="22"/>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fade">
                                      <p:cBhvr>
                                        <p:cTn id="94" dur="550"/>
                                        <p:tgtEl>
                                          <p:spTgt spid="23"/>
                                        </p:tgtEl>
                                      </p:cBhvr>
                                    </p:animEffect>
                                    <p:anim calcmode="lin" valueType="num">
                                      <p:cBhvr additive="base">
                                        <p:cTn id="95" dur="550" fill="hold"/>
                                        <p:tgtEl>
                                          <p:spTgt spid="23"/>
                                        </p:tgtEl>
                                        <p:attrNameLst>
                                          <p:attrName>ppt_w</p:attrName>
                                        </p:attrNameLst>
                                      </p:cBhvr>
                                      <p:tavLst>
                                        <p:tav tm="0">
                                          <p:val>
                                            <p:strVal val="0"/>
                                          </p:val>
                                        </p:tav>
                                        <p:tav tm="100000">
                                          <p:val>
                                            <p:strVal val="#ppt_w"/>
                                          </p:val>
                                        </p:tav>
                                      </p:tavLst>
                                    </p:anim>
                                    <p:anim calcmode="lin" valueType="num">
                                      <p:cBhvr additive="base">
                                        <p:cTn id="96" dur="550" fill="hold"/>
                                        <p:tgtEl>
                                          <p:spTgt spid="23"/>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550"/>
                                        <p:tgtEl>
                                          <p:spTgt spid="24"/>
                                        </p:tgtEl>
                                      </p:cBhvr>
                                    </p:animEffect>
                                    <p:anim calcmode="lin" valueType="num">
                                      <p:cBhvr additive="base">
                                        <p:cTn id="101" dur="550" fill="hold"/>
                                        <p:tgtEl>
                                          <p:spTgt spid="24"/>
                                        </p:tgtEl>
                                        <p:attrNameLst>
                                          <p:attrName>ppt_x</p:attrName>
                                        </p:attrNameLst>
                                      </p:cBhvr>
                                      <p:tavLst>
                                        <p:tav tm="0">
                                          <p:val>
                                            <p:strVal val="#ppt_x"/>
                                          </p:val>
                                        </p:tav>
                                        <p:tav tm="100000">
                                          <p:val>
                                            <p:strVal val="#ppt_x"/>
                                          </p:val>
                                        </p:tav>
                                      </p:tavLst>
                                    </p:anim>
                                    <p:anim calcmode="lin" valueType="num">
                                      <p:cBhvr additive="base">
                                        <p:cTn id="102" dur="550" fill="hold"/>
                                        <p:tgtEl>
                                          <p:spTgt spid="24"/>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550"/>
                                        <p:tgtEl>
                                          <p:spTgt spid="25"/>
                                        </p:tgtEl>
                                      </p:cBhvr>
                                    </p:animEffect>
                                    <p:anim calcmode="lin" valueType="num">
                                      <p:cBhvr additive="base">
                                        <p:cTn id="107" dur="550" fill="hold"/>
                                        <p:tgtEl>
                                          <p:spTgt spid="25"/>
                                        </p:tgtEl>
                                        <p:attrNameLst>
                                          <p:attrName>ppt_x</p:attrName>
                                        </p:attrNameLst>
                                      </p:cBhvr>
                                      <p:tavLst>
                                        <p:tav tm="0">
                                          <p:val>
                                            <p:strVal val="#ppt_x"/>
                                          </p:val>
                                        </p:tav>
                                        <p:tav tm="100000">
                                          <p:val>
                                            <p:strVal val="#ppt_x"/>
                                          </p:val>
                                        </p:tav>
                                      </p:tavLst>
                                    </p:anim>
                                    <p:anim calcmode="lin" valueType="num">
                                      <p:cBhvr additive="base">
                                        <p:cTn id="108" dur="550" fill="hold"/>
                                        <p:tgtEl>
                                          <p:spTgt spid="25"/>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50"/>
                                        <p:tgtEl>
                                          <p:spTgt spid="26"/>
                                        </p:tgtEl>
                                      </p:cBhvr>
                                    </p:animEffect>
                                    <p:anim calcmode="lin" valueType="num">
                                      <p:cBhvr additive="base">
                                        <p:cTn id="113" dur="550" fill="hold"/>
                                        <p:tgtEl>
                                          <p:spTgt spid="26"/>
                                        </p:tgtEl>
                                        <p:attrNameLst>
                                          <p:attrName>ppt_x</p:attrName>
                                        </p:attrNameLst>
                                      </p:cBhvr>
                                      <p:tavLst>
                                        <p:tav tm="0">
                                          <p:val>
                                            <p:strVal val="#ppt_x"/>
                                          </p:val>
                                        </p:tav>
                                        <p:tav tm="100000">
                                          <p:val>
                                            <p:strVal val="#ppt_x"/>
                                          </p:val>
                                        </p:tav>
                                      </p:tavLst>
                                    </p:anim>
                                    <p:anim calcmode="lin" valueType="num">
                                      <p:cBhvr additive="base">
                                        <p:cTn id="114" dur="550" fill="hold"/>
                                        <p:tgtEl>
                                          <p:spTgt spid="26"/>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7"/>
                                        </p:tgtEl>
                                        <p:attrNameLst>
                                          <p:attrName>style.visibility</p:attrName>
                                        </p:attrNameLst>
                                      </p:cBhvr>
                                      <p:to>
                                        <p:strVal val="visible"/>
                                      </p:to>
                                    </p:set>
                                    <p:animEffect transition="in" filter="fade">
                                      <p:cBhvr>
                                        <p:cTn id="118" dur="550"/>
                                        <p:tgtEl>
                                          <p:spTgt spid="27"/>
                                        </p:tgtEl>
                                      </p:cBhvr>
                                    </p:animEffect>
                                    <p:anim calcmode="lin" valueType="num">
                                      <p:cBhvr additive="base">
                                        <p:cTn id="119" dur="550" fill="hold"/>
                                        <p:tgtEl>
                                          <p:spTgt spid="27"/>
                                        </p:tgtEl>
                                        <p:attrNameLst>
                                          <p:attrName>ppt_w</p:attrName>
                                        </p:attrNameLst>
                                      </p:cBhvr>
                                      <p:tavLst>
                                        <p:tav tm="0">
                                          <p:val>
                                            <p:strVal val="0"/>
                                          </p:val>
                                        </p:tav>
                                        <p:tav tm="100000">
                                          <p:val>
                                            <p:strVal val="#ppt_w"/>
                                          </p:val>
                                        </p:tav>
                                      </p:tavLst>
                                    </p:anim>
                                    <p:anim calcmode="lin" valueType="num">
                                      <p:cBhvr additive="base">
                                        <p:cTn id="120" dur="550" fill="hold"/>
                                        <p:tgtEl>
                                          <p:spTgt spid="27"/>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50"/>
                                        <p:tgtEl>
                                          <p:spTgt spid="28"/>
                                        </p:tgtEl>
                                      </p:cBhvr>
                                    </p:animEffect>
                                    <p:anim calcmode="lin" valueType="num">
                                      <p:cBhvr additive="base">
                                        <p:cTn id="125" dur="550" fill="hold"/>
                                        <p:tgtEl>
                                          <p:spTgt spid="28"/>
                                        </p:tgtEl>
                                        <p:attrNameLst>
                                          <p:attrName>ppt_x</p:attrName>
                                        </p:attrNameLst>
                                      </p:cBhvr>
                                      <p:tavLst>
                                        <p:tav tm="0">
                                          <p:val>
                                            <p:strVal val="#ppt_x"/>
                                          </p:val>
                                        </p:tav>
                                        <p:tav tm="100000">
                                          <p:val>
                                            <p:strVal val="#ppt_x"/>
                                          </p:val>
                                        </p:tav>
                                      </p:tavLst>
                                    </p:anim>
                                    <p:anim calcmode="lin" valueType="num">
                                      <p:cBhvr additive="base">
                                        <p:cTn id="126" dur="550" fill="hold"/>
                                        <p:tgtEl>
                                          <p:spTgt spid="28"/>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200000"/>
            <a:ext cx="10400000" cy="650000"/>
          </a:xfrm>
          <a:prstGeom prst="rect">
            <a:avLst/>
          </a:prstGeom>
          <a:noFill/>
        </p:spPr>
        <p:txBody>
          <a:bodyPr wrap="square" anchor="ctr" lIns="50800" rIns="50800">
            <a:spAutoFit/>
          </a:bodyPr>
          <a:lstStyle/>
          <a:p>
            <a:pPr algn="l"/>
            <a:r>
              <a:rPr sz="2600" b="1">
                <a:solidFill>
                  <a:srgbClr val="FFFFFF"/>
                </a:solidFill>
                <a:latin typeface="Calibri"/>
              </a:rPr>
              <a:t>Foydalanilgan manbalar (3)</a:t>
            </a:r>
          </a:p>
        </p:txBody>
      </p:sp>
      <p:sp>
        <p:nvSpPr>
          <p:cNvPr id="6" name="Rectangle 5"/>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8" name="TextBox 7"/>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55</a:t>
            </a:r>
          </a:p>
        </p:txBody>
      </p:sp>
      <p:sp>
        <p:nvSpPr>
          <p:cNvPr id="9" name="Rounded Rectangle 8"/>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000" y="2533333"/>
            <a:ext cx="70000" cy="1250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000" y="2928333"/>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11</a:t>
            </a:r>
          </a:p>
        </p:txBody>
      </p:sp>
      <p:sp>
        <p:nvSpPr>
          <p:cNvPr id="12" name="TextBox 11"/>
          <p:cNvSpPr txBox="1"/>
          <p:nvPr/>
        </p:nvSpPr>
        <p:spPr>
          <a:xfrm>
            <a:off x="1450000" y="2533333"/>
            <a:ext cx="10050000" cy="1250000"/>
          </a:xfrm>
          <a:prstGeom prst="rect">
            <a:avLst/>
          </a:prstGeom>
          <a:noFill/>
        </p:spPr>
        <p:txBody>
          <a:bodyPr wrap="square" anchor="ctr" lIns="50800" rIns="50800">
            <a:spAutoFit/>
          </a:bodyPr>
          <a:lstStyle/>
          <a:p>
            <a:pPr algn="l"/>
            <a:r>
              <a:rPr sz="2000" b="0">
                <a:solidFill>
                  <a:srgbClr val="1B2430"/>
                </a:solidFill>
                <a:latin typeface="Calibri"/>
              </a:rPr>
              <a:t>Satyanarayanan, M. The Emergence of Edge Computing. IEEE Computer, 50(1), 2017. — chekka hisoblash konsepsiyasining asosiy maqolasi.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50"/>
                                        <p:tgtEl>
                                          <p:spTgt spid="5"/>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50"/>
                                        <p:tgtEl>
                                          <p:spTgt spid="9"/>
                                        </p:tgtEl>
                                      </p:cBhvr>
                                    </p:animEffect>
                                    <p:anim calcmode="lin" valueType="num">
                                      <p:cBhvr additive="base">
                                        <p:cTn id="11" dur="550" fill="hold"/>
                                        <p:tgtEl>
                                          <p:spTgt spid="9"/>
                                        </p:tgtEl>
                                        <p:attrNameLst>
                                          <p:attrName>ppt_x</p:attrName>
                                        </p:attrNameLst>
                                      </p:cBhvr>
                                      <p:tavLst>
                                        <p:tav tm="0">
                                          <p:val>
                                            <p:strVal val="#ppt_x"/>
                                          </p:val>
                                        </p:tav>
                                        <p:tav tm="100000">
                                          <p:val>
                                            <p:strVal val="#ppt_x"/>
                                          </p:val>
                                        </p:tav>
                                      </p:tavLst>
                                    </p:anim>
                                    <p:anim calcmode="lin" valueType="num">
                                      <p:cBhvr additive="base">
                                        <p:cTn id="12" dur="550" fill="hold"/>
                                        <p:tgtEl>
                                          <p:spTgt spid="9"/>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additive="base">
                                        <p:cTn id="17" dur="550" fill="hold"/>
                                        <p:tgtEl>
                                          <p:spTgt spid="10"/>
                                        </p:tgtEl>
                                        <p:attrNameLst>
                                          <p:attrName>ppt_x</p:attrName>
                                        </p:attrNameLst>
                                      </p:cBhvr>
                                      <p:tavLst>
                                        <p:tav tm="0">
                                          <p:val>
                                            <p:strVal val="#ppt_x"/>
                                          </p:val>
                                        </p:tav>
                                        <p:tav tm="100000">
                                          <p:val>
                                            <p:strVal val="#ppt_x"/>
                                          </p:val>
                                        </p:tav>
                                      </p:tavLst>
                                    </p:anim>
                                    <p:anim calcmode="lin" valueType="num">
                                      <p:cBhvr additive="base">
                                        <p:cTn id="18" dur="550" fill="hold"/>
                                        <p:tgtEl>
                                          <p:spTgt spid="10"/>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50"/>
                                        <p:tgtEl>
                                          <p:spTgt spid="11"/>
                                        </p:tgtEl>
                                      </p:cBhvr>
                                    </p:animEffect>
                                    <p:anim calcmode="lin" valueType="num">
                                      <p:cBhvr additive="base">
                                        <p:cTn id="23" dur="550" fill="hold"/>
                                        <p:tgtEl>
                                          <p:spTgt spid="11"/>
                                        </p:tgtEl>
                                        <p:attrNameLst>
                                          <p:attrName>ppt_w</p:attrName>
                                        </p:attrNameLst>
                                      </p:cBhvr>
                                      <p:tavLst>
                                        <p:tav tm="0">
                                          <p:val>
                                            <p:strVal val="0"/>
                                          </p:val>
                                        </p:tav>
                                        <p:tav tm="100000">
                                          <p:val>
                                            <p:strVal val="#ppt_w"/>
                                          </p:val>
                                        </p:tav>
                                      </p:tavLst>
                                    </p:anim>
                                    <p:anim calcmode="lin" valueType="num">
                                      <p:cBhvr additive="base">
                                        <p:cTn id="24" dur="550" fill="hold"/>
                                        <p:tgtEl>
                                          <p:spTgt spid="11"/>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50"/>
                                        <p:tgtEl>
                                          <p:spTgt spid="12"/>
                                        </p:tgtEl>
                                      </p:cBhvr>
                                    </p:animEffect>
                                    <p:anim calcmode="lin" valueType="num">
                                      <p:cBhvr additive="base">
                                        <p:cTn id="29" dur="550" fill="hold"/>
                                        <p:tgtEl>
                                          <p:spTgt spid="12"/>
                                        </p:tgtEl>
                                        <p:attrNameLst>
                                          <p:attrName>ppt_x</p:attrName>
                                        </p:attrNameLst>
                                      </p:cBhvr>
                                      <p:tavLst>
                                        <p:tav tm="0">
                                          <p:val>
                                            <p:strVal val="#ppt_x"/>
                                          </p:val>
                                        </p:tav>
                                        <p:tav tm="100000">
                                          <p:val>
                                            <p:strVal val="#ppt_x"/>
                                          </p:val>
                                        </p:tav>
                                      </p:tavLst>
                                    </p:anim>
                                    <p:anim calcmode="lin" valueType="num">
                                      <p:cBhvr additive="base">
                                        <p:cTn id="30" dur="550" fill="hold"/>
                                        <p:tgtEl>
                                          <p:spTgt spid="1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LABORATORIYA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Virtual laboratoriya va kodlar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A4 · Edge AI va Cloud AI platformalarida sun'iy intellekt tizimlarini joylashtirish</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56</a:t>
            </a:r>
          </a:p>
        </p:txBody>
      </p:sp>
      <p:pic>
        <p:nvPicPr>
          <p:cNvPr id="10" name="Picture 9" descr="image.png"/>
          <p:cNvPicPr>
            <a:picLocks noChangeAspect="1"/>
          </p:cNvPicPr>
          <p:nvPr/>
        </p:nvPicPr>
        <p:blipFill>
          <a:blip r:embed="rId2"/>
          <a:stretch>
            <a:fillRect/>
          </a:stretch>
        </p:blipFill>
        <p:spPr>
          <a:xfrm>
            <a:off x="8300000" y="1600000"/>
            <a:ext cx="3200000" cy="3200000"/>
          </a:xfrm>
          <a:prstGeom prst="rect">
            <a:avLst/>
          </a:prstGeom>
        </p:spPr>
      </p:pic>
      <p:sp>
        <p:nvSpPr>
          <p:cNvPr id="11" name="TextBox 10"/>
          <p:cNvSpPr txBox="1"/>
          <p:nvPr/>
        </p:nvSpPr>
        <p:spPr>
          <a:xfrm>
            <a:off x="600000" y="1500000"/>
            <a:ext cx="7400000" cy="4600000"/>
          </a:xfrm>
          <a:prstGeom prst="rect">
            <a:avLst/>
          </a:prstGeom>
          <a:noFill/>
        </p:spPr>
        <p:txBody>
          <a:bodyPr wrap="square" anchor="t" lIns="50800" rIns="50800">
            <a:spAutoFit/>
          </a:bodyPr>
          <a:lstStyle/>
          <a:p>
            <a:pPr algn="l"/>
            <a:r>
              <a:rPr sz="1900" b="0">
                <a:solidFill>
                  <a:srgbClr val="1B2430"/>
                </a:solidFill>
                <a:latin typeface="Calibri"/>
              </a:rPr>
              <a:t>Saytda bajarish: https://aiscan.airi.uz/ktm/ → Mavzular → A4 → 🧪 Virtual bajarish (6 bosqich)</a:t>
            </a:r>
          </a:p>
          <a:p>
            <a:pPr algn="l"/>
            <a:r>
              <a:rPr sz="1900" b="0">
                <a:solidFill>
                  <a:srgbClr val="1B2430"/>
                </a:solidFill>
                <a:latin typeface="Calibri"/>
              </a:rPr>
              <a:t>Kodlarni ko‘chirib olish — QR kod yoki:</a:t>
            </a:r>
          </a:p>
          <a:p>
            <a:pPr algn="l"/>
            <a:r>
              <a:rPr sz="1900" b="0">
                <a:solidFill>
                  <a:srgbClr val="1B2430"/>
                </a:solidFill>
                <a:latin typeface="Calibri"/>
              </a:rPr>
              <a:t>git clone https://github.com/sayka7/ktm_labs.git</a:t>
            </a:r>
          </a:p>
          <a:p>
            <a:pPr algn="l"/>
            <a:r>
              <a:rPr sz="1900" b="0">
                <a:solidFill>
                  <a:srgbClr val="1B2430"/>
                </a:solidFill>
                <a:latin typeface="Calibri"/>
              </a:rPr>
              <a:t>Mustaqil topshiriq: 20 variantdan o‘zingizniki (jurnal raqami bo‘yicha)</a:t>
            </a:r>
          </a:p>
          <a:p>
            <a:pPr algn="l"/>
            <a:r>
              <a:rPr sz="1900" b="0">
                <a:solidFill>
                  <a:srgbClr val="1B2430"/>
                </a:solidFill>
                <a:latin typeface="Calibri"/>
              </a:rPr>
              <a:t>Topshirish: saytdagi «📤 Topshirish va baho» — avtomatik tekshiruv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35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https://aiscan.airi.uz/ktm/#/c/mis2104/mavzu/A4</a:t>
            </a:r>
          </a:p>
          <a:p>
            <a:pPr algn="ctr"/>
            <a:r>
              <a:rPr sz="1600" b="0">
                <a:solidFill>
                  <a:srgbClr val="D7E3F4"/>
                </a:solidFill>
                <a:latin typeface="Calibri"/>
              </a:rPr>
              <a:t>Nazorat savollari va mustaqil ish — mavzu matnining oxirida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
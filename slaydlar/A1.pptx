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Ushbu amaliy mashg'ulotning maqsadi — magistrantlarda sun'iy intellektga asoslangan hisoblash tizimining arxitekturasini muhandislik nuqtai nazaridan tahlil qilish, apparat va dasturiy ta'minotni birgalikda loyihalash (Hardware–Software Co-design) tamoyillari asosida strukturaviy sxema ishlab chiqish hamda bozordagi hisoblash platformalarini texnik tavsiflar bo'yicha asosli taqqoslash ko'nikmasini shakllantirishdir.</a:t>
            </a:r>
          </a:p>
          <a:p/>
          <a:p>
            <a:r>
              <a:t>Mashg'ulot yakunida talaba:</a:t>
            </a:r>
          </a:p>
          <a:p/>
          <a:p>
            <a:r>
              <a:t>AI tizimining to'rt qatlamli arxitekturasini (ma'lumot → model → hisoblash platformasi → xizmat) ajratib, har bir qatlamning resurs talabini aniq ko'rsatkichlar (FLOP, bayt, millisekund, vatt) orqali ifodalay oladi;</a:t>
            </a:r>
          </a:p>
          <a:p/>
          <a:p>
            <a:r>
              <a:t>Berilgan ish yuklamasi (workload) uchun arifmetik intensivlik (arithmetic intensity) va Roofline chegarasini hisoblab, tizim «hisoblash bilan cheklangan» yoki «xotira bilan cheklangan» ekanini asoslaydi;</a:t>
            </a:r>
          </a:p>
          <a:p/>
          <a:p>
            <a:r>
              <a:t>Kamida uchta hisoblash platformasining (ma'lumotlar markazi GPU, chekka (edge) moduli, ixtisoslashgan tezlatkich) texnik pasportini bir jadvalda solishtirib, talablar matritsasi asosida tanlov qiladi;</a:t>
            </a:r>
          </a:p>
          <a:p/>
          <a:p>
            <a:r>
              <a:t>Hardware–Software Co-design tamoyillarini qo'llab, AI tizimining strukturaviy sxemasini matnli tavsif va interfeyslar ro'yxati ko'rinishida hujjatlashtiradi;</a:t>
            </a:r>
          </a:p>
          <a:p/>
          <a:p>
            <a:r>
              <a:t>Python'da yuklama hisobi skriptini yozib, nazariy baholarni real o'lchovlar bilan solishtirish metodikasini qo'llaydi.</a:t>
            </a:r>
          </a:p>
          <a:p/>
          <a:p>
            <a:r>
              <a:t>Mavzu fanning TN1 (AI tizimlari arxitekturasini tahlil qilish va loyihalash), TN2 (hisoblash platformalarini tanlash va baholash) hamda TN7 (muhandislik hujjatlarini tayyorlash va natijalarni himoya qilish) ta'lim natijalariga bevosita xizmat qiladi; shuningdek, M1, M2 va M10 ma'ruzalaridagi nazariy materialni amaliy mustahkamlaydi.</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Ushbu amaliy mashg'ulotning maqsadi — magistrantlarda sun'iy intellektga asoslangan hisoblash tizimining arxitekturasini muhandislik nuqtai nazaridan tahlil qilish, apparat va dasturiy ta'minotni birgalikda loyihalash (Hardware–Software Co-design) tamoyillari asosida strukturaviy sxema ishlab chiqish hamda bozordagi hisoblash platformalarini texnik tavsiflar bo'yicha asosli taqqoslash ko'nikmasini shakllantirishdir.</a:t>
            </a:r>
          </a:p>
          <a:p/>
          <a:p>
            <a:r>
              <a:t>Mashg'ulot yakunida talaba:</a:t>
            </a:r>
          </a:p>
          <a:p/>
          <a:p>
            <a:r>
              <a:t>AI tizimining to'rt qatlamli arxitekturasini (ma'lumot → model → hisoblash platformasi → xizmat) ajratib, har bir qatlamning resurs talabini aniq ko'rsatkichlar (FLOP, bayt, millisekund, vatt) orqali ifodalay oladi;</a:t>
            </a:r>
          </a:p>
          <a:p/>
          <a:p>
            <a:r>
              <a:t>Berilgan ish yuklamasi (workload) uchun arifmetik intensivlik (arithmetic intensity) va Roofline chegarasini hisoblab, tizim «hisoblash bilan cheklangan» yoki «xotira bilan cheklangan» ekanini asoslaydi;</a:t>
            </a:r>
          </a:p>
          <a:p/>
          <a:p>
            <a:r>
              <a:t>Kamida uchta hisoblash platformasining (ma'lumotlar markazi GPU, chekka (edge) moduli, ixtisoslashgan tezlatkich) texnik pasportini bir jadvalda solishtirib, talablar matritsasi asosida tanlov qiladi;</a:t>
            </a:r>
          </a:p>
          <a:p/>
          <a:p>
            <a:r>
              <a:t>Hardware–Software Co-design tamoyillarini qo'llab, AI tizimining strukturaviy sxemasini matnli tavsif va interfeyslar ro'yxati ko'rinishida hujjatlashtiradi;</a:t>
            </a:r>
          </a:p>
          <a:p/>
          <a:p>
            <a:r>
              <a:t>Python'da yuklama hisobi skriptini yozib, nazariy baholarni real o'lchovlar bilan solishtirish metodikasini qo'llaydi.</a:t>
            </a:r>
          </a:p>
          <a:p/>
          <a:p>
            <a:r>
              <a:t>Mavzu fanning TN1 (AI tizimlari arxitekturasini tahlil qilish va loyihalash), TN2 (hisoblash platformalarini tanlash va baholash) hamda TN7 (muhandislik hujjatlarini tayyorlash va natijalarni himoya qilish) ta'lim natijalariga bevosita xizmat qiladi; shuningdek, M1, M2 va M10 ma'ruzalaridagi nazariy materialni amaliy mustahkamlaydi.</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Ushbu amaliy mashg'ulotning maqsadi — magistrantlarda sun'iy intellektga asoslangan hisoblash tizimining arxitekturasini muhandislik nuqtai nazaridan tahlil qilish, apparat va dasturiy ta'minotni birgalikda loyihalash (Hardware–Software Co-design) tamoyillari asosida strukturaviy sxema ishlab chiqish hamda bozordagi hisoblash platformalarini texnik tavsiflar bo'yicha asosli taqqoslash ko'nikmasini shakllantirishdir.</a:t>
            </a:r>
          </a:p>
          <a:p/>
          <a:p>
            <a:r>
              <a:t>Mashg'ulot yakunida talaba:</a:t>
            </a:r>
          </a:p>
          <a:p/>
          <a:p>
            <a:r>
              <a:t>AI tizimining to'rt qatlamli arxitekturasini (ma'lumot → model → hisoblash platformasi → xizmat) ajratib, har bir qatlamning resurs talabini aniq ko'rsatkichlar (FLOP, bayt, millisekund, vatt) orqali ifodalay oladi;</a:t>
            </a:r>
          </a:p>
          <a:p/>
          <a:p>
            <a:r>
              <a:t>Berilgan ish yuklamasi (workload) uchun arifmetik intensivlik (arithmetic intensity) va Roofline chegarasini hisoblab, tizim «hisoblash bilan cheklangan» yoki «xotira bilan cheklangan» ekanini asoslaydi;</a:t>
            </a:r>
          </a:p>
          <a:p/>
          <a:p>
            <a:r>
              <a:t>Kamida uchta hisoblash platformasining (ma'lumotlar markazi GPU, chekka (edge) moduli, ixtisoslashgan tezlatkich) texnik pasportini bir jadvalda solishtirib, talablar matritsasi asosida tanlov qiladi;</a:t>
            </a:r>
          </a:p>
          <a:p/>
          <a:p>
            <a:r>
              <a:t>Hardware–Software Co-design tamoyillarini qo'llab, AI tizimining strukturaviy sxemasini matnli tavsif va interfeyslar ro'yxati ko'rinishida hujjatlashtiradi;</a:t>
            </a:r>
          </a:p>
          <a:p/>
          <a:p>
            <a:r>
              <a:t>Python'da yuklama hisobi skriptini yozib, nazariy baholarni real o'lchovlar bilan solishtirish metodikasini qo'llaydi.</a:t>
            </a:r>
          </a:p>
          <a:p/>
          <a:p>
            <a:r>
              <a:t>Mavzu fanning TN1 (AI tizimlari arxitekturasini tahlil qilish va loyihalash), TN2 (hisoblash platformalarini tanlash va baholash) hamda TN7 (muhandislik hujjatlarini tayyorlash va natijalarni himoya qilish) ta'lim natijalariga bevosita xizmat qiladi; shuningdek, M1, M2 va M10 ma'ruzalaridagi nazariy materialni amaliy mustahkamlaydi.</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Zamonaviy sun'iy intellekt tizimi — bu shunchaki o'qitilgan neyron tarmoq emas, balki ma'lumotlar oqimi, model, hisoblash platformasi, tarmoq, saqlash tizimi va ekspluatatsiya jarayonlarini o'z ichiga olgan murakkab muhandislik majmuasidir. Sanoat tajribasi shuni ko'rsatadiki, AI loyihalarining katta qismi model sifati tufayli emas, balki arxitektura noto'g'ri tanlangani — hisoblash resursi yetmagani, xotira o'tkazuvchanligi tiqilib qolgani, kechikish (latency) talabi bajarilmagani yoki ekspluatatsiya narxi byudjetdan oshib ketgani sababli muvaffaqiyatsizlikka uchraydi. Shuning uchun AI muhandisi uchun arxitekturani tahlil qilish va loyihalash ko'nikmasi model o'qitish ko'nikmasi bilan teng darajada muhimdir.</a:t>
            </a:r>
          </a:p>
          <a:p/>
          <a:p>
            <a:r>
              <a:t>Hardware–Software Co-design tushunchasi dastlab o'rnatilgan tizimlar (embedded systems) sohasida paydo bo'lgan: qaysi funksiyalarni apparatda (ASIC, FPGA), qaysilarini dasturda bajarish kerakligini loyihalashning dastlabki bosqichida birgalikda hal qilish. Sun'iy intellekt davrida bu g'oya yangi mazmun kasb etdi. Google'ning TPU loyihasi — modelning matritsa ko'paytirish (matrix multiply) amallariga bo'lgan talabini chuqur tahlil qilib, ayni shu amal uchun sistolik massiv (systolic array) arxitekturasini yaratishning klassik misolidir. NVIDIA Tensor Core'larining paydo bo'lishi, FP8 va FP4 formatlarining Hopper va Blackwell avlodlarida qo'llab-quvvatlanishi, Apple Neural Engine va Qualcomm Hexagon NPU'larining smartfonlarga kirib kelishi — bularning barchasi dasturiy ta'minot (model arxitekturasi, aniqlik formati, operatorlar to'plami) va apparat (hisoblash bloklari, xotira iyerarxiyasi, o'zaro bog'lanish) birgalikda rivojlanayotganining dalilidir.</a:t>
            </a:r>
          </a:p>
          <a:p/>
          <a:p>
            <a:r>
              <a:t>Mashg'ulot davomida biz real sanoat vazifasiga yaqin ssenariy ustida ishlaymiz: korxona video-kuzatuv tizimida shaxsiy himoya vositalari (SHV) ni real vaqtda aniqlash uchun AI tizimi loyihalanmoqda. Talablar: 16 ta kamera, har biri 1080p va 10 kadr/sekund; aniqlash modeli — YOLO oilasidan; bir kadr uchun maksimal uchdan-uchgacha kechikish 200 ms; tizim ishlab chiqarish sexida (changli, +40 °C gacha harorat) joylashadi; byudjet cheklangan. Ushbu talablardan kelib chiqib, talaba platformani tanlashi, strukturaviy sxemani ishlab chiqishi va o'z qarorini raqamlar bilan asoslashi kerak.</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Sun'iy intellektga asoslangan kompyuter tizimini (AI-enabled computer system) tahlil qilishda to'rt qatlamli model qulay: (1) ma'lumotlar qatlami — sensorlar, oqimlar, saqlash, oldindan ishlov berish; (2) model qatlami — neyron tarmoq arxitekturasi, parametrlar, aniqlik formati, operatorlar grafigi; (3) hisoblash platformasi qatlami — CPU, GPU, NPU, FPGA, xotira iyerarxiyasi, o'zaro bog'lanish (interconnect); (4) xizmat qatlami — API, konteynerlar, orkestratsiya, monitoring. Har bir qatlam o'ziga xos resurs talabiga ega va qatlamlar orasidagi interfeyslar aynan tizimning tiqilib qoladigan joylari (bottleneck) bo'lishi mumkin. Masalan, kameradan kelgan H.264 oqimini dekodlash CPU'da bajarilsa, 16 kamera uchun bu bitta protsessor yadrosini to'liq band qilishi mumkin — model qanchalik tez bo'lmasin, tizim dekodlash bosqichida tiqilib qoladi. Shu sababli arxitektura tahlili har doim butun quvur liniyasini (pipeline) qamrab olishi kerak.</a:t>
            </a:r>
          </a:p>
          <a:p/>
          <a:p>
            <a:r>
              <a:t>Tahlilning asosiy ko'rsatkichlari quyidagilar: o'tkazuvchanlik (throughput) — birlik vaqtda ishlangan so'rovlar yoki kadrlar soni; kechikish (latency) — bitta so'rovning kirishdan natijagacha o'tgan vaqti, odatda o'rtacha emas, balki p95 yoki p99 persentil bilan o'lchanadi; energiya samaradorligi — bitta inferensga sarflangan joul yoki vatt birligiga to'g'ri keladigan operatsiyalar soni (TOPS/W); egallanadigan xotira hajmi; umumiy egalik qiymati (total cost of ownership, TCO).</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Har qanday loyihalash yuklamani raqamlar bilan ifodalashdan boshlanadi. Chuqur o'rganish modelining bitta inferensi uchun zarur bo'lgan suzuvchi nuqtali amallar soni (FLOP) model arxitekturasidan aniq hisoblanadi: konvolyutsiya qatlami uchun FLOP = 2  K_h  K_w  C_in  C_out  H_out  W_out, to'liq bog'langan qatlam uchun FLOP = 2  N_in  N_out. Masalan, YOLOv8n modeli 640×640 kirishda taxminan 8,7 GFLOP, YOLOv8s — 28,6 GFLOP, YOLOv8m — 78,9 GFLOP talab qiladi (ishlab chiquvchilar hujjatlaridagi taxminiy qiymatlar). 16 kamera va 10 kadr/sekund uchun jami 160 inferens/sekund kerak; YOLOv8s uchun bu 160  28,6 = 4576 GFLOP/s, ya'ni taxminan 4,6 TFLOP/s haqiqiy (erishiladigan) unumdorlik.</a:t>
            </a:r>
          </a:p>
          <a:p/>
          <a:p>
            <a:r>
              <a:t>Xotira trafigi ham shunchalik muhim. Modelning har bir qatlami o'z vaznlarini (weights) va faollashuvlarini (activations) xotiradan o'qiydi va yozadi. Agar vaznlar FP16 formatida bo'lsa, YOLOv8s'ning 11,2 million parametri 22,4 MB joy egallaydi; paketlash (batching) ishlatilmasa, har inferensda vaznlar qayta o'qiladi. Arifmetik intensivlik AI = FLOP / bayt — bitta xotiradan o'qilgan baytga to'g'ri keladigan amallar soni. Roofline modeliga ko'ra, erishiladigan unumdorlik P = min(P_peak, AI  B_mem) formulasi bilan chegaralanadi, bu yerda P_peak — cho'qqi hisoblash unumdorligi, B_mem — xotira o'tkazuvchanligi. «Tizza nuqtasi» (ridge point) AI_ridge = P_peak / B_mem dan past intensivlikdagi yuklamalar xotira bilan, yuqoridagilari hisoblash bilan cheklanadi. Ma'lumotlar markazi GPU'larida (masalan, H100 SXM: ~990 TFLOP/s FP16 dense, ~3,35 TB/s HBM3) tizza nuqtasi taxminan 300 FLOP/bayt; Jetson Orin NX (~50 TOPS INT8 sparse emas, 102 GB/s LPDDR5) uchun esa taxminan 500 FLOP/bayt. Demak, bir xil model turli platformalarda turli rejimda ishlashi mumkin — bu Co-design uchun muhim xulosa.</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Co-design — apparat va dasturiy qarorlarni ketma-ket emas, balki iterativ va birgalikda qabul qilish metodologiyasi. Uning asosiy tamoyillari:</a:t>
            </a:r>
          </a:p>
          <a:p/>
          <a:p>
            <a:r>
              <a:t>Yuklamadan boshlash (workload-first). Avval model operatorlari profili tuziladi: qaysi operatorlar vaqtning necha foizini oladi. Agar 85 % vaqt konvolyutsiya va matritsa ko'paytirishga ketsa, Tensor Core yoki NPU hal qiluvchi; agar vaqtning katta qismi NMS (non-maximum suppression) kabi tarmoqlanuvchi mantiqqa ketsa, tezkor CPU yadrolari kerak.</a:t>
            </a:r>
          </a:p>
          <a:p/>
          <a:p>
            <a:r>
              <a:t>Aniqlik formatini apparatga moslashtirish. INT8 kvantlash Tensor Core'larda 2 baravar, Edge TPU'da esa yagona qo'llab-quvvatlanadigan format. Model INT8'ga sifatni yo'qotmasdan kvantlanmasa, Edge TPU avtomatik ravishda nomzodlar ro'yxatidan chiqadi.</a:t>
            </a:r>
          </a:p>
          <a:p/>
          <a:p>
            <a:r>
              <a:t>Operatorlar qamrovi (operator coverage). Har bir tezlatkich cheklangan operatorlar to'plamini qo'llab-quvvatlaydi. Qo'llab-quvvatlanmagan operator CPU'ga «tushib» qoladi (fallback) va butun grafikning tezligini pasaytiradi. Loyihalashda model grafigi va tezlatkich operatorlar ro'yxati solishtiriladi.</a:t>
            </a:r>
          </a:p>
          <a:p/>
          <a:p>
            <a:r>
              <a:t>Xotira iyerarxiyasini hisobga olish. On-chip SRAM (masalan, Edge TPU'da 8 MB, Orin'da 4 MB L2 + yadro keshlari) ga sig'adigan model va faollashuvlar tashqi DRAM'ga murojaatni keskin kamaytiradi.</a:t>
            </a:r>
          </a:p>
          <a:p/>
          <a:p>
            <a:r>
              <a:t>Butun tizim narxi va energiya byudjeti. Chekka qurilmada 15–25 Vt, serverda 300–700 Vt bir tezlatkich uchun. Sovutish, korpus, quvvat manbai ham loyihaning bir qismi.</a:t>
            </a:r>
          </a:p>
          <a:p/>
          <a:p>
            <a:r>
              <a:t>Iteratsiya. Birinchi tanlov prototipda o'lchanadi, natija talabga javob bermasa — model (masalan, kirish o'lchamini 640 dan 512 ga tushirish) yoki apparat (Orin NX → Orin AGX) o'zgartiriladi.</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Co-design — apparat va dasturiy qarorlarni ketma-ket emas, balki iterativ va birgalikda qabul qilish metodologiyasi. Uning asosiy tamoyillari:</a:t>
            </a:r>
          </a:p>
          <a:p/>
          <a:p>
            <a:r>
              <a:t>Yuklamadan boshlash (workload-first). Avval model operatorlari profili tuziladi: qaysi operatorlar vaqtning necha foizini oladi. Agar 85 % vaqt konvolyutsiya va matritsa ko'paytirishga ketsa, Tensor Core yoki NPU hal qiluvchi; agar vaqtning katta qismi NMS (non-maximum suppression) kabi tarmoqlanuvchi mantiqqa ketsa, tezkor CPU yadrolari kerak.</a:t>
            </a:r>
          </a:p>
          <a:p/>
          <a:p>
            <a:r>
              <a:t>Aniqlik formatini apparatga moslashtirish. INT8 kvantlash Tensor Core'larda 2 baravar, Edge TPU'da esa yagona qo'llab-quvvatlanadigan format. Model INT8'ga sifatni yo'qotmasdan kvantlanmasa, Edge TPU avtomatik ravishda nomzodlar ro'yxatidan chiqadi.</a:t>
            </a:r>
          </a:p>
          <a:p/>
          <a:p>
            <a:r>
              <a:t>Operatorlar qamrovi (operator coverage). Har bir tezlatkich cheklangan operatorlar to'plamini qo'llab-quvvatlaydi. Qo'llab-quvvatlanmagan operator CPU'ga «tushib» qoladi (fallback) va butun grafikning tezligini pasaytiradi. Loyihalashda model grafigi va tezlatkich operatorlar ro'yxati solishtiriladi.</a:t>
            </a:r>
          </a:p>
          <a:p/>
          <a:p>
            <a:r>
              <a:t>Xotira iyerarxiyasini hisobga olish. On-chip SRAM (masalan, Edge TPU'da 8 MB, Orin'da 4 MB L2 + yadro keshlari) ga sig'adigan model va faollashuvlar tashqi DRAM'ga murojaatni keskin kamaytiradi.</a:t>
            </a:r>
          </a:p>
          <a:p/>
          <a:p>
            <a:r>
              <a:t>Butun tizim narxi va energiya byudjeti. Chekka qurilmada 15–25 Vt, serverda 300–700 Vt bir tezlatkich uchun. Sovutish, korpus, quvvat manbai ham loyihaning bir qismi.</a:t>
            </a:r>
          </a:p>
          <a:p/>
          <a:p>
            <a:r>
              <a:t>Iteratsiya. Birinchi tanlov prototipda o'lchanadi, natija talabga javob bermasa — model (masalan, kirish o'lchamini 640 dan 512 ga tushirish) yoki apparat (Orin NX → Orin AGX) o'zgartiriladi.</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Quyidagi jadvalda mashg'ulotda solishtiriladigan uchta platformaning ochiq texnik tavsiflari keltirilgan (qiymatlar ishlab chiqaruvchilarning rasmiy ma'lumotlariga asoslangan, taxminiy; aniq raqam modul konfiguratsiyasi va quvvat rejimiga bog'liq).</a:t>
            </a:r>
          </a:p>
          <a:p/>
          <a:p>
            <a:r>
              <a:t>Jadvaldan ko'rinadiki, «eng kuchli» platforma har doim ham eng mos emas. A100 unumdorlikda ustun, lekin sexda joylashtirish, sovutish va narx bo'yicha talabga mos kelmaydi; Edge TPU juda arzon va tejamkor, lekin 160 inferens/sekund YOLOv8s yuklamasini ko'tara olmaydi (4 TOPS × ~50 % samaradorlik ≈ 2 TOPS haqiqiy, kerak esa 4,6 TOPS) va faqat INT8 model talab qiladi; Jetson Orin NX esa o'rta yo'l — apparat video dekoderi, sanoat harorati diapazoni, TensorRT qo'llab-quvvatlashi bilan talablarga eng yaqin.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Strukturaviy sxema — tizimning asosiy bloklari va ular orasidagi ma'lumot/boshqaruv oqimlarining tavsifi. AI tizimi uchun odatiy bloklar: kirish manbalari (IP-kameralar, RTSP), tarmoq kommutatori, ingest/dekodlash bloki, oldindan ishlov berish (resize, normalizatsiya), inferens dvigateli (TensorRT engine), keyingi ishlov berish (NMS, kuzatuv), biznes-mantiq (qoidalar, ogohlantirish), saqlash (hodisalar bazasi, video klip), monitoring (metrikalar, loglar), tashqi API. Har bir interfeys uchun protokol (RTSP/H.264, shared memory, gRPC, MQTT), o'tkazuvchanlik (Mbit/s yoki kadr/s) va kechikish byudjeti ko'rsatiladi. Kechikish byudjeti — umumiy 200 ms ni bloklar orasida taqsimlash: tarmoq va dekodlash 40 ms, oldindan ishlov 10 ms, inferens 60 ms, keyingi ishlov va mantiq 20 ms, zaxira 70 ms. Bunday taqsimot keyingi mashg'ulotlarda o'lchov natijalarini solishtirish uchun etalon bo'lib xizmat qiladi.</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Laboratoriya topshirig'i: «SHV aniqlash tizimi uchun hisoblash platformasini tanlash va strukturaviy sxema ishlab chiqish».</a:t>
            </a:r>
          </a:p>
          <a:p/>
          <a:p>
            <a:r>
              <a:t>Talab qilinadigan muhit. Apparat: oddiy noutbuk yoki ish stantsiyasi (GPU shart emas). Dasturiy ta'minot: Python 3.10 yoki undan yuqori; kutubxonalar torch&gt;=2.1, ultralytics&gt;=8.1 (model FLOP hisobi uchun), pandas, tabulate. O'rnatish: pip install torch ultralytics pandas tabulate. Internet ulanishi — modellarning oldindan o'qitilgan vaznlarini yuklab olish uchun (bir marta). Vaqt: 2 akademik soat auditoriyada, hisobot — uyda yakunlanadi.</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Avval ssenariy talablarini o'lchanadigan ko'rsatkichlarga aylantiring va har biriga og'irlik (1–5) bering. Quyidagi matritsa namuna; talaba o'z asoslashi bilan og'irliklarni o'zgartirishi mumkin.</a:t>
            </a:r>
          </a:p>
          <a:p/>
          <a:p>
            <a:r>
              <a:t>Nima bo'ldi va nega. Talablar matritsasi loyihalashni sub'ektiv bahsdan ob'ektiv taqqoslashga o'tkazadi. Og'irliklar buyurtmachi ustuvorliklarini aks ettiradi: kechikish va o'tkazuvchanlik — funksional talab (bajarilmasa tizim ishlamaydi), narx — iqtisodiy cheklov.</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Quyidagi skript tanlangan YOLO variantlari uchun FLOP, parametrlar soni, vaznlar hajmi va talab qilinadigan jami unumdorlikni hisoblaydi.</a:t>
            </a:r>
          </a:p>
          <a:p/>
          <a:p>
            <a:r>
              <a:t>Kutilgan natija (taxminiy, ultralytics versiyasiga qarab ±5 %):</a:t>
            </a:r>
          </a:p>
          <a:p/>
          <a:p>
            <a:r>
              <a:t>Nima bo'ldi va nega. Skript modelning statik xususiyatlaridan kelib chiqib «nazariy» talabni beradi. Bu — yuqori chegaradan ancha past baho emas, aksincha, quyi chegara: real platformada dekodlash, xotira ko'chirish va operatorlar samaradorligi (odatda cho'qqining 30–60 %) tufayli haqiqiy talab 2–3 baravar yuqori bo'ladi. Shuning uchun platformani tanlashda «samaradorlik koeffitsiyenti» kiritiladi.</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Kutilgan natija (taxminiy):</a:t>
            </a:r>
          </a:p>
          <a:p/>
          <a:p>
            <a:r>
              <a:t>Nima bo'ldi va nega. zaxira_koef — platformaning haqiqiy unumdorligi talabdan necha marta oshishi. 1 dan kichik qiymat (Edge TPU, CPU) — platforma yetarli emas; 3–5 oralig'i — sog'lom zaxira (pik yuklama, model yangilanishi, qo'shimcha kuzatuv algoritmi uchun); 50 dan katta (A100) — ortiqcha xarajat. Edge TPU uchun yechim bo'lishi mumkin edi: 16 kamerani 4 ta Coral modulga bo'lish va yolov8n INT8 ishlatish, lekin apparat dekoder yo'qligi CPU'ni band qiladi. Shu tahlil Orin NX ni asosiy nomzod qiladi.</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Talaba quyidagi shaklda strukturaviy sxemani yozadi (rasm shart emas; blok ro'yxati va interfeyslar jadvali yetarli):</a:t>
            </a:r>
          </a:p>
          <a:p/>
          <a:p>
            <a:r>
              <a:t>Interfeyslar jadvali:</a:t>
            </a:r>
          </a:p>
          <a:p/>
          <a:p>
            <a:r>
              <a:t>Nima bo'ldi va nega. Sxema har bir qadamda «ma'lumot qayerda yotadi» savoliga javob beradi. Jetson'da NVDEC chiqishi to'g'ridan-to'g'ri GPU xotirasida qolishi (nol nusxalash, zero-copy) CPU–GPU ko'chirishlarini olib tashlaydi — bu Co-design'ning amaliy ko'rinishi: apparat imkoniyati (umumiy xotira) dasturiy yechimni (DeepStream yoki VPI quvuri) belgilaydi.</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Hisobotda tanlangan platforma, rad etilgan muqobillar sabablari va xavflar ro'yxati yoziladi. Namuna xavflar: INT8 kvantlashda mAP 1–2 foiz punkt pasayishi (A3 mashg'ulotida tekshiriladi); +40 °C muhitda Orin NX termal cheklov (throttling) tufayli 25 Vt rejimida barqaror ishlamasligi — passiv emas, faol sovutishli sanoat korpusi talab qilinadi; 16 oqimni bitta modulda dekodlash NVDEC chegarasiga yaqin — zaxira sifatida ikki modulga bo'lish rejasi.</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Hisobot (PDF yoki Markdown, 4–6 bet) quyidagilarni o'z ichiga oladi: (1) talablar matritsasi; (2) yuklama.csv jadvali va skript natijasi ekran tasviri; (3) platformalar taqqoslash jadvali va zaxira_koef izohi; (4) strukturaviy sxema matni va interfeyslar jadvali; (5) kechikish byudjeti taqsimoti; (6) xavflar va muqobil variantlar; (7) xulosa — bir xatboshida qaror asosi.</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Qo'shimcha 10 ball: talaba ikkinchi ssenariy (masalan, 64 kamera, markaziy serverda ishlov) uchun ham tahlil o'tkazib, Edge va markazlashgan variantlarning TCO'sini 3 yilga solishtirsa.</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Mashg'ulot natijalari ikki darajada talqin qilinadi. Birinchi daraja — miqdoriy: zaxira_koef va energiya ko'rsatkichlari platformalarni aniq tartiblaydi. Ko'rinib turibdiki, Jetson Orin NX talabni taxminan 5 baravar zaxira bilan qoplaydi, bu zaxira pik yuklama (barcha kameralarda bir vaqtda harakat), kuzatuv algoritmi va kelgusida model yangilanishi uchun kerak. AGX Orin 13 baravar zaxira beradi, lekin uch baravar qimmat; agar buyurtmachi kelajakda kameralar sonini 32–48 gacha oshirishni rejalashtirsa, AGX Orin oqilona bo'lishi mumkin — ya'ni qaror texnik emas, balki texnik-iqtisodiy.</a:t>
            </a:r>
          </a:p>
          <a:p/>
          <a:p>
            <a:r>
              <a:t>Ikkinchi daraja — sifatiy cheklovlar. Nazariy hisob bir qancha soddalashtirishlarga asoslanadi: INT8 TOPS va FP32 FLOP bir-biriga teng deb olindi, samaradorlik koeffitsiyenti 45–50 % deb taxmin qilindi, dekodlash va oldindan ishlov berish yuklamasi batafsil modellashtirilmadi. Real tizimda bu bahoni faqat prototip o'lchovlari tasdiqlaydi yoki rad etadi. Shu sababli A1 natijasi — yakuniy qaror emas, balki A2–A4 mashg'ulotlarida o'lchov bilan tekshiriladigan gipoteza. Xususan, A3 da INT8 kvantlash aniqlikka ta'siri va haqiqiy latency, A4 da esa Jetson'da butun quvur liniyasining o'tkazuvchanligi o'lchanadi.</a:t>
            </a:r>
          </a:p>
          <a:p/>
          <a:p>
            <a:r>
              <a:t>Muqobil yondashuvlar: (1) markazlashgan arxitektura — barcha kameralar oqimini serverdagi bitta GPU'ga yuborish; afzalligi — boshqaruv osonligi, kamchiligi — tarmoq yuklamasi (64 Mbit/s uzluksiz), yagona nosozlik nuqtasi, sex va server xonasi orasidagi kechikish; (2) gibrid — chekkada yengil model (yolov8n) birlamchi filtrlash, shubhali kadrlar serverda og'ir model bilan qayta tekshirish; bu Cloud–Edge taqqoslash A4 da chuqurlashtiriladi; (3) FPGA asosidagi yechim (masalan, AMD Kria KV260) — energiya samarador va deterministik kechikish, lekin ishlab chiqish murakkabligi va ekotizim cheklovlari yuqori.</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Cho'qqi TOPS'ni haqiqiy unumdorlik deb qabul qilish. Ishlab chiqaruvchi ko'rsatadigan TOPS ko'pincha siyraklik (sparsity) hisobga olingan va ideal yuklama uchun. Har doim dense qiymatni oling va 30–60 % samaradorlik koeffitsiyentini qo'llang.</a:t>
            </a:r>
          </a:p>
          <a:p/>
          <a:p>
            <a:r>
              <a:t>Faqat inferensni hisoblash. Dekodlash, o'lcham o'zgartirish, NMS, kuzatuv va tarmoq ko'pincha inferens vaqtidan ko'p bo'ladi. Butun quvur liniyasi uchun kechikish byudjeti tuzing.</a:t>
            </a:r>
          </a:p>
          <a:p/>
          <a:p>
            <a:r>
              <a:t>Aniqlik formatini e'tiborsiz qoldirish. Edge TPU faqat INT8, ko'pgina NPU'lar FP16 ni qo'llamaydi. Platformani tanlashdan oldin modelni shu formatga kvantlash mumkinligini tekshiring.</a:t>
            </a:r>
          </a:p>
          <a:p/>
          <a:p>
            <a:r>
              <a:t>Operatorlar qamrovini tekshirmaslik. Model grafigidagi bitta qo'llab-quvvatlanmagan operator butun tezlatkichni foydasiz qilishi mumkin. ONNX eksport va tezlatkich kompilyatorining xabarnomalarini o'qing.</a:t>
            </a:r>
          </a:p>
          <a:p/>
          <a:p>
            <a:r>
              <a:t>Termal va mexanik muhitni unutish. 25 Vt chekka modul passiv radiator bilan +40 °C da throttling qiladi. Quvvat rejimini (nvpmodel) va sovutishni loyihaning qismi deb hisoblang.</a:t>
            </a:r>
          </a:p>
          <a:p/>
          <a:p>
            <a:r>
              <a:t>O'rtacha kechikishni hisobot qilish. Foydalanuvchi uchun p95/p99 muhim. Kechikish taqsimotining «dumini» (tail latency) o'lchang va byudjetni shu bo'yicha tuzing.</a:t>
            </a:r>
          </a:p>
          <a:p/>
          <a:p>
            <a:r>
              <a:t>TCO'ni faqat apparat narxi deb bilish. Elektr energiyasi, sovutish, texnik xizmat, dasturiy litsenziyalar va muhandis vaqti 3–5 yil davomida apparat narxidan oshib ketadi.</a:t>
            </a:r>
          </a:p>
          <a:p/>
          <a:p>
            <a:r>
              <a:t>Hujjatlashtirmaslik. Qaror asoslari (talablar matritsasi, rad etish sabablari) yozilmasa, 6 oydan keyin «nega aynan shu platforma?» savoliga hech kim javob bera olmaydi.</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Cho'qqi TOPS'ni haqiqiy unumdorlik deb qabul qilish. Ishlab chiqaruvchi ko'rsatadigan TOPS ko'pincha siyraklik (sparsity) hisobga olingan va ideal yuklama uchun. Har doim dense qiymatni oling va 30–60 % samaradorlik koeffitsiyentini qo'llang.</a:t>
            </a:r>
          </a:p>
          <a:p/>
          <a:p>
            <a:r>
              <a:t>Faqat inferensni hisoblash. Dekodlash, o'lcham o'zgartirish, NMS, kuzatuv va tarmoq ko'pincha inferens vaqtidan ko'p bo'ladi. Butun quvur liniyasi uchun kechikish byudjeti tuzing.</a:t>
            </a:r>
          </a:p>
          <a:p/>
          <a:p>
            <a:r>
              <a:t>Aniqlik formatini e'tiborsiz qoldirish. Edge TPU faqat INT8, ko'pgina NPU'lar FP16 ni qo'llamaydi. Platformani tanlashdan oldin modelni shu formatga kvantlash mumkinligini tekshiring.</a:t>
            </a:r>
          </a:p>
          <a:p/>
          <a:p>
            <a:r>
              <a:t>Operatorlar qamrovini tekshirmaslik. Model grafigidagi bitta qo'llab-quvvatlanmagan operator butun tezlatkichni foydasiz qilishi mumkin. ONNX eksport va tezlatkich kompilyatorining xabarnomalarini o'qing.</a:t>
            </a:r>
          </a:p>
          <a:p/>
          <a:p>
            <a:r>
              <a:t>Termal va mexanik muhitni unutish. 25 Vt chekka modul passiv radiator bilan +40 °C da throttling qiladi. Quvvat rejimini (nvpmodel) va sovutishni loyihaning qismi deb hisoblang.</a:t>
            </a:r>
          </a:p>
          <a:p/>
          <a:p>
            <a:r>
              <a:t>O'rtacha kechikishni hisobot qilish. Foydalanuvchi uchun p95/p99 muhim. Kechikish taqsimotining «dumini» (tail latency) o'lchang va byudjetni shu bo'yicha tuzing.</a:t>
            </a:r>
          </a:p>
          <a:p/>
          <a:p>
            <a:r>
              <a:t>TCO'ni faqat apparat narxi deb bilish. Elektr energiyasi, sovutish, texnik xizmat, dasturiy litsenziyalar va muhandis vaqti 3–5 yil davomida apparat narxidan oshib ketadi.</a:t>
            </a:r>
          </a:p>
          <a:p/>
          <a:p>
            <a:r>
              <a:t>Hujjatlashtirmaslik. Qaror asoslari (talablar matritsasi, rad etish sabablari) yozilmasa, 6 oydan keyin «nega aynan shu platforma?» savoliga hech kim javob bera olmaydi.</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Cho'qqi TOPS'ni haqiqiy unumdorlik deb qabul qilish. Ishlab chiqaruvchi ko'rsatadigan TOPS ko'pincha siyraklik (sparsity) hisobga olingan va ideal yuklama uchun. Har doim dense qiymatni oling va 30–60 % samaradorlik koeffitsiyentini qo'llang.</a:t>
            </a:r>
          </a:p>
          <a:p/>
          <a:p>
            <a:r>
              <a:t>Faqat inferensni hisoblash. Dekodlash, o'lcham o'zgartirish, NMS, kuzatuv va tarmoq ko'pincha inferens vaqtidan ko'p bo'ladi. Butun quvur liniyasi uchun kechikish byudjeti tuzing.</a:t>
            </a:r>
          </a:p>
          <a:p/>
          <a:p>
            <a:r>
              <a:t>Aniqlik formatini e'tiborsiz qoldirish. Edge TPU faqat INT8, ko'pgina NPU'lar FP16 ni qo'llamaydi. Platformani tanlashdan oldin modelni shu formatga kvantlash mumkinligini tekshiring.</a:t>
            </a:r>
          </a:p>
          <a:p/>
          <a:p>
            <a:r>
              <a:t>Operatorlar qamrovini tekshirmaslik. Model grafigidagi bitta qo'llab-quvvatlanmagan operator butun tezlatkichni foydasiz qilishi mumkin. ONNX eksport va tezlatkich kompilyatorining xabarnomalarini o'qing.</a:t>
            </a:r>
          </a:p>
          <a:p/>
          <a:p>
            <a:r>
              <a:t>Termal va mexanik muhitni unutish. 25 Vt chekka modul passiv radiator bilan +40 °C da throttling qiladi. Quvvat rejimini (nvpmodel) va sovutishni loyihaning qismi deb hisoblang.</a:t>
            </a:r>
          </a:p>
          <a:p/>
          <a:p>
            <a:r>
              <a:t>O'rtacha kechikishni hisobot qilish. Foydalanuvchi uchun p95/p99 muhim. Kechikish taqsimotining «dumini» (tail latency) o'lchang va byudjetni shu bo'yicha tuzing.</a:t>
            </a:r>
          </a:p>
          <a:p/>
          <a:p>
            <a:r>
              <a:t>TCO'ni faqat apparat narxi deb bilish. Elektr energiyasi, sovutish, texnik xizmat, dasturiy litsenziyalar va muhandis vaqti 3–5 yil davomida apparat narxidan oshib ketadi.</a:t>
            </a:r>
          </a:p>
          <a:p/>
          <a:p>
            <a:r>
              <a:t>Hujjatlashtirmaslik. Qaror asoslari (talablar matritsasi, rad etish sabablari) yozilmasa, 6 oydan keyin «nega aynan shu platforma?» savoliga hech kim javob bera olmaydi.</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42845"/>
              </a:gs>
              <a:gs pos="100000">
                <a:srgbClr val="0F6E80"/>
              </a:gs>
            </a:gsLst>
            <a:lin scaled="0" ang="27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8600000" y="-1200000"/>
            <a:ext cx="4600000" cy="4600000"/>
          </a:xfrm>
          <a:prstGeom prst="ellipse">
            <a:avLst/>
          </a:prstGeom>
          <a:solidFill>
            <a:srgbClr val="244C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200000" y="3900000"/>
            <a:ext cx="2600000" cy="2600000"/>
          </a:xfrm>
          <a:prstGeom prst="ellipse">
            <a:avLst/>
          </a:prstGeom>
          <a:solidFill>
            <a:srgbClr val="138F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9300000" y="3300000"/>
            <a:ext cx="700000" cy="700000"/>
          </a:xfrm>
          <a:prstGeom prst="ellipse">
            <a:avLst/>
          </a:prstGeom>
          <a:solidFill>
            <a:srgbClr val="7FD6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00000" y="4650000"/>
            <a:ext cx="2400000" cy="70000"/>
          </a:xfrm>
          <a:prstGeom prst="rect">
            <a:avLst/>
          </a:prstGeom>
          <a:solidFill>
            <a:srgbClr val="7FD6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0000" y="700000"/>
            <a:ext cx="8000000" cy="500000"/>
          </a:xfrm>
          <a:prstGeom prst="rect">
            <a:avLst/>
          </a:prstGeom>
          <a:noFill/>
        </p:spPr>
        <p:txBody>
          <a:bodyPr wrap="square" anchor="t" lIns="50800" rIns="50800">
            <a:spAutoFit/>
          </a:bodyPr>
          <a:lstStyle/>
          <a:p>
            <a:pPr algn="l"/>
            <a:r>
              <a:rPr sz="1600" b="0">
                <a:solidFill>
                  <a:srgbClr val="A9C4E6"/>
                </a:solidFill>
                <a:latin typeface="Calibri"/>
              </a:rPr>
              <a:t>Sun'iy intellektga asoslangan kompyuter tizimlari muhandisligi</a:t>
            </a:r>
          </a:p>
        </p:txBody>
      </p:sp>
      <p:sp>
        <p:nvSpPr>
          <p:cNvPr id="8" name="TextBox 7"/>
          <p:cNvSpPr txBox="1"/>
          <p:nvPr/>
        </p:nvSpPr>
        <p:spPr>
          <a:xfrm>
            <a:off x="700000" y="1300000"/>
            <a:ext cx="8000000" cy="500000"/>
          </a:xfrm>
          <a:prstGeom prst="rect">
            <a:avLst/>
          </a:prstGeom>
          <a:noFill/>
        </p:spPr>
        <p:txBody>
          <a:bodyPr wrap="square" anchor="t" lIns="50800" rIns="50800">
            <a:spAutoFit/>
          </a:bodyPr>
          <a:lstStyle/>
          <a:p>
            <a:pPr algn="l"/>
            <a:r>
              <a:rPr sz="1600" b="1">
                <a:solidFill>
                  <a:srgbClr val="7FD6D7"/>
                </a:solidFill>
                <a:latin typeface="Calibri"/>
              </a:rPr>
              <a:t>LABORATORIYA ISHI · A1 · 2 soat</a:t>
            </a:r>
          </a:p>
        </p:txBody>
      </p:sp>
      <p:sp>
        <p:nvSpPr>
          <p:cNvPr id="9" name="TextBox 8"/>
          <p:cNvSpPr txBox="1"/>
          <p:nvPr/>
        </p:nvSpPr>
        <p:spPr>
          <a:xfrm>
            <a:off x="700000" y="1900000"/>
            <a:ext cx="6900000" cy="2600000"/>
          </a:xfrm>
          <a:prstGeom prst="rect">
            <a:avLst/>
          </a:prstGeom>
          <a:noFill/>
        </p:spPr>
        <p:txBody>
          <a:bodyPr wrap="square" anchor="t" lIns="50800" rIns="50800">
            <a:spAutoFit/>
          </a:bodyPr>
          <a:lstStyle/>
          <a:p>
            <a:pPr algn="l"/>
            <a:r>
              <a:rPr sz="2800" b="1">
                <a:solidFill>
                  <a:srgbClr val="FFFFFF"/>
                </a:solidFill>
                <a:latin typeface="Calibri"/>
              </a:rPr>
              <a:t>Sun'iy intellektga asoslangan kompyuter tizimlari arxitekturasini tahlil qilish va loyihalash</a:t>
            </a:r>
          </a:p>
        </p:txBody>
      </p:sp>
      <p:sp>
        <p:nvSpPr>
          <p:cNvPr id="10" name="TextBox 9"/>
          <p:cNvSpPr txBox="1"/>
          <p:nvPr/>
        </p:nvSpPr>
        <p:spPr>
          <a:xfrm>
            <a:off x="700000" y="4900000"/>
            <a:ext cx="8000000" cy="1200000"/>
          </a:xfrm>
          <a:prstGeom prst="rect">
            <a:avLst/>
          </a:prstGeom>
          <a:noFill/>
        </p:spPr>
        <p:txBody>
          <a:bodyPr wrap="square" anchor="t" lIns="50800" rIns="50800">
            <a:spAutoFit/>
          </a:bodyPr>
          <a:lstStyle/>
          <a:p>
            <a:pPr algn="l"/>
            <a:r>
              <a:rPr sz="1500" b="0">
                <a:solidFill>
                  <a:srgbClr val="D7E3F4"/>
                </a:solidFill>
                <a:latin typeface="Calibri"/>
              </a:rPr>
              <a:t>O‘qituvchi: S.Iskandarova, t.f.f.d. (PhD), dotsent</a:t>
            </a:r>
          </a:p>
          <a:p>
            <a:pPr algn="l"/>
            <a:r>
              <a:rPr sz="1500" b="0">
                <a:solidFill>
                  <a:srgbClr val="D7E3F4"/>
                </a:solidFill>
                <a:latin typeface="Calibri"/>
              </a:rPr>
              <a:t>2026-2027 o‘quv yili</a:t>
            </a:r>
          </a:p>
          <a:p>
            <a:pPr algn="l"/>
            <a:r>
              <a:rPr sz="1500" b="0">
                <a:solidFill>
                  <a:srgbClr val="D7E3F4"/>
                </a:solidFill>
                <a:latin typeface="Calibri"/>
              </a:rPr>
              <a:t>https://aiscan.airi.uz/ktm/</a:t>
            </a:r>
          </a:p>
        </p:txBody>
      </p:sp>
      <p:pic>
        <p:nvPicPr>
          <p:cNvPr id="11" name="Picture 10" descr="86a499801d0d5a2a.jpg"/>
          <p:cNvPicPr>
            <a:picLocks noChangeAspect="1"/>
          </p:cNvPicPr>
          <p:nvPr/>
        </p:nvPicPr>
        <p:blipFill>
          <a:blip r:embed="rId2"/>
          <a:srcRect l="18536" r="18536"/>
          <a:stretch>
            <a:fillRect/>
          </a:stretch>
        </p:blipFill>
        <p:spPr>
          <a:xfrm>
            <a:off x="7900000" y="900000"/>
            <a:ext cx="3900000" cy="5050000"/>
          </a:xfrm>
          <a:prstGeom prst="rect">
            <a:avLst/>
          </a:prstGeom>
        </p:spPr>
      </p:pic>
      <p:sp>
        <p:nvSpPr>
          <p:cNvPr id="12" name="Rectangle 11"/>
          <p:cNvSpPr/>
          <p:nvPr/>
        </p:nvSpPr>
        <p:spPr>
          <a:xfrm>
            <a:off x="7900000" y="5650000"/>
            <a:ext cx="3900000" cy="300000"/>
          </a:xfrm>
          <a:prstGeom prst="rect">
            <a:avLst/>
          </a:prstGeom>
          <a:solidFill>
            <a:srgbClr val="0B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980000" y="5650000"/>
            <a:ext cx="3740000" cy="300000"/>
          </a:xfrm>
          <a:prstGeom prst="rect">
            <a:avLst/>
          </a:prstGeom>
          <a:noFill/>
        </p:spPr>
        <p:txBody>
          <a:bodyPr wrap="square" anchor="ctr" lIns="50800" rIns="50800">
            <a:spAutoFit/>
          </a:bodyPr>
          <a:lstStyle/>
          <a:p>
            <a:pPr algn="l"/>
            <a:r>
              <a:rPr sz="900" b="0">
                <a:solidFill>
                  <a:srgbClr val="D7E3F4"/>
                </a:solidFill>
                <a:latin typeface="Calibri"/>
              </a:rPr>
              <a:t>Rasm: Courtesy of Science History Institute,  No Known Copyright · Wikimedia Commons · Public domain</a:t>
            </a:r>
          </a:p>
        </p:txBody>
      </p:sp>
      <p:sp>
        <p:nvSpPr>
          <p:cNvPr id="14" name="Rectangle 13"/>
          <p:cNvSpPr/>
          <p:nvPr/>
        </p:nvSpPr>
        <p:spPr>
          <a:xfrm>
            <a:off x="7820000" y="820000"/>
            <a:ext cx="4060000" cy="5210000"/>
          </a:xfrm>
          <a:prstGeom prst="rect">
            <a:avLst/>
          </a:prstGeom>
          <a:noFill/>
          <a:ln w="381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6"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5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300"/>
                            </p:stCondLst>
                            <p:childTnLst>
                              <p:par>
                                <p:cTn id="16" presetID="53" presetClass="entr" presetSubtype="16"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550"/>
                                        <p:tgtEl>
                                          <p:spTgt spid="5"/>
                                        </p:tgtEl>
                                      </p:cBhvr>
                                    </p:animEffect>
                                    <p:anim calcmode="lin" valueType="num">
                                      <p:cBhvr additive="base">
                                        <p:cTn id="19" dur="550" fill="hold"/>
                                        <p:tgtEl>
                                          <p:spTgt spid="5"/>
                                        </p:tgtEl>
                                        <p:attrNameLst>
                                          <p:attrName>ppt_w</p:attrName>
                                        </p:attrNameLst>
                                      </p:cBhvr>
                                      <p:tavLst>
                                        <p:tav tm="0">
                                          <p:val>
                                            <p:strVal val="0"/>
                                          </p:val>
                                        </p:tav>
                                        <p:tav tm="100000">
                                          <p:val>
                                            <p:strVal val="#ppt_w"/>
                                          </p:val>
                                        </p:tav>
                                      </p:tavLst>
                                    </p:anim>
                                    <p:anim calcmode="lin" valueType="num">
                                      <p:cBhvr additive="base">
                                        <p:cTn id="20" dur="550" fill="hold"/>
                                        <p:tgtEl>
                                          <p:spTgt spid="5"/>
                                        </p:tgtEl>
                                        <p:attrNameLst>
                                          <p:attrName>ppt_h</p:attrName>
                                        </p:attrNameLst>
                                      </p:cBhvr>
                                      <p:tavLst>
                                        <p:tav tm="0">
                                          <p:val>
                                            <p:strVal val="0"/>
                                          </p:val>
                                        </p:tav>
                                        <p:tav tm="100000">
                                          <p:val>
                                            <p:strVal val="#ppt_h"/>
                                          </p:val>
                                        </p:tav>
                                      </p:tavLst>
                                    </p:anim>
                                  </p:childTnLst>
                                </p:cTn>
                              </p:par>
                            </p:childTnLst>
                          </p:cTn>
                        </p:par>
                        <p:par>
                          <p:cTn id="21" fill="hold">
                            <p:stCondLst>
                              <p:cond delay="400"/>
                            </p:stCondLst>
                            <p:childTnLst>
                              <p:par>
                                <p:cTn id="22" presetID="53" presetClass="entr" presetSubtype="16" fill="hold" grpId="0" nodeType="afterEffect">
                                  <p:stCondLst>
                                    <p:cond delay="0"/>
                                  </p:stCondLst>
                                  <p:childTnLst>
                                    <p:set>
                                      <p:cBhvr>
                                        <p:cTn id="23" dur="1" fill="hold">
                                          <p:stCondLst>
                                            <p:cond delay="0"/>
                                          </p:stCondLst>
                                        </p:cTn>
                                        <p:tgtEl>
                                          <p:spTgt spid="14"/>
                                        </p:tgtEl>
                                        <p:attrNameLst>
                                          <p:attrName>style.visibility</p:attrName>
                                        </p:attrNameLst>
                                      </p:cBhvr>
                                      <p:to>
                                        <p:strVal val="visible"/>
                                      </p:to>
                                    </p:set>
                                    <p:animEffect transition="in" filter="fade">
                                      <p:cBhvr>
                                        <p:cTn id="24" dur="550"/>
                                        <p:tgtEl>
                                          <p:spTgt spid="14"/>
                                        </p:tgtEl>
                                      </p:cBhvr>
                                    </p:animEffect>
                                    <p:anim calcmode="lin" valueType="num">
                                      <p:cBhvr additive="base">
                                        <p:cTn id="25" dur="550" fill="hold"/>
                                        <p:tgtEl>
                                          <p:spTgt spid="14"/>
                                        </p:tgtEl>
                                        <p:attrNameLst>
                                          <p:attrName>ppt_w</p:attrName>
                                        </p:attrNameLst>
                                      </p:cBhvr>
                                      <p:tavLst>
                                        <p:tav tm="0">
                                          <p:val>
                                            <p:strVal val="0"/>
                                          </p:val>
                                        </p:tav>
                                        <p:tav tm="100000">
                                          <p:val>
                                            <p:strVal val="#ppt_w"/>
                                          </p:val>
                                        </p:tav>
                                      </p:tavLst>
                                    </p:anim>
                                    <p:anim calcmode="lin" valueType="num">
                                      <p:cBhvr additive="base">
                                        <p:cTn id="26" dur="550" fill="hold"/>
                                        <p:tgtEl>
                                          <p:spTgt spid="14"/>
                                        </p:tgtEl>
                                        <p:attrNameLst>
                                          <p:attrName>ppt_h</p:attrName>
                                        </p:attrNameLst>
                                      </p:cBhvr>
                                      <p:tavLst>
                                        <p:tav tm="0">
                                          <p:val>
                                            <p:strVal val="0"/>
                                          </p:val>
                                        </p:tav>
                                        <p:tav tm="100000">
                                          <p:val>
                                            <p:strVal val="#ppt_h"/>
                                          </p:val>
                                        </p:tav>
                                      </p:tavLst>
                                    </p:anim>
                                  </p:childTnLst>
                                </p:cTn>
                              </p:par>
                            </p:childTnLst>
                          </p:cTn>
                        </p:par>
                        <p:par>
                          <p:cTn id="27" fill="hold">
                            <p:stCondLst>
                              <p:cond delay="400"/>
                            </p:stCondLst>
                            <p:childTnLst>
                              <p:par>
                                <p:cTn id="28" presetID="53" presetClass="entr" presetSubtype="16" fill="hold" grpId="0" nodeType="afterEffect">
                                  <p:stCondLst>
                                    <p:cond delay="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550"/>
                                        <p:tgtEl>
                                          <p:spTgt spid="11"/>
                                        </p:tgtEl>
                                      </p:cBhvr>
                                    </p:animEffect>
                                    <p:anim calcmode="lin" valueType="num">
                                      <p:cBhvr additive="base">
                                        <p:cTn id="31" dur="550" fill="hold"/>
                                        <p:tgtEl>
                                          <p:spTgt spid="11"/>
                                        </p:tgtEl>
                                        <p:attrNameLst>
                                          <p:attrName>ppt_w</p:attrName>
                                        </p:attrNameLst>
                                      </p:cBhvr>
                                      <p:tavLst>
                                        <p:tav tm="0">
                                          <p:val>
                                            <p:strVal val="0"/>
                                          </p:val>
                                        </p:tav>
                                        <p:tav tm="100000">
                                          <p:val>
                                            <p:strVal val="#ppt_w"/>
                                          </p:val>
                                        </p:tav>
                                      </p:tavLst>
                                    </p:anim>
                                    <p:anim calcmode="lin" valueType="num">
                                      <p:cBhvr additive="base">
                                        <p:cTn id="32" dur="550" fill="hold"/>
                                        <p:tgtEl>
                                          <p:spTgt spid="11"/>
                                        </p:tgtEl>
                                        <p:attrNameLst>
                                          <p:attrName>ppt_h</p:attrName>
                                        </p:attrNameLst>
                                      </p:cBhvr>
                                      <p:tavLst>
                                        <p:tav tm="0">
                                          <p:val>
                                            <p:strVal val="0"/>
                                          </p:val>
                                        </p:tav>
                                        <p:tav tm="100000">
                                          <p:val>
                                            <p:strVal val="#ppt_h"/>
                                          </p:val>
                                        </p:tav>
                                      </p:tavLst>
                                    </p:anim>
                                  </p:childTnLst>
                                </p:cTn>
                              </p:par>
                            </p:childTnLst>
                          </p:cTn>
                        </p:par>
                        <p:par>
                          <p:cTn id="33" fill="hold">
                            <p:stCondLst>
                              <p:cond delay="400"/>
                            </p:stCondLst>
                            <p:childTnLst>
                              <p:par>
                                <p:cTn id="34" presetID="10" presetClass="entr" presetSubtype="0" fill="hold" grpId="0" nodeType="afterEffect">
                                  <p:stCondLst>
                                    <p:cond delay="0"/>
                                  </p:stCondLst>
                                  <p:childTnLst>
                                    <p:set>
                                      <p:cBhvr>
                                        <p:cTn id="35" dur="1" fill="hold">
                                          <p:stCondLst>
                                            <p:cond delay="0"/>
                                          </p:stCondLst>
                                        </p:cTn>
                                        <p:tgtEl>
                                          <p:spTgt spid="12"/>
                                        </p:tgtEl>
                                        <p:attrNameLst>
                                          <p:attrName>style.visibility</p:attrName>
                                        </p:attrNameLst>
                                      </p:cBhvr>
                                      <p:to>
                                        <p:strVal val="visible"/>
                                      </p:to>
                                    </p:set>
                                    <p:animEffect transition="in" filter="fade">
                                      <p:cBhvr>
                                        <p:cTn id="36" dur="550"/>
                                        <p:tgtEl>
                                          <p:spTgt spid="12"/>
                                        </p:tgtEl>
                                      </p:cBhvr>
                                    </p:animEffect>
                                  </p:childTnLst>
                                </p:cTn>
                              </p:par>
                            </p:childTnLst>
                          </p:cTn>
                        </p:par>
                        <p:par>
                          <p:cTn id="37" fill="hold">
                            <p:stCondLst>
                              <p:cond delay="400"/>
                            </p:stCondLst>
                            <p:childTnLst>
                              <p:par>
                                <p:cTn id="38" presetID="10" presetClass="entr" presetSubtype="0" fill="hold" grpId="0" nodeType="afterEffect">
                                  <p:stCondLst>
                                    <p:cond delay="0"/>
                                  </p:stCondLst>
                                  <p:childTnLst>
                                    <p:set>
                                      <p:cBhvr>
                                        <p:cTn id="39" dur="1" fill="hold">
                                          <p:stCondLst>
                                            <p:cond delay="0"/>
                                          </p:stCondLst>
                                        </p:cTn>
                                        <p:tgtEl>
                                          <p:spTgt spid="13"/>
                                        </p:tgtEl>
                                        <p:attrNameLst>
                                          <p:attrName>style.visibility</p:attrName>
                                        </p:attrNameLst>
                                      </p:cBhvr>
                                      <p:to>
                                        <p:strVal val="visible"/>
                                      </p:to>
                                    </p:set>
                                    <p:animEffect transition="in" filter="fade">
                                      <p:cBhvr>
                                        <p:cTn id="40" dur="550"/>
                                        <p:tgtEl>
                                          <p:spTgt spid="13"/>
                                        </p:tgtEl>
                                      </p:cBhvr>
                                    </p:animEffect>
                                  </p:childTnLst>
                                </p:cTn>
                              </p:par>
                            </p:childTnLst>
                          </p:cTn>
                        </p:par>
                        <p:par>
                          <p:cTn id="41" fill="hold">
                            <p:stCondLst>
                              <p:cond delay="500"/>
                            </p:stCondLst>
                            <p:childTnLst>
                              <p:par>
                                <p:cTn id="42" presetID="10" presetClass="entr" presetSubtype="0" fill="hold" grpId="0" nodeType="afterEffect">
                                  <p:stCondLst>
                                    <p:cond delay="0"/>
                                  </p:stCondLst>
                                  <p:childTnLst>
                                    <p:set>
                                      <p:cBhvr>
                                        <p:cTn id="43" dur="1" fill="hold">
                                          <p:stCondLst>
                                            <p:cond delay="0"/>
                                          </p:stCondLst>
                                        </p:cTn>
                                        <p:tgtEl>
                                          <p:spTgt spid="7"/>
                                        </p:tgtEl>
                                        <p:attrNameLst>
                                          <p:attrName>style.visibility</p:attrName>
                                        </p:attrNameLst>
                                      </p:cBhvr>
                                      <p:to>
                                        <p:strVal val="visible"/>
                                      </p:to>
                                    </p:set>
                                    <p:animEffect transition="in" filter="fade">
                                      <p:cBhvr>
                                        <p:cTn id="44" dur="550"/>
                                        <p:tgtEl>
                                          <p:spTgt spid="7"/>
                                        </p:tgtEl>
                                      </p:cBhvr>
                                    </p:animEffect>
                                  </p:childTnLst>
                                </p:cTn>
                              </p:par>
                            </p:childTnLst>
                          </p:cTn>
                        </p:par>
                        <p:par>
                          <p:cTn id="45" fill="hold">
                            <p:stCondLst>
                              <p:cond delay="650"/>
                            </p:stCondLst>
                            <p:childTnLst>
                              <p:par>
                                <p:cTn id="46" presetID="2" presetClass="entr" presetSubtype="8" fill="hold" grpId="0" nodeType="afterEffect">
                                  <p:stCondLst>
                                    <p:cond delay="0"/>
                                  </p:stCondLst>
                                  <p:childTnLst>
                                    <p:set>
                                      <p:cBhvr>
                                        <p:cTn id="47" dur="1" fill="hold">
                                          <p:stCondLst>
                                            <p:cond delay="0"/>
                                          </p:stCondLst>
                                        </p:cTn>
                                        <p:tgtEl>
                                          <p:spTgt spid="8"/>
                                        </p:tgtEl>
                                        <p:attrNameLst>
                                          <p:attrName>style.visibility</p:attrName>
                                        </p:attrNameLst>
                                      </p:cBhvr>
                                      <p:to>
                                        <p:strVal val="visible"/>
                                      </p:to>
                                    </p:set>
                                    <p:anim calcmode="lin" valueType="num">
                                      <p:cBhvr additive="base">
                                        <p:cTn id="49" dur="550" fill="hold"/>
                                        <p:tgtEl>
                                          <p:spTgt spid="8"/>
                                        </p:tgtEl>
                                        <p:attrNameLst>
                                          <p:attrName>ppt_x</p:attrName>
                                        </p:attrNameLst>
                                      </p:cBhvr>
                                      <p:tavLst>
                                        <p:tav tm="0">
                                          <p:val>
                                            <p:strVal val="0-#ppt_w/2"/>
                                          </p:val>
                                        </p:tav>
                                        <p:tav tm="100000">
                                          <p:val>
                                            <p:strVal val="#ppt_x"/>
                                          </p:val>
                                        </p:tav>
                                      </p:tavLst>
                                    </p:anim>
                                    <p:anim calcmode="lin" valueType="num">
                                      <p:cBhvr additive="base">
                                        <p:cTn id="50" dur="550" fill="hold"/>
                                        <p:tgtEl>
                                          <p:spTgt spid="8"/>
                                        </p:tgtEl>
                                        <p:attrNameLst>
                                          <p:attrName>ppt_y</p:attrName>
                                        </p:attrNameLst>
                                      </p:cBhvr>
                                      <p:tavLst>
                                        <p:tav tm="0">
                                          <p:val>
                                            <p:strVal val="#ppt_y"/>
                                          </p:val>
                                        </p:tav>
                                        <p:tav tm="100000">
                                          <p:val>
                                            <p:strVal val="#ppt_y"/>
                                          </p:val>
                                        </p:tav>
                                      </p:tavLst>
                                    </p:anim>
                                  </p:childTnLst>
                                </p:cTn>
                              </p:par>
                            </p:childTnLst>
                          </p:cTn>
                        </p:par>
                        <p:par>
                          <p:cTn id="51" fill="hold">
                            <p:stCondLst>
                              <p:cond delay="800"/>
                            </p:stCondLst>
                            <p:childTnLst>
                              <p:par>
                                <p:cTn id="52" presetID="42" presetClass="entr" presetSubtype="0" fill="hold" grpId="0" nodeType="afterEffect">
                                  <p:stCondLst>
                                    <p:cond delay="0"/>
                                  </p:stCondLst>
                                  <p:childTnLst>
                                    <p:set>
                                      <p:cBhvr>
                                        <p:cTn id="53" dur="1" fill="hold">
                                          <p:stCondLst>
                                            <p:cond delay="0"/>
                                          </p:stCondLst>
                                        </p:cTn>
                                        <p:tgtEl>
                                          <p:spTgt spid="9"/>
                                        </p:tgtEl>
                                        <p:attrNameLst>
                                          <p:attrName>style.visibility</p:attrName>
                                        </p:attrNameLst>
                                      </p:cBhvr>
                                      <p:to>
                                        <p:strVal val="visible"/>
                                      </p:to>
                                    </p:set>
                                    <p:animEffect transition="in" filter="fade">
                                      <p:cBhvr>
                                        <p:cTn id="54" dur="550"/>
                                        <p:tgtEl>
                                          <p:spTgt spid="9"/>
                                        </p:tgtEl>
                                      </p:cBhvr>
                                    </p:animEffect>
                                    <p:anim calcmode="lin" valueType="num">
                                      <p:cBhvr additive="base">
                                        <p:cTn id="55" dur="550" fill="hold"/>
                                        <p:tgtEl>
                                          <p:spTgt spid="9"/>
                                        </p:tgtEl>
                                        <p:attrNameLst>
                                          <p:attrName>ppt_x</p:attrName>
                                        </p:attrNameLst>
                                      </p:cBhvr>
                                      <p:tavLst>
                                        <p:tav tm="0">
                                          <p:val>
                                            <p:strVal val="#ppt_x"/>
                                          </p:val>
                                        </p:tav>
                                        <p:tav tm="100000">
                                          <p:val>
                                            <p:strVal val="#ppt_x"/>
                                          </p:val>
                                        </p:tav>
                                      </p:tavLst>
                                    </p:anim>
                                    <p:anim calcmode="lin" valueType="num">
                                      <p:cBhvr additive="base">
                                        <p:cTn id="56" dur="550" fill="hold"/>
                                        <p:tgtEl>
                                          <p:spTgt spid="9"/>
                                        </p:tgtEl>
                                        <p:attrNameLst>
                                          <p:attrName>ppt_y</p:attrName>
                                        </p:attrNameLst>
                                      </p:cBhvr>
                                      <p:tavLst>
                                        <p:tav tm="0">
                                          <p:val>
                                            <p:strVal val="#ppt_y+.08"/>
                                          </p:val>
                                        </p:tav>
                                        <p:tav tm="100000">
                                          <p:val>
                                            <p:strVal val="#ppt_y"/>
                                          </p:val>
                                        </p:tav>
                                      </p:tavLst>
                                    </p:anim>
                                  </p:childTnLst>
                                </p:cTn>
                              </p:par>
                            </p:childTnLst>
                          </p:cTn>
                        </p:par>
                        <p:par>
                          <p:cTn id="57" fill="hold">
                            <p:stCondLst>
                              <p:cond delay="950"/>
                            </p:stCondLst>
                            <p:childTnLst>
                              <p:par>
                                <p:cTn id="58" presetID="22" presetClass="entr" presetSubtype="8" fill="hold" grpId="0" nodeType="afterEffect">
                                  <p:stCondLst>
                                    <p:cond delay="0"/>
                                  </p:stCondLst>
                                  <p:childTnLst>
                                    <p:set>
                                      <p:cBhvr>
                                        <p:cTn id="59" dur="1" fill="hold">
                                          <p:stCondLst>
                                            <p:cond delay="0"/>
                                          </p:stCondLst>
                                        </p:cTn>
                                        <p:tgtEl>
                                          <p:spTgt spid="6"/>
                                        </p:tgtEl>
                                        <p:attrNameLst>
                                          <p:attrName>style.visibility</p:attrName>
                                        </p:attrNameLst>
                                      </p:cBhvr>
                                      <p:to>
                                        <p:strVal val="visible"/>
                                      </p:to>
                                    </p:set>
                                    <p:animEffect transition="in" filter="wipe(left)">
                                      <p:cBhvr>
                                        <p:cTn id="61" dur="800"/>
                                        <p:tgtEl>
                                          <p:spTgt spid="6"/>
                                        </p:tgtEl>
                                      </p:cBhvr>
                                    </p:animEffect>
                                  </p:childTnLst>
                                </p:cTn>
                              </p:par>
                            </p:childTnLst>
                          </p:cTn>
                        </p:par>
                        <p:par>
                          <p:cTn id="62" fill="hold">
                            <p:stCondLst>
                              <p:cond delay="1100"/>
                            </p:stCondLst>
                            <p:childTnLst>
                              <p:par>
                                <p:cTn id="63" presetID="10" presetClass="entr" presetSubtype="0" fill="hold" grpId="0" nodeType="afterEffect">
                                  <p:stCondLst>
                                    <p:cond delay="0"/>
                                  </p:stCondLst>
                                  <p:childTnLst>
                                    <p:set>
                                      <p:cBhvr>
                                        <p:cTn id="64" dur="1" fill="hold">
                                          <p:stCondLst>
                                            <p:cond delay="0"/>
                                          </p:stCondLst>
                                        </p:cTn>
                                        <p:tgtEl>
                                          <p:spTgt spid="10"/>
                                        </p:tgtEl>
                                        <p:attrNameLst>
                                          <p:attrName>style.visibility</p:attrName>
                                        </p:attrNameLst>
                                      </p:cBhvr>
                                      <p:to>
                                        <p:strVal val="visible"/>
                                      </p:to>
                                    </p:set>
                                    <p:animEffect transition="in" filter="fade">
                                      <p:cBhvr>
                                        <p:cTn id="65" dur="55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14" grpId="0" animBg="1"/>
      <p:bldP spid="12" grpId="0" animBg="1"/>
      <p:bldP spid="13" grpId="0" animBg="1"/>
      <p:bldP spid="7" grpId="0" animBg="1"/>
      <p:bldP spid="8" grpId="0" animBg="1"/>
      <p:bldP spid="9" grpId="0" animBg="1"/>
      <p:bldP spid="6" grpId="0" animBg="1"/>
      <p:bldP spid="10" grpId="0" animBg="1"/>
    </p:bldLst>
  </p:timing>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LABORATORIYA REJASI</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Reja</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A1 · Sun'iy intellektga asoslangan kompyuter tizimlari arxitekturasini tahlil qilish va loyihalash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a:t>
            </a:r>
          </a:p>
        </p:txBody>
      </p:sp>
      <p:sp>
        <p:nvSpPr>
          <p:cNvPr id="10" name="Rounded Rectangle 9"/>
          <p:cNvSpPr/>
          <p:nvPr/>
        </p:nvSpPr>
        <p:spPr>
          <a:xfrm>
            <a:off x="550000" y="1940000"/>
            <a:ext cx="11100000" cy="52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940000"/>
            <a:ext cx="70000" cy="52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80000" y="2010000"/>
            <a:ext cx="380000" cy="38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1</a:t>
            </a:r>
          </a:p>
        </p:txBody>
      </p:sp>
      <p:sp>
        <p:nvSpPr>
          <p:cNvPr id="13" name="TextBox 12"/>
          <p:cNvSpPr txBox="1"/>
          <p:nvPr/>
        </p:nvSpPr>
        <p:spPr>
          <a:xfrm>
            <a:off x="1380000" y="1980000"/>
            <a:ext cx="10150000" cy="440000"/>
          </a:xfrm>
          <a:prstGeom prst="rect">
            <a:avLst/>
          </a:prstGeom>
          <a:noFill/>
        </p:spPr>
        <p:txBody>
          <a:bodyPr wrap="square" anchor="ctr">
            <a:spAutoFit/>
          </a:bodyPr>
          <a:lstStyle/>
          <a:p>
            <a:r>
              <a:rPr sz="1600" b="0">
                <a:solidFill>
                  <a:srgbClr val="1B2430"/>
                </a:solidFill>
                <a:latin typeface="Calibri"/>
              </a:rPr>
              <a:t>Mavzuning maqsadi va o'rganish natijalari</a:t>
            </a:r>
          </a:p>
        </p:txBody>
      </p:sp>
      <p:sp>
        <p:nvSpPr>
          <p:cNvPr id="14" name="Rounded Rectangle 13"/>
          <p:cNvSpPr/>
          <p:nvPr/>
        </p:nvSpPr>
        <p:spPr>
          <a:xfrm>
            <a:off x="550000" y="2570000"/>
            <a:ext cx="11100000" cy="52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2570000"/>
            <a:ext cx="70000" cy="52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80000" y="2640000"/>
            <a:ext cx="380000" cy="38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2</a:t>
            </a:r>
          </a:p>
        </p:txBody>
      </p:sp>
      <p:sp>
        <p:nvSpPr>
          <p:cNvPr id="17" name="TextBox 16"/>
          <p:cNvSpPr txBox="1"/>
          <p:nvPr/>
        </p:nvSpPr>
        <p:spPr>
          <a:xfrm>
            <a:off x="1380000" y="2610000"/>
            <a:ext cx="10150000" cy="440000"/>
          </a:xfrm>
          <a:prstGeom prst="rect">
            <a:avLst/>
          </a:prstGeom>
          <a:noFill/>
        </p:spPr>
        <p:txBody>
          <a:bodyPr wrap="square" anchor="ctr">
            <a:spAutoFit/>
          </a:bodyPr>
          <a:lstStyle/>
          <a:p>
            <a:r>
              <a:rPr sz="1600" b="0">
                <a:solidFill>
                  <a:srgbClr val="1B2430"/>
                </a:solidFill>
                <a:latin typeface="Calibri"/>
              </a:rPr>
              <a:t>Kirish</a:t>
            </a:r>
          </a:p>
        </p:txBody>
      </p:sp>
      <p:sp>
        <p:nvSpPr>
          <p:cNvPr id="18" name="Rounded Rectangle 17"/>
          <p:cNvSpPr/>
          <p:nvPr/>
        </p:nvSpPr>
        <p:spPr>
          <a:xfrm>
            <a:off x="550000" y="3200000"/>
            <a:ext cx="11100000" cy="52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3200000"/>
            <a:ext cx="70000" cy="520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80000" y="3270000"/>
            <a:ext cx="380000" cy="38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3</a:t>
            </a:r>
          </a:p>
        </p:txBody>
      </p:sp>
      <p:sp>
        <p:nvSpPr>
          <p:cNvPr id="21" name="TextBox 20"/>
          <p:cNvSpPr txBox="1"/>
          <p:nvPr/>
        </p:nvSpPr>
        <p:spPr>
          <a:xfrm>
            <a:off x="1380000" y="3240000"/>
            <a:ext cx="10150000" cy="440000"/>
          </a:xfrm>
          <a:prstGeom prst="rect">
            <a:avLst/>
          </a:prstGeom>
          <a:noFill/>
        </p:spPr>
        <p:txBody>
          <a:bodyPr wrap="square" anchor="ctr">
            <a:spAutoFit/>
          </a:bodyPr>
          <a:lstStyle/>
          <a:p>
            <a:r>
              <a:rPr sz="1600" b="0">
                <a:solidFill>
                  <a:srgbClr val="1B2430"/>
                </a:solidFill>
                <a:latin typeface="Calibri"/>
              </a:rPr>
              <a:t>Nazariy asoslar</a:t>
            </a:r>
          </a:p>
        </p:txBody>
      </p:sp>
      <p:sp>
        <p:nvSpPr>
          <p:cNvPr id="22" name="Rounded Rectangle 21"/>
          <p:cNvSpPr/>
          <p:nvPr/>
        </p:nvSpPr>
        <p:spPr>
          <a:xfrm>
            <a:off x="550000" y="3830000"/>
            <a:ext cx="11100000" cy="52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0000" y="3830000"/>
            <a:ext cx="70000" cy="5200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80000" y="3900000"/>
            <a:ext cx="380000" cy="38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4</a:t>
            </a:r>
          </a:p>
        </p:txBody>
      </p:sp>
      <p:sp>
        <p:nvSpPr>
          <p:cNvPr id="25" name="TextBox 24"/>
          <p:cNvSpPr txBox="1"/>
          <p:nvPr/>
        </p:nvSpPr>
        <p:spPr>
          <a:xfrm>
            <a:off x="1380000" y="3870000"/>
            <a:ext cx="10150000" cy="440000"/>
          </a:xfrm>
          <a:prstGeom prst="rect">
            <a:avLst/>
          </a:prstGeom>
          <a:noFill/>
        </p:spPr>
        <p:txBody>
          <a:bodyPr wrap="square" anchor="ctr">
            <a:spAutoFit/>
          </a:bodyPr>
          <a:lstStyle/>
          <a:p>
            <a:r>
              <a:rPr sz="1600" b="0">
                <a:solidFill>
                  <a:srgbClr val="1B2430"/>
                </a:solidFill>
                <a:latin typeface="Calibri"/>
              </a:rPr>
              <a:t>Amaliy misol</a:t>
            </a:r>
          </a:p>
        </p:txBody>
      </p:sp>
      <p:sp>
        <p:nvSpPr>
          <p:cNvPr id="26" name="Rounded Rectangle 25"/>
          <p:cNvSpPr/>
          <p:nvPr/>
        </p:nvSpPr>
        <p:spPr>
          <a:xfrm>
            <a:off x="550000" y="4460000"/>
            <a:ext cx="11100000" cy="52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50000" y="4460000"/>
            <a:ext cx="70000" cy="520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80000" y="4530000"/>
            <a:ext cx="380000" cy="3800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5</a:t>
            </a:r>
          </a:p>
        </p:txBody>
      </p:sp>
      <p:sp>
        <p:nvSpPr>
          <p:cNvPr id="29" name="TextBox 28"/>
          <p:cNvSpPr txBox="1"/>
          <p:nvPr/>
        </p:nvSpPr>
        <p:spPr>
          <a:xfrm>
            <a:off x="1380000" y="4500000"/>
            <a:ext cx="10150000" cy="440000"/>
          </a:xfrm>
          <a:prstGeom prst="rect">
            <a:avLst/>
          </a:prstGeom>
          <a:noFill/>
        </p:spPr>
        <p:txBody>
          <a:bodyPr wrap="square" anchor="ctr">
            <a:spAutoFit/>
          </a:bodyPr>
          <a:lstStyle/>
          <a:p>
            <a:r>
              <a:rPr sz="1600" b="0">
                <a:solidFill>
                  <a:srgbClr val="1B2430"/>
                </a:solidFill>
                <a:latin typeface="Calibri"/>
              </a:rPr>
              <a:t>Natijalarni tahlil qilish</a:t>
            </a:r>
          </a:p>
        </p:txBody>
      </p:sp>
      <p:sp>
        <p:nvSpPr>
          <p:cNvPr id="30" name="Rounded Rectangle 29"/>
          <p:cNvSpPr/>
          <p:nvPr/>
        </p:nvSpPr>
        <p:spPr>
          <a:xfrm>
            <a:off x="550000" y="5090000"/>
            <a:ext cx="11100000" cy="52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50000" y="5090000"/>
            <a:ext cx="70000" cy="52000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780000" y="5160000"/>
            <a:ext cx="380000" cy="380000"/>
          </a:xfrm>
          <a:prstGeom prst="ellipse">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6</a:t>
            </a:r>
          </a:p>
        </p:txBody>
      </p:sp>
      <p:sp>
        <p:nvSpPr>
          <p:cNvPr id="33" name="TextBox 32"/>
          <p:cNvSpPr txBox="1"/>
          <p:nvPr/>
        </p:nvSpPr>
        <p:spPr>
          <a:xfrm>
            <a:off x="1380000" y="5130000"/>
            <a:ext cx="10150000" cy="440000"/>
          </a:xfrm>
          <a:prstGeom prst="rect">
            <a:avLst/>
          </a:prstGeom>
          <a:noFill/>
        </p:spPr>
        <p:txBody>
          <a:bodyPr wrap="square" anchor="ctr">
            <a:spAutoFit/>
          </a:bodyPr>
          <a:lstStyle/>
          <a:p>
            <a:r>
              <a:rPr sz="1600" b="0">
                <a:solidFill>
                  <a:srgbClr val="1B2430"/>
                </a:solidFill>
                <a:latin typeface="Calibri"/>
              </a:rPr>
              <a:t>Keng tarqalgan xatolar va amaliy tavsiyalar</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51"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anim calcmode="lin" valueType="num">
                                      <p:cBhvr additive="base">
                                        <p:cTn id="83" dur="550" fill="hold"/>
                                        <p:tgtEl>
                                          <p:spTgt spid="22"/>
                                        </p:tgtEl>
                                        <p:attrNameLst>
                                          <p:attrName>ppt_x</p:attrName>
                                        </p:attrNameLst>
                                      </p:cBhvr>
                                      <p:tavLst>
                                        <p:tav tm="0">
                                          <p:val>
                                            <p:strVal val="#ppt_x"/>
                                          </p:val>
                                        </p:tav>
                                        <p:tav tm="100000">
                                          <p:val>
                                            <p:strVal val="#ppt_x"/>
                                          </p:val>
                                        </p:tav>
                                      </p:tavLst>
                                    </p:anim>
                                    <p:anim calcmode="lin" valueType="num">
                                      <p:cBhvr additive="base">
                                        <p:cTn id="84" dur="550" fill="hold"/>
                                        <p:tgtEl>
                                          <p:spTgt spid="22"/>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3"/>
                                        </p:tgtEl>
                                        <p:attrNameLst>
                                          <p:attrName>style.visibility</p:attrName>
                                        </p:attrNameLst>
                                      </p:cBhvr>
                                      <p:to>
                                        <p:strVal val="visible"/>
                                      </p:to>
                                    </p:set>
                                    <p:animEffect transition="in" filter="fade">
                                      <p:cBhvr>
                                        <p:cTn id="88" dur="550"/>
                                        <p:tgtEl>
                                          <p:spTgt spid="23"/>
                                        </p:tgtEl>
                                      </p:cBhvr>
                                    </p:animEffect>
                                    <p:anim calcmode="lin" valueType="num">
                                      <p:cBhvr additive="base">
                                        <p:cTn id="89" dur="550" fill="hold"/>
                                        <p:tgtEl>
                                          <p:spTgt spid="23"/>
                                        </p:tgtEl>
                                        <p:attrNameLst>
                                          <p:attrName>ppt_x</p:attrName>
                                        </p:attrNameLst>
                                      </p:cBhvr>
                                      <p:tavLst>
                                        <p:tav tm="0">
                                          <p:val>
                                            <p:strVal val="#ppt_x"/>
                                          </p:val>
                                        </p:tav>
                                        <p:tav tm="100000">
                                          <p:val>
                                            <p:strVal val="#ppt_x"/>
                                          </p:val>
                                        </p:tav>
                                      </p:tavLst>
                                    </p:anim>
                                    <p:anim calcmode="lin" valueType="num">
                                      <p:cBhvr additive="base">
                                        <p:cTn id="90" dur="550" fill="hold"/>
                                        <p:tgtEl>
                                          <p:spTgt spid="23"/>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4"/>
                                        </p:tgtEl>
                                        <p:attrNameLst>
                                          <p:attrName>style.visibility</p:attrName>
                                        </p:attrNameLst>
                                      </p:cBhvr>
                                      <p:to>
                                        <p:strVal val="visible"/>
                                      </p:to>
                                    </p:set>
                                    <p:animEffect transition="in" filter="fade">
                                      <p:cBhvr>
                                        <p:cTn id="94" dur="550"/>
                                        <p:tgtEl>
                                          <p:spTgt spid="24"/>
                                        </p:tgtEl>
                                      </p:cBhvr>
                                    </p:animEffect>
                                    <p:anim calcmode="lin" valueType="num">
                                      <p:cBhvr additive="base">
                                        <p:cTn id="95" dur="550" fill="hold"/>
                                        <p:tgtEl>
                                          <p:spTgt spid="24"/>
                                        </p:tgtEl>
                                        <p:attrNameLst>
                                          <p:attrName>ppt_w</p:attrName>
                                        </p:attrNameLst>
                                      </p:cBhvr>
                                      <p:tavLst>
                                        <p:tav tm="0">
                                          <p:val>
                                            <p:strVal val="0"/>
                                          </p:val>
                                        </p:tav>
                                        <p:tav tm="100000">
                                          <p:val>
                                            <p:strVal val="#ppt_w"/>
                                          </p:val>
                                        </p:tav>
                                      </p:tavLst>
                                    </p:anim>
                                    <p:anim calcmode="lin" valueType="num">
                                      <p:cBhvr additive="base">
                                        <p:cTn id="96" dur="550" fill="hold"/>
                                        <p:tgtEl>
                                          <p:spTgt spid="24"/>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5"/>
                                        </p:tgtEl>
                                        <p:attrNameLst>
                                          <p:attrName>style.visibility</p:attrName>
                                        </p:attrNameLst>
                                      </p:cBhvr>
                                      <p:to>
                                        <p:strVal val="visible"/>
                                      </p:to>
                                    </p:set>
                                    <p:animEffect transition="in" filter="fade">
                                      <p:cBhvr>
                                        <p:cTn id="100" dur="550"/>
                                        <p:tgtEl>
                                          <p:spTgt spid="25"/>
                                        </p:tgtEl>
                                      </p:cBhvr>
                                    </p:animEffect>
                                    <p:anim calcmode="lin" valueType="num">
                                      <p:cBhvr additive="base">
                                        <p:cTn id="101" dur="550" fill="hold"/>
                                        <p:tgtEl>
                                          <p:spTgt spid="25"/>
                                        </p:tgtEl>
                                        <p:attrNameLst>
                                          <p:attrName>ppt_x</p:attrName>
                                        </p:attrNameLst>
                                      </p:cBhvr>
                                      <p:tavLst>
                                        <p:tav tm="0">
                                          <p:val>
                                            <p:strVal val="#ppt_x"/>
                                          </p:val>
                                        </p:tav>
                                        <p:tav tm="100000">
                                          <p:val>
                                            <p:strVal val="#ppt_x"/>
                                          </p:val>
                                        </p:tav>
                                      </p:tavLst>
                                    </p:anim>
                                    <p:anim calcmode="lin" valueType="num">
                                      <p:cBhvr additive="base">
                                        <p:cTn id="102" dur="550" fill="hold"/>
                                        <p:tgtEl>
                                          <p:spTgt spid="25"/>
                                        </p:tgtEl>
                                        <p:attrNameLst>
                                          <p:attrName>ppt_y</p:attrName>
                                        </p:attrNameLst>
                                      </p:cBhvr>
                                      <p:tavLst>
                                        <p:tav tm="0">
                                          <p:val>
                                            <p:strVal val="#ppt_y+.08"/>
                                          </p:val>
                                        </p:tav>
                                        <p:tav tm="100000">
                                          <p:val>
                                            <p:strVal val="#ppt_y"/>
                                          </p:val>
                                        </p:tav>
                                      </p:tavLst>
                                    </p:anim>
                                  </p:childTnLst>
                                </p:cTn>
                              </p:par>
                            </p:childTnLst>
                          </p:cTn>
                        </p:par>
                        <p:par>
                          <p:cTn id="103" fill="hold">
                            <p:stCondLst>
                              <p:cond delay="1100"/>
                            </p:stCondLst>
                            <p:childTnLst>
                              <p:par>
                                <p:cTn id="104" presetID="42" presetClass="entr" presetSubtype="0" fill="hold" grpId="0" nodeType="afterEffect">
                                  <p:stCondLst>
                                    <p:cond delay="0"/>
                                  </p:stCondLst>
                                  <p:childTnLst>
                                    <p:set>
                                      <p:cBhvr>
                                        <p:cTn id="105" dur="1" fill="hold">
                                          <p:stCondLst>
                                            <p:cond delay="0"/>
                                          </p:stCondLst>
                                        </p:cTn>
                                        <p:tgtEl>
                                          <p:spTgt spid="26"/>
                                        </p:tgtEl>
                                        <p:attrNameLst>
                                          <p:attrName>style.visibility</p:attrName>
                                        </p:attrNameLst>
                                      </p:cBhvr>
                                      <p:to>
                                        <p:strVal val="visible"/>
                                      </p:to>
                                    </p:set>
                                    <p:animEffect transition="in" filter="fade">
                                      <p:cBhvr>
                                        <p:cTn id="106" dur="550"/>
                                        <p:tgtEl>
                                          <p:spTgt spid="26"/>
                                        </p:tgtEl>
                                      </p:cBhvr>
                                    </p:animEffect>
                                    <p:anim calcmode="lin" valueType="num">
                                      <p:cBhvr additive="base">
                                        <p:cTn id="107" dur="550" fill="hold"/>
                                        <p:tgtEl>
                                          <p:spTgt spid="26"/>
                                        </p:tgtEl>
                                        <p:attrNameLst>
                                          <p:attrName>ppt_x</p:attrName>
                                        </p:attrNameLst>
                                      </p:cBhvr>
                                      <p:tavLst>
                                        <p:tav tm="0">
                                          <p:val>
                                            <p:strVal val="#ppt_x"/>
                                          </p:val>
                                        </p:tav>
                                        <p:tav tm="100000">
                                          <p:val>
                                            <p:strVal val="#ppt_x"/>
                                          </p:val>
                                        </p:tav>
                                      </p:tavLst>
                                    </p:anim>
                                    <p:anim calcmode="lin" valueType="num">
                                      <p:cBhvr additive="base">
                                        <p:cTn id="108" dur="550" fill="hold"/>
                                        <p:tgtEl>
                                          <p:spTgt spid="26"/>
                                        </p:tgtEl>
                                        <p:attrNameLst>
                                          <p:attrName>ppt_y</p:attrName>
                                        </p:attrNameLst>
                                      </p:cBhvr>
                                      <p:tavLst>
                                        <p:tav tm="0">
                                          <p:val>
                                            <p:strVal val="#ppt_y+.08"/>
                                          </p:val>
                                        </p:tav>
                                        <p:tav tm="100000">
                                          <p:val>
                                            <p:strVal val="#ppt_y"/>
                                          </p:val>
                                        </p:tav>
                                      </p:tavLst>
                                    </p:anim>
                                  </p:childTnLst>
                                </p:cTn>
                              </p:par>
                            </p:childTnLst>
                          </p:cTn>
                        </p:par>
                        <p:par>
                          <p:cTn id="109" fill="hold">
                            <p:stCondLst>
                              <p:cond delay="1100"/>
                            </p:stCondLst>
                            <p:childTnLst>
                              <p:par>
                                <p:cTn id="110" presetID="42" presetClass="entr" presetSubtype="0" fill="hold" grpId="0" nodeType="afterEffect">
                                  <p:stCondLst>
                                    <p:cond delay="0"/>
                                  </p:stCondLst>
                                  <p:childTnLst>
                                    <p:set>
                                      <p:cBhvr>
                                        <p:cTn id="111" dur="1" fill="hold">
                                          <p:stCondLst>
                                            <p:cond delay="0"/>
                                          </p:stCondLst>
                                        </p:cTn>
                                        <p:tgtEl>
                                          <p:spTgt spid="27"/>
                                        </p:tgtEl>
                                        <p:attrNameLst>
                                          <p:attrName>style.visibility</p:attrName>
                                        </p:attrNameLst>
                                      </p:cBhvr>
                                      <p:to>
                                        <p:strVal val="visible"/>
                                      </p:to>
                                    </p:set>
                                    <p:animEffect transition="in" filter="fade">
                                      <p:cBhvr>
                                        <p:cTn id="112" dur="550"/>
                                        <p:tgtEl>
                                          <p:spTgt spid="27"/>
                                        </p:tgtEl>
                                      </p:cBhvr>
                                    </p:animEffect>
                                    <p:anim calcmode="lin" valueType="num">
                                      <p:cBhvr additive="base">
                                        <p:cTn id="113" dur="550" fill="hold"/>
                                        <p:tgtEl>
                                          <p:spTgt spid="27"/>
                                        </p:tgtEl>
                                        <p:attrNameLst>
                                          <p:attrName>ppt_x</p:attrName>
                                        </p:attrNameLst>
                                      </p:cBhvr>
                                      <p:tavLst>
                                        <p:tav tm="0">
                                          <p:val>
                                            <p:strVal val="#ppt_x"/>
                                          </p:val>
                                        </p:tav>
                                        <p:tav tm="100000">
                                          <p:val>
                                            <p:strVal val="#ppt_x"/>
                                          </p:val>
                                        </p:tav>
                                      </p:tavLst>
                                    </p:anim>
                                    <p:anim calcmode="lin" valueType="num">
                                      <p:cBhvr additive="base">
                                        <p:cTn id="114" dur="550" fill="hold"/>
                                        <p:tgtEl>
                                          <p:spTgt spid="27"/>
                                        </p:tgtEl>
                                        <p:attrNameLst>
                                          <p:attrName>ppt_y</p:attrName>
                                        </p:attrNameLst>
                                      </p:cBhvr>
                                      <p:tavLst>
                                        <p:tav tm="0">
                                          <p:val>
                                            <p:strVal val="#ppt_y+.08"/>
                                          </p:val>
                                        </p:tav>
                                        <p:tav tm="100000">
                                          <p:val>
                                            <p:strVal val="#ppt_y"/>
                                          </p:val>
                                        </p:tav>
                                      </p:tavLst>
                                    </p:anim>
                                  </p:childTnLst>
                                </p:cTn>
                              </p:par>
                            </p:childTnLst>
                          </p:cTn>
                        </p:par>
                        <p:par>
                          <p:cTn id="115" fill="hold">
                            <p:stCondLst>
                              <p:cond delay="1100"/>
                            </p:stCondLst>
                            <p:childTnLst>
                              <p:par>
                                <p:cTn id="116" presetID="53" presetClass="entr" presetSubtype="16" fill="hold" grpId="0" nodeType="afterEffect">
                                  <p:stCondLst>
                                    <p:cond delay="0"/>
                                  </p:stCondLst>
                                  <p:childTnLst>
                                    <p:set>
                                      <p:cBhvr>
                                        <p:cTn id="117" dur="1" fill="hold">
                                          <p:stCondLst>
                                            <p:cond delay="0"/>
                                          </p:stCondLst>
                                        </p:cTn>
                                        <p:tgtEl>
                                          <p:spTgt spid="28"/>
                                        </p:tgtEl>
                                        <p:attrNameLst>
                                          <p:attrName>style.visibility</p:attrName>
                                        </p:attrNameLst>
                                      </p:cBhvr>
                                      <p:to>
                                        <p:strVal val="visible"/>
                                      </p:to>
                                    </p:set>
                                    <p:animEffect transition="in" filter="fade">
                                      <p:cBhvr>
                                        <p:cTn id="118" dur="550"/>
                                        <p:tgtEl>
                                          <p:spTgt spid="28"/>
                                        </p:tgtEl>
                                      </p:cBhvr>
                                    </p:animEffect>
                                    <p:anim calcmode="lin" valueType="num">
                                      <p:cBhvr additive="base">
                                        <p:cTn id="119" dur="550" fill="hold"/>
                                        <p:tgtEl>
                                          <p:spTgt spid="28"/>
                                        </p:tgtEl>
                                        <p:attrNameLst>
                                          <p:attrName>ppt_w</p:attrName>
                                        </p:attrNameLst>
                                      </p:cBhvr>
                                      <p:tavLst>
                                        <p:tav tm="0">
                                          <p:val>
                                            <p:strVal val="0"/>
                                          </p:val>
                                        </p:tav>
                                        <p:tav tm="100000">
                                          <p:val>
                                            <p:strVal val="#ppt_w"/>
                                          </p:val>
                                        </p:tav>
                                      </p:tavLst>
                                    </p:anim>
                                    <p:anim calcmode="lin" valueType="num">
                                      <p:cBhvr additive="base">
                                        <p:cTn id="120" dur="550" fill="hold"/>
                                        <p:tgtEl>
                                          <p:spTgt spid="28"/>
                                        </p:tgtEl>
                                        <p:attrNameLst>
                                          <p:attrName>ppt_h</p:attrName>
                                        </p:attrNameLst>
                                      </p:cBhvr>
                                      <p:tavLst>
                                        <p:tav tm="0">
                                          <p:val>
                                            <p:strVal val="0"/>
                                          </p:val>
                                        </p:tav>
                                        <p:tav tm="100000">
                                          <p:val>
                                            <p:strVal val="#ppt_h"/>
                                          </p:val>
                                        </p:tav>
                                      </p:tavLst>
                                    </p:anim>
                                  </p:childTnLst>
                                </p:cTn>
                              </p:par>
                            </p:childTnLst>
                          </p:cTn>
                        </p:par>
                        <p:par>
                          <p:cTn id="121" fill="hold">
                            <p:stCondLst>
                              <p:cond delay="1100"/>
                            </p:stCondLst>
                            <p:childTnLst>
                              <p:par>
                                <p:cTn id="122" presetID="42" presetClass="entr" presetSubtype="0" fill="hold" grpId="0" nodeType="afterEffect">
                                  <p:stCondLst>
                                    <p:cond delay="0"/>
                                  </p:stCondLst>
                                  <p:childTnLst>
                                    <p:set>
                                      <p:cBhvr>
                                        <p:cTn id="123" dur="1" fill="hold">
                                          <p:stCondLst>
                                            <p:cond delay="0"/>
                                          </p:stCondLst>
                                        </p:cTn>
                                        <p:tgtEl>
                                          <p:spTgt spid="29"/>
                                        </p:tgtEl>
                                        <p:attrNameLst>
                                          <p:attrName>style.visibility</p:attrName>
                                        </p:attrNameLst>
                                      </p:cBhvr>
                                      <p:to>
                                        <p:strVal val="visible"/>
                                      </p:to>
                                    </p:set>
                                    <p:animEffect transition="in" filter="fade">
                                      <p:cBhvr>
                                        <p:cTn id="124" dur="550"/>
                                        <p:tgtEl>
                                          <p:spTgt spid="29"/>
                                        </p:tgtEl>
                                      </p:cBhvr>
                                    </p:animEffect>
                                    <p:anim calcmode="lin" valueType="num">
                                      <p:cBhvr additive="base">
                                        <p:cTn id="125" dur="550" fill="hold"/>
                                        <p:tgtEl>
                                          <p:spTgt spid="29"/>
                                        </p:tgtEl>
                                        <p:attrNameLst>
                                          <p:attrName>ppt_x</p:attrName>
                                        </p:attrNameLst>
                                      </p:cBhvr>
                                      <p:tavLst>
                                        <p:tav tm="0">
                                          <p:val>
                                            <p:strVal val="#ppt_x"/>
                                          </p:val>
                                        </p:tav>
                                        <p:tav tm="100000">
                                          <p:val>
                                            <p:strVal val="#ppt_x"/>
                                          </p:val>
                                        </p:tav>
                                      </p:tavLst>
                                    </p:anim>
                                    <p:anim calcmode="lin" valueType="num">
                                      <p:cBhvr additive="base">
                                        <p:cTn id="126" dur="550" fill="hold"/>
                                        <p:tgtEl>
                                          <p:spTgt spid="29"/>
                                        </p:tgtEl>
                                        <p:attrNameLst>
                                          <p:attrName>ppt_y</p:attrName>
                                        </p:attrNameLst>
                                      </p:cBhvr>
                                      <p:tavLst>
                                        <p:tav tm="0">
                                          <p:val>
                                            <p:strVal val="#ppt_y+.08"/>
                                          </p:val>
                                        </p:tav>
                                        <p:tav tm="100000">
                                          <p:val>
                                            <p:strVal val="#ppt_y"/>
                                          </p:val>
                                        </p:tav>
                                      </p:tavLst>
                                    </p:anim>
                                  </p:childTnLst>
                                </p:cTn>
                              </p:par>
                            </p:childTnLst>
                          </p:cTn>
                        </p:par>
                        <p:par>
                          <p:cTn id="127" fill="hold">
                            <p:stCondLst>
                              <p:cond delay="1320"/>
                            </p:stCondLst>
                            <p:childTnLst>
                              <p:par>
                                <p:cTn id="128" presetID="42" presetClass="entr" presetSubtype="0" fill="hold" grpId="0" nodeType="afterEffect">
                                  <p:stCondLst>
                                    <p:cond delay="0"/>
                                  </p:stCondLst>
                                  <p:childTnLst>
                                    <p:set>
                                      <p:cBhvr>
                                        <p:cTn id="129" dur="1" fill="hold">
                                          <p:stCondLst>
                                            <p:cond delay="0"/>
                                          </p:stCondLst>
                                        </p:cTn>
                                        <p:tgtEl>
                                          <p:spTgt spid="30"/>
                                        </p:tgtEl>
                                        <p:attrNameLst>
                                          <p:attrName>style.visibility</p:attrName>
                                        </p:attrNameLst>
                                      </p:cBhvr>
                                      <p:to>
                                        <p:strVal val="visible"/>
                                      </p:to>
                                    </p:set>
                                    <p:animEffect transition="in" filter="fade">
                                      <p:cBhvr>
                                        <p:cTn id="130" dur="550"/>
                                        <p:tgtEl>
                                          <p:spTgt spid="30"/>
                                        </p:tgtEl>
                                      </p:cBhvr>
                                    </p:animEffect>
                                    <p:anim calcmode="lin" valueType="num">
                                      <p:cBhvr additive="base">
                                        <p:cTn id="131" dur="550" fill="hold"/>
                                        <p:tgtEl>
                                          <p:spTgt spid="30"/>
                                        </p:tgtEl>
                                        <p:attrNameLst>
                                          <p:attrName>ppt_x</p:attrName>
                                        </p:attrNameLst>
                                      </p:cBhvr>
                                      <p:tavLst>
                                        <p:tav tm="0">
                                          <p:val>
                                            <p:strVal val="#ppt_x"/>
                                          </p:val>
                                        </p:tav>
                                        <p:tav tm="100000">
                                          <p:val>
                                            <p:strVal val="#ppt_x"/>
                                          </p:val>
                                        </p:tav>
                                      </p:tavLst>
                                    </p:anim>
                                    <p:anim calcmode="lin" valueType="num">
                                      <p:cBhvr additive="base">
                                        <p:cTn id="132" dur="550" fill="hold"/>
                                        <p:tgtEl>
                                          <p:spTgt spid="30"/>
                                        </p:tgtEl>
                                        <p:attrNameLst>
                                          <p:attrName>ppt_y</p:attrName>
                                        </p:attrNameLst>
                                      </p:cBhvr>
                                      <p:tavLst>
                                        <p:tav tm="0">
                                          <p:val>
                                            <p:strVal val="#ppt_y+.08"/>
                                          </p:val>
                                        </p:tav>
                                        <p:tav tm="100000">
                                          <p:val>
                                            <p:strVal val="#ppt_y"/>
                                          </p:val>
                                        </p:tav>
                                      </p:tavLst>
                                    </p:anim>
                                  </p:childTnLst>
                                </p:cTn>
                              </p:par>
                            </p:childTnLst>
                          </p:cTn>
                        </p:par>
                        <p:par>
                          <p:cTn id="133" fill="hold">
                            <p:stCondLst>
                              <p:cond delay="1320"/>
                            </p:stCondLst>
                            <p:childTnLst>
                              <p:par>
                                <p:cTn id="134" presetID="42" presetClass="entr" presetSubtype="0" fill="hold" grpId="0" nodeType="afterEffect">
                                  <p:stCondLst>
                                    <p:cond delay="0"/>
                                  </p:stCondLst>
                                  <p:childTnLst>
                                    <p:set>
                                      <p:cBhvr>
                                        <p:cTn id="135" dur="1" fill="hold">
                                          <p:stCondLst>
                                            <p:cond delay="0"/>
                                          </p:stCondLst>
                                        </p:cTn>
                                        <p:tgtEl>
                                          <p:spTgt spid="31"/>
                                        </p:tgtEl>
                                        <p:attrNameLst>
                                          <p:attrName>style.visibility</p:attrName>
                                        </p:attrNameLst>
                                      </p:cBhvr>
                                      <p:to>
                                        <p:strVal val="visible"/>
                                      </p:to>
                                    </p:set>
                                    <p:animEffect transition="in" filter="fade">
                                      <p:cBhvr>
                                        <p:cTn id="136" dur="550"/>
                                        <p:tgtEl>
                                          <p:spTgt spid="31"/>
                                        </p:tgtEl>
                                      </p:cBhvr>
                                    </p:animEffect>
                                    <p:anim calcmode="lin" valueType="num">
                                      <p:cBhvr additive="base">
                                        <p:cTn id="137" dur="550" fill="hold"/>
                                        <p:tgtEl>
                                          <p:spTgt spid="31"/>
                                        </p:tgtEl>
                                        <p:attrNameLst>
                                          <p:attrName>ppt_x</p:attrName>
                                        </p:attrNameLst>
                                      </p:cBhvr>
                                      <p:tavLst>
                                        <p:tav tm="0">
                                          <p:val>
                                            <p:strVal val="#ppt_x"/>
                                          </p:val>
                                        </p:tav>
                                        <p:tav tm="100000">
                                          <p:val>
                                            <p:strVal val="#ppt_x"/>
                                          </p:val>
                                        </p:tav>
                                      </p:tavLst>
                                    </p:anim>
                                    <p:anim calcmode="lin" valueType="num">
                                      <p:cBhvr additive="base">
                                        <p:cTn id="138" dur="550" fill="hold"/>
                                        <p:tgtEl>
                                          <p:spTgt spid="31"/>
                                        </p:tgtEl>
                                        <p:attrNameLst>
                                          <p:attrName>ppt_y</p:attrName>
                                        </p:attrNameLst>
                                      </p:cBhvr>
                                      <p:tavLst>
                                        <p:tav tm="0">
                                          <p:val>
                                            <p:strVal val="#ppt_y+.08"/>
                                          </p:val>
                                        </p:tav>
                                        <p:tav tm="100000">
                                          <p:val>
                                            <p:strVal val="#ppt_y"/>
                                          </p:val>
                                        </p:tav>
                                      </p:tavLst>
                                    </p:anim>
                                  </p:childTnLst>
                                </p:cTn>
                              </p:par>
                            </p:childTnLst>
                          </p:cTn>
                        </p:par>
                        <p:par>
                          <p:cTn id="139" fill="hold">
                            <p:stCondLst>
                              <p:cond delay="1320"/>
                            </p:stCondLst>
                            <p:childTnLst>
                              <p:par>
                                <p:cTn id="140" presetID="53" presetClass="entr" presetSubtype="16" fill="hold" grpId="0" nodeType="afterEffect">
                                  <p:stCondLst>
                                    <p:cond delay="0"/>
                                  </p:stCondLst>
                                  <p:childTnLst>
                                    <p:set>
                                      <p:cBhvr>
                                        <p:cTn id="141" dur="1" fill="hold">
                                          <p:stCondLst>
                                            <p:cond delay="0"/>
                                          </p:stCondLst>
                                        </p:cTn>
                                        <p:tgtEl>
                                          <p:spTgt spid="32"/>
                                        </p:tgtEl>
                                        <p:attrNameLst>
                                          <p:attrName>style.visibility</p:attrName>
                                        </p:attrNameLst>
                                      </p:cBhvr>
                                      <p:to>
                                        <p:strVal val="visible"/>
                                      </p:to>
                                    </p:set>
                                    <p:animEffect transition="in" filter="fade">
                                      <p:cBhvr>
                                        <p:cTn id="142" dur="550"/>
                                        <p:tgtEl>
                                          <p:spTgt spid="32"/>
                                        </p:tgtEl>
                                      </p:cBhvr>
                                    </p:animEffect>
                                    <p:anim calcmode="lin" valueType="num">
                                      <p:cBhvr additive="base">
                                        <p:cTn id="143" dur="550" fill="hold"/>
                                        <p:tgtEl>
                                          <p:spTgt spid="32"/>
                                        </p:tgtEl>
                                        <p:attrNameLst>
                                          <p:attrName>ppt_w</p:attrName>
                                        </p:attrNameLst>
                                      </p:cBhvr>
                                      <p:tavLst>
                                        <p:tav tm="0">
                                          <p:val>
                                            <p:strVal val="0"/>
                                          </p:val>
                                        </p:tav>
                                        <p:tav tm="100000">
                                          <p:val>
                                            <p:strVal val="#ppt_w"/>
                                          </p:val>
                                        </p:tav>
                                      </p:tavLst>
                                    </p:anim>
                                    <p:anim calcmode="lin" valueType="num">
                                      <p:cBhvr additive="base">
                                        <p:cTn id="144" dur="550" fill="hold"/>
                                        <p:tgtEl>
                                          <p:spTgt spid="32"/>
                                        </p:tgtEl>
                                        <p:attrNameLst>
                                          <p:attrName>ppt_h</p:attrName>
                                        </p:attrNameLst>
                                      </p:cBhvr>
                                      <p:tavLst>
                                        <p:tav tm="0">
                                          <p:val>
                                            <p:strVal val="0"/>
                                          </p:val>
                                        </p:tav>
                                        <p:tav tm="100000">
                                          <p:val>
                                            <p:strVal val="#ppt_h"/>
                                          </p:val>
                                        </p:tav>
                                      </p:tavLst>
                                    </p:anim>
                                  </p:childTnLst>
                                </p:cTn>
                              </p:par>
                            </p:childTnLst>
                          </p:cTn>
                        </p:par>
                        <p:par>
                          <p:cTn id="145" fill="hold">
                            <p:stCondLst>
                              <p:cond delay="1320"/>
                            </p:stCondLst>
                            <p:childTnLst>
                              <p:par>
                                <p:cTn id="146" presetID="42" presetClass="entr" presetSubtype="0" fill="hold" grpId="0" nodeType="afterEffect">
                                  <p:stCondLst>
                                    <p:cond delay="0"/>
                                  </p:stCondLst>
                                  <p:childTnLst>
                                    <p:set>
                                      <p:cBhvr>
                                        <p:cTn id="147" dur="1" fill="hold">
                                          <p:stCondLst>
                                            <p:cond delay="0"/>
                                          </p:stCondLst>
                                        </p:cTn>
                                        <p:tgtEl>
                                          <p:spTgt spid="33"/>
                                        </p:tgtEl>
                                        <p:attrNameLst>
                                          <p:attrName>style.visibility</p:attrName>
                                        </p:attrNameLst>
                                      </p:cBhvr>
                                      <p:to>
                                        <p:strVal val="visible"/>
                                      </p:to>
                                    </p:set>
                                    <p:animEffect transition="in" filter="fade">
                                      <p:cBhvr>
                                        <p:cTn id="148" dur="550"/>
                                        <p:tgtEl>
                                          <p:spTgt spid="33"/>
                                        </p:tgtEl>
                                      </p:cBhvr>
                                    </p:animEffect>
                                    <p:anim calcmode="lin" valueType="num">
                                      <p:cBhvr additive="base">
                                        <p:cTn id="149" dur="550" fill="hold"/>
                                        <p:tgtEl>
                                          <p:spTgt spid="33"/>
                                        </p:tgtEl>
                                        <p:attrNameLst>
                                          <p:attrName>ppt_x</p:attrName>
                                        </p:attrNameLst>
                                      </p:cBhvr>
                                      <p:tavLst>
                                        <p:tav tm="0">
                                          <p:val>
                                            <p:strVal val="#ppt_x"/>
                                          </p:val>
                                        </p:tav>
                                        <p:tav tm="100000">
                                          <p:val>
                                            <p:strVal val="#ppt_x"/>
                                          </p:val>
                                        </p:tav>
                                      </p:tavLst>
                                    </p:anim>
                                    <p:anim calcmode="lin" valueType="num">
                                      <p:cBhvr additive="base">
                                        <p:cTn id="150" dur="550" fill="hold"/>
                                        <p:tgtEl>
                                          <p:spTgt spid="3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c5a01db9c3f5ef7d.jpg"/>
          <p:cNvPicPr>
            <a:picLocks noChangeAspect="1"/>
          </p:cNvPicPr>
          <p:nvPr/>
        </p:nvPicPr>
        <p:blipFill>
          <a:blip r:embed="rId2"/>
          <a:srcRect l="17782" r="17782"/>
          <a:stretch>
            <a:fillRect/>
          </a:stretch>
        </p:blipFill>
        <p:spPr>
          <a:xfrm>
            <a:off x="6300000" y="0"/>
            <a:ext cx="5892000" cy="6858000"/>
          </a:xfrm>
          <a:prstGeom prst="rect">
            <a:avLst/>
          </a:prstGeom>
        </p:spPr>
      </p:pic>
      <p:sp>
        <p:nvSpPr>
          <p:cNvPr id="4" name="Rectangle 3"/>
          <p:cNvSpPr/>
          <p:nvPr/>
        </p:nvSpPr>
        <p:spPr>
          <a:xfrm>
            <a:off x="6300000" y="6558000"/>
            <a:ext cx="5892000" cy="300000"/>
          </a:xfrm>
          <a:prstGeom prst="rect">
            <a:avLst/>
          </a:prstGeom>
          <a:solidFill>
            <a:srgbClr val="0B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80000" y="6558000"/>
            <a:ext cx="5732000" cy="300000"/>
          </a:xfrm>
          <a:prstGeom prst="rect">
            <a:avLst/>
          </a:prstGeom>
          <a:noFill/>
        </p:spPr>
        <p:txBody>
          <a:bodyPr wrap="square" anchor="ctr" lIns="50800" rIns="50800">
            <a:spAutoFit/>
          </a:bodyPr>
          <a:lstStyle/>
          <a:p>
            <a:pPr algn="l"/>
            <a:r>
              <a:rPr sz="900" b="0">
                <a:solidFill>
                  <a:srgbClr val="D7E3F4"/>
                </a:solidFill>
                <a:latin typeface="Calibri"/>
              </a:rPr>
              <a:t>Rasm: Indrajit Das · Wikimedia Commons · CC BY-SA 3.0</a:t>
            </a:r>
          </a:p>
        </p:txBody>
      </p:sp>
      <p:sp>
        <p:nvSpPr>
          <p:cNvPr id="6" name="Rectangle 5"/>
          <p:cNvSpPr/>
          <p:nvPr/>
        </p:nvSpPr>
        <p:spPr>
          <a:xfrm>
            <a:off x="6240000" y="0"/>
            <a:ext cx="60000" cy="6858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00000" y="900000"/>
            <a:ext cx="2300000" cy="23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0000" y="900000"/>
            <a:ext cx="2300000" cy="2300000"/>
          </a:xfrm>
          <a:prstGeom prst="rect">
            <a:avLst/>
          </a:prstGeom>
          <a:noFill/>
        </p:spPr>
        <p:txBody>
          <a:bodyPr wrap="square" anchor="ctr" lIns="50800" rIns="50800">
            <a:spAutoFit/>
          </a:bodyPr>
          <a:lstStyle/>
          <a:p>
            <a:pPr algn="ctr"/>
            <a:r>
              <a:rPr sz="6400" b="1">
                <a:solidFill>
                  <a:srgbClr val="FFFFFF"/>
                </a:solidFill>
                <a:latin typeface="Calibri"/>
              </a:rPr>
              <a:t>01</a:t>
            </a:r>
          </a:p>
        </p:txBody>
      </p:sp>
      <p:sp>
        <p:nvSpPr>
          <p:cNvPr id="9" name="TextBox 8"/>
          <p:cNvSpPr txBox="1"/>
          <p:nvPr/>
        </p:nvSpPr>
        <p:spPr>
          <a:xfrm>
            <a:off x="800000" y="3500000"/>
            <a:ext cx="5200000" cy="1600000"/>
          </a:xfrm>
          <a:prstGeom prst="rect">
            <a:avLst/>
          </a:prstGeom>
          <a:noFill/>
        </p:spPr>
        <p:txBody>
          <a:bodyPr wrap="square" anchor="t" lIns="50800" rIns="50800">
            <a:spAutoFit/>
          </a:bodyPr>
          <a:lstStyle/>
          <a:p>
            <a:pPr algn="l"/>
            <a:r>
              <a:rPr sz="3000" b="1">
                <a:solidFill>
                  <a:srgbClr val="FFFFFF"/>
                </a:solidFill>
                <a:latin typeface="Calibri"/>
              </a:rPr>
              <a:t>Mavzuning maqsadi va o'rganish natijalari</a:t>
            </a:r>
          </a:p>
        </p:txBody>
      </p:sp>
      <p:sp>
        <p:nvSpPr>
          <p:cNvPr id="10" name="Rectangle 9"/>
          <p:cNvSpPr/>
          <p:nvPr/>
        </p:nvSpPr>
        <p:spPr>
          <a:xfrm>
            <a:off x="850000" y="52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4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wipe(left)">
                                      <p:cBhvr>
                                        <p:cTn id="11" dur="800"/>
                                        <p:tgtEl>
                                          <p:spTgt spid="6"/>
                                        </p:tgtEl>
                                      </p:cBhvr>
                                    </p:animEffect>
                                  </p:childTnLst>
                                </p:cTn>
                              </p:par>
                            </p:childTnLst>
                          </p:cTn>
                        </p:par>
                        <p:par>
                          <p:cTn id="12" fill="hold">
                            <p:stCondLst>
                              <p:cond delay="0"/>
                            </p:stCondLst>
                            <p:childTnLst>
                              <p:par>
                                <p:cTn id="13" presetID="10" presetClass="entr" presetSubtype="0" fill="hold" grpId="0" nodeType="after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50"/>
                                        <p:tgtEl>
                                          <p:spTgt spid="4"/>
                                        </p:tgtEl>
                                      </p:cBhvr>
                                    </p:animEffect>
                                  </p:childTnLst>
                                </p:cTn>
                              </p:par>
                            </p:childTnLst>
                          </p:cTn>
                        </p:par>
                        <p:par>
                          <p:cTn id="16" fill="hold">
                            <p:stCondLst>
                              <p:cond delay="0"/>
                            </p:stCondLst>
                            <p:childTnLst>
                              <p:par>
                                <p:cTn id="17" presetID="10" presetClass="entr" presetSubtype="0" fill="hold" grpId="0" nodeType="after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50"/>
                                        <p:tgtEl>
                                          <p:spTgt spid="5"/>
                                        </p:tgtEl>
                                      </p:cBhvr>
                                    </p:animEffect>
                                  </p:childTnLst>
                                </p:cTn>
                              </p:par>
                            </p:childTnLst>
                          </p:cTn>
                        </p:par>
                        <p:par>
                          <p:cTn id="20" fill="hold">
                            <p:stCondLst>
                              <p:cond delay="200"/>
                            </p:stCondLst>
                            <p:childTnLst>
                              <p:par>
                                <p:cTn id="21" presetID="53" presetClass="entr" presetSubtype="16" fill="hold" grpId="0" nodeType="after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550"/>
                                        <p:tgtEl>
                                          <p:spTgt spid="7"/>
                                        </p:tgtEl>
                                      </p:cBhvr>
                                    </p:animEffect>
                                    <p:anim calcmode="lin" valueType="num">
                                      <p:cBhvr additive="base">
                                        <p:cTn id="24" dur="550" fill="hold"/>
                                        <p:tgtEl>
                                          <p:spTgt spid="7"/>
                                        </p:tgtEl>
                                        <p:attrNameLst>
                                          <p:attrName>ppt_w</p:attrName>
                                        </p:attrNameLst>
                                      </p:cBhvr>
                                      <p:tavLst>
                                        <p:tav tm="0">
                                          <p:val>
                                            <p:strVal val="0"/>
                                          </p:val>
                                        </p:tav>
                                        <p:tav tm="100000">
                                          <p:val>
                                            <p:strVal val="#ppt_w"/>
                                          </p:val>
                                        </p:tav>
                                      </p:tavLst>
                                    </p:anim>
                                    <p:anim calcmode="lin" valueType="num">
                                      <p:cBhvr additive="base">
                                        <p:cTn id="25" dur="550" fill="hold"/>
                                        <p:tgtEl>
                                          <p:spTgt spid="7"/>
                                        </p:tgtEl>
                                        <p:attrNameLst>
                                          <p:attrName>ppt_h</p:attrName>
                                        </p:attrNameLst>
                                      </p:cBhvr>
                                      <p:tavLst>
                                        <p:tav tm="0">
                                          <p:val>
                                            <p:strVal val="0"/>
                                          </p:val>
                                        </p:tav>
                                        <p:tav tm="100000">
                                          <p:val>
                                            <p:strVal val="#ppt_h"/>
                                          </p:val>
                                        </p:tav>
                                      </p:tavLst>
                                    </p:anim>
                                  </p:childTnLst>
                                </p:cTn>
                              </p:par>
                            </p:childTnLst>
                          </p:cTn>
                        </p:par>
                        <p:par>
                          <p:cTn id="26" fill="hold">
                            <p:stCondLst>
                              <p:cond delay="300"/>
                            </p:stCondLst>
                            <p:childTnLst>
                              <p:par>
                                <p:cTn id="27" presetID="53" presetClass="entr" presetSubtype="16" fill="hold" grpId="0" nodeType="after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550"/>
                                        <p:tgtEl>
                                          <p:spTgt spid="8"/>
                                        </p:tgtEl>
                                      </p:cBhvr>
                                    </p:animEffect>
                                    <p:anim calcmode="lin" valueType="num">
                                      <p:cBhvr additive="base">
                                        <p:cTn id="30" dur="550" fill="hold"/>
                                        <p:tgtEl>
                                          <p:spTgt spid="8"/>
                                        </p:tgtEl>
                                        <p:attrNameLst>
                                          <p:attrName>ppt_w</p:attrName>
                                        </p:attrNameLst>
                                      </p:cBhvr>
                                      <p:tavLst>
                                        <p:tav tm="0">
                                          <p:val>
                                            <p:strVal val="0"/>
                                          </p:val>
                                        </p:tav>
                                        <p:tav tm="100000">
                                          <p:val>
                                            <p:strVal val="#ppt_w"/>
                                          </p:val>
                                        </p:tav>
                                      </p:tavLst>
                                    </p:anim>
                                    <p:anim calcmode="lin" valueType="num">
                                      <p:cBhvr additive="base">
                                        <p:cTn id="31" dur="550" fill="hold"/>
                                        <p:tgtEl>
                                          <p:spTgt spid="8"/>
                                        </p:tgtEl>
                                        <p:attrNameLst>
                                          <p:attrName>ppt_h</p:attrName>
                                        </p:attrNameLst>
                                      </p:cBhvr>
                                      <p:tavLst>
                                        <p:tav tm="0">
                                          <p:val>
                                            <p:strVal val="0"/>
                                          </p:val>
                                        </p:tav>
                                        <p:tav tm="100000">
                                          <p:val>
                                            <p:strVal val="#ppt_h"/>
                                          </p:val>
                                        </p:tav>
                                      </p:tavLst>
                                    </p:anim>
                                  </p:childTnLst>
                                </p:cTn>
                              </p:par>
                            </p:childTnLst>
                          </p:cTn>
                        </p:par>
                        <p:par>
                          <p:cTn id="32" fill="hold">
                            <p:stCondLst>
                              <p:cond delay="450"/>
                            </p:stCondLst>
                            <p:childTnLst>
                              <p:par>
                                <p:cTn id="33" presetID="2" presetClass="entr" presetSubtype="8" fill="hold" grpId="0" nodeType="afterEffect">
                                  <p:stCondLst>
                                    <p:cond delay="0"/>
                                  </p:stCondLst>
                                  <p:childTnLst>
                                    <p:set>
                                      <p:cBhvr>
                                        <p:cTn id="34" dur="1" fill="hold">
                                          <p:stCondLst>
                                            <p:cond delay="0"/>
                                          </p:stCondLst>
                                        </p:cTn>
                                        <p:tgtEl>
                                          <p:spTgt spid="9"/>
                                        </p:tgtEl>
                                        <p:attrNameLst>
                                          <p:attrName>style.visibility</p:attrName>
                                        </p:attrNameLst>
                                      </p:cBhvr>
                                      <p:to>
                                        <p:strVal val="visible"/>
                                      </p:to>
                                    </p:set>
                                    <p:anim calcmode="lin" valueType="num">
                                      <p:cBhvr additive="base">
                                        <p:cTn id="36" dur="550" fill="hold"/>
                                        <p:tgtEl>
                                          <p:spTgt spid="9"/>
                                        </p:tgtEl>
                                        <p:attrNameLst>
                                          <p:attrName>ppt_x</p:attrName>
                                        </p:attrNameLst>
                                      </p:cBhvr>
                                      <p:tavLst>
                                        <p:tav tm="0">
                                          <p:val>
                                            <p:strVal val="0-#ppt_w/2"/>
                                          </p:val>
                                        </p:tav>
                                        <p:tav tm="100000">
                                          <p:val>
                                            <p:strVal val="#ppt_x"/>
                                          </p:val>
                                        </p:tav>
                                      </p:tavLst>
                                    </p:anim>
                                    <p:anim calcmode="lin" valueType="num">
                                      <p:cBhvr additive="base">
                                        <p:cTn id="37" dur="550" fill="hold"/>
                                        <p:tgtEl>
                                          <p:spTgt spid="9"/>
                                        </p:tgtEl>
                                        <p:attrNameLst>
                                          <p:attrName>ppt_y</p:attrName>
                                        </p:attrNameLst>
                                      </p:cBhvr>
                                      <p:tavLst>
                                        <p:tav tm="0">
                                          <p:val>
                                            <p:strVal val="#ppt_y"/>
                                          </p:val>
                                        </p:tav>
                                        <p:tav tm="100000">
                                          <p:val>
                                            <p:strVal val="#ppt_y"/>
                                          </p:val>
                                        </p:tav>
                                      </p:tavLst>
                                    </p:anim>
                                  </p:childTnLst>
                                </p:cTn>
                              </p:par>
                            </p:childTnLst>
                          </p:cTn>
                        </p:par>
                        <p:par>
                          <p:cTn id="38" fill="hold">
                            <p:stCondLst>
                              <p:cond delay="550"/>
                            </p:stCondLst>
                            <p:childTnLst>
                              <p:par>
                                <p:cTn id="39" presetID="22" presetClass="entr" presetSubtype="8" fill="hold" grpId="0" nodeType="after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wipe(left)">
                                      <p:cBhvr>
                                        <p:cTn id="42"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4" grpId="0" animBg="1"/>
      <p:bldP spid="5" grpId="0" animBg="1"/>
      <p:bldP spid="7" grpId="0" animBg="1"/>
      <p:bldP spid="8" grpId="0" animBg="1"/>
      <p:bldP spid="9" grpId="0" animBg="1"/>
      <p:bldP spid="10" grpId="0" animBg="1"/>
    </p:bld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Mavzuning maqsadi va o'rganish natijalari</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A1 · Sun'iy intellektga asoslangan kompyuter tizimlari arxitekturasini tahlil qilish va loyihalash</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4</a:t>
            </a:r>
          </a:p>
        </p:txBody>
      </p:sp>
      <p:sp>
        <p:nvSpPr>
          <p:cNvPr id="9" name="Rounded Rectangle 8"/>
          <p:cNvSpPr/>
          <p:nvPr/>
        </p:nvSpPr>
        <p:spPr>
          <a:xfrm>
            <a:off x="550000" y="2885000"/>
            <a:ext cx="11100000" cy="52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2885000"/>
            <a:ext cx="70000" cy="52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80000" y="2955000"/>
            <a:ext cx="380000" cy="38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1</a:t>
            </a:r>
          </a:p>
        </p:txBody>
      </p:sp>
      <p:sp>
        <p:nvSpPr>
          <p:cNvPr id="12" name="TextBox 11"/>
          <p:cNvSpPr txBox="1"/>
          <p:nvPr/>
        </p:nvSpPr>
        <p:spPr>
          <a:xfrm>
            <a:off x="1380000" y="2925000"/>
            <a:ext cx="10150000" cy="440000"/>
          </a:xfrm>
          <a:prstGeom prst="rect">
            <a:avLst/>
          </a:prstGeom>
          <a:noFill/>
        </p:spPr>
        <p:txBody>
          <a:bodyPr wrap="square" anchor="ctr">
            <a:spAutoFit/>
          </a:bodyPr>
          <a:lstStyle/>
          <a:p>
            <a:r>
              <a:rPr sz="1600" b="0">
                <a:solidFill>
                  <a:srgbClr val="1B2430"/>
                </a:solidFill>
                <a:latin typeface="Calibri"/>
              </a:rPr>
              <a:t>Ushbu amaliy mashg'ulotning maqsadi — magistrantlarda sun'iy intellektga asoslangan hisoblash tizimining arxitekturasini muhandislik nuqtai nazaridan tahlil qilish, apparat va dasturiy ta'minotni birgalikda loyihalash (Hardware–Software Co-design) tamoyillari…</a:t>
            </a:r>
          </a:p>
        </p:txBody>
      </p:sp>
      <p:sp>
        <p:nvSpPr>
          <p:cNvPr id="13" name="Rounded Rectangle 12"/>
          <p:cNvSpPr/>
          <p:nvPr/>
        </p:nvSpPr>
        <p:spPr>
          <a:xfrm>
            <a:off x="550000" y="3515000"/>
            <a:ext cx="11100000" cy="52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3515000"/>
            <a:ext cx="70000" cy="52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780000" y="3585000"/>
            <a:ext cx="380000" cy="38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2</a:t>
            </a:r>
          </a:p>
        </p:txBody>
      </p:sp>
      <p:sp>
        <p:nvSpPr>
          <p:cNvPr id="16" name="TextBox 15"/>
          <p:cNvSpPr txBox="1"/>
          <p:nvPr/>
        </p:nvSpPr>
        <p:spPr>
          <a:xfrm>
            <a:off x="1380000" y="3555000"/>
            <a:ext cx="10150000" cy="440000"/>
          </a:xfrm>
          <a:prstGeom prst="rect">
            <a:avLst/>
          </a:prstGeom>
          <a:noFill/>
        </p:spPr>
        <p:txBody>
          <a:bodyPr wrap="square" anchor="ctr">
            <a:spAutoFit/>
          </a:bodyPr>
          <a:lstStyle/>
          <a:p>
            <a:r>
              <a:rPr sz="1600" b="0">
                <a:solidFill>
                  <a:srgbClr val="1B2430"/>
                </a:solidFill>
                <a:latin typeface="Calibri"/>
              </a:rPr>
              <a:t>Mashg'ulot yakunida talaba:</a:t>
            </a:r>
          </a:p>
        </p:txBody>
      </p:sp>
      <p:sp>
        <p:nvSpPr>
          <p:cNvPr id="17" name="Rounded Rectangle 16"/>
          <p:cNvSpPr/>
          <p:nvPr/>
        </p:nvSpPr>
        <p:spPr>
          <a:xfrm>
            <a:off x="550000" y="4145000"/>
            <a:ext cx="11100000" cy="52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0000" y="4145000"/>
            <a:ext cx="70000" cy="520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80000" y="4215000"/>
            <a:ext cx="380000" cy="38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3</a:t>
            </a:r>
          </a:p>
        </p:txBody>
      </p:sp>
      <p:sp>
        <p:nvSpPr>
          <p:cNvPr id="20" name="TextBox 19"/>
          <p:cNvSpPr txBox="1"/>
          <p:nvPr/>
        </p:nvSpPr>
        <p:spPr>
          <a:xfrm>
            <a:off x="1380000" y="4185000"/>
            <a:ext cx="10150000" cy="440000"/>
          </a:xfrm>
          <a:prstGeom prst="rect">
            <a:avLst/>
          </a:prstGeom>
          <a:noFill/>
        </p:spPr>
        <p:txBody>
          <a:bodyPr wrap="square" anchor="ctr">
            <a:spAutoFit/>
          </a:bodyPr>
          <a:lstStyle/>
          <a:p>
            <a:r>
              <a:rPr sz="1600" b="0">
                <a:solidFill>
                  <a:srgbClr val="1B2430"/>
                </a:solidFill>
                <a:latin typeface="Calibri"/>
              </a:rPr>
              <a:t>AI tizimining to'rt qatlamli arxitekturasini (ma'lumot → model → hisoblash platformasi → xizmat) ajratib, har bir qatlamning resurs talabini aniq ko'rsatkichlar (FLOP, bayt, millisekund, vatt) orqali ifodalay oladi;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9"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50"/>
                                        <p:tgtEl>
                                          <p:spTgt spid="17"/>
                                        </p:tgtEl>
                                      </p:cBhvr>
                                    </p:animEffect>
                                    <p:anim calcmode="lin" valueType="num">
                                      <p:cBhvr additive="base">
                                        <p:cTn id="59" dur="550" fill="hold"/>
                                        <p:tgtEl>
                                          <p:spTgt spid="17"/>
                                        </p:tgtEl>
                                        <p:attrNameLst>
                                          <p:attrName>ppt_x</p:attrName>
                                        </p:attrNameLst>
                                      </p:cBhvr>
                                      <p:tavLst>
                                        <p:tav tm="0">
                                          <p:val>
                                            <p:strVal val="#ppt_x"/>
                                          </p:val>
                                        </p:tav>
                                        <p:tav tm="100000">
                                          <p:val>
                                            <p:strVal val="#ppt_x"/>
                                          </p:val>
                                        </p:tav>
                                      </p:tavLst>
                                    </p:anim>
                                    <p:anim calcmode="lin" valueType="num">
                                      <p:cBhvr additive="base">
                                        <p:cTn id="60" dur="550" fill="hold"/>
                                        <p:tgtEl>
                                          <p:spTgt spid="17"/>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50"/>
                                        <p:tgtEl>
                                          <p:spTgt spid="18"/>
                                        </p:tgtEl>
                                      </p:cBhvr>
                                    </p:animEffect>
                                    <p:anim calcmode="lin" valueType="num">
                                      <p:cBhvr additive="base">
                                        <p:cTn id="65" dur="550" fill="hold"/>
                                        <p:tgtEl>
                                          <p:spTgt spid="18"/>
                                        </p:tgtEl>
                                        <p:attrNameLst>
                                          <p:attrName>ppt_x</p:attrName>
                                        </p:attrNameLst>
                                      </p:cBhvr>
                                      <p:tavLst>
                                        <p:tav tm="0">
                                          <p:val>
                                            <p:strVal val="#ppt_x"/>
                                          </p:val>
                                        </p:tav>
                                        <p:tav tm="100000">
                                          <p:val>
                                            <p:strVal val="#ppt_x"/>
                                          </p:val>
                                        </p:tav>
                                      </p:tavLst>
                                    </p:anim>
                                    <p:anim calcmode="lin" valueType="num">
                                      <p:cBhvr additive="base">
                                        <p:cTn id="66" dur="550" fill="hold"/>
                                        <p:tgtEl>
                                          <p:spTgt spid="18"/>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anim calcmode="lin" valueType="num">
                                      <p:cBhvr additive="base">
                                        <p:cTn id="71" dur="550" fill="hold"/>
                                        <p:tgtEl>
                                          <p:spTgt spid="19"/>
                                        </p:tgtEl>
                                        <p:attrNameLst>
                                          <p:attrName>ppt_w</p:attrName>
                                        </p:attrNameLst>
                                      </p:cBhvr>
                                      <p:tavLst>
                                        <p:tav tm="0">
                                          <p:val>
                                            <p:strVal val="0"/>
                                          </p:val>
                                        </p:tav>
                                        <p:tav tm="100000">
                                          <p:val>
                                            <p:strVal val="#ppt_w"/>
                                          </p:val>
                                        </p:tav>
                                      </p:tavLst>
                                    </p:anim>
                                    <p:anim calcmode="lin" valueType="num">
                                      <p:cBhvr additive="base">
                                        <p:cTn id="72" dur="550" fill="hold"/>
                                        <p:tgtEl>
                                          <p:spTgt spid="19"/>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50"/>
                                        <p:tgtEl>
                                          <p:spTgt spid="20"/>
                                        </p:tgtEl>
                                      </p:cBhvr>
                                    </p:animEffect>
                                    <p:anim calcmode="lin" valueType="num">
                                      <p:cBhvr additive="base">
                                        <p:cTn id="77" dur="550" fill="hold"/>
                                        <p:tgtEl>
                                          <p:spTgt spid="20"/>
                                        </p:tgtEl>
                                        <p:attrNameLst>
                                          <p:attrName>ppt_x</p:attrName>
                                        </p:attrNameLst>
                                      </p:cBhvr>
                                      <p:tavLst>
                                        <p:tav tm="0">
                                          <p:val>
                                            <p:strVal val="#ppt_x"/>
                                          </p:val>
                                        </p:tav>
                                        <p:tav tm="100000">
                                          <p:val>
                                            <p:strVal val="#ppt_x"/>
                                          </p:val>
                                        </p:tav>
                                      </p:tavLst>
                                    </p:anim>
                                    <p:anim calcmode="lin" valueType="num">
                                      <p:cBhvr additive="base">
                                        <p:cTn id="78" dur="550" fill="hold"/>
                                        <p:tgtEl>
                                          <p:spTgt spid="20"/>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Mavzuning maqsadi va o'rganish natijalari</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A1 · Sun'iy intellektga asoslangan kompyuter tizimlari arxitekturasini tahlil qilish va loyihalash</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5</a:t>
            </a:r>
          </a:p>
        </p:txBody>
      </p:sp>
      <p:sp>
        <p:nvSpPr>
          <p:cNvPr id="9" name="Rounded Rectangle 8"/>
          <p:cNvSpPr/>
          <p:nvPr/>
        </p:nvSpPr>
        <p:spPr>
          <a:xfrm>
            <a:off x="550000" y="2885000"/>
            <a:ext cx="11100000" cy="52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2885000"/>
            <a:ext cx="70000" cy="5200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80000" y="2955000"/>
            <a:ext cx="380000" cy="38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4</a:t>
            </a:r>
          </a:p>
        </p:txBody>
      </p:sp>
      <p:sp>
        <p:nvSpPr>
          <p:cNvPr id="12" name="TextBox 11"/>
          <p:cNvSpPr txBox="1"/>
          <p:nvPr/>
        </p:nvSpPr>
        <p:spPr>
          <a:xfrm>
            <a:off x="1380000" y="2925000"/>
            <a:ext cx="10150000" cy="440000"/>
          </a:xfrm>
          <a:prstGeom prst="rect">
            <a:avLst/>
          </a:prstGeom>
          <a:noFill/>
        </p:spPr>
        <p:txBody>
          <a:bodyPr wrap="square" anchor="ctr">
            <a:spAutoFit/>
          </a:bodyPr>
          <a:lstStyle/>
          <a:p>
            <a:r>
              <a:rPr sz="1600" b="0">
                <a:solidFill>
                  <a:srgbClr val="1B2430"/>
                </a:solidFill>
                <a:latin typeface="Calibri"/>
              </a:rPr>
              <a:t>Berilgan ish yuklamasi (workload) uchun arifmetik intensivlik (arithmetic intensity) va Roofline chegarasini hisoblab, tizim «hisoblash bilan cheklangan» yoki «xotira bilan cheklangan» ekanini asoslaydi;</a:t>
            </a:r>
          </a:p>
        </p:txBody>
      </p:sp>
      <p:sp>
        <p:nvSpPr>
          <p:cNvPr id="13" name="Rounded Rectangle 12"/>
          <p:cNvSpPr/>
          <p:nvPr/>
        </p:nvSpPr>
        <p:spPr>
          <a:xfrm>
            <a:off x="550000" y="3515000"/>
            <a:ext cx="11100000" cy="52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3515000"/>
            <a:ext cx="70000" cy="520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780000" y="3585000"/>
            <a:ext cx="380000" cy="3800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5</a:t>
            </a:r>
          </a:p>
        </p:txBody>
      </p:sp>
      <p:sp>
        <p:nvSpPr>
          <p:cNvPr id="16" name="TextBox 15"/>
          <p:cNvSpPr txBox="1"/>
          <p:nvPr/>
        </p:nvSpPr>
        <p:spPr>
          <a:xfrm>
            <a:off x="1380000" y="3555000"/>
            <a:ext cx="10150000" cy="440000"/>
          </a:xfrm>
          <a:prstGeom prst="rect">
            <a:avLst/>
          </a:prstGeom>
          <a:noFill/>
        </p:spPr>
        <p:txBody>
          <a:bodyPr wrap="square" anchor="ctr">
            <a:spAutoFit/>
          </a:bodyPr>
          <a:lstStyle/>
          <a:p>
            <a:r>
              <a:rPr sz="1600" b="0">
                <a:solidFill>
                  <a:srgbClr val="1B2430"/>
                </a:solidFill>
                <a:latin typeface="Calibri"/>
              </a:rPr>
              <a:t>Kamida uchta hisoblash platformasining (ma'lumotlar markazi GPU, chekka (edge) moduli, ixtisoslashgan tezlatkich) texnik pasportini bir jadvalda solishtirib, talablar matritsasi asosida tanlov qiladi;</a:t>
            </a:r>
          </a:p>
        </p:txBody>
      </p:sp>
      <p:sp>
        <p:nvSpPr>
          <p:cNvPr id="17" name="Rounded Rectangle 16"/>
          <p:cNvSpPr/>
          <p:nvPr/>
        </p:nvSpPr>
        <p:spPr>
          <a:xfrm>
            <a:off x="550000" y="4145000"/>
            <a:ext cx="11100000" cy="52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0000" y="4145000"/>
            <a:ext cx="70000" cy="52000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80000" y="4215000"/>
            <a:ext cx="380000" cy="380000"/>
          </a:xfrm>
          <a:prstGeom prst="ellipse">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6</a:t>
            </a:r>
          </a:p>
        </p:txBody>
      </p:sp>
      <p:sp>
        <p:nvSpPr>
          <p:cNvPr id="20" name="TextBox 19"/>
          <p:cNvSpPr txBox="1"/>
          <p:nvPr/>
        </p:nvSpPr>
        <p:spPr>
          <a:xfrm>
            <a:off x="1380000" y="4185000"/>
            <a:ext cx="10150000" cy="440000"/>
          </a:xfrm>
          <a:prstGeom prst="rect">
            <a:avLst/>
          </a:prstGeom>
          <a:noFill/>
        </p:spPr>
        <p:txBody>
          <a:bodyPr wrap="square" anchor="ctr">
            <a:spAutoFit/>
          </a:bodyPr>
          <a:lstStyle/>
          <a:p>
            <a:r>
              <a:rPr sz="1600" b="0">
                <a:solidFill>
                  <a:srgbClr val="1B2430"/>
                </a:solidFill>
                <a:latin typeface="Calibri"/>
              </a:rPr>
              <a:t>Hardware–Software Co-design tamoyillarini qo'llab, AI tizimining strukturaviy sxemasini matnli tavsif va interfeyslar ro'yxati ko'rinishida hujjatlashtiradi;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9"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50"/>
                                        <p:tgtEl>
                                          <p:spTgt spid="17"/>
                                        </p:tgtEl>
                                      </p:cBhvr>
                                    </p:animEffect>
                                    <p:anim calcmode="lin" valueType="num">
                                      <p:cBhvr additive="base">
                                        <p:cTn id="59" dur="550" fill="hold"/>
                                        <p:tgtEl>
                                          <p:spTgt spid="17"/>
                                        </p:tgtEl>
                                        <p:attrNameLst>
                                          <p:attrName>ppt_x</p:attrName>
                                        </p:attrNameLst>
                                      </p:cBhvr>
                                      <p:tavLst>
                                        <p:tav tm="0">
                                          <p:val>
                                            <p:strVal val="#ppt_x"/>
                                          </p:val>
                                        </p:tav>
                                        <p:tav tm="100000">
                                          <p:val>
                                            <p:strVal val="#ppt_x"/>
                                          </p:val>
                                        </p:tav>
                                      </p:tavLst>
                                    </p:anim>
                                    <p:anim calcmode="lin" valueType="num">
                                      <p:cBhvr additive="base">
                                        <p:cTn id="60" dur="550" fill="hold"/>
                                        <p:tgtEl>
                                          <p:spTgt spid="17"/>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50"/>
                                        <p:tgtEl>
                                          <p:spTgt spid="18"/>
                                        </p:tgtEl>
                                      </p:cBhvr>
                                    </p:animEffect>
                                    <p:anim calcmode="lin" valueType="num">
                                      <p:cBhvr additive="base">
                                        <p:cTn id="65" dur="550" fill="hold"/>
                                        <p:tgtEl>
                                          <p:spTgt spid="18"/>
                                        </p:tgtEl>
                                        <p:attrNameLst>
                                          <p:attrName>ppt_x</p:attrName>
                                        </p:attrNameLst>
                                      </p:cBhvr>
                                      <p:tavLst>
                                        <p:tav tm="0">
                                          <p:val>
                                            <p:strVal val="#ppt_x"/>
                                          </p:val>
                                        </p:tav>
                                        <p:tav tm="100000">
                                          <p:val>
                                            <p:strVal val="#ppt_x"/>
                                          </p:val>
                                        </p:tav>
                                      </p:tavLst>
                                    </p:anim>
                                    <p:anim calcmode="lin" valueType="num">
                                      <p:cBhvr additive="base">
                                        <p:cTn id="66" dur="550" fill="hold"/>
                                        <p:tgtEl>
                                          <p:spTgt spid="18"/>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anim calcmode="lin" valueType="num">
                                      <p:cBhvr additive="base">
                                        <p:cTn id="71" dur="550" fill="hold"/>
                                        <p:tgtEl>
                                          <p:spTgt spid="19"/>
                                        </p:tgtEl>
                                        <p:attrNameLst>
                                          <p:attrName>ppt_w</p:attrName>
                                        </p:attrNameLst>
                                      </p:cBhvr>
                                      <p:tavLst>
                                        <p:tav tm="0">
                                          <p:val>
                                            <p:strVal val="0"/>
                                          </p:val>
                                        </p:tav>
                                        <p:tav tm="100000">
                                          <p:val>
                                            <p:strVal val="#ppt_w"/>
                                          </p:val>
                                        </p:tav>
                                      </p:tavLst>
                                    </p:anim>
                                    <p:anim calcmode="lin" valueType="num">
                                      <p:cBhvr additive="base">
                                        <p:cTn id="72" dur="550" fill="hold"/>
                                        <p:tgtEl>
                                          <p:spTgt spid="19"/>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50"/>
                                        <p:tgtEl>
                                          <p:spTgt spid="20"/>
                                        </p:tgtEl>
                                      </p:cBhvr>
                                    </p:animEffect>
                                    <p:anim calcmode="lin" valueType="num">
                                      <p:cBhvr additive="base">
                                        <p:cTn id="77" dur="550" fill="hold"/>
                                        <p:tgtEl>
                                          <p:spTgt spid="20"/>
                                        </p:tgtEl>
                                        <p:attrNameLst>
                                          <p:attrName>ppt_x</p:attrName>
                                        </p:attrNameLst>
                                      </p:cBhvr>
                                      <p:tavLst>
                                        <p:tav tm="0">
                                          <p:val>
                                            <p:strVal val="#ppt_x"/>
                                          </p:val>
                                        </p:tav>
                                        <p:tav tm="100000">
                                          <p:val>
                                            <p:strVal val="#ppt_x"/>
                                          </p:val>
                                        </p:tav>
                                      </p:tavLst>
                                    </p:anim>
                                    <p:anim calcmode="lin" valueType="num">
                                      <p:cBhvr additive="base">
                                        <p:cTn id="78" dur="550" fill="hold"/>
                                        <p:tgtEl>
                                          <p:spTgt spid="20"/>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Lst>
  </p:timing>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Mavzuning maqsadi va o'rganish natijalari</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A1 · Sun'iy intellektga asoslangan kompyuter tizimlari arxitekturasini tahlil qilish va loyihalash</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6</a:t>
            </a:r>
          </a:p>
        </p:txBody>
      </p:sp>
      <p:sp>
        <p:nvSpPr>
          <p:cNvPr id="9" name="Rounded Rectangle 8"/>
          <p:cNvSpPr/>
          <p:nvPr/>
        </p:nvSpPr>
        <p:spPr>
          <a:xfrm>
            <a:off x="550000" y="3200000"/>
            <a:ext cx="11100000" cy="52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3200000"/>
            <a:ext cx="70000" cy="52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80000" y="3270000"/>
            <a:ext cx="380000" cy="38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7</a:t>
            </a:r>
          </a:p>
        </p:txBody>
      </p:sp>
      <p:sp>
        <p:nvSpPr>
          <p:cNvPr id="12" name="TextBox 11"/>
          <p:cNvSpPr txBox="1"/>
          <p:nvPr/>
        </p:nvSpPr>
        <p:spPr>
          <a:xfrm>
            <a:off x="1380000" y="3240000"/>
            <a:ext cx="10150000" cy="440000"/>
          </a:xfrm>
          <a:prstGeom prst="rect">
            <a:avLst/>
          </a:prstGeom>
          <a:noFill/>
        </p:spPr>
        <p:txBody>
          <a:bodyPr wrap="square" anchor="ctr">
            <a:spAutoFit/>
          </a:bodyPr>
          <a:lstStyle/>
          <a:p>
            <a:r>
              <a:rPr sz="1600" b="0">
                <a:solidFill>
                  <a:srgbClr val="1B2430"/>
                </a:solidFill>
                <a:latin typeface="Calibri"/>
              </a:rPr>
              <a:t>Python'da yuklama hisobi skriptini yozib, nazariy baholarni real o'lchovlar bilan solishtirish metodikasini qo'llaydi.</a:t>
            </a:r>
          </a:p>
        </p:txBody>
      </p:sp>
      <p:sp>
        <p:nvSpPr>
          <p:cNvPr id="13" name="Rounded Rectangle 12"/>
          <p:cNvSpPr/>
          <p:nvPr/>
        </p:nvSpPr>
        <p:spPr>
          <a:xfrm>
            <a:off x="550000" y="3830000"/>
            <a:ext cx="11100000" cy="52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3830000"/>
            <a:ext cx="70000" cy="52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780000" y="3900000"/>
            <a:ext cx="380000" cy="38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8</a:t>
            </a:r>
          </a:p>
        </p:txBody>
      </p:sp>
      <p:sp>
        <p:nvSpPr>
          <p:cNvPr id="16" name="TextBox 15"/>
          <p:cNvSpPr txBox="1"/>
          <p:nvPr/>
        </p:nvSpPr>
        <p:spPr>
          <a:xfrm>
            <a:off x="1380000" y="3870000"/>
            <a:ext cx="10150000" cy="440000"/>
          </a:xfrm>
          <a:prstGeom prst="rect">
            <a:avLst/>
          </a:prstGeom>
          <a:noFill/>
        </p:spPr>
        <p:txBody>
          <a:bodyPr wrap="square" anchor="ctr">
            <a:spAutoFit/>
          </a:bodyPr>
          <a:lstStyle/>
          <a:p>
            <a:r>
              <a:rPr sz="1600" b="0">
                <a:solidFill>
                  <a:srgbClr val="1B2430"/>
                </a:solidFill>
                <a:latin typeface="Calibri"/>
              </a:rPr>
              <a:t>Mavzu fanning TN1 (AI tizimlari arxitekturasini tahlil qilish va loyihalash), TN2 (hisoblash platformalarini tanlash va baholash) hamda TN7 (muhandislik hujjatlarini tayyorlash va natijalarni himoya qilish) ta'lim natijalariga bevosita xizmat qiladi…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c7cc566e19cb64ab.jpg"/>
          <p:cNvPicPr>
            <a:picLocks noChangeAspect="1"/>
          </p:cNvPicPr>
          <p:nvPr/>
        </p:nvPicPr>
        <p:blipFill>
          <a:blip r:embed="rId2"/>
          <a:srcRect t="3442" b="3442"/>
          <a:stretch>
            <a:fillRect/>
          </a:stretch>
        </p:blipFill>
        <p:spPr>
          <a:xfrm>
            <a:off x="6300000" y="0"/>
            <a:ext cx="5892000" cy="6858000"/>
          </a:xfrm>
          <a:prstGeom prst="rect">
            <a:avLst/>
          </a:prstGeom>
        </p:spPr>
      </p:pic>
      <p:sp>
        <p:nvSpPr>
          <p:cNvPr id="4" name="Rectangle 3"/>
          <p:cNvSpPr/>
          <p:nvPr/>
        </p:nvSpPr>
        <p:spPr>
          <a:xfrm>
            <a:off x="6300000" y="6558000"/>
            <a:ext cx="5892000" cy="300000"/>
          </a:xfrm>
          <a:prstGeom prst="rect">
            <a:avLst/>
          </a:prstGeom>
          <a:solidFill>
            <a:srgbClr val="0B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80000" y="6558000"/>
            <a:ext cx="5732000" cy="300000"/>
          </a:xfrm>
          <a:prstGeom prst="rect">
            <a:avLst/>
          </a:prstGeom>
          <a:noFill/>
        </p:spPr>
        <p:txBody>
          <a:bodyPr wrap="square" anchor="ctr" lIns="50800" rIns="50800">
            <a:spAutoFit/>
          </a:bodyPr>
          <a:lstStyle/>
          <a:p>
            <a:pPr algn="l"/>
            <a:r>
              <a:rPr sz="900" b="0">
                <a:solidFill>
                  <a:srgbClr val="D7E3F4"/>
                </a:solidFill>
                <a:latin typeface="Calibri"/>
              </a:rPr>
              <a:t>Rasm: Peter Cooper Jr. · Wikimedia Commons · CC0</a:t>
            </a:r>
          </a:p>
        </p:txBody>
      </p:sp>
      <p:sp>
        <p:nvSpPr>
          <p:cNvPr id="6" name="Rectangle 5"/>
          <p:cNvSpPr/>
          <p:nvPr/>
        </p:nvSpPr>
        <p:spPr>
          <a:xfrm>
            <a:off x="6240000" y="0"/>
            <a:ext cx="60000" cy="6858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00000" y="900000"/>
            <a:ext cx="2300000" cy="23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0000" y="900000"/>
            <a:ext cx="2300000" cy="2300000"/>
          </a:xfrm>
          <a:prstGeom prst="rect">
            <a:avLst/>
          </a:prstGeom>
          <a:noFill/>
        </p:spPr>
        <p:txBody>
          <a:bodyPr wrap="square" anchor="ctr" lIns="50800" rIns="50800">
            <a:spAutoFit/>
          </a:bodyPr>
          <a:lstStyle/>
          <a:p>
            <a:pPr algn="ctr"/>
            <a:r>
              <a:rPr sz="6400" b="1">
                <a:solidFill>
                  <a:srgbClr val="FFFFFF"/>
                </a:solidFill>
                <a:latin typeface="Calibri"/>
              </a:rPr>
              <a:t>02</a:t>
            </a:r>
          </a:p>
        </p:txBody>
      </p:sp>
      <p:sp>
        <p:nvSpPr>
          <p:cNvPr id="9" name="TextBox 8"/>
          <p:cNvSpPr txBox="1"/>
          <p:nvPr/>
        </p:nvSpPr>
        <p:spPr>
          <a:xfrm>
            <a:off x="800000" y="3500000"/>
            <a:ext cx="5200000" cy="1600000"/>
          </a:xfrm>
          <a:prstGeom prst="rect">
            <a:avLst/>
          </a:prstGeom>
          <a:noFill/>
        </p:spPr>
        <p:txBody>
          <a:bodyPr wrap="square" anchor="t" lIns="50800" rIns="50800">
            <a:spAutoFit/>
          </a:bodyPr>
          <a:lstStyle/>
          <a:p>
            <a:pPr algn="l"/>
            <a:r>
              <a:rPr sz="3000" b="1">
                <a:solidFill>
                  <a:srgbClr val="FFFFFF"/>
                </a:solidFill>
                <a:latin typeface="Calibri"/>
              </a:rPr>
              <a:t>Kirish</a:t>
            </a:r>
          </a:p>
        </p:txBody>
      </p:sp>
      <p:sp>
        <p:nvSpPr>
          <p:cNvPr id="10" name="Rectangle 9"/>
          <p:cNvSpPr/>
          <p:nvPr/>
        </p:nvSpPr>
        <p:spPr>
          <a:xfrm>
            <a:off x="850000" y="52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4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wipe(left)">
                                      <p:cBhvr>
                                        <p:cTn id="11" dur="800"/>
                                        <p:tgtEl>
                                          <p:spTgt spid="6"/>
                                        </p:tgtEl>
                                      </p:cBhvr>
                                    </p:animEffect>
                                  </p:childTnLst>
                                </p:cTn>
                              </p:par>
                            </p:childTnLst>
                          </p:cTn>
                        </p:par>
                        <p:par>
                          <p:cTn id="12" fill="hold">
                            <p:stCondLst>
                              <p:cond delay="0"/>
                            </p:stCondLst>
                            <p:childTnLst>
                              <p:par>
                                <p:cTn id="13" presetID="10" presetClass="entr" presetSubtype="0" fill="hold" grpId="0" nodeType="after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50"/>
                                        <p:tgtEl>
                                          <p:spTgt spid="4"/>
                                        </p:tgtEl>
                                      </p:cBhvr>
                                    </p:animEffect>
                                  </p:childTnLst>
                                </p:cTn>
                              </p:par>
                            </p:childTnLst>
                          </p:cTn>
                        </p:par>
                        <p:par>
                          <p:cTn id="16" fill="hold">
                            <p:stCondLst>
                              <p:cond delay="0"/>
                            </p:stCondLst>
                            <p:childTnLst>
                              <p:par>
                                <p:cTn id="17" presetID="10" presetClass="entr" presetSubtype="0" fill="hold" grpId="0" nodeType="after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50"/>
                                        <p:tgtEl>
                                          <p:spTgt spid="5"/>
                                        </p:tgtEl>
                                      </p:cBhvr>
                                    </p:animEffect>
                                  </p:childTnLst>
                                </p:cTn>
                              </p:par>
                            </p:childTnLst>
                          </p:cTn>
                        </p:par>
                        <p:par>
                          <p:cTn id="20" fill="hold">
                            <p:stCondLst>
                              <p:cond delay="200"/>
                            </p:stCondLst>
                            <p:childTnLst>
                              <p:par>
                                <p:cTn id="21" presetID="53" presetClass="entr" presetSubtype="16" fill="hold" grpId="0" nodeType="after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550"/>
                                        <p:tgtEl>
                                          <p:spTgt spid="7"/>
                                        </p:tgtEl>
                                      </p:cBhvr>
                                    </p:animEffect>
                                    <p:anim calcmode="lin" valueType="num">
                                      <p:cBhvr additive="base">
                                        <p:cTn id="24" dur="550" fill="hold"/>
                                        <p:tgtEl>
                                          <p:spTgt spid="7"/>
                                        </p:tgtEl>
                                        <p:attrNameLst>
                                          <p:attrName>ppt_w</p:attrName>
                                        </p:attrNameLst>
                                      </p:cBhvr>
                                      <p:tavLst>
                                        <p:tav tm="0">
                                          <p:val>
                                            <p:strVal val="0"/>
                                          </p:val>
                                        </p:tav>
                                        <p:tav tm="100000">
                                          <p:val>
                                            <p:strVal val="#ppt_w"/>
                                          </p:val>
                                        </p:tav>
                                      </p:tavLst>
                                    </p:anim>
                                    <p:anim calcmode="lin" valueType="num">
                                      <p:cBhvr additive="base">
                                        <p:cTn id="25" dur="550" fill="hold"/>
                                        <p:tgtEl>
                                          <p:spTgt spid="7"/>
                                        </p:tgtEl>
                                        <p:attrNameLst>
                                          <p:attrName>ppt_h</p:attrName>
                                        </p:attrNameLst>
                                      </p:cBhvr>
                                      <p:tavLst>
                                        <p:tav tm="0">
                                          <p:val>
                                            <p:strVal val="0"/>
                                          </p:val>
                                        </p:tav>
                                        <p:tav tm="100000">
                                          <p:val>
                                            <p:strVal val="#ppt_h"/>
                                          </p:val>
                                        </p:tav>
                                      </p:tavLst>
                                    </p:anim>
                                  </p:childTnLst>
                                </p:cTn>
                              </p:par>
                            </p:childTnLst>
                          </p:cTn>
                        </p:par>
                        <p:par>
                          <p:cTn id="26" fill="hold">
                            <p:stCondLst>
                              <p:cond delay="300"/>
                            </p:stCondLst>
                            <p:childTnLst>
                              <p:par>
                                <p:cTn id="27" presetID="53" presetClass="entr" presetSubtype="16" fill="hold" grpId="0" nodeType="after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550"/>
                                        <p:tgtEl>
                                          <p:spTgt spid="8"/>
                                        </p:tgtEl>
                                      </p:cBhvr>
                                    </p:animEffect>
                                    <p:anim calcmode="lin" valueType="num">
                                      <p:cBhvr additive="base">
                                        <p:cTn id="30" dur="550" fill="hold"/>
                                        <p:tgtEl>
                                          <p:spTgt spid="8"/>
                                        </p:tgtEl>
                                        <p:attrNameLst>
                                          <p:attrName>ppt_w</p:attrName>
                                        </p:attrNameLst>
                                      </p:cBhvr>
                                      <p:tavLst>
                                        <p:tav tm="0">
                                          <p:val>
                                            <p:strVal val="0"/>
                                          </p:val>
                                        </p:tav>
                                        <p:tav tm="100000">
                                          <p:val>
                                            <p:strVal val="#ppt_w"/>
                                          </p:val>
                                        </p:tav>
                                      </p:tavLst>
                                    </p:anim>
                                    <p:anim calcmode="lin" valueType="num">
                                      <p:cBhvr additive="base">
                                        <p:cTn id="31" dur="550" fill="hold"/>
                                        <p:tgtEl>
                                          <p:spTgt spid="8"/>
                                        </p:tgtEl>
                                        <p:attrNameLst>
                                          <p:attrName>ppt_h</p:attrName>
                                        </p:attrNameLst>
                                      </p:cBhvr>
                                      <p:tavLst>
                                        <p:tav tm="0">
                                          <p:val>
                                            <p:strVal val="0"/>
                                          </p:val>
                                        </p:tav>
                                        <p:tav tm="100000">
                                          <p:val>
                                            <p:strVal val="#ppt_h"/>
                                          </p:val>
                                        </p:tav>
                                      </p:tavLst>
                                    </p:anim>
                                  </p:childTnLst>
                                </p:cTn>
                              </p:par>
                            </p:childTnLst>
                          </p:cTn>
                        </p:par>
                        <p:par>
                          <p:cTn id="32" fill="hold">
                            <p:stCondLst>
                              <p:cond delay="450"/>
                            </p:stCondLst>
                            <p:childTnLst>
                              <p:par>
                                <p:cTn id="33" presetID="2" presetClass="entr" presetSubtype="8" fill="hold" grpId="0" nodeType="afterEffect">
                                  <p:stCondLst>
                                    <p:cond delay="0"/>
                                  </p:stCondLst>
                                  <p:childTnLst>
                                    <p:set>
                                      <p:cBhvr>
                                        <p:cTn id="34" dur="1" fill="hold">
                                          <p:stCondLst>
                                            <p:cond delay="0"/>
                                          </p:stCondLst>
                                        </p:cTn>
                                        <p:tgtEl>
                                          <p:spTgt spid="9"/>
                                        </p:tgtEl>
                                        <p:attrNameLst>
                                          <p:attrName>style.visibility</p:attrName>
                                        </p:attrNameLst>
                                      </p:cBhvr>
                                      <p:to>
                                        <p:strVal val="visible"/>
                                      </p:to>
                                    </p:set>
                                    <p:anim calcmode="lin" valueType="num">
                                      <p:cBhvr additive="base">
                                        <p:cTn id="36" dur="550" fill="hold"/>
                                        <p:tgtEl>
                                          <p:spTgt spid="9"/>
                                        </p:tgtEl>
                                        <p:attrNameLst>
                                          <p:attrName>ppt_x</p:attrName>
                                        </p:attrNameLst>
                                      </p:cBhvr>
                                      <p:tavLst>
                                        <p:tav tm="0">
                                          <p:val>
                                            <p:strVal val="0-#ppt_w/2"/>
                                          </p:val>
                                        </p:tav>
                                        <p:tav tm="100000">
                                          <p:val>
                                            <p:strVal val="#ppt_x"/>
                                          </p:val>
                                        </p:tav>
                                      </p:tavLst>
                                    </p:anim>
                                    <p:anim calcmode="lin" valueType="num">
                                      <p:cBhvr additive="base">
                                        <p:cTn id="37" dur="550" fill="hold"/>
                                        <p:tgtEl>
                                          <p:spTgt spid="9"/>
                                        </p:tgtEl>
                                        <p:attrNameLst>
                                          <p:attrName>ppt_y</p:attrName>
                                        </p:attrNameLst>
                                      </p:cBhvr>
                                      <p:tavLst>
                                        <p:tav tm="0">
                                          <p:val>
                                            <p:strVal val="#ppt_y"/>
                                          </p:val>
                                        </p:tav>
                                        <p:tav tm="100000">
                                          <p:val>
                                            <p:strVal val="#ppt_y"/>
                                          </p:val>
                                        </p:tav>
                                      </p:tavLst>
                                    </p:anim>
                                  </p:childTnLst>
                                </p:cTn>
                              </p:par>
                            </p:childTnLst>
                          </p:cTn>
                        </p:par>
                        <p:par>
                          <p:cTn id="38" fill="hold">
                            <p:stCondLst>
                              <p:cond delay="550"/>
                            </p:stCondLst>
                            <p:childTnLst>
                              <p:par>
                                <p:cTn id="39" presetID="22" presetClass="entr" presetSubtype="8" fill="hold" grpId="0" nodeType="after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wipe(left)">
                                      <p:cBhvr>
                                        <p:cTn id="42"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4" grpId="0" animBg="1"/>
      <p:bldP spid="5" grpId="0" animBg="1"/>
      <p:bldP spid="7" grpId="0" animBg="1"/>
      <p:bldP spid="8" grpId="0" animBg="1"/>
      <p:bldP spid="9" grpId="0" animBg="1"/>
      <p:bldP spid="10" grpId="0" animBg="1"/>
    </p:bldLst>
  </p:timing>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Kirish</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A1 · Sun'iy intellektga asoslangan kompyuter tizimlari arxitekturasini tahlil qilish va loyihalash</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8</a:t>
            </a:r>
          </a:p>
        </p:txBody>
      </p:sp>
      <p:sp>
        <p:nvSpPr>
          <p:cNvPr id="9" name="Rounded Rectangle 8"/>
          <p:cNvSpPr/>
          <p:nvPr/>
        </p:nvSpPr>
        <p:spPr>
          <a:xfrm>
            <a:off x="550000" y="1661240"/>
            <a:ext cx="11100000" cy="133584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1661240"/>
            <a:ext cx="70000" cy="133584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80000" y="2119160"/>
            <a:ext cx="420000" cy="42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1</a:t>
            </a:r>
          </a:p>
        </p:txBody>
      </p:sp>
      <p:sp>
        <p:nvSpPr>
          <p:cNvPr id="12" name="TextBox 11"/>
          <p:cNvSpPr txBox="1"/>
          <p:nvPr/>
        </p:nvSpPr>
        <p:spPr>
          <a:xfrm>
            <a:off x="1380000" y="1701240"/>
            <a:ext cx="10150000" cy="1255840"/>
          </a:xfrm>
          <a:prstGeom prst="rect">
            <a:avLst/>
          </a:prstGeom>
          <a:noFill/>
        </p:spPr>
        <p:txBody>
          <a:bodyPr wrap="square" anchor="ctr">
            <a:spAutoFit/>
          </a:bodyPr>
          <a:lstStyle/>
          <a:p>
            <a:r>
              <a:rPr sz="1500" b="0">
                <a:solidFill>
                  <a:srgbClr val="1B2430"/>
                </a:solidFill>
                <a:latin typeface="Calibri"/>
              </a:rPr>
              <a:t>Zamonaviy sun'iy intellekt tizimi — bu shunchaki o'qitilgan neyron tarmoq emas, balki ma'lumotlar oqimi, model, hisoblash platformasi, tarmoq, saqlash tizimi va ekspluatatsiya jarayonlarini o'z ichiga olgan murakkab muhandislik majmuasidir.</a:t>
            </a:r>
          </a:p>
        </p:txBody>
      </p:sp>
      <p:sp>
        <p:nvSpPr>
          <p:cNvPr id="13" name="Rounded Rectangle 12"/>
          <p:cNvSpPr/>
          <p:nvPr/>
        </p:nvSpPr>
        <p:spPr>
          <a:xfrm>
            <a:off x="550000" y="3107080"/>
            <a:ext cx="11100000" cy="133584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3107080"/>
            <a:ext cx="70000" cy="133584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780000" y="3565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2</a:t>
            </a:r>
          </a:p>
        </p:txBody>
      </p:sp>
      <p:sp>
        <p:nvSpPr>
          <p:cNvPr id="16" name="TextBox 15"/>
          <p:cNvSpPr txBox="1"/>
          <p:nvPr/>
        </p:nvSpPr>
        <p:spPr>
          <a:xfrm>
            <a:off x="1380000" y="3147080"/>
            <a:ext cx="10150000" cy="1255840"/>
          </a:xfrm>
          <a:prstGeom prst="rect">
            <a:avLst/>
          </a:prstGeom>
          <a:noFill/>
        </p:spPr>
        <p:txBody>
          <a:bodyPr wrap="square" anchor="ctr">
            <a:spAutoFit/>
          </a:bodyPr>
          <a:lstStyle/>
          <a:p>
            <a:r>
              <a:rPr sz="1600" b="1">
                <a:solidFill>
                  <a:srgbClr val="1F3A5F"/>
                </a:solidFill>
                <a:latin typeface="Calibri"/>
              </a:rPr>
              <a:t>Hardware–Software Co-design tushunchasi dastlab o'rnatilgan tizimlar (embedded systems) sohasida paydo bo'lgan: qaysi funksiyalarni apparatda (ASIC, FPGA), qaysilarini dasturda bajarish kerakligini loyihalashning dastlabki bosqichida birgalikda hal qilish.</a:t>
            </a:r>
          </a:p>
          <a:p>
            <a:pPr>
              <a:spcBef>
                <a:spcPts val="400"/>
              </a:spcBef>
            </a:pPr>
            <a:r>
              <a:rPr sz="1500">
                <a:solidFill>
                  <a:srgbClr val="334055"/>
                </a:solidFill>
                <a:latin typeface="Calibri"/>
              </a:rPr>
              <a:t>Sun'iy intellekt davrida bu g'oya yangi mazmun kasb etdi.</a:t>
            </a:r>
          </a:p>
        </p:txBody>
      </p:sp>
      <p:sp>
        <p:nvSpPr>
          <p:cNvPr id="17" name="Rounded Rectangle 16"/>
          <p:cNvSpPr/>
          <p:nvPr/>
        </p:nvSpPr>
        <p:spPr>
          <a:xfrm>
            <a:off x="550000" y="4552920"/>
            <a:ext cx="11100000" cy="133584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0000" y="4552920"/>
            <a:ext cx="70000" cy="133584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80000" y="5010840"/>
            <a:ext cx="420000" cy="42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3</a:t>
            </a:r>
          </a:p>
        </p:txBody>
      </p:sp>
      <p:sp>
        <p:nvSpPr>
          <p:cNvPr id="20" name="TextBox 19"/>
          <p:cNvSpPr txBox="1"/>
          <p:nvPr/>
        </p:nvSpPr>
        <p:spPr>
          <a:xfrm>
            <a:off x="1380000" y="4592920"/>
            <a:ext cx="10150000" cy="1255840"/>
          </a:xfrm>
          <a:prstGeom prst="rect">
            <a:avLst/>
          </a:prstGeom>
          <a:noFill/>
        </p:spPr>
        <p:txBody>
          <a:bodyPr wrap="square" anchor="ctr">
            <a:spAutoFit/>
          </a:bodyPr>
          <a:lstStyle/>
          <a:p>
            <a:r>
              <a:rPr sz="1500" b="0">
                <a:solidFill>
                  <a:srgbClr val="1B2430"/>
                </a:solidFill>
                <a:latin typeface="Calibri"/>
              </a:rPr>
              <a:t>Mashg'ulot davomida biz real sanoat vazifasiga yaqin ssenariy ustida ishlaymiz: korxona video-kuzatuv tizimida shaxsiy himoya vositalari (SHV) ni real vaqtda aniqlash uchun AI tizimi loyihalanmoqda.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9"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50"/>
                                        <p:tgtEl>
                                          <p:spTgt spid="17"/>
                                        </p:tgtEl>
                                      </p:cBhvr>
                                    </p:animEffect>
                                    <p:anim calcmode="lin" valueType="num">
                                      <p:cBhvr additive="base">
                                        <p:cTn id="59" dur="550" fill="hold"/>
                                        <p:tgtEl>
                                          <p:spTgt spid="17"/>
                                        </p:tgtEl>
                                        <p:attrNameLst>
                                          <p:attrName>ppt_x</p:attrName>
                                        </p:attrNameLst>
                                      </p:cBhvr>
                                      <p:tavLst>
                                        <p:tav tm="0">
                                          <p:val>
                                            <p:strVal val="#ppt_x"/>
                                          </p:val>
                                        </p:tav>
                                        <p:tav tm="100000">
                                          <p:val>
                                            <p:strVal val="#ppt_x"/>
                                          </p:val>
                                        </p:tav>
                                      </p:tavLst>
                                    </p:anim>
                                    <p:anim calcmode="lin" valueType="num">
                                      <p:cBhvr additive="base">
                                        <p:cTn id="60" dur="550" fill="hold"/>
                                        <p:tgtEl>
                                          <p:spTgt spid="17"/>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50"/>
                                        <p:tgtEl>
                                          <p:spTgt spid="18"/>
                                        </p:tgtEl>
                                      </p:cBhvr>
                                    </p:animEffect>
                                    <p:anim calcmode="lin" valueType="num">
                                      <p:cBhvr additive="base">
                                        <p:cTn id="65" dur="550" fill="hold"/>
                                        <p:tgtEl>
                                          <p:spTgt spid="18"/>
                                        </p:tgtEl>
                                        <p:attrNameLst>
                                          <p:attrName>ppt_x</p:attrName>
                                        </p:attrNameLst>
                                      </p:cBhvr>
                                      <p:tavLst>
                                        <p:tav tm="0">
                                          <p:val>
                                            <p:strVal val="#ppt_x"/>
                                          </p:val>
                                        </p:tav>
                                        <p:tav tm="100000">
                                          <p:val>
                                            <p:strVal val="#ppt_x"/>
                                          </p:val>
                                        </p:tav>
                                      </p:tavLst>
                                    </p:anim>
                                    <p:anim calcmode="lin" valueType="num">
                                      <p:cBhvr additive="base">
                                        <p:cTn id="66" dur="550" fill="hold"/>
                                        <p:tgtEl>
                                          <p:spTgt spid="18"/>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anim calcmode="lin" valueType="num">
                                      <p:cBhvr additive="base">
                                        <p:cTn id="71" dur="550" fill="hold"/>
                                        <p:tgtEl>
                                          <p:spTgt spid="19"/>
                                        </p:tgtEl>
                                        <p:attrNameLst>
                                          <p:attrName>ppt_w</p:attrName>
                                        </p:attrNameLst>
                                      </p:cBhvr>
                                      <p:tavLst>
                                        <p:tav tm="0">
                                          <p:val>
                                            <p:strVal val="0"/>
                                          </p:val>
                                        </p:tav>
                                        <p:tav tm="100000">
                                          <p:val>
                                            <p:strVal val="#ppt_w"/>
                                          </p:val>
                                        </p:tav>
                                      </p:tavLst>
                                    </p:anim>
                                    <p:anim calcmode="lin" valueType="num">
                                      <p:cBhvr additive="base">
                                        <p:cTn id="72" dur="550" fill="hold"/>
                                        <p:tgtEl>
                                          <p:spTgt spid="19"/>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50"/>
                                        <p:tgtEl>
                                          <p:spTgt spid="20"/>
                                        </p:tgtEl>
                                      </p:cBhvr>
                                    </p:animEffect>
                                    <p:anim calcmode="lin" valueType="num">
                                      <p:cBhvr additive="base">
                                        <p:cTn id="77" dur="550" fill="hold"/>
                                        <p:tgtEl>
                                          <p:spTgt spid="20"/>
                                        </p:tgtEl>
                                        <p:attrNameLst>
                                          <p:attrName>ppt_x</p:attrName>
                                        </p:attrNameLst>
                                      </p:cBhvr>
                                      <p:tavLst>
                                        <p:tav tm="0">
                                          <p:val>
                                            <p:strVal val="#ppt_x"/>
                                          </p:val>
                                        </p:tav>
                                        <p:tav tm="100000">
                                          <p:val>
                                            <p:strVal val="#ppt_x"/>
                                          </p:val>
                                        </p:tav>
                                      </p:tavLst>
                                    </p:anim>
                                    <p:anim calcmode="lin" valueType="num">
                                      <p:cBhvr additive="base">
                                        <p:cTn id="78" dur="550" fill="hold"/>
                                        <p:tgtEl>
                                          <p:spTgt spid="20"/>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2c5fd702c6f21dc6.jpg"/>
          <p:cNvPicPr>
            <a:picLocks noChangeAspect="1"/>
          </p:cNvPicPr>
          <p:nvPr/>
        </p:nvPicPr>
        <p:blipFill>
          <a:blip r:embed="rId2"/>
          <a:srcRect l="17514" r="17514"/>
          <a:stretch>
            <a:fillRect/>
          </a:stretch>
        </p:blipFill>
        <p:spPr>
          <a:xfrm>
            <a:off x="6300000" y="0"/>
            <a:ext cx="5892000" cy="6858000"/>
          </a:xfrm>
          <a:prstGeom prst="rect">
            <a:avLst/>
          </a:prstGeom>
        </p:spPr>
      </p:pic>
      <p:sp>
        <p:nvSpPr>
          <p:cNvPr id="4" name="Rectangle 3"/>
          <p:cNvSpPr/>
          <p:nvPr/>
        </p:nvSpPr>
        <p:spPr>
          <a:xfrm>
            <a:off x="6300000" y="6558000"/>
            <a:ext cx="5892000" cy="300000"/>
          </a:xfrm>
          <a:prstGeom prst="rect">
            <a:avLst/>
          </a:prstGeom>
          <a:solidFill>
            <a:srgbClr val="0B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80000" y="6558000"/>
            <a:ext cx="5732000" cy="300000"/>
          </a:xfrm>
          <a:prstGeom prst="rect">
            <a:avLst/>
          </a:prstGeom>
          <a:noFill/>
        </p:spPr>
        <p:txBody>
          <a:bodyPr wrap="square" anchor="ctr" lIns="50800" rIns="50800">
            <a:spAutoFit/>
          </a:bodyPr>
          <a:lstStyle/>
          <a:p>
            <a:pPr algn="l"/>
            <a:r>
              <a:rPr sz="900" b="0">
                <a:solidFill>
                  <a:srgbClr val="D7E3F4"/>
                </a:solidFill>
                <a:latin typeface="Calibri"/>
              </a:rPr>
              <a:t>Rasm: Auledas · Wikimedia Commons · CC BY 4.0</a:t>
            </a:r>
          </a:p>
        </p:txBody>
      </p:sp>
      <p:sp>
        <p:nvSpPr>
          <p:cNvPr id="6" name="Rectangle 5"/>
          <p:cNvSpPr/>
          <p:nvPr/>
        </p:nvSpPr>
        <p:spPr>
          <a:xfrm>
            <a:off x="6240000" y="0"/>
            <a:ext cx="60000" cy="6858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00000" y="900000"/>
            <a:ext cx="2300000" cy="23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0000" y="900000"/>
            <a:ext cx="2300000" cy="2300000"/>
          </a:xfrm>
          <a:prstGeom prst="rect">
            <a:avLst/>
          </a:prstGeom>
          <a:noFill/>
        </p:spPr>
        <p:txBody>
          <a:bodyPr wrap="square" anchor="ctr" lIns="50800" rIns="50800">
            <a:spAutoFit/>
          </a:bodyPr>
          <a:lstStyle/>
          <a:p>
            <a:pPr algn="ctr"/>
            <a:r>
              <a:rPr sz="6400" b="1">
                <a:solidFill>
                  <a:srgbClr val="FFFFFF"/>
                </a:solidFill>
                <a:latin typeface="Calibri"/>
              </a:rPr>
              <a:t>03</a:t>
            </a:r>
          </a:p>
        </p:txBody>
      </p:sp>
      <p:sp>
        <p:nvSpPr>
          <p:cNvPr id="9" name="TextBox 8"/>
          <p:cNvSpPr txBox="1"/>
          <p:nvPr/>
        </p:nvSpPr>
        <p:spPr>
          <a:xfrm>
            <a:off x="800000" y="3500000"/>
            <a:ext cx="5200000" cy="1600000"/>
          </a:xfrm>
          <a:prstGeom prst="rect">
            <a:avLst/>
          </a:prstGeom>
          <a:noFill/>
        </p:spPr>
        <p:txBody>
          <a:bodyPr wrap="square" anchor="t" lIns="50800" rIns="50800">
            <a:spAutoFit/>
          </a:bodyPr>
          <a:lstStyle/>
          <a:p>
            <a:pPr algn="l"/>
            <a:r>
              <a:rPr sz="3000" b="1">
                <a:solidFill>
                  <a:srgbClr val="FFFFFF"/>
                </a:solidFill>
                <a:latin typeface="Calibri"/>
              </a:rPr>
              <a:t>Nazariy asoslar</a:t>
            </a:r>
          </a:p>
        </p:txBody>
      </p:sp>
      <p:sp>
        <p:nvSpPr>
          <p:cNvPr id="10" name="Rectangle 9"/>
          <p:cNvSpPr/>
          <p:nvPr/>
        </p:nvSpPr>
        <p:spPr>
          <a:xfrm>
            <a:off x="850000" y="52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4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wipe(left)">
                                      <p:cBhvr>
                                        <p:cTn id="11" dur="800"/>
                                        <p:tgtEl>
                                          <p:spTgt spid="6"/>
                                        </p:tgtEl>
                                      </p:cBhvr>
                                    </p:animEffect>
                                  </p:childTnLst>
                                </p:cTn>
                              </p:par>
                            </p:childTnLst>
                          </p:cTn>
                        </p:par>
                        <p:par>
                          <p:cTn id="12" fill="hold">
                            <p:stCondLst>
                              <p:cond delay="0"/>
                            </p:stCondLst>
                            <p:childTnLst>
                              <p:par>
                                <p:cTn id="13" presetID="10" presetClass="entr" presetSubtype="0" fill="hold" grpId="0" nodeType="after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50"/>
                                        <p:tgtEl>
                                          <p:spTgt spid="4"/>
                                        </p:tgtEl>
                                      </p:cBhvr>
                                    </p:animEffect>
                                  </p:childTnLst>
                                </p:cTn>
                              </p:par>
                            </p:childTnLst>
                          </p:cTn>
                        </p:par>
                        <p:par>
                          <p:cTn id="16" fill="hold">
                            <p:stCondLst>
                              <p:cond delay="0"/>
                            </p:stCondLst>
                            <p:childTnLst>
                              <p:par>
                                <p:cTn id="17" presetID="10" presetClass="entr" presetSubtype="0" fill="hold" grpId="0" nodeType="after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50"/>
                                        <p:tgtEl>
                                          <p:spTgt spid="5"/>
                                        </p:tgtEl>
                                      </p:cBhvr>
                                    </p:animEffect>
                                  </p:childTnLst>
                                </p:cTn>
                              </p:par>
                            </p:childTnLst>
                          </p:cTn>
                        </p:par>
                        <p:par>
                          <p:cTn id="20" fill="hold">
                            <p:stCondLst>
                              <p:cond delay="200"/>
                            </p:stCondLst>
                            <p:childTnLst>
                              <p:par>
                                <p:cTn id="21" presetID="53" presetClass="entr" presetSubtype="16" fill="hold" grpId="0" nodeType="after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550"/>
                                        <p:tgtEl>
                                          <p:spTgt spid="7"/>
                                        </p:tgtEl>
                                      </p:cBhvr>
                                    </p:animEffect>
                                    <p:anim calcmode="lin" valueType="num">
                                      <p:cBhvr additive="base">
                                        <p:cTn id="24" dur="550" fill="hold"/>
                                        <p:tgtEl>
                                          <p:spTgt spid="7"/>
                                        </p:tgtEl>
                                        <p:attrNameLst>
                                          <p:attrName>ppt_w</p:attrName>
                                        </p:attrNameLst>
                                      </p:cBhvr>
                                      <p:tavLst>
                                        <p:tav tm="0">
                                          <p:val>
                                            <p:strVal val="0"/>
                                          </p:val>
                                        </p:tav>
                                        <p:tav tm="100000">
                                          <p:val>
                                            <p:strVal val="#ppt_w"/>
                                          </p:val>
                                        </p:tav>
                                      </p:tavLst>
                                    </p:anim>
                                    <p:anim calcmode="lin" valueType="num">
                                      <p:cBhvr additive="base">
                                        <p:cTn id="25" dur="550" fill="hold"/>
                                        <p:tgtEl>
                                          <p:spTgt spid="7"/>
                                        </p:tgtEl>
                                        <p:attrNameLst>
                                          <p:attrName>ppt_h</p:attrName>
                                        </p:attrNameLst>
                                      </p:cBhvr>
                                      <p:tavLst>
                                        <p:tav tm="0">
                                          <p:val>
                                            <p:strVal val="0"/>
                                          </p:val>
                                        </p:tav>
                                        <p:tav tm="100000">
                                          <p:val>
                                            <p:strVal val="#ppt_h"/>
                                          </p:val>
                                        </p:tav>
                                      </p:tavLst>
                                    </p:anim>
                                  </p:childTnLst>
                                </p:cTn>
                              </p:par>
                            </p:childTnLst>
                          </p:cTn>
                        </p:par>
                        <p:par>
                          <p:cTn id="26" fill="hold">
                            <p:stCondLst>
                              <p:cond delay="300"/>
                            </p:stCondLst>
                            <p:childTnLst>
                              <p:par>
                                <p:cTn id="27" presetID="53" presetClass="entr" presetSubtype="16" fill="hold" grpId="0" nodeType="after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550"/>
                                        <p:tgtEl>
                                          <p:spTgt spid="8"/>
                                        </p:tgtEl>
                                      </p:cBhvr>
                                    </p:animEffect>
                                    <p:anim calcmode="lin" valueType="num">
                                      <p:cBhvr additive="base">
                                        <p:cTn id="30" dur="550" fill="hold"/>
                                        <p:tgtEl>
                                          <p:spTgt spid="8"/>
                                        </p:tgtEl>
                                        <p:attrNameLst>
                                          <p:attrName>ppt_w</p:attrName>
                                        </p:attrNameLst>
                                      </p:cBhvr>
                                      <p:tavLst>
                                        <p:tav tm="0">
                                          <p:val>
                                            <p:strVal val="0"/>
                                          </p:val>
                                        </p:tav>
                                        <p:tav tm="100000">
                                          <p:val>
                                            <p:strVal val="#ppt_w"/>
                                          </p:val>
                                        </p:tav>
                                      </p:tavLst>
                                    </p:anim>
                                    <p:anim calcmode="lin" valueType="num">
                                      <p:cBhvr additive="base">
                                        <p:cTn id="31" dur="550" fill="hold"/>
                                        <p:tgtEl>
                                          <p:spTgt spid="8"/>
                                        </p:tgtEl>
                                        <p:attrNameLst>
                                          <p:attrName>ppt_h</p:attrName>
                                        </p:attrNameLst>
                                      </p:cBhvr>
                                      <p:tavLst>
                                        <p:tav tm="0">
                                          <p:val>
                                            <p:strVal val="0"/>
                                          </p:val>
                                        </p:tav>
                                        <p:tav tm="100000">
                                          <p:val>
                                            <p:strVal val="#ppt_h"/>
                                          </p:val>
                                        </p:tav>
                                      </p:tavLst>
                                    </p:anim>
                                  </p:childTnLst>
                                </p:cTn>
                              </p:par>
                            </p:childTnLst>
                          </p:cTn>
                        </p:par>
                        <p:par>
                          <p:cTn id="32" fill="hold">
                            <p:stCondLst>
                              <p:cond delay="450"/>
                            </p:stCondLst>
                            <p:childTnLst>
                              <p:par>
                                <p:cTn id="33" presetID="2" presetClass="entr" presetSubtype="8" fill="hold" grpId="0" nodeType="afterEffect">
                                  <p:stCondLst>
                                    <p:cond delay="0"/>
                                  </p:stCondLst>
                                  <p:childTnLst>
                                    <p:set>
                                      <p:cBhvr>
                                        <p:cTn id="34" dur="1" fill="hold">
                                          <p:stCondLst>
                                            <p:cond delay="0"/>
                                          </p:stCondLst>
                                        </p:cTn>
                                        <p:tgtEl>
                                          <p:spTgt spid="9"/>
                                        </p:tgtEl>
                                        <p:attrNameLst>
                                          <p:attrName>style.visibility</p:attrName>
                                        </p:attrNameLst>
                                      </p:cBhvr>
                                      <p:to>
                                        <p:strVal val="visible"/>
                                      </p:to>
                                    </p:set>
                                    <p:anim calcmode="lin" valueType="num">
                                      <p:cBhvr additive="base">
                                        <p:cTn id="36" dur="550" fill="hold"/>
                                        <p:tgtEl>
                                          <p:spTgt spid="9"/>
                                        </p:tgtEl>
                                        <p:attrNameLst>
                                          <p:attrName>ppt_x</p:attrName>
                                        </p:attrNameLst>
                                      </p:cBhvr>
                                      <p:tavLst>
                                        <p:tav tm="0">
                                          <p:val>
                                            <p:strVal val="0-#ppt_w/2"/>
                                          </p:val>
                                        </p:tav>
                                        <p:tav tm="100000">
                                          <p:val>
                                            <p:strVal val="#ppt_x"/>
                                          </p:val>
                                        </p:tav>
                                      </p:tavLst>
                                    </p:anim>
                                    <p:anim calcmode="lin" valueType="num">
                                      <p:cBhvr additive="base">
                                        <p:cTn id="37" dur="550" fill="hold"/>
                                        <p:tgtEl>
                                          <p:spTgt spid="9"/>
                                        </p:tgtEl>
                                        <p:attrNameLst>
                                          <p:attrName>ppt_y</p:attrName>
                                        </p:attrNameLst>
                                      </p:cBhvr>
                                      <p:tavLst>
                                        <p:tav tm="0">
                                          <p:val>
                                            <p:strVal val="#ppt_y"/>
                                          </p:val>
                                        </p:tav>
                                        <p:tav tm="100000">
                                          <p:val>
                                            <p:strVal val="#ppt_y"/>
                                          </p:val>
                                        </p:tav>
                                      </p:tavLst>
                                    </p:anim>
                                  </p:childTnLst>
                                </p:cTn>
                              </p:par>
                            </p:childTnLst>
                          </p:cTn>
                        </p:par>
                        <p:par>
                          <p:cTn id="38" fill="hold">
                            <p:stCondLst>
                              <p:cond delay="550"/>
                            </p:stCondLst>
                            <p:childTnLst>
                              <p:par>
                                <p:cTn id="39" presetID="22" presetClass="entr" presetSubtype="8" fill="hold" grpId="0" nodeType="after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wipe(left)">
                                      <p:cBhvr>
                                        <p:cTn id="42"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4" grpId="0" animBg="1"/>
      <p:bldP spid="5" grpId="0" animBg="1"/>
      <p:bldP spid="7" grpId="0" animBg="1"/>
      <p:bldP spid="8" grpId="0" animBg="1"/>
      <p:bldP spid="9" grpId="0" animBg="1"/>
      <p:bldP spid="10" grpId="0" animBg="1"/>
    </p:bld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AI tizimining qatlamli arxitekturasi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A1 · Sun'iy intellektga asoslangan kompyuter tizimlari arxitekturasini tahlil qilish va loyihalash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10</a:t>
            </a:r>
          </a:p>
        </p:txBody>
      </p:sp>
      <p:sp>
        <p:nvSpPr>
          <p:cNvPr id="10" name="Rounded Rectangle 9"/>
          <p:cNvSpPr/>
          <p:nvPr/>
        </p:nvSpPr>
        <p:spPr>
          <a:xfrm>
            <a:off x="550000" y="2132700"/>
            <a:ext cx="11100000" cy="158730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132700"/>
            <a:ext cx="70000" cy="15873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80000" y="2716350"/>
            <a:ext cx="420000" cy="42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1</a:t>
            </a:r>
          </a:p>
        </p:txBody>
      </p:sp>
      <p:sp>
        <p:nvSpPr>
          <p:cNvPr id="13" name="TextBox 12"/>
          <p:cNvSpPr txBox="1"/>
          <p:nvPr/>
        </p:nvSpPr>
        <p:spPr>
          <a:xfrm>
            <a:off x="1380000" y="2172700"/>
            <a:ext cx="10150000" cy="1507300"/>
          </a:xfrm>
          <a:prstGeom prst="rect">
            <a:avLst/>
          </a:prstGeom>
          <a:noFill/>
        </p:spPr>
        <p:txBody>
          <a:bodyPr wrap="square" anchor="ctr">
            <a:spAutoFit/>
          </a:bodyPr>
          <a:lstStyle/>
          <a:p>
            <a:r>
              <a:rPr sz="1600" b="1">
                <a:solidFill>
                  <a:srgbClr val="1F3A5F"/>
                </a:solidFill>
                <a:latin typeface="Calibri"/>
              </a:rPr>
              <a:t>Sun'iy intellektga asoslangan kompyuter tizimini (AI-enabled computer system) tahlil qilishda to'rt qatlamli model qulay: (1) ma'lumotlar qatlami — sensorlar, oqimlar, saqlash, oldindan ishlov berish; (2) model qatlami — neyron tarmoq arxitekturasi…</a:t>
            </a:r>
          </a:p>
          <a:p>
            <a:pPr>
              <a:spcBef>
                <a:spcPts val="400"/>
              </a:spcBef>
            </a:pPr>
            <a:r>
              <a:rPr sz="1500">
                <a:solidFill>
                  <a:srgbClr val="334055"/>
                </a:solidFill>
                <a:latin typeface="Calibri"/>
              </a:rPr>
              <a:t>Har bir qatlam o'ziga xos resurs talabiga ega va qatlamlar orasidagi interfeyslar aynan tizimning tiqilib qoladigan joylari (bottleneck) bo'lishi mumkin.</a:t>
            </a:r>
          </a:p>
        </p:txBody>
      </p:sp>
      <p:sp>
        <p:nvSpPr>
          <p:cNvPr id="14" name="Rounded Rectangle 13"/>
          <p:cNvSpPr/>
          <p:nvPr/>
        </p:nvSpPr>
        <p:spPr>
          <a:xfrm>
            <a:off x="550000" y="3830000"/>
            <a:ext cx="11100000" cy="158730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3830000"/>
            <a:ext cx="70000" cy="15873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80000" y="441365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2</a:t>
            </a:r>
          </a:p>
        </p:txBody>
      </p:sp>
      <p:sp>
        <p:nvSpPr>
          <p:cNvPr id="17" name="TextBox 16"/>
          <p:cNvSpPr txBox="1"/>
          <p:nvPr/>
        </p:nvSpPr>
        <p:spPr>
          <a:xfrm>
            <a:off x="1380000" y="3870000"/>
            <a:ext cx="10150000" cy="1507300"/>
          </a:xfrm>
          <a:prstGeom prst="rect">
            <a:avLst/>
          </a:prstGeom>
          <a:noFill/>
        </p:spPr>
        <p:txBody>
          <a:bodyPr wrap="square" anchor="ctr">
            <a:spAutoFit/>
          </a:bodyPr>
          <a:lstStyle/>
          <a:p>
            <a:r>
              <a:rPr sz="1500" b="0">
                <a:solidFill>
                  <a:srgbClr val="1B2430"/>
                </a:solidFill>
                <a:latin typeface="Calibri"/>
              </a:rPr>
              <a:t>Tahlilning asosiy ko'rsatkichlari quyidagilar: o'tkazuvchanlik (throughput) — birlik vaqtda ishlangan so'rovlar yoki kadrlar soni; kechikish (latency) — bitta so'rovning kirishdan natijagacha o'tgan vaqti, odatda o'rtacha emas, balki p95 yoki p99 persentil…</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Ish yuklamasini xarakterlash: FLOP, bayt va arifmetik intensivlik</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A1 · Sun'iy intellektga asoslangan kompyuter tizimlari arxitekturasini tahlil qilish va loyihalash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11</a:t>
            </a:r>
          </a:p>
        </p:txBody>
      </p:sp>
      <p:sp>
        <p:nvSpPr>
          <p:cNvPr id="10" name="Rounded Rectangle 9"/>
          <p:cNvSpPr/>
          <p:nvPr/>
        </p:nvSpPr>
        <p:spPr>
          <a:xfrm>
            <a:off x="550000" y="2132700"/>
            <a:ext cx="11100000" cy="158730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132700"/>
            <a:ext cx="70000" cy="15873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80000" y="2716350"/>
            <a:ext cx="420000" cy="42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1</a:t>
            </a:r>
          </a:p>
        </p:txBody>
      </p:sp>
      <p:sp>
        <p:nvSpPr>
          <p:cNvPr id="13" name="TextBox 12"/>
          <p:cNvSpPr txBox="1"/>
          <p:nvPr/>
        </p:nvSpPr>
        <p:spPr>
          <a:xfrm>
            <a:off x="1380000" y="2172700"/>
            <a:ext cx="10150000" cy="1507300"/>
          </a:xfrm>
          <a:prstGeom prst="rect">
            <a:avLst/>
          </a:prstGeom>
          <a:noFill/>
        </p:spPr>
        <p:txBody>
          <a:bodyPr wrap="square" anchor="ctr">
            <a:spAutoFit/>
          </a:bodyPr>
          <a:lstStyle/>
          <a:p>
            <a:r>
              <a:rPr sz="1600" b="1">
                <a:solidFill>
                  <a:srgbClr val="1F3A5F"/>
                </a:solidFill>
                <a:latin typeface="Calibri"/>
              </a:rPr>
              <a:t>Har qanday loyihalash yuklamani raqamlar bilan ifodalashdan boshlanadi.</a:t>
            </a:r>
          </a:p>
          <a:p>
            <a:pPr>
              <a:spcBef>
                <a:spcPts val="400"/>
              </a:spcBef>
            </a:pPr>
            <a:r>
              <a:rPr sz="1500">
                <a:solidFill>
                  <a:srgbClr val="334055"/>
                </a:solidFill>
                <a:latin typeface="Calibri"/>
              </a:rPr>
              <a:t>Chuqur o'rganish modelining bitta inferensi uchun zarur bo'lgan suzuvchi nuqtali amallar soni (FLOP) model arxitekturasidan aniq hisoblanadi: konvolyutsiya qatlami uchun FLOP = 2  K_h  K_w  C_in  C_out  H_out  W_out, to'liq bog'langan qatlam uchun FLOP = 2  N_in  N_out.</a:t>
            </a:r>
          </a:p>
        </p:txBody>
      </p:sp>
      <p:sp>
        <p:nvSpPr>
          <p:cNvPr id="14" name="Rounded Rectangle 13"/>
          <p:cNvSpPr/>
          <p:nvPr/>
        </p:nvSpPr>
        <p:spPr>
          <a:xfrm>
            <a:off x="550000" y="3830000"/>
            <a:ext cx="11100000" cy="158730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3830000"/>
            <a:ext cx="70000" cy="15873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80000" y="441365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2</a:t>
            </a:r>
          </a:p>
        </p:txBody>
      </p:sp>
      <p:sp>
        <p:nvSpPr>
          <p:cNvPr id="17" name="TextBox 16"/>
          <p:cNvSpPr txBox="1"/>
          <p:nvPr/>
        </p:nvSpPr>
        <p:spPr>
          <a:xfrm>
            <a:off x="1380000" y="3870000"/>
            <a:ext cx="10150000" cy="1507300"/>
          </a:xfrm>
          <a:prstGeom prst="rect">
            <a:avLst/>
          </a:prstGeom>
          <a:noFill/>
        </p:spPr>
        <p:txBody>
          <a:bodyPr wrap="square" anchor="ctr">
            <a:spAutoFit/>
          </a:bodyPr>
          <a:lstStyle/>
          <a:p>
            <a:r>
              <a:rPr sz="1600" b="1">
                <a:solidFill>
                  <a:srgbClr val="1F3A5F"/>
                </a:solidFill>
                <a:latin typeface="Calibri"/>
              </a:rPr>
              <a:t>Xotira trafigi ham shunchalik muhim.</a:t>
            </a:r>
          </a:p>
          <a:p>
            <a:pPr>
              <a:spcBef>
                <a:spcPts val="400"/>
              </a:spcBef>
            </a:pPr>
            <a:r>
              <a:rPr sz="1500">
                <a:solidFill>
                  <a:srgbClr val="334055"/>
                </a:solidFill>
                <a:latin typeface="Calibri"/>
              </a:rPr>
              <a:t>Modelning har bir qatlami o'z vaznlarini (weights) va faollashuvlarini (activations) xotiradan o'qiydi va yozadi. Agar vaznlar FP16 formatida bo'lsa, YOLOv8s'ning 11,2 million parametri 22,4 MB joy egallaydi; paketlash (batching) ishlatilmasa, har inferensda vaznlar qayta o'qiladi. Arifmetik intensivlik AI = FLOP / bayt — bitta xotiradan o'qilgan baytga to'g'ri keladigan amallar soni.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Hardware–Software Co-design tamoyillari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A1 · Sun'iy intellektga asoslangan kompyuter tizimlari arxitekturasini tahlil qilish va loyihalash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12</a:t>
            </a:r>
          </a:p>
        </p:txBody>
      </p:sp>
      <p:sp>
        <p:nvSpPr>
          <p:cNvPr id="10" name="Rounded Rectangle 9"/>
          <p:cNvSpPr/>
          <p:nvPr/>
        </p:nvSpPr>
        <p:spPr>
          <a:xfrm>
            <a:off x="550000" y="1250000"/>
            <a:ext cx="11100000" cy="118000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250000"/>
            <a:ext cx="70000" cy="118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80000" y="1630000"/>
            <a:ext cx="420000" cy="42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1</a:t>
            </a:r>
          </a:p>
        </p:txBody>
      </p:sp>
      <p:sp>
        <p:nvSpPr>
          <p:cNvPr id="13" name="TextBox 12"/>
          <p:cNvSpPr txBox="1"/>
          <p:nvPr/>
        </p:nvSpPr>
        <p:spPr>
          <a:xfrm>
            <a:off x="1380000" y="1290000"/>
            <a:ext cx="10150000" cy="1100000"/>
          </a:xfrm>
          <a:prstGeom prst="rect">
            <a:avLst/>
          </a:prstGeom>
          <a:noFill/>
        </p:spPr>
        <p:txBody>
          <a:bodyPr wrap="square" anchor="ctr">
            <a:spAutoFit/>
          </a:bodyPr>
          <a:lstStyle/>
          <a:p>
            <a:r>
              <a:rPr sz="1500" b="1">
                <a:solidFill>
                  <a:srgbClr val="1F3A5F"/>
                </a:solidFill>
                <a:latin typeface="Calibri"/>
              </a:rPr>
              <a:t>Co-design — apparat va dasturiy qarorlarni ketma-ket emas, balki iterativ va birgalikda qabul qilish metodologiyasi.</a:t>
            </a:r>
          </a:p>
          <a:p>
            <a:pPr>
              <a:spcBef>
                <a:spcPts val="400"/>
              </a:spcBef>
            </a:pPr>
            <a:r>
              <a:rPr sz="1400">
                <a:solidFill>
                  <a:srgbClr val="334055"/>
                </a:solidFill>
                <a:latin typeface="Calibri"/>
              </a:rPr>
              <a:t>Uning asosiy tamoyillari:</a:t>
            </a:r>
          </a:p>
        </p:txBody>
      </p:sp>
      <p:sp>
        <p:nvSpPr>
          <p:cNvPr id="14" name="Rounded Rectangle 13"/>
          <p:cNvSpPr/>
          <p:nvPr/>
        </p:nvSpPr>
        <p:spPr>
          <a:xfrm>
            <a:off x="550000" y="2540000"/>
            <a:ext cx="11100000" cy="118000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2540000"/>
            <a:ext cx="70000" cy="118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80000" y="292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2</a:t>
            </a:r>
          </a:p>
        </p:txBody>
      </p:sp>
      <p:sp>
        <p:nvSpPr>
          <p:cNvPr id="17" name="TextBox 16"/>
          <p:cNvSpPr txBox="1"/>
          <p:nvPr/>
        </p:nvSpPr>
        <p:spPr>
          <a:xfrm>
            <a:off x="1380000" y="2580000"/>
            <a:ext cx="10150000" cy="1100000"/>
          </a:xfrm>
          <a:prstGeom prst="rect">
            <a:avLst/>
          </a:prstGeom>
          <a:noFill/>
        </p:spPr>
        <p:txBody>
          <a:bodyPr wrap="square" anchor="ctr">
            <a:spAutoFit/>
          </a:bodyPr>
          <a:lstStyle/>
          <a:p>
            <a:r>
              <a:rPr sz="1500" b="1">
                <a:solidFill>
                  <a:srgbClr val="1F3A5F"/>
                </a:solidFill>
                <a:latin typeface="Calibri"/>
              </a:rPr>
              <a:t>Yuklamadan boshlash (workload-first). Avval model operatorlari profili tuziladi.</a:t>
            </a:r>
          </a:p>
          <a:p>
            <a:pPr>
              <a:spcBef>
                <a:spcPts val="400"/>
              </a:spcBef>
            </a:pPr>
            <a:r>
              <a:rPr sz="1400">
                <a:solidFill>
                  <a:srgbClr val="334055"/>
                </a:solidFill>
                <a:latin typeface="Calibri"/>
              </a:rPr>
              <a:t>qaysi operatorlar vaqtning necha foizini oladi. Agar 85 % vaqt konvolyutsiya va matritsa ko'paytirishga ketsa, Tensor Core yoki NPU hal qiluvchi; agar vaqtning katta qismi NMS (non-maximum suppression) kabi tarmoqlanuvchi mantiqqa ketsa, tezkor CPU yadrolari kerak.</a:t>
            </a:r>
          </a:p>
        </p:txBody>
      </p:sp>
      <p:sp>
        <p:nvSpPr>
          <p:cNvPr id="18" name="Rounded Rectangle 17"/>
          <p:cNvSpPr/>
          <p:nvPr/>
        </p:nvSpPr>
        <p:spPr>
          <a:xfrm>
            <a:off x="550000" y="3830000"/>
            <a:ext cx="11100000" cy="118000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3830000"/>
            <a:ext cx="70000" cy="1180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80000" y="4210000"/>
            <a:ext cx="420000" cy="42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3</a:t>
            </a:r>
          </a:p>
        </p:txBody>
      </p:sp>
      <p:sp>
        <p:nvSpPr>
          <p:cNvPr id="21" name="TextBox 20"/>
          <p:cNvSpPr txBox="1"/>
          <p:nvPr/>
        </p:nvSpPr>
        <p:spPr>
          <a:xfrm>
            <a:off x="1380000" y="3870000"/>
            <a:ext cx="10150000" cy="1100000"/>
          </a:xfrm>
          <a:prstGeom prst="rect">
            <a:avLst/>
          </a:prstGeom>
          <a:noFill/>
        </p:spPr>
        <p:txBody>
          <a:bodyPr wrap="square" anchor="ctr">
            <a:spAutoFit/>
          </a:bodyPr>
          <a:lstStyle/>
          <a:p>
            <a:r>
              <a:rPr sz="1400" b="0">
                <a:solidFill>
                  <a:srgbClr val="1B2430"/>
                </a:solidFill>
                <a:latin typeface="Calibri"/>
              </a:rPr>
              <a:t>Aniqlik formatini apparatga moslashtirish. INT8 kvantlash Tensor Core'larda 2 baravar, Edge TPU'da esa yagona qo'llab-quvvatlanadigan format. Model INT8'ga sifatni yo'qotmasdan kvantlanmasa, Edge TPU avtomatik ravishda nomzodlar ro'yxatidan chiqadi.</a:t>
            </a:r>
          </a:p>
        </p:txBody>
      </p:sp>
      <p:sp>
        <p:nvSpPr>
          <p:cNvPr id="22" name="Rounded Rectangle 21"/>
          <p:cNvSpPr/>
          <p:nvPr/>
        </p:nvSpPr>
        <p:spPr>
          <a:xfrm>
            <a:off x="550000" y="5120000"/>
            <a:ext cx="11100000" cy="118000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0000" y="5120000"/>
            <a:ext cx="70000" cy="11800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80000" y="5500000"/>
            <a:ext cx="420000" cy="42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4</a:t>
            </a:r>
          </a:p>
        </p:txBody>
      </p:sp>
      <p:sp>
        <p:nvSpPr>
          <p:cNvPr id="25" name="TextBox 24"/>
          <p:cNvSpPr txBox="1"/>
          <p:nvPr/>
        </p:nvSpPr>
        <p:spPr>
          <a:xfrm>
            <a:off x="1380000" y="5160000"/>
            <a:ext cx="10150000" cy="1100000"/>
          </a:xfrm>
          <a:prstGeom prst="rect">
            <a:avLst/>
          </a:prstGeom>
          <a:noFill/>
        </p:spPr>
        <p:txBody>
          <a:bodyPr wrap="square" anchor="ctr">
            <a:spAutoFit/>
          </a:bodyPr>
          <a:lstStyle/>
          <a:p>
            <a:r>
              <a:rPr sz="1400" b="0">
                <a:solidFill>
                  <a:srgbClr val="1B2430"/>
                </a:solidFill>
                <a:latin typeface="Calibri"/>
              </a:rPr>
              <a:t>Operatorlar qamrovi (operator coverage). Har bir tezlatkich cheklangan operatorlar to'plamini qo'llab-quvvatlaydi. Qo'llab-quvvatlanmagan operator CPU'ga «tushib» qoladi (fallback) va butun grafikning tezligini pasaytiradi. Loyihalashda model grafigi va tezlatkich operatorlar ro'yxati solishtiriladi.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0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anim calcmode="lin" valueType="num">
                                      <p:cBhvr additive="base">
                                        <p:cTn id="83" dur="550" fill="hold"/>
                                        <p:tgtEl>
                                          <p:spTgt spid="22"/>
                                        </p:tgtEl>
                                        <p:attrNameLst>
                                          <p:attrName>ppt_x</p:attrName>
                                        </p:attrNameLst>
                                      </p:cBhvr>
                                      <p:tavLst>
                                        <p:tav tm="0">
                                          <p:val>
                                            <p:strVal val="#ppt_x"/>
                                          </p:val>
                                        </p:tav>
                                        <p:tav tm="100000">
                                          <p:val>
                                            <p:strVal val="#ppt_x"/>
                                          </p:val>
                                        </p:tav>
                                      </p:tavLst>
                                    </p:anim>
                                    <p:anim calcmode="lin" valueType="num">
                                      <p:cBhvr additive="base">
                                        <p:cTn id="84" dur="550" fill="hold"/>
                                        <p:tgtEl>
                                          <p:spTgt spid="22"/>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3"/>
                                        </p:tgtEl>
                                        <p:attrNameLst>
                                          <p:attrName>style.visibility</p:attrName>
                                        </p:attrNameLst>
                                      </p:cBhvr>
                                      <p:to>
                                        <p:strVal val="visible"/>
                                      </p:to>
                                    </p:set>
                                    <p:animEffect transition="in" filter="fade">
                                      <p:cBhvr>
                                        <p:cTn id="88" dur="550"/>
                                        <p:tgtEl>
                                          <p:spTgt spid="23"/>
                                        </p:tgtEl>
                                      </p:cBhvr>
                                    </p:animEffect>
                                    <p:anim calcmode="lin" valueType="num">
                                      <p:cBhvr additive="base">
                                        <p:cTn id="89" dur="550" fill="hold"/>
                                        <p:tgtEl>
                                          <p:spTgt spid="23"/>
                                        </p:tgtEl>
                                        <p:attrNameLst>
                                          <p:attrName>ppt_x</p:attrName>
                                        </p:attrNameLst>
                                      </p:cBhvr>
                                      <p:tavLst>
                                        <p:tav tm="0">
                                          <p:val>
                                            <p:strVal val="#ppt_x"/>
                                          </p:val>
                                        </p:tav>
                                        <p:tav tm="100000">
                                          <p:val>
                                            <p:strVal val="#ppt_x"/>
                                          </p:val>
                                        </p:tav>
                                      </p:tavLst>
                                    </p:anim>
                                    <p:anim calcmode="lin" valueType="num">
                                      <p:cBhvr additive="base">
                                        <p:cTn id="90" dur="550" fill="hold"/>
                                        <p:tgtEl>
                                          <p:spTgt spid="23"/>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4"/>
                                        </p:tgtEl>
                                        <p:attrNameLst>
                                          <p:attrName>style.visibility</p:attrName>
                                        </p:attrNameLst>
                                      </p:cBhvr>
                                      <p:to>
                                        <p:strVal val="visible"/>
                                      </p:to>
                                    </p:set>
                                    <p:animEffect transition="in" filter="fade">
                                      <p:cBhvr>
                                        <p:cTn id="94" dur="550"/>
                                        <p:tgtEl>
                                          <p:spTgt spid="24"/>
                                        </p:tgtEl>
                                      </p:cBhvr>
                                    </p:animEffect>
                                    <p:anim calcmode="lin" valueType="num">
                                      <p:cBhvr additive="base">
                                        <p:cTn id="95" dur="550" fill="hold"/>
                                        <p:tgtEl>
                                          <p:spTgt spid="24"/>
                                        </p:tgtEl>
                                        <p:attrNameLst>
                                          <p:attrName>ppt_w</p:attrName>
                                        </p:attrNameLst>
                                      </p:cBhvr>
                                      <p:tavLst>
                                        <p:tav tm="0">
                                          <p:val>
                                            <p:strVal val="0"/>
                                          </p:val>
                                        </p:tav>
                                        <p:tav tm="100000">
                                          <p:val>
                                            <p:strVal val="#ppt_w"/>
                                          </p:val>
                                        </p:tav>
                                      </p:tavLst>
                                    </p:anim>
                                    <p:anim calcmode="lin" valueType="num">
                                      <p:cBhvr additive="base">
                                        <p:cTn id="96" dur="550" fill="hold"/>
                                        <p:tgtEl>
                                          <p:spTgt spid="24"/>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5"/>
                                        </p:tgtEl>
                                        <p:attrNameLst>
                                          <p:attrName>style.visibility</p:attrName>
                                        </p:attrNameLst>
                                      </p:cBhvr>
                                      <p:to>
                                        <p:strVal val="visible"/>
                                      </p:to>
                                    </p:set>
                                    <p:animEffect transition="in" filter="fade">
                                      <p:cBhvr>
                                        <p:cTn id="100" dur="550"/>
                                        <p:tgtEl>
                                          <p:spTgt spid="25"/>
                                        </p:tgtEl>
                                      </p:cBhvr>
                                    </p:animEffect>
                                    <p:anim calcmode="lin" valueType="num">
                                      <p:cBhvr additive="base">
                                        <p:cTn id="101" dur="550" fill="hold"/>
                                        <p:tgtEl>
                                          <p:spTgt spid="25"/>
                                        </p:tgtEl>
                                        <p:attrNameLst>
                                          <p:attrName>ppt_x</p:attrName>
                                        </p:attrNameLst>
                                      </p:cBhvr>
                                      <p:tavLst>
                                        <p:tav tm="0">
                                          <p:val>
                                            <p:strVal val="#ppt_x"/>
                                          </p:val>
                                        </p:tav>
                                        <p:tav tm="100000">
                                          <p:val>
                                            <p:strVal val="#ppt_x"/>
                                          </p:val>
                                        </p:tav>
                                      </p:tavLst>
                                    </p:anim>
                                    <p:anim calcmode="lin" valueType="num">
                                      <p:cBhvr additive="base">
                                        <p:cTn id="102" dur="550" fill="hold"/>
                                        <p:tgtEl>
                                          <p:spTgt spid="25"/>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Lst>
  </p:timing>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Hardware–Software Co-design tamoyillari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A1 · Sun'iy intellektga asoslangan kompyuter tizimlari arxitekturasini tahlil qilish va loyihalash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13</a:t>
            </a:r>
          </a:p>
        </p:txBody>
      </p:sp>
      <p:sp>
        <p:nvSpPr>
          <p:cNvPr id="10" name="Rounded Rectangle 9"/>
          <p:cNvSpPr/>
          <p:nvPr/>
        </p:nvSpPr>
        <p:spPr>
          <a:xfrm>
            <a:off x="550000" y="2038430"/>
            <a:ext cx="11100000" cy="108438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038430"/>
            <a:ext cx="70000" cy="108438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80000" y="2370620"/>
            <a:ext cx="420000" cy="4200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5</a:t>
            </a:r>
          </a:p>
        </p:txBody>
      </p:sp>
      <p:sp>
        <p:nvSpPr>
          <p:cNvPr id="13" name="TextBox 12"/>
          <p:cNvSpPr txBox="1"/>
          <p:nvPr/>
        </p:nvSpPr>
        <p:spPr>
          <a:xfrm>
            <a:off x="1380000" y="2078430"/>
            <a:ext cx="10150000" cy="1004380"/>
          </a:xfrm>
          <a:prstGeom prst="rect">
            <a:avLst/>
          </a:prstGeom>
          <a:noFill/>
        </p:spPr>
        <p:txBody>
          <a:bodyPr wrap="square" anchor="ctr">
            <a:spAutoFit/>
          </a:bodyPr>
          <a:lstStyle/>
          <a:p>
            <a:r>
              <a:rPr sz="1500" b="0">
                <a:solidFill>
                  <a:srgbClr val="1B2430"/>
                </a:solidFill>
                <a:latin typeface="Calibri"/>
              </a:rPr>
              <a:t>Xotira iyerarxiyasini hisobga olish. On-chip SRAM (masalan, Edge TPU'da 8 MB, Orin'da 4 MB L2 + yadro keshlari) ga sig'adigan model va faollashuvlar tashqi DRAM'ga murojaatni keskin kamaytiradi.</a:t>
            </a:r>
          </a:p>
        </p:txBody>
      </p:sp>
      <p:sp>
        <p:nvSpPr>
          <p:cNvPr id="14" name="Rounded Rectangle 13"/>
          <p:cNvSpPr/>
          <p:nvPr/>
        </p:nvSpPr>
        <p:spPr>
          <a:xfrm>
            <a:off x="550000" y="3232810"/>
            <a:ext cx="11100000" cy="108438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3232810"/>
            <a:ext cx="70000" cy="108438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80000" y="3565000"/>
            <a:ext cx="420000" cy="420000"/>
          </a:xfrm>
          <a:prstGeom prst="ellipse">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6</a:t>
            </a:r>
          </a:p>
        </p:txBody>
      </p:sp>
      <p:sp>
        <p:nvSpPr>
          <p:cNvPr id="17" name="TextBox 16"/>
          <p:cNvSpPr txBox="1"/>
          <p:nvPr/>
        </p:nvSpPr>
        <p:spPr>
          <a:xfrm>
            <a:off x="1380000" y="3272810"/>
            <a:ext cx="10150000" cy="1004380"/>
          </a:xfrm>
          <a:prstGeom prst="rect">
            <a:avLst/>
          </a:prstGeom>
          <a:noFill/>
        </p:spPr>
        <p:txBody>
          <a:bodyPr wrap="square" anchor="ctr">
            <a:spAutoFit/>
          </a:bodyPr>
          <a:lstStyle/>
          <a:p>
            <a:r>
              <a:rPr sz="1500" b="0">
                <a:solidFill>
                  <a:srgbClr val="1B2430"/>
                </a:solidFill>
                <a:latin typeface="Calibri"/>
              </a:rPr>
              <a:t>Butun tizim narxi va energiya byudjeti. Chekka qurilmada 15–25 Vt, serverda 300–700 Vt bir tezlatkich uchun. Sovutish, korpus, quvvat manbai ham loyihaning bir qismi.</a:t>
            </a:r>
          </a:p>
        </p:txBody>
      </p:sp>
      <p:sp>
        <p:nvSpPr>
          <p:cNvPr id="18" name="Rounded Rectangle 17"/>
          <p:cNvSpPr/>
          <p:nvPr/>
        </p:nvSpPr>
        <p:spPr>
          <a:xfrm>
            <a:off x="550000" y="4427190"/>
            <a:ext cx="11100000" cy="108438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4427190"/>
            <a:ext cx="70000" cy="108438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80000" y="4759380"/>
            <a:ext cx="420000" cy="42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7</a:t>
            </a:r>
          </a:p>
        </p:txBody>
      </p:sp>
      <p:sp>
        <p:nvSpPr>
          <p:cNvPr id="21" name="TextBox 20"/>
          <p:cNvSpPr txBox="1"/>
          <p:nvPr/>
        </p:nvSpPr>
        <p:spPr>
          <a:xfrm>
            <a:off x="1380000" y="4467190"/>
            <a:ext cx="10150000" cy="1004380"/>
          </a:xfrm>
          <a:prstGeom prst="rect">
            <a:avLst/>
          </a:prstGeom>
          <a:noFill/>
        </p:spPr>
        <p:txBody>
          <a:bodyPr wrap="square" anchor="ctr">
            <a:spAutoFit/>
          </a:bodyPr>
          <a:lstStyle/>
          <a:p>
            <a:r>
              <a:rPr sz="1600" b="1">
                <a:solidFill>
                  <a:srgbClr val="1F3A5F"/>
                </a:solidFill>
                <a:latin typeface="Calibri"/>
              </a:rPr>
              <a:t>Iteratsiya. Birinchi tanlov prototipda o'lchanadi, natija talabga javob bermasa.</a:t>
            </a:r>
          </a:p>
          <a:p>
            <a:pPr>
              <a:spcBef>
                <a:spcPts val="400"/>
              </a:spcBef>
            </a:pPr>
            <a:r>
              <a:rPr sz="1500">
                <a:solidFill>
                  <a:srgbClr val="334055"/>
                </a:solidFill>
                <a:latin typeface="Calibri"/>
              </a:rPr>
              <a:t>model (masalan, kirish o'lchamini 640 dan 512 ga tushirish) yoki apparat (Orin NX → Orin AGX) o'zgartiriladi.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9"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Lst>
  </p:timing>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Hisoblash platformalarining texnik tavsiflari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A1 · Sun'iy intellektga asoslangan kompyuter tizimlari arxitekturasini tahlil qilish va loyihalash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14</a:t>
            </a:r>
          </a:p>
        </p:txBody>
      </p:sp>
      <p:sp>
        <p:nvSpPr>
          <p:cNvPr id="10" name="Rounded Rectangle 9"/>
          <p:cNvSpPr/>
          <p:nvPr/>
        </p:nvSpPr>
        <p:spPr>
          <a:xfrm>
            <a:off x="550000" y="3200000"/>
            <a:ext cx="11100000" cy="52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3200000"/>
            <a:ext cx="70000" cy="52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80000" y="3270000"/>
            <a:ext cx="380000" cy="38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1</a:t>
            </a:r>
          </a:p>
        </p:txBody>
      </p:sp>
      <p:sp>
        <p:nvSpPr>
          <p:cNvPr id="13" name="TextBox 12"/>
          <p:cNvSpPr txBox="1"/>
          <p:nvPr/>
        </p:nvSpPr>
        <p:spPr>
          <a:xfrm>
            <a:off x="1380000" y="3240000"/>
            <a:ext cx="10150000" cy="440000"/>
          </a:xfrm>
          <a:prstGeom prst="rect">
            <a:avLst/>
          </a:prstGeom>
          <a:noFill/>
        </p:spPr>
        <p:txBody>
          <a:bodyPr wrap="square" anchor="ctr">
            <a:spAutoFit/>
          </a:bodyPr>
          <a:lstStyle/>
          <a:p>
            <a:r>
              <a:rPr sz="1600" b="0">
                <a:solidFill>
                  <a:srgbClr val="1B2430"/>
                </a:solidFill>
                <a:latin typeface="Calibri"/>
              </a:rPr>
              <a:t>Quyidagi jadvalda mashg'ulotda solishtiriladigan uchta platformaning ochiq texnik tavsiflari keltirilgan (qiymatlar ishlab chiqaruvchilarning rasmiy ma'lumotlariga asoslangan, taxminiy; aniq raqam modul konfiguratsiyasi va quvvat rejimiga bog'liq).</a:t>
            </a:r>
          </a:p>
        </p:txBody>
      </p:sp>
      <p:sp>
        <p:nvSpPr>
          <p:cNvPr id="14" name="Rounded Rectangle 13"/>
          <p:cNvSpPr/>
          <p:nvPr/>
        </p:nvSpPr>
        <p:spPr>
          <a:xfrm>
            <a:off x="550000" y="3830000"/>
            <a:ext cx="11100000" cy="52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3830000"/>
            <a:ext cx="70000" cy="52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80000" y="3900000"/>
            <a:ext cx="380000" cy="38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2</a:t>
            </a:r>
          </a:p>
        </p:txBody>
      </p:sp>
      <p:sp>
        <p:nvSpPr>
          <p:cNvPr id="17" name="TextBox 16"/>
          <p:cNvSpPr txBox="1"/>
          <p:nvPr/>
        </p:nvSpPr>
        <p:spPr>
          <a:xfrm>
            <a:off x="1380000" y="3870000"/>
            <a:ext cx="10150000" cy="440000"/>
          </a:xfrm>
          <a:prstGeom prst="rect">
            <a:avLst/>
          </a:prstGeom>
          <a:noFill/>
        </p:spPr>
        <p:txBody>
          <a:bodyPr wrap="square" anchor="ctr">
            <a:spAutoFit/>
          </a:bodyPr>
          <a:lstStyle/>
          <a:p>
            <a:r>
              <a:rPr sz="1600" b="0">
                <a:solidFill>
                  <a:srgbClr val="1B2430"/>
                </a:solidFill>
                <a:latin typeface="Calibri"/>
              </a:rPr>
              <a:t>Jadvaldan ko'rinadiki, «eng kuchli» platforma har doim ham eng mos emas.</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Hisoblash platformalarining texnik tavsiflari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A1 · Sun'iy intellektga asoslangan kompyuter tizimlari arxitekturasini tahlil qilish va loyihalash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15</a:t>
            </a:r>
          </a:p>
        </p:txBody>
      </p:sp>
      <p:graphicFrame>
        <p:nvGraphicFramePr>
          <p:cNvPr id="10" name="Table 9"/>
          <p:cNvGraphicFramePr>
            <a:graphicFrameLocks noGrp="1"/>
          </p:cNvGraphicFramePr>
          <p:nvPr/>
        </p:nvGraphicFramePr>
        <p:xfrm>
          <a:off x="500000" y="1350000"/>
          <a:ext cx="11200000" cy="4680000"/>
        </p:xfrm>
        <a:graphic>
          <a:graphicData uri="http://schemas.openxmlformats.org/drawingml/2006/table">
            <a:tbl>
              <a:tblPr firstRow="1" bandRow="1">
                <a:tableStyleId>{5C22544A-7EE6-4342-B048-85BDC9FD1C3A}</a:tableStyleId>
              </a:tblPr>
              <a:tblGrid>
                <a:gridCol w="2800000"/>
                <a:gridCol w="2800000"/>
                <a:gridCol w="2800000"/>
                <a:gridCol w="2800000"/>
              </a:tblGrid>
              <a:tr h="520000">
                <a:tc>
                  <a:txBody>
                    <a:bodyPr/>
                    <a:lstStyle/>
                    <a:p>
                      <a:r>
                        <a:rPr sz="1200" b="1">
                          <a:solidFill>
                            <a:srgbClr val="FFFFFF"/>
                          </a:solidFill>
                          <a:latin typeface="Calibri"/>
                        </a:rPr>
                        <a:t>Ko'rsatkich</a:t>
                      </a:r>
                    </a:p>
                  </a:txBody>
                  <a:tcPr>
                    <a:solidFill>
                      <a:srgbClr val="2D5C8F"/>
                    </a:solidFill>
                  </a:tcPr>
                </a:tc>
                <a:tc>
                  <a:txBody>
                    <a:bodyPr/>
                    <a:lstStyle/>
                    <a:p>
                      <a:r>
                        <a:rPr sz="1200" b="1">
                          <a:solidFill>
                            <a:srgbClr val="FFFFFF"/>
                          </a:solidFill>
                          <a:latin typeface="Calibri"/>
                        </a:rPr>
                        <a:t>NVIDIA Jetson Orin NX 16 GB</a:t>
                      </a:r>
                    </a:p>
                  </a:txBody>
                  <a:tcPr>
                    <a:solidFill>
                      <a:srgbClr val="2D5C8F"/>
                    </a:solidFill>
                  </a:tcPr>
                </a:tc>
                <a:tc>
                  <a:txBody>
                    <a:bodyPr/>
                    <a:lstStyle/>
                    <a:p>
                      <a:r>
                        <a:rPr sz="1200" b="1">
                          <a:solidFill>
                            <a:srgbClr val="FFFFFF"/>
                          </a:solidFill>
                          <a:latin typeface="Calibri"/>
                        </a:rPr>
                        <a:t>NVIDIA A100 PCIe 80 GB</a:t>
                      </a:r>
                    </a:p>
                  </a:txBody>
                  <a:tcPr>
                    <a:solidFill>
                      <a:srgbClr val="2D5C8F"/>
                    </a:solidFill>
                  </a:tcPr>
                </a:tc>
                <a:tc>
                  <a:txBody>
                    <a:bodyPr/>
                    <a:lstStyle/>
                    <a:p>
                      <a:r>
                        <a:rPr sz="1200" b="1">
                          <a:solidFill>
                            <a:srgbClr val="FFFFFF"/>
                          </a:solidFill>
                          <a:latin typeface="Calibri"/>
                        </a:rPr>
                        <a:t>Google Coral Edge TPU (USB/M.2)</a:t>
                      </a:r>
                    </a:p>
                  </a:txBody>
                  <a:tcPr>
                    <a:solidFill>
                      <a:srgbClr val="2D5C8F"/>
                    </a:solidFill>
                  </a:tcPr>
                </a:tc>
              </a:tr>
              <a:tr h="520000">
                <a:tc>
                  <a:txBody>
                    <a:bodyPr/>
                    <a:lstStyle/>
                    <a:p>
                      <a:r>
                        <a:rPr sz="1200" b="0">
                          <a:solidFill>
                            <a:srgbClr val="1B2430"/>
                          </a:solidFill>
                          <a:latin typeface="Calibri"/>
                        </a:rPr>
                        <a:t>Sinf</a:t>
                      </a:r>
                    </a:p>
                  </a:txBody>
                  <a:tcPr>
                    <a:solidFill>
                      <a:srgbClr val="F1F4F8"/>
                    </a:solidFill>
                  </a:tcPr>
                </a:tc>
                <a:tc>
                  <a:txBody>
                    <a:bodyPr/>
                    <a:lstStyle/>
                    <a:p>
                      <a:r>
                        <a:rPr sz="1200" b="0">
                          <a:solidFill>
                            <a:srgbClr val="1B2430"/>
                          </a:solidFill>
                          <a:latin typeface="Calibri"/>
                        </a:rPr>
                        <a:t>Chekka modul (SoM)</a:t>
                      </a:r>
                    </a:p>
                  </a:txBody>
                  <a:tcPr>
                    <a:solidFill>
                      <a:srgbClr val="F1F4F8"/>
                    </a:solidFill>
                  </a:tcPr>
                </a:tc>
                <a:tc>
                  <a:txBody>
                    <a:bodyPr/>
                    <a:lstStyle/>
                    <a:p>
                      <a:r>
                        <a:rPr sz="1200" b="0">
                          <a:solidFill>
                            <a:srgbClr val="1B2430"/>
                          </a:solidFill>
                          <a:latin typeface="Calibri"/>
                        </a:rPr>
                        <a:t>Ma'lumotlar markazi GPU</a:t>
                      </a:r>
                    </a:p>
                  </a:txBody>
                  <a:tcPr>
                    <a:solidFill>
                      <a:srgbClr val="F1F4F8"/>
                    </a:solidFill>
                  </a:tcPr>
                </a:tc>
                <a:tc>
                  <a:txBody>
                    <a:bodyPr/>
                    <a:lstStyle/>
                    <a:p>
                      <a:r>
                        <a:rPr sz="1200" b="0">
                          <a:solidFill>
                            <a:srgbClr val="1B2430"/>
                          </a:solidFill>
                          <a:latin typeface="Calibri"/>
                        </a:rPr>
                        <a:t>Chekka ASIC</a:t>
                      </a:r>
                    </a:p>
                  </a:txBody>
                  <a:tcPr>
                    <a:solidFill>
                      <a:srgbClr val="F1F4F8"/>
                    </a:solidFill>
                  </a:tcPr>
                </a:tc>
              </a:tr>
              <a:tr h="520000">
                <a:tc>
                  <a:txBody>
                    <a:bodyPr/>
                    <a:lstStyle/>
                    <a:p>
                      <a:r>
                        <a:rPr sz="1200" b="0">
                          <a:solidFill>
                            <a:srgbClr val="1B2430"/>
                          </a:solidFill>
                          <a:latin typeface="Calibri"/>
                        </a:rPr>
                        <a:t>Cho'qqi unumdorlik</a:t>
                      </a:r>
                    </a:p>
                  </a:txBody>
                  <a:tcPr>
                    <a:solidFill>
                      <a:srgbClr val="FFFFFF"/>
                    </a:solidFill>
                  </a:tcPr>
                </a:tc>
                <a:tc>
                  <a:txBody>
                    <a:bodyPr/>
                    <a:lstStyle/>
                    <a:p>
                      <a:r>
                        <a:rPr sz="1200" b="0">
                          <a:solidFill>
                            <a:srgbClr val="1B2430"/>
                          </a:solidFill>
                          <a:latin typeface="Calibri"/>
                        </a:rPr>
                        <a:t>~100 TOPS INT8 (sparse), ~50 TOPS dense</a:t>
                      </a:r>
                    </a:p>
                  </a:txBody>
                  <a:tcPr>
                    <a:solidFill>
                      <a:srgbClr val="FFFFFF"/>
                    </a:solidFill>
                  </a:tcPr>
                </a:tc>
                <a:tc>
                  <a:txBody>
                    <a:bodyPr/>
                    <a:lstStyle/>
                    <a:p>
                      <a:r>
                        <a:rPr sz="1200" b="0">
                          <a:solidFill>
                            <a:srgbClr val="1B2430"/>
                          </a:solidFill>
                          <a:latin typeface="Calibri"/>
                        </a:rPr>
                        <a:t>312 TFLOP/s FP16 dense, 624 TOPS INT8 dense</a:t>
                      </a:r>
                    </a:p>
                  </a:txBody>
                  <a:tcPr>
                    <a:solidFill>
                      <a:srgbClr val="FFFFFF"/>
                    </a:solidFill>
                  </a:tcPr>
                </a:tc>
                <a:tc>
                  <a:txBody>
                    <a:bodyPr/>
                    <a:lstStyle/>
                    <a:p>
                      <a:r>
                        <a:rPr sz="1200" b="0">
                          <a:solidFill>
                            <a:srgbClr val="1B2430"/>
                          </a:solidFill>
                          <a:latin typeface="Calibri"/>
                        </a:rPr>
                        <a:t>4 TOPS INT8</a:t>
                      </a:r>
                    </a:p>
                  </a:txBody>
                  <a:tcPr>
                    <a:solidFill>
                      <a:srgbClr val="FFFFFF"/>
                    </a:solidFill>
                  </a:tcPr>
                </a:tc>
              </a:tr>
              <a:tr h="520000">
                <a:tc>
                  <a:txBody>
                    <a:bodyPr/>
                    <a:lstStyle/>
                    <a:p>
                      <a:r>
                        <a:rPr sz="1200" b="0">
                          <a:solidFill>
                            <a:srgbClr val="1B2430"/>
                          </a:solidFill>
                          <a:latin typeface="Calibri"/>
                        </a:rPr>
                        <a:t>Xotira</a:t>
                      </a:r>
                    </a:p>
                  </a:txBody>
                  <a:tcPr>
                    <a:solidFill>
                      <a:srgbClr val="F1F4F8"/>
                    </a:solidFill>
                  </a:tcPr>
                </a:tc>
                <a:tc>
                  <a:txBody>
                    <a:bodyPr/>
                    <a:lstStyle/>
                    <a:p>
                      <a:r>
                        <a:rPr sz="1200" b="0">
                          <a:solidFill>
                            <a:srgbClr val="1B2430"/>
                          </a:solidFill>
                          <a:latin typeface="Calibri"/>
                        </a:rPr>
                        <a:t>16 GB LPDDR5, 102 GB/s</a:t>
                      </a:r>
                    </a:p>
                  </a:txBody>
                  <a:tcPr>
                    <a:solidFill>
                      <a:srgbClr val="F1F4F8"/>
                    </a:solidFill>
                  </a:tcPr>
                </a:tc>
                <a:tc>
                  <a:txBody>
                    <a:bodyPr/>
                    <a:lstStyle/>
                    <a:p>
                      <a:r>
                        <a:rPr sz="1200" b="0">
                          <a:solidFill>
                            <a:srgbClr val="1B2430"/>
                          </a:solidFill>
                          <a:latin typeface="Calibri"/>
                        </a:rPr>
                        <a:t>80 GB HBM2e, ~1,9 TB/s</a:t>
                      </a:r>
                    </a:p>
                  </a:txBody>
                  <a:tcPr>
                    <a:solidFill>
                      <a:srgbClr val="F1F4F8"/>
                    </a:solidFill>
                  </a:tcPr>
                </a:tc>
                <a:tc>
                  <a:txBody>
                    <a:bodyPr/>
                    <a:lstStyle/>
                    <a:p>
                      <a:r>
                        <a:rPr sz="1200" b="0">
                          <a:solidFill>
                            <a:srgbClr val="1B2430"/>
                          </a:solidFill>
                          <a:latin typeface="Calibri"/>
                        </a:rPr>
                        <a:t>8 MB on-chip SRAM, host DRAM</a:t>
                      </a:r>
                    </a:p>
                  </a:txBody>
                  <a:tcPr>
                    <a:solidFill>
                      <a:srgbClr val="F1F4F8"/>
                    </a:solidFill>
                  </a:tcPr>
                </a:tc>
              </a:tr>
              <a:tr h="520000">
                <a:tc>
                  <a:txBody>
                    <a:bodyPr/>
                    <a:lstStyle/>
                    <a:p>
                      <a:r>
                        <a:rPr sz="1200" b="0">
                          <a:solidFill>
                            <a:srgbClr val="1B2430"/>
                          </a:solidFill>
                          <a:latin typeface="Calibri"/>
                        </a:rPr>
                        <a:t>Quvvat</a:t>
                      </a:r>
                    </a:p>
                  </a:txBody>
                  <a:tcPr>
                    <a:solidFill>
                      <a:srgbClr val="FFFFFF"/>
                    </a:solidFill>
                  </a:tcPr>
                </a:tc>
                <a:tc>
                  <a:txBody>
                    <a:bodyPr/>
                    <a:lstStyle/>
                    <a:p>
                      <a:r>
                        <a:rPr sz="1200" b="0">
                          <a:solidFill>
                            <a:srgbClr val="1B2430"/>
                          </a:solidFill>
                          <a:latin typeface="Calibri"/>
                        </a:rPr>
                        <a:t>10–25 Vt (sozlanadi)</a:t>
                      </a:r>
                    </a:p>
                  </a:txBody>
                  <a:tcPr>
                    <a:solidFill>
                      <a:srgbClr val="FFFFFF"/>
                    </a:solidFill>
                  </a:tcPr>
                </a:tc>
                <a:tc>
                  <a:txBody>
                    <a:bodyPr/>
                    <a:lstStyle/>
                    <a:p>
                      <a:r>
                        <a:rPr sz="1200" b="0">
                          <a:solidFill>
                            <a:srgbClr val="1B2430"/>
                          </a:solidFill>
                          <a:latin typeface="Calibri"/>
                        </a:rPr>
                        <a:t>300 Vt TDP</a:t>
                      </a:r>
                    </a:p>
                  </a:txBody>
                  <a:tcPr>
                    <a:solidFill>
                      <a:srgbClr val="FFFFFF"/>
                    </a:solidFill>
                  </a:tcPr>
                </a:tc>
                <a:tc>
                  <a:txBody>
                    <a:bodyPr/>
                    <a:lstStyle/>
                    <a:p>
                      <a:r>
                        <a:rPr sz="1200" b="0">
                          <a:solidFill>
                            <a:srgbClr val="1B2430"/>
                          </a:solidFill>
                          <a:latin typeface="Calibri"/>
                        </a:rPr>
                        <a:t>~2 Vt</a:t>
                      </a:r>
                    </a:p>
                  </a:txBody>
                  <a:tcPr>
                    <a:solidFill>
                      <a:srgbClr val="FFFFFF"/>
                    </a:solidFill>
                  </a:tcPr>
                </a:tc>
              </a:tr>
              <a:tr h="520000">
                <a:tc>
                  <a:txBody>
                    <a:bodyPr/>
                    <a:lstStyle/>
                    <a:p>
                      <a:r>
                        <a:rPr sz="1200" b="0">
                          <a:solidFill>
                            <a:srgbClr val="1B2430"/>
                          </a:solidFill>
                          <a:latin typeface="Calibri"/>
                        </a:rPr>
                        <a:t>Energiya samaradorligi</a:t>
                      </a:r>
                    </a:p>
                  </a:txBody>
                  <a:tcPr>
                    <a:solidFill>
                      <a:srgbClr val="F1F4F8"/>
                    </a:solidFill>
                  </a:tcPr>
                </a:tc>
                <a:tc>
                  <a:txBody>
                    <a:bodyPr/>
                    <a:lstStyle/>
                    <a:p>
                      <a:r>
                        <a:rPr sz="1200" b="0">
                          <a:solidFill>
                            <a:srgbClr val="1B2430"/>
                          </a:solidFill>
                          <a:latin typeface="Calibri"/>
                        </a:rPr>
                        <a:t>~4 TOPS/W (INT8 dense)</a:t>
                      </a:r>
                    </a:p>
                  </a:txBody>
                  <a:tcPr>
                    <a:solidFill>
                      <a:srgbClr val="F1F4F8"/>
                    </a:solidFill>
                  </a:tcPr>
                </a:tc>
                <a:tc>
                  <a:txBody>
                    <a:bodyPr/>
                    <a:lstStyle/>
                    <a:p>
                      <a:r>
                        <a:rPr sz="1200" b="0">
                          <a:solidFill>
                            <a:srgbClr val="1B2430"/>
                          </a:solidFill>
                          <a:latin typeface="Calibri"/>
                        </a:rPr>
                        <a:t>~2 TOPS/W (INT8 dense)</a:t>
                      </a:r>
                    </a:p>
                  </a:txBody>
                  <a:tcPr>
                    <a:solidFill>
                      <a:srgbClr val="F1F4F8"/>
                    </a:solidFill>
                  </a:tcPr>
                </a:tc>
                <a:tc>
                  <a:txBody>
                    <a:bodyPr/>
                    <a:lstStyle/>
                    <a:p>
                      <a:r>
                        <a:rPr sz="1200" b="0">
                          <a:solidFill>
                            <a:srgbClr val="1B2430"/>
                          </a:solidFill>
                          <a:latin typeface="Calibri"/>
                        </a:rPr>
                        <a:t>~2 TOPS/W</a:t>
                      </a:r>
                    </a:p>
                  </a:txBody>
                  <a:tcPr>
                    <a:solidFill>
                      <a:srgbClr val="F1F4F8"/>
                    </a:solidFill>
                  </a:tcPr>
                </a:tc>
              </a:tr>
              <a:tr h="520000">
                <a:tc>
                  <a:txBody>
                    <a:bodyPr/>
                    <a:lstStyle/>
                    <a:p>
                      <a:r>
                        <a:rPr sz="1200" b="0">
                          <a:solidFill>
                            <a:srgbClr val="1B2430"/>
                          </a:solidFill>
                          <a:latin typeface="Calibri"/>
                        </a:rPr>
                        <a:t>Qo'llab-quvvatlanadigan formatlar</a:t>
                      </a:r>
                    </a:p>
                  </a:txBody>
                  <a:tcPr>
                    <a:solidFill>
                      <a:srgbClr val="FFFFFF"/>
                    </a:solidFill>
                  </a:tcPr>
                </a:tc>
                <a:tc>
                  <a:txBody>
                    <a:bodyPr/>
                    <a:lstStyle/>
                    <a:p>
                      <a:r>
                        <a:rPr sz="1200" b="0">
                          <a:solidFill>
                            <a:srgbClr val="1B2430"/>
                          </a:solidFill>
                          <a:latin typeface="Calibri"/>
                        </a:rPr>
                        <a:t>FP32, FP16, INT8, (TF32 Ampere)</a:t>
                      </a:r>
                    </a:p>
                  </a:txBody>
                  <a:tcPr>
                    <a:solidFill>
                      <a:srgbClr val="FFFFFF"/>
                    </a:solidFill>
                  </a:tcPr>
                </a:tc>
                <a:tc>
                  <a:txBody>
                    <a:bodyPr/>
                    <a:lstStyle/>
                    <a:p>
                      <a:r>
                        <a:rPr sz="1200" b="0">
                          <a:solidFill>
                            <a:srgbClr val="1B2430"/>
                          </a:solidFill>
                          <a:latin typeface="Calibri"/>
                        </a:rPr>
                        <a:t>FP64, TF32, FP16, BF16, INT8</a:t>
                      </a:r>
                    </a:p>
                  </a:txBody>
                  <a:tcPr>
                    <a:solidFill>
                      <a:srgbClr val="FFFFFF"/>
                    </a:solidFill>
                  </a:tcPr>
                </a:tc>
                <a:tc>
                  <a:txBody>
                    <a:bodyPr/>
                    <a:lstStyle/>
                    <a:p>
                      <a:r>
                        <a:rPr sz="1200" b="0">
                          <a:solidFill>
                            <a:srgbClr val="1B2430"/>
                          </a:solidFill>
                          <a:latin typeface="Calibri"/>
                        </a:rPr>
                        <a:t>faqat INT8 (to'liq kvantlangan TFLite)</a:t>
                      </a:r>
                    </a:p>
                  </a:txBody>
                  <a:tcPr>
                    <a:solidFill>
                      <a:srgbClr val="FFFFFF"/>
                    </a:solidFill>
                  </a:tcPr>
                </a:tc>
              </a:tr>
              <a:tr h="520000">
                <a:tc>
                  <a:txBody>
                    <a:bodyPr/>
                    <a:lstStyle/>
                    <a:p>
                      <a:r>
                        <a:rPr sz="1200" b="0">
                          <a:solidFill>
                            <a:srgbClr val="1B2430"/>
                          </a:solidFill>
                          <a:latin typeface="Calibri"/>
                        </a:rPr>
                        <a:t>Dasturiy stek</a:t>
                      </a:r>
                    </a:p>
                  </a:txBody>
                  <a:tcPr>
                    <a:solidFill>
                      <a:srgbClr val="F1F4F8"/>
                    </a:solidFill>
                  </a:tcPr>
                </a:tc>
                <a:tc>
                  <a:txBody>
                    <a:bodyPr/>
                    <a:lstStyle/>
                    <a:p>
                      <a:r>
                        <a:rPr sz="1200" b="0">
                          <a:solidFill>
                            <a:srgbClr val="1B2430"/>
                          </a:solidFill>
                          <a:latin typeface="Calibri"/>
                        </a:rPr>
                        <a:t>JetPack, CUDA, TensorRT, DeepStream</a:t>
                      </a:r>
                    </a:p>
                  </a:txBody>
                  <a:tcPr>
                    <a:solidFill>
                      <a:srgbClr val="F1F4F8"/>
                    </a:solidFill>
                  </a:tcPr>
                </a:tc>
                <a:tc>
                  <a:txBody>
                    <a:bodyPr/>
                    <a:lstStyle/>
                    <a:p>
                      <a:r>
                        <a:rPr sz="1200" b="0">
                          <a:solidFill>
                            <a:srgbClr val="1B2430"/>
                          </a:solidFill>
                          <a:latin typeface="Calibri"/>
                        </a:rPr>
                        <a:t>CUDA, TensorRT, Triton</a:t>
                      </a:r>
                    </a:p>
                  </a:txBody>
                  <a:tcPr>
                    <a:solidFill>
                      <a:srgbClr val="F1F4F8"/>
                    </a:solidFill>
                  </a:tcPr>
                </a:tc>
                <a:tc>
                  <a:txBody>
                    <a:bodyPr/>
                    <a:lstStyle/>
                    <a:p>
                      <a:r>
                        <a:rPr sz="1200" b="0">
                          <a:solidFill>
                            <a:srgbClr val="1B2430"/>
                          </a:solidFill>
                          <a:latin typeface="Calibri"/>
                        </a:rPr>
                        <a:t>TFLite, libedgetpu, PyCoral</a:t>
                      </a:r>
                    </a:p>
                  </a:txBody>
                  <a:tcPr>
                    <a:solidFill>
                      <a:srgbClr val="F1F4F8"/>
                    </a:solidFill>
                  </a:tcPr>
                </a:tc>
              </a:tr>
              <a:tr h="520000">
                <a:tc>
                  <a:txBody>
                    <a:bodyPr/>
                    <a:lstStyle/>
                    <a:p>
                      <a:r>
                        <a:rPr sz="1200" b="0">
                          <a:solidFill>
                            <a:srgbClr val="1B2430"/>
                          </a:solidFill>
                          <a:latin typeface="Calibri"/>
                        </a:rPr>
                        <a:t>Video dekodlash</a:t>
                      </a:r>
                    </a:p>
                  </a:txBody>
                  <a:tcPr>
                    <a:solidFill>
                      <a:srgbClr val="FFFFFF"/>
                    </a:solidFill>
                  </a:tcPr>
                </a:tc>
                <a:tc>
                  <a:txBody>
                    <a:bodyPr/>
                    <a:lstStyle/>
                    <a:p>
                      <a:r>
                        <a:rPr sz="1200" b="0">
                          <a:solidFill>
                            <a:srgbClr val="1B2430"/>
                          </a:solidFill>
                          <a:latin typeface="Calibri"/>
                        </a:rPr>
                        <a:t>Apparat NVDEC (bir nechta 1080p30 oqim)</a:t>
                      </a:r>
                    </a:p>
                  </a:txBody>
                  <a:tcPr>
                    <a:solidFill>
                      <a:srgbClr val="FFFFFF"/>
                    </a:solidFill>
                  </a:tcPr>
                </a:tc>
                <a:tc>
                  <a:txBody>
                    <a:bodyPr/>
                    <a:lstStyle/>
                    <a:p>
                      <a:r>
                        <a:rPr sz="1200" b="0">
                          <a:solidFill>
                            <a:srgbClr val="1B2430"/>
                          </a:solidFill>
                          <a:latin typeface="Calibri"/>
                        </a:rPr>
                        <a:t>NVDEC (5 ta)</a:t>
                      </a:r>
                    </a:p>
                  </a:txBody>
                  <a:tcPr>
                    <a:solidFill>
                      <a:srgbClr val="FFFFFF"/>
                    </a:solidFill>
                  </a:tcPr>
                </a:tc>
                <a:tc>
                  <a:txBody>
                    <a:bodyPr/>
                    <a:lstStyle/>
                    <a:p>
                      <a:r>
                        <a:rPr sz="1200" b="0">
                          <a:solidFill>
                            <a:srgbClr val="1B2430"/>
                          </a:solidFill>
                          <a:latin typeface="Calibri"/>
                        </a:rPr>
                        <a:t>Yo'q (host CPU)</a:t>
                      </a:r>
                    </a:p>
                  </a:txBody>
                  <a:tcPr>
                    <a:solidFill>
                      <a:srgbClr val="FFFFFF"/>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22" presetClass="entr" presetSubtype="8"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wipe(left)">
                                      <p:cBhvr>
                                        <p:cTn id="11"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Hisoblash platformalarining texnik tavsiflari (davomi)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A1 · Sun'iy intellektga asoslangan kompyuter tizimlari arxitekturasini tahlil qilish va loyihalash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16</a:t>
            </a:r>
          </a:p>
        </p:txBody>
      </p:sp>
      <p:graphicFrame>
        <p:nvGraphicFramePr>
          <p:cNvPr id="10" name="Table 9"/>
          <p:cNvGraphicFramePr>
            <a:graphicFrameLocks noGrp="1"/>
          </p:cNvGraphicFramePr>
          <p:nvPr/>
        </p:nvGraphicFramePr>
        <p:xfrm>
          <a:off x="500000" y="1350000"/>
          <a:ext cx="11200000" cy="1560000"/>
        </p:xfrm>
        <a:graphic>
          <a:graphicData uri="http://schemas.openxmlformats.org/drawingml/2006/table">
            <a:tbl>
              <a:tblPr firstRow="1" bandRow="1">
                <a:tableStyleId>{5C22544A-7EE6-4342-B048-85BDC9FD1C3A}</a:tableStyleId>
              </a:tblPr>
              <a:tblGrid>
                <a:gridCol w="2800000"/>
                <a:gridCol w="2800000"/>
                <a:gridCol w="2800000"/>
                <a:gridCol w="2800000"/>
              </a:tblGrid>
              <a:tr h="520000">
                <a:tc>
                  <a:txBody>
                    <a:bodyPr/>
                    <a:lstStyle/>
                    <a:p>
                      <a:r>
                        <a:rPr sz="1200" b="1">
                          <a:solidFill>
                            <a:srgbClr val="FFFFFF"/>
                          </a:solidFill>
                          <a:latin typeface="Calibri"/>
                        </a:rPr>
                        <a:t>Ko'rsatkich</a:t>
                      </a:r>
                    </a:p>
                  </a:txBody>
                  <a:tcPr>
                    <a:solidFill>
                      <a:srgbClr val="2D5C8F"/>
                    </a:solidFill>
                  </a:tcPr>
                </a:tc>
                <a:tc>
                  <a:txBody>
                    <a:bodyPr/>
                    <a:lstStyle/>
                    <a:p>
                      <a:r>
                        <a:rPr sz="1200" b="1">
                          <a:solidFill>
                            <a:srgbClr val="FFFFFF"/>
                          </a:solidFill>
                          <a:latin typeface="Calibri"/>
                        </a:rPr>
                        <a:t>NVIDIA Jetson Orin NX 16 GB</a:t>
                      </a:r>
                    </a:p>
                  </a:txBody>
                  <a:tcPr>
                    <a:solidFill>
                      <a:srgbClr val="2D5C8F"/>
                    </a:solidFill>
                  </a:tcPr>
                </a:tc>
                <a:tc>
                  <a:txBody>
                    <a:bodyPr/>
                    <a:lstStyle/>
                    <a:p>
                      <a:r>
                        <a:rPr sz="1200" b="1">
                          <a:solidFill>
                            <a:srgbClr val="FFFFFF"/>
                          </a:solidFill>
                          <a:latin typeface="Calibri"/>
                        </a:rPr>
                        <a:t>NVIDIA A100 PCIe 80 GB</a:t>
                      </a:r>
                    </a:p>
                  </a:txBody>
                  <a:tcPr>
                    <a:solidFill>
                      <a:srgbClr val="2D5C8F"/>
                    </a:solidFill>
                  </a:tcPr>
                </a:tc>
                <a:tc>
                  <a:txBody>
                    <a:bodyPr/>
                    <a:lstStyle/>
                    <a:p>
                      <a:r>
                        <a:rPr sz="1200" b="1">
                          <a:solidFill>
                            <a:srgbClr val="FFFFFF"/>
                          </a:solidFill>
                          <a:latin typeface="Calibri"/>
                        </a:rPr>
                        <a:t>Google Coral Edge TPU (USB/M.2)</a:t>
                      </a:r>
                    </a:p>
                  </a:txBody>
                  <a:tcPr>
                    <a:solidFill>
                      <a:srgbClr val="2D5C8F"/>
                    </a:solidFill>
                  </a:tcPr>
                </a:tc>
              </a:tr>
              <a:tr h="520000">
                <a:tc>
                  <a:txBody>
                    <a:bodyPr/>
                    <a:lstStyle/>
                    <a:p>
                      <a:r>
                        <a:rPr sz="1200" b="0">
                          <a:solidFill>
                            <a:srgbClr val="1B2430"/>
                          </a:solidFill>
                          <a:latin typeface="Calibri"/>
                        </a:rPr>
                        <a:t>Taxminiy narx</a:t>
                      </a:r>
                    </a:p>
                  </a:txBody>
                  <a:tcPr>
                    <a:solidFill>
                      <a:srgbClr val="F1F4F8"/>
                    </a:solidFill>
                  </a:tcPr>
                </a:tc>
                <a:tc>
                  <a:txBody>
                    <a:bodyPr/>
                    <a:lstStyle/>
                    <a:p>
                      <a:r>
                        <a:rPr sz="1200" b="0">
                          <a:solidFill>
                            <a:srgbClr val="1B2430"/>
                          </a:solidFill>
                          <a:latin typeface="Calibri"/>
                        </a:rPr>
                        <a:t>500–700 AQSh dollari (modul + plata)</a:t>
                      </a:r>
                    </a:p>
                  </a:txBody>
                  <a:tcPr>
                    <a:solidFill>
                      <a:srgbClr val="F1F4F8"/>
                    </a:solidFill>
                  </a:tcPr>
                </a:tc>
                <a:tc>
                  <a:txBody>
                    <a:bodyPr/>
                    <a:lstStyle/>
                    <a:p>
                      <a:r>
                        <a:rPr sz="1200" b="0">
                          <a:solidFill>
                            <a:srgbClr val="1B2430"/>
                          </a:solidFill>
                          <a:latin typeface="Calibri"/>
                        </a:rPr>
                        <a:t>10 000+ AQSh dollari</a:t>
                      </a:r>
                    </a:p>
                  </a:txBody>
                  <a:tcPr>
                    <a:solidFill>
                      <a:srgbClr val="F1F4F8"/>
                    </a:solidFill>
                  </a:tcPr>
                </a:tc>
                <a:tc>
                  <a:txBody>
                    <a:bodyPr/>
                    <a:lstStyle/>
                    <a:p>
                      <a:r>
                        <a:rPr sz="1200" b="0">
                          <a:solidFill>
                            <a:srgbClr val="1B2430"/>
                          </a:solidFill>
                          <a:latin typeface="Calibri"/>
                        </a:rPr>
                        <a:t>60–100 AQSh dollari</a:t>
                      </a:r>
                    </a:p>
                  </a:txBody>
                  <a:tcPr>
                    <a:solidFill>
                      <a:srgbClr val="F1F4F8"/>
                    </a:solidFill>
                  </a:tcPr>
                </a:tc>
              </a:tr>
              <a:tr h="520000">
                <a:tc>
                  <a:txBody>
                    <a:bodyPr/>
                    <a:lstStyle/>
                    <a:p>
                      <a:r>
                        <a:rPr sz="1200" b="0">
                          <a:solidFill>
                            <a:srgbClr val="1B2430"/>
                          </a:solidFill>
                          <a:latin typeface="Calibri"/>
                        </a:rPr>
                        <a:t>Ish harorati</a:t>
                      </a:r>
                    </a:p>
                  </a:txBody>
                  <a:tcPr>
                    <a:solidFill>
                      <a:srgbClr val="FFFFFF"/>
                    </a:solidFill>
                  </a:tcPr>
                </a:tc>
                <a:tc>
                  <a:txBody>
                    <a:bodyPr/>
                    <a:lstStyle/>
                    <a:p>
                      <a:r>
                        <a:rPr sz="1200" b="0">
                          <a:solidFill>
                            <a:srgbClr val="1B2430"/>
                          </a:solidFill>
                          <a:latin typeface="Calibri"/>
                        </a:rPr>
                        <a:t>−25…+80 °C (sanoat variantlari)</a:t>
                      </a:r>
                    </a:p>
                  </a:txBody>
                  <a:tcPr>
                    <a:solidFill>
                      <a:srgbClr val="FFFFFF"/>
                    </a:solidFill>
                  </a:tcPr>
                </a:tc>
                <a:tc>
                  <a:txBody>
                    <a:bodyPr/>
                    <a:lstStyle/>
                    <a:p>
                      <a:r>
                        <a:rPr sz="1200" b="0">
                          <a:solidFill>
                            <a:srgbClr val="1B2430"/>
                          </a:solidFill>
                          <a:latin typeface="Calibri"/>
                        </a:rPr>
                        <a:t>Ma'lumotlar markazi muhiti</a:t>
                      </a:r>
                    </a:p>
                  </a:txBody>
                  <a:tcPr>
                    <a:solidFill>
                      <a:srgbClr val="FFFFFF"/>
                    </a:solidFill>
                  </a:tcPr>
                </a:tc>
                <a:tc>
                  <a:txBody>
                    <a:bodyPr/>
                    <a:lstStyle/>
                    <a:p>
                      <a:r>
                        <a:rPr sz="1200" b="0">
                          <a:solidFill>
                            <a:srgbClr val="1B2430"/>
                          </a:solidFill>
                          <a:latin typeface="Calibri"/>
                        </a:rPr>
                        <a:t>0…+70 °C (sanoat: kengroq)</a:t>
                      </a:r>
                    </a:p>
                  </a:txBody>
                  <a:tcPr>
                    <a:solidFill>
                      <a:srgbClr val="FFFFFF"/>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22" presetClass="entr" presetSubtype="8"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wipe(left)">
                                      <p:cBhvr>
                                        <p:cTn id="11"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Strukturaviy sxema va interfeyslar</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A1 · Sun'iy intellektga asoslangan kompyuter tizimlari arxitekturasini tahlil qilish va loyihalash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17</a:t>
            </a:r>
          </a:p>
        </p:txBody>
      </p:sp>
      <p:sp>
        <p:nvSpPr>
          <p:cNvPr id="10" name="Rounded Rectangle 9"/>
          <p:cNvSpPr/>
          <p:nvPr/>
        </p:nvSpPr>
        <p:spPr>
          <a:xfrm>
            <a:off x="550000" y="3515000"/>
            <a:ext cx="11100000" cy="52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3515000"/>
            <a:ext cx="70000" cy="52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80000" y="3585000"/>
            <a:ext cx="380000" cy="38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1</a:t>
            </a:r>
          </a:p>
        </p:txBody>
      </p:sp>
      <p:sp>
        <p:nvSpPr>
          <p:cNvPr id="13" name="TextBox 12"/>
          <p:cNvSpPr txBox="1"/>
          <p:nvPr/>
        </p:nvSpPr>
        <p:spPr>
          <a:xfrm>
            <a:off x="1380000" y="3555000"/>
            <a:ext cx="10150000" cy="440000"/>
          </a:xfrm>
          <a:prstGeom prst="rect">
            <a:avLst/>
          </a:prstGeom>
          <a:noFill/>
        </p:spPr>
        <p:txBody>
          <a:bodyPr wrap="square" anchor="ctr">
            <a:spAutoFit/>
          </a:bodyPr>
          <a:lstStyle/>
          <a:p>
            <a:r>
              <a:rPr sz="1600" b="0">
                <a:solidFill>
                  <a:srgbClr val="1B2430"/>
                </a:solidFill>
                <a:latin typeface="Calibri"/>
              </a:rPr>
              <a:t>Strukturaviy sxema — tizimning asosiy bloklari va ular orasidagi ma'lumot/boshqaruv oqimlarining tavsifi.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1"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Lst>
  </p:timing>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6d278e4f1eeea9c6.jpg"/>
          <p:cNvPicPr>
            <a:picLocks noChangeAspect="1"/>
          </p:cNvPicPr>
          <p:nvPr/>
        </p:nvPicPr>
        <p:blipFill>
          <a:blip r:embed="rId2"/>
          <a:srcRect l="21373" r="21373"/>
          <a:stretch>
            <a:fillRect/>
          </a:stretch>
        </p:blipFill>
        <p:spPr>
          <a:xfrm>
            <a:off x="6300000" y="0"/>
            <a:ext cx="5892000" cy="6858000"/>
          </a:xfrm>
          <a:prstGeom prst="rect">
            <a:avLst/>
          </a:prstGeom>
        </p:spPr>
      </p:pic>
      <p:sp>
        <p:nvSpPr>
          <p:cNvPr id="4" name="Rectangle 3"/>
          <p:cNvSpPr/>
          <p:nvPr/>
        </p:nvSpPr>
        <p:spPr>
          <a:xfrm>
            <a:off x="6300000" y="6558000"/>
            <a:ext cx="5892000" cy="300000"/>
          </a:xfrm>
          <a:prstGeom prst="rect">
            <a:avLst/>
          </a:prstGeom>
          <a:solidFill>
            <a:srgbClr val="0B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80000" y="6558000"/>
            <a:ext cx="5732000" cy="300000"/>
          </a:xfrm>
          <a:prstGeom prst="rect">
            <a:avLst/>
          </a:prstGeom>
          <a:noFill/>
        </p:spPr>
        <p:txBody>
          <a:bodyPr wrap="square" anchor="ctr" lIns="50800" rIns="50800">
            <a:spAutoFit/>
          </a:bodyPr>
          <a:lstStyle/>
          <a:p>
            <a:pPr algn="l"/>
            <a:r>
              <a:rPr sz="900" b="0">
                <a:solidFill>
                  <a:srgbClr val="D7E3F4"/>
                </a:solidFill>
                <a:latin typeface="Calibri"/>
              </a:rPr>
              <a:t>Rasm: Daniel Schwen · Wikimedia Commons · CC BY-SA 2.5</a:t>
            </a:r>
          </a:p>
        </p:txBody>
      </p:sp>
      <p:sp>
        <p:nvSpPr>
          <p:cNvPr id="6" name="Rectangle 5"/>
          <p:cNvSpPr/>
          <p:nvPr/>
        </p:nvSpPr>
        <p:spPr>
          <a:xfrm>
            <a:off x="6240000" y="0"/>
            <a:ext cx="60000" cy="6858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00000" y="900000"/>
            <a:ext cx="2300000" cy="23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0000" y="900000"/>
            <a:ext cx="2300000" cy="2300000"/>
          </a:xfrm>
          <a:prstGeom prst="rect">
            <a:avLst/>
          </a:prstGeom>
          <a:noFill/>
        </p:spPr>
        <p:txBody>
          <a:bodyPr wrap="square" anchor="ctr" lIns="50800" rIns="50800">
            <a:spAutoFit/>
          </a:bodyPr>
          <a:lstStyle/>
          <a:p>
            <a:pPr algn="ctr"/>
            <a:r>
              <a:rPr sz="6400" b="1">
                <a:solidFill>
                  <a:srgbClr val="FFFFFF"/>
                </a:solidFill>
                <a:latin typeface="Calibri"/>
              </a:rPr>
              <a:t>04</a:t>
            </a:r>
          </a:p>
        </p:txBody>
      </p:sp>
      <p:sp>
        <p:nvSpPr>
          <p:cNvPr id="9" name="TextBox 8"/>
          <p:cNvSpPr txBox="1"/>
          <p:nvPr/>
        </p:nvSpPr>
        <p:spPr>
          <a:xfrm>
            <a:off x="800000" y="3500000"/>
            <a:ext cx="5200000" cy="1600000"/>
          </a:xfrm>
          <a:prstGeom prst="rect">
            <a:avLst/>
          </a:prstGeom>
          <a:noFill/>
        </p:spPr>
        <p:txBody>
          <a:bodyPr wrap="square" anchor="t" lIns="50800" rIns="50800">
            <a:spAutoFit/>
          </a:bodyPr>
          <a:lstStyle/>
          <a:p>
            <a:pPr algn="l"/>
            <a:r>
              <a:rPr sz="3000" b="1">
                <a:solidFill>
                  <a:srgbClr val="FFFFFF"/>
                </a:solidFill>
                <a:latin typeface="Calibri"/>
              </a:rPr>
              <a:t>Amaliy misol</a:t>
            </a:r>
          </a:p>
        </p:txBody>
      </p:sp>
      <p:sp>
        <p:nvSpPr>
          <p:cNvPr id="10" name="Rectangle 9"/>
          <p:cNvSpPr/>
          <p:nvPr/>
        </p:nvSpPr>
        <p:spPr>
          <a:xfrm>
            <a:off x="850000" y="52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4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wipe(left)">
                                      <p:cBhvr>
                                        <p:cTn id="11" dur="800"/>
                                        <p:tgtEl>
                                          <p:spTgt spid="6"/>
                                        </p:tgtEl>
                                      </p:cBhvr>
                                    </p:animEffect>
                                  </p:childTnLst>
                                </p:cTn>
                              </p:par>
                            </p:childTnLst>
                          </p:cTn>
                        </p:par>
                        <p:par>
                          <p:cTn id="12" fill="hold">
                            <p:stCondLst>
                              <p:cond delay="0"/>
                            </p:stCondLst>
                            <p:childTnLst>
                              <p:par>
                                <p:cTn id="13" presetID="10" presetClass="entr" presetSubtype="0" fill="hold" grpId="0" nodeType="after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50"/>
                                        <p:tgtEl>
                                          <p:spTgt spid="4"/>
                                        </p:tgtEl>
                                      </p:cBhvr>
                                    </p:animEffect>
                                  </p:childTnLst>
                                </p:cTn>
                              </p:par>
                            </p:childTnLst>
                          </p:cTn>
                        </p:par>
                        <p:par>
                          <p:cTn id="16" fill="hold">
                            <p:stCondLst>
                              <p:cond delay="0"/>
                            </p:stCondLst>
                            <p:childTnLst>
                              <p:par>
                                <p:cTn id="17" presetID="10" presetClass="entr" presetSubtype="0" fill="hold" grpId="0" nodeType="after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50"/>
                                        <p:tgtEl>
                                          <p:spTgt spid="5"/>
                                        </p:tgtEl>
                                      </p:cBhvr>
                                    </p:animEffect>
                                  </p:childTnLst>
                                </p:cTn>
                              </p:par>
                            </p:childTnLst>
                          </p:cTn>
                        </p:par>
                        <p:par>
                          <p:cTn id="20" fill="hold">
                            <p:stCondLst>
                              <p:cond delay="200"/>
                            </p:stCondLst>
                            <p:childTnLst>
                              <p:par>
                                <p:cTn id="21" presetID="53" presetClass="entr" presetSubtype="16" fill="hold" grpId="0" nodeType="after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550"/>
                                        <p:tgtEl>
                                          <p:spTgt spid="7"/>
                                        </p:tgtEl>
                                      </p:cBhvr>
                                    </p:animEffect>
                                    <p:anim calcmode="lin" valueType="num">
                                      <p:cBhvr additive="base">
                                        <p:cTn id="24" dur="550" fill="hold"/>
                                        <p:tgtEl>
                                          <p:spTgt spid="7"/>
                                        </p:tgtEl>
                                        <p:attrNameLst>
                                          <p:attrName>ppt_w</p:attrName>
                                        </p:attrNameLst>
                                      </p:cBhvr>
                                      <p:tavLst>
                                        <p:tav tm="0">
                                          <p:val>
                                            <p:strVal val="0"/>
                                          </p:val>
                                        </p:tav>
                                        <p:tav tm="100000">
                                          <p:val>
                                            <p:strVal val="#ppt_w"/>
                                          </p:val>
                                        </p:tav>
                                      </p:tavLst>
                                    </p:anim>
                                    <p:anim calcmode="lin" valueType="num">
                                      <p:cBhvr additive="base">
                                        <p:cTn id="25" dur="550" fill="hold"/>
                                        <p:tgtEl>
                                          <p:spTgt spid="7"/>
                                        </p:tgtEl>
                                        <p:attrNameLst>
                                          <p:attrName>ppt_h</p:attrName>
                                        </p:attrNameLst>
                                      </p:cBhvr>
                                      <p:tavLst>
                                        <p:tav tm="0">
                                          <p:val>
                                            <p:strVal val="0"/>
                                          </p:val>
                                        </p:tav>
                                        <p:tav tm="100000">
                                          <p:val>
                                            <p:strVal val="#ppt_h"/>
                                          </p:val>
                                        </p:tav>
                                      </p:tavLst>
                                    </p:anim>
                                  </p:childTnLst>
                                </p:cTn>
                              </p:par>
                            </p:childTnLst>
                          </p:cTn>
                        </p:par>
                        <p:par>
                          <p:cTn id="26" fill="hold">
                            <p:stCondLst>
                              <p:cond delay="300"/>
                            </p:stCondLst>
                            <p:childTnLst>
                              <p:par>
                                <p:cTn id="27" presetID="53" presetClass="entr" presetSubtype="16" fill="hold" grpId="0" nodeType="after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550"/>
                                        <p:tgtEl>
                                          <p:spTgt spid="8"/>
                                        </p:tgtEl>
                                      </p:cBhvr>
                                    </p:animEffect>
                                    <p:anim calcmode="lin" valueType="num">
                                      <p:cBhvr additive="base">
                                        <p:cTn id="30" dur="550" fill="hold"/>
                                        <p:tgtEl>
                                          <p:spTgt spid="8"/>
                                        </p:tgtEl>
                                        <p:attrNameLst>
                                          <p:attrName>ppt_w</p:attrName>
                                        </p:attrNameLst>
                                      </p:cBhvr>
                                      <p:tavLst>
                                        <p:tav tm="0">
                                          <p:val>
                                            <p:strVal val="0"/>
                                          </p:val>
                                        </p:tav>
                                        <p:tav tm="100000">
                                          <p:val>
                                            <p:strVal val="#ppt_w"/>
                                          </p:val>
                                        </p:tav>
                                      </p:tavLst>
                                    </p:anim>
                                    <p:anim calcmode="lin" valueType="num">
                                      <p:cBhvr additive="base">
                                        <p:cTn id="31" dur="550" fill="hold"/>
                                        <p:tgtEl>
                                          <p:spTgt spid="8"/>
                                        </p:tgtEl>
                                        <p:attrNameLst>
                                          <p:attrName>ppt_h</p:attrName>
                                        </p:attrNameLst>
                                      </p:cBhvr>
                                      <p:tavLst>
                                        <p:tav tm="0">
                                          <p:val>
                                            <p:strVal val="0"/>
                                          </p:val>
                                        </p:tav>
                                        <p:tav tm="100000">
                                          <p:val>
                                            <p:strVal val="#ppt_h"/>
                                          </p:val>
                                        </p:tav>
                                      </p:tavLst>
                                    </p:anim>
                                  </p:childTnLst>
                                </p:cTn>
                              </p:par>
                            </p:childTnLst>
                          </p:cTn>
                        </p:par>
                        <p:par>
                          <p:cTn id="32" fill="hold">
                            <p:stCondLst>
                              <p:cond delay="450"/>
                            </p:stCondLst>
                            <p:childTnLst>
                              <p:par>
                                <p:cTn id="33" presetID="2" presetClass="entr" presetSubtype="8" fill="hold" grpId="0" nodeType="afterEffect">
                                  <p:stCondLst>
                                    <p:cond delay="0"/>
                                  </p:stCondLst>
                                  <p:childTnLst>
                                    <p:set>
                                      <p:cBhvr>
                                        <p:cTn id="34" dur="1" fill="hold">
                                          <p:stCondLst>
                                            <p:cond delay="0"/>
                                          </p:stCondLst>
                                        </p:cTn>
                                        <p:tgtEl>
                                          <p:spTgt spid="9"/>
                                        </p:tgtEl>
                                        <p:attrNameLst>
                                          <p:attrName>style.visibility</p:attrName>
                                        </p:attrNameLst>
                                      </p:cBhvr>
                                      <p:to>
                                        <p:strVal val="visible"/>
                                      </p:to>
                                    </p:set>
                                    <p:anim calcmode="lin" valueType="num">
                                      <p:cBhvr additive="base">
                                        <p:cTn id="36" dur="550" fill="hold"/>
                                        <p:tgtEl>
                                          <p:spTgt spid="9"/>
                                        </p:tgtEl>
                                        <p:attrNameLst>
                                          <p:attrName>ppt_x</p:attrName>
                                        </p:attrNameLst>
                                      </p:cBhvr>
                                      <p:tavLst>
                                        <p:tav tm="0">
                                          <p:val>
                                            <p:strVal val="0-#ppt_w/2"/>
                                          </p:val>
                                        </p:tav>
                                        <p:tav tm="100000">
                                          <p:val>
                                            <p:strVal val="#ppt_x"/>
                                          </p:val>
                                        </p:tav>
                                      </p:tavLst>
                                    </p:anim>
                                    <p:anim calcmode="lin" valueType="num">
                                      <p:cBhvr additive="base">
                                        <p:cTn id="37" dur="550" fill="hold"/>
                                        <p:tgtEl>
                                          <p:spTgt spid="9"/>
                                        </p:tgtEl>
                                        <p:attrNameLst>
                                          <p:attrName>ppt_y</p:attrName>
                                        </p:attrNameLst>
                                      </p:cBhvr>
                                      <p:tavLst>
                                        <p:tav tm="0">
                                          <p:val>
                                            <p:strVal val="#ppt_y"/>
                                          </p:val>
                                        </p:tav>
                                        <p:tav tm="100000">
                                          <p:val>
                                            <p:strVal val="#ppt_y"/>
                                          </p:val>
                                        </p:tav>
                                      </p:tavLst>
                                    </p:anim>
                                  </p:childTnLst>
                                </p:cTn>
                              </p:par>
                            </p:childTnLst>
                          </p:cTn>
                        </p:par>
                        <p:par>
                          <p:cTn id="38" fill="hold">
                            <p:stCondLst>
                              <p:cond delay="550"/>
                            </p:stCondLst>
                            <p:childTnLst>
                              <p:par>
                                <p:cTn id="39" presetID="22" presetClass="entr" presetSubtype="8" fill="hold" grpId="0" nodeType="after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wipe(left)">
                                      <p:cBhvr>
                                        <p:cTn id="42"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4" grpId="0" animBg="1"/>
      <p:bldP spid="5" grpId="0" animBg="1"/>
      <p:bldP spid="7" grpId="0" animBg="1"/>
      <p:bldP spid="8" grpId="0" animBg="1"/>
      <p:bldP spid="9" grpId="0" animBg="1"/>
      <p:bldP spid="10" grpId="0" animBg="1"/>
    </p:bldLst>
  </p:timing>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Amaliy misol</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A1 · Sun'iy intellektga asoslangan kompyuter tizimlari arxitekturasini tahlil qilish va loyihalash</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19</a:t>
            </a:r>
          </a:p>
        </p:txBody>
      </p:sp>
      <p:sp>
        <p:nvSpPr>
          <p:cNvPr id="9" name="Rounded Rectangle 8"/>
          <p:cNvSpPr/>
          <p:nvPr/>
        </p:nvSpPr>
        <p:spPr>
          <a:xfrm>
            <a:off x="550000" y="1965060"/>
            <a:ext cx="11100000" cy="175494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1965060"/>
            <a:ext cx="70000" cy="175494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80000" y="2632530"/>
            <a:ext cx="420000" cy="42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1</a:t>
            </a:r>
          </a:p>
        </p:txBody>
      </p:sp>
      <p:sp>
        <p:nvSpPr>
          <p:cNvPr id="12" name="TextBox 11"/>
          <p:cNvSpPr txBox="1"/>
          <p:nvPr/>
        </p:nvSpPr>
        <p:spPr>
          <a:xfrm>
            <a:off x="1380000" y="2005060"/>
            <a:ext cx="10150000" cy="1674940"/>
          </a:xfrm>
          <a:prstGeom prst="rect">
            <a:avLst/>
          </a:prstGeom>
          <a:noFill/>
        </p:spPr>
        <p:txBody>
          <a:bodyPr wrap="square" anchor="ctr">
            <a:spAutoFit/>
          </a:bodyPr>
          <a:lstStyle/>
          <a:p>
            <a:r>
              <a:rPr sz="1700" b="0">
                <a:solidFill>
                  <a:srgbClr val="1B2430"/>
                </a:solidFill>
                <a:latin typeface="Calibri"/>
              </a:rPr>
              <a:t>Laboratoriya topshirig'i: «SHV aniqlash tizimi uchun hisoblash platformasini tanlash va strukturaviy sxema ishlab chiqish».</a:t>
            </a:r>
          </a:p>
        </p:txBody>
      </p:sp>
      <p:sp>
        <p:nvSpPr>
          <p:cNvPr id="13" name="Rounded Rectangle 12"/>
          <p:cNvSpPr/>
          <p:nvPr/>
        </p:nvSpPr>
        <p:spPr>
          <a:xfrm>
            <a:off x="550000" y="3830000"/>
            <a:ext cx="11100000" cy="175494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3830000"/>
            <a:ext cx="70000" cy="175494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780000" y="449747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2</a:t>
            </a:r>
          </a:p>
        </p:txBody>
      </p:sp>
      <p:sp>
        <p:nvSpPr>
          <p:cNvPr id="16" name="TextBox 15"/>
          <p:cNvSpPr txBox="1"/>
          <p:nvPr/>
        </p:nvSpPr>
        <p:spPr>
          <a:xfrm>
            <a:off x="1380000" y="3870000"/>
            <a:ext cx="10150000" cy="1674940"/>
          </a:xfrm>
          <a:prstGeom prst="rect">
            <a:avLst/>
          </a:prstGeom>
          <a:noFill/>
        </p:spPr>
        <p:txBody>
          <a:bodyPr wrap="square" anchor="ctr">
            <a:spAutoFit/>
          </a:bodyPr>
          <a:lstStyle/>
          <a:p>
            <a:r>
              <a:rPr sz="1800" b="1">
                <a:solidFill>
                  <a:srgbClr val="1F3A5F"/>
                </a:solidFill>
                <a:latin typeface="Calibri"/>
              </a:rPr>
              <a:t>Talab qilinadigan muhit.</a:t>
            </a:r>
          </a:p>
          <a:p>
            <a:pPr>
              <a:spcBef>
                <a:spcPts val="400"/>
              </a:spcBef>
            </a:pPr>
            <a:r>
              <a:rPr sz="1700">
                <a:solidFill>
                  <a:srgbClr val="334055"/>
                </a:solidFill>
                <a:latin typeface="Calibri"/>
              </a:rPr>
              <a:t>Apparat: oddiy noutbuk yoki ish stantsiyasi (GPU shart emas). Dasturiy ta'minot: Python 3.10 yoki undan yuqori; kutubxonalar torch&gt;=2.1, ultralytics&gt;=8.1 (model FLOP hisobi uchun), pandas, tabulate. O'rnatish: pip install torch ultralytics pandas tabulate. Internet ulanishi — modellarning oldindan o'qitilgan vaznlarini yuklab olish uchun (bir marta).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Lst>
  </p:timing>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1-qadam. Talablar matritsasini tuzish</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A1 · Sun'iy intellektga asoslangan kompyuter tizimlari arxitekturasini tahlil qilish va loyihalash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20</a:t>
            </a:r>
          </a:p>
        </p:txBody>
      </p:sp>
      <p:sp>
        <p:nvSpPr>
          <p:cNvPr id="10" name="Rounded Rectangle 9"/>
          <p:cNvSpPr/>
          <p:nvPr/>
        </p:nvSpPr>
        <p:spPr>
          <a:xfrm>
            <a:off x="550000" y="2250048"/>
            <a:ext cx="11100000" cy="1469952"/>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250048"/>
            <a:ext cx="70000" cy="1469952"/>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80000" y="2775024"/>
            <a:ext cx="420000" cy="42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1</a:t>
            </a:r>
          </a:p>
        </p:txBody>
      </p:sp>
      <p:sp>
        <p:nvSpPr>
          <p:cNvPr id="13" name="TextBox 12"/>
          <p:cNvSpPr txBox="1"/>
          <p:nvPr/>
        </p:nvSpPr>
        <p:spPr>
          <a:xfrm>
            <a:off x="1380000" y="2290048"/>
            <a:ext cx="10150000" cy="1389952"/>
          </a:xfrm>
          <a:prstGeom prst="rect">
            <a:avLst/>
          </a:prstGeom>
          <a:noFill/>
        </p:spPr>
        <p:txBody>
          <a:bodyPr wrap="square" anchor="ctr">
            <a:spAutoFit/>
          </a:bodyPr>
          <a:lstStyle/>
          <a:p>
            <a:r>
              <a:rPr sz="1800" b="1">
                <a:solidFill>
                  <a:srgbClr val="1F3A5F"/>
                </a:solidFill>
                <a:latin typeface="Calibri"/>
              </a:rPr>
              <a:t>Avval ssenariy talablarini o'lchanadigan ko'rsatkichlarga aylantiring va har biriga og'irlik (1–5) bering.</a:t>
            </a:r>
          </a:p>
          <a:p>
            <a:pPr>
              <a:spcBef>
                <a:spcPts val="400"/>
              </a:spcBef>
            </a:pPr>
            <a:r>
              <a:rPr sz="1700">
                <a:solidFill>
                  <a:srgbClr val="334055"/>
                </a:solidFill>
                <a:latin typeface="Calibri"/>
              </a:rPr>
              <a:t>Quyidagi matritsa namuna; talaba o'z asoslashi bilan og'irliklarni o'zgartirishi mumkin.</a:t>
            </a:r>
          </a:p>
        </p:txBody>
      </p:sp>
      <p:sp>
        <p:nvSpPr>
          <p:cNvPr id="14" name="Rounded Rectangle 13"/>
          <p:cNvSpPr/>
          <p:nvPr/>
        </p:nvSpPr>
        <p:spPr>
          <a:xfrm>
            <a:off x="550000" y="3830000"/>
            <a:ext cx="11100000" cy="1469952"/>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3830000"/>
            <a:ext cx="70000" cy="1469952"/>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80000" y="4354976"/>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2</a:t>
            </a:r>
          </a:p>
        </p:txBody>
      </p:sp>
      <p:sp>
        <p:nvSpPr>
          <p:cNvPr id="17" name="TextBox 16"/>
          <p:cNvSpPr txBox="1"/>
          <p:nvPr/>
        </p:nvSpPr>
        <p:spPr>
          <a:xfrm>
            <a:off x="1380000" y="3870000"/>
            <a:ext cx="10150000" cy="1389952"/>
          </a:xfrm>
          <a:prstGeom prst="rect">
            <a:avLst/>
          </a:prstGeom>
          <a:noFill/>
        </p:spPr>
        <p:txBody>
          <a:bodyPr wrap="square" anchor="ctr">
            <a:spAutoFit/>
          </a:bodyPr>
          <a:lstStyle/>
          <a:p>
            <a:r>
              <a:rPr sz="1800" b="1">
                <a:solidFill>
                  <a:srgbClr val="1F3A5F"/>
                </a:solidFill>
                <a:latin typeface="Calibri"/>
              </a:rPr>
              <a:t>Nima bo'ldi va nega.</a:t>
            </a:r>
          </a:p>
          <a:p>
            <a:pPr>
              <a:spcBef>
                <a:spcPts val="400"/>
              </a:spcBef>
            </a:pPr>
            <a:r>
              <a:rPr sz="1700">
                <a:solidFill>
                  <a:srgbClr val="334055"/>
                </a:solidFill>
                <a:latin typeface="Calibri"/>
              </a:rPr>
              <a:t>Talablar matritsasi loyihalashni sub'ektiv bahsdan ob'ektiv taqqoslashga o'tkazadi. Og'irliklar buyurtmachi ustuvorliklarini aks ettiradi: kechikish va o'tkazuvchanlik — funksional talab (bajarilmasa tizim ishlamaydi), narx — iqtisodiy cheklov.</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1-qadam. Talablar matritsasini tuzish</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A1 · Sun'iy intellektga asoslangan kompyuter tizimlari arxitekturasini tahlil qilish va loyihalash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21</a:t>
            </a:r>
          </a:p>
        </p:txBody>
      </p:sp>
      <p:graphicFrame>
        <p:nvGraphicFramePr>
          <p:cNvPr id="10" name="Table 9"/>
          <p:cNvGraphicFramePr>
            <a:graphicFrameLocks noGrp="1"/>
          </p:cNvGraphicFramePr>
          <p:nvPr/>
        </p:nvGraphicFramePr>
        <p:xfrm>
          <a:off x="500000" y="1350000"/>
          <a:ext cx="11200000" cy="4160000"/>
        </p:xfrm>
        <a:graphic>
          <a:graphicData uri="http://schemas.openxmlformats.org/drawingml/2006/table">
            <a:tbl>
              <a:tblPr firstRow="1" bandRow="1">
                <a:tableStyleId>{5C22544A-7EE6-4342-B048-85BDC9FD1C3A}</a:tableStyleId>
              </a:tblPr>
              <a:tblGrid>
                <a:gridCol w="2800000"/>
                <a:gridCol w="2800000"/>
                <a:gridCol w="2800000"/>
                <a:gridCol w="2800000"/>
              </a:tblGrid>
              <a:tr h="520000">
                <a:tc>
                  <a:txBody>
                    <a:bodyPr/>
                    <a:lstStyle/>
                    <a:p>
                      <a:r>
                        <a:rPr sz="1400" b="1">
                          <a:solidFill>
                            <a:srgbClr val="FFFFFF"/>
                          </a:solidFill>
                          <a:latin typeface="Calibri"/>
                        </a:rPr>
                        <a:t>Talab</a:t>
                      </a:r>
                    </a:p>
                  </a:txBody>
                  <a:tcPr>
                    <a:solidFill>
                      <a:srgbClr val="2D5C8F"/>
                    </a:solidFill>
                  </a:tcPr>
                </a:tc>
                <a:tc>
                  <a:txBody>
                    <a:bodyPr/>
                    <a:lstStyle/>
                    <a:p>
                      <a:r>
                        <a:rPr sz="1400" b="1">
                          <a:solidFill>
                            <a:srgbClr val="FFFFFF"/>
                          </a:solidFill>
                          <a:latin typeface="Calibri"/>
                        </a:rPr>
                        <a:t>O'lchov</a:t>
                      </a:r>
                    </a:p>
                  </a:txBody>
                  <a:tcPr>
                    <a:solidFill>
                      <a:srgbClr val="2D5C8F"/>
                    </a:solidFill>
                  </a:tcPr>
                </a:tc>
                <a:tc>
                  <a:txBody>
                    <a:bodyPr/>
                    <a:lstStyle/>
                    <a:p>
                      <a:r>
                        <a:rPr sz="1400" b="1">
                          <a:solidFill>
                            <a:srgbClr val="FFFFFF"/>
                          </a:solidFill>
                          <a:latin typeface="Calibri"/>
                        </a:rPr>
                        <a:t>Chegaraviy qiymat</a:t>
                      </a:r>
                    </a:p>
                  </a:txBody>
                  <a:tcPr>
                    <a:solidFill>
                      <a:srgbClr val="2D5C8F"/>
                    </a:solidFill>
                  </a:tcPr>
                </a:tc>
                <a:tc>
                  <a:txBody>
                    <a:bodyPr/>
                    <a:lstStyle/>
                    <a:p>
                      <a:r>
                        <a:rPr sz="1400" b="1">
                          <a:solidFill>
                            <a:srgbClr val="FFFFFF"/>
                          </a:solidFill>
                          <a:latin typeface="Calibri"/>
                        </a:rPr>
                        <a:t>Og'irlik</a:t>
                      </a:r>
                    </a:p>
                  </a:txBody>
                  <a:tcPr>
                    <a:solidFill>
                      <a:srgbClr val="2D5C8F"/>
                    </a:solidFill>
                  </a:tcPr>
                </a:tc>
              </a:tr>
              <a:tr h="520000">
                <a:tc>
                  <a:txBody>
                    <a:bodyPr/>
                    <a:lstStyle/>
                    <a:p>
                      <a:r>
                        <a:rPr sz="1400" b="0">
                          <a:solidFill>
                            <a:srgbClr val="1B2430"/>
                          </a:solidFill>
                          <a:latin typeface="Calibri"/>
                        </a:rPr>
                        <a:t>O'tkazuvchanlik</a:t>
                      </a:r>
                    </a:p>
                  </a:txBody>
                  <a:tcPr>
                    <a:solidFill>
                      <a:srgbClr val="F1F4F8"/>
                    </a:solidFill>
                  </a:tcPr>
                </a:tc>
                <a:tc>
                  <a:txBody>
                    <a:bodyPr/>
                    <a:lstStyle/>
                    <a:p>
                      <a:r>
                        <a:rPr sz="1400" b="0">
                          <a:solidFill>
                            <a:srgbClr val="1B2430"/>
                          </a:solidFill>
                          <a:latin typeface="Calibri"/>
                        </a:rPr>
                        <a:t>inferens/s</a:t>
                      </a:r>
                    </a:p>
                  </a:txBody>
                  <a:tcPr>
                    <a:solidFill>
                      <a:srgbClr val="F1F4F8"/>
                    </a:solidFill>
                  </a:tcPr>
                </a:tc>
                <a:tc>
                  <a:txBody>
                    <a:bodyPr/>
                    <a:lstStyle/>
                    <a:p>
                      <a:r>
                        <a:rPr sz="1400" b="0">
                          <a:solidFill>
                            <a:srgbClr val="1B2430"/>
                          </a:solidFill>
                          <a:latin typeface="Calibri"/>
                        </a:rPr>
                        <a:t>≥ 160 (YOLOv8s, 640)</a:t>
                      </a:r>
                    </a:p>
                  </a:txBody>
                  <a:tcPr>
                    <a:solidFill>
                      <a:srgbClr val="F1F4F8"/>
                    </a:solidFill>
                  </a:tcPr>
                </a:tc>
                <a:tc>
                  <a:txBody>
                    <a:bodyPr/>
                    <a:lstStyle/>
                    <a:p>
                      <a:r>
                        <a:rPr sz="1400" b="0">
                          <a:solidFill>
                            <a:srgbClr val="1B2430"/>
                          </a:solidFill>
                          <a:latin typeface="Calibri"/>
                        </a:rPr>
                        <a:t>5</a:t>
                      </a:r>
                    </a:p>
                  </a:txBody>
                  <a:tcPr>
                    <a:solidFill>
                      <a:srgbClr val="F1F4F8"/>
                    </a:solidFill>
                  </a:tcPr>
                </a:tc>
              </a:tr>
              <a:tr h="520000">
                <a:tc>
                  <a:txBody>
                    <a:bodyPr/>
                    <a:lstStyle/>
                    <a:p>
                      <a:r>
                        <a:rPr sz="1400" b="0">
                          <a:solidFill>
                            <a:srgbClr val="1B2430"/>
                          </a:solidFill>
                          <a:latin typeface="Calibri"/>
                        </a:rPr>
                        <a:t>Uchdan-uchga kechikish</a:t>
                      </a:r>
                    </a:p>
                  </a:txBody>
                  <a:tcPr>
                    <a:solidFill>
                      <a:srgbClr val="FFFFFF"/>
                    </a:solidFill>
                  </a:tcPr>
                </a:tc>
                <a:tc>
                  <a:txBody>
                    <a:bodyPr/>
                    <a:lstStyle/>
                    <a:p>
                      <a:r>
                        <a:rPr sz="1400" b="0">
                          <a:solidFill>
                            <a:srgbClr val="1B2430"/>
                          </a:solidFill>
                          <a:latin typeface="Calibri"/>
                        </a:rPr>
                        <a:t>ms (p95)</a:t>
                      </a:r>
                    </a:p>
                  </a:txBody>
                  <a:tcPr>
                    <a:solidFill>
                      <a:srgbClr val="FFFFFF"/>
                    </a:solidFill>
                  </a:tcPr>
                </a:tc>
                <a:tc>
                  <a:txBody>
                    <a:bodyPr/>
                    <a:lstStyle/>
                    <a:p>
                      <a:r>
                        <a:rPr sz="1400" b="0">
                          <a:solidFill>
                            <a:srgbClr val="1B2430"/>
                          </a:solidFill>
                          <a:latin typeface="Calibri"/>
                        </a:rPr>
                        <a:t>≤ 200</a:t>
                      </a:r>
                    </a:p>
                  </a:txBody>
                  <a:tcPr>
                    <a:solidFill>
                      <a:srgbClr val="FFFFFF"/>
                    </a:solidFill>
                  </a:tcPr>
                </a:tc>
                <a:tc>
                  <a:txBody>
                    <a:bodyPr/>
                    <a:lstStyle/>
                    <a:p>
                      <a:r>
                        <a:rPr sz="1400" b="0">
                          <a:solidFill>
                            <a:srgbClr val="1B2430"/>
                          </a:solidFill>
                          <a:latin typeface="Calibri"/>
                        </a:rPr>
                        <a:t>5</a:t>
                      </a:r>
                    </a:p>
                  </a:txBody>
                  <a:tcPr>
                    <a:solidFill>
                      <a:srgbClr val="FFFFFF"/>
                    </a:solidFill>
                  </a:tcPr>
                </a:tc>
              </a:tr>
              <a:tr h="520000">
                <a:tc>
                  <a:txBody>
                    <a:bodyPr/>
                    <a:lstStyle/>
                    <a:p>
                      <a:r>
                        <a:rPr sz="1400" b="0">
                          <a:solidFill>
                            <a:srgbClr val="1B2430"/>
                          </a:solidFill>
                          <a:latin typeface="Calibri"/>
                        </a:rPr>
                        <a:t>Ish harorati</a:t>
                      </a:r>
                    </a:p>
                  </a:txBody>
                  <a:tcPr>
                    <a:solidFill>
                      <a:srgbClr val="F1F4F8"/>
                    </a:solidFill>
                  </a:tcPr>
                </a:tc>
                <a:tc>
                  <a:txBody>
                    <a:bodyPr/>
                    <a:lstStyle/>
                    <a:p>
                      <a:r>
                        <a:rPr sz="1400" b="0">
                          <a:solidFill>
                            <a:srgbClr val="1B2430"/>
                          </a:solidFill>
                          <a:latin typeface="Calibri"/>
                        </a:rPr>
                        <a:t>°C</a:t>
                      </a:r>
                    </a:p>
                  </a:txBody>
                  <a:tcPr>
                    <a:solidFill>
                      <a:srgbClr val="F1F4F8"/>
                    </a:solidFill>
                  </a:tcPr>
                </a:tc>
                <a:tc>
                  <a:txBody>
                    <a:bodyPr/>
                    <a:lstStyle/>
                    <a:p>
                      <a:r>
                        <a:rPr sz="1400" b="0">
                          <a:solidFill>
                            <a:srgbClr val="1B2430"/>
                          </a:solidFill>
                          <a:latin typeface="Calibri"/>
                        </a:rPr>
                        <a:t>+40 muhitda barqaror</a:t>
                      </a:r>
                    </a:p>
                  </a:txBody>
                  <a:tcPr>
                    <a:solidFill>
                      <a:srgbClr val="F1F4F8"/>
                    </a:solidFill>
                  </a:tcPr>
                </a:tc>
                <a:tc>
                  <a:txBody>
                    <a:bodyPr/>
                    <a:lstStyle/>
                    <a:p>
                      <a:r>
                        <a:rPr sz="1400" b="0">
                          <a:solidFill>
                            <a:srgbClr val="1B2430"/>
                          </a:solidFill>
                          <a:latin typeface="Calibri"/>
                        </a:rPr>
                        <a:t>4</a:t>
                      </a:r>
                    </a:p>
                  </a:txBody>
                  <a:tcPr>
                    <a:solidFill>
                      <a:srgbClr val="F1F4F8"/>
                    </a:solidFill>
                  </a:tcPr>
                </a:tc>
              </a:tr>
              <a:tr h="520000">
                <a:tc>
                  <a:txBody>
                    <a:bodyPr/>
                    <a:lstStyle/>
                    <a:p>
                      <a:r>
                        <a:rPr sz="1400" b="0">
                          <a:solidFill>
                            <a:srgbClr val="1B2430"/>
                          </a:solidFill>
                          <a:latin typeface="Calibri"/>
                        </a:rPr>
                        <a:t>Quvvat</a:t>
                      </a:r>
                    </a:p>
                  </a:txBody>
                  <a:tcPr>
                    <a:solidFill>
                      <a:srgbClr val="FFFFFF"/>
                    </a:solidFill>
                  </a:tcPr>
                </a:tc>
                <a:tc>
                  <a:txBody>
                    <a:bodyPr/>
                    <a:lstStyle/>
                    <a:p>
                      <a:r>
                        <a:rPr sz="1400" b="0">
                          <a:solidFill>
                            <a:srgbClr val="1B2430"/>
                          </a:solidFill>
                          <a:latin typeface="Calibri"/>
                        </a:rPr>
                        <a:t>Vt</a:t>
                      </a:r>
                    </a:p>
                  </a:txBody>
                  <a:tcPr>
                    <a:solidFill>
                      <a:srgbClr val="FFFFFF"/>
                    </a:solidFill>
                  </a:tcPr>
                </a:tc>
                <a:tc>
                  <a:txBody>
                    <a:bodyPr/>
                    <a:lstStyle/>
                    <a:p>
                      <a:r>
                        <a:rPr sz="1400" b="0">
                          <a:solidFill>
                            <a:srgbClr val="1B2430"/>
                          </a:solidFill>
                          <a:latin typeface="Calibri"/>
                        </a:rPr>
                        <a:t>≤ 60 (butun quti)</a:t>
                      </a:r>
                    </a:p>
                  </a:txBody>
                  <a:tcPr>
                    <a:solidFill>
                      <a:srgbClr val="FFFFFF"/>
                    </a:solidFill>
                  </a:tcPr>
                </a:tc>
                <a:tc>
                  <a:txBody>
                    <a:bodyPr/>
                    <a:lstStyle/>
                    <a:p>
                      <a:r>
                        <a:rPr sz="1400" b="0">
                          <a:solidFill>
                            <a:srgbClr val="1B2430"/>
                          </a:solidFill>
                          <a:latin typeface="Calibri"/>
                        </a:rPr>
                        <a:t>3</a:t>
                      </a:r>
                    </a:p>
                  </a:txBody>
                  <a:tcPr>
                    <a:solidFill>
                      <a:srgbClr val="FFFFFF"/>
                    </a:solidFill>
                  </a:tcPr>
                </a:tc>
              </a:tr>
              <a:tr h="520000">
                <a:tc>
                  <a:txBody>
                    <a:bodyPr/>
                    <a:lstStyle/>
                    <a:p>
                      <a:r>
                        <a:rPr sz="1400" b="0">
                          <a:solidFill>
                            <a:srgbClr val="1B2430"/>
                          </a:solidFill>
                          <a:latin typeface="Calibri"/>
                        </a:rPr>
                        <a:t>Video dekodlash</a:t>
                      </a:r>
                    </a:p>
                  </a:txBody>
                  <a:tcPr>
                    <a:solidFill>
                      <a:srgbClr val="F1F4F8"/>
                    </a:solidFill>
                  </a:tcPr>
                </a:tc>
                <a:tc>
                  <a:txBody>
                    <a:bodyPr/>
                    <a:lstStyle/>
                    <a:p>
                      <a:r>
                        <a:rPr sz="1400" b="0">
                          <a:solidFill>
                            <a:srgbClr val="1B2430"/>
                          </a:solidFill>
                          <a:latin typeface="Calibri"/>
                        </a:rPr>
                        <a:t>oqimlar soni</a:t>
                      </a:r>
                    </a:p>
                  </a:txBody>
                  <a:tcPr>
                    <a:solidFill>
                      <a:srgbClr val="F1F4F8"/>
                    </a:solidFill>
                  </a:tcPr>
                </a:tc>
                <a:tc>
                  <a:txBody>
                    <a:bodyPr/>
                    <a:lstStyle/>
                    <a:p>
                      <a:r>
                        <a:rPr sz="1400" b="0">
                          <a:solidFill>
                            <a:srgbClr val="1B2430"/>
                          </a:solidFill>
                          <a:latin typeface="Calibri"/>
                        </a:rPr>
                        <a:t>16 × 1080p10</a:t>
                      </a:r>
                    </a:p>
                  </a:txBody>
                  <a:tcPr>
                    <a:solidFill>
                      <a:srgbClr val="F1F4F8"/>
                    </a:solidFill>
                  </a:tcPr>
                </a:tc>
                <a:tc>
                  <a:txBody>
                    <a:bodyPr/>
                    <a:lstStyle/>
                    <a:p>
                      <a:r>
                        <a:rPr sz="1400" b="0">
                          <a:solidFill>
                            <a:srgbClr val="1B2430"/>
                          </a:solidFill>
                          <a:latin typeface="Calibri"/>
                        </a:rPr>
                        <a:t>4</a:t>
                      </a:r>
                    </a:p>
                  </a:txBody>
                  <a:tcPr>
                    <a:solidFill>
                      <a:srgbClr val="F1F4F8"/>
                    </a:solidFill>
                  </a:tcPr>
                </a:tc>
              </a:tr>
              <a:tr h="520000">
                <a:tc>
                  <a:txBody>
                    <a:bodyPr/>
                    <a:lstStyle/>
                    <a:p>
                      <a:r>
                        <a:rPr sz="1400" b="0">
                          <a:solidFill>
                            <a:srgbClr val="1B2430"/>
                          </a:solidFill>
                          <a:latin typeface="Calibri"/>
                        </a:rPr>
                        <a:t>Narx</a:t>
                      </a:r>
                    </a:p>
                  </a:txBody>
                  <a:tcPr>
                    <a:solidFill>
                      <a:srgbClr val="FFFFFF"/>
                    </a:solidFill>
                  </a:tcPr>
                </a:tc>
                <a:tc>
                  <a:txBody>
                    <a:bodyPr/>
                    <a:lstStyle/>
                    <a:p>
                      <a:r>
                        <a:rPr sz="1400" b="0">
                          <a:solidFill>
                            <a:srgbClr val="1B2430"/>
                          </a:solidFill>
                          <a:latin typeface="Calibri"/>
                        </a:rPr>
                        <a:t>AQSh dollari</a:t>
                      </a:r>
                    </a:p>
                  </a:txBody>
                  <a:tcPr>
                    <a:solidFill>
                      <a:srgbClr val="FFFFFF"/>
                    </a:solidFill>
                  </a:tcPr>
                </a:tc>
                <a:tc>
                  <a:txBody>
                    <a:bodyPr/>
                    <a:lstStyle/>
                    <a:p>
                      <a:r>
                        <a:rPr sz="1400" b="0">
                          <a:solidFill>
                            <a:srgbClr val="1B2430"/>
                          </a:solidFill>
                          <a:latin typeface="Calibri"/>
                        </a:rPr>
                        <a:t>≤ 2000 (hisoblash qismi)</a:t>
                      </a:r>
                    </a:p>
                  </a:txBody>
                  <a:tcPr>
                    <a:solidFill>
                      <a:srgbClr val="FFFFFF"/>
                    </a:solidFill>
                  </a:tcPr>
                </a:tc>
                <a:tc>
                  <a:txBody>
                    <a:bodyPr/>
                    <a:lstStyle/>
                    <a:p>
                      <a:r>
                        <a:rPr sz="1400" b="0">
                          <a:solidFill>
                            <a:srgbClr val="1B2430"/>
                          </a:solidFill>
                          <a:latin typeface="Calibri"/>
                        </a:rPr>
                        <a:t>3</a:t>
                      </a:r>
                    </a:p>
                  </a:txBody>
                  <a:tcPr>
                    <a:solidFill>
                      <a:srgbClr val="FFFFFF"/>
                    </a:solidFill>
                  </a:tcPr>
                </a:tc>
              </a:tr>
              <a:tr h="520000">
                <a:tc>
                  <a:txBody>
                    <a:bodyPr/>
                    <a:lstStyle/>
                    <a:p>
                      <a:r>
                        <a:rPr sz="1400" b="0">
                          <a:solidFill>
                            <a:srgbClr val="1B2430"/>
                          </a:solidFill>
                          <a:latin typeface="Calibri"/>
                        </a:rPr>
                        <a:t>Dasturiy ekotizim</a:t>
                      </a:r>
                    </a:p>
                  </a:txBody>
                  <a:tcPr>
                    <a:solidFill>
                      <a:srgbClr val="F1F4F8"/>
                    </a:solidFill>
                  </a:tcPr>
                </a:tc>
                <a:tc>
                  <a:txBody>
                    <a:bodyPr/>
                    <a:lstStyle/>
                    <a:p>
                      <a:r>
                        <a:rPr sz="1400" b="0">
                          <a:solidFill>
                            <a:srgbClr val="1B2430"/>
                          </a:solidFill>
                          <a:latin typeface="Calibri"/>
                        </a:rPr>
                        <a:t>sifat bahosi</a:t>
                      </a:r>
                    </a:p>
                  </a:txBody>
                  <a:tcPr>
                    <a:solidFill>
                      <a:srgbClr val="F1F4F8"/>
                    </a:solidFill>
                  </a:tcPr>
                </a:tc>
                <a:tc>
                  <a:txBody>
                    <a:bodyPr/>
                    <a:lstStyle/>
                    <a:p>
                      <a:r>
                        <a:rPr sz="1400" b="0">
                          <a:solidFill>
                            <a:srgbClr val="1B2430"/>
                          </a:solidFill>
                          <a:latin typeface="Calibri"/>
                        </a:rPr>
                        <a:t>TensorRT/ONNX qo'llab-quvvatlash</a:t>
                      </a:r>
                    </a:p>
                  </a:txBody>
                  <a:tcPr>
                    <a:solidFill>
                      <a:srgbClr val="F1F4F8"/>
                    </a:solidFill>
                  </a:tcPr>
                </a:tc>
                <a:tc>
                  <a:txBody>
                    <a:bodyPr/>
                    <a:lstStyle/>
                    <a:p>
                      <a:r>
                        <a:rPr sz="1400" b="0">
                          <a:solidFill>
                            <a:srgbClr val="1B2430"/>
                          </a:solidFill>
                          <a:latin typeface="Calibri"/>
                        </a:rPr>
                        <a:t>3</a:t>
                      </a:r>
                    </a:p>
                  </a:txBody>
                  <a:tcPr>
                    <a:solidFill>
                      <a:srgbClr val="F1F4F8"/>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22" presetClass="entr" presetSubtype="8"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wipe(left)">
                                      <p:cBhvr>
                                        <p:cTn id="11"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2-qadam. Model yuklamasini Python'da hisoblash</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A1 · Sun'iy intellektga asoslangan kompyuter tizimlari arxitekturasini tahlil qilish va loyihalash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22</a:t>
            </a:r>
          </a:p>
        </p:txBody>
      </p:sp>
      <p:sp>
        <p:nvSpPr>
          <p:cNvPr id="10" name="Rounded Rectangle 9"/>
          <p:cNvSpPr/>
          <p:nvPr/>
        </p:nvSpPr>
        <p:spPr>
          <a:xfrm>
            <a:off x="550000" y="1284050"/>
            <a:ext cx="11100000" cy="158730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284050"/>
            <a:ext cx="70000" cy="15873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80000" y="1867700"/>
            <a:ext cx="420000" cy="42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1</a:t>
            </a:r>
          </a:p>
        </p:txBody>
      </p:sp>
      <p:sp>
        <p:nvSpPr>
          <p:cNvPr id="13" name="TextBox 12"/>
          <p:cNvSpPr txBox="1"/>
          <p:nvPr/>
        </p:nvSpPr>
        <p:spPr>
          <a:xfrm>
            <a:off x="1380000" y="1324050"/>
            <a:ext cx="10150000" cy="1507300"/>
          </a:xfrm>
          <a:prstGeom prst="rect">
            <a:avLst/>
          </a:prstGeom>
          <a:noFill/>
        </p:spPr>
        <p:txBody>
          <a:bodyPr wrap="square" anchor="ctr">
            <a:spAutoFit/>
          </a:bodyPr>
          <a:lstStyle/>
          <a:p>
            <a:r>
              <a:rPr sz="1500" b="0">
                <a:solidFill>
                  <a:srgbClr val="1B2430"/>
                </a:solidFill>
                <a:latin typeface="Calibri"/>
              </a:rPr>
              <a:t>Quyidagi skript tanlangan YOLO variantlari uchun FLOP, parametrlar soni, vaznlar hajmi va talab qilinadigan jami unumdorlikni hisoblaydi.</a:t>
            </a:r>
          </a:p>
        </p:txBody>
      </p:sp>
      <p:sp>
        <p:nvSpPr>
          <p:cNvPr id="14" name="Rounded Rectangle 13"/>
          <p:cNvSpPr/>
          <p:nvPr/>
        </p:nvSpPr>
        <p:spPr>
          <a:xfrm>
            <a:off x="550000" y="2981350"/>
            <a:ext cx="11100000" cy="158730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2981350"/>
            <a:ext cx="70000" cy="15873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80000" y="3565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2</a:t>
            </a:r>
          </a:p>
        </p:txBody>
      </p:sp>
      <p:sp>
        <p:nvSpPr>
          <p:cNvPr id="17" name="TextBox 16"/>
          <p:cNvSpPr txBox="1"/>
          <p:nvPr/>
        </p:nvSpPr>
        <p:spPr>
          <a:xfrm>
            <a:off x="1380000" y="3021350"/>
            <a:ext cx="10150000" cy="1507300"/>
          </a:xfrm>
          <a:prstGeom prst="rect">
            <a:avLst/>
          </a:prstGeom>
          <a:noFill/>
        </p:spPr>
        <p:txBody>
          <a:bodyPr wrap="square" anchor="ctr">
            <a:spAutoFit/>
          </a:bodyPr>
          <a:lstStyle/>
          <a:p>
            <a:r>
              <a:rPr sz="1500" b="0">
                <a:solidFill>
                  <a:srgbClr val="1B2430"/>
                </a:solidFill>
                <a:latin typeface="Calibri"/>
              </a:rPr>
              <a:t>Kutilgan natija (taxminiy, ultralytics versiyasiga qarab ±5 %):</a:t>
            </a:r>
          </a:p>
        </p:txBody>
      </p:sp>
      <p:sp>
        <p:nvSpPr>
          <p:cNvPr id="18" name="Rounded Rectangle 17"/>
          <p:cNvSpPr/>
          <p:nvPr/>
        </p:nvSpPr>
        <p:spPr>
          <a:xfrm>
            <a:off x="550000" y="4678650"/>
            <a:ext cx="11100000" cy="158730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4678650"/>
            <a:ext cx="70000" cy="15873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80000" y="5262300"/>
            <a:ext cx="420000" cy="42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3</a:t>
            </a:r>
          </a:p>
        </p:txBody>
      </p:sp>
      <p:sp>
        <p:nvSpPr>
          <p:cNvPr id="21" name="TextBox 20"/>
          <p:cNvSpPr txBox="1"/>
          <p:nvPr/>
        </p:nvSpPr>
        <p:spPr>
          <a:xfrm>
            <a:off x="1380000" y="4718650"/>
            <a:ext cx="10150000" cy="1507300"/>
          </a:xfrm>
          <a:prstGeom prst="rect">
            <a:avLst/>
          </a:prstGeom>
          <a:noFill/>
        </p:spPr>
        <p:txBody>
          <a:bodyPr wrap="square" anchor="ctr">
            <a:spAutoFit/>
          </a:bodyPr>
          <a:lstStyle/>
          <a:p>
            <a:r>
              <a:rPr sz="1600" b="1">
                <a:solidFill>
                  <a:srgbClr val="1F3A5F"/>
                </a:solidFill>
                <a:latin typeface="Calibri"/>
              </a:rPr>
              <a:t>Nima bo'ldi va nega.</a:t>
            </a:r>
          </a:p>
          <a:p>
            <a:pPr>
              <a:spcBef>
                <a:spcPts val="400"/>
              </a:spcBef>
            </a:pPr>
            <a:r>
              <a:rPr sz="1500">
                <a:solidFill>
                  <a:srgbClr val="334055"/>
                </a:solidFill>
                <a:latin typeface="Calibri"/>
              </a:rPr>
              <a:t>Skript modelning statik xususiyatlaridan kelib chiqib «nazariy» talabni beradi. Bu — yuqori chegaradan ancha past baho emas, aksincha, quyi chegara: real platformada dekodlash, xotira ko'chirish va operatorlar samaradorligi (odatda cho'qqining 30–60 %) tufayli haqiqiy talab 2–3 baravar yuqori bo'ladi. Shuning uchun platformani tanlashda «samaradorlik koeffitsiyenti» kiritiladi.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9"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Lst>
  </p:timing>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2-qadam. Model yuklamasini Python'da hisoblash</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A1 · Sun'iy intellektga asoslangan kompyuter tizimlari arxitekturasini tahlil qilish va loyihalash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23</a:t>
            </a:r>
          </a:p>
        </p:txBody>
      </p:sp>
      <p:graphicFrame>
        <p:nvGraphicFramePr>
          <p:cNvPr id="10" name="Table 9"/>
          <p:cNvGraphicFramePr>
            <a:graphicFrameLocks noGrp="1"/>
          </p:cNvGraphicFramePr>
          <p:nvPr/>
        </p:nvGraphicFramePr>
        <p:xfrm>
          <a:off x="500000" y="1350000"/>
          <a:ext cx="11200000" cy="3640000"/>
        </p:xfrm>
        <a:graphic>
          <a:graphicData uri="http://schemas.openxmlformats.org/drawingml/2006/table">
            <a:tbl>
              <a:tblPr firstRow="1" bandRow="1">
                <a:tableStyleId>{5C22544A-7EE6-4342-B048-85BDC9FD1C3A}</a:tableStyleId>
              </a:tblPr>
              <a:tblGrid>
                <a:gridCol w="1866666"/>
                <a:gridCol w="1866666"/>
                <a:gridCol w="1866666"/>
                <a:gridCol w="1866666"/>
                <a:gridCol w="1866666"/>
                <a:gridCol w="1866670"/>
              </a:tblGrid>
              <a:tr h="520000">
                <a:tc>
                  <a:txBody>
                    <a:bodyPr/>
                    <a:lstStyle/>
                    <a:p>
                      <a:r>
                        <a:rPr sz="1400" b="1">
                          <a:solidFill>
                            <a:srgbClr val="FFFFFF"/>
                          </a:solidFill>
                          <a:latin typeface="Calibri"/>
                        </a:rPr>
                        <a:t>model</a:t>
                      </a:r>
                    </a:p>
                  </a:txBody>
                  <a:tcPr>
                    <a:solidFill>
                      <a:srgbClr val="2D5C8F"/>
                    </a:solidFill>
                  </a:tcPr>
                </a:tc>
                <a:tc>
                  <a:txBody>
                    <a:bodyPr/>
                    <a:lstStyle/>
                    <a:p>
                      <a:r>
                        <a:rPr sz="1400" b="1">
                          <a:solidFill>
                            <a:srgbClr val="FFFFFF"/>
                          </a:solidFill>
                          <a:latin typeface="Calibri"/>
                        </a:rPr>
                        <a:t>imgsz</a:t>
                      </a:r>
                    </a:p>
                  </a:txBody>
                  <a:tcPr>
                    <a:solidFill>
                      <a:srgbClr val="2D5C8F"/>
                    </a:solidFill>
                  </a:tcPr>
                </a:tc>
                <a:tc>
                  <a:txBody>
                    <a:bodyPr/>
                    <a:lstStyle/>
                    <a:p>
                      <a:r>
                        <a:rPr sz="1400" b="1">
                          <a:solidFill>
                            <a:srgbClr val="FFFFFF"/>
                          </a:solidFill>
                          <a:latin typeface="Calibri"/>
                        </a:rPr>
                        <a:t>params_M</a:t>
                      </a:r>
                    </a:p>
                  </a:txBody>
                  <a:tcPr>
                    <a:solidFill>
                      <a:srgbClr val="2D5C8F"/>
                    </a:solidFill>
                  </a:tcPr>
                </a:tc>
                <a:tc>
                  <a:txBody>
                    <a:bodyPr/>
                    <a:lstStyle/>
                    <a:p>
                      <a:r>
                        <a:rPr sz="1400" b="1">
                          <a:solidFill>
                            <a:srgbClr val="FFFFFF"/>
                          </a:solidFill>
                          <a:latin typeface="Calibri"/>
                        </a:rPr>
                        <a:t>vazn_FP16_MB</a:t>
                      </a:r>
                    </a:p>
                  </a:txBody>
                  <a:tcPr>
                    <a:solidFill>
                      <a:srgbClr val="2D5C8F"/>
                    </a:solidFill>
                  </a:tcPr>
                </a:tc>
                <a:tc>
                  <a:txBody>
                    <a:bodyPr/>
                    <a:lstStyle/>
                    <a:p>
                      <a:r>
                        <a:rPr sz="1400" b="1">
                          <a:solidFill>
                            <a:srgbClr val="FFFFFF"/>
                          </a:solidFill>
                          <a:latin typeface="Calibri"/>
                        </a:rPr>
                        <a:t>GFLOP_inferens</a:t>
                      </a:r>
                    </a:p>
                  </a:txBody>
                  <a:tcPr>
                    <a:solidFill>
                      <a:srgbClr val="2D5C8F"/>
                    </a:solidFill>
                  </a:tcPr>
                </a:tc>
                <a:tc>
                  <a:txBody>
                    <a:bodyPr/>
                    <a:lstStyle/>
                    <a:p>
                      <a:r>
                        <a:rPr sz="1400" b="1">
                          <a:solidFill>
                            <a:srgbClr val="FFFFFF"/>
                          </a:solidFill>
                          <a:latin typeface="Calibri"/>
                        </a:rPr>
                        <a:t>TFLOP_s_talab</a:t>
                      </a:r>
                    </a:p>
                  </a:txBody>
                  <a:tcPr>
                    <a:solidFill>
                      <a:srgbClr val="2D5C8F"/>
                    </a:solidFill>
                  </a:tcPr>
                </a:tc>
              </a:tr>
              <a:tr h="520000">
                <a:tc>
                  <a:txBody>
                    <a:bodyPr/>
                    <a:lstStyle/>
                    <a:p>
                      <a:r>
                        <a:rPr sz="1400" b="0">
                          <a:solidFill>
                            <a:srgbClr val="1B2430"/>
                          </a:solidFill>
                          <a:latin typeface="Calibri"/>
                        </a:rPr>
                        <a:t>yolov8n</a:t>
                      </a:r>
                    </a:p>
                  </a:txBody>
                  <a:tcPr>
                    <a:solidFill>
                      <a:srgbClr val="F1F4F8"/>
                    </a:solidFill>
                  </a:tcPr>
                </a:tc>
                <a:tc>
                  <a:txBody>
                    <a:bodyPr/>
                    <a:lstStyle/>
                    <a:p>
                      <a:r>
                        <a:rPr sz="1400" b="0">
                          <a:solidFill>
                            <a:srgbClr val="1B2430"/>
                          </a:solidFill>
                          <a:latin typeface="Calibri"/>
                        </a:rPr>
                        <a:t>512</a:t>
                      </a:r>
                    </a:p>
                  </a:txBody>
                  <a:tcPr>
                    <a:solidFill>
                      <a:srgbClr val="F1F4F8"/>
                    </a:solidFill>
                  </a:tcPr>
                </a:tc>
                <a:tc>
                  <a:txBody>
                    <a:bodyPr/>
                    <a:lstStyle/>
                    <a:p>
                      <a:r>
                        <a:rPr sz="1400" b="0">
                          <a:solidFill>
                            <a:srgbClr val="1B2430"/>
                          </a:solidFill>
                          <a:latin typeface="Calibri"/>
                        </a:rPr>
                        <a:t>3,15</a:t>
                      </a:r>
                    </a:p>
                  </a:txBody>
                  <a:tcPr>
                    <a:solidFill>
                      <a:srgbClr val="F1F4F8"/>
                    </a:solidFill>
                  </a:tcPr>
                </a:tc>
                <a:tc>
                  <a:txBody>
                    <a:bodyPr/>
                    <a:lstStyle/>
                    <a:p>
                      <a:r>
                        <a:rPr sz="1400" b="0">
                          <a:solidFill>
                            <a:srgbClr val="1B2430"/>
                          </a:solidFill>
                          <a:latin typeface="Calibri"/>
                        </a:rPr>
                        <a:t>6,3</a:t>
                      </a:r>
                    </a:p>
                  </a:txBody>
                  <a:tcPr>
                    <a:solidFill>
                      <a:srgbClr val="F1F4F8"/>
                    </a:solidFill>
                  </a:tcPr>
                </a:tc>
                <a:tc>
                  <a:txBody>
                    <a:bodyPr/>
                    <a:lstStyle/>
                    <a:p>
                      <a:r>
                        <a:rPr sz="1400" b="0">
                          <a:solidFill>
                            <a:srgbClr val="1B2430"/>
                          </a:solidFill>
                          <a:latin typeface="Calibri"/>
                        </a:rPr>
                        <a:t>5,6</a:t>
                      </a:r>
                    </a:p>
                  </a:txBody>
                  <a:tcPr>
                    <a:solidFill>
                      <a:srgbClr val="F1F4F8"/>
                    </a:solidFill>
                  </a:tcPr>
                </a:tc>
                <a:tc>
                  <a:txBody>
                    <a:bodyPr/>
                    <a:lstStyle/>
                    <a:p>
                      <a:r>
                        <a:rPr sz="1400" b="0">
                          <a:solidFill>
                            <a:srgbClr val="1B2430"/>
                          </a:solidFill>
                          <a:latin typeface="Calibri"/>
                        </a:rPr>
                        <a:t>0,89</a:t>
                      </a:r>
                    </a:p>
                  </a:txBody>
                  <a:tcPr>
                    <a:solidFill>
                      <a:srgbClr val="F1F4F8"/>
                    </a:solidFill>
                  </a:tcPr>
                </a:tc>
              </a:tr>
              <a:tr h="520000">
                <a:tc>
                  <a:txBody>
                    <a:bodyPr/>
                    <a:lstStyle/>
                    <a:p>
                      <a:r>
                        <a:rPr sz="1400" b="0">
                          <a:solidFill>
                            <a:srgbClr val="1B2430"/>
                          </a:solidFill>
                          <a:latin typeface="Calibri"/>
                        </a:rPr>
                        <a:t>yolov8n</a:t>
                      </a:r>
                    </a:p>
                  </a:txBody>
                  <a:tcPr>
                    <a:solidFill>
                      <a:srgbClr val="FFFFFF"/>
                    </a:solidFill>
                  </a:tcPr>
                </a:tc>
                <a:tc>
                  <a:txBody>
                    <a:bodyPr/>
                    <a:lstStyle/>
                    <a:p>
                      <a:r>
                        <a:rPr sz="1400" b="0">
                          <a:solidFill>
                            <a:srgbClr val="1B2430"/>
                          </a:solidFill>
                          <a:latin typeface="Calibri"/>
                        </a:rPr>
                        <a:t>640</a:t>
                      </a:r>
                    </a:p>
                  </a:txBody>
                  <a:tcPr>
                    <a:solidFill>
                      <a:srgbClr val="FFFFFF"/>
                    </a:solidFill>
                  </a:tcPr>
                </a:tc>
                <a:tc>
                  <a:txBody>
                    <a:bodyPr/>
                    <a:lstStyle/>
                    <a:p>
                      <a:r>
                        <a:rPr sz="1400" b="0">
                          <a:solidFill>
                            <a:srgbClr val="1B2430"/>
                          </a:solidFill>
                          <a:latin typeface="Calibri"/>
                        </a:rPr>
                        <a:t>3,15</a:t>
                      </a:r>
                    </a:p>
                  </a:txBody>
                  <a:tcPr>
                    <a:solidFill>
                      <a:srgbClr val="FFFFFF"/>
                    </a:solidFill>
                  </a:tcPr>
                </a:tc>
                <a:tc>
                  <a:txBody>
                    <a:bodyPr/>
                    <a:lstStyle/>
                    <a:p>
                      <a:r>
                        <a:rPr sz="1400" b="0">
                          <a:solidFill>
                            <a:srgbClr val="1B2430"/>
                          </a:solidFill>
                          <a:latin typeface="Calibri"/>
                        </a:rPr>
                        <a:t>6,3</a:t>
                      </a:r>
                    </a:p>
                  </a:txBody>
                  <a:tcPr>
                    <a:solidFill>
                      <a:srgbClr val="FFFFFF"/>
                    </a:solidFill>
                  </a:tcPr>
                </a:tc>
                <a:tc>
                  <a:txBody>
                    <a:bodyPr/>
                    <a:lstStyle/>
                    <a:p>
                      <a:r>
                        <a:rPr sz="1400" b="0">
                          <a:solidFill>
                            <a:srgbClr val="1B2430"/>
                          </a:solidFill>
                          <a:latin typeface="Calibri"/>
                        </a:rPr>
                        <a:t>8,7</a:t>
                      </a:r>
                    </a:p>
                  </a:txBody>
                  <a:tcPr>
                    <a:solidFill>
                      <a:srgbClr val="FFFFFF"/>
                    </a:solidFill>
                  </a:tcPr>
                </a:tc>
                <a:tc>
                  <a:txBody>
                    <a:bodyPr/>
                    <a:lstStyle/>
                    <a:p>
                      <a:r>
                        <a:rPr sz="1400" b="0">
                          <a:solidFill>
                            <a:srgbClr val="1B2430"/>
                          </a:solidFill>
                          <a:latin typeface="Calibri"/>
                        </a:rPr>
                        <a:t>1,39</a:t>
                      </a:r>
                    </a:p>
                  </a:txBody>
                  <a:tcPr>
                    <a:solidFill>
                      <a:srgbClr val="FFFFFF"/>
                    </a:solidFill>
                  </a:tcPr>
                </a:tc>
              </a:tr>
              <a:tr h="520000">
                <a:tc>
                  <a:txBody>
                    <a:bodyPr/>
                    <a:lstStyle/>
                    <a:p>
                      <a:r>
                        <a:rPr sz="1400" b="0">
                          <a:solidFill>
                            <a:srgbClr val="1B2430"/>
                          </a:solidFill>
                          <a:latin typeface="Calibri"/>
                        </a:rPr>
                        <a:t>yolov8s</a:t>
                      </a:r>
                    </a:p>
                  </a:txBody>
                  <a:tcPr>
                    <a:solidFill>
                      <a:srgbClr val="F1F4F8"/>
                    </a:solidFill>
                  </a:tcPr>
                </a:tc>
                <a:tc>
                  <a:txBody>
                    <a:bodyPr/>
                    <a:lstStyle/>
                    <a:p>
                      <a:r>
                        <a:rPr sz="1400" b="0">
                          <a:solidFill>
                            <a:srgbClr val="1B2430"/>
                          </a:solidFill>
                          <a:latin typeface="Calibri"/>
                        </a:rPr>
                        <a:t>512</a:t>
                      </a:r>
                    </a:p>
                  </a:txBody>
                  <a:tcPr>
                    <a:solidFill>
                      <a:srgbClr val="F1F4F8"/>
                    </a:solidFill>
                  </a:tcPr>
                </a:tc>
                <a:tc>
                  <a:txBody>
                    <a:bodyPr/>
                    <a:lstStyle/>
                    <a:p>
                      <a:r>
                        <a:rPr sz="1400" b="0">
                          <a:solidFill>
                            <a:srgbClr val="1B2430"/>
                          </a:solidFill>
                          <a:latin typeface="Calibri"/>
                        </a:rPr>
                        <a:t>11,17</a:t>
                      </a:r>
                    </a:p>
                  </a:txBody>
                  <a:tcPr>
                    <a:solidFill>
                      <a:srgbClr val="F1F4F8"/>
                    </a:solidFill>
                  </a:tcPr>
                </a:tc>
                <a:tc>
                  <a:txBody>
                    <a:bodyPr/>
                    <a:lstStyle/>
                    <a:p>
                      <a:r>
                        <a:rPr sz="1400" b="0">
                          <a:solidFill>
                            <a:srgbClr val="1B2430"/>
                          </a:solidFill>
                          <a:latin typeface="Calibri"/>
                        </a:rPr>
                        <a:t>22,3</a:t>
                      </a:r>
                    </a:p>
                  </a:txBody>
                  <a:tcPr>
                    <a:solidFill>
                      <a:srgbClr val="F1F4F8"/>
                    </a:solidFill>
                  </a:tcPr>
                </a:tc>
                <a:tc>
                  <a:txBody>
                    <a:bodyPr/>
                    <a:lstStyle/>
                    <a:p>
                      <a:r>
                        <a:rPr sz="1400" b="0">
                          <a:solidFill>
                            <a:srgbClr val="1B2430"/>
                          </a:solidFill>
                          <a:latin typeface="Calibri"/>
                        </a:rPr>
                        <a:t>18,3</a:t>
                      </a:r>
                    </a:p>
                  </a:txBody>
                  <a:tcPr>
                    <a:solidFill>
                      <a:srgbClr val="F1F4F8"/>
                    </a:solidFill>
                  </a:tcPr>
                </a:tc>
                <a:tc>
                  <a:txBody>
                    <a:bodyPr/>
                    <a:lstStyle/>
                    <a:p>
                      <a:r>
                        <a:rPr sz="1400" b="0">
                          <a:solidFill>
                            <a:srgbClr val="1B2430"/>
                          </a:solidFill>
                          <a:latin typeface="Calibri"/>
                        </a:rPr>
                        <a:t>2,93</a:t>
                      </a:r>
                    </a:p>
                  </a:txBody>
                  <a:tcPr>
                    <a:solidFill>
                      <a:srgbClr val="F1F4F8"/>
                    </a:solidFill>
                  </a:tcPr>
                </a:tc>
              </a:tr>
              <a:tr h="520000">
                <a:tc>
                  <a:txBody>
                    <a:bodyPr/>
                    <a:lstStyle/>
                    <a:p>
                      <a:r>
                        <a:rPr sz="1400" b="0">
                          <a:solidFill>
                            <a:srgbClr val="1B2430"/>
                          </a:solidFill>
                          <a:latin typeface="Calibri"/>
                        </a:rPr>
                        <a:t>yolov8s</a:t>
                      </a:r>
                    </a:p>
                  </a:txBody>
                  <a:tcPr>
                    <a:solidFill>
                      <a:srgbClr val="FFFFFF"/>
                    </a:solidFill>
                  </a:tcPr>
                </a:tc>
                <a:tc>
                  <a:txBody>
                    <a:bodyPr/>
                    <a:lstStyle/>
                    <a:p>
                      <a:r>
                        <a:rPr sz="1400" b="0">
                          <a:solidFill>
                            <a:srgbClr val="1B2430"/>
                          </a:solidFill>
                          <a:latin typeface="Calibri"/>
                        </a:rPr>
                        <a:t>640</a:t>
                      </a:r>
                    </a:p>
                  </a:txBody>
                  <a:tcPr>
                    <a:solidFill>
                      <a:srgbClr val="FFFFFF"/>
                    </a:solidFill>
                  </a:tcPr>
                </a:tc>
                <a:tc>
                  <a:txBody>
                    <a:bodyPr/>
                    <a:lstStyle/>
                    <a:p>
                      <a:r>
                        <a:rPr sz="1400" b="0">
                          <a:solidFill>
                            <a:srgbClr val="1B2430"/>
                          </a:solidFill>
                          <a:latin typeface="Calibri"/>
                        </a:rPr>
                        <a:t>11,17</a:t>
                      </a:r>
                    </a:p>
                  </a:txBody>
                  <a:tcPr>
                    <a:solidFill>
                      <a:srgbClr val="FFFFFF"/>
                    </a:solidFill>
                  </a:tcPr>
                </a:tc>
                <a:tc>
                  <a:txBody>
                    <a:bodyPr/>
                    <a:lstStyle/>
                    <a:p>
                      <a:r>
                        <a:rPr sz="1400" b="0">
                          <a:solidFill>
                            <a:srgbClr val="1B2430"/>
                          </a:solidFill>
                          <a:latin typeface="Calibri"/>
                        </a:rPr>
                        <a:t>22,3</a:t>
                      </a:r>
                    </a:p>
                  </a:txBody>
                  <a:tcPr>
                    <a:solidFill>
                      <a:srgbClr val="FFFFFF"/>
                    </a:solidFill>
                  </a:tcPr>
                </a:tc>
                <a:tc>
                  <a:txBody>
                    <a:bodyPr/>
                    <a:lstStyle/>
                    <a:p>
                      <a:r>
                        <a:rPr sz="1400" b="0">
                          <a:solidFill>
                            <a:srgbClr val="1B2430"/>
                          </a:solidFill>
                          <a:latin typeface="Calibri"/>
                        </a:rPr>
                        <a:t>28,6</a:t>
                      </a:r>
                    </a:p>
                  </a:txBody>
                  <a:tcPr>
                    <a:solidFill>
                      <a:srgbClr val="FFFFFF"/>
                    </a:solidFill>
                  </a:tcPr>
                </a:tc>
                <a:tc>
                  <a:txBody>
                    <a:bodyPr/>
                    <a:lstStyle/>
                    <a:p>
                      <a:r>
                        <a:rPr sz="1400" b="0">
                          <a:solidFill>
                            <a:srgbClr val="1B2430"/>
                          </a:solidFill>
                          <a:latin typeface="Calibri"/>
                        </a:rPr>
                        <a:t>4,58</a:t>
                      </a:r>
                    </a:p>
                  </a:txBody>
                  <a:tcPr>
                    <a:solidFill>
                      <a:srgbClr val="FFFFFF"/>
                    </a:solidFill>
                  </a:tcPr>
                </a:tc>
              </a:tr>
              <a:tr h="520000">
                <a:tc>
                  <a:txBody>
                    <a:bodyPr/>
                    <a:lstStyle/>
                    <a:p>
                      <a:r>
                        <a:rPr sz="1400" b="0">
                          <a:solidFill>
                            <a:srgbClr val="1B2430"/>
                          </a:solidFill>
                          <a:latin typeface="Calibri"/>
                        </a:rPr>
                        <a:t>yolov8m</a:t>
                      </a:r>
                    </a:p>
                  </a:txBody>
                  <a:tcPr>
                    <a:solidFill>
                      <a:srgbClr val="F1F4F8"/>
                    </a:solidFill>
                  </a:tcPr>
                </a:tc>
                <a:tc>
                  <a:txBody>
                    <a:bodyPr/>
                    <a:lstStyle/>
                    <a:p>
                      <a:r>
                        <a:rPr sz="1400" b="0">
                          <a:solidFill>
                            <a:srgbClr val="1B2430"/>
                          </a:solidFill>
                          <a:latin typeface="Calibri"/>
                        </a:rPr>
                        <a:t>512</a:t>
                      </a:r>
                    </a:p>
                  </a:txBody>
                  <a:tcPr>
                    <a:solidFill>
                      <a:srgbClr val="F1F4F8"/>
                    </a:solidFill>
                  </a:tcPr>
                </a:tc>
                <a:tc>
                  <a:txBody>
                    <a:bodyPr/>
                    <a:lstStyle/>
                    <a:p>
                      <a:r>
                        <a:rPr sz="1400" b="0">
                          <a:solidFill>
                            <a:srgbClr val="1B2430"/>
                          </a:solidFill>
                          <a:latin typeface="Calibri"/>
                        </a:rPr>
                        <a:t>25,9</a:t>
                      </a:r>
                    </a:p>
                  </a:txBody>
                  <a:tcPr>
                    <a:solidFill>
                      <a:srgbClr val="F1F4F8"/>
                    </a:solidFill>
                  </a:tcPr>
                </a:tc>
                <a:tc>
                  <a:txBody>
                    <a:bodyPr/>
                    <a:lstStyle/>
                    <a:p>
                      <a:r>
                        <a:rPr sz="1400" b="0">
                          <a:solidFill>
                            <a:srgbClr val="1B2430"/>
                          </a:solidFill>
                          <a:latin typeface="Calibri"/>
                        </a:rPr>
                        <a:t>51,8</a:t>
                      </a:r>
                    </a:p>
                  </a:txBody>
                  <a:tcPr>
                    <a:solidFill>
                      <a:srgbClr val="F1F4F8"/>
                    </a:solidFill>
                  </a:tcPr>
                </a:tc>
                <a:tc>
                  <a:txBody>
                    <a:bodyPr/>
                    <a:lstStyle/>
                    <a:p>
                      <a:r>
                        <a:rPr sz="1400" b="0">
                          <a:solidFill>
                            <a:srgbClr val="1B2430"/>
                          </a:solidFill>
                          <a:latin typeface="Calibri"/>
                        </a:rPr>
                        <a:t>50,5</a:t>
                      </a:r>
                    </a:p>
                  </a:txBody>
                  <a:tcPr>
                    <a:solidFill>
                      <a:srgbClr val="F1F4F8"/>
                    </a:solidFill>
                  </a:tcPr>
                </a:tc>
                <a:tc>
                  <a:txBody>
                    <a:bodyPr/>
                    <a:lstStyle/>
                    <a:p>
                      <a:r>
                        <a:rPr sz="1400" b="0">
                          <a:solidFill>
                            <a:srgbClr val="1B2430"/>
                          </a:solidFill>
                          <a:latin typeface="Calibri"/>
                        </a:rPr>
                        <a:t>8,08</a:t>
                      </a:r>
                    </a:p>
                  </a:txBody>
                  <a:tcPr>
                    <a:solidFill>
                      <a:srgbClr val="F1F4F8"/>
                    </a:solidFill>
                  </a:tcPr>
                </a:tc>
              </a:tr>
              <a:tr h="520000">
                <a:tc>
                  <a:txBody>
                    <a:bodyPr/>
                    <a:lstStyle/>
                    <a:p>
                      <a:r>
                        <a:rPr sz="1400" b="0">
                          <a:solidFill>
                            <a:srgbClr val="1B2430"/>
                          </a:solidFill>
                          <a:latin typeface="Calibri"/>
                        </a:rPr>
                        <a:t>yolov8m</a:t>
                      </a:r>
                    </a:p>
                  </a:txBody>
                  <a:tcPr>
                    <a:solidFill>
                      <a:srgbClr val="FFFFFF"/>
                    </a:solidFill>
                  </a:tcPr>
                </a:tc>
                <a:tc>
                  <a:txBody>
                    <a:bodyPr/>
                    <a:lstStyle/>
                    <a:p>
                      <a:r>
                        <a:rPr sz="1400" b="0">
                          <a:solidFill>
                            <a:srgbClr val="1B2430"/>
                          </a:solidFill>
                          <a:latin typeface="Calibri"/>
                        </a:rPr>
                        <a:t>640</a:t>
                      </a:r>
                    </a:p>
                  </a:txBody>
                  <a:tcPr>
                    <a:solidFill>
                      <a:srgbClr val="FFFFFF"/>
                    </a:solidFill>
                  </a:tcPr>
                </a:tc>
                <a:tc>
                  <a:txBody>
                    <a:bodyPr/>
                    <a:lstStyle/>
                    <a:p>
                      <a:r>
                        <a:rPr sz="1400" b="0">
                          <a:solidFill>
                            <a:srgbClr val="1B2430"/>
                          </a:solidFill>
                          <a:latin typeface="Calibri"/>
                        </a:rPr>
                        <a:t>25,9</a:t>
                      </a:r>
                    </a:p>
                  </a:txBody>
                  <a:tcPr>
                    <a:solidFill>
                      <a:srgbClr val="FFFFFF"/>
                    </a:solidFill>
                  </a:tcPr>
                </a:tc>
                <a:tc>
                  <a:txBody>
                    <a:bodyPr/>
                    <a:lstStyle/>
                    <a:p>
                      <a:r>
                        <a:rPr sz="1400" b="0">
                          <a:solidFill>
                            <a:srgbClr val="1B2430"/>
                          </a:solidFill>
                          <a:latin typeface="Calibri"/>
                        </a:rPr>
                        <a:t>51,8</a:t>
                      </a:r>
                    </a:p>
                  </a:txBody>
                  <a:tcPr>
                    <a:solidFill>
                      <a:srgbClr val="FFFFFF"/>
                    </a:solidFill>
                  </a:tcPr>
                </a:tc>
                <a:tc>
                  <a:txBody>
                    <a:bodyPr/>
                    <a:lstStyle/>
                    <a:p>
                      <a:r>
                        <a:rPr sz="1400" b="0">
                          <a:solidFill>
                            <a:srgbClr val="1B2430"/>
                          </a:solidFill>
                          <a:latin typeface="Calibri"/>
                        </a:rPr>
                        <a:t>78,9</a:t>
                      </a:r>
                    </a:p>
                  </a:txBody>
                  <a:tcPr>
                    <a:solidFill>
                      <a:srgbClr val="FFFFFF"/>
                    </a:solidFill>
                  </a:tcPr>
                </a:tc>
                <a:tc>
                  <a:txBody>
                    <a:bodyPr/>
                    <a:lstStyle/>
                    <a:p>
                      <a:r>
                        <a:rPr sz="1400" b="0">
                          <a:solidFill>
                            <a:srgbClr val="1B2430"/>
                          </a:solidFill>
                          <a:latin typeface="Calibri"/>
                        </a:rPr>
                        <a:t>12,6</a:t>
                      </a:r>
                    </a:p>
                  </a:txBody>
                  <a:tcPr>
                    <a:solidFill>
                      <a:srgbClr val="FFFFFF"/>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22" presetClass="entr" presetSubtype="8"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wipe(left)">
                                      <p:cBhvr>
                                        <p:cTn id="11"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2-qadam. Model yuklamasini Python'da hisoblash — kod</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A1 · Sun'iy intellektga asoslangan kompyuter tizimlari arxitekturasini tahlil qilish va loyihalash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24</a:t>
            </a:r>
          </a:p>
        </p:txBody>
      </p:sp>
      <p:sp>
        <p:nvSpPr>
          <p:cNvPr id="10" name="Rounded Rectangle 9"/>
          <p:cNvSpPr/>
          <p:nvPr/>
        </p:nvSpPr>
        <p:spPr>
          <a:xfrm>
            <a:off x="500000" y="1280000"/>
            <a:ext cx="11200000" cy="500000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00000" y="140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30000" y="140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60000" y="140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0000" y="1650000"/>
            <a:ext cx="10800000" cy="4550000"/>
          </a:xfrm>
          <a:prstGeom prst="rect">
            <a:avLst/>
          </a:prstGeom>
          <a:noFill/>
        </p:spPr>
        <p:txBody>
          <a:bodyPr wrap="square">
            <a:spAutoFit/>
          </a:bodyPr>
          <a:lstStyle/>
          <a:p>
            <a:r>
              <a:rPr sz="1200">
                <a:solidFill>
                  <a:srgbClr val="7FD6D7"/>
                </a:solidFill>
                <a:latin typeface="Consolas"/>
              </a:rPr>
              <a:t># yuklama_hisobi.py</a:t>
            </a:r>
          </a:p>
          <a:p>
            <a:r>
              <a:rPr sz="1200">
                <a:solidFill>
                  <a:srgbClr val="7FD6D7"/>
                </a:solidFill>
                <a:latin typeface="Consolas"/>
              </a:rPr>
              <a:t># Maqsad: model varianti va kamera konfiguratsiyasi uchun hisoblash talabini baholash</a:t>
            </a:r>
          </a:p>
          <a:p>
            <a:r>
              <a:rPr sz="1200">
                <a:solidFill>
                  <a:srgbClr val="E2E8F0"/>
                </a:solidFill>
                <a:latin typeface="Consolas"/>
              </a:rPr>
              <a:t>from ultralytics import YOLO</a:t>
            </a:r>
          </a:p>
          <a:p>
            <a:r>
              <a:rPr sz="1200">
                <a:solidFill>
                  <a:srgbClr val="E2E8F0"/>
                </a:solidFill>
                <a:latin typeface="Consolas"/>
              </a:rPr>
              <a:t>import pandas as pd</a:t>
            </a:r>
          </a:p>
          <a:p>
            <a:r>
              <a:rPr sz="1200">
                <a:solidFill>
                  <a:srgbClr val="E2E8F0"/>
                </a:solidFill>
                <a:latin typeface="Consolas"/>
              </a:rPr>
              <a:t> </a:t>
            </a:r>
          </a:p>
          <a:p>
            <a:r>
              <a:rPr sz="1200">
                <a:solidFill>
                  <a:srgbClr val="E2E8F0"/>
                </a:solidFill>
                <a:latin typeface="Consolas"/>
              </a:rPr>
              <a:t>KAMERALAR = 16</a:t>
            </a:r>
          </a:p>
          <a:p>
            <a:r>
              <a:rPr sz="1200">
                <a:solidFill>
                  <a:srgbClr val="E2E8F0"/>
                </a:solidFill>
                <a:latin typeface="Consolas"/>
              </a:rPr>
              <a:t>FPS = 10</a:t>
            </a:r>
          </a:p>
          <a:p>
            <a:r>
              <a:rPr sz="1200">
                <a:solidFill>
                  <a:srgbClr val="E2E8F0"/>
                </a:solidFill>
                <a:latin typeface="Consolas"/>
              </a:rPr>
              <a:t>INFERENS_S = KAMERALAR * FPS          # 160 inferens/sekund</a:t>
            </a:r>
          </a:p>
          <a:p>
            <a:r>
              <a:rPr sz="1200">
                <a:solidFill>
                  <a:srgbClr val="E2E8F0"/>
                </a:solidFill>
                <a:latin typeface="Consolas"/>
              </a:rPr>
              <a:t> </a:t>
            </a:r>
          </a:p>
          <a:p>
            <a:r>
              <a:rPr sz="1200">
                <a:solidFill>
                  <a:srgbClr val="E2E8F0"/>
                </a:solidFill>
                <a:latin typeface="Consolas"/>
              </a:rPr>
              <a:t>def model_profili(nomi, imgsz=640):</a:t>
            </a:r>
          </a:p>
          <a:p>
            <a:r>
              <a:rPr sz="1200">
                <a:solidFill>
                  <a:srgbClr val="E2E8F0"/>
                </a:solidFill>
                <a:latin typeface="Consolas"/>
              </a:rPr>
              <a:t>    m = YOLO(nomi)                     # vaznlar birinchi marta yuklab olinadi</a:t>
            </a:r>
          </a:p>
          <a:p>
            <a:r>
              <a:rPr sz="1200">
                <a:solidFill>
                  <a:srgbClr val="7FD6D7"/>
                </a:solidFill>
                <a:latin typeface="Consolas"/>
              </a:rPr>
              <a:t>    # ultralytics 'info' usuli (qatlamlar, parametrlar, gradientlar, GFLOP) qaytaradi</a:t>
            </a:r>
          </a:p>
          <a:p>
            <a:r>
              <a:rPr sz="1200">
                <a:solidFill>
                  <a:srgbClr val="E2E8F0"/>
                </a:solidFill>
                <a:latin typeface="Consolas"/>
              </a:rPr>
              <a:t>    qatlam, params, grad, gflops = m.info(verbose=False, imgsz=imgsz)</a:t>
            </a:r>
          </a:p>
          <a:p>
            <a:r>
              <a:rPr sz="1200">
                <a:solidFill>
                  <a:srgbClr val="E2E8F0"/>
                </a:solidFill>
                <a:latin typeface="Consolas"/>
              </a:rPr>
              <a:t>    return {</a:t>
            </a:r>
          </a:p>
          <a:p>
            <a:r>
              <a:rPr sz="1200">
                <a:solidFill>
                  <a:srgbClr val="E2E8F0"/>
                </a:solidFill>
                <a:latin typeface="Consolas"/>
              </a:rPr>
              <a:t>        "model": nomi,</a:t>
            </a:r>
          </a:p>
          <a:p>
            <a:r>
              <a:rPr sz="1200">
                <a:solidFill>
                  <a:srgbClr val="E2E8F0"/>
                </a:solidFill>
                <a:latin typeface="Consolas"/>
              </a:rPr>
              <a:t>        "imgsz": imgsz,</a:t>
            </a:r>
          </a:p>
          <a:p>
            <a:r>
              <a:rPr sz="1200">
                <a:solidFill>
                  <a:srgbClr val="E2E8F0"/>
                </a:solidFill>
                <a:latin typeface="Consolas"/>
              </a:rPr>
              <a:t>        "params_M": round(params / 1e6, 2),</a:t>
            </a:r>
          </a:p>
          <a:p>
            <a:r>
              <a:rPr sz="1200">
                <a:solidFill>
                  <a:srgbClr val="E2E8F0"/>
                </a:solidFill>
                <a:latin typeface="Consolas"/>
              </a:rPr>
              <a:t>        "vazn_FP16_MB": round(params * 2 / 1e6, 1),</a:t>
            </a:r>
          </a:p>
          <a:p>
            <a:r>
              <a:rPr sz="1200">
                <a:solidFill>
                  <a:srgbClr val="E2E8F0"/>
                </a:solidFill>
                <a:latin typeface="Consolas"/>
              </a:rPr>
              <a:t>        "vazn_INT8_MB": round(params * 1 / 1e6, 1),</a:t>
            </a:r>
          </a:p>
          <a:p>
            <a:r>
              <a:rPr sz="1200">
                <a:solidFill>
                  <a:srgbClr val="E2E8F0"/>
                </a:solidFill>
                <a:latin typeface="Consolas"/>
              </a:rPr>
              <a:t>        "GFLOP_inferens": round(gflops, 1),</a:t>
            </a:r>
          </a:p>
          <a:p>
            <a:r>
              <a:rPr sz="1200">
                <a:solidFill>
                  <a:srgbClr val="7FD6D7"/>
                </a:solidFill>
                <a:latin typeface="Consolas"/>
              </a:rPr>
              <a:t># … (to‘liq kod — mavzu matnida / GitHub’da)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53" presetClass="entr" presetSubtype="16"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ppt_w</p:attrName>
                                        </p:attrNameLst>
                                      </p:cBhvr>
                                      <p:tavLst>
                                        <p:tav tm="0">
                                          <p:val>
                                            <p:strVal val="0"/>
                                          </p:val>
                                        </p:tav>
                                        <p:tav tm="100000">
                                          <p:val>
                                            <p:strVal val="#ppt_w"/>
                                          </p:val>
                                        </p:tav>
                                      </p:tavLst>
                                    </p:anim>
                                    <p:anim calcmode="lin" valueType="num">
                                      <p:cBhvr additive="base">
                                        <p:cTn id="12" dur="550" fill="hold"/>
                                        <p:tgtEl>
                                          <p:spTgt spid="10"/>
                                        </p:tgtEl>
                                        <p:attrNameLst>
                                          <p:attrName>ppt_h</p:attrName>
                                        </p:attrNameLst>
                                      </p:cBhvr>
                                      <p:tavLst>
                                        <p:tav tm="0">
                                          <p:val>
                                            <p:strVal val="0"/>
                                          </p:val>
                                        </p:tav>
                                        <p:tav tm="100000">
                                          <p:val>
                                            <p:strVal val="#ppt_h"/>
                                          </p:val>
                                        </p:tav>
                                      </p:tavLst>
                                    </p:anim>
                                  </p:childTnLst>
                                </p:cTn>
                              </p:par>
                            </p:childTnLst>
                          </p:cTn>
                        </p:par>
                        <p:par>
                          <p:cTn id="13" fill="hold">
                            <p:stCondLst>
                              <p:cond delay="200"/>
                            </p:stCondLst>
                            <p:childTnLst>
                              <p:par>
                                <p:cTn id="14" presetID="10"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childTnLst>
                                </p:cTn>
                              </p:par>
                            </p:childTnLst>
                          </p:cTn>
                        </p:par>
                        <p:par>
                          <p:cTn id="17" fill="hold">
                            <p:stCondLst>
                              <p:cond delay="200"/>
                            </p:stCondLst>
                            <p:childTnLst>
                              <p:par>
                                <p:cTn id="18" presetID="10" presetClass="entr" presetSubtype="0" fill="hold" grpId="0" nodeType="afterEffect">
                                  <p:stCondLst>
                                    <p:cond delay="0"/>
                                  </p:stCondLst>
                                  <p:childTnLst>
                                    <p:set>
                                      <p:cBhvr>
                                        <p:cTn id="19" dur="1" fill="hold">
                                          <p:stCondLst>
                                            <p:cond delay="0"/>
                                          </p:stCondLst>
                                        </p:cTn>
                                        <p:tgtEl>
                                          <p:spTgt spid="12"/>
                                        </p:tgtEl>
                                        <p:attrNameLst>
                                          <p:attrName>style.visibility</p:attrName>
                                        </p:attrNameLst>
                                      </p:cBhvr>
                                      <p:to>
                                        <p:strVal val="visible"/>
                                      </p:to>
                                    </p:set>
                                    <p:animEffect transition="in" filter="fade">
                                      <p:cBhvr>
                                        <p:cTn id="20" dur="550"/>
                                        <p:tgtEl>
                                          <p:spTgt spid="12"/>
                                        </p:tgtEl>
                                      </p:cBhvr>
                                    </p:animEffect>
                                  </p:childTnLst>
                                </p:cTn>
                              </p:par>
                            </p:childTnLst>
                          </p:cTn>
                        </p:par>
                        <p:par>
                          <p:cTn id="21" fill="hold">
                            <p:stCondLst>
                              <p:cond delay="200"/>
                            </p:stCondLst>
                            <p:childTnLst>
                              <p:par>
                                <p:cTn id="22" presetID="10" presetClass="entr" presetSubtype="0" fill="hold" grpId="0"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550"/>
                                        <p:tgtEl>
                                          <p:spTgt spid="13"/>
                                        </p:tgtEl>
                                      </p:cBhvr>
                                    </p:animEffect>
                                  </p:childTnLst>
                                </p:cTn>
                              </p:par>
                            </p:childTnLst>
                          </p:cTn>
                        </p:par>
                        <p:par>
                          <p:cTn id="25" fill="hold">
                            <p:stCondLst>
                              <p:cond delay="350"/>
                            </p:stCondLst>
                            <p:childTnLst>
                              <p:par>
                                <p:cTn id="26" presetID="22" presetClass="entr" presetSubtype="8" fill="hold" grpId="0" nodeType="after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wipe(left)">
                                      <p:cBhvr>
                                        <p:cTn id="29" dur="8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Lst>
  </p:timing>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3-qadam. Platformalarni samaradorlik koeffitsiyenti bilan baholash</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A1 · Sun'iy intellektga asoslangan kompyuter tizimlari arxitekturasini tahlil qilish va loyihalash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25</a:t>
            </a:r>
          </a:p>
        </p:txBody>
      </p:sp>
      <p:sp>
        <p:nvSpPr>
          <p:cNvPr id="10" name="Rounded Rectangle 9"/>
          <p:cNvSpPr/>
          <p:nvPr/>
        </p:nvSpPr>
        <p:spPr>
          <a:xfrm>
            <a:off x="550000" y="1965060"/>
            <a:ext cx="11100000" cy="175494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965060"/>
            <a:ext cx="70000" cy="175494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80000" y="2632530"/>
            <a:ext cx="420000" cy="42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1</a:t>
            </a:r>
          </a:p>
        </p:txBody>
      </p:sp>
      <p:sp>
        <p:nvSpPr>
          <p:cNvPr id="13" name="TextBox 12"/>
          <p:cNvSpPr txBox="1"/>
          <p:nvPr/>
        </p:nvSpPr>
        <p:spPr>
          <a:xfrm>
            <a:off x="1380000" y="2005060"/>
            <a:ext cx="10150000" cy="1674940"/>
          </a:xfrm>
          <a:prstGeom prst="rect">
            <a:avLst/>
          </a:prstGeom>
          <a:noFill/>
        </p:spPr>
        <p:txBody>
          <a:bodyPr wrap="square" anchor="ctr">
            <a:spAutoFit/>
          </a:bodyPr>
          <a:lstStyle/>
          <a:p>
            <a:r>
              <a:rPr sz="1700" b="0">
                <a:solidFill>
                  <a:srgbClr val="1B2430"/>
                </a:solidFill>
                <a:latin typeface="Calibri"/>
              </a:rPr>
              <a:t>Kutilgan natija (taxminiy):</a:t>
            </a:r>
          </a:p>
        </p:txBody>
      </p:sp>
      <p:sp>
        <p:nvSpPr>
          <p:cNvPr id="14" name="Rounded Rectangle 13"/>
          <p:cNvSpPr/>
          <p:nvPr/>
        </p:nvSpPr>
        <p:spPr>
          <a:xfrm>
            <a:off x="550000" y="3830000"/>
            <a:ext cx="11100000" cy="175494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3830000"/>
            <a:ext cx="70000" cy="175494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80000" y="449747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2</a:t>
            </a:r>
          </a:p>
        </p:txBody>
      </p:sp>
      <p:sp>
        <p:nvSpPr>
          <p:cNvPr id="17" name="TextBox 16"/>
          <p:cNvSpPr txBox="1"/>
          <p:nvPr/>
        </p:nvSpPr>
        <p:spPr>
          <a:xfrm>
            <a:off x="1380000" y="3870000"/>
            <a:ext cx="10150000" cy="1674940"/>
          </a:xfrm>
          <a:prstGeom prst="rect">
            <a:avLst/>
          </a:prstGeom>
          <a:noFill/>
        </p:spPr>
        <p:txBody>
          <a:bodyPr wrap="square" anchor="ctr">
            <a:spAutoFit/>
          </a:bodyPr>
          <a:lstStyle/>
          <a:p>
            <a:r>
              <a:rPr sz="1800" b="1">
                <a:solidFill>
                  <a:srgbClr val="1F3A5F"/>
                </a:solidFill>
                <a:latin typeface="Calibri"/>
              </a:rPr>
              <a:t>Nima bo'ldi va nega. zaxira_koef — platformaning haqiqiy unumdorligi talabdan necha marta oshishi.</a:t>
            </a:r>
          </a:p>
          <a:p>
            <a:pPr>
              <a:spcBef>
                <a:spcPts val="400"/>
              </a:spcBef>
            </a:pPr>
            <a:r>
              <a:rPr sz="1700">
                <a:solidFill>
                  <a:srgbClr val="334055"/>
                </a:solidFill>
                <a:latin typeface="Calibri"/>
              </a:rPr>
              <a:t>1 dan kichik qiymat (Edge TPU, CPU) — platforma yetarli emas; 3–5 oralig'i — sog'lom zaxira (pik yuklama, model yangilanishi, qo'shimcha kuzatuv algoritmi uchun); 50 dan katta (A100) — ortiqcha xarajat.</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3-qadam. Platformalarni samaradorlik koeffitsiyenti bilan baholash</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A1 · Sun'iy intellektga asoslangan kompyuter tizimlari arxitekturasini tahlil qilish va loyihalash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26</a:t>
            </a:r>
          </a:p>
        </p:txBody>
      </p:sp>
      <p:graphicFrame>
        <p:nvGraphicFramePr>
          <p:cNvPr id="10" name="Table 9"/>
          <p:cNvGraphicFramePr>
            <a:graphicFrameLocks noGrp="1"/>
          </p:cNvGraphicFramePr>
          <p:nvPr/>
        </p:nvGraphicFramePr>
        <p:xfrm>
          <a:off x="500000" y="1350000"/>
          <a:ext cx="11200000" cy="3120000"/>
        </p:xfrm>
        <a:graphic>
          <a:graphicData uri="http://schemas.openxmlformats.org/drawingml/2006/table">
            <a:tbl>
              <a:tblPr firstRow="1" bandRow="1">
                <a:tableStyleId>{5C22544A-7EE6-4342-B048-85BDC9FD1C3A}</a:tableStyleId>
              </a:tblPr>
              <a:tblGrid>
                <a:gridCol w="2240000"/>
                <a:gridCol w="2240000"/>
                <a:gridCol w="2240000"/>
                <a:gridCol w="2240000"/>
                <a:gridCol w="2240000"/>
              </a:tblGrid>
              <a:tr h="520000">
                <a:tc>
                  <a:txBody>
                    <a:bodyPr/>
                    <a:lstStyle/>
                    <a:p>
                      <a:r>
                        <a:rPr sz="1400" b="1">
                          <a:solidFill>
                            <a:srgbClr val="FFFFFF"/>
                          </a:solidFill>
                          <a:latin typeface="Calibri"/>
                        </a:rPr>
                        <a:t>nom</a:t>
                      </a:r>
                    </a:p>
                  </a:txBody>
                  <a:tcPr>
                    <a:solidFill>
                      <a:srgbClr val="2D5C8F"/>
                    </a:solidFill>
                  </a:tcPr>
                </a:tc>
                <a:tc>
                  <a:txBody>
                    <a:bodyPr/>
                    <a:lstStyle/>
                    <a:p>
                      <a:r>
                        <a:rPr sz="1400" b="1">
                          <a:solidFill>
                            <a:srgbClr val="FFFFFF"/>
                          </a:solidFill>
                          <a:latin typeface="Calibri"/>
                        </a:rPr>
                        <a:t>tops_real</a:t>
                      </a:r>
                    </a:p>
                  </a:txBody>
                  <a:tcPr>
                    <a:solidFill>
                      <a:srgbClr val="2D5C8F"/>
                    </a:solidFill>
                  </a:tcPr>
                </a:tc>
                <a:tc>
                  <a:txBody>
                    <a:bodyPr/>
                    <a:lstStyle/>
                    <a:p>
                      <a:r>
                        <a:rPr sz="1400" b="1">
                          <a:solidFill>
                            <a:srgbClr val="FFFFFF"/>
                          </a:solidFill>
                          <a:latin typeface="Calibri"/>
                        </a:rPr>
                        <a:t>zaxira_koef</a:t>
                      </a:r>
                    </a:p>
                  </a:txBody>
                  <a:tcPr>
                    <a:solidFill>
                      <a:srgbClr val="2D5C8F"/>
                    </a:solidFill>
                  </a:tcPr>
                </a:tc>
                <a:tc>
                  <a:txBody>
                    <a:bodyPr/>
                    <a:lstStyle/>
                    <a:p>
                      <a:r>
                        <a:rPr sz="1400" b="1">
                          <a:solidFill>
                            <a:srgbClr val="FFFFFF"/>
                          </a:solidFill>
                          <a:latin typeface="Calibri"/>
                        </a:rPr>
                        <a:t>dekod_yetarli</a:t>
                      </a:r>
                    </a:p>
                  </a:txBody>
                  <a:tcPr>
                    <a:solidFill>
                      <a:srgbClr val="2D5C8F"/>
                    </a:solidFill>
                  </a:tcPr>
                </a:tc>
                <a:tc>
                  <a:txBody>
                    <a:bodyPr/>
                    <a:lstStyle/>
                    <a:p>
                      <a:r>
                        <a:rPr sz="1400" b="1">
                          <a:solidFill>
                            <a:srgbClr val="FFFFFF"/>
                          </a:solidFill>
                          <a:latin typeface="Calibri"/>
                        </a:rPr>
                        <a:t>inferens_Vt</a:t>
                      </a:r>
                    </a:p>
                  </a:txBody>
                  <a:tcPr>
                    <a:solidFill>
                      <a:srgbClr val="2D5C8F"/>
                    </a:solidFill>
                  </a:tcPr>
                </a:tc>
              </a:tr>
              <a:tr h="520000">
                <a:tc>
                  <a:txBody>
                    <a:bodyPr/>
                    <a:lstStyle/>
                    <a:p>
                      <a:r>
                        <a:rPr sz="1400" b="0">
                          <a:solidFill>
                            <a:srgbClr val="1B2430"/>
                          </a:solidFill>
                          <a:latin typeface="Calibri"/>
                        </a:rPr>
                        <a:t>Jetson Orin NX 16GB</a:t>
                      </a:r>
                    </a:p>
                  </a:txBody>
                  <a:tcPr>
                    <a:solidFill>
                      <a:srgbClr val="F1F4F8"/>
                    </a:solidFill>
                  </a:tcPr>
                </a:tc>
                <a:tc>
                  <a:txBody>
                    <a:bodyPr/>
                    <a:lstStyle/>
                    <a:p>
                      <a:r>
                        <a:rPr sz="1400" b="0">
                          <a:solidFill>
                            <a:srgbClr val="1B2430"/>
                          </a:solidFill>
                          <a:latin typeface="Calibri"/>
                        </a:rPr>
                        <a:t>22,5</a:t>
                      </a:r>
                    </a:p>
                  </a:txBody>
                  <a:tcPr>
                    <a:solidFill>
                      <a:srgbClr val="F1F4F8"/>
                    </a:solidFill>
                  </a:tcPr>
                </a:tc>
                <a:tc>
                  <a:txBody>
                    <a:bodyPr/>
                    <a:lstStyle/>
                    <a:p>
                      <a:r>
                        <a:rPr sz="1400" b="0">
                          <a:solidFill>
                            <a:srgbClr val="1B2430"/>
                          </a:solidFill>
                          <a:latin typeface="Calibri"/>
                        </a:rPr>
                        <a:t>4,9</a:t>
                      </a:r>
                    </a:p>
                  </a:txBody>
                  <a:tcPr>
                    <a:solidFill>
                      <a:srgbClr val="F1F4F8"/>
                    </a:solidFill>
                  </a:tcPr>
                </a:tc>
                <a:tc>
                  <a:txBody>
                    <a:bodyPr/>
                    <a:lstStyle/>
                    <a:p>
                      <a:r>
                        <a:rPr sz="1400" b="0">
                          <a:solidFill>
                            <a:srgbClr val="1B2430"/>
                          </a:solidFill>
                          <a:latin typeface="Calibri"/>
                        </a:rPr>
                        <a:t>True</a:t>
                      </a:r>
                    </a:p>
                  </a:txBody>
                  <a:tcPr>
                    <a:solidFill>
                      <a:srgbClr val="F1F4F8"/>
                    </a:solidFill>
                  </a:tcPr>
                </a:tc>
                <a:tc>
                  <a:txBody>
                    <a:bodyPr/>
                    <a:lstStyle/>
                    <a:p>
                      <a:r>
                        <a:rPr sz="1400" b="0">
                          <a:solidFill>
                            <a:srgbClr val="1B2430"/>
                          </a:solidFill>
                          <a:latin typeface="Calibri"/>
                        </a:rPr>
                        <a:t>0,032</a:t>
                      </a:r>
                    </a:p>
                  </a:txBody>
                  <a:tcPr>
                    <a:solidFill>
                      <a:srgbClr val="F1F4F8"/>
                    </a:solidFill>
                  </a:tcPr>
                </a:tc>
              </a:tr>
              <a:tr h="520000">
                <a:tc>
                  <a:txBody>
                    <a:bodyPr/>
                    <a:lstStyle/>
                    <a:p>
                      <a:r>
                        <a:rPr sz="1400" b="0">
                          <a:solidFill>
                            <a:srgbClr val="1B2430"/>
                          </a:solidFill>
                          <a:latin typeface="Calibri"/>
                        </a:rPr>
                        <a:t>Jetson AGX Orin 64GB</a:t>
                      </a:r>
                    </a:p>
                  </a:txBody>
                  <a:tcPr>
                    <a:solidFill>
                      <a:srgbClr val="FFFFFF"/>
                    </a:solidFill>
                  </a:tcPr>
                </a:tc>
                <a:tc>
                  <a:txBody>
                    <a:bodyPr/>
                    <a:lstStyle/>
                    <a:p>
                      <a:r>
                        <a:rPr sz="1400" b="0">
                          <a:solidFill>
                            <a:srgbClr val="1B2430"/>
                          </a:solidFill>
                          <a:latin typeface="Calibri"/>
                        </a:rPr>
                        <a:t>62,1</a:t>
                      </a:r>
                    </a:p>
                  </a:txBody>
                  <a:tcPr>
                    <a:solidFill>
                      <a:srgbClr val="FFFFFF"/>
                    </a:solidFill>
                  </a:tcPr>
                </a:tc>
                <a:tc>
                  <a:txBody>
                    <a:bodyPr/>
                    <a:lstStyle/>
                    <a:p>
                      <a:r>
                        <a:rPr sz="1400" b="0">
                          <a:solidFill>
                            <a:srgbClr val="1B2430"/>
                          </a:solidFill>
                          <a:latin typeface="Calibri"/>
                        </a:rPr>
                        <a:t>13,6</a:t>
                      </a:r>
                    </a:p>
                  </a:txBody>
                  <a:tcPr>
                    <a:solidFill>
                      <a:srgbClr val="FFFFFF"/>
                    </a:solidFill>
                  </a:tcPr>
                </a:tc>
                <a:tc>
                  <a:txBody>
                    <a:bodyPr/>
                    <a:lstStyle/>
                    <a:p>
                      <a:r>
                        <a:rPr sz="1400" b="0">
                          <a:solidFill>
                            <a:srgbClr val="1B2430"/>
                          </a:solidFill>
                          <a:latin typeface="Calibri"/>
                        </a:rPr>
                        <a:t>True</a:t>
                      </a:r>
                    </a:p>
                  </a:txBody>
                  <a:tcPr>
                    <a:solidFill>
                      <a:srgbClr val="FFFFFF"/>
                    </a:solidFill>
                  </a:tcPr>
                </a:tc>
                <a:tc>
                  <a:txBody>
                    <a:bodyPr/>
                    <a:lstStyle/>
                    <a:p>
                      <a:r>
                        <a:rPr sz="1400" b="0">
                          <a:solidFill>
                            <a:srgbClr val="1B2430"/>
                          </a:solidFill>
                          <a:latin typeface="Calibri"/>
                        </a:rPr>
                        <a:t>0,028</a:t>
                      </a:r>
                    </a:p>
                  </a:txBody>
                  <a:tcPr>
                    <a:solidFill>
                      <a:srgbClr val="FFFFFF"/>
                    </a:solidFill>
                  </a:tcPr>
                </a:tc>
              </a:tr>
              <a:tr h="520000">
                <a:tc>
                  <a:txBody>
                    <a:bodyPr/>
                    <a:lstStyle/>
                    <a:p>
                      <a:r>
                        <a:rPr sz="1400" b="0">
                          <a:solidFill>
                            <a:srgbClr val="1B2430"/>
                          </a:solidFill>
                          <a:latin typeface="Calibri"/>
                        </a:rPr>
                        <a:t>A100 PCIe 80GB</a:t>
                      </a:r>
                    </a:p>
                  </a:txBody>
                  <a:tcPr>
                    <a:solidFill>
                      <a:srgbClr val="F1F4F8"/>
                    </a:solidFill>
                  </a:tcPr>
                </a:tc>
                <a:tc>
                  <a:txBody>
                    <a:bodyPr/>
                    <a:lstStyle/>
                    <a:p>
                      <a:r>
                        <a:rPr sz="1400" b="0">
                          <a:solidFill>
                            <a:srgbClr val="1B2430"/>
                          </a:solidFill>
                          <a:latin typeface="Calibri"/>
                        </a:rPr>
                        <a:t>312</a:t>
                      </a:r>
                    </a:p>
                  </a:txBody>
                  <a:tcPr>
                    <a:solidFill>
                      <a:srgbClr val="F1F4F8"/>
                    </a:solidFill>
                  </a:tcPr>
                </a:tc>
                <a:tc>
                  <a:txBody>
                    <a:bodyPr/>
                    <a:lstStyle/>
                    <a:p>
                      <a:r>
                        <a:rPr sz="1400" b="0">
                          <a:solidFill>
                            <a:srgbClr val="1B2430"/>
                          </a:solidFill>
                          <a:latin typeface="Calibri"/>
                        </a:rPr>
                        <a:t>68</a:t>
                      </a:r>
                    </a:p>
                  </a:txBody>
                  <a:tcPr>
                    <a:solidFill>
                      <a:srgbClr val="F1F4F8"/>
                    </a:solidFill>
                  </a:tcPr>
                </a:tc>
                <a:tc>
                  <a:txBody>
                    <a:bodyPr/>
                    <a:lstStyle/>
                    <a:p>
                      <a:r>
                        <a:rPr sz="1400" b="0">
                          <a:solidFill>
                            <a:srgbClr val="1B2430"/>
                          </a:solidFill>
                          <a:latin typeface="Calibri"/>
                        </a:rPr>
                        <a:t>True</a:t>
                      </a:r>
                    </a:p>
                  </a:txBody>
                  <a:tcPr>
                    <a:solidFill>
                      <a:srgbClr val="F1F4F8"/>
                    </a:solidFill>
                  </a:tcPr>
                </a:tc>
                <a:tc>
                  <a:txBody>
                    <a:bodyPr/>
                    <a:lstStyle/>
                    <a:p>
                      <a:r>
                        <a:rPr sz="1400" b="0">
                          <a:solidFill>
                            <a:srgbClr val="1B2430"/>
                          </a:solidFill>
                          <a:latin typeface="Calibri"/>
                        </a:rPr>
                        <a:t>0,027</a:t>
                      </a:r>
                    </a:p>
                  </a:txBody>
                  <a:tcPr>
                    <a:solidFill>
                      <a:srgbClr val="F1F4F8"/>
                    </a:solidFill>
                  </a:tcPr>
                </a:tc>
              </a:tr>
              <a:tr h="520000">
                <a:tc>
                  <a:txBody>
                    <a:bodyPr/>
                    <a:lstStyle/>
                    <a:p>
                      <a:r>
                        <a:rPr sz="1400" b="0">
                          <a:solidFill>
                            <a:srgbClr val="1B2430"/>
                          </a:solidFill>
                          <a:latin typeface="Calibri"/>
                        </a:rPr>
                        <a:t>Coral Edge TPU M.2</a:t>
                      </a:r>
                    </a:p>
                  </a:txBody>
                  <a:tcPr>
                    <a:solidFill>
                      <a:srgbClr val="FFFFFF"/>
                    </a:solidFill>
                  </a:tcPr>
                </a:tc>
                <a:tc>
                  <a:txBody>
                    <a:bodyPr/>
                    <a:lstStyle/>
                    <a:p>
                      <a:r>
                        <a:rPr sz="1400" b="0">
                          <a:solidFill>
                            <a:srgbClr val="1B2430"/>
                          </a:solidFill>
                          <a:latin typeface="Calibri"/>
                        </a:rPr>
                        <a:t>2,0</a:t>
                      </a:r>
                    </a:p>
                  </a:txBody>
                  <a:tcPr>
                    <a:solidFill>
                      <a:srgbClr val="FFFFFF"/>
                    </a:solidFill>
                  </a:tcPr>
                </a:tc>
                <a:tc>
                  <a:txBody>
                    <a:bodyPr/>
                    <a:lstStyle/>
                    <a:p>
                      <a:r>
                        <a:rPr sz="1400" b="0">
                          <a:solidFill>
                            <a:srgbClr val="1B2430"/>
                          </a:solidFill>
                          <a:latin typeface="Calibri"/>
                        </a:rPr>
                        <a:t>0,44</a:t>
                      </a:r>
                    </a:p>
                  </a:txBody>
                  <a:tcPr>
                    <a:solidFill>
                      <a:srgbClr val="FFFFFF"/>
                    </a:solidFill>
                  </a:tcPr>
                </a:tc>
                <a:tc>
                  <a:txBody>
                    <a:bodyPr/>
                    <a:lstStyle/>
                    <a:p>
                      <a:r>
                        <a:rPr sz="1400" b="0">
                          <a:solidFill>
                            <a:srgbClr val="1B2430"/>
                          </a:solidFill>
                          <a:latin typeface="Calibri"/>
                        </a:rPr>
                        <a:t>False</a:t>
                      </a:r>
                    </a:p>
                  </a:txBody>
                  <a:tcPr>
                    <a:solidFill>
                      <a:srgbClr val="FFFFFF"/>
                    </a:solidFill>
                  </a:tcPr>
                </a:tc>
                <a:tc>
                  <a:txBody>
                    <a:bodyPr/>
                    <a:lstStyle/>
                    <a:p>
                      <a:r>
                        <a:rPr sz="1400" b="0">
                          <a:solidFill>
                            <a:srgbClr val="1B2430"/>
                          </a:solidFill>
                          <a:latin typeface="Calibri"/>
                        </a:rPr>
                        <a:t>0,029</a:t>
                      </a:r>
                    </a:p>
                  </a:txBody>
                  <a:tcPr>
                    <a:solidFill>
                      <a:srgbClr val="FFFFFF"/>
                    </a:solidFill>
                  </a:tcPr>
                </a:tc>
              </a:tr>
              <a:tr h="520000">
                <a:tc>
                  <a:txBody>
                    <a:bodyPr/>
                    <a:lstStyle/>
                    <a:p>
                      <a:r>
                        <a:rPr sz="1400" b="0">
                          <a:solidFill>
                            <a:srgbClr val="1B2430"/>
                          </a:solidFill>
                          <a:latin typeface="Calibri"/>
                        </a:rPr>
                        <a:t>x86 CPU 8 yadro</a:t>
                      </a:r>
                    </a:p>
                  </a:txBody>
                  <a:tcPr>
                    <a:solidFill>
                      <a:srgbClr val="F1F4F8"/>
                    </a:solidFill>
                  </a:tcPr>
                </a:tc>
                <a:tc>
                  <a:txBody>
                    <a:bodyPr/>
                    <a:lstStyle/>
                    <a:p>
                      <a:r>
                        <a:rPr sz="1400" b="0">
                          <a:solidFill>
                            <a:srgbClr val="1B2430"/>
                          </a:solidFill>
                          <a:latin typeface="Calibri"/>
                        </a:rPr>
                        <a:t>1,5</a:t>
                      </a:r>
                    </a:p>
                  </a:txBody>
                  <a:tcPr>
                    <a:solidFill>
                      <a:srgbClr val="F1F4F8"/>
                    </a:solidFill>
                  </a:tcPr>
                </a:tc>
                <a:tc>
                  <a:txBody>
                    <a:bodyPr/>
                    <a:lstStyle/>
                    <a:p>
                      <a:r>
                        <a:rPr sz="1400" b="0">
                          <a:solidFill>
                            <a:srgbClr val="1B2430"/>
                          </a:solidFill>
                          <a:latin typeface="Calibri"/>
                        </a:rPr>
                        <a:t>0,33</a:t>
                      </a:r>
                    </a:p>
                  </a:txBody>
                  <a:tcPr>
                    <a:solidFill>
                      <a:srgbClr val="F1F4F8"/>
                    </a:solidFill>
                  </a:tcPr>
                </a:tc>
                <a:tc>
                  <a:txBody>
                    <a:bodyPr/>
                    <a:lstStyle/>
                    <a:p>
                      <a:r>
                        <a:rPr sz="1400" b="0">
                          <a:solidFill>
                            <a:srgbClr val="1B2430"/>
                          </a:solidFill>
                          <a:latin typeface="Calibri"/>
                        </a:rPr>
                        <a:t>False</a:t>
                      </a:r>
                    </a:p>
                  </a:txBody>
                  <a:tcPr>
                    <a:solidFill>
                      <a:srgbClr val="F1F4F8"/>
                    </a:solidFill>
                  </a:tcPr>
                </a:tc>
                <a:tc>
                  <a:txBody>
                    <a:bodyPr/>
                    <a:lstStyle/>
                    <a:p>
                      <a:r>
                        <a:rPr sz="1400" b="0">
                          <a:solidFill>
                            <a:srgbClr val="1B2430"/>
                          </a:solidFill>
                          <a:latin typeface="Calibri"/>
                        </a:rPr>
                        <a:t>1,24</a:t>
                      </a:r>
                    </a:p>
                  </a:txBody>
                  <a:tcPr>
                    <a:solidFill>
                      <a:srgbClr val="F1F4F8"/>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22" presetClass="entr" presetSubtype="8"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wipe(left)">
                                      <p:cBhvr>
                                        <p:cTn id="11"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100" b="1">
                <a:solidFill>
                  <a:srgbClr val="FFFFFF"/>
                </a:solidFill>
                <a:latin typeface="Calibri"/>
              </a:rPr>
              <a:t>3-qadam. Platformalarni samaradorlik koeffitsiyenti bilan baholash — kod</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A1 · Sun'iy intellektga asoslangan kompyuter tizimlari arxitekturasini tahlil qilish va loyihalash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27</a:t>
            </a:r>
          </a:p>
        </p:txBody>
      </p:sp>
      <p:sp>
        <p:nvSpPr>
          <p:cNvPr id="10" name="Rounded Rectangle 9"/>
          <p:cNvSpPr/>
          <p:nvPr/>
        </p:nvSpPr>
        <p:spPr>
          <a:xfrm>
            <a:off x="500000" y="1280000"/>
            <a:ext cx="11200000" cy="500000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00000" y="140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30000" y="140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60000" y="140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0000" y="1650000"/>
            <a:ext cx="10800000" cy="4550000"/>
          </a:xfrm>
          <a:prstGeom prst="rect">
            <a:avLst/>
          </a:prstGeom>
          <a:noFill/>
        </p:spPr>
        <p:txBody>
          <a:bodyPr wrap="square">
            <a:spAutoFit/>
          </a:bodyPr>
          <a:lstStyle/>
          <a:p>
            <a:r>
              <a:rPr sz="1000">
                <a:solidFill>
                  <a:srgbClr val="7FD6D7"/>
                </a:solidFill>
                <a:latin typeface="Consolas"/>
              </a:rPr>
              <a:t># platforma_tanlash.py</a:t>
            </a:r>
          </a:p>
          <a:p>
            <a:r>
              <a:rPr sz="1000">
                <a:solidFill>
                  <a:srgbClr val="E2E8F0"/>
                </a:solidFill>
                <a:latin typeface="Consolas"/>
              </a:rPr>
              <a:t>import pandas as pd</a:t>
            </a:r>
          </a:p>
          <a:p>
            <a:r>
              <a:rPr sz="1000">
                <a:solidFill>
                  <a:srgbClr val="E2E8F0"/>
                </a:solidFill>
                <a:latin typeface="Consolas"/>
              </a:rPr>
              <a:t> </a:t>
            </a:r>
          </a:p>
          <a:p>
            <a:r>
              <a:rPr sz="1000">
                <a:solidFill>
                  <a:srgbClr val="E2E8F0"/>
                </a:solidFill>
                <a:latin typeface="Consolas"/>
              </a:rPr>
              <a:t>platformalar = pd.DataFrame([</a:t>
            </a:r>
          </a:p>
          <a:p>
            <a:r>
              <a:rPr sz="1000">
                <a:solidFill>
                  <a:srgbClr val="7FD6D7"/>
                </a:solidFill>
                <a:latin typeface="Consolas"/>
              </a:rPr>
              <a:t>    # nom, cho'qqi INT8 dense TOPS, taxminiy samaradorlik, quvvat Vt, narx $, NVDEC oqim 1080p30</a:t>
            </a:r>
          </a:p>
          <a:p>
            <a:r>
              <a:rPr sz="1000">
                <a:solidFill>
                  <a:srgbClr val="E2E8F0"/>
                </a:solidFill>
                <a:latin typeface="Consolas"/>
              </a:rPr>
              <a:t>    ("Jetson Orin NX 16GB", 50,  0.45, 25,  650,  7),</a:t>
            </a:r>
          </a:p>
          <a:p>
            <a:r>
              <a:rPr sz="1000">
                <a:solidFill>
                  <a:srgbClr val="E2E8F0"/>
                </a:solidFill>
                <a:latin typeface="Consolas"/>
              </a:rPr>
              <a:t>    ("Jetson AGX Orin 64GB", 138, 0.45, 60,  2000, 14),</a:t>
            </a:r>
          </a:p>
          <a:p>
            <a:r>
              <a:rPr sz="1000">
                <a:solidFill>
                  <a:srgbClr val="E2E8F0"/>
                </a:solidFill>
                <a:latin typeface="Consolas"/>
              </a:rPr>
              <a:t>    ("A100 PCIe 80GB",      624, 0.50, 300, 10000, 10),</a:t>
            </a:r>
          </a:p>
          <a:p>
            <a:r>
              <a:rPr sz="1000">
                <a:solidFill>
                  <a:srgbClr val="E2E8F0"/>
                </a:solidFill>
                <a:latin typeface="Consolas"/>
              </a:rPr>
              <a:t>    ("Coral Edge TPU M.2",  4,   0.50, 2,   80,   0),</a:t>
            </a:r>
          </a:p>
          <a:p>
            <a:r>
              <a:rPr sz="1000">
                <a:solidFill>
                  <a:srgbClr val="E2E8F0"/>
                </a:solidFill>
                <a:latin typeface="Consolas"/>
              </a:rPr>
              <a:t>    ("x86 CPU 8 yadro (AVX-512)", 2.5, 0.60, 65, 400, 0),</a:t>
            </a:r>
          </a:p>
          <a:p>
            <a:r>
              <a:rPr sz="1000">
                <a:solidFill>
                  <a:srgbClr val="E2E8F0"/>
                </a:solidFill>
                <a:latin typeface="Consolas"/>
              </a:rPr>
              <a:t>], columns=["nom", "tops_peak", "eff", "vt", "narx", "nvdec_1080p30"])</a:t>
            </a:r>
          </a:p>
          <a:p>
            <a:r>
              <a:rPr sz="1000">
                <a:solidFill>
                  <a:srgbClr val="E2E8F0"/>
                </a:solidFill>
                <a:latin typeface="Consolas"/>
              </a:rPr>
              <a:t> </a:t>
            </a:r>
          </a:p>
          <a:p>
            <a:r>
              <a:rPr sz="1000">
                <a:solidFill>
                  <a:srgbClr val="E2E8F0"/>
                </a:solidFill>
                <a:latin typeface="Consolas"/>
              </a:rPr>
              <a:t>platformalar["tops_real"] = platformalar.tops_peak * platformalar.eff</a:t>
            </a:r>
          </a:p>
          <a:p>
            <a:r>
              <a:rPr sz="1000">
                <a:solidFill>
                  <a:srgbClr val="E2E8F0"/>
                </a:solidFill>
                <a:latin typeface="Consolas"/>
              </a:rPr>
              <a:t> </a:t>
            </a:r>
          </a:p>
          <a:p>
            <a:r>
              <a:rPr sz="1000">
                <a:solidFill>
                  <a:srgbClr val="E2E8F0"/>
                </a:solidFill>
                <a:latin typeface="Consolas"/>
              </a:rPr>
              <a:t>yuklama = pd.read_csv("yuklama.csv")</a:t>
            </a:r>
          </a:p>
          <a:p>
            <a:r>
              <a:rPr sz="1000">
                <a:solidFill>
                  <a:srgbClr val="E2E8F0"/>
                </a:solidFill>
                <a:latin typeface="Consolas"/>
              </a:rPr>
              <a:t>talab = yuklama[(yuklama.model == "yolov8s.pt") &amp; (yuklama.imgsz == 640)].TFLOP_s_talab.iloc[0]</a:t>
            </a:r>
          </a:p>
          <a:p>
            <a:r>
              <a:rPr sz="1000">
                <a:solidFill>
                  <a:srgbClr val="7FD6D7"/>
                </a:solidFill>
                <a:latin typeface="Consolas"/>
              </a:rPr>
              <a:t># INT8 TOPS ≈ FLOP/s ekvivalenti sifatida qabul qilamiz (soddalashtirish)</a:t>
            </a:r>
          </a:p>
          <a:p>
            <a:r>
              <a:rPr sz="1000">
                <a:solidFill>
                  <a:srgbClr val="E2E8F0"/>
                </a:solidFill>
                <a:latin typeface="Consolas"/>
              </a:rPr>
              <a:t>platformalar["zaxira_koef"] = (platformalar.tops_real / talab).round(2)</a:t>
            </a:r>
          </a:p>
          <a:p>
            <a:r>
              <a:rPr sz="1000">
                <a:solidFill>
                  <a:srgbClr val="E2E8F0"/>
                </a:solidFill>
                <a:latin typeface="Consolas"/>
              </a:rPr>
              <a:t>platformalar["dekod_yetarli"] = platformalar.nvdec_1080p30 * 3 &gt;= 16  # 1080p10 =&gt; 3 oqim 1080p30 o'rniga</a:t>
            </a:r>
          </a:p>
          <a:p>
            <a:r>
              <a:rPr sz="1000">
                <a:solidFill>
                  <a:srgbClr val="E2E8F0"/>
                </a:solidFill>
                <a:latin typeface="Consolas"/>
              </a:rPr>
              <a:t>platformalar["inferens_Vt"] = (platformalar.vt / (platformalar.tops_real * 1e3 / 28.6)).round(3)</a:t>
            </a:r>
          </a:p>
          <a:p>
            <a:r>
              <a:rPr sz="1000">
                <a:solidFill>
                  <a:srgbClr val="7FD6D7"/>
                </a:solidFill>
                <a:latin typeface="Consolas"/>
              </a:rPr>
              <a:t># … (to‘liq kod — mavzu matnida / GitHub’da)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53" presetClass="entr" presetSubtype="16"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ppt_w</p:attrName>
                                        </p:attrNameLst>
                                      </p:cBhvr>
                                      <p:tavLst>
                                        <p:tav tm="0">
                                          <p:val>
                                            <p:strVal val="0"/>
                                          </p:val>
                                        </p:tav>
                                        <p:tav tm="100000">
                                          <p:val>
                                            <p:strVal val="#ppt_w"/>
                                          </p:val>
                                        </p:tav>
                                      </p:tavLst>
                                    </p:anim>
                                    <p:anim calcmode="lin" valueType="num">
                                      <p:cBhvr additive="base">
                                        <p:cTn id="12" dur="550" fill="hold"/>
                                        <p:tgtEl>
                                          <p:spTgt spid="10"/>
                                        </p:tgtEl>
                                        <p:attrNameLst>
                                          <p:attrName>ppt_h</p:attrName>
                                        </p:attrNameLst>
                                      </p:cBhvr>
                                      <p:tavLst>
                                        <p:tav tm="0">
                                          <p:val>
                                            <p:strVal val="0"/>
                                          </p:val>
                                        </p:tav>
                                        <p:tav tm="100000">
                                          <p:val>
                                            <p:strVal val="#ppt_h"/>
                                          </p:val>
                                        </p:tav>
                                      </p:tavLst>
                                    </p:anim>
                                  </p:childTnLst>
                                </p:cTn>
                              </p:par>
                            </p:childTnLst>
                          </p:cTn>
                        </p:par>
                        <p:par>
                          <p:cTn id="13" fill="hold">
                            <p:stCondLst>
                              <p:cond delay="200"/>
                            </p:stCondLst>
                            <p:childTnLst>
                              <p:par>
                                <p:cTn id="14" presetID="10"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childTnLst>
                                </p:cTn>
                              </p:par>
                            </p:childTnLst>
                          </p:cTn>
                        </p:par>
                        <p:par>
                          <p:cTn id="17" fill="hold">
                            <p:stCondLst>
                              <p:cond delay="200"/>
                            </p:stCondLst>
                            <p:childTnLst>
                              <p:par>
                                <p:cTn id="18" presetID="10" presetClass="entr" presetSubtype="0" fill="hold" grpId="0" nodeType="afterEffect">
                                  <p:stCondLst>
                                    <p:cond delay="0"/>
                                  </p:stCondLst>
                                  <p:childTnLst>
                                    <p:set>
                                      <p:cBhvr>
                                        <p:cTn id="19" dur="1" fill="hold">
                                          <p:stCondLst>
                                            <p:cond delay="0"/>
                                          </p:stCondLst>
                                        </p:cTn>
                                        <p:tgtEl>
                                          <p:spTgt spid="12"/>
                                        </p:tgtEl>
                                        <p:attrNameLst>
                                          <p:attrName>style.visibility</p:attrName>
                                        </p:attrNameLst>
                                      </p:cBhvr>
                                      <p:to>
                                        <p:strVal val="visible"/>
                                      </p:to>
                                    </p:set>
                                    <p:animEffect transition="in" filter="fade">
                                      <p:cBhvr>
                                        <p:cTn id="20" dur="550"/>
                                        <p:tgtEl>
                                          <p:spTgt spid="12"/>
                                        </p:tgtEl>
                                      </p:cBhvr>
                                    </p:animEffect>
                                  </p:childTnLst>
                                </p:cTn>
                              </p:par>
                            </p:childTnLst>
                          </p:cTn>
                        </p:par>
                        <p:par>
                          <p:cTn id="21" fill="hold">
                            <p:stCondLst>
                              <p:cond delay="200"/>
                            </p:stCondLst>
                            <p:childTnLst>
                              <p:par>
                                <p:cTn id="22" presetID="10" presetClass="entr" presetSubtype="0" fill="hold" grpId="0"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550"/>
                                        <p:tgtEl>
                                          <p:spTgt spid="13"/>
                                        </p:tgtEl>
                                      </p:cBhvr>
                                    </p:animEffect>
                                  </p:childTnLst>
                                </p:cTn>
                              </p:par>
                            </p:childTnLst>
                          </p:cTn>
                        </p:par>
                        <p:par>
                          <p:cTn id="25" fill="hold">
                            <p:stCondLst>
                              <p:cond delay="350"/>
                            </p:stCondLst>
                            <p:childTnLst>
                              <p:par>
                                <p:cTn id="26" presetID="22" presetClass="entr" presetSubtype="8" fill="hold" grpId="0" nodeType="after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wipe(left)">
                                      <p:cBhvr>
                                        <p:cTn id="29" dur="8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Lst>
  </p:timing>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4-qadam. Strukturaviy sxemani matnda tavsiflash</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A1 · Sun'iy intellektga asoslangan kompyuter tizimlari arxitekturasini tahlil qilish va loyihalash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28</a:t>
            </a:r>
          </a:p>
        </p:txBody>
      </p:sp>
      <p:sp>
        <p:nvSpPr>
          <p:cNvPr id="10" name="Rounded Rectangle 9"/>
          <p:cNvSpPr/>
          <p:nvPr/>
        </p:nvSpPr>
        <p:spPr>
          <a:xfrm>
            <a:off x="550000" y="1250000"/>
            <a:ext cx="11100000" cy="161000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250000"/>
            <a:ext cx="70000" cy="161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80000" y="1845000"/>
            <a:ext cx="420000" cy="42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1</a:t>
            </a:r>
          </a:p>
        </p:txBody>
      </p:sp>
      <p:sp>
        <p:nvSpPr>
          <p:cNvPr id="13" name="TextBox 12"/>
          <p:cNvSpPr txBox="1"/>
          <p:nvPr/>
        </p:nvSpPr>
        <p:spPr>
          <a:xfrm>
            <a:off x="1380000" y="1290000"/>
            <a:ext cx="10150000" cy="1530000"/>
          </a:xfrm>
          <a:prstGeom prst="rect">
            <a:avLst/>
          </a:prstGeom>
          <a:noFill/>
        </p:spPr>
        <p:txBody>
          <a:bodyPr wrap="square" anchor="ctr">
            <a:spAutoFit/>
          </a:bodyPr>
          <a:lstStyle/>
          <a:p>
            <a:r>
              <a:rPr sz="1700" b="0">
                <a:solidFill>
                  <a:srgbClr val="1B2430"/>
                </a:solidFill>
                <a:latin typeface="Calibri"/>
              </a:rPr>
              <a:t>Talaba quyidagi shaklda strukturaviy sxemani yozadi (rasm shart emas; blok ro'yxati va interfeyslar jadvali yetarli):</a:t>
            </a:r>
          </a:p>
        </p:txBody>
      </p:sp>
      <p:sp>
        <p:nvSpPr>
          <p:cNvPr id="14" name="Rounded Rectangle 13"/>
          <p:cNvSpPr/>
          <p:nvPr/>
        </p:nvSpPr>
        <p:spPr>
          <a:xfrm>
            <a:off x="550000" y="2970000"/>
            <a:ext cx="11100000" cy="161000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2970000"/>
            <a:ext cx="70000" cy="161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80000" y="3565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2</a:t>
            </a:r>
          </a:p>
        </p:txBody>
      </p:sp>
      <p:sp>
        <p:nvSpPr>
          <p:cNvPr id="17" name="TextBox 16"/>
          <p:cNvSpPr txBox="1"/>
          <p:nvPr/>
        </p:nvSpPr>
        <p:spPr>
          <a:xfrm>
            <a:off x="1380000" y="3010000"/>
            <a:ext cx="10150000" cy="1530000"/>
          </a:xfrm>
          <a:prstGeom prst="rect">
            <a:avLst/>
          </a:prstGeom>
          <a:noFill/>
        </p:spPr>
        <p:txBody>
          <a:bodyPr wrap="square" anchor="ctr">
            <a:spAutoFit/>
          </a:bodyPr>
          <a:lstStyle/>
          <a:p>
            <a:r>
              <a:rPr sz="1700" b="0">
                <a:solidFill>
                  <a:srgbClr val="1B2430"/>
                </a:solidFill>
                <a:latin typeface="Calibri"/>
              </a:rPr>
              <a:t>Interfeyslar jadvali:</a:t>
            </a:r>
          </a:p>
        </p:txBody>
      </p:sp>
      <p:sp>
        <p:nvSpPr>
          <p:cNvPr id="18" name="Rounded Rectangle 17"/>
          <p:cNvSpPr/>
          <p:nvPr/>
        </p:nvSpPr>
        <p:spPr>
          <a:xfrm>
            <a:off x="550000" y="4690000"/>
            <a:ext cx="11100000" cy="161000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4690000"/>
            <a:ext cx="70000" cy="1610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80000" y="5285000"/>
            <a:ext cx="420000" cy="42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3</a:t>
            </a:r>
          </a:p>
        </p:txBody>
      </p:sp>
      <p:sp>
        <p:nvSpPr>
          <p:cNvPr id="21" name="TextBox 20"/>
          <p:cNvSpPr txBox="1"/>
          <p:nvPr/>
        </p:nvSpPr>
        <p:spPr>
          <a:xfrm>
            <a:off x="1380000" y="4730000"/>
            <a:ext cx="10150000" cy="1530000"/>
          </a:xfrm>
          <a:prstGeom prst="rect">
            <a:avLst/>
          </a:prstGeom>
          <a:noFill/>
        </p:spPr>
        <p:txBody>
          <a:bodyPr wrap="square" anchor="ctr">
            <a:spAutoFit/>
          </a:bodyPr>
          <a:lstStyle/>
          <a:p>
            <a:r>
              <a:rPr sz="1800" b="1">
                <a:solidFill>
                  <a:srgbClr val="1F3A5F"/>
                </a:solidFill>
                <a:latin typeface="Calibri"/>
              </a:rPr>
              <a:t>Nima bo'ldi va nega.</a:t>
            </a:r>
          </a:p>
          <a:p>
            <a:pPr>
              <a:spcBef>
                <a:spcPts val="400"/>
              </a:spcBef>
            </a:pPr>
            <a:r>
              <a:rPr sz="1700">
                <a:solidFill>
                  <a:srgbClr val="334055"/>
                </a:solidFill>
                <a:latin typeface="Calibri"/>
              </a:rPr>
              <a:t>Sxema har bir qadamda «ma'lumot qayerda yotadi» savoliga javob beradi. Jetson'da NVDEC chiqishi to'g'ridan-to'g'ri GPU xotirasida qolishi (nol nusxalash, zero-copy) CPU–GPU ko'chirishlarini olib tashlaydi — bu Co-design'ning amaliy ko'rinishi: apparat imkoniyati (umumiy xotira) dasturiy yechimni (DeepStream yoki VPI quvuri) belgilaydi.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9"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Lst>
  </p:timing>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4-qadam. Strukturaviy sxemani matnda tavsiflash</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A1 · Sun'iy intellektga asoslangan kompyuter tizimlari arxitekturasini tahlil qilish va loyihalash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29</a:t>
            </a:r>
          </a:p>
        </p:txBody>
      </p:sp>
      <p:graphicFrame>
        <p:nvGraphicFramePr>
          <p:cNvPr id="10" name="Table 9"/>
          <p:cNvGraphicFramePr>
            <a:graphicFrameLocks noGrp="1"/>
          </p:cNvGraphicFramePr>
          <p:nvPr/>
        </p:nvGraphicFramePr>
        <p:xfrm>
          <a:off x="500000" y="1350000"/>
          <a:ext cx="11200000" cy="3640000"/>
        </p:xfrm>
        <a:graphic>
          <a:graphicData uri="http://schemas.openxmlformats.org/drawingml/2006/table">
            <a:tbl>
              <a:tblPr firstRow="1" bandRow="1">
                <a:tableStyleId>{5C22544A-7EE6-4342-B048-85BDC9FD1C3A}</a:tableStyleId>
              </a:tblPr>
              <a:tblGrid>
                <a:gridCol w="2800000"/>
                <a:gridCol w="2800000"/>
                <a:gridCol w="2800000"/>
                <a:gridCol w="2800000"/>
              </a:tblGrid>
              <a:tr h="520000">
                <a:tc>
                  <a:txBody>
                    <a:bodyPr/>
                    <a:lstStyle/>
                    <a:p>
                      <a:r>
                        <a:rPr sz="1400" b="1">
                          <a:solidFill>
                            <a:srgbClr val="FFFFFF"/>
                          </a:solidFill>
                          <a:latin typeface="Calibri"/>
                        </a:rPr>
                        <a:t>Interfeys</a:t>
                      </a:r>
                    </a:p>
                  </a:txBody>
                  <a:tcPr>
                    <a:solidFill>
                      <a:srgbClr val="2D5C8F"/>
                    </a:solidFill>
                  </a:tcPr>
                </a:tc>
                <a:tc>
                  <a:txBody>
                    <a:bodyPr/>
                    <a:lstStyle/>
                    <a:p>
                      <a:r>
                        <a:rPr sz="1400" b="1">
                          <a:solidFill>
                            <a:srgbClr val="FFFFFF"/>
                          </a:solidFill>
                          <a:latin typeface="Calibri"/>
                        </a:rPr>
                        <a:t>Protokol/vosita</a:t>
                      </a:r>
                    </a:p>
                  </a:txBody>
                  <a:tcPr>
                    <a:solidFill>
                      <a:srgbClr val="2D5C8F"/>
                    </a:solidFill>
                  </a:tcPr>
                </a:tc>
                <a:tc>
                  <a:txBody>
                    <a:bodyPr/>
                    <a:lstStyle/>
                    <a:p>
                      <a:r>
                        <a:rPr sz="1400" b="1">
                          <a:solidFill>
                            <a:srgbClr val="FFFFFF"/>
                          </a:solidFill>
                          <a:latin typeface="Calibri"/>
                        </a:rPr>
                        <a:t>O'tkazuvchanlik</a:t>
                      </a:r>
                    </a:p>
                  </a:txBody>
                  <a:tcPr>
                    <a:solidFill>
                      <a:srgbClr val="2D5C8F"/>
                    </a:solidFill>
                  </a:tcPr>
                </a:tc>
                <a:tc>
                  <a:txBody>
                    <a:bodyPr/>
                    <a:lstStyle/>
                    <a:p>
                      <a:r>
                        <a:rPr sz="1400" b="1">
                          <a:solidFill>
                            <a:srgbClr val="FFFFFF"/>
                          </a:solidFill>
                          <a:latin typeface="Calibri"/>
                        </a:rPr>
                        <a:t>Kechikish byudjeti</a:t>
                      </a:r>
                    </a:p>
                  </a:txBody>
                  <a:tcPr>
                    <a:solidFill>
                      <a:srgbClr val="2D5C8F"/>
                    </a:solidFill>
                  </a:tcPr>
                </a:tc>
              </a:tr>
              <a:tr h="520000">
                <a:tc>
                  <a:txBody>
                    <a:bodyPr/>
                    <a:lstStyle/>
                    <a:p>
                      <a:r>
                        <a:rPr sz="1400" b="0">
                          <a:solidFill>
                            <a:srgbClr val="1B2430"/>
                          </a:solidFill>
                          <a:latin typeface="Calibri"/>
                        </a:rPr>
                        <a:t>Kamera → Jetson</a:t>
                      </a:r>
                    </a:p>
                  </a:txBody>
                  <a:tcPr>
                    <a:solidFill>
                      <a:srgbClr val="F1F4F8"/>
                    </a:solidFill>
                  </a:tcPr>
                </a:tc>
                <a:tc>
                  <a:txBody>
                    <a:bodyPr/>
                    <a:lstStyle/>
                    <a:p>
                      <a:r>
                        <a:rPr sz="1400" b="0">
                          <a:solidFill>
                            <a:srgbClr val="1B2430"/>
                          </a:solidFill>
                          <a:latin typeface="Calibri"/>
                        </a:rPr>
                        <a:t>RTSP/H.264</a:t>
                      </a:r>
                    </a:p>
                  </a:txBody>
                  <a:tcPr>
                    <a:solidFill>
                      <a:srgbClr val="F1F4F8"/>
                    </a:solidFill>
                  </a:tcPr>
                </a:tc>
                <a:tc>
                  <a:txBody>
                    <a:bodyPr/>
                    <a:lstStyle/>
                    <a:p>
                      <a:r>
                        <a:rPr sz="1400" b="0">
                          <a:solidFill>
                            <a:srgbClr val="1B2430"/>
                          </a:solidFill>
                          <a:latin typeface="Calibri"/>
                        </a:rPr>
                        <a:t>16 × ~4 Mbit/s = 64 Mbit/s</a:t>
                      </a:r>
                    </a:p>
                  </a:txBody>
                  <a:tcPr>
                    <a:solidFill>
                      <a:srgbClr val="F1F4F8"/>
                    </a:solidFill>
                  </a:tcPr>
                </a:tc>
                <a:tc>
                  <a:txBody>
                    <a:bodyPr/>
                    <a:lstStyle/>
                    <a:p>
                      <a:r>
                        <a:rPr sz="1400" b="0">
                          <a:solidFill>
                            <a:srgbClr val="1B2430"/>
                          </a:solidFill>
                          <a:latin typeface="Calibri"/>
                        </a:rPr>
                        <a:t>30 ms</a:t>
                      </a:r>
                    </a:p>
                  </a:txBody>
                  <a:tcPr>
                    <a:solidFill>
                      <a:srgbClr val="F1F4F8"/>
                    </a:solidFill>
                  </a:tcPr>
                </a:tc>
              </a:tr>
              <a:tr h="520000">
                <a:tc>
                  <a:txBody>
                    <a:bodyPr/>
                    <a:lstStyle/>
                    <a:p>
                      <a:r>
                        <a:rPr sz="1400" b="0">
                          <a:solidFill>
                            <a:srgbClr val="1B2430"/>
                          </a:solidFill>
                          <a:latin typeface="Calibri"/>
                        </a:rPr>
                        <a:t>Dekoder → oldindan ishlov</a:t>
                      </a:r>
                    </a:p>
                  </a:txBody>
                  <a:tcPr>
                    <a:solidFill>
                      <a:srgbClr val="FFFFFF"/>
                    </a:solidFill>
                  </a:tcPr>
                </a:tc>
                <a:tc>
                  <a:txBody>
                    <a:bodyPr/>
                    <a:lstStyle/>
                    <a:p>
                      <a:r>
                        <a:rPr sz="1400" b="0">
                          <a:solidFill>
                            <a:srgbClr val="1B2430"/>
                          </a:solidFill>
                          <a:latin typeface="Calibri"/>
                        </a:rPr>
                        <a:t>NVMM (GPU xotira)</a:t>
                      </a:r>
                    </a:p>
                  </a:txBody>
                  <a:tcPr>
                    <a:solidFill>
                      <a:srgbClr val="FFFFFF"/>
                    </a:solidFill>
                  </a:tcPr>
                </a:tc>
                <a:tc>
                  <a:txBody>
                    <a:bodyPr/>
                    <a:lstStyle/>
                    <a:p>
                      <a:r>
                        <a:rPr sz="1400" b="0">
                          <a:solidFill>
                            <a:srgbClr val="1B2430"/>
                          </a:solidFill>
                          <a:latin typeface="Calibri"/>
                        </a:rPr>
                        <a:t>16 × 10 kadr × 6 MB</a:t>
                      </a:r>
                    </a:p>
                  </a:txBody>
                  <a:tcPr>
                    <a:solidFill>
                      <a:srgbClr val="FFFFFF"/>
                    </a:solidFill>
                  </a:tcPr>
                </a:tc>
                <a:tc>
                  <a:txBody>
                    <a:bodyPr/>
                    <a:lstStyle/>
                    <a:p>
                      <a:r>
                        <a:rPr sz="1400" b="0">
                          <a:solidFill>
                            <a:srgbClr val="1B2430"/>
                          </a:solidFill>
                          <a:latin typeface="Calibri"/>
                        </a:rPr>
                        <a:t>5 ms</a:t>
                      </a:r>
                    </a:p>
                  </a:txBody>
                  <a:tcPr>
                    <a:solidFill>
                      <a:srgbClr val="FFFFFF"/>
                    </a:solidFill>
                  </a:tcPr>
                </a:tc>
              </a:tr>
              <a:tr h="520000">
                <a:tc>
                  <a:txBody>
                    <a:bodyPr/>
                    <a:lstStyle/>
                    <a:p>
                      <a:r>
                        <a:rPr sz="1400" b="0">
                          <a:solidFill>
                            <a:srgbClr val="1B2430"/>
                          </a:solidFill>
                          <a:latin typeface="Calibri"/>
                        </a:rPr>
                        <a:t>Oldindan ishlov → TensorRT</a:t>
                      </a:r>
                    </a:p>
                  </a:txBody>
                  <a:tcPr>
                    <a:solidFill>
                      <a:srgbClr val="F1F4F8"/>
                    </a:solidFill>
                  </a:tcPr>
                </a:tc>
                <a:tc>
                  <a:txBody>
                    <a:bodyPr/>
                    <a:lstStyle/>
                    <a:p>
                      <a:r>
                        <a:rPr sz="1400" b="0">
                          <a:solidFill>
                            <a:srgbClr val="1B2430"/>
                          </a:solidFill>
                          <a:latin typeface="Calibri"/>
                        </a:rPr>
                        <a:t>CUDA tensor</a:t>
                      </a:r>
                    </a:p>
                  </a:txBody>
                  <a:tcPr>
                    <a:solidFill>
                      <a:srgbClr val="F1F4F8"/>
                    </a:solidFill>
                  </a:tcPr>
                </a:tc>
                <a:tc>
                  <a:txBody>
                    <a:bodyPr/>
                    <a:lstStyle/>
                    <a:p>
                      <a:r>
                        <a:rPr sz="1400" b="0">
                          <a:solidFill>
                            <a:srgbClr val="1B2430"/>
                          </a:solidFill>
                          <a:latin typeface="Calibri"/>
                        </a:rPr>
                        <a:t>160 × 2,4 MB/s</a:t>
                      </a:r>
                    </a:p>
                  </a:txBody>
                  <a:tcPr>
                    <a:solidFill>
                      <a:srgbClr val="F1F4F8"/>
                    </a:solidFill>
                  </a:tcPr>
                </a:tc>
                <a:tc>
                  <a:txBody>
                    <a:bodyPr/>
                    <a:lstStyle/>
                    <a:p>
                      <a:r>
                        <a:rPr sz="1400" b="0">
                          <a:solidFill>
                            <a:srgbClr val="1B2430"/>
                          </a:solidFill>
                          <a:latin typeface="Calibri"/>
                        </a:rPr>
                        <a:t>5 ms</a:t>
                      </a:r>
                    </a:p>
                  </a:txBody>
                  <a:tcPr>
                    <a:solidFill>
                      <a:srgbClr val="F1F4F8"/>
                    </a:solidFill>
                  </a:tcPr>
                </a:tc>
              </a:tr>
              <a:tr h="520000">
                <a:tc>
                  <a:txBody>
                    <a:bodyPr/>
                    <a:lstStyle/>
                    <a:p>
                      <a:r>
                        <a:rPr sz="1400" b="0">
                          <a:solidFill>
                            <a:srgbClr val="1B2430"/>
                          </a:solidFill>
                          <a:latin typeface="Calibri"/>
                        </a:rPr>
                        <a:t>TensorRT inferens</a:t>
                      </a:r>
                    </a:p>
                  </a:txBody>
                  <a:tcPr>
                    <a:solidFill>
                      <a:srgbClr val="FFFFFF"/>
                    </a:solidFill>
                  </a:tcPr>
                </a:tc>
                <a:tc>
                  <a:txBody>
                    <a:bodyPr/>
                    <a:lstStyle/>
                    <a:p>
                      <a:r>
                        <a:rPr sz="1400" b="0">
                          <a:solidFill>
                            <a:srgbClr val="1B2430"/>
                          </a:solidFill>
                          <a:latin typeface="Calibri"/>
                        </a:rPr>
                        <a:t>batch 4, INT8</a:t>
                      </a:r>
                    </a:p>
                  </a:txBody>
                  <a:tcPr>
                    <a:solidFill>
                      <a:srgbClr val="FFFFFF"/>
                    </a:solidFill>
                  </a:tcPr>
                </a:tc>
                <a:tc>
                  <a:txBody>
                    <a:bodyPr/>
                    <a:lstStyle/>
                    <a:p>
                      <a:r>
                        <a:rPr sz="1400" b="0">
                          <a:solidFill>
                            <a:srgbClr val="1B2430"/>
                          </a:solidFill>
                          <a:latin typeface="Calibri"/>
                        </a:rPr>
                        <a:t>160 inferens/s</a:t>
                      </a:r>
                    </a:p>
                  </a:txBody>
                  <a:tcPr>
                    <a:solidFill>
                      <a:srgbClr val="FFFFFF"/>
                    </a:solidFill>
                  </a:tcPr>
                </a:tc>
                <a:tc>
                  <a:txBody>
                    <a:bodyPr/>
                    <a:lstStyle/>
                    <a:p>
                      <a:r>
                        <a:rPr sz="1400" b="0">
                          <a:solidFill>
                            <a:srgbClr val="1B2430"/>
                          </a:solidFill>
                          <a:latin typeface="Calibri"/>
                        </a:rPr>
                        <a:t>60 ms (p95)</a:t>
                      </a:r>
                    </a:p>
                  </a:txBody>
                  <a:tcPr>
                    <a:solidFill>
                      <a:srgbClr val="FFFFFF"/>
                    </a:solidFill>
                  </a:tcPr>
                </a:tc>
              </a:tr>
              <a:tr h="520000">
                <a:tc>
                  <a:txBody>
                    <a:bodyPr/>
                    <a:lstStyle/>
                    <a:p>
                      <a:r>
                        <a:rPr sz="1400" b="0">
                          <a:solidFill>
                            <a:srgbClr val="1B2430"/>
                          </a:solidFill>
                          <a:latin typeface="Calibri"/>
                        </a:rPr>
                        <a:t>Keyingi ishlov</a:t>
                      </a:r>
                    </a:p>
                  </a:txBody>
                  <a:tcPr>
                    <a:solidFill>
                      <a:srgbClr val="F1F4F8"/>
                    </a:solidFill>
                  </a:tcPr>
                </a:tc>
                <a:tc>
                  <a:txBody>
                    <a:bodyPr/>
                    <a:lstStyle/>
                    <a:p>
                      <a:r>
                        <a:rPr sz="1400" b="0">
                          <a:solidFill>
                            <a:srgbClr val="1B2430"/>
                          </a:solidFill>
                          <a:latin typeface="Calibri"/>
                        </a:rPr>
                        <a:t>CPU</a:t>
                      </a:r>
                    </a:p>
                  </a:txBody>
                  <a:tcPr>
                    <a:solidFill>
                      <a:srgbClr val="F1F4F8"/>
                    </a:solidFill>
                  </a:tcPr>
                </a:tc>
                <a:tc>
                  <a:txBody>
                    <a:bodyPr/>
                    <a:lstStyle/>
                    <a:p>
                      <a:r>
                        <a:rPr sz="1400" b="0">
                          <a:solidFill>
                            <a:srgbClr val="1B2430"/>
                          </a:solidFill>
                          <a:latin typeface="Calibri"/>
                        </a:rPr>
                        <a:t>—</a:t>
                      </a:r>
                    </a:p>
                  </a:txBody>
                  <a:tcPr>
                    <a:solidFill>
                      <a:srgbClr val="F1F4F8"/>
                    </a:solidFill>
                  </a:tcPr>
                </a:tc>
                <a:tc>
                  <a:txBody>
                    <a:bodyPr/>
                    <a:lstStyle/>
                    <a:p>
                      <a:r>
                        <a:rPr sz="1400" b="0">
                          <a:solidFill>
                            <a:srgbClr val="1B2430"/>
                          </a:solidFill>
                          <a:latin typeface="Calibri"/>
                        </a:rPr>
                        <a:t>20 ms</a:t>
                      </a:r>
                    </a:p>
                  </a:txBody>
                  <a:tcPr>
                    <a:solidFill>
                      <a:srgbClr val="F1F4F8"/>
                    </a:solidFill>
                  </a:tcPr>
                </a:tc>
              </a:tr>
              <a:tr h="520000">
                <a:tc>
                  <a:txBody>
                    <a:bodyPr/>
                    <a:lstStyle/>
                    <a:p>
                      <a:r>
                        <a:rPr sz="1400" b="0">
                          <a:solidFill>
                            <a:srgbClr val="1B2430"/>
                          </a:solidFill>
                          <a:latin typeface="Calibri"/>
                        </a:rPr>
                        <a:t>Jetson → server</a:t>
                      </a:r>
                    </a:p>
                  </a:txBody>
                  <a:tcPr>
                    <a:solidFill>
                      <a:srgbClr val="FFFFFF"/>
                    </a:solidFill>
                  </a:tcPr>
                </a:tc>
                <a:tc>
                  <a:txBody>
                    <a:bodyPr/>
                    <a:lstStyle/>
                    <a:p>
                      <a:r>
                        <a:rPr sz="1400" b="0">
                          <a:solidFill>
                            <a:srgbClr val="1B2430"/>
                          </a:solidFill>
                          <a:latin typeface="Calibri"/>
                        </a:rPr>
                        <a:t>MQTT/TLS</a:t>
                      </a:r>
                    </a:p>
                  </a:txBody>
                  <a:tcPr>
                    <a:solidFill>
                      <a:srgbClr val="FFFFFF"/>
                    </a:solidFill>
                  </a:tcPr>
                </a:tc>
                <a:tc>
                  <a:txBody>
                    <a:bodyPr/>
                    <a:lstStyle/>
                    <a:p>
                      <a:r>
                        <a:rPr sz="1400" b="0">
                          <a:solidFill>
                            <a:srgbClr val="1B2430"/>
                          </a:solidFill>
                          <a:latin typeface="Calibri"/>
                        </a:rPr>
                        <a:t>hodisa boshiga ~2 KB</a:t>
                      </a:r>
                    </a:p>
                  </a:txBody>
                  <a:tcPr>
                    <a:solidFill>
                      <a:srgbClr val="FFFFFF"/>
                    </a:solidFill>
                  </a:tcPr>
                </a:tc>
                <a:tc>
                  <a:txBody>
                    <a:bodyPr/>
                    <a:lstStyle/>
                    <a:p>
                      <a:r>
                        <a:rPr sz="1400" b="0">
                          <a:solidFill>
                            <a:srgbClr val="1B2430"/>
                          </a:solidFill>
                          <a:latin typeface="Calibri"/>
                        </a:rPr>
                        <a:t>50 ms (tanqidiy emas)</a:t>
                      </a:r>
                    </a:p>
                  </a:txBody>
                  <a:tcPr>
                    <a:solidFill>
                      <a:srgbClr val="FFFFFF"/>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22" presetClass="entr" presetSubtype="8"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wipe(left)">
                                      <p:cBhvr>
                                        <p:cTn id="11"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4-qadam. Strukturaviy sxemani matnda tavsiflash — kod</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A1 · Sun'iy intellektga asoslangan kompyuter tizimlari arxitekturasini tahlil qilish va loyihalash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30</a:t>
            </a:r>
          </a:p>
        </p:txBody>
      </p:sp>
      <p:sp>
        <p:nvSpPr>
          <p:cNvPr id="10" name="Rounded Rectangle 9"/>
          <p:cNvSpPr/>
          <p:nvPr/>
        </p:nvSpPr>
        <p:spPr>
          <a:xfrm>
            <a:off x="500000" y="1280000"/>
            <a:ext cx="11200000" cy="500000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00000" y="140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30000" y="140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60000" y="140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0000" y="1650000"/>
            <a:ext cx="10800000" cy="4550000"/>
          </a:xfrm>
          <a:prstGeom prst="rect">
            <a:avLst/>
          </a:prstGeom>
          <a:noFill/>
        </p:spPr>
        <p:txBody>
          <a:bodyPr wrap="square">
            <a:spAutoFit/>
          </a:bodyPr>
          <a:lstStyle/>
          <a:p>
            <a:r>
              <a:rPr sz="1000">
                <a:solidFill>
                  <a:srgbClr val="E2E8F0"/>
                </a:solidFill>
                <a:latin typeface="Consolas"/>
              </a:rPr>
              <a:t>[16 × IP-kamera, RTSP/H.264 1080p10] --(Ethernet 1 Gbit/s, PoE kommutator)--&gt;</a:t>
            </a:r>
          </a:p>
          <a:p>
            <a:r>
              <a:rPr sz="1000">
                <a:solidFill>
                  <a:srgbClr val="E2E8F0"/>
                </a:solidFill>
                <a:latin typeface="Consolas"/>
              </a:rPr>
              <a:t>[Jetson Orin NX: NVDEC dekoder 16 oqim] --(NVMM xotira, nol nusxalash)--&gt;</a:t>
            </a:r>
          </a:p>
          <a:p>
            <a:r>
              <a:rPr sz="1000">
                <a:solidFill>
                  <a:srgbClr val="E2E8F0"/>
                </a:solidFill>
                <a:latin typeface="Consolas"/>
              </a:rPr>
              <a:t>[Oldindan ishlov: resize 640x640, FP16 normalizatsiya, VPI/CUDA] --&gt;</a:t>
            </a:r>
          </a:p>
          <a:p>
            <a:r>
              <a:rPr sz="1000">
                <a:solidFill>
                  <a:srgbClr val="E2E8F0"/>
                </a:solidFill>
                <a:latin typeface="Consolas"/>
              </a:rPr>
              <a:t>[TensorRT engine: YOLOv8s INT8, batch 4, 2 ta CUDA stream] --&gt;</a:t>
            </a:r>
          </a:p>
          <a:p>
            <a:r>
              <a:rPr sz="1000">
                <a:solidFill>
                  <a:srgbClr val="E2E8F0"/>
                </a:solidFill>
                <a:latin typeface="Consolas"/>
              </a:rPr>
              <a:t>[Keyingi ishlov: NMS (GPU), ByteTrack kuzatuv (CPU, 2 yadro)] --&gt;</a:t>
            </a:r>
          </a:p>
          <a:p>
            <a:r>
              <a:rPr sz="1000">
                <a:solidFill>
                  <a:srgbClr val="E2E8F0"/>
                </a:solidFill>
                <a:latin typeface="Consolas"/>
              </a:rPr>
              <a:t>[Biznes-mantiq: SHV qoidalari, hodisa generatori] --(MQTT/TLS)--&gt; [Markaziy server]</a:t>
            </a:r>
          </a:p>
          <a:p>
            <a:r>
              <a:rPr sz="1000">
                <a:solidFill>
                  <a:srgbClr val="E2E8F0"/>
                </a:solidFill>
                <a:latin typeface="Consolas"/>
              </a:rPr>
              <a:t>                                              \--(SQLite + klip)--&gt; [Mahalliy saqlash 256 GB NVMe]</a:t>
            </a:r>
          </a:p>
          <a:p>
            <a:r>
              <a:rPr sz="1000">
                <a:solidFill>
                  <a:srgbClr val="E2E8F0"/>
                </a:solidFill>
                <a:latin typeface="Consolas"/>
              </a:rPr>
              <a:t>[Monitoring: Prometheus eksporter (FPS, p95 latency, harorat, quvvat)]</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53" presetClass="entr" presetSubtype="16"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ppt_w</p:attrName>
                                        </p:attrNameLst>
                                      </p:cBhvr>
                                      <p:tavLst>
                                        <p:tav tm="0">
                                          <p:val>
                                            <p:strVal val="0"/>
                                          </p:val>
                                        </p:tav>
                                        <p:tav tm="100000">
                                          <p:val>
                                            <p:strVal val="#ppt_w"/>
                                          </p:val>
                                        </p:tav>
                                      </p:tavLst>
                                    </p:anim>
                                    <p:anim calcmode="lin" valueType="num">
                                      <p:cBhvr additive="base">
                                        <p:cTn id="12" dur="550" fill="hold"/>
                                        <p:tgtEl>
                                          <p:spTgt spid="10"/>
                                        </p:tgtEl>
                                        <p:attrNameLst>
                                          <p:attrName>ppt_h</p:attrName>
                                        </p:attrNameLst>
                                      </p:cBhvr>
                                      <p:tavLst>
                                        <p:tav tm="0">
                                          <p:val>
                                            <p:strVal val="0"/>
                                          </p:val>
                                        </p:tav>
                                        <p:tav tm="100000">
                                          <p:val>
                                            <p:strVal val="#ppt_h"/>
                                          </p:val>
                                        </p:tav>
                                      </p:tavLst>
                                    </p:anim>
                                  </p:childTnLst>
                                </p:cTn>
                              </p:par>
                            </p:childTnLst>
                          </p:cTn>
                        </p:par>
                        <p:par>
                          <p:cTn id="13" fill="hold">
                            <p:stCondLst>
                              <p:cond delay="200"/>
                            </p:stCondLst>
                            <p:childTnLst>
                              <p:par>
                                <p:cTn id="14" presetID="10"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childTnLst>
                                </p:cTn>
                              </p:par>
                            </p:childTnLst>
                          </p:cTn>
                        </p:par>
                        <p:par>
                          <p:cTn id="17" fill="hold">
                            <p:stCondLst>
                              <p:cond delay="200"/>
                            </p:stCondLst>
                            <p:childTnLst>
                              <p:par>
                                <p:cTn id="18" presetID="10" presetClass="entr" presetSubtype="0" fill="hold" grpId="0" nodeType="afterEffect">
                                  <p:stCondLst>
                                    <p:cond delay="0"/>
                                  </p:stCondLst>
                                  <p:childTnLst>
                                    <p:set>
                                      <p:cBhvr>
                                        <p:cTn id="19" dur="1" fill="hold">
                                          <p:stCondLst>
                                            <p:cond delay="0"/>
                                          </p:stCondLst>
                                        </p:cTn>
                                        <p:tgtEl>
                                          <p:spTgt spid="12"/>
                                        </p:tgtEl>
                                        <p:attrNameLst>
                                          <p:attrName>style.visibility</p:attrName>
                                        </p:attrNameLst>
                                      </p:cBhvr>
                                      <p:to>
                                        <p:strVal val="visible"/>
                                      </p:to>
                                    </p:set>
                                    <p:animEffect transition="in" filter="fade">
                                      <p:cBhvr>
                                        <p:cTn id="20" dur="550"/>
                                        <p:tgtEl>
                                          <p:spTgt spid="12"/>
                                        </p:tgtEl>
                                      </p:cBhvr>
                                    </p:animEffect>
                                  </p:childTnLst>
                                </p:cTn>
                              </p:par>
                            </p:childTnLst>
                          </p:cTn>
                        </p:par>
                        <p:par>
                          <p:cTn id="21" fill="hold">
                            <p:stCondLst>
                              <p:cond delay="200"/>
                            </p:stCondLst>
                            <p:childTnLst>
                              <p:par>
                                <p:cTn id="22" presetID="10" presetClass="entr" presetSubtype="0" fill="hold" grpId="0"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550"/>
                                        <p:tgtEl>
                                          <p:spTgt spid="13"/>
                                        </p:tgtEl>
                                      </p:cBhvr>
                                    </p:animEffect>
                                  </p:childTnLst>
                                </p:cTn>
                              </p:par>
                            </p:childTnLst>
                          </p:cTn>
                        </p:par>
                        <p:par>
                          <p:cTn id="25" fill="hold">
                            <p:stCondLst>
                              <p:cond delay="350"/>
                            </p:stCondLst>
                            <p:childTnLst>
                              <p:par>
                                <p:cTn id="26" presetID="22" presetClass="entr" presetSubtype="8" fill="hold" grpId="0" nodeType="after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wipe(left)">
                                      <p:cBhvr>
                                        <p:cTn id="29" dur="8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Lst>
  </p:timing>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5-qadam. Qarorni hujjatlashtirish va xavflarni ko'rsatish</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A1 · Sun'iy intellektga asoslangan kompyuter tizimlari arxitekturasini tahlil qilish va loyihalash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31</a:t>
            </a:r>
          </a:p>
        </p:txBody>
      </p:sp>
      <p:sp>
        <p:nvSpPr>
          <p:cNvPr id="10" name="Rounded Rectangle 9"/>
          <p:cNvSpPr/>
          <p:nvPr/>
        </p:nvSpPr>
        <p:spPr>
          <a:xfrm>
            <a:off x="550000" y="3515000"/>
            <a:ext cx="11100000" cy="52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3515000"/>
            <a:ext cx="70000" cy="52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80000" y="3585000"/>
            <a:ext cx="380000" cy="38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1</a:t>
            </a:r>
          </a:p>
        </p:txBody>
      </p:sp>
      <p:sp>
        <p:nvSpPr>
          <p:cNvPr id="13" name="TextBox 12"/>
          <p:cNvSpPr txBox="1"/>
          <p:nvPr/>
        </p:nvSpPr>
        <p:spPr>
          <a:xfrm>
            <a:off x="1380000" y="3555000"/>
            <a:ext cx="10150000" cy="440000"/>
          </a:xfrm>
          <a:prstGeom prst="rect">
            <a:avLst/>
          </a:prstGeom>
          <a:noFill/>
        </p:spPr>
        <p:txBody>
          <a:bodyPr wrap="square" anchor="ctr">
            <a:spAutoFit/>
          </a:bodyPr>
          <a:lstStyle/>
          <a:p>
            <a:r>
              <a:rPr sz="1600" b="0">
                <a:solidFill>
                  <a:srgbClr val="1B2430"/>
                </a:solidFill>
                <a:latin typeface="Calibri"/>
              </a:rPr>
              <a:t>Hisobotda tanlangan platforma, rad etilgan muqobillar sabablari va xavflar ro'yxati yoziladi.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1"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Lst>
  </p:timing>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Hisobot shakli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A1 · Sun'iy intellektga asoslangan kompyuter tizimlari arxitekturasini tahlil qilish va loyihalash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32</a:t>
            </a:r>
          </a:p>
        </p:txBody>
      </p:sp>
      <p:sp>
        <p:nvSpPr>
          <p:cNvPr id="10" name="Rounded Rectangle 9"/>
          <p:cNvSpPr/>
          <p:nvPr/>
        </p:nvSpPr>
        <p:spPr>
          <a:xfrm>
            <a:off x="550000" y="3515000"/>
            <a:ext cx="11100000" cy="52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3515000"/>
            <a:ext cx="70000" cy="52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80000" y="3585000"/>
            <a:ext cx="380000" cy="38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1</a:t>
            </a:r>
          </a:p>
        </p:txBody>
      </p:sp>
      <p:sp>
        <p:nvSpPr>
          <p:cNvPr id="13" name="TextBox 12"/>
          <p:cNvSpPr txBox="1"/>
          <p:nvPr/>
        </p:nvSpPr>
        <p:spPr>
          <a:xfrm>
            <a:off x="1380000" y="3555000"/>
            <a:ext cx="10150000" cy="440000"/>
          </a:xfrm>
          <a:prstGeom prst="rect">
            <a:avLst/>
          </a:prstGeom>
          <a:noFill/>
        </p:spPr>
        <p:txBody>
          <a:bodyPr wrap="square" anchor="ctr">
            <a:spAutoFit/>
          </a:bodyPr>
          <a:lstStyle/>
          <a:p>
            <a:r>
              <a:rPr sz="1600" b="0">
                <a:solidFill>
                  <a:srgbClr val="1B2430"/>
                </a:solidFill>
                <a:latin typeface="Calibri"/>
              </a:rPr>
              <a:t>Hisobot (PDF yoki Markdown, 4–6 bet) quyidagilarni o'z ichiga oladi: (1) talablar matritsasi; (2) yuklama.csv jadvali va skript natijasi ekran tasviri; (3) platformalar taqqoslash jadvali va zaxira_koef izohi; (4) strukturaviy sxema matni va interfeyslar…</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1"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Lst>
  </p:timing>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Baholash mezoni (jami 100 ball)</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A1 · Sun'iy intellektga asoslangan kompyuter tizimlari arxitekturasini tahlil qilish va loyihalash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33</a:t>
            </a:r>
          </a:p>
        </p:txBody>
      </p:sp>
      <p:sp>
        <p:nvSpPr>
          <p:cNvPr id="10" name="Rounded Rectangle 9"/>
          <p:cNvSpPr/>
          <p:nvPr/>
        </p:nvSpPr>
        <p:spPr>
          <a:xfrm>
            <a:off x="550000" y="3515000"/>
            <a:ext cx="11100000" cy="52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3515000"/>
            <a:ext cx="70000" cy="52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80000" y="3585000"/>
            <a:ext cx="380000" cy="38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1</a:t>
            </a:r>
          </a:p>
        </p:txBody>
      </p:sp>
      <p:sp>
        <p:nvSpPr>
          <p:cNvPr id="13" name="TextBox 12"/>
          <p:cNvSpPr txBox="1"/>
          <p:nvPr/>
        </p:nvSpPr>
        <p:spPr>
          <a:xfrm>
            <a:off x="1380000" y="3555000"/>
            <a:ext cx="10150000" cy="440000"/>
          </a:xfrm>
          <a:prstGeom prst="rect">
            <a:avLst/>
          </a:prstGeom>
          <a:noFill/>
        </p:spPr>
        <p:txBody>
          <a:bodyPr wrap="square" anchor="ctr">
            <a:spAutoFit/>
          </a:bodyPr>
          <a:lstStyle/>
          <a:p>
            <a:r>
              <a:rPr sz="1600" b="0">
                <a:solidFill>
                  <a:srgbClr val="1B2430"/>
                </a:solidFill>
                <a:latin typeface="Calibri"/>
              </a:rPr>
              <a:t>Qo'shimcha 10 ball: talaba ikkinchi ssenariy (masalan, 64 kamera, markaziy serverda ishlov) uchun ham tahlil o'tkazib, Edge va markazlashgan variantlarning TCO'sini 3 yilga solishtirsa.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1"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Lst>
  </p:timing>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Baholash mezoni (jami 100 ball)</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A1 · Sun'iy intellektga asoslangan kompyuter tizimlari arxitekturasini tahlil qilish va loyihalash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34</a:t>
            </a:r>
          </a:p>
        </p:txBody>
      </p:sp>
      <p:graphicFrame>
        <p:nvGraphicFramePr>
          <p:cNvPr id="10" name="Table 9"/>
          <p:cNvGraphicFramePr>
            <a:graphicFrameLocks noGrp="1"/>
          </p:cNvGraphicFramePr>
          <p:nvPr/>
        </p:nvGraphicFramePr>
        <p:xfrm>
          <a:off x="500000" y="1350000"/>
          <a:ext cx="11200000" cy="3640000"/>
        </p:xfrm>
        <a:graphic>
          <a:graphicData uri="http://schemas.openxmlformats.org/drawingml/2006/table">
            <a:tbl>
              <a:tblPr firstRow="1" bandRow="1">
                <a:tableStyleId>{5C22544A-7EE6-4342-B048-85BDC9FD1C3A}</a:tableStyleId>
              </a:tblPr>
              <a:tblGrid>
                <a:gridCol w="5600000"/>
                <a:gridCol w="5600000"/>
              </a:tblGrid>
              <a:tr h="520000">
                <a:tc>
                  <a:txBody>
                    <a:bodyPr/>
                    <a:lstStyle/>
                    <a:p>
                      <a:r>
                        <a:rPr sz="1000" b="1">
                          <a:solidFill>
                            <a:srgbClr val="FFFFFF"/>
                          </a:solidFill>
                          <a:latin typeface="Calibri"/>
                        </a:rPr>
                        <a:t>Mezon</a:t>
                      </a:r>
                    </a:p>
                  </a:txBody>
                  <a:tcPr>
                    <a:solidFill>
                      <a:srgbClr val="2D5C8F"/>
                    </a:solidFill>
                  </a:tcPr>
                </a:tc>
                <a:tc>
                  <a:txBody>
                    <a:bodyPr/>
                    <a:lstStyle/>
                    <a:p>
                      <a:r>
                        <a:rPr sz="1000" b="1">
                          <a:solidFill>
                            <a:srgbClr val="FFFFFF"/>
                          </a:solidFill>
                          <a:latin typeface="Calibri"/>
                        </a:rPr>
                        <a:t>Ball</a:t>
                      </a:r>
                    </a:p>
                  </a:txBody>
                  <a:tcPr>
                    <a:solidFill>
                      <a:srgbClr val="2D5C8F"/>
                    </a:solidFill>
                  </a:tcPr>
                </a:tc>
              </a:tr>
              <a:tr h="520000">
                <a:tc>
                  <a:txBody>
                    <a:bodyPr/>
                    <a:lstStyle/>
                    <a:p>
                      <a:r>
                        <a:rPr sz="1000" b="0">
                          <a:solidFill>
                            <a:srgbClr val="1B2430"/>
                          </a:solidFill>
                          <a:latin typeface="Calibri"/>
                        </a:rPr>
                        <a:t>Talablar matritsasi to'liq va og'irliklar asoslangan</a:t>
                      </a:r>
                    </a:p>
                  </a:txBody>
                  <a:tcPr>
                    <a:solidFill>
                      <a:srgbClr val="F1F4F8"/>
                    </a:solidFill>
                  </a:tcPr>
                </a:tc>
                <a:tc>
                  <a:txBody>
                    <a:bodyPr/>
                    <a:lstStyle/>
                    <a:p>
                      <a:r>
                        <a:rPr sz="1000" b="0">
                          <a:solidFill>
                            <a:srgbClr val="1B2430"/>
                          </a:solidFill>
                          <a:latin typeface="Calibri"/>
                        </a:rPr>
                        <a:t>15</a:t>
                      </a:r>
                    </a:p>
                  </a:txBody>
                  <a:tcPr>
                    <a:solidFill>
                      <a:srgbClr val="F1F4F8"/>
                    </a:solidFill>
                  </a:tcPr>
                </a:tc>
              </a:tr>
              <a:tr h="520000">
                <a:tc>
                  <a:txBody>
                    <a:bodyPr/>
                    <a:lstStyle/>
                    <a:p>
                      <a:r>
                        <a:rPr sz="1000" b="0">
                          <a:solidFill>
                            <a:srgbClr val="1B2430"/>
                          </a:solidFill>
                          <a:latin typeface="Calibri"/>
                        </a:rPr>
                        <a:t>Yuklama hisobi skripti ishlaydi, natijalar to'g'ri talqin qilingan</a:t>
                      </a:r>
                    </a:p>
                  </a:txBody>
                  <a:tcPr>
                    <a:solidFill>
                      <a:srgbClr val="FFFFFF"/>
                    </a:solidFill>
                  </a:tcPr>
                </a:tc>
                <a:tc>
                  <a:txBody>
                    <a:bodyPr/>
                    <a:lstStyle/>
                    <a:p>
                      <a:r>
                        <a:rPr sz="1000" b="0">
                          <a:solidFill>
                            <a:srgbClr val="1B2430"/>
                          </a:solidFill>
                          <a:latin typeface="Calibri"/>
                        </a:rPr>
                        <a:t>20</a:t>
                      </a:r>
                    </a:p>
                  </a:txBody>
                  <a:tcPr>
                    <a:solidFill>
                      <a:srgbClr val="FFFFFF"/>
                    </a:solidFill>
                  </a:tcPr>
                </a:tc>
              </a:tr>
              <a:tr h="520000">
                <a:tc>
                  <a:txBody>
                    <a:bodyPr/>
                    <a:lstStyle/>
                    <a:p>
                      <a:r>
                        <a:rPr sz="1000" b="0">
                          <a:solidFill>
                            <a:srgbClr val="1B2430"/>
                          </a:solidFill>
                          <a:latin typeface="Calibri"/>
                        </a:rPr>
                        <a:t>Kamida 3 platforma rasmiy tavsiflar bilan solishtirilgan, manbalar ko'rsatilgan</a:t>
                      </a:r>
                    </a:p>
                  </a:txBody>
                  <a:tcPr>
                    <a:solidFill>
                      <a:srgbClr val="F1F4F8"/>
                    </a:solidFill>
                  </a:tcPr>
                </a:tc>
                <a:tc>
                  <a:txBody>
                    <a:bodyPr/>
                    <a:lstStyle/>
                    <a:p>
                      <a:r>
                        <a:rPr sz="1000" b="0">
                          <a:solidFill>
                            <a:srgbClr val="1B2430"/>
                          </a:solidFill>
                          <a:latin typeface="Calibri"/>
                        </a:rPr>
                        <a:t>20</a:t>
                      </a:r>
                    </a:p>
                  </a:txBody>
                  <a:tcPr>
                    <a:solidFill>
                      <a:srgbClr val="F1F4F8"/>
                    </a:solidFill>
                  </a:tcPr>
                </a:tc>
              </a:tr>
              <a:tr h="520000">
                <a:tc>
                  <a:txBody>
                    <a:bodyPr/>
                    <a:lstStyle/>
                    <a:p>
                      <a:r>
                        <a:rPr sz="1000" b="0">
                          <a:solidFill>
                            <a:srgbClr val="1B2430"/>
                          </a:solidFill>
                          <a:latin typeface="Calibri"/>
                        </a:rPr>
                        <a:t>Strukturaviy sxema barcha bloklar va interfeyslarni qamrab olgan, kechikish byudjeti taqsimlangan</a:t>
                      </a:r>
                    </a:p>
                  </a:txBody>
                  <a:tcPr>
                    <a:solidFill>
                      <a:srgbClr val="FFFFFF"/>
                    </a:solidFill>
                  </a:tcPr>
                </a:tc>
                <a:tc>
                  <a:txBody>
                    <a:bodyPr/>
                    <a:lstStyle/>
                    <a:p>
                      <a:r>
                        <a:rPr sz="1000" b="0">
                          <a:solidFill>
                            <a:srgbClr val="1B2430"/>
                          </a:solidFill>
                          <a:latin typeface="Calibri"/>
                        </a:rPr>
                        <a:t>20</a:t>
                      </a:r>
                    </a:p>
                  </a:txBody>
                  <a:tcPr>
                    <a:solidFill>
                      <a:srgbClr val="FFFFFF"/>
                    </a:solidFill>
                  </a:tcPr>
                </a:tc>
              </a:tr>
              <a:tr h="520000">
                <a:tc>
                  <a:txBody>
                    <a:bodyPr/>
                    <a:lstStyle/>
                    <a:p>
                      <a:r>
                        <a:rPr sz="1000" b="0">
                          <a:solidFill>
                            <a:srgbClr val="1B2430"/>
                          </a:solidFill>
                          <a:latin typeface="Calibri"/>
                        </a:rPr>
                        <a:t>Co-design tamoyillari (format, operator qamrovi, xotira, energiya) qarorda aks etgan</a:t>
                      </a:r>
                    </a:p>
                  </a:txBody>
                  <a:tcPr>
                    <a:solidFill>
                      <a:srgbClr val="F1F4F8"/>
                    </a:solidFill>
                  </a:tcPr>
                </a:tc>
                <a:tc>
                  <a:txBody>
                    <a:bodyPr/>
                    <a:lstStyle/>
                    <a:p>
                      <a:r>
                        <a:rPr sz="1000" b="0">
                          <a:solidFill>
                            <a:srgbClr val="1B2430"/>
                          </a:solidFill>
                          <a:latin typeface="Calibri"/>
                        </a:rPr>
                        <a:t>15</a:t>
                      </a:r>
                    </a:p>
                  </a:txBody>
                  <a:tcPr>
                    <a:solidFill>
                      <a:srgbClr val="F1F4F8"/>
                    </a:solidFill>
                  </a:tcPr>
                </a:tc>
              </a:tr>
              <a:tr h="520000">
                <a:tc>
                  <a:txBody>
                    <a:bodyPr/>
                    <a:lstStyle/>
                    <a:p>
                      <a:r>
                        <a:rPr sz="1000" b="0">
                          <a:solidFill>
                            <a:srgbClr val="1B2430"/>
                          </a:solidFill>
                          <a:latin typeface="Calibri"/>
                        </a:rPr>
                        <a:t>Hisobot rasmiylashtirilishi va himoya paytidagi javoblar</a:t>
                      </a:r>
                    </a:p>
                  </a:txBody>
                  <a:tcPr>
                    <a:solidFill>
                      <a:srgbClr val="FFFFFF"/>
                    </a:solidFill>
                  </a:tcPr>
                </a:tc>
                <a:tc>
                  <a:txBody>
                    <a:bodyPr/>
                    <a:lstStyle/>
                    <a:p>
                      <a:r>
                        <a:rPr sz="1000" b="0">
                          <a:solidFill>
                            <a:srgbClr val="1B2430"/>
                          </a:solidFill>
                          <a:latin typeface="Calibri"/>
                        </a:rPr>
                        <a:t>10</a:t>
                      </a:r>
                    </a:p>
                  </a:txBody>
                  <a:tcPr>
                    <a:solidFill>
                      <a:srgbClr val="FFFFFF"/>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22" presetClass="entr" presetSubtype="8"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wipe(left)">
                                      <p:cBhvr>
                                        <p:cTn id="11"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7784f250cc8e5ea5.jpg"/>
          <p:cNvPicPr>
            <a:picLocks noChangeAspect="1"/>
          </p:cNvPicPr>
          <p:nvPr/>
        </p:nvPicPr>
        <p:blipFill>
          <a:blip r:embed="rId2"/>
          <a:srcRect l="2762" r="2762"/>
          <a:stretch>
            <a:fillRect/>
          </a:stretch>
        </p:blipFill>
        <p:spPr>
          <a:xfrm>
            <a:off x="6300000" y="0"/>
            <a:ext cx="5892000" cy="6858000"/>
          </a:xfrm>
          <a:prstGeom prst="rect">
            <a:avLst/>
          </a:prstGeom>
        </p:spPr>
      </p:pic>
      <p:sp>
        <p:nvSpPr>
          <p:cNvPr id="4" name="Rectangle 3"/>
          <p:cNvSpPr/>
          <p:nvPr/>
        </p:nvSpPr>
        <p:spPr>
          <a:xfrm>
            <a:off x="6300000" y="6558000"/>
            <a:ext cx="5892000" cy="300000"/>
          </a:xfrm>
          <a:prstGeom prst="rect">
            <a:avLst/>
          </a:prstGeom>
          <a:solidFill>
            <a:srgbClr val="0B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80000" y="6558000"/>
            <a:ext cx="5732000" cy="300000"/>
          </a:xfrm>
          <a:prstGeom prst="rect">
            <a:avLst/>
          </a:prstGeom>
          <a:noFill/>
        </p:spPr>
        <p:txBody>
          <a:bodyPr wrap="square" anchor="ctr" lIns="50800" rIns="50800">
            <a:spAutoFit/>
          </a:bodyPr>
          <a:lstStyle/>
          <a:p>
            <a:pPr algn="l"/>
            <a:r>
              <a:rPr sz="900" b="0">
                <a:solidFill>
                  <a:srgbClr val="D7E3F4"/>
                </a:solidFill>
                <a:latin typeface="Calibri"/>
              </a:rPr>
              <a:t>Rasm: File:Tektronix TPS 2014B cropped.jpg: * File:Tektronix TPS 2014B.jpg: Marcin Łuk · Wikimedia Commons · CC BY-SA 3.0</a:t>
            </a:r>
          </a:p>
        </p:txBody>
      </p:sp>
      <p:sp>
        <p:nvSpPr>
          <p:cNvPr id="6" name="Rectangle 5"/>
          <p:cNvSpPr/>
          <p:nvPr/>
        </p:nvSpPr>
        <p:spPr>
          <a:xfrm>
            <a:off x="6240000" y="0"/>
            <a:ext cx="60000" cy="6858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00000" y="900000"/>
            <a:ext cx="2300000" cy="23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0000" y="900000"/>
            <a:ext cx="2300000" cy="2300000"/>
          </a:xfrm>
          <a:prstGeom prst="rect">
            <a:avLst/>
          </a:prstGeom>
          <a:noFill/>
        </p:spPr>
        <p:txBody>
          <a:bodyPr wrap="square" anchor="ctr" lIns="50800" rIns="50800">
            <a:spAutoFit/>
          </a:bodyPr>
          <a:lstStyle/>
          <a:p>
            <a:pPr algn="ctr"/>
            <a:r>
              <a:rPr sz="6400" b="1">
                <a:solidFill>
                  <a:srgbClr val="FFFFFF"/>
                </a:solidFill>
                <a:latin typeface="Calibri"/>
              </a:rPr>
              <a:t>05</a:t>
            </a:r>
          </a:p>
        </p:txBody>
      </p:sp>
      <p:sp>
        <p:nvSpPr>
          <p:cNvPr id="9" name="TextBox 8"/>
          <p:cNvSpPr txBox="1"/>
          <p:nvPr/>
        </p:nvSpPr>
        <p:spPr>
          <a:xfrm>
            <a:off x="800000" y="3500000"/>
            <a:ext cx="5200000" cy="1600000"/>
          </a:xfrm>
          <a:prstGeom prst="rect">
            <a:avLst/>
          </a:prstGeom>
          <a:noFill/>
        </p:spPr>
        <p:txBody>
          <a:bodyPr wrap="square" anchor="t" lIns="50800" rIns="50800">
            <a:spAutoFit/>
          </a:bodyPr>
          <a:lstStyle/>
          <a:p>
            <a:pPr algn="l"/>
            <a:r>
              <a:rPr sz="3000" b="1">
                <a:solidFill>
                  <a:srgbClr val="FFFFFF"/>
                </a:solidFill>
                <a:latin typeface="Calibri"/>
              </a:rPr>
              <a:t>Natijalarni tahlil qilish</a:t>
            </a:r>
          </a:p>
        </p:txBody>
      </p:sp>
      <p:sp>
        <p:nvSpPr>
          <p:cNvPr id="10" name="Rectangle 9"/>
          <p:cNvSpPr/>
          <p:nvPr/>
        </p:nvSpPr>
        <p:spPr>
          <a:xfrm>
            <a:off x="850000" y="52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4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wipe(left)">
                                      <p:cBhvr>
                                        <p:cTn id="11" dur="800"/>
                                        <p:tgtEl>
                                          <p:spTgt spid="6"/>
                                        </p:tgtEl>
                                      </p:cBhvr>
                                    </p:animEffect>
                                  </p:childTnLst>
                                </p:cTn>
                              </p:par>
                            </p:childTnLst>
                          </p:cTn>
                        </p:par>
                        <p:par>
                          <p:cTn id="12" fill="hold">
                            <p:stCondLst>
                              <p:cond delay="0"/>
                            </p:stCondLst>
                            <p:childTnLst>
                              <p:par>
                                <p:cTn id="13" presetID="10" presetClass="entr" presetSubtype="0" fill="hold" grpId="0" nodeType="after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50"/>
                                        <p:tgtEl>
                                          <p:spTgt spid="4"/>
                                        </p:tgtEl>
                                      </p:cBhvr>
                                    </p:animEffect>
                                  </p:childTnLst>
                                </p:cTn>
                              </p:par>
                            </p:childTnLst>
                          </p:cTn>
                        </p:par>
                        <p:par>
                          <p:cTn id="16" fill="hold">
                            <p:stCondLst>
                              <p:cond delay="0"/>
                            </p:stCondLst>
                            <p:childTnLst>
                              <p:par>
                                <p:cTn id="17" presetID="10" presetClass="entr" presetSubtype="0" fill="hold" grpId="0" nodeType="after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50"/>
                                        <p:tgtEl>
                                          <p:spTgt spid="5"/>
                                        </p:tgtEl>
                                      </p:cBhvr>
                                    </p:animEffect>
                                  </p:childTnLst>
                                </p:cTn>
                              </p:par>
                            </p:childTnLst>
                          </p:cTn>
                        </p:par>
                        <p:par>
                          <p:cTn id="20" fill="hold">
                            <p:stCondLst>
                              <p:cond delay="200"/>
                            </p:stCondLst>
                            <p:childTnLst>
                              <p:par>
                                <p:cTn id="21" presetID="53" presetClass="entr" presetSubtype="16" fill="hold" grpId="0" nodeType="after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550"/>
                                        <p:tgtEl>
                                          <p:spTgt spid="7"/>
                                        </p:tgtEl>
                                      </p:cBhvr>
                                    </p:animEffect>
                                    <p:anim calcmode="lin" valueType="num">
                                      <p:cBhvr additive="base">
                                        <p:cTn id="24" dur="550" fill="hold"/>
                                        <p:tgtEl>
                                          <p:spTgt spid="7"/>
                                        </p:tgtEl>
                                        <p:attrNameLst>
                                          <p:attrName>ppt_w</p:attrName>
                                        </p:attrNameLst>
                                      </p:cBhvr>
                                      <p:tavLst>
                                        <p:tav tm="0">
                                          <p:val>
                                            <p:strVal val="0"/>
                                          </p:val>
                                        </p:tav>
                                        <p:tav tm="100000">
                                          <p:val>
                                            <p:strVal val="#ppt_w"/>
                                          </p:val>
                                        </p:tav>
                                      </p:tavLst>
                                    </p:anim>
                                    <p:anim calcmode="lin" valueType="num">
                                      <p:cBhvr additive="base">
                                        <p:cTn id="25" dur="550" fill="hold"/>
                                        <p:tgtEl>
                                          <p:spTgt spid="7"/>
                                        </p:tgtEl>
                                        <p:attrNameLst>
                                          <p:attrName>ppt_h</p:attrName>
                                        </p:attrNameLst>
                                      </p:cBhvr>
                                      <p:tavLst>
                                        <p:tav tm="0">
                                          <p:val>
                                            <p:strVal val="0"/>
                                          </p:val>
                                        </p:tav>
                                        <p:tav tm="100000">
                                          <p:val>
                                            <p:strVal val="#ppt_h"/>
                                          </p:val>
                                        </p:tav>
                                      </p:tavLst>
                                    </p:anim>
                                  </p:childTnLst>
                                </p:cTn>
                              </p:par>
                            </p:childTnLst>
                          </p:cTn>
                        </p:par>
                        <p:par>
                          <p:cTn id="26" fill="hold">
                            <p:stCondLst>
                              <p:cond delay="300"/>
                            </p:stCondLst>
                            <p:childTnLst>
                              <p:par>
                                <p:cTn id="27" presetID="53" presetClass="entr" presetSubtype="16" fill="hold" grpId="0" nodeType="after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550"/>
                                        <p:tgtEl>
                                          <p:spTgt spid="8"/>
                                        </p:tgtEl>
                                      </p:cBhvr>
                                    </p:animEffect>
                                    <p:anim calcmode="lin" valueType="num">
                                      <p:cBhvr additive="base">
                                        <p:cTn id="30" dur="550" fill="hold"/>
                                        <p:tgtEl>
                                          <p:spTgt spid="8"/>
                                        </p:tgtEl>
                                        <p:attrNameLst>
                                          <p:attrName>ppt_w</p:attrName>
                                        </p:attrNameLst>
                                      </p:cBhvr>
                                      <p:tavLst>
                                        <p:tav tm="0">
                                          <p:val>
                                            <p:strVal val="0"/>
                                          </p:val>
                                        </p:tav>
                                        <p:tav tm="100000">
                                          <p:val>
                                            <p:strVal val="#ppt_w"/>
                                          </p:val>
                                        </p:tav>
                                      </p:tavLst>
                                    </p:anim>
                                    <p:anim calcmode="lin" valueType="num">
                                      <p:cBhvr additive="base">
                                        <p:cTn id="31" dur="550" fill="hold"/>
                                        <p:tgtEl>
                                          <p:spTgt spid="8"/>
                                        </p:tgtEl>
                                        <p:attrNameLst>
                                          <p:attrName>ppt_h</p:attrName>
                                        </p:attrNameLst>
                                      </p:cBhvr>
                                      <p:tavLst>
                                        <p:tav tm="0">
                                          <p:val>
                                            <p:strVal val="0"/>
                                          </p:val>
                                        </p:tav>
                                        <p:tav tm="100000">
                                          <p:val>
                                            <p:strVal val="#ppt_h"/>
                                          </p:val>
                                        </p:tav>
                                      </p:tavLst>
                                    </p:anim>
                                  </p:childTnLst>
                                </p:cTn>
                              </p:par>
                            </p:childTnLst>
                          </p:cTn>
                        </p:par>
                        <p:par>
                          <p:cTn id="32" fill="hold">
                            <p:stCondLst>
                              <p:cond delay="450"/>
                            </p:stCondLst>
                            <p:childTnLst>
                              <p:par>
                                <p:cTn id="33" presetID="2" presetClass="entr" presetSubtype="8" fill="hold" grpId="0" nodeType="afterEffect">
                                  <p:stCondLst>
                                    <p:cond delay="0"/>
                                  </p:stCondLst>
                                  <p:childTnLst>
                                    <p:set>
                                      <p:cBhvr>
                                        <p:cTn id="34" dur="1" fill="hold">
                                          <p:stCondLst>
                                            <p:cond delay="0"/>
                                          </p:stCondLst>
                                        </p:cTn>
                                        <p:tgtEl>
                                          <p:spTgt spid="9"/>
                                        </p:tgtEl>
                                        <p:attrNameLst>
                                          <p:attrName>style.visibility</p:attrName>
                                        </p:attrNameLst>
                                      </p:cBhvr>
                                      <p:to>
                                        <p:strVal val="visible"/>
                                      </p:to>
                                    </p:set>
                                    <p:anim calcmode="lin" valueType="num">
                                      <p:cBhvr additive="base">
                                        <p:cTn id="36" dur="550" fill="hold"/>
                                        <p:tgtEl>
                                          <p:spTgt spid="9"/>
                                        </p:tgtEl>
                                        <p:attrNameLst>
                                          <p:attrName>ppt_x</p:attrName>
                                        </p:attrNameLst>
                                      </p:cBhvr>
                                      <p:tavLst>
                                        <p:tav tm="0">
                                          <p:val>
                                            <p:strVal val="0-#ppt_w/2"/>
                                          </p:val>
                                        </p:tav>
                                        <p:tav tm="100000">
                                          <p:val>
                                            <p:strVal val="#ppt_x"/>
                                          </p:val>
                                        </p:tav>
                                      </p:tavLst>
                                    </p:anim>
                                    <p:anim calcmode="lin" valueType="num">
                                      <p:cBhvr additive="base">
                                        <p:cTn id="37" dur="550" fill="hold"/>
                                        <p:tgtEl>
                                          <p:spTgt spid="9"/>
                                        </p:tgtEl>
                                        <p:attrNameLst>
                                          <p:attrName>ppt_y</p:attrName>
                                        </p:attrNameLst>
                                      </p:cBhvr>
                                      <p:tavLst>
                                        <p:tav tm="0">
                                          <p:val>
                                            <p:strVal val="#ppt_y"/>
                                          </p:val>
                                        </p:tav>
                                        <p:tav tm="100000">
                                          <p:val>
                                            <p:strVal val="#ppt_y"/>
                                          </p:val>
                                        </p:tav>
                                      </p:tavLst>
                                    </p:anim>
                                  </p:childTnLst>
                                </p:cTn>
                              </p:par>
                            </p:childTnLst>
                          </p:cTn>
                        </p:par>
                        <p:par>
                          <p:cTn id="38" fill="hold">
                            <p:stCondLst>
                              <p:cond delay="550"/>
                            </p:stCondLst>
                            <p:childTnLst>
                              <p:par>
                                <p:cTn id="39" presetID="22" presetClass="entr" presetSubtype="8" fill="hold" grpId="0" nodeType="after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wipe(left)">
                                      <p:cBhvr>
                                        <p:cTn id="42"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4" grpId="0" animBg="1"/>
      <p:bldP spid="5" grpId="0" animBg="1"/>
      <p:bldP spid="7" grpId="0" animBg="1"/>
      <p:bldP spid="8" grpId="0" animBg="1"/>
      <p:bldP spid="9" grpId="0" animBg="1"/>
      <p:bldP spid="10" grpId="0" animBg="1"/>
    </p:bldLst>
  </p:timing>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Natijalarni tahlil qilish</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A1 · Sun'iy intellektga asoslangan kompyuter tizimlari arxitekturasini tahlil qilish va loyihalash</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36</a:t>
            </a:r>
          </a:p>
        </p:txBody>
      </p:sp>
      <p:sp>
        <p:nvSpPr>
          <p:cNvPr id="9" name="Rounded Rectangle 8"/>
          <p:cNvSpPr/>
          <p:nvPr/>
        </p:nvSpPr>
        <p:spPr>
          <a:xfrm>
            <a:off x="550000" y="1761824"/>
            <a:ext cx="11100000" cy="1268784"/>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1761824"/>
            <a:ext cx="70000" cy="1268784"/>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80000" y="2186216"/>
            <a:ext cx="420000" cy="42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1</a:t>
            </a:r>
          </a:p>
        </p:txBody>
      </p:sp>
      <p:sp>
        <p:nvSpPr>
          <p:cNvPr id="12" name="TextBox 11"/>
          <p:cNvSpPr txBox="1"/>
          <p:nvPr/>
        </p:nvSpPr>
        <p:spPr>
          <a:xfrm>
            <a:off x="1380000" y="1801824"/>
            <a:ext cx="10150000" cy="1188784"/>
          </a:xfrm>
          <a:prstGeom prst="rect">
            <a:avLst/>
          </a:prstGeom>
          <a:noFill/>
        </p:spPr>
        <p:txBody>
          <a:bodyPr wrap="square" anchor="ctr">
            <a:spAutoFit/>
          </a:bodyPr>
          <a:lstStyle/>
          <a:p>
            <a:r>
              <a:rPr sz="1500" b="1">
                <a:solidFill>
                  <a:srgbClr val="1F3A5F"/>
                </a:solidFill>
                <a:latin typeface="Calibri"/>
              </a:rPr>
              <a:t>Mashg'ulot natijalari ikki darajada talqin qilinadi.</a:t>
            </a:r>
          </a:p>
          <a:p>
            <a:pPr>
              <a:spcBef>
                <a:spcPts val="400"/>
              </a:spcBef>
            </a:pPr>
            <a:r>
              <a:rPr sz="1400">
                <a:solidFill>
                  <a:srgbClr val="334055"/>
                </a:solidFill>
                <a:latin typeface="Calibri"/>
              </a:rPr>
              <a:t>Birinchi daraja — miqdoriy: zaxira_koef va energiya ko'rsatkichlari platformalarni aniq tartiblaydi. Ko'rinib turibdiki, Jetson Orin NX talabni taxminan 5 baravar zaxira bilan qoplaydi, bu zaxira pik yuklama (barcha kameralarda bir vaqtda harakat), kuzatuv algoritmi va kelgusida model yangilanishi uchun kerak.</a:t>
            </a:r>
          </a:p>
        </p:txBody>
      </p:sp>
      <p:sp>
        <p:nvSpPr>
          <p:cNvPr id="13" name="Rounded Rectangle 12"/>
          <p:cNvSpPr/>
          <p:nvPr/>
        </p:nvSpPr>
        <p:spPr>
          <a:xfrm>
            <a:off x="550000" y="3140608"/>
            <a:ext cx="11100000" cy="1268784"/>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3140608"/>
            <a:ext cx="70000" cy="1268784"/>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780000" y="3565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2</a:t>
            </a:r>
          </a:p>
        </p:txBody>
      </p:sp>
      <p:sp>
        <p:nvSpPr>
          <p:cNvPr id="16" name="TextBox 15"/>
          <p:cNvSpPr txBox="1"/>
          <p:nvPr/>
        </p:nvSpPr>
        <p:spPr>
          <a:xfrm>
            <a:off x="1380000" y="3180608"/>
            <a:ext cx="10150000" cy="1188784"/>
          </a:xfrm>
          <a:prstGeom prst="rect">
            <a:avLst/>
          </a:prstGeom>
          <a:noFill/>
        </p:spPr>
        <p:txBody>
          <a:bodyPr wrap="square" anchor="ctr">
            <a:spAutoFit/>
          </a:bodyPr>
          <a:lstStyle/>
          <a:p>
            <a:r>
              <a:rPr sz="1500" b="1">
                <a:solidFill>
                  <a:srgbClr val="1F3A5F"/>
                </a:solidFill>
                <a:latin typeface="Calibri"/>
              </a:rPr>
              <a:t>Ikkinchi daraja — sifatiy cheklovlar.</a:t>
            </a:r>
          </a:p>
          <a:p>
            <a:pPr>
              <a:spcBef>
                <a:spcPts val="400"/>
              </a:spcBef>
            </a:pPr>
            <a:r>
              <a:rPr sz="1400">
                <a:solidFill>
                  <a:srgbClr val="334055"/>
                </a:solidFill>
                <a:latin typeface="Calibri"/>
              </a:rPr>
              <a:t>Nazariy hisob bir qancha soddalashtirishlarga asoslanadi: INT8 TOPS va FP32 FLOP bir-biriga teng deb olindi, samaradorlik koeffitsiyenti 45–50 % deb taxmin qilindi, dekodlash va oldindan ishlov berish yuklamasi batafsil modellashtirilmadi. Real tizimda bu bahoni faqat prototip o'lchovlari tasdiqlaydi yoki rad etadi.</a:t>
            </a:r>
          </a:p>
        </p:txBody>
      </p:sp>
      <p:sp>
        <p:nvSpPr>
          <p:cNvPr id="17" name="Rounded Rectangle 16"/>
          <p:cNvSpPr/>
          <p:nvPr/>
        </p:nvSpPr>
        <p:spPr>
          <a:xfrm>
            <a:off x="550000" y="4519392"/>
            <a:ext cx="11100000" cy="1268784"/>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0000" y="4519392"/>
            <a:ext cx="70000" cy="1268784"/>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80000" y="4943784"/>
            <a:ext cx="420000" cy="42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3</a:t>
            </a:r>
          </a:p>
        </p:txBody>
      </p:sp>
      <p:sp>
        <p:nvSpPr>
          <p:cNvPr id="20" name="TextBox 19"/>
          <p:cNvSpPr txBox="1"/>
          <p:nvPr/>
        </p:nvSpPr>
        <p:spPr>
          <a:xfrm>
            <a:off x="1380000" y="4559392"/>
            <a:ext cx="10150000" cy="1188784"/>
          </a:xfrm>
          <a:prstGeom prst="rect">
            <a:avLst/>
          </a:prstGeom>
          <a:noFill/>
        </p:spPr>
        <p:txBody>
          <a:bodyPr wrap="square" anchor="ctr">
            <a:spAutoFit/>
          </a:bodyPr>
          <a:lstStyle/>
          <a:p>
            <a:r>
              <a:rPr sz="1400" b="0">
                <a:solidFill>
                  <a:srgbClr val="1B2430"/>
                </a:solidFill>
                <a:latin typeface="Calibri"/>
              </a:rPr>
              <a:t>Muqobil yondashuvlar: (1) markazlashgan arxitektura — barcha kameralar oqimini serverdagi bitta GPU'ga yuborish; afzalligi — boshqaruv osonligi, kamchiligi — tarmoq yuklamasi (64 Mbit/s uzluksiz), yagona nosozlik nuqtasi, sex va server xonasi orasidagi…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9"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50"/>
                                        <p:tgtEl>
                                          <p:spTgt spid="17"/>
                                        </p:tgtEl>
                                      </p:cBhvr>
                                    </p:animEffect>
                                    <p:anim calcmode="lin" valueType="num">
                                      <p:cBhvr additive="base">
                                        <p:cTn id="59" dur="550" fill="hold"/>
                                        <p:tgtEl>
                                          <p:spTgt spid="17"/>
                                        </p:tgtEl>
                                        <p:attrNameLst>
                                          <p:attrName>ppt_x</p:attrName>
                                        </p:attrNameLst>
                                      </p:cBhvr>
                                      <p:tavLst>
                                        <p:tav tm="0">
                                          <p:val>
                                            <p:strVal val="#ppt_x"/>
                                          </p:val>
                                        </p:tav>
                                        <p:tav tm="100000">
                                          <p:val>
                                            <p:strVal val="#ppt_x"/>
                                          </p:val>
                                        </p:tav>
                                      </p:tavLst>
                                    </p:anim>
                                    <p:anim calcmode="lin" valueType="num">
                                      <p:cBhvr additive="base">
                                        <p:cTn id="60" dur="550" fill="hold"/>
                                        <p:tgtEl>
                                          <p:spTgt spid="17"/>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50"/>
                                        <p:tgtEl>
                                          <p:spTgt spid="18"/>
                                        </p:tgtEl>
                                      </p:cBhvr>
                                    </p:animEffect>
                                    <p:anim calcmode="lin" valueType="num">
                                      <p:cBhvr additive="base">
                                        <p:cTn id="65" dur="550" fill="hold"/>
                                        <p:tgtEl>
                                          <p:spTgt spid="18"/>
                                        </p:tgtEl>
                                        <p:attrNameLst>
                                          <p:attrName>ppt_x</p:attrName>
                                        </p:attrNameLst>
                                      </p:cBhvr>
                                      <p:tavLst>
                                        <p:tav tm="0">
                                          <p:val>
                                            <p:strVal val="#ppt_x"/>
                                          </p:val>
                                        </p:tav>
                                        <p:tav tm="100000">
                                          <p:val>
                                            <p:strVal val="#ppt_x"/>
                                          </p:val>
                                        </p:tav>
                                      </p:tavLst>
                                    </p:anim>
                                    <p:anim calcmode="lin" valueType="num">
                                      <p:cBhvr additive="base">
                                        <p:cTn id="66" dur="550" fill="hold"/>
                                        <p:tgtEl>
                                          <p:spTgt spid="18"/>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anim calcmode="lin" valueType="num">
                                      <p:cBhvr additive="base">
                                        <p:cTn id="71" dur="550" fill="hold"/>
                                        <p:tgtEl>
                                          <p:spTgt spid="19"/>
                                        </p:tgtEl>
                                        <p:attrNameLst>
                                          <p:attrName>ppt_w</p:attrName>
                                        </p:attrNameLst>
                                      </p:cBhvr>
                                      <p:tavLst>
                                        <p:tav tm="0">
                                          <p:val>
                                            <p:strVal val="0"/>
                                          </p:val>
                                        </p:tav>
                                        <p:tav tm="100000">
                                          <p:val>
                                            <p:strVal val="#ppt_w"/>
                                          </p:val>
                                        </p:tav>
                                      </p:tavLst>
                                    </p:anim>
                                    <p:anim calcmode="lin" valueType="num">
                                      <p:cBhvr additive="base">
                                        <p:cTn id="72" dur="550" fill="hold"/>
                                        <p:tgtEl>
                                          <p:spTgt spid="19"/>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50"/>
                                        <p:tgtEl>
                                          <p:spTgt spid="20"/>
                                        </p:tgtEl>
                                      </p:cBhvr>
                                    </p:animEffect>
                                    <p:anim calcmode="lin" valueType="num">
                                      <p:cBhvr additive="base">
                                        <p:cTn id="77" dur="550" fill="hold"/>
                                        <p:tgtEl>
                                          <p:spTgt spid="20"/>
                                        </p:tgtEl>
                                        <p:attrNameLst>
                                          <p:attrName>ppt_x</p:attrName>
                                        </p:attrNameLst>
                                      </p:cBhvr>
                                      <p:tavLst>
                                        <p:tav tm="0">
                                          <p:val>
                                            <p:strVal val="#ppt_x"/>
                                          </p:val>
                                        </p:tav>
                                        <p:tav tm="100000">
                                          <p:val>
                                            <p:strVal val="#ppt_x"/>
                                          </p:val>
                                        </p:tav>
                                      </p:tavLst>
                                    </p:anim>
                                    <p:anim calcmode="lin" valueType="num">
                                      <p:cBhvr additive="base">
                                        <p:cTn id="78" dur="550" fill="hold"/>
                                        <p:tgtEl>
                                          <p:spTgt spid="20"/>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Lst>
  </p:timing>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94cd127ff92307cd.jpg"/>
          <p:cNvPicPr>
            <a:picLocks noChangeAspect="1"/>
          </p:cNvPicPr>
          <p:nvPr/>
        </p:nvPicPr>
        <p:blipFill>
          <a:blip r:embed="rId2"/>
          <a:srcRect l="17782" r="17782"/>
          <a:stretch>
            <a:fillRect/>
          </a:stretch>
        </p:blipFill>
        <p:spPr>
          <a:xfrm>
            <a:off x="6300000" y="0"/>
            <a:ext cx="5892000" cy="6858000"/>
          </a:xfrm>
          <a:prstGeom prst="rect">
            <a:avLst/>
          </a:prstGeom>
        </p:spPr>
      </p:pic>
      <p:sp>
        <p:nvSpPr>
          <p:cNvPr id="4" name="Rectangle 3"/>
          <p:cNvSpPr/>
          <p:nvPr/>
        </p:nvSpPr>
        <p:spPr>
          <a:xfrm>
            <a:off x="6300000" y="6558000"/>
            <a:ext cx="5892000" cy="300000"/>
          </a:xfrm>
          <a:prstGeom prst="rect">
            <a:avLst/>
          </a:prstGeom>
          <a:solidFill>
            <a:srgbClr val="0B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80000" y="6558000"/>
            <a:ext cx="5732000" cy="300000"/>
          </a:xfrm>
          <a:prstGeom prst="rect">
            <a:avLst/>
          </a:prstGeom>
          <a:noFill/>
        </p:spPr>
        <p:txBody>
          <a:bodyPr wrap="square" anchor="ctr" lIns="50800" rIns="50800">
            <a:spAutoFit/>
          </a:bodyPr>
          <a:lstStyle/>
          <a:p>
            <a:pPr algn="l"/>
            <a:r>
              <a:rPr sz="900" b="0">
                <a:solidFill>
                  <a:srgbClr val="D7E3F4"/>
                </a:solidFill>
                <a:latin typeface="Calibri"/>
              </a:rPr>
              <a:t>Rasm: Christopher Bowns · Wikimedia Commons · CC BY-SA 2.0</a:t>
            </a:r>
          </a:p>
        </p:txBody>
      </p:sp>
      <p:sp>
        <p:nvSpPr>
          <p:cNvPr id="6" name="Rectangle 5"/>
          <p:cNvSpPr/>
          <p:nvPr/>
        </p:nvSpPr>
        <p:spPr>
          <a:xfrm>
            <a:off x="6240000" y="0"/>
            <a:ext cx="60000" cy="6858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00000" y="900000"/>
            <a:ext cx="2300000" cy="23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0000" y="900000"/>
            <a:ext cx="2300000" cy="2300000"/>
          </a:xfrm>
          <a:prstGeom prst="rect">
            <a:avLst/>
          </a:prstGeom>
          <a:noFill/>
        </p:spPr>
        <p:txBody>
          <a:bodyPr wrap="square" anchor="ctr" lIns="50800" rIns="50800">
            <a:spAutoFit/>
          </a:bodyPr>
          <a:lstStyle/>
          <a:p>
            <a:pPr algn="ctr"/>
            <a:r>
              <a:rPr sz="6400" b="1">
                <a:solidFill>
                  <a:srgbClr val="FFFFFF"/>
                </a:solidFill>
                <a:latin typeface="Calibri"/>
              </a:rPr>
              <a:t>06</a:t>
            </a:r>
          </a:p>
        </p:txBody>
      </p:sp>
      <p:sp>
        <p:nvSpPr>
          <p:cNvPr id="9" name="TextBox 8"/>
          <p:cNvSpPr txBox="1"/>
          <p:nvPr/>
        </p:nvSpPr>
        <p:spPr>
          <a:xfrm>
            <a:off x="800000" y="3500000"/>
            <a:ext cx="5200000" cy="1600000"/>
          </a:xfrm>
          <a:prstGeom prst="rect">
            <a:avLst/>
          </a:prstGeom>
          <a:noFill/>
        </p:spPr>
        <p:txBody>
          <a:bodyPr wrap="square" anchor="t" lIns="50800" rIns="50800">
            <a:spAutoFit/>
          </a:bodyPr>
          <a:lstStyle/>
          <a:p>
            <a:pPr algn="l"/>
            <a:r>
              <a:rPr sz="3000" b="1">
                <a:solidFill>
                  <a:srgbClr val="FFFFFF"/>
                </a:solidFill>
                <a:latin typeface="Calibri"/>
              </a:rPr>
              <a:t>Keng tarqalgan xatolar va amaliy tavsiyalar</a:t>
            </a:r>
          </a:p>
        </p:txBody>
      </p:sp>
      <p:sp>
        <p:nvSpPr>
          <p:cNvPr id="10" name="Rectangle 9"/>
          <p:cNvSpPr/>
          <p:nvPr/>
        </p:nvSpPr>
        <p:spPr>
          <a:xfrm>
            <a:off x="850000" y="52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4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wipe(left)">
                                      <p:cBhvr>
                                        <p:cTn id="11" dur="800"/>
                                        <p:tgtEl>
                                          <p:spTgt spid="6"/>
                                        </p:tgtEl>
                                      </p:cBhvr>
                                    </p:animEffect>
                                  </p:childTnLst>
                                </p:cTn>
                              </p:par>
                            </p:childTnLst>
                          </p:cTn>
                        </p:par>
                        <p:par>
                          <p:cTn id="12" fill="hold">
                            <p:stCondLst>
                              <p:cond delay="0"/>
                            </p:stCondLst>
                            <p:childTnLst>
                              <p:par>
                                <p:cTn id="13" presetID="10" presetClass="entr" presetSubtype="0" fill="hold" grpId="0" nodeType="after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50"/>
                                        <p:tgtEl>
                                          <p:spTgt spid="4"/>
                                        </p:tgtEl>
                                      </p:cBhvr>
                                    </p:animEffect>
                                  </p:childTnLst>
                                </p:cTn>
                              </p:par>
                            </p:childTnLst>
                          </p:cTn>
                        </p:par>
                        <p:par>
                          <p:cTn id="16" fill="hold">
                            <p:stCondLst>
                              <p:cond delay="0"/>
                            </p:stCondLst>
                            <p:childTnLst>
                              <p:par>
                                <p:cTn id="17" presetID="10" presetClass="entr" presetSubtype="0" fill="hold" grpId="0" nodeType="after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50"/>
                                        <p:tgtEl>
                                          <p:spTgt spid="5"/>
                                        </p:tgtEl>
                                      </p:cBhvr>
                                    </p:animEffect>
                                  </p:childTnLst>
                                </p:cTn>
                              </p:par>
                            </p:childTnLst>
                          </p:cTn>
                        </p:par>
                        <p:par>
                          <p:cTn id="20" fill="hold">
                            <p:stCondLst>
                              <p:cond delay="200"/>
                            </p:stCondLst>
                            <p:childTnLst>
                              <p:par>
                                <p:cTn id="21" presetID="53" presetClass="entr" presetSubtype="16" fill="hold" grpId="0" nodeType="after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550"/>
                                        <p:tgtEl>
                                          <p:spTgt spid="7"/>
                                        </p:tgtEl>
                                      </p:cBhvr>
                                    </p:animEffect>
                                    <p:anim calcmode="lin" valueType="num">
                                      <p:cBhvr additive="base">
                                        <p:cTn id="24" dur="550" fill="hold"/>
                                        <p:tgtEl>
                                          <p:spTgt spid="7"/>
                                        </p:tgtEl>
                                        <p:attrNameLst>
                                          <p:attrName>ppt_w</p:attrName>
                                        </p:attrNameLst>
                                      </p:cBhvr>
                                      <p:tavLst>
                                        <p:tav tm="0">
                                          <p:val>
                                            <p:strVal val="0"/>
                                          </p:val>
                                        </p:tav>
                                        <p:tav tm="100000">
                                          <p:val>
                                            <p:strVal val="#ppt_w"/>
                                          </p:val>
                                        </p:tav>
                                      </p:tavLst>
                                    </p:anim>
                                    <p:anim calcmode="lin" valueType="num">
                                      <p:cBhvr additive="base">
                                        <p:cTn id="25" dur="550" fill="hold"/>
                                        <p:tgtEl>
                                          <p:spTgt spid="7"/>
                                        </p:tgtEl>
                                        <p:attrNameLst>
                                          <p:attrName>ppt_h</p:attrName>
                                        </p:attrNameLst>
                                      </p:cBhvr>
                                      <p:tavLst>
                                        <p:tav tm="0">
                                          <p:val>
                                            <p:strVal val="0"/>
                                          </p:val>
                                        </p:tav>
                                        <p:tav tm="100000">
                                          <p:val>
                                            <p:strVal val="#ppt_h"/>
                                          </p:val>
                                        </p:tav>
                                      </p:tavLst>
                                    </p:anim>
                                  </p:childTnLst>
                                </p:cTn>
                              </p:par>
                            </p:childTnLst>
                          </p:cTn>
                        </p:par>
                        <p:par>
                          <p:cTn id="26" fill="hold">
                            <p:stCondLst>
                              <p:cond delay="300"/>
                            </p:stCondLst>
                            <p:childTnLst>
                              <p:par>
                                <p:cTn id="27" presetID="53" presetClass="entr" presetSubtype="16" fill="hold" grpId="0" nodeType="after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550"/>
                                        <p:tgtEl>
                                          <p:spTgt spid="8"/>
                                        </p:tgtEl>
                                      </p:cBhvr>
                                    </p:animEffect>
                                    <p:anim calcmode="lin" valueType="num">
                                      <p:cBhvr additive="base">
                                        <p:cTn id="30" dur="550" fill="hold"/>
                                        <p:tgtEl>
                                          <p:spTgt spid="8"/>
                                        </p:tgtEl>
                                        <p:attrNameLst>
                                          <p:attrName>ppt_w</p:attrName>
                                        </p:attrNameLst>
                                      </p:cBhvr>
                                      <p:tavLst>
                                        <p:tav tm="0">
                                          <p:val>
                                            <p:strVal val="0"/>
                                          </p:val>
                                        </p:tav>
                                        <p:tav tm="100000">
                                          <p:val>
                                            <p:strVal val="#ppt_w"/>
                                          </p:val>
                                        </p:tav>
                                      </p:tavLst>
                                    </p:anim>
                                    <p:anim calcmode="lin" valueType="num">
                                      <p:cBhvr additive="base">
                                        <p:cTn id="31" dur="550" fill="hold"/>
                                        <p:tgtEl>
                                          <p:spTgt spid="8"/>
                                        </p:tgtEl>
                                        <p:attrNameLst>
                                          <p:attrName>ppt_h</p:attrName>
                                        </p:attrNameLst>
                                      </p:cBhvr>
                                      <p:tavLst>
                                        <p:tav tm="0">
                                          <p:val>
                                            <p:strVal val="0"/>
                                          </p:val>
                                        </p:tav>
                                        <p:tav tm="100000">
                                          <p:val>
                                            <p:strVal val="#ppt_h"/>
                                          </p:val>
                                        </p:tav>
                                      </p:tavLst>
                                    </p:anim>
                                  </p:childTnLst>
                                </p:cTn>
                              </p:par>
                            </p:childTnLst>
                          </p:cTn>
                        </p:par>
                        <p:par>
                          <p:cTn id="32" fill="hold">
                            <p:stCondLst>
                              <p:cond delay="450"/>
                            </p:stCondLst>
                            <p:childTnLst>
                              <p:par>
                                <p:cTn id="33" presetID="2" presetClass="entr" presetSubtype="8" fill="hold" grpId="0" nodeType="afterEffect">
                                  <p:stCondLst>
                                    <p:cond delay="0"/>
                                  </p:stCondLst>
                                  <p:childTnLst>
                                    <p:set>
                                      <p:cBhvr>
                                        <p:cTn id="34" dur="1" fill="hold">
                                          <p:stCondLst>
                                            <p:cond delay="0"/>
                                          </p:stCondLst>
                                        </p:cTn>
                                        <p:tgtEl>
                                          <p:spTgt spid="9"/>
                                        </p:tgtEl>
                                        <p:attrNameLst>
                                          <p:attrName>style.visibility</p:attrName>
                                        </p:attrNameLst>
                                      </p:cBhvr>
                                      <p:to>
                                        <p:strVal val="visible"/>
                                      </p:to>
                                    </p:set>
                                    <p:anim calcmode="lin" valueType="num">
                                      <p:cBhvr additive="base">
                                        <p:cTn id="36" dur="550" fill="hold"/>
                                        <p:tgtEl>
                                          <p:spTgt spid="9"/>
                                        </p:tgtEl>
                                        <p:attrNameLst>
                                          <p:attrName>ppt_x</p:attrName>
                                        </p:attrNameLst>
                                      </p:cBhvr>
                                      <p:tavLst>
                                        <p:tav tm="0">
                                          <p:val>
                                            <p:strVal val="0-#ppt_w/2"/>
                                          </p:val>
                                        </p:tav>
                                        <p:tav tm="100000">
                                          <p:val>
                                            <p:strVal val="#ppt_x"/>
                                          </p:val>
                                        </p:tav>
                                      </p:tavLst>
                                    </p:anim>
                                    <p:anim calcmode="lin" valueType="num">
                                      <p:cBhvr additive="base">
                                        <p:cTn id="37" dur="550" fill="hold"/>
                                        <p:tgtEl>
                                          <p:spTgt spid="9"/>
                                        </p:tgtEl>
                                        <p:attrNameLst>
                                          <p:attrName>ppt_y</p:attrName>
                                        </p:attrNameLst>
                                      </p:cBhvr>
                                      <p:tavLst>
                                        <p:tav tm="0">
                                          <p:val>
                                            <p:strVal val="#ppt_y"/>
                                          </p:val>
                                        </p:tav>
                                        <p:tav tm="100000">
                                          <p:val>
                                            <p:strVal val="#ppt_y"/>
                                          </p:val>
                                        </p:tav>
                                      </p:tavLst>
                                    </p:anim>
                                  </p:childTnLst>
                                </p:cTn>
                              </p:par>
                            </p:childTnLst>
                          </p:cTn>
                        </p:par>
                        <p:par>
                          <p:cTn id="38" fill="hold">
                            <p:stCondLst>
                              <p:cond delay="550"/>
                            </p:stCondLst>
                            <p:childTnLst>
                              <p:par>
                                <p:cTn id="39" presetID="22" presetClass="entr" presetSubtype="8" fill="hold" grpId="0" nodeType="after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wipe(left)">
                                      <p:cBhvr>
                                        <p:cTn id="42"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4" grpId="0" animBg="1"/>
      <p:bldP spid="5" grpId="0" animBg="1"/>
      <p:bldP spid="7" grpId="0" animBg="1"/>
      <p:bldP spid="8" grpId="0" animBg="1"/>
      <p:bldP spid="9" grpId="0" animBg="1"/>
      <p:bldP spid="10" grpId="0" animBg="1"/>
    </p:bldLst>
  </p:timing>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Keng tarqalgan xatolar va amaliy tavsiyalar</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A1 · Sun'iy intellektga asoslangan kompyuter tizimlari arxitekturasini tahlil qilish va loyihalash</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38</a:t>
            </a:r>
          </a:p>
        </p:txBody>
      </p:sp>
      <p:sp>
        <p:nvSpPr>
          <p:cNvPr id="9" name="Rounded Rectangle 8"/>
          <p:cNvSpPr/>
          <p:nvPr/>
        </p:nvSpPr>
        <p:spPr>
          <a:xfrm>
            <a:off x="550000" y="2885000"/>
            <a:ext cx="11100000" cy="52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2885000"/>
            <a:ext cx="70000" cy="52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80000" y="2955000"/>
            <a:ext cx="380000" cy="38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1</a:t>
            </a:r>
          </a:p>
        </p:txBody>
      </p:sp>
      <p:sp>
        <p:nvSpPr>
          <p:cNvPr id="12" name="TextBox 11"/>
          <p:cNvSpPr txBox="1"/>
          <p:nvPr/>
        </p:nvSpPr>
        <p:spPr>
          <a:xfrm>
            <a:off x="1380000" y="2925000"/>
            <a:ext cx="10150000" cy="440000"/>
          </a:xfrm>
          <a:prstGeom prst="rect">
            <a:avLst/>
          </a:prstGeom>
          <a:noFill/>
        </p:spPr>
        <p:txBody>
          <a:bodyPr wrap="square" anchor="ctr">
            <a:spAutoFit/>
          </a:bodyPr>
          <a:lstStyle/>
          <a:p>
            <a:r>
              <a:rPr sz="1600" b="0">
                <a:solidFill>
                  <a:srgbClr val="1B2430"/>
                </a:solidFill>
                <a:latin typeface="Calibri"/>
              </a:rPr>
              <a:t>Cho'qqi TOPS'ni haqiqiy unumdorlik deb qabul qilish. Ishlab chiqaruvchi ko'rsatadigan TOPS ko'pincha siyraklik (sparsity) hisobga olingan va ideal yuklama uchun. Har doim dense qiymatni oling va 30–60 % samaradorlik koeffitsiyentini qo'llang.</a:t>
            </a:r>
          </a:p>
        </p:txBody>
      </p:sp>
      <p:sp>
        <p:nvSpPr>
          <p:cNvPr id="13" name="Rounded Rectangle 12"/>
          <p:cNvSpPr/>
          <p:nvPr/>
        </p:nvSpPr>
        <p:spPr>
          <a:xfrm>
            <a:off x="550000" y="3515000"/>
            <a:ext cx="11100000" cy="52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3515000"/>
            <a:ext cx="70000" cy="52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780000" y="3585000"/>
            <a:ext cx="380000" cy="38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2</a:t>
            </a:r>
          </a:p>
        </p:txBody>
      </p:sp>
      <p:sp>
        <p:nvSpPr>
          <p:cNvPr id="16" name="TextBox 15"/>
          <p:cNvSpPr txBox="1"/>
          <p:nvPr/>
        </p:nvSpPr>
        <p:spPr>
          <a:xfrm>
            <a:off x="1380000" y="3555000"/>
            <a:ext cx="10150000" cy="440000"/>
          </a:xfrm>
          <a:prstGeom prst="rect">
            <a:avLst/>
          </a:prstGeom>
          <a:noFill/>
        </p:spPr>
        <p:txBody>
          <a:bodyPr wrap="square" anchor="ctr">
            <a:spAutoFit/>
          </a:bodyPr>
          <a:lstStyle/>
          <a:p>
            <a:r>
              <a:rPr sz="1600" b="0">
                <a:solidFill>
                  <a:srgbClr val="1B2430"/>
                </a:solidFill>
                <a:latin typeface="Calibri"/>
              </a:rPr>
              <a:t>Faqat inferensni hisoblash. Dekodlash, o'lcham o'zgartirish, NMS, kuzatuv va tarmoq ko'pincha inferens vaqtidan ko'p bo'ladi. Butun quvur liniyasi uchun kechikish byudjeti tuzing.</a:t>
            </a:r>
          </a:p>
        </p:txBody>
      </p:sp>
      <p:sp>
        <p:nvSpPr>
          <p:cNvPr id="17" name="Rounded Rectangle 16"/>
          <p:cNvSpPr/>
          <p:nvPr/>
        </p:nvSpPr>
        <p:spPr>
          <a:xfrm>
            <a:off x="550000" y="4145000"/>
            <a:ext cx="11100000" cy="52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0000" y="4145000"/>
            <a:ext cx="70000" cy="520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80000" y="4215000"/>
            <a:ext cx="380000" cy="38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3</a:t>
            </a:r>
          </a:p>
        </p:txBody>
      </p:sp>
      <p:sp>
        <p:nvSpPr>
          <p:cNvPr id="20" name="TextBox 19"/>
          <p:cNvSpPr txBox="1"/>
          <p:nvPr/>
        </p:nvSpPr>
        <p:spPr>
          <a:xfrm>
            <a:off x="1380000" y="4185000"/>
            <a:ext cx="10150000" cy="440000"/>
          </a:xfrm>
          <a:prstGeom prst="rect">
            <a:avLst/>
          </a:prstGeom>
          <a:noFill/>
        </p:spPr>
        <p:txBody>
          <a:bodyPr wrap="square" anchor="ctr">
            <a:spAutoFit/>
          </a:bodyPr>
          <a:lstStyle/>
          <a:p>
            <a:r>
              <a:rPr sz="1600" b="0">
                <a:solidFill>
                  <a:srgbClr val="1B2430"/>
                </a:solidFill>
                <a:latin typeface="Calibri"/>
              </a:rPr>
              <a:t>Aniqlik formatini e'tiborsiz qoldirish. Edge TPU faqat INT8, ko'pgina NPU'lar FP16 ni qo'llamaydi. Platformani tanlashdan oldin modelni shu formatga kvantlash mumkinligini tekshiring.</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9"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50"/>
                                        <p:tgtEl>
                                          <p:spTgt spid="17"/>
                                        </p:tgtEl>
                                      </p:cBhvr>
                                    </p:animEffect>
                                    <p:anim calcmode="lin" valueType="num">
                                      <p:cBhvr additive="base">
                                        <p:cTn id="59" dur="550" fill="hold"/>
                                        <p:tgtEl>
                                          <p:spTgt spid="17"/>
                                        </p:tgtEl>
                                        <p:attrNameLst>
                                          <p:attrName>ppt_x</p:attrName>
                                        </p:attrNameLst>
                                      </p:cBhvr>
                                      <p:tavLst>
                                        <p:tav tm="0">
                                          <p:val>
                                            <p:strVal val="#ppt_x"/>
                                          </p:val>
                                        </p:tav>
                                        <p:tav tm="100000">
                                          <p:val>
                                            <p:strVal val="#ppt_x"/>
                                          </p:val>
                                        </p:tav>
                                      </p:tavLst>
                                    </p:anim>
                                    <p:anim calcmode="lin" valueType="num">
                                      <p:cBhvr additive="base">
                                        <p:cTn id="60" dur="550" fill="hold"/>
                                        <p:tgtEl>
                                          <p:spTgt spid="17"/>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50"/>
                                        <p:tgtEl>
                                          <p:spTgt spid="18"/>
                                        </p:tgtEl>
                                      </p:cBhvr>
                                    </p:animEffect>
                                    <p:anim calcmode="lin" valueType="num">
                                      <p:cBhvr additive="base">
                                        <p:cTn id="65" dur="550" fill="hold"/>
                                        <p:tgtEl>
                                          <p:spTgt spid="18"/>
                                        </p:tgtEl>
                                        <p:attrNameLst>
                                          <p:attrName>ppt_x</p:attrName>
                                        </p:attrNameLst>
                                      </p:cBhvr>
                                      <p:tavLst>
                                        <p:tav tm="0">
                                          <p:val>
                                            <p:strVal val="#ppt_x"/>
                                          </p:val>
                                        </p:tav>
                                        <p:tav tm="100000">
                                          <p:val>
                                            <p:strVal val="#ppt_x"/>
                                          </p:val>
                                        </p:tav>
                                      </p:tavLst>
                                    </p:anim>
                                    <p:anim calcmode="lin" valueType="num">
                                      <p:cBhvr additive="base">
                                        <p:cTn id="66" dur="550" fill="hold"/>
                                        <p:tgtEl>
                                          <p:spTgt spid="18"/>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anim calcmode="lin" valueType="num">
                                      <p:cBhvr additive="base">
                                        <p:cTn id="71" dur="550" fill="hold"/>
                                        <p:tgtEl>
                                          <p:spTgt spid="19"/>
                                        </p:tgtEl>
                                        <p:attrNameLst>
                                          <p:attrName>ppt_w</p:attrName>
                                        </p:attrNameLst>
                                      </p:cBhvr>
                                      <p:tavLst>
                                        <p:tav tm="0">
                                          <p:val>
                                            <p:strVal val="0"/>
                                          </p:val>
                                        </p:tav>
                                        <p:tav tm="100000">
                                          <p:val>
                                            <p:strVal val="#ppt_w"/>
                                          </p:val>
                                        </p:tav>
                                      </p:tavLst>
                                    </p:anim>
                                    <p:anim calcmode="lin" valueType="num">
                                      <p:cBhvr additive="base">
                                        <p:cTn id="72" dur="550" fill="hold"/>
                                        <p:tgtEl>
                                          <p:spTgt spid="19"/>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50"/>
                                        <p:tgtEl>
                                          <p:spTgt spid="20"/>
                                        </p:tgtEl>
                                      </p:cBhvr>
                                    </p:animEffect>
                                    <p:anim calcmode="lin" valueType="num">
                                      <p:cBhvr additive="base">
                                        <p:cTn id="77" dur="550" fill="hold"/>
                                        <p:tgtEl>
                                          <p:spTgt spid="20"/>
                                        </p:tgtEl>
                                        <p:attrNameLst>
                                          <p:attrName>ppt_x</p:attrName>
                                        </p:attrNameLst>
                                      </p:cBhvr>
                                      <p:tavLst>
                                        <p:tav tm="0">
                                          <p:val>
                                            <p:strVal val="#ppt_x"/>
                                          </p:val>
                                        </p:tav>
                                        <p:tav tm="100000">
                                          <p:val>
                                            <p:strVal val="#ppt_x"/>
                                          </p:val>
                                        </p:tav>
                                      </p:tavLst>
                                    </p:anim>
                                    <p:anim calcmode="lin" valueType="num">
                                      <p:cBhvr additive="base">
                                        <p:cTn id="78" dur="550" fill="hold"/>
                                        <p:tgtEl>
                                          <p:spTgt spid="20"/>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Lst>
  </p:timing>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Keng tarqalgan xatolar va amaliy tavsiyalar</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A1 · Sun'iy intellektga asoslangan kompyuter tizimlari arxitekturasini tahlil qilish va loyihalash</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39</a:t>
            </a:r>
          </a:p>
        </p:txBody>
      </p:sp>
      <p:sp>
        <p:nvSpPr>
          <p:cNvPr id="9" name="Rounded Rectangle 8"/>
          <p:cNvSpPr/>
          <p:nvPr/>
        </p:nvSpPr>
        <p:spPr>
          <a:xfrm>
            <a:off x="550000" y="2885000"/>
            <a:ext cx="11100000" cy="52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2885000"/>
            <a:ext cx="70000" cy="5200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80000" y="2955000"/>
            <a:ext cx="380000" cy="38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4</a:t>
            </a:r>
          </a:p>
        </p:txBody>
      </p:sp>
      <p:sp>
        <p:nvSpPr>
          <p:cNvPr id="12" name="TextBox 11"/>
          <p:cNvSpPr txBox="1"/>
          <p:nvPr/>
        </p:nvSpPr>
        <p:spPr>
          <a:xfrm>
            <a:off x="1380000" y="2925000"/>
            <a:ext cx="10150000" cy="440000"/>
          </a:xfrm>
          <a:prstGeom prst="rect">
            <a:avLst/>
          </a:prstGeom>
          <a:noFill/>
        </p:spPr>
        <p:txBody>
          <a:bodyPr wrap="square" anchor="ctr">
            <a:spAutoFit/>
          </a:bodyPr>
          <a:lstStyle/>
          <a:p>
            <a:r>
              <a:rPr sz="1600" b="0">
                <a:solidFill>
                  <a:srgbClr val="1B2430"/>
                </a:solidFill>
                <a:latin typeface="Calibri"/>
              </a:rPr>
              <a:t>Operatorlar qamrovini tekshirmaslik. Model grafigidagi bitta qo'llab-quvvatlanmagan operator butun tezlatkichni foydasiz qilishi mumkin. ONNX eksport va tezlatkich kompilyatorining xabarnomalarini o'qing.</a:t>
            </a:r>
          </a:p>
        </p:txBody>
      </p:sp>
      <p:sp>
        <p:nvSpPr>
          <p:cNvPr id="13" name="Rounded Rectangle 12"/>
          <p:cNvSpPr/>
          <p:nvPr/>
        </p:nvSpPr>
        <p:spPr>
          <a:xfrm>
            <a:off x="550000" y="3515000"/>
            <a:ext cx="11100000" cy="52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3515000"/>
            <a:ext cx="70000" cy="520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780000" y="3585000"/>
            <a:ext cx="380000" cy="3800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5</a:t>
            </a:r>
          </a:p>
        </p:txBody>
      </p:sp>
      <p:sp>
        <p:nvSpPr>
          <p:cNvPr id="16" name="TextBox 15"/>
          <p:cNvSpPr txBox="1"/>
          <p:nvPr/>
        </p:nvSpPr>
        <p:spPr>
          <a:xfrm>
            <a:off x="1380000" y="3555000"/>
            <a:ext cx="10150000" cy="440000"/>
          </a:xfrm>
          <a:prstGeom prst="rect">
            <a:avLst/>
          </a:prstGeom>
          <a:noFill/>
        </p:spPr>
        <p:txBody>
          <a:bodyPr wrap="square" anchor="ctr">
            <a:spAutoFit/>
          </a:bodyPr>
          <a:lstStyle/>
          <a:p>
            <a:r>
              <a:rPr sz="1600" b="0">
                <a:solidFill>
                  <a:srgbClr val="1B2430"/>
                </a:solidFill>
                <a:latin typeface="Calibri"/>
              </a:rPr>
              <a:t>Termal va mexanik muhitni unutish. 25 Vt chekka modul passiv radiator bilan +40 °C da throttling qiladi. Quvvat rejimini (nvpmodel) va sovutishni loyihaning qismi deb hisoblang.</a:t>
            </a:r>
          </a:p>
        </p:txBody>
      </p:sp>
      <p:sp>
        <p:nvSpPr>
          <p:cNvPr id="17" name="Rounded Rectangle 16"/>
          <p:cNvSpPr/>
          <p:nvPr/>
        </p:nvSpPr>
        <p:spPr>
          <a:xfrm>
            <a:off x="550000" y="4145000"/>
            <a:ext cx="11100000" cy="52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0000" y="4145000"/>
            <a:ext cx="70000" cy="52000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80000" y="4215000"/>
            <a:ext cx="380000" cy="380000"/>
          </a:xfrm>
          <a:prstGeom prst="ellipse">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6</a:t>
            </a:r>
          </a:p>
        </p:txBody>
      </p:sp>
      <p:sp>
        <p:nvSpPr>
          <p:cNvPr id="20" name="TextBox 19"/>
          <p:cNvSpPr txBox="1"/>
          <p:nvPr/>
        </p:nvSpPr>
        <p:spPr>
          <a:xfrm>
            <a:off x="1380000" y="4185000"/>
            <a:ext cx="10150000" cy="440000"/>
          </a:xfrm>
          <a:prstGeom prst="rect">
            <a:avLst/>
          </a:prstGeom>
          <a:noFill/>
        </p:spPr>
        <p:txBody>
          <a:bodyPr wrap="square" anchor="ctr">
            <a:spAutoFit/>
          </a:bodyPr>
          <a:lstStyle/>
          <a:p>
            <a:r>
              <a:rPr sz="1600" b="0">
                <a:solidFill>
                  <a:srgbClr val="1B2430"/>
                </a:solidFill>
                <a:latin typeface="Calibri"/>
              </a:rPr>
              <a:t>O'rtacha kechikishni hisobot qilish. Foydalanuvchi uchun p95/p99 muhim. Kechikish taqsimotining «dumini» (tail latency) o'lchang va byudjetni shu bo'yicha tuzing.</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9"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50"/>
                                        <p:tgtEl>
                                          <p:spTgt spid="17"/>
                                        </p:tgtEl>
                                      </p:cBhvr>
                                    </p:animEffect>
                                    <p:anim calcmode="lin" valueType="num">
                                      <p:cBhvr additive="base">
                                        <p:cTn id="59" dur="550" fill="hold"/>
                                        <p:tgtEl>
                                          <p:spTgt spid="17"/>
                                        </p:tgtEl>
                                        <p:attrNameLst>
                                          <p:attrName>ppt_x</p:attrName>
                                        </p:attrNameLst>
                                      </p:cBhvr>
                                      <p:tavLst>
                                        <p:tav tm="0">
                                          <p:val>
                                            <p:strVal val="#ppt_x"/>
                                          </p:val>
                                        </p:tav>
                                        <p:tav tm="100000">
                                          <p:val>
                                            <p:strVal val="#ppt_x"/>
                                          </p:val>
                                        </p:tav>
                                      </p:tavLst>
                                    </p:anim>
                                    <p:anim calcmode="lin" valueType="num">
                                      <p:cBhvr additive="base">
                                        <p:cTn id="60" dur="550" fill="hold"/>
                                        <p:tgtEl>
                                          <p:spTgt spid="17"/>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50"/>
                                        <p:tgtEl>
                                          <p:spTgt spid="18"/>
                                        </p:tgtEl>
                                      </p:cBhvr>
                                    </p:animEffect>
                                    <p:anim calcmode="lin" valueType="num">
                                      <p:cBhvr additive="base">
                                        <p:cTn id="65" dur="550" fill="hold"/>
                                        <p:tgtEl>
                                          <p:spTgt spid="18"/>
                                        </p:tgtEl>
                                        <p:attrNameLst>
                                          <p:attrName>ppt_x</p:attrName>
                                        </p:attrNameLst>
                                      </p:cBhvr>
                                      <p:tavLst>
                                        <p:tav tm="0">
                                          <p:val>
                                            <p:strVal val="#ppt_x"/>
                                          </p:val>
                                        </p:tav>
                                        <p:tav tm="100000">
                                          <p:val>
                                            <p:strVal val="#ppt_x"/>
                                          </p:val>
                                        </p:tav>
                                      </p:tavLst>
                                    </p:anim>
                                    <p:anim calcmode="lin" valueType="num">
                                      <p:cBhvr additive="base">
                                        <p:cTn id="66" dur="550" fill="hold"/>
                                        <p:tgtEl>
                                          <p:spTgt spid="18"/>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anim calcmode="lin" valueType="num">
                                      <p:cBhvr additive="base">
                                        <p:cTn id="71" dur="550" fill="hold"/>
                                        <p:tgtEl>
                                          <p:spTgt spid="19"/>
                                        </p:tgtEl>
                                        <p:attrNameLst>
                                          <p:attrName>ppt_w</p:attrName>
                                        </p:attrNameLst>
                                      </p:cBhvr>
                                      <p:tavLst>
                                        <p:tav tm="0">
                                          <p:val>
                                            <p:strVal val="0"/>
                                          </p:val>
                                        </p:tav>
                                        <p:tav tm="100000">
                                          <p:val>
                                            <p:strVal val="#ppt_w"/>
                                          </p:val>
                                        </p:tav>
                                      </p:tavLst>
                                    </p:anim>
                                    <p:anim calcmode="lin" valueType="num">
                                      <p:cBhvr additive="base">
                                        <p:cTn id="72" dur="550" fill="hold"/>
                                        <p:tgtEl>
                                          <p:spTgt spid="19"/>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50"/>
                                        <p:tgtEl>
                                          <p:spTgt spid="20"/>
                                        </p:tgtEl>
                                      </p:cBhvr>
                                    </p:animEffect>
                                    <p:anim calcmode="lin" valueType="num">
                                      <p:cBhvr additive="base">
                                        <p:cTn id="77" dur="550" fill="hold"/>
                                        <p:tgtEl>
                                          <p:spTgt spid="20"/>
                                        </p:tgtEl>
                                        <p:attrNameLst>
                                          <p:attrName>ppt_x</p:attrName>
                                        </p:attrNameLst>
                                      </p:cBhvr>
                                      <p:tavLst>
                                        <p:tav tm="0">
                                          <p:val>
                                            <p:strVal val="#ppt_x"/>
                                          </p:val>
                                        </p:tav>
                                        <p:tav tm="100000">
                                          <p:val>
                                            <p:strVal val="#ppt_x"/>
                                          </p:val>
                                        </p:tav>
                                      </p:tavLst>
                                    </p:anim>
                                    <p:anim calcmode="lin" valueType="num">
                                      <p:cBhvr additive="base">
                                        <p:cTn id="78" dur="550" fill="hold"/>
                                        <p:tgtEl>
                                          <p:spTgt spid="20"/>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Lst>
  </p:timing>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Keng tarqalgan xatolar va amaliy tavsiyalar</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A1 · Sun'iy intellektga asoslangan kompyuter tizimlari arxitekturasini tahlil qilish va loyihalash</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40</a:t>
            </a:r>
          </a:p>
        </p:txBody>
      </p:sp>
      <p:sp>
        <p:nvSpPr>
          <p:cNvPr id="9" name="Rounded Rectangle 8"/>
          <p:cNvSpPr/>
          <p:nvPr/>
        </p:nvSpPr>
        <p:spPr>
          <a:xfrm>
            <a:off x="550000" y="3200000"/>
            <a:ext cx="11100000" cy="52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3200000"/>
            <a:ext cx="70000" cy="52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80000" y="3270000"/>
            <a:ext cx="380000" cy="38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7</a:t>
            </a:r>
          </a:p>
        </p:txBody>
      </p:sp>
      <p:sp>
        <p:nvSpPr>
          <p:cNvPr id="12" name="TextBox 11"/>
          <p:cNvSpPr txBox="1"/>
          <p:nvPr/>
        </p:nvSpPr>
        <p:spPr>
          <a:xfrm>
            <a:off x="1380000" y="3240000"/>
            <a:ext cx="10150000" cy="440000"/>
          </a:xfrm>
          <a:prstGeom prst="rect">
            <a:avLst/>
          </a:prstGeom>
          <a:noFill/>
        </p:spPr>
        <p:txBody>
          <a:bodyPr wrap="square" anchor="ctr">
            <a:spAutoFit/>
          </a:bodyPr>
          <a:lstStyle/>
          <a:p>
            <a:r>
              <a:rPr sz="1600" b="0">
                <a:solidFill>
                  <a:srgbClr val="1B2430"/>
                </a:solidFill>
                <a:latin typeface="Calibri"/>
              </a:rPr>
              <a:t>TCO'ni faqat apparat narxi deb bilish. Elektr energiyasi, sovutish, texnik xizmat, dasturiy litsenziyalar va muhandis vaqti 3–5 yil davomida apparat narxidan oshib ketadi.</a:t>
            </a:r>
          </a:p>
        </p:txBody>
      </p:sp>
      <p:sp>
        <p:nvSpPr>
          <p:cNvPr id="13" name="Rounded Rectangle 12"/>
          <p:cNvSpPr/>
          <p:nvPr/>
        </p:nvSpPr>
        <p:spPr>
          <a:xfrm>
            <a:off x="550000" y="3830000"/>
            <a:ext cx="11100000" cy="52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3830000"/>
            <a:ext cx="70000" cy="52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780000" y="3900000"/>
            <a:ext cx="380000" cy="38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8</a:t>
            </a:r>
          </a:p>
        </p:txBody>
      </p:sp>
      <p:sp>
        <p:nvSpPr>
          <p:cNvPr id="16" name="TextBox 15"/>
          <p:cNvSpPr txBox="1"/>
          <p:nvPr/>
        </p:nvSpPr>
        <p:spPr>
          <a:xfrm>
            <a:off x="1380000" y="3870000"/>
            <a:ext cx="10150000" cy="440000"/>
          </a:xfrm>
          <a:prstGeom prst="rect">
            <a:avLst/>
          </a:prstGeom>
          <a:noFill/>
        </p:spPr>
        <p:txBody>
          <a:bodyPr wrap="square" anchor="ctr">
            <a:spAutoFit/>
          </a:bodyPr>
          <a:lstStyle/>
          <a:p>
            <a:r>
              <a:rPr sz="1600" b="0">
                <a:solidFill>
                  <a:srgbClr val="1B2430"/>
                </a:solidFill>
                <a:latin typeface="Calibri"/>
              </a:rPr>
              <a:t>Hujjatlashtirmaslik. Qaror asoslari (talablar matritsasi, rad etish sabablari) yozilmasa, 6 oydan keyin «nega aynan shu platforma?» savoliga hech kim javob bera olmaydi.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Lst>
  </p:timing>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LABORATORIYA</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Virtual laboratoriya va kodlar</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A1 · Sun'iy intellektga asoslangan kompyuter tizimlari arxitekturasini tahlil qilish va loyihalash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41</a:t>
            </a:r>
          </a:p>
        </p:txBody>
      </p:sp>
      <p:pic>
        <p:nvPicPr>
          <p:cNvPr id="10" name="Picture 9" descr="image.png"/>
          <p:cNvPicPr>
            <a:picLocks noChangeAspect="1"/>
          </p:cNvPicPr>
          <p:nvPr/>
        </p:nvPicPr>
        <p:blipFill>
          <a:blip r:embed="rId2"/>
          <a:stretch>
            <a:fillRect/>
          </a:stretch>
        </p:blipFill>
        <p:spPr>
          <a:xfrm>
            <a:off x="8300000" y="1600000"/>
            <a:ext cx="3200000" cy="3200000"/>
          </a:xfrm>
          <a:prstGeom prst="rect">
            <a:avLst/>
          </a:prstGeom>
        </p:spPr>
      </p:pic>
      <p:sp>
        <p:nvSpPr>
          <p:cNvPr id="11" name="TextBox 10"/>
          <p:cNvSpPr txBox="1"/>
          <p:nvPr/>
        </p:nvSpPr>
        <p:spPr>
          <a:xfrm>
            <a:off x="600000" y="1500000"/>
            <a:ext cx="7400000" cy="4600000"/>
          </a:xfrm>
          <a:prstGeom prst="rect">
            <a:avLst/>
          </a:prstGeom>
          <a:noFill/>
        </p:spPr>
        <p:txBody>
          <a:bodyPr wrap="square" anchor="t" lIns="50800" rIns="50800">
            <a:spAutoFit/>
          </a:bodyPr>
          <a:lstStyle/>
          <a:p>
            <a:pPr algn="l"/>
            <a:r>
              <a:rPr sz="1900" b="0">
                <a:solidFill>
                  <a:srgbClr val="1B2430"/>
                </a:solidFill>
                <a:latin typeface="Calibri"/>
              </a:rPr>
              <a:t>Saytda bajarish: https://aiscan.airi.uz/ktm/ → Mavzular → A1 → 🧪 Virtual bajarish (7 bosqich)</a:t>
            </a:r>
          </a:p>
          <a:p>
            <a:pPr algn="l"/>
            <a:r>
              <a:rPr sz="1900" b="0">
                <a:solidFill>
                  <a:srgbClr val="1B2430"/>
                </a:solidFill>
                <a:latin typeface="Calibri"/>
              </a:rPr>
              <a:t>Kodlarni ko‘chirib olish — QR kod yoki:</a:t>
            </a:r>
          </a:p>
          <a:p>
            <a:pPr algn="l"/>
            <a:r>
              <a:rPr sz="1900" b="0">
                <a:solidFill>
                  <a:srgbClr val="1B2430"/>
                </a:solidFill>
                <a:latin typeface="Calibri"/>
              </a:rPr>
              <a:t>git clone https://github.com/sayka7/ktm_labs.git</a:t>
            </a:r>
          </a:p>
          <a:p>
            <a:pPr algn="l"/>
            <a:r>
              <a:rPr sz="1900" b="0">
                <a:solidFill>
                  <a:srgbClr val="1B2430"/>
                </a:solidFill>
                <a:latin typeface="Calibri"/>
              </a:rPr>
              <a:t>Mustaqil topshiriq: 20 variantdan o‘zingizniki (jurnal raqami bo‘yicha)</a:t>
            </a:r>
          </a:p>
          <a:p>
            <a:pPr algn="l"/>
            <a:r>
              <a:rPr sz="1900" b="0">
                <a:solidFill>
                  <a:srgbClr val="1B2430"/>
                </a:solidFill>
                <a:latin typeface="Calibri"/>
              </a:rPr>
              <a:t>Topshirish: saytdagi «📤 Topshirish va baho» — avtomatik tekshiruv</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9"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53" presetClass="entr" presetSubtype="16"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ppt_w</p:attrName>
                                        </p:attrNameLst>
                                      </p:cBhvr>
                                      <p:tavLst>
                                        <p:tav tm="0">
                                          <p:val>
                                            <p:strVal val="0"/>
                                          </p:val>
                                        </p:tav>
                                        <p:tav tm="100000">
                                          <p:val>
                                            <p:strVal val="#ppt_w"/>
                                          </p:val>
                                        </p:tav>
                                      </p:tavLst>
                                    </p:anim>
                                    <p:anim calcmode="lin" valueType="num">
                                      <p:cBhvr additive="base">
                                        <p:cTn id="12" dur="550" fill="hold"/>
                                        <p:tgtEl>
                                          <p:spTgt spid="10"/>
                                        </p:tgtEl>
                                        <p:attrNameLst>
                                          <p:attrName>ppt_h</p:attrName>
                                        </p:attrNameLst>
                                      </p:cBhvr>
                                      <p:tavLst>
                                        <p:tav tm="0">
                                          <p:val>
                                            <p:strVal val="0"/>
                                          </p:val>
                                        </p:tav>
                                        <p:tav tm="100000">
                                          <p:val>
                                            <p:strVal val="#ppt_h"/>
                                          </p:val>
                                        </p:tav>
                                      </p:tavLst>
                                    </p:anim>
                                  </p:childTnLst>
                                </p:cTn>
                              </p:par>
                            </p:childTnLst>
                          </p:cTn>
                        </p:par>
                        <p:par>
                          <p:cTn id="13" fill="hold">
                            <p:stCondLst>
                              <p:cond delay="35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1" grpId="0" animBg="1"/>
    </p:bldLst>
  </p:timing>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F6E80"/>
              </a:gs>
              <a:gs pos="100000">
                <a:srgbClr val="142845"/>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00000" y="3900000"/>
            <a:ext cx="3600000" cy="3600000"/>
          </a:xfrm>
          <a:prstGeom prst="ellipse">
            <a:avLst/>
          </a:prstGeom>
          <a:solidFill>
            <a:srgbClr val="244C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00000" y="1900000"/>
            <a:ext cx="10800000" cy="1100000"/>
          </a:xfrm>
          <a:prstGeom prst="rect">
            <a:avLst/>
          </a:prstGeom>
          <a:noFill/>
        </p:spPr>
        <p:txBody>
          <a:bodyPr wrap="square" anchor="t" lIns="50800" rIns="50800">
            <a:spAutoFit/>
          </a:bodyPr>
          <a:lstStyle/>
          <a:p>
            <a:pPr algn="ctr"/>
            <a:r>
              <a:rPr sz="4400" b="1">
                <a:solidFill>
                  <a:srgbClr val="FFFFFF"/>
                </a:solidFill>
                <a:latin typeface="Calibri"/>
              </a:rPr>
              <a:t>E’tiboringiz uchun rahmat!</a:t>
            </a:r>
          </a:p>
        </p:txBody>
      </p:sp>
      <p:sp>
        <p:nvSpPr>
          <p:cNvPr id="5" name="TextBox 4"/>
          <p:cNvSpPr txBox="1"/>
          <p:nvPr/>
        </p:nvSpPr>
        <p:spPr>
          <a:xfrm>
            <a:off x="700000" y="3200000"/>
            <a:ext cx="10800000" cy="500000"/>
          </a:xfrm>
          <a:prstGeom prst="rect">
            <a:avLst/>
          </a:prstGeom>
          <a:noFill/>
        </p:spPr>
        <p:txBody>
          <a:bodyPr wrap="square" anchor="t" lIns="50800" rIns="50800">
            <a:spAutoFit/>
          </a:bodyPr>
          <a:lstStyle/>
          <a:p>
            <a:pPr algn="ctr"/>
            <a:r>
              <a:rPr sz="2600" b="1">
                <a:solidFill>
                  <a:srgbClr val="7FD6D7"/>
                </a:solidFill>
                <a:latin typeface="Calibri"/>
              </a:rPr>
              <a:t>Savollar?</a:t>
            </a:r>
          </a:p>
        </p:txBody>
      </p:sp>
      <p:sp>
        <p:nvSpPr>
          <p:cNvPr id="6" name="TextBox 5"/>
          <p:cNvSpPr txBox="1"/>
          <p:nvPr/>
        </p:nvSpPr>
        <p:spPr>
          <a:xfrm>
            <a:off x="1200000" y="4300000"/>
            <a:ext cx="9800000" cy="1200000"/>
          </a:xfrm>
          <a:prstGeom prst="rect">
            <a:avLst/>
          </a:prstGeom>
          <a:noFill/>
        </p:spPr>
        <p:txBody>
          <a:bodyPr wrap="square" anchor="t" lIns="50800" rIns="50800">
            <a:spAutoFit/>
          </a:bodyPr>
          <a:lstStyle/>
          <a:p>
            <a:pPr algn="ctr"/>
            <a:r>
              <a:rPr sz="1600" b="0">
                <a:solidFill>
                  <a:srgbClr val="D7E3F4"/>
                </a:solidFill>
                <a:latin typeface="Calibri"/>
              </a:rPr>
              <a:t>Mavzu matni va materiallar: https://aiscan.airi.uz/ktm/#/c/mis2104/mavzu/A1</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5"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5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350"/>
                            </p:stCondLst>
                            <p:childTnLst>
                              <p:par>
                                <p:cTn id="16" presetID="42" presetClass="entr" presetSubtype="0"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550"/>
                                        <p:tgtEl>
                                          <p:spTgt spid="5"/>
                                        </p:tgtEl>
                                      </p:cBhvr>
                                    </p:animEffect>
                                    <p:anim calcmode="lin" valueType="num">
                                      <p:cBhvr additive="base">
                                        <p:cTn id="19" dur="550" fill="hold"/>
                                        <p:tgtEl>
                                          <p:spTgt spid="5"/>
                                        </p:tgtEl>
                                        <p:attrNameLst>
                                          <p:attrName>ppt_x</p:attrName>
                                        </p:attrNameLst>
                                      </p:cBhvr>
                                      <p:tavLst>
                                        <p:tav tm="0">
                                          <p:val>
                                            <p:strVal val="#ppt_x"/>
                                          </p:val>
                                        </p:tav>
                                        <p:tav tm="100000">
                                          <p:val>
                                            <p:strVal val="#ppt_x"/>
                                          </p:val>
                                        </p:tav>
                                      </p:tavLst>
                                    </p:anim>
                                    <p:anim calcmode="lin" valueType="num">
                                      <p:cBhvr additive="base">
                                        <p:cTn id="20" dur="550" fill="hold"/>
                                        <p:tgtEl>
                                          <p:spTgt spid="5"/>
                                        </p:tgtEl>
                                        <p:attrNameLst>
                                          <p:attrName>ppt_y</p:attrName>
                                        </p:attrNameLst>
                                      </p:cBhvr>
                                      <p:tavLst>
                                        <p:tav tm="0">
                                          <p:val>
                                            <p:strVal val="#ppt_y+.08"/>
                                          </p:val>
                                        </p:tav>
                                        <p:tav tm="100000">
                                          <p:val>
                                            <p:strVal val="#ppt_y"/>
                                          </p:val>
                                        </p:tav>
                                      </p:tavLst>
                                    </p:anim>
                                  </p:childTnLst>
                                </p:cTn>
                              </p:par>
                            </p:childTnLst>
                          </p:cTn>
                        </p:par>
                        <p:par>
                          <p:cTn id="21" fill="hold">
                            <p:stCondLst>
                              <p:cond delay="550"/>
                            </p:stCondLst>
                            <p:childTnLst>
                              <p:par>
                                <p:cTn id="22" presetID="10" presetClass="entr" presetSubtype="0" fill="hold" grpId="0" nodeType="after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fade">
                                      <p:cBhvr>
                                        <p:cTn id="24" dur="55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
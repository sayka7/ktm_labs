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amaliy mashg'ulotning maqsadi — magistrantlarda sun'iy intellektga asoslangan hisoblash tizimining arxitekturasini muhandislik nuqtai nazaridan tahlil qilish, apparat va dasturiy ta'minotni birgalikda loyihalash (Hardware–Software Co-design) tamoyillari asosida strukturaviy sxema ishlab chiqish hamda bozordagi hisoblash platformalarini texnik tavsiflar bo'yicha asosli taqqoslash ko'nikmasini shakllantirishdir.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amaliy mashg'ulotning maqsadi — magistrantlarda sun'iy intellektga asoslangan hisoblash tizimining arxitekturasini muhandislik nuqtai nazaridan tahlil qilish, apparat va dasturiy ta'minotni birgalikda loyihalash (Hardware–Software Co-design) tamoyillari asosida strukturaviy sxema ishlab chiqish hamda bozordagi hisoblash platformalarini texnik tavsiflar bo'yicha asosli taqqoslash ko'nikmasini shakllantirishdir.</a:t>
            </a:r>
          </a:p>
          <a:p/>
          <a:p>
            <a:r>
              <a:t>AI tizimining to'rt qatlamli arxitekturasini (ma'lumot → model → hisoblash platformasi → xizmat) ajratib, har bir qatlamning resurs talabini aniq ko'rsatkichlar (FLOP, bayt, millisekund, vatt) orqali ifodalay oladi;</a:t>
            </a:r>
          </a:p>
          <a:p/>
          <a:p>
            <a:r>
              <a:t>Berilgan ish yuklamasi (workload) uchun arifmetik intensivlik (arithmetic intensity) va Roofline chegarasini hisoblab, tizim «hisoblash bilan cheklangan» yoki «xotira bilan cheklangan» ekanini asoslaydi;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Kamida uchta hisoblash platformasining (ma'lumotlar markazi GPU, chekka (edge) moduli, ixtisoslashgan tezlatkich) texnik pasportini bir jadvalda solishtirib, talablar matritsasi asosida tanlov qiladi;</a:t>
            </a:r>
          </a:p>
          <a:p/>
          <a:p>
            <a:r>
              <a:t>Hardware–Software Co-design tamoyillarini qo'llab, AI tizimining strukturaviy sxemasini matnli tavsif va interfeyslar ro'yxati ko'rinishida hujjatlashtiradi;</a:t>
            </a:r>
          </a:p>
          <a:p/>
          <a:p>
            <a:r>
              <a:t>Python'da yuklama hisobi skriptini yozib, nazariy baholarni real o'lchovlar bilan solishtirish metodikasini qo'llaydi.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 fanning TN1 (AI tizimlari arxitekturasini tahlil qilish va loyihalash), TN2 (hisoblash platformalarini tanlash va baholash) hamda TN7 (muhandislik hujjatlarini tayyorlash va natijalarni himoya qilish) ta'lim natijalariga bevosita xizmat qiladi; shuningdek, M1, M2 va M10 ma'ruzalaridagi nazariy materialni amaliy mustahkamlaydi.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sun'iy intellekt tizimi — bu shunchaki o'qitilgan neyron tarmoq emas, balki ma'lumotlar oqimi, model, hisoblash platformasi, tarmoq, saqlash tizimi va ekspluatatsiya jarayonlarini o'z ichiga olgan murakkab muhandislik majmuasidir. Sanoat tajribasi shuni ko'rsatadiki, AI loyihalarining katta qismi model sifati tufayli emas, balki arxitektura noto'g'ri tanlangani — hisoblash resursi yetmagani, xotira o'tkazuvchanligi tiqilib qolgani, kechikish (latency) talabi bajarilmagani yoki ekspluatatsiya narxi byudjetdan oshib ketgani sababli muvaffaqiyatsizlikka uchraydi. Shuning uchun AI muhandisi uchun arxitekturani tahlil qilish va loyihalash ko'nikmasi model o'qitish ko'nikmasi bilan teng darajada muhimdir.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sun'iy intellekt tizimi — bu shunchaki o'qitilgan neyron tarmoq emas, balki ma'lumotlar oqimi, model, hisoblash platformasi, tarmoq, saqlash tizimi va ekspluatatsiya jarayonlarini o'z ichiga olgan murakkab muhandislik majmuasidir. Sanoat tajribasi shuni ko'rsatadiki, AI loyihalarining katta qismi model sifati tufayli emas, balki arxitektura noto'g'ri tanlangani — hisoblash resursi yetmagani, xotira o'tkazuvchanligi tiqilib qolgani, kechikish (latency) talabi bajarilmagani yoki ekspluatatsiya narxi byudjetdan oshib ketgani sababli muvaffaqiyatsizlikka uchraydi. Shuning uchun AI muhandisi uchun arxitekturani tahlil qilish va loyihalash ko'nikmasi model o'qitish ko'nikmasi bilan teng darajada muhimdir.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Hardware–Software Co-design tushunchasi dastlab o'rnatilgan tizimlar (embedded systems) sohasida paydo bo'lgan: qaysi funksiyalarni apparatda (ASIC, FPGA), qaysilarini dasturda bajarish kerakligini loyihalashning dastlabki bosqichida birgalikda hal qilish. Sun'iy intellekt davrida bu g'oya yangi mazmun kasb etdi. Google'ning TPU loyihasi — modelning matritsa ko'paytirish (matrix multiply) amallariga bo'lgan talabini chuqur tahlil qilib, ayni shu amal uchun sistolik massiv (systolic array) arxitekturasini yaratishning klassik misolidir. NVIDIA Tensor Core'larining paydo bo'lishi, FP8 va FP4 formatlarining Hopper va Blackwell avlodlarida qo'llab-quvvatlanishi, Apple Neural Engine va Qualcomm Hexagon NPU'larining smartfonlarga kirib kelishi — bularning barchasi dasturiy ta'minot (model arxitekturasi, aniqlik formati, operatorlar to'plami) va apparat (hisoblash bloklari, xotira iyerarxiyasi, o'zaro bog'lanish) birgalikda rivojlanayotganining dalilidir.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davomida biz real sanoat vazifasiga yaqin ssenariy ustida ishlaymiz: korxona video-kuzatuv tizimida shaxsiy himoya vositalari (SHV) ni real vaqtda aniqlash uchun AI tizimi loyihalanmoqda. Talablar: 16 ta kamera, har biri 1080p va 10 kadr/sekund; aniqlash modeli — YOLO oilasidan; bir kadr uchun maksimal uchdan-uchgacha kechikish 200 ms; tizim ishlab chiqarish sexida (changli, +40 °C gacha harorat) joylashadi; byudjet cheklangan. Ushbu talablardan kelib chiqib, talaba platformani tanlashi, strukturaviy sxemani ishlab chiqishi va o'z qarorini raqamlar bilan asoslashi kerak.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Sun'iy intellektga asoslangan kompyuter tizimini (AI-enabled computer system) tahlil qilishda to'rt qatlamli model qulay: (1) ma'lumotlar qatlami — sensorlar, oqimlar, saqlash, oldindan ishlov berish; (2) model qatlami — neyron tarmoq arxitekturasi, parametrlar, aniqlik formati, operatorlar grafigi; (3) hisoblash platformasi qatlami — CPU, GPU, NPU, FPGA, xotira iyerarxiyasi, o'zaro bog'lanish (interconnect); (4) xizmat qatlami — API, konteynerlar, orkestratsiya, monitoring. Har bir qatlam o'ziga xos resurs talabiga ega va qatlamlar orasidagi interfeyslar aynan tizimning tiqilib qoladigan joylari (bottleneck) bo'lishi mumkin. Masalan, kameradan kelgan H.264 oqimini dekodlash CPU'da bajarilsa, 16 kamera uchun bu bitta protsessor yadrosini to'liq band qilishi mumkin — model qanchalik tez bo'lmasin, tizim dekodlash bosqichida tiqilib qoladi. Shu sababli arxitektura tahlili har doim butun quvur liniyasini (pipeline) qamrab olishi kerak.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Tahlilning asosiy ko'rsatkichlari quyidagilar: o'tkazuvchanlik (throughput) — birlik vaqtda ishlangan so'rovlar yoki kadrlar soni; kechikish (latency) — bitta so'rovning kirishdan natijagacha o'tgan vaqti, odatda o'rtacha emas, balki p95 yoki p99 persentil bilan o'lchanadi; energiya samaradorligi — bitta inferensga sarflangan joul yoki vatt birligiga to'g'ri keladigan operatsiyalar soni (TOPS/W); egallanadigan xotira hajmi; umumiy egalik qiymati (total cost of ownership, TCO).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 qanday loyihalash yuklamani raqamlar bilan ifodalashdan boshlanadi. Chuqur o'rganish modelining bitta inferensi uchun zarur bo'lgan suzuvchi nuqtali amallar soni (FLOP) model arxitekturasidan aniq hisoblanadi: konvolyutsiya qatlami uchun FLOP = 2  K_h  K_w  C_in  C_out  H_out  W_out, to'liq bog'langan qatlam uchun FLOP = 2  N_in  N_out. Masalan, YOLOv8n modeli 640×640 kirishda taxminan 8,7 GFLOP, YOLOv8s — 28,6 GFLOP, YOLOv8m — 78,9 GFLOP talab qiladi (ishlab chiquvchilar hujjatlaridagi taxminiy qiymatlar). 16 kamera va 10 kadr/sekund uchun jami 160 inferens/sekund kerak; YOLOv8s uchun bu 160  28,6 = 4576 GFLOP/s, ya'ni taxminan 4,6 TFLOP/s haqiqiy (erishiladigan) unumdorlik.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Xotira trafigi ham shunchalik muhim. Modelning har bir qatlami o'z vaznlarini (weights) va faollashuvlarini (activations) xotiradan o'qiydi va yozadi. Agar vaznlar FP16 formatida bo'lsa, YOLOv8s'ning 11,2 million parametri 22,4 MB joy egallaydi; paketlash (batching) ishlatilmasa, har inferensda vaznlar qayta o'qiladi. Arifmetik intensivlik AI = FLOP / bayt — bitta xotiradan o'qilgan baytga to'g'ri keladigan amallar soni. Roofline modeliga ko'ra, erishiladigan unumdorlik P = min(P_peak, AI  B_mem) formulasi bilan chegaralanadi, bu yerda P_peak — cho'qqi hisoblash unumdorligi, B_mem — xotira o'tkazuvchanligi. «Tizza nuqtasi» (ridge point) AI_ridge = P_peak / B_mem dan past intensivlikdagi yuklamalar xotira bilan, yuqoridagilari hisoblash bilan cheklanadi. Ma'lumotlar markazi GPU'larida (masalan, H100 SXM: ~990 TFLOP/s FP16 dense, ~3,35 TB/s HBM3) tizza nuqtasi taxminan 300 FLOP/bayt; Jetson Orin NX (~50 TOPS INT8 sparse emas, 102 GB/s LPDDR5) uchun esa taxminan 500 FLOP/bayt. Demak, bir xil model turli platformalarda turli rejimda ishlashi mumkin — bu Co-design uchun muhim xulosa.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Yuklamadan boshlash (workload-first). Avval model operatorlari profili tuziladi: qaysi operatorlar vaqtning necha foizini oladi. Agar 85 % vaqt konvolyutsiya va matritsa ko'paytirishga ketsa, Tensor Core yoki NPU hal qiluvchi; agar vaqtning katta qismi NMS (non-maximum suppression) kabi tarmoqlanuvchi mantiqqa ketsa, tezkor CPU yadrolari kerak.</a:t>
            </a:r>
          </a:p>
          <a:p/>
          <a:p>
            <a:r>
              <a:t>Aniqlik formatini apparatga moslashtirish. INT8 kvantlash Tensor Core'larda 2 baravar, Edge TPU'da esa yagona qo'llab-quvvatlanadigan format. Model INT8'ga sifatni yo'qotmasdan kvantlanmasa, Edge TPU avtomatik ravishda nomzodlar ro'yxatidan chiqadi.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Operatorlar qamrovi (operator coverage). Har bir tezlatkich cheklangan operatorlar to'plamini qo'llab-quvvatlaydi. Qo'llab-quvvatlanmagan operator CPU'ga «tushib» qoladi (fallback) va butun grafikning tezligini pasaytiradi. Loyihalashda model grafigi va tezlatkich operatorlar ro'yxati solishtiriladi.</a:t>
            </a:r>
          </a:p>
          <a:p/>
          <a:p>
            <a:r>
              <a:t>Xotira iyerarxiyasini hisobga olish. On-chip SRAM (masalan, Edge TPU'da 8 MB, Orin'da 4 MB L2 + yadro keshlari) ga sig'adigan model va faollashuvlar tashqi DRAM'ga murojaatni keskin kamaytiradi.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Butun tizim narxi va energiya byudjeti. Chekka qurilmada 15–25 Vt, serverda 300–700 Vt bir tezlatkich uchun. Sovutish, korpus, quvvat manbai ham loyihaning bir qismi.</a:t>
            </a:r>
          </a:p>
          <a:p/>
          <a:p>
            <a:r>
              <a:t>Iteratsiya. Birinchi tanlov prototipda o'lchanadi, natija talabga javob bermasa — model (masalan, kirish o'lchamini 640 dan 512 ga tushirish) yoki apparat (Orin NX → Orin AGX) o'zgartiriladi.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jadvalda mashg'ulotda solishtiriladigan uchta platformaning ochiq texnik tavsiflari keltirilgan (qiymatlar ishlab chiqaruvchilarning rasmiy ma'lumotlariga asoslangan, taxminiy; aniq raqam modul konfiguratsiyasi va quvvat rejimiga bog'liq).</a:t>
            </a:r>
          </a:p>
          <a:p/>
          <a:p>
            <a:r>
              <a:t>Jadvaldan ko'rinadiki, «eng kuchli» platforma har doim ham eng mos emas. A100 unumdorlikda ustun, lekin sexda joylashtirish, sovutish va narx bo'yicha talabga mos kelmaydi; Edge TPU juda arzon va tejamkor, lekin 160 inferens/sekund YOLOv8s yuklamasini ko'tara olmaydi (4 TOPS × ~50 % samaradorlik ≈ 2 TOPS haqiqiy, kerak esa 4,6 TOPS) va faqat INT8 model talab qiladi; Jetson Orin NX esa o'rta yo'l — apparat video dekoderi, sanoat harorati diapazoni, TensorRT qo'llab-quvvatlashi bilan talablarga eng yaqin.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jadvalda mashg'ulotda solishtiriladigan uchta platformaning ochiq texnik tavsiflari keltirilgan (qiymatlar ishlab chiqaruvchilarning rasmiy ma'lumotlariga asoslangan, taxminiy; aniq raqam modul konfiguratsiyasi va quvvat rejimiga bog'liq).</a:t>
            </a:r>
          </a:p>
          <a:p/>
          <a:p>
            <a:r>
              <a:t>Jadvaldan ko'rinadiki, «eng kuchli» platforma har doim ham eng mos emas. A100 unumdorlikda ustun, lekin sexda joylashtirish, sovutish va narx bo'yicha talabga mos kelmaydi; Edge TPU juda arzon va tejamkor, lekin 160 inferens/sekund YOLOv8s yuklamasini ko'tara olmaydi (4 TOPS × ~50 % samaradorlik ≈ 2 TOPS haqiqiy, kerak esa 4,6 TOPS) va faqat INT8 model talab qiladi; Jetson Orin NX esa o'rta yo'l — apparat video dekoderi, sanoat harorati diapazoni, TensorRT qo'llab-quvvatlashi bilan talablarga eng yaqin.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jadvalda mashg'ulotda solishtiriladigan uchta platformaning ochiq texnik tavsiflari keltirilgan (qiymatlar ishlab chiqaruvchilarning rasmiy ma'lumotlariga asoslangan, taxminiy; aniq raqam modul konfiguratsiyasi va quvvat rejimiga bog'liq).</a:t>
            </a:r>
          </a:p>
          <a:p/>
          <a:p>
            <a:r>
              <a:t>Jadvaldan ko'rinadiki, «eng kuchli» platforma har doim ham eng mos emas. A100 unumdorlikda ustun, lekin sexda joylashtirish, sovutish va narx bo'yicha talabga mos kelmaydi; Edge TPU juda arzon va tejamkor, lekin 160 inferens/sekund YOLOv8s yuklamasini ko'tara olmaydi (4 TOPS × ~50 % samaradorlik ≈ 2 TOPS haqiqiy, kerak esa 4,6 TOPS) va faqat INT8 model talab qiladi; Jetson Orin NX esa o'rta yo'l — apparat video dekoderi, sanoat harorati diapazoni, TensorRT qo'llab-quvvatlashi bilan talablarga eng yaqin.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Strukturaviy sxema — tizimning asosiy bloklari va ular orasidagi ma'lumot/boshqaruv oqimlarining tavsifi. AI tizimi uchun odatiy bloklar: kirish manbalari (IP-kameralar, RTSP), tarmoq kommutatori, ingest/dekodlash bloki, oldindan ishlov berish (resize, normalizatsiya), inferens dvigateli (TensorRT engine), keyingi ishlov berish (NMS, kuzatuv), biznes-mantiq (qoidalar, ogohlantirish), saqlash (hodisalar bazasi, video klip), monitoring (metrikalar, loglar), tashqi API. Har bir interfeys uchun protokol (RTSP/H.264, shared memory, gRPC, MQTT), o'tkazuvchanlik (Mbit/s yoki kadr/s) va kechikish byudjeti ko'rsatiladi. Kechikish byudjeti — umumiy 200 ms ni bloklar orasida taqsimlash: tarmoq va dekodlash 40 ms, oldindan ishlov 10 ms, inferens 60 ms, keyingi ishlov va mantiq 20 ms, zaxira 70 ms. Bunday taqsimot keyingi mashg'ulotlarda o'lchov natijalarini solishtirish uchun etalon bo'lib xizmat qiladi.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Strukturaviy sxema — tizimning asosiy bloklari va ular orasidagi ma'lumot/boshqaruv oqimlarining tavsifi. AI tizimi uchun odatiy bloklar: kirish manbalari (IP-kameralar, RTSP), tarmoq kommutatori, ingest/dekodlash bloki, oldindan ishlov berish (resize, normalizatsiya), inferens dvigateli (TensorRT engine), keyingi ishlov berish (NMS, kuzatuv), biznes-mantiq (qoidalar, ogohlantirish), saqlash (hodisalar bazasi, video klip), monitoring (metrikalar, loglar), tashqi API. Har bir interfeys uchun protokol (RTSP/H.264, shared memory, gRPC, MQTT), o'tkazuvchanlik (Mbit/s yoki kadr/s) va kechikish byudjeti ko'rsatiladi. Kechikish byudjeti — umumiy 200 ms ni bloklar orasida taqsimlash: tarmoq va dekodlash 40 ms, oldindan ishlov 10 ms, inferens 60 ms, keyingi ishlov va mantiq 20 ms, zaxira 70 ms. Bunday taqsimot keyingi mashg'ulotlarda o'lchov natijalarini solishtirish uchun etalon bo'lib xizmat qiladi.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Laboratoriya topshirig'i: «SHV aniqlash tizimi uchun hisoblash platformasini tanlash va strukturaviy sxema ishlab chiqish».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Laboratoriya topshirig'i: «SHV aniqlash tizimi uchun hisoblash platformasini tanlash va strukturaviy sxema ishlab chiqish».</a:t>
            </a:r>
          </a:p>
          <a:p/>
          <a:p>
            <a:r>
              <a:t>Talab qilinadigan muhit. Apparat: oddiy noutbuk yoki ish stantsiyasi (GPU shart emas). Dasturiy ta'minot: Python 3.10 yoki undan yuqori; kutubxonalar torch&gt;=2.1, ultralytics&gt;=8.1 (model FLOP hisobi uchun), pandas, tabulate. O'rnatish: pip install torch ultralytics pandas tabulate. Internet ulanishi — modellarning oldindan o'qitilgan vaznlarini yuklab olish uchun (bir marta). Vaqt: 2 akademik soat auditoriyada, hisobot — uyda yakunlanadi.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ssenariy talablarini o'lchanadigan ko'rsatkichlarga aylantiring va har biriga og'irlik (1–5) bering. Quyidagi matritsa namuna; talaba o'z asoslashi bilan og'irliklarni o'zgartirishi mumkin.</a:t>
            </a:r>
          </a:p>
          <a:p/>
          <a:p>
            <a:r>
              <a:t>Nima bo'ldi va nega. Talablar matritsasi loyihalashni sub'ektiv bahsdan ob'ektiv taqqoslashga o'tkazadi. Og'irliklar buyurtmachi ustuvorliklarini aks ettiradi: kechikish va o'tkazuvchanlik — funksional talab (bajarilmasa tizim ishlamaydi), narx — iqtisodiy cheklov.</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ssenariy talablarini o'lchanadigan ko'rsatkichlarga aylantiring va har biriga og'irlik (1–5) bering. Quyidagi matritsa namuna; talaba o'z asoslashi bilan og'irliklarni o'zgartirishi mumkin.</a:t>
            </a:r>
          </a:p>
          <a:p/>
          <a:p>
            <a:r>
              <a:t>Nima bo'ldi va nega. Talablar matritsasi loyihalashni sub'ektiv bahsdan ob'ektiv taqqoslashga o'tkazadi. Og'irliklar buyurtmachi ustuvorliklarini aks ettiradi: kechikish va o'tkazuvchanlik — funksional talab (bajarilmasa tizim ishlamaydi), narx — iqtisodiy cheklov.</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skript tanlangan YOLO variantlari uchun FLOP, parametrlar soni, vaznlar hajmi va talab qilinadigan jami unumdorlikni hisoblaydi.</a:t>
            </a:r>
          </a:p>
          <a:p/>
          <a:p>
            <a:r>
              <a:t>Nima bo'ldi va nega. Skript modelning statik xususiyatlaridan kelib chiqib «nazariy» talabni beradi. Bu — yuqori chegaradan ancha past baho emas, aksincha, quyi chegara: real platformada dekodlash, xotira ko'chirish va operatorlar samaradorligi (odatda cho'qqining 30–60 %) tufayli haqiqiy talab 2–3 baravar yuqori bo'ladi. Shuning uchun platformani tanlashda «samaradorlik koeffitsiyenti» kiritiladi.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(taxminiy, ultralytics versiyasiga qarab ±5 %):</a:t>
            </a:r>
          </a:p>
          <a:p/>
          <a:p>
            <a:r>
              <a:t>Nima bo'ldi va nega. Skript modelning statik xususiyatlaridan kelib chiqib «nazariy» talabni beradi. Bu — yuqori chegaradan ancha past baho emas, aksincha, quyi chegara: real platformada dekodlash, xotira ko'chirish va operatorlar samaradorligi (odatda cho'qqining 30–60 %) tufayli haqiqiy talab 2–3 baravar yuqori bo'ladi. Shuning uchun platformani tanlashda «samaradorlik koeffitsiyenti» kiritiladi.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skript tanlangan YOLO variantlari uchun FLOP, parametrlar soni, vaznlar hajmi va talab qilinadigan jami unumdorlikni hisoblaydi.</a:t>
            </a:r>
          </a:p>
          <a:p/>
          <a:p>
            <a:r>
              <a:t>Kutilgan natija (taxminiy, ultralytics versiyasiga qarab ±5 %):</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zaxira_koef — platformaning haqiqiy unumdorligi talabdan necha marta oshishi. 1 dan kichik qiymat (Edge TPU, CPU) — platforma yetarli emas; 3–5 oralig'i — sog'lom zaxira (pik yuklama, model yangilanishi, qo'shimcha kuzatuv algoritmi uchun); 50 dan katta (A100) — ortiqcha xarajat. Edge TPU uchun yechim bo'lishi mumkin edi: 16 kamerani 4 ta Coral modulga bo'lish va yolov8n INT8 ishlatish, lekin apparat dekoder yo'qligi CPU'ni band qiladi. Shu tahlil Orin NX ni asosiy nomzod qiladi.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(taxminiy):</a:t>
            </a:r>
          </a:p>
          <a:p/>
          <a:p>
            <a:r>
              <a:t>Nima bo'ldi va nega. zaxira_koef — platformaning haqiqiy unumdorligi talabdan necha marta oshishi. 1 dan kichik qiymat (Edge TPU, CPU) — platforma yetarli emas; 3–5 oralig'i — sog'lom zaxira (pik yuklama, model yangilanishi, qo'shimcha kuzatuv algoritmi uchun); 50 dan katta (A100) — ortiqcha xarajat. Edge TPU uchun yechim bo'lishi mumkin edi: 16 kamerani 4 ta Coral modulga bo'lish va yolov8n INT8 ishlatish, lekin apparat dekoder yo'qligi CPU'ni band qiladi. Shu tahlil Orin NX ni asosiy nomzod qiladi.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(taxminiy):</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Sxema har bir qadamda «ma'lumot qayerda yotadi» savoliga javob beradi. Jetson'da NVDEC chiqishi to'g'ridan-to'g'ri GPU xotirasida qolishi (nol nusxalash, zero-copy) CPU–GPU ko'chirishlarini olib tashlaydi — bu Co-design'ning amaliy ko'rinishi: apparat imkoniyati (umumiy xotira) dasturiy yechimni (DeepStream yoki VPI quvuri) belgilaydi.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Interfeyslar jadvali:</a:t>
            </a:r>
          </a:p>
          <a:p/>
          <a:p>
            <a:r>
              <a:t>Nima bo'ldi va nega. Sxema har bir qadamda «ma'lumot qayerda yotadi» savoliga javob beradi. Jetson'da NVDEC chiqishi to'g'ridan-to'g'ri GPU xotirasida qolishi (nol nusxalash, zero-copy) CPU–GPU ko'chirishlarini olib tashlaydi — bu Co-design'ning amaliy ko'rinishi: apparat imkoniyati (umumiy xotira) dasturiy yechimni (DeepStream yoki VPI quvuri) belgilaydi.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Talaba quyidagi shaklda strukturaviy sxemani yozadi (rasm shart emas; blok ro'yxati va interfeyslar jadvali yetarli):</a:t>
            </a:r>
          </a:p>
          <a:p/>
          <a:p>
            <a:r>
              <a:t>Interfeyslar jadvali:</a:t>
            </a:r>
          </a:p>
          <a:p/>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Hisobotda tanlangan platforma, rad etilgan muqobillar sabablari va xavflar ro'yxati yoziladi. Namuna xavflar: INT8 kvantlashda mAP 1–2 foiz punkt pasayishi (A3 mashg'ulotida tekshiriladi); +40 °C muhitda Orin NX termal cheklov (throttling) tufayli 25 Vt rejimida barqaror ishlamasligi — passiv emas, faol sovutishli sanoat korpusi talab qilinadi; 16 oqimni bitta modulda dekodlash NVDEC chegarasiga yaqin — zaxira sifatida ikki modulga bo'lish rejasi.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Hisobot (PDF yoki Markdown, 4–6 bet) quyidagilarni o'z ichiga oladi: (1) talablar matritsasi; (2) yuklama.csv jadvali va skript natijasi ekran tasviri; (3) platformalar taqqoslash jadvali va zaxira_koef izohi; (4) strukturaviy sxema matni va interfeyslar jadvali; (5) kechikish byudjeti taqsimoti; (6) xavflar va muqobil variantlar; (7) xulosa — bir xatboshida qaror asosi.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Qo'shimcha 10 ball: talaba ikkinchi ssenariy (masalan, 64 kamera, markaziy serverda ishlov) uchun ham tahlil o'tkazib, Edge va markazlashgan variantlarning TCO'sini 3 yilga solishtirsa.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Qo'shimcha 10 ball: talaba ikkinchi ssenariy (masalan, 64 kamera, markaziy serverda ishlov) uchun ham tahlil o'tkazib, Edge va markazlashgan variantlarning TCO'sini 3 yilga solishtirsa.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natijalari ikki darajada talqin qilinadi. Birinchi daraja — miqdoriy: zaxira_koef va energiya ko'rsatkichlari platformalarni aniq tartiblaydi. Ko'rinib turibdiki, Jetson Orin NX talabni taxminan 5 baravar zaxira bilan qoplaydi, bu zaxira pik yuklama (barcha kameralarda bir vaqtda harakat), kuzatuv algoritmi va kelgusida model yangilanishi uchun kerak. AGX Orin 13 baravar zaxira beradi, lekin uch baravar qimmat; agar buyurtmachi kelajakda kameralar sonini 32–48 gacha oshirishni rejalashtirsa, AGX Orin oqilona bo'lishi mumkin — ya'ni qaror texnik emas, balki texnik-iqtisodiy.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natijalari ikki darajada talqin qilinadi. Birinchi daraja — miqdoriy: zaxira_koef va energiya ko'rsatkichlari platformalarni aniq tartiblaydi. Ko'rinib turibdiki, Jetson Orin NX talabni taxminan 5 baravar zaxira bilan qoplaydi, bu zaxira pik yuklama (barcha kameralarda bir vaqtda harakat), kuzatuv algoritmi va kelgusida model yangilanishi uchun kerak. AGX Orin 13 baravar zaxira beradi, lekin uch baravar qimmat; agar buyurtmachi kelajakda kameralar sonini 32–48 gacha oshirishni rejalashtirsa, AGX Orin oqilona bo'lishi mumkin — ya'ni qaror texnik emas, balki texnik-iqtisodiy.</a:t>
            </a:r>
          </a:p>
          <a:p/>
          <a:p>
            <a:r>
              <a:t>Ikkinchi daraja — sifatiy cheklovlar. Nazariy hisob bir qancha soddalashtirishlarga asoslanadi: INT8 TOPS va FP32 FLOP bir-biriga teng deb olindi, samaradorlik koeffitsiyenti 45–50 % deb taxmin qilindi, dekodlash va oldindan ishlov berish yuklamasi batafsil modellashtirilmadi. Real tizimda bu bahoni faqat prototip o'lchovlari tasdiqlaydi yoki rad etadi. Shu sababli A1 natijasi — yakuniy qaror emas, balki A2–A4 mashg'ulotlarida o'lchov bilan tekshiriladigan gipoteza. Xususan, A3 da INT8 kvantlash aniqlikka ta'siri va haqiqiy latency, A4 da esa Jetson'da butun quvur liniyasining o'tkazuvchanligi o'lchanadi.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Muqobil yondashuvlar: (1) markazlashgan arxitektura — barcha kameralar oqimini serverdagi bitta GPU'ga yuborish; afzalligi — boshqaruv osonligi, kamchiligi — tarmoq yuklamasi (64 Mbit/s uzluksiz), yagona nosozlik nuqtasi, sex va server xonasi orasidagi kechikish; (2) gibrid — chekkada yengil model (yolov8n) birlamchi filtrlash, shubhali kadrlar serverda og'ir model bilan qayta tekshirish; bu Cloud–Edge taqqoslash A4 da chuqurlashtiriladi; (3) FPGA asosidagi yechim (masalan, AMD Kria KV260) — energiya samarador va deterministik kechikish, lekin ishlab chiqish murakkabligi va ekotizim cheklovlari yuqori.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Cho'qqi TOPS'ni haqiqiy unumdorlik deb qabul qilish. Ishlab chiqaruvchi ko'rsatadigan TOPS ko'pincha siyraklik (sparsity) hisobga olingan va ideal yuklama uchun. Har doim dense qiymatni oling va 30–60 % samaradorlik koeffitsiyentini qo'llang.</a:t>
            </a:r>
          </a:p>
          <a:p/>
          <a:p>
            <a:r>
              <a:t>Faqat inferensni hisoblash. Dekodlash, o'lcham o'zgartirish, NMS, kuzatuv va tarmoq ko'pincha inferens vaqtidan ko'p bo'ladi. Butun quvur liniyasi uchun kechikish byudjeti tuzing.</a:t>
            </a:r>
          </a:p>
          <a:p/>
          <a:p>
            <a:r>
              <a:t>Aniqlik formatini e'tiborsiz qoldirish. Edge TPU faqat INT8, ko'pgina NPU'lar FP16 ni qo'llamaydi. Platformani tanlashdan oldin modelni shu formatga kvantlash mumkinligini tekshiring.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Operatorlar qamrovini tekshirmaslik. Model grafigidagi bitta qo'llab-quvvatlanmagan operator butun tezlatkichni foydasiz qilishi mumkin. ONNX eksport va tezlatkich kompilyatorining xabarnomalarini o'qing.</a:t>
            </a:r>
          </a:p>
          <a:p/>
          <a:p>
            <a:r>
              <a:t>Termal va mexanik muhitni unutish. 25 Vt chekka modul passiv radiator bilan +40 °C da throttling qiladi. Quvvat rejimini (nvpmodel) va sovutishni loyihaning qismi deb hisoblang.</a:t>
            </a:r>
          </a:p>
          <a:p/>
          <a:p>
            <a:r>
              <a:t>O'rtacha kechikishni hisobot qilish. Foydalanuvchi uchun p95/p99 muhim. Kechikish taqsimotining «dumini» (tail latency) o'lchang va byudjetni shu bo'yicha tuzing.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TCO'ni faqat apparat narxi deb bilish. Elektr energiyasi, sovutish, texnik xizmat, dasturiy litsenziyalar va muhandis vaqti 3–5 yil davomida apparat narxidan oshib ketadi.</a:t>
            </a:r>
          </a:p>
          <a:p/>
          <a:p>
            <a:r>
              <a:t>Hujjatlashtirmaslik. Qaror asoslari (talablar matritsasi, rad etish sabablari) yozilmasa, 6 oydan keyin «nega aynan shu platforma?» savoliga hech kim javob bera olmaydi.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6900000" y="14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00000" y="19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900000" y="195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00000" y="1950000"/>
            <a:ext cx="1633333" cy="241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00000" y="1950000"/>
            <a:ext cx="1633333" cy="33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900000"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00000"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0000"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00000"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900000" y="340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900000" y="43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33333" y="24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533333" y="1466666"/>
            <a:ext cx="1633333" cy="38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533333" y="53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166666" y="14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166666" y="1466666"/>
            <a:ext cx="1633334"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166666" y="1950000"/>
            <a:ext cx="1633334"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166666" y="2433333"/>
            <a:ext cx="1633334"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166666" y="2433333"/>
            <a:ext cx="1633334"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166666" y="195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66666" y="3400000"/>
            <a:ext cx="1633334"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166666" y="340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0166666" y="1950000"/>
            <a:ext cx="1633334" cy="241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0166666" y="3400000"/>
            <a:ext cx="1633334"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166666" y="43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166666" y="1950000"/>
            <a:ext cx="1633334" cy="33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166666" y="3400000"/>
            <a:ext cx="1633334"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68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8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438333" y="13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438333" y="23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438333" y="3305000"/>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438333" y="4271666"/>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438333" y="5238333"/>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071666" y="1371666"/>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071666" y="2338333"/>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071666" y="330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071666" y="42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071666" y="52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7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7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7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700000" y="1350000"/>
            <a:ext cx="3600000" cy="3600000"/>
          </a:xfrm>
          <a:prstGeom prst="ellipse">
            <a:avLst/>
          </a:prstGeom>
          <a:noFill/>
          <a:ln w="381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550000" y="1200000"/>
            <a:ext cx="3900000" cy="3900000"/>
          </a:xfrm>
          <a:prstGeom prst="ellipse">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86a499801d0d5a2a.jpg"/>
          <p:cNvPicPr>
            <a:picLocks noChangeAspect="1"/>
          </p:cNvPicPr>
          <p:nvPr/>
        </p:nvPicPr>
        <p:blipFill>
          <a:blip r:embed="rId2"/>
          <a:srcRect l="9258" r="9258"/>
          <a:stretch>
            <a:fillRect/>
          </a:stretch>
        </p:blipFill>
        <p:spPr>
          <a:xfrm>
            <a:off x="7850000" y="1500000"/>
            <a:ext cx="3300000" cy="3300000"/>
          </a:xfrm>
          <a:prstGeom prst="ellipse">
            <a:avLst/>
          </a:prstGeom>
          <a:ln w="19050">
            <a:solidFill>
              <a:srgbClr val="22D3EE"/>
            </a:solidFill>
          </a:ln>
        </p:spPr>
      </p:pic>
      <p:sp>
        <p:nvSpPr>
          <p:cNvPr id="61" name="TextBox 60"/>
          <p:cNvSpPr txBox="1"/>
          <p:nvPr/>
        </p:nvSpPr>
        <p:spPr>
          <a:xfrm>
            <a:off x="6900000" y="6350000"/>
            <a:ext cx="5000000" cy="260000"/>
          </a:xfrm>
          <a:prstGeom prst="rect">
            <a:avLst/>
          </a:prstGeom>
          <a:noFill/>
        </p:spPr>
        <p:txBody>
          <a:bodyPr wrap="square" anchor="t" lIns="50800" rIns="50800">
            <a:spAutoFit/>
          </a:bodyPr>
          <a:lstStyle/>
          <a:p>
            <a:pPr algn="r"/>
            <a:r>
              <a:rPr sz="800" b="0">
                <a:solidFill>
                  <a:srgbClr val="707EAA"/>
                </a:solidFill>
                <a:latin typeface="Segoe UI"/>
              </a:rPr>
              <a:t>Rasm: Courtesy of Science History Institute,  No Known Copyright · Wikimedia Commons · Public domain</a:t>
            </a:r>
          </a:p>
        </p:txBody>
      </p:sp>
      <p:sp>
        <p:nvSpPr>
          <p:cNvPr id="62" name="Rounded Rectangle 61"/>
          <p:cNvSpPr/>
          <p:nvPr/>
        </p:nvSpPr>
        <p:spPr>
          <a:xfrm>
            <a:off x="700000" y="1250000"/>
            <a:ext cx="3400000" cy="400000"/>
          </a:xfrm>
          <a:prstGeom prst="round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2D3EE"/>
                </a:solidFill>
                <a:latin typeface="Segoe UI"/>
              </a:rPr>
              <a:t>LABORATORIYA ISHI · A1 · 2 soat</a:t>
            </a:r>
          </a:p>
        </p:txBody>
      </p:sp>
      <p:sp>
        <p:nvSpPr>
          <p:cNvPr id="63" name="TextBox 62"/>
          <p:cNvSpPr txBox="1"/>
          <p:nvPr/>
        </p:nvSpPr>
        <p:spPr>
          <a:xfrm>
            <a:off x="700000" y="650000"/>
            <a:ext cx="6400000" cy="500000"/>
          </a:xfrm>
          <a:prstGeom prst="rect">
            <a:avLst/>
          </a:prstGeom>
          <a:noFill/>
        </p:spPr>
        <p:txBody>
          <a:bodyPr wrap="square" anchor="t" lIns="50800" rIns="50800">
            <a:spAutoFit/>
          </a:bodyPr>
          <a:lstStyle/>
          <a:p>
            <a:pPr algn="l"/>
            <a:r>
              <a:rPr sz="1400" b="0">
                <a:solidFill>
                  <a:srgbClr val="AEBBD9"/>
                </a:solidFill>
                <a:latin typeface="Segoe UI"/>
              </a:rPr>
              <a:t>Sun'iy intellektga asoslangan kompyuter tizimlari muhandisligi</a:t>
            </a:r>
          </a:p>
        </p:txBody>
      </p:sp>
      <p:sp>
        <p:nvSpPr>
          <p:cNvPr id="64" name="TextBox 63"/>
          <p:cNvSpPr txBox="1"/>
          <p:nvPr/>
        </p:nvSpPr>
        <p:spPr>
          <a:xfrm>
            <a:off x="700000" y="1850000"/>
            <a:ext cx="6400000" cy="2700000"/>
          </a:xfrm>
          <a:prstGeom prst="rect">
            <a:avLst/>
          </a:prstGeom>
          <a:noFill/>
        </p:spPr>
        <p:txBody>
          <a:bodyPr wrap="square" anchor="t" lIns="50800" rIns="50800">
            <a:spAutoFit/>
          </a:bodyPr>
          <a:lstStyle/>
          <a:p>
            <a:pPr algn="l"/>
            <a:r>
              <a:rPr sz="2800" b="1">
                <a:solidFill>
                  <a:srgbClr val="E8EEFA"/>
                </a:solidFill>
                <a:latin typeface="Segoe UI"/>
              </a:rPr>
              <a:t>Sun'iy intellektga asoslangan kompyuter tizimlari arxitekturasini tahlil qilish va loyihalash</a:t>
            </a:r>
          </a:p>
        </p:txBody>
      </p:sp>
      <p:sp>
        <p:nvSpPr>
          <p:cNvPr id="65" name="Rectangle 64"/>
          <p:cNvSpPr/>
          <p:nvPr/>
        </p:nvSpPr>
        <p:spPr>
          <a:xfrm>
            <a:off x="760000" y="4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00000" y="4850000"/>
            <a:ext cx="6400000" cy="1200000"/>
          </a:xfrm>
          <a:prstGeom prst="rect">
            <a:avLst/>
          </a:prstGeom>
          <a:noFill/>
        </p:spPr>
        <p:txBody>
          <a:bodyPr wrap="square" anchor="t" lIns="50800" rIns="50800">
            <a:spAutoFit/>
          </a:bodyPr>
          <a:lstStyle/>
          <a:p>
            <a:pPr algn="l"/>
            <a:r>
              <a:rPr sz="1400" b="0">
                <a:solidFill>
                  <a:srgbClr val="AEBBD9"/>
                </a:solidFill>
                <a:latin typeface="Segoe UI"/>
              </a:rPr>
              <a:t>O‘qituvchi: S.Iskandarova, t.f.f.d. (PhD), dotsent</a:t>
            </a:r>
          </a:p>
          <a:p>
            <a:pPr algn="l"/>
            <a:r>
              <a:rPr sz="1400" b="0">
                <a:solidFill>
                  <a:srgbClr val="AEBBD9"/>
                </a:solidFill>
                <a:latin typeface="Segoe UI"/>
              </a:rPr>
              <a:t>2026-2027 o‘quv yili</a:t>
            </a:r>
          </a:p>
          <a:p>
            <a:pPr algn="l"/>
            <a:r>
              <a:rPr sz="1400" b="0">
                <a:solidFill>
                  <a:srgbClr val="AEBBD9"/>
                </a:solidFill>
                <a:latin typeface="Segoe U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200"/>
                            </p:stCondLst>
                            <p:childTnLst>
                              <p:par>
                                <p:cTn id="224" presetID="53" presetClass="entr" presetSubtype="16" fill="hold" grpId="0" nodeType="afterEffect">
                                  <p:stCondLst>
                                    <p:cond delay="0"/>
                                  </p:stCondLst>
                                  <p:childTnLst>
                                    <p:set>
                                      <p:cBhvr>
                                        <p:cTn id="225" dur="1" fill="hold">
                                          <p:stCondLst>
                                            <p:cond delay="0"/>
                                          </p:stCondLst>
                                        </p:cTn>
                                        <p:tgtEl>
                                          <p:spTgt spid="59"/>
                                        </p:tgtEl>
                                        <p:attrNameLst>
                                          <p:attrName>style.visibility</p:attrName>
                                        </p:attrNameLst>
                                      </p:cBhvr>
                                      <p:to>
                                        <p:strVal val="visible"/>
                                      </p:to>
                                    </p:set>
                                    <p:animEffect transition="in" filter="fade">
                                      <p:cBhvr>
                                        <p:cTn id="226" dur="550"/>
                                        <p:tgtEl>
                                          <p:spTgt spid="59"/>
                                        </p:tgtEl>
                                      </p:cBhvr>
                                    </p:animEffect>
                                    <p:anim calcmode="lin" valueType="num">
                                      <p:cBhvr additive="base">
                                        <p:cTn id="227" dur="550" fill="hold"/>
                                        <p:tgtEl>
                                          <p:spTgt spid="59"/>
                                        </p:tgtEl>
                                        <p:attrNameLst>
                                          <p:attrName>ppt_w</p:attrName>
                                        </p:attrNameLst>
                                      </p:cBhvr>
                                      <p:tavLst>
                                        <p:tav tm="0">
                                          <p:val>
                                            <p:strVal val="0"/>
                                          </p:val>
                                        </p:tav>
                                        <p:tav tm="100000">
                                          <p:val>
                                            <p:strVal val="#ppt_w"/>
                                          </p:val>
                                        </p:tav>
                                      </p:tavLst>
                                    </p:anim>
                                    <p:anim calcmode="lin" valueType="num">
                                      <p:cBhvr additive="base">
                                        <p:cTn id="228" dur="550" fill="hold"/>
                                        <p:tgtEl>
                                          <p:spTgt spid="59"/>
                                        </p:tgtEl>
                                        <p:attrNameLst>
                                          <p:attrName>ppt_h</p:attrName>
                                        </p:attrNameLst>
                                      </p:cBhvr>
                                      <p:tavLst>
                                        <p:tav tm="0">
                                          <p:val>
                                            <p:strVal val="0"/>
                                          </p:val>
                                        </p:tav>
                                        <p:tav tm="100000">
                                          <p:val>
                                            <p:strVal val="#ppt_h"/>
                                          </p:val>
                                        </p:tav>
                                      </p:tavLst>
                                    </p:anim>
                                  </p:childTnLst>
                                </p:cTn>
                              </p:par>
                            </p:childTnLst>
                          </p:cTn>
                        </p:par>
                        <p:par>
                          <p:cTn id="229" fill="hold">
                            <p:stCondLst>
                              <p:cond delay="200"/>
                            </p:stCondLst>
                            <p:childTnLst>
                              <p:par>
                                <p:cTn id="230" presetID="53" presetClass="entr" presetSubtype="16" fill="hold" grpId="0" nodeType="afterEffect">
                                  <p:stCondLst>
                                    <p:cond delay="0"/>
                                  </p:stCondLst>
                                  <p:childTnLst>
                                    <p:set>
                                      <p:cBhvr>
                                        <p:cTn id="231" dur="1" fill="hold">
                                          <p:stCondLst>
                                            <p:cond delay="0"/>
                                          </p:stCondLst>
                                        </p:cTn>
                                        <p:tgtEl>
                                          <p:spTgt spid="58"/>
                                        </p:tgtEl>
                                        <p:attrNameLst>
                                          <p:attrName>style.visibility</p:attrName>
                                        </p:attrNameLst>
                                      </p:cBhvr>
                                      <p:to>
                                        <p:strVal val="visible"/>
                                      </p:to>
                                    </p:set>
                                    <p:animEffect transition="in" filter="fade">
                                      <p:cBhvr>
                                        <p:cTn id="232" dur="550"/>
                                        <p:tgtEl>
                                          <p:spTgt spid="58"/>
                                        </p:tgtEl>
                                      </p:cBhvr>
                                    </p:animEffect>
                                    <p:anim calcmode="lin" valueType="num">
                                      <p:cBhvr additive="base">
                                        <p:cTn id="233" dur="550" fill="hold"/>
                                        <p:tgtEl>
                                          <p:spTgt spid="58"/>
                                        </p:tgtEl>
                                        <p:attrNameLst>
                                          <p:attrName>ppt_w</p:attrName>
                                        </p:attrNameLst>
                                      </p:cBhvr>
                                      <p:tavLst>
                                        <p:tav tm="0">
                                          <p:val>
                                            <p:strVal val="0"/>
                                          </p:val>
                                        </p:tav>
                                        <p:tav tm="100000">
                                          <p:val>
                                            <p:strVal val="#ppt_w"/>
                                          </p:val>
                                        </p:tav>
                                      </p:tavLst>
                                    </p:anim>
                                    <p:anim calcmode="lin" valueType="num">
                                      <p:cBhvr additive="base">
                                        <p:cTn id="234" dur="550" fill="hold"/>
                                        <p:tgtEl>
                                          <p:spTgt spid="58"/>
                                        </p:tgtEl>
                                        <p:attrNameLst>
                                          <p:attrName>ppt_h</p:attrName>
                                        </p:attrNameLst>
                                      </p:cBhvr>
                                      <p:tavLst>
                                        <p:tav tm="0">
                                          <p:val>
                                            <p:strVal val="0"/>
                                          </p:val>
                                        </p:tav>
                                        <p:tav tm="100000">
                                          <p:val>
                                            <p:strVal val="#ppt_h"/>
                                          </p:val>
                                        </p:tav>
                                      </p:tavLst>
                                    </p:anim>
                                  </p:childTnLst>
                                </p:cTn>
                              </p:par>
                            </p:childTnLst>
                          </p:cTn>
                        </p:par>
                        <p:par>
                          <p:cTn id="235" fill="hold">
                            <p:stCondLst>
                              <p:cond delay="200"/>
                            </p:stCondLst>
                            <p:childTnLst>
                              <p:par>
                                <p:cTn id="236" presetID="53" presetClass="entr" presetSubtype="16" fill="hold" grpId="0" nodeType="afterEffect">
                                  <p:stCondLst>
                                    <p:cond delay="0"/>
                                  </p:stCondLst>
                                  <p:childTnLst>
                                    <p:set>
                                      <p:cBhvr>
                                        <p:cTn id="237" dur="1" fill="hold">
                                          <p:stCondLst>
                                            <p:cond delay="0"/>
                                          </p:stCondLst>
                                        </p:cTn>
                                        <p:tgtEl>
                                          <p:spTgt spid="60"/>
                                        </p:tgtEl>
                                        <p:attrNameLst>
                                          <p:attrName>style.visibility</p:attrName>
                                        </p:attrNameLst>
                                      </p:cBhvr>
                                      <p:to>
                                        <p:strVal val="visible"/>
                                      </p:to>
                                    </p:set>
                                    <p:animEffect transition="in" filter="fade">
                                      <p:cBhvr>
                                        <p:cTn id="238" dur="550"/>
                                        <p:tgtEl>
                                          <p:spTgt spid="60"/>
                                        </p:tgtEl>
                                      </p:cBhvr>
                                    </p:animEffect>
                                    <p:anim calcmode="lin" valueType="num">
                                      <p:cBhvr additive="base">
                                        <p:cTn id="239" dur="550" fill="hold"/>
                                        <p:tgtEl>
                                          <p:spTgt spid="60"/>
                                        </p:tgtEl>
                                        <p:attrNameLst>
                                          <p:attrName>ppt_w</p:attrName>
                                        </p:attrNameLst>
                                      </p:cBhvr>
                                      <p:tavLst>
                                        <p:tav tm="0">
                                          <p:val>
                                            <p:strVal val="0"/>
                                          </p:val>
                                        </p:tav>
                                        <p:tav tm="100000">
                                          <p:val>
                                            <p:strVal val="#ppt_w"/>
                                          </p:val>
                                        </p:tav>
                                      </p:tavLst>
                                    </p:anim>
                                    <p:anim calcmode="lin" valueType="num">
                                      <p:cBhvr additive="base">
                                        <p:cTn id="240" dur="550" fill="hold"/>
                                        <p:tgtEl>
                                          <p:spTgt spid="60"/>
                                        </p:tgtEl>
                                        <p:attrNameLst>
                                          <p:attrName>ppt_h</p:attrName>
                                        </p:attrNameLst>
                                      </p:cBhvr>
                                      <p:tavLst>
                                        <p:tav tm="0">
                                          <p:val>
                                            <p:strVal val="0"/>
                                          </p:val>
                                        </p:tav>
                                        <p:tav tm="100000">
                                          <p:val>
                                            <p:strVal val="#ppt_h"/>
                                          </p:val>
                                        </p:tav>
                                      </p:tavLst>
                                    </p:anim>
                                  </p:childTnLst>
                                </p:cTn>
                              </p:par>
                            </p:childTnLst>
                          </p:cTn>
                        </p:par>
                        <p:par>
                          <p:cTn id="241" fill="hold">
                            <p:stCondLst>
                              <p:cond delay="200"/>
                            </p:stCondLst>
                            <p:childTnLst>
                              <p:par>
                                <p:cTn id="242" presetID="10" presetClass="entr" presetSubtype="0" fill="hold" grpId="0" nodeType="afterEffect">
                                  <p:stCondLst>
                                    <p:cond delay="0"/>
                                  </p:stCondLst>
                                  <p:childTnLst>
                                    <p:set>
                                      <p:cBhvr>
                                        <p:cTn id="243" dur="1" fill="hold">
                                          <p:stCondLst>
                                            <p:cond delay="0"/>
                                          </p:stCondLst>
                                        </p:cTn>
                                        <p:tgtEl>
                                          <p:spTgt spid="61"/>
                                        </p:tgtEl>
                                        <p:attrNameLst>
                                          <p:attrName>style.visibility</p:attrName>
                                        </p:attrNameLst>
                                      </p:cBhvr>
                                      <p:to>
                                        <p:strVal val="visible"/>
                                      </p:to>
                                    </p:set>
                                    <p:animEffect transition="in" filter="fade">
                                      <p:cBhvr>
                                        <p:cTn id="244" dur="550"/>
                                        <p:tgtEl>
                                          <p:spTgt spid="61"/>
                                        </p:tgtEl>
                                      </p:cBhvr>
                                    </p:animEffect>
                                  </p:childTnLst>
                                </p:cTn>
                              </p:par>
                            </p:childTnLst>
                          </p:cTn>
                        </p:par>
                        <p:par>
                          <p:cTn id="245" fill="hold">
                            <p:stCondLst>
                              <p:cond delay="350"/>
                            </p:stCondLst>
                            <p:childTnLst>
                              <p:par>
                                <p:cTn id="246" presetID="10" presetClass="entr" presetSubtype="0" fill="hold" grpId="0" nodeType="afterEffect">
                                  <p:stCondLst>
                                    <p:cond delay="0"/>
                                  </p:stCondLst>
                                  <p:childTnLst>
                                    <p:set>
                                      <p:cBhvr>
                                        <p:cTn id="247" dur="1" fill="hold">
                                          <p:stCondLst>
                                            <p:cond delay="0"/>
                                          </p:stCondLst>
                                        </p:cTn>
                                        <p:tgtEl>
                                          <p:spTgt spid="63"/>
                                        </p:tgtEl>
                                        <p:attrNameLst>
                                          <p:attrName>style.visibility</p:attrName>
                                        </p:attrNameLst>
                                      </p:cBhvr>
                                      <p:to>
                                        <p:strVal val="visible"/>
                                      </p:to>
                                    </p:set>
                                    <p:animEffect transition="in" filter="fade">
                                      <p:cBhvr>
                                        <p:cTn id="248" dur="550"/>
                                        <p:tgtEl>
                                          <p:spTgt spid="63"/>
                                        </p:tgtEl>
                                      </p:cBhvr>
                                    </p:animEffect>
                                  </p:childTnLst>
                                </p:cTn>
                              </p:par>
                            </p:childTnLst>
                          </p:cTn>
                        </p:par>
                        <p:par>
                          <p:cTn id="249" fill="hold">
                            <p:stCondLst>
                              <p:cond delay="500"/>
                            </p:stCondLst>
                            <p:childTnLst>
                              <p:par>
                                <p:cTn id="250" presetID="2" presetClass="entr" presetSubtype="8" fill="hold" grpId="0" nodeType="afterEffect">
                                  <p:stCondLst>
                                    <p:cond delay="0"/>
                                  </p:stCondLst>
                                  <p:childTnLst>
                                    <p:set>
                                      <p:cBhvr>
                                        <p:cTn id="251" dur="1" fill="hold">
                                          <p:stCondLst>
                                            <p:cond delay="0"/>
                                          </p:stCondLst>
                                        </p:cTn>
                                        <p:tgtEl>
                                          <p:spTgt spid="62"/>
                                        </p:tgtEl>
                                        <p:attrNameLst>
                                          <p:attrName>style.visibility</p:attrName>
                                        </p:attrNameLst>
                                      </p:cBhvr>
                                      <p:to>
                                        <p:strVal val="visible"/>
                                      </p:to>
                                    </p:set>
                                    <p:anim calcmode="lin" valueType="num">
                                      <p:cBhvr additive="base">
                                        <p:cTn id="253" dur="550" fill="hold"/>
                                        <p:tgtEl>
                                          <p:spTgt spid="62"/>
                                        </p:tgtEl>
                                        <p:attrNameLst>
                                          <p:attrName>ppt_x</p:attrName>
                                        </p:attrNameLst>
                                      </p:cBhvr>
                                      <p:tavLst>
                                        <p:tav tm="0">
                                          <p:val>
                                            <p:strVal val="0-#ppt_w/2"/>
                                          </p:val>
                                        </p:tav>
                                        <p:tav tm="100000">
                                          <p:val>
                                            <p:strVal val="#ppt_x"/>
                                          </p:val>
                                        </p:tav>
                                      </p:tavLst>
                                    </p:anim>
                                    <p:anim calcmode="lin" valueType="num">
                                      <p:cBhvr additive="base">
                                        <p:cTn id="254" dur="550" fill="hold"/>
                                        <p:tgtEl>
                                          <p:spTgt spid="62"/>
                                        </p:tgtEl>
                                        <p:attrNameLst>
                                          <p:attrName>ppt_y</p:attrName>
                                        </p:attrNameLst>
                                      </p:cBhvr>
                                      <p:tavLst>
                                        <p:tav tm="0">
                                          <p:val>
                                            <p:strVal val="#ppt_y"/>
                                          </p:val>
                                        </p:tav>
                                        <p:tav tm="100000">
                                          <p:val>
                                            <p:strVal val="#ppt_y"/>
                                          </p:val>
                                        </p:tav>
                                      </p:tavLst>
                                    </p:anim>
                                  </p:childTnLst>
                                </p:cTn>
                              </p:par>
                            </p:childTnLst>
                          </p:cTn>
                        </p:par>
                        <p:par>
                          <p:cTn id="255" fill="hold">
                            <p:stCondLst>
                              <p:cond delay="650"/>
                            </p:stCondLst>
                            <p:childTnLst>
                              <p:par>
                                <p:cTn id="256" presetID="42" presetClass="entr" presetSubtype="0" fill="hold" grpId="0" nodeType="afterEffect">
                                  <p:stCondLst>
                                    <p:cond delay="0"/>
                                  </p:stCondLst>
                                  <p:childTnLst>
                                    <p:set>
                                      <p:cBhvr>
                                        <p:cTn id="257" dur="1" fill="hold">
                                          <p:stCondLst>
                                            <p:cond delay="0"/>
                                          </p:stCondLst>
                                        </p:cTn>
                                        <p:tgtEl>
                                          <p:spTgt spid="64"/>
                                        </p:tgtEl>
                                        <p:attrNameLst>
                                          <p:attrName>style.visibility</p:attrName>
                                        </p:attrNameLst>
                                      </p:cBhvr>
                                      <p:to>
                                        <p:strVal val="visible"/>
                                      </p:to>
                                    </p:set>
                                    <p:animEffect transition="in" filter="fade">
                                      <p:cBhvr>
                                        <p:cTn id="258" dur="550"/>
                                        <p:tgtEl>
                                          <p:spTgt spid="64"/>
                                        </p:tgtEl>
                                      </p:cBhvr>
                                    </p:animEffect>
                                    <p:anim calcmode="lin" valueType="num">
                                      <p:cBhvr additive="base">
                                        <p:cTn id="259" dur="550" fill="hold"/>
                                        <p:tgtEl>
                                          <p:spTgt spid="64"/>
                                        </p:tgtEl>
                                        <p:attrNameLst>
                                          <p:attrName>ppt_x</p:attrName>
                                        </p:attrNameLst>
                                      </p:cBhvr>
                                      <p:tavLst>
                                        <p:tav tm="0">
                                          <p:val>
                                            <p:strVal val="#ppt_x"/>
                                          </p:val>
                                        </p:tav>
                                        <p:tav tm="100000">
                                          <p:val>
                                            <p:strVal val="#ppt_x"/>
                                          </p:val>
                                        </p:tav>
                                      </p:tavLst>
                                    </p:anim>
                                    <p:anim calcmode="lin" valueType="num">
                                      <p:cBhvr additive="base">
                                        <p:cTn id="260" dur="550" fill="hold"/>
                                        <p:tgtEl>
                                          <p:spTgt spid="64"/>
                                        </p:tgtEl>
                                        <p:attrNameLst>
                                          <p:attrName>ppt_y</p:attrName>
                                        </p:attrNameLst>
                                      </p:cBhvr>
                                      <p:tavLst>
                                        <p:tav tm="0">
                                          <p:val>
                                            <p:strVal val="#ppt_y+.08"/>
                                          </p:val>
                                        </p:tav>
                                        <p:tav tm="100000">
                                          <p:val>
                                            <p:strVal val="#ppt_y"/>
                                          </p:val>
                                        </p:tav>
                                      </p:tavLst>
                                    </p:anim>
                                  </p:childTnLst>
                                </p:cTn>
                              </p:par>
                            </p:childTnLst>
                          </p:cTn>
                        </p:par>
                        <p:par>
                          <p:cTn id="261" fill="hold">
                            <p:stCondLst>
                              <p:cond delay="800"/>
                            </p:stCondLst>
                            <p:childTnLst>
                              <p:par>
                                <p:cTn id="262" presetID="22" presetClass="entr" presetSubtype="8" fill="hold" grpId="0" nodeType="afterEffect">
                                  <p:stCondLst>
                                    <p:cond delay="0"/>
                                  </p:stCondLst>
                                  <p:childTnLst>
                                    <p:set>
                                      <p:cBhvr>
                                        <p:cTn id="263" dur="1" fill="hold">
                                          <p:stCondLst>
                                            <p:cond delay="0"/>
                                          </p:stCondLst>
                                        </p:cTn>
                                        <p:tgtEl>
                                          <p:spTgt spid="65"/>
                                        </p:tgtEl>
                                        <p:attrNameLst>
                                          <p:attrName>style.visibility</p:attrName>
                                        </p:attrNameLst>
                                      </p:cBhvr>
                                      <p:to>
                                        <p:strVal val="visible"/>
                                      </p:to>
                                    </p:set>
                                    <p:animEffect transition="in" filter="wipe(left)">
                                      <p:cBhvr>
                                        <p:cTn id="265" dur="800"/>
                                        <p:tgtEl>
                                          <p:spTgt spid="65"/>
                                        </p:tgtEl>
                                      </p:cBhvr>
                                    </p:animEffect>
                                  </p:childTnLst>
                                </p:cTn>
                              </p:par>
                            </p:childTnLst>
                          </p:cTn>
                        </p:par>
                        <p:par>
                          <p:cTn id="266" fill="hold">
                            <p:stCondLst>
                              <p:cond delay="950"/>
                            </p:stCondLst>
                            <p:childTnLst>
                              <p:par>
                                <p:cTn id="267" presetID="10" presetClass="entr" presetSubtype="0" fill="hold" grpId="0" nodeType="afterEffect">
                                  <p:stCondLst>
                                    <p:cond delay="0"/>
                                  </p:stCondLst>
                                  <p:childTnLst>
                                    <p:set>
                                      <p:cBhvr>
                                        <p:cTn id="268" dur="1" fill="hold">
                                          <p:stCondLst>
                                            <p:cond delay="0"/>
                                          </p:stCondLst>
                                        </p:cTn>
                                        <p:tgtEl>
                                          <p:spTgt spid="66"/>
                                        </p:tgtEl>
                                        <p:attrNameLst>
                                          <p:attrName>style.visibility</p:attrName>
                                        </p:attrNameLst>
                                      </p:cBhvr>
                                      <p:to>
                                        <p:strVal val="visible"/>
                                      </p:to>
                                    </p:set>
                                    <p:animEffect transition="in" filter="fade">
                                      <p:cBhvr>
                                        <p:cTn id="269" dur="55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9" grpId="0" animBg="1"/>
      <p:bldP spid="58" grpId="0" animBg="1"/>
      <p:bldP spid="61" grpId="0" animBg="1"/>
      <p:bldP spid="63" grpId="0" animBg="1"/>
      <p:bldP spid="62" grpId="0" animBg="1"/>
      <p:bldP spid="64" grpId="0" animBg="1"/>
      <p:bldP spid="65" grpId="0" animBg="1"/>
      <p:bldP spid="66"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LABORATORIYA REJASI</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Reja</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a:t>
            </a:r>
          </a:p>
        </p:txBody>
      </p:sp>
      <p:sp>
        <p:nvSpPr>
          <p:cNvPr id="25" name="Rounded Rectangle 24"/>
          <p:cNvSpPr/>
          <p:nvPr/>
        </p:nvSpPr>
        <p:spPr>
          <a:xfrm>
            <a:off x="550000" y="195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2035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2035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8" name="TextBox 27"/>
          <p:cNvSpPr txBox="1"/>
          <p:nvPr/>
        </p:nvSpPr>
        <p:spPr>
          <a:xfrm>
            <a:off x="1300000" y="1995000"/>
            <a:ext cx="10250000" cy="440000"/>
          </a:xfrm>
          <a:prstGeom prst="rect">
            <a:avLst/>
          </a:prstGeom>
          <a:noFill/>
        </p:spPr>
        <p:txBody>
          <a:bodyPr wrap="square" anchor="ctr">
            <a:spAutoFit/>
          </a:bodyPr>
          <a:lstStyle/>
          <a:p>
            <a:r>
              <a:rPr sz="1600" b="0">
                <a:solidFill>
                  <a:srgbClr val="E8EEFA"/>
                </a:solidFill>
                <a:latin typeface="Segoe UI"/>
              </a:rPr>
              <a:t>Mavzuning maqsadi va o'rganish natijalari</a:t>
            </a:r>
          </a:p>
        </p:txBody>
      </p:sp>
      <p:sp>
        <p:nvSpPr>
          <p:cNvPr id="29" name="Rounded Rectangle 28"/>
          <p:cNvSpPr/>
          <p:nvPr/>
        </p:nvSpPr>
        <p:spPr>
          <a:xfrm>
            <a:off x="550000" y="258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665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665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2625000"/>
            <a:ext cx="10250000" cy="440000"/>
          </a:xfrm>
          <a:prstGeom prst="rect">
            <a:avLst/>
          </a:prstGeom>
          <a:noFill/>
        </p:spPr>
        <p:txBody>
          <a:bodyPr wrap="square" anchor="ctr">
            <a:spAutoFit/>
          </a:bodyPr>
          <a:lstStyle/>
          <a:p>
            <a:r>
              <a:rPr sz="1600" b="0">
                <a:solidFill>
                  <a:srgbClr val="E8EEFA"/>
                </a:solidFill>
                <a:latin typeface="Segoe UI"/>
              </a:rPr>
              <a:t>Kirish</a:t>
            </a:r>
          </a:p>
        </p:txBody>
      </p:sp>
      <p:sp>
        <p:nvSpPr>
          <p:cNvPr id="33" name="Rounded Rectangle 32"/>
          <p:cNvSpPr/>
          <p:nvPr/>
        </p:nvSpPr>
        <p:spPr>
          <a:xfrm>
            <a:off x="550000" y="321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295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3295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6" name="TextBox 35"/>
          <p:cNvSpPr txBox="1"/>
          <p:nvPr/>
        </p:nvSpPr>
        <p:spPr>
          <a:xfrm>
            <a:off x="1300000" y="3255000"/>
            <a:ext cx="10250000" cy="440000"/>
          </a:xfrm>
          <a:prstGeom prst="rect">
            <a:avLst/>
          </a:prstGeom>
          <a:noFill/>
        </p:spPr>
        <p:txBody>
          <a:bodyPr wrap="square" anchor="ctr">
            <a:spAutoFit/>
          </a:bodyPr>
          <a:lstStyle/>
          <a:p>
            <a:r>
              <a:rPr sz="1600" b="0">
                <a:solidFill>
                  <a:srgbClr val="E8EEFA"/>
                </a:solidFill>
                <a:latin typeface="Segoe UI"/>
              </a:rPr>
              <a:t>Nazariy asoslar</a:t>
            </a:r>
          </a:p>
        </p:txBody>
      </p:sp>
      <p:sp>
        <p:nvSpPr>
          <p:cNvPr id="37" name="Rounded Rectangle 36"/>
          <p:cNvSpPr/>
          <p:nvPr/>
        </p:nvSpPr>
        <p:spPr>
          <a:xfrm>
            <a:off x="550000" y="384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0000" y="3925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60000" y="3925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40" name="TextBox 39"/>
          <p:cNvSpPr txBox="1"/>
          <p:nvPr/>
        </p:nvSpPr>
        <p:spPr>
          <a:xfrm>
            <a:off x="1300000" y="3885000"/>
            <a:ext cx="10250000" cy="440000"/>
          </a:xfrm>
          <a:prstGeom prst="rect">
            <a:avLst/>
          </a:prstGeom>
          <a:noFill/>
        </p:spPr>
        <p:txBody>
          <a:bodyPr wrap="square" anchor="ctr">
            <a:spAutoFit/>
          </a:bodyPr>
          <a:lstStyle/>
          <a:p>
            <a:r>
              <a:rPr sz="1600" b="0">
                <a:solidFill>
                  <a:srgbClr val="E8EEFA"/>
                </a:solidFill>
                <a:latin typeface="Segoe UI"/>
              </a:rPr>
              <a:t>Amaliy misol</a:t>
            </a:r>
          </a:p>
        </p:txBody>
      </p:sp>
      <p:sp>
        <p:nvSpPr>
          <p:cNvPr id="41" name="Rounded Rectangle 40"/>
          <p:cNvSpPr/>
          <p:nvPr/>
        </p:nvSpPr>
        <p:spPr>
          <a:xfrm>
            <a:off x="550000" y="447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0000" y="4555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0000" y="4555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44" name="TextBox 43"/>
          <p:cNvSpPr txBox="1"/>
          <p:nvPr/>
        </p:nvSpPr>
        <p:spPr>
          <a:xfrm>
            <a:off x="1300000" y="4515000"/>
            <a:ext cx="10250000" cy="440000"/>
          </a:xfrm>
          <a:prstGeom prst="rect">
            <a:avLst/>
          </a:prstGeom>
          <a:noFill/>
        </p:spPr>
        <p:txBody>
          <a:bodyPr wrap="square" anchor="ctr">
            <a:spAutoFit/>
          </a:bodyPr>
          <a:lstStyle/>
          <a:p>
            <a:r>
              <a:rPr sz="1600" b="0">
                <a:solidFill>
                  <a:srgbClr val="E8EEFA"/>
                </a:solidFill>
                <a:latin typeface="Segoe UI"/>
              </a:rPr>
              <a:t>Natijalarni tahlil qilish</a:t>
            </a:r>
          </a:p>
        </p:txBody>
      </p:sp>
      <p:sp>
        <p:nvSpPr>
          <p:cNvPr id="45" name="Rounded Rectangle 44"/>
          <p:cNvSpPr/>
          <p:nvPr/>
        </p:nvSpPr>
        <p:spPr>
          <a:xfrm>
            <a:off x="550000" y="510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50000" y="5185000"/>
            <a:ext cx="50000" cy="3600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60000" y="5185000"/>
            <a:ext cx="360000" cy="36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48" name="TextBox 47"/>
          <p:cNvSpPr txBox="1"/>
          <p:nvPr/>
        </p:nvSpPr>
        <p:spPr>
          <a:xfrm>
            <a:off x="1300000" y="5145000"/>
            <a:ext cx="10250000" cy="440000"/>
          </a:xfrm>
          <a:prstGeom prst="rect">
            <a:avLst/>
          </a:prstGeom>
          <a:noFill/>
        </p:spPr>
        <p:txBody>
          <a:bodyPr wrap="square" anchor="ctr">
            <a:spAutoFit/>
          </a:bodyPr>
          <a:lstStyle/>
          <a:p>
            <a:r>
              <a:rPr sz="1600" b="0">
                <a:solidFill>
                  <a:srgbClr val="E8EEFA"/>
                </a:solidFill>
                <a:latin typeface="Segoe UI"/>
              </a:rPr>
              <a:t>Keng tarqalgan xatolar va amaliy tavsiyalar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ppt_x</p:attrName>
                                        </p:attrNameLst>
                                      </p:cBhvr>
                                      <p:tavLst>
                                        <p:tav tm="0">
                                          <p:val>
                                            <p:strVal val="#ppt_x"/>
                                          </p:val>
                                        </p:tav>
                                        <p:tav tm="100000">
                                          <p:val>
                                            <p:strVal val="#ppt_x"/>
                                          </p:val>
                                        </p:tav>
                                      </p:tavLst>
                                    </p:anim>
                                    <p:anim calcmode="lin" valueType="num">
                                      <p:cBhvr additive="base">
                                        <p:cTn id="17" dur="550" fill="hold"/>
                                        <p:tgtEl>
                                          <p:spTgt spid="25"/>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ppt_x</p:attrName>
                                        </p:attrNameLst>
                                      </p:cBhvr>
                                      <p:tavLst>
                                        <p:tav tm="0">
                                          <p:val>
                                            <p:strVal val="#ppt_x"/>
                                          </p:val>
                                        </p:tav>
                                        <p:tav tm="100000">
                                          <p:val>
                                            <p:strVal val="#ppt_x"/>
                                          </p:val>
                                        </p:tav>
                                      </p:tavLst>
                                    </p:anim>
                                    <p:anim calcmode="lin" valueType="num">
                                      <p:cBhvr additive="base">
                                        <p:cTn id="23" dur="550" fill="hold"/>
                                        <p:tgtEl>
                                          <p:spTgt spid="26"/>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anim calcmode="lin" valueType="num">
                                      <p:cBhvr additive="base">
                                        <p:cTn id="28" dur="550" fill="hold"/>
                                        <p:tgtEl>
                                          <p:spTgt spid="27"/>
                                        </p:tgtEl>
                                        <p:attrNameLst>
                                          <p:attrName>ppt_w</p:attrName>
                                        </p:attrNameLst>
                                      </p:cBhvr>
                                      <p:tavLst>
                                        <p:tav tm="0">
                                          <p:val>
                                            <p:strVal val="0"/>
                                          </p:val>
                                        </p:tav>
                                        <p:tav tm="100000">
                                          <p:val>
                                            <p:strVal val="#ppt_w"/>
                                          </p:val>
                                        </p:tav>
                                      </p:tavLst>
                                    </p:anim>
                                    <p:anim calcmode="lin" valueType="num">
                                      <p:cBhvr additive="base">
                                        <p:cTn id="29" dur="550" fill="hold"/>
                                        <p:tgtEl>
                                          <p:spTgt spid="27"/>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50"/>
                                        <p:tgtEl>
                                          <p:spTgt spid="28"/>
                                        </p:tgtEl>
                                      </p:cBhvr>
                                    </p:animEffect>
                                    <p:anim calcmode="lin" valueType="num">
                                      <p:cBhvr additive="base">
                                        <p:cTn id="34" dur="550" fill="hold"/>
                                        <p:tgtEl>
                                          <p:spTgt spid="28"/>
                                        </p:tgtEl>
                                        <p:attrNameLst>
                                          <p:attrName>ppt_x</p:attrName>
                                        </p:attrNameLst>
                                      </p:cBhvr>
                                      <p:tavLst>
                                        <p:tav tm="0">
                                          <p:val>
                                            <p:strVal val="#ppt_x"/>
                                          </p:val>
                                        </p:tav>
                                        <p:tav tm="100000">
                                          <p:val>
                                            <p:strVal val="#ppt_x"/>
                                          </p:val>
                                        </p:tav>
                                      </p:tavLst>
                                    </p:anim>
                                    <p:anim calcmode="lin" valueType="num">
                                      <p:cBhvr additive="base">
                                        <p:cTn id="35" dur="550" fill="hold"/>
                                        <p:tgtEl>
                                          <p:spTgt spid="28"/>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50"/>
                                        <p:tgtEl>
                                          <p:spTgt spid="29"/>
                                        </p:tgtEl>
                                      </p:cBhvr>
                                    </p:animEffect>
                                    <p:anim calcmode="lin" valueType="num">
                                      <p:cBhvr additive="base">
                                        <p:cTn id="40" dur="550" fill="hold"/>
                                        <p:tgtEl>
                                          <p:spTgt spid="29"/>
                                        </p:tgtEl>
                                        <p:attrNameLst>
                                          <p:attrName>ppt_x</p:attrName>
                                        </p:attrNameLst>
                                      </p:cBhvr>
                                      <p:tavLst>
                                        <p:tav tm="0">
                                          <p:val>
                                            <p:strVal val="#ppt_x"/>
                                          </p:val>
                                        </p:tav>
                                        <p:tav tm="100000">
                                          <p:val>
                                            <p:strVal val="#ppt_x"/>
                                          </p:val>
                                        </p:tav>
                                      </p:tavLst>
                                    </p:anim>
                                    <p:anim calcmode="lin" valueType="num">
                                      <p:cBhvr additive="base">
                                        <p:cTn id="41" dur="550" fill="hold"/>
                                        <p:tgtEl>
                                          <p:spTgt spid="29"/>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50"/>
                                        <p:tgtEl>
                                          <p:spTgt spid="30"/>
                                        </p:tgtEl>
                                      </p:cBhvr>
                                    </p:animEffect>
                                    <p:anim calcmode="lin" valueType="num">
                                      <p:cBhvr additive="base">
                                        <p:cTn id="46" dur="550" fill="hold"/>
                                        <p:tgtEl>
                                          <p:spTgt spid="30"/>
                                        </p:tgtEl>
                                        <p:attrNameLst>
                                          <p:attrName>ppt_x</p:attrName>
                                        </p:attrNameLst>
                                      </p:cBhvr>
                                      <p:tavLst>
                                        <p:tav tm="0">
                                          <p:val>
                                            <p:strVal val="#ppt_x"/>
                                          </p:val>
                                        </p:tav>
                                        <p:tav tm="100000">
                                          <p:val>
                                            <p:strVal val="#ppt_x"/>
                                          </p:val>
                                        </p:tav>
                                      </p:tavLst>
                                    </p:anim>
                                    <p:anim calcmode="lin" valueType="num">
                                      <p:cBhvr additive="base">
                                        <p:cTn id="47" dur="550" fill="hold"/>
                                        <p:tgtEl>
                                          <p:spTgt spid="30"/>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50"/>
                                        <p:tgtEl>
                                          <p:spTgt spid="31"/>
                                        </p:tgtEl>
                                      </p:cBhvr>
                                    </p:animEffect>
                                    <p:anim calcmode="lin" valueType="num">
                                      <p:cBhvr additive="base">
                                        <p:cTn id="52" dur="550" fill="hold"/>
                                        <p:tgtEl>
                                          <p:spTgt spid="31"/>
                                        </p:tgtEl>
                                        <p:attrNameLst>
                                          <p:attrName>ppt_w</p:attrName>
                                        </p:attrNameLst>
                                      </p:cBhvr>
                                      <p:tavLst>
                                        <p:tav tm="0">
                                          <p:val>
                                            <p:strVal val="0"/>
                                          </p:val>
                                        </p:tav>
                                        <p:tav tm="100000">
                                          <p:val>
                                            <p:strVal val="#ppt_w"/>
                                          </p:val>
                                        </p:tav>
                                      </p:tavLst>
                                    </p:anim>
                                    <p:anim calcmode="lin" valueType="num">
                                      <p:cBhvr additive="base">
                                        <p:cTn id="53" dur="550" fill="hold"/>
                                        <p:tgtEl>
                                          <p:spTgt spid="31"/>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50"/>
                                        <p:tgtEl>
                                          <p:spTgt spid="32"/>
                                        </p:tgtEl>
                                      </p:cBhvr>
                                    </p:animEffect>
                                    <p:anim calcmode="lin" valueType="num">
                                      <p:cBhvr additive="base">
                                        <p:cTn id="58" dur="550" fill="hold"/>
                                        <p:tgtEl>
                                          <p:spTgt spid="32"/>
                                        </p:tgtEl>
                                        <p:attrNameLst>
                                          <p:attrName>ppt_x</p:attrName>
                                        </p:attrNameLst>
                                      </p:cBhvr>
                                      <p:tavLst>
                                        <p:tav tm="0">
                                          <p:val>
                                            <p:strVal val="#ppt_x"/>
                                          </p:val>
                                        </p:tav>
                                        <p:tav tm="100000">
                                          <p:val>
                                            <p:strVal val="#ppt_x"/>
                                          </p:val>
                                        </p:tav>
                                      </p:tavLst>
                                    </p:anim>
                                    <p:anim calcmode="lin" valueType="num">
                                      <p:cBhvr additive="base">
                                        <p:cTn id="59" dur="550" fill="hold"/>
                                        <p:tgtEl>
                                          <p:spTgt spid="32"/>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50"/>
                                        <p:tgtEl>
                                          <p:spTgt spid="33"/>
                                        </p:tgtEl>
                                      </p:cBhvr>
                                    </p:animEffect>
                                    <p:anim calcmode="lin" valueType="num">
                                      <p:cBhvr additive="base">
                                        <p:cTn id="64" dur="550" fill="hold"/>
                                        <p:tgtEl>
                                          <p:spTgt spid="33"/>
                                        </p:tgtEl>
                                        <p:attrNameLst>
                                          <p:attrName>ppt_x</p:attrName>
                                        </p:attrNameLst>
                                      </p:cBhvr>
                                      <p:tavLst>
                                        <p:tav tm="0">
                                          <p:val>
                                            <p:strVal val="#ppt_x"/>
                                          </p:val>
                                        </p:tav>
                                        <p:tav tm="100000">
                                          <p:val>
                                            <p:strVal val="#ppt_x"/>
                                          </p:val>
                                        </p:tav>
                                      </p:tavLst>
                                    </p:anim>
                                    <p:anim calcmode="lin" valueType="num">
                                      <p:cBhvr additive="base">
                                        <p:cTn id="65" dur="550" fill="hold"/>
                                        <p:tgtEl>
                                          <p:spTgt spid="33"/>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50"/>
                                        <p:tgtEl>
                                          <p:spTgt spid="34"/>
                                        </p:tgtEl>
                                      </p:cBhvr>
                                    </p:animEffect>
                                    <p:anim calcmode="lin" valueType="num">
                                      <p:cBhvr additive="base">
                                        <p:cTn id="70" dur="550" fill="hold"/>
                                        <p:tgtEl>
                                          <p:spTgt spid="34"/>
                                        </p:tgtEl>
                                        <p:attrNameLst>
                                          <p:attrName>ppt_x</p:attrName>
                                        </p:attrNameLst>
                                      </p:cBhvr>
                                      <p:tavLst>
                                        <p:tav tm="0">
                                          <p:val>
                                            <p:strVal val="#ppt_x"/>
                                          </p:val>
                                        </p:tav>
                                        <p:tav tm="100000">
                                          <p:val>
                                            <p:strVal val="#ppt_x"/>
                                          </p:val>
                                        </p:tav>
                                      </p:tavLst>
                                    </p:anim>
                                    <p:anim calcmode="lin" valueType="num">
                                      <p:cBhvr additive="base">
                                        <p:cTn id="71" dur="550" fill="hold"/>
                                        <p:tgtEl>
                                          <p:spTgt spid="34"/>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550"/>
                                        <p:tgtEl>
                                          <p:spTgt spid="35"/>
                                        </p:tgtEl>
                                      </p:cBhvr>
                                    </p:animEffect>
                                    <p:anim calcmode="lin" valueType="num">
                                      <p:cBhvr additive="base">
                                        <p:cTn id="76" dur="550" fill="hold"/>
                                        <p:tgtEl>
                                          <p:spTgt spid="35"/>
                                        </p:tgtEl>
                                        <p:attrNameLst>
                                          <p:attrName>ppt_w</p:attrName>
                                        </p:attrNameLst>
                                      </p:cBhvr>
                                      <p:tavLst>
                                        <p:tav tm="0">
                                          <p:val>
                                            <p:strVal val="0"/>
                                          </p:val>
                                        </p:tav>
                                        <p:tav tm="100000">
                                          <p:val>
                                            <p:strVal val="#ppt_w"/>
                                          </p:val>
                                        </p:tav>
                                      </p:tavLst>
                                    </p:anim>
                                    <p:anim calcmode="lin" valueType="num">
                                      <p:cBhvr additive="base">
                                        <p:cTn id="77" dur="550" fill="hold"/>
                                        <p:tgtEl>
                                          <p:spTgt spid="35"/>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50"/>
                                        <p:tgtEl>
                                          <p:spTgt spid="36"/>
                                        </p:tgtEl>
                                      </p:cBhvr>
                                    </p:animEffect>
                                    <p:anim calcmode="lin" valueType="num">
                                      <p:cBhvr additive="base">
                                        <p:cTn id="82" dur="550" fill="hold"/>
                                        <p:tgtEl>
                                          <p:spTgt spid="36"/>
                                        </p:tgtEl>
                                        <p:attrNameLst>
                                          <p:attrName>ppt_x</p:attrName>
                                        </p:attrNameLst>
                                      </p:cBhvr>
                                      <p:tavLst>
                                        <p:tav tm="0">
                                          <p:val>
                                            <p:strVal val="#ppt_x"/>
                                          </p:val>
                                        </p:tav>
                                        <p:tav tm="100000">
                                          <p:val>
                                            <p:strVal val="#ppt_x"/>
                                          </p:val>
                                        </p:tav>
                                      </p:tavLst>
                                    </p:anim>
                                    <p:anim calcmode="lin" valueType="num">
                                      <p:cBhvr additive="base">
                                        <p:cTn id="83" dur="550" fill="hold"/>
                                        <p:tgtEl>
                                          <p:spTgt spid="36"/>
                                        </p:tgtEl>
                                        <p:attrNameLst>
                                          <p:attrName>ppt_y</p:attrName>
                                        </p:attrNameLst>
                                      </p:cBhvr>
                                      <p:tavLst>
                                        <p:tav tm="0">
                                          <p:val>
                                            <p:strVal val="#ppt_y+.08"/>
                                          </p:val>
                                        </p:tav>
                                        <p:tav tm="100000">
                                          <p:val>
                                            <p:strVal val="#ppt_y"/>
                                          </p:val>
                                        </p:tav>
                                      </p:tavLst>
                                    </p:anim>
                                  </p:childTnLst>
                                </p:cTn>
                              </p:par>
                            </p:childTnLst>
                          </p:cTn>
                        </p:par>
                        <p:par>
                          <p:cTn id="84" fill="hold">
                            <p:stCondLst>
                              <p:cond delay="800"/>
                            </p:stCondLst>
                            <p:childTnLst>
                              <p:par>
                                <p:cTn id="85" presetID="42" presetClass="entr" presetSubtype="0"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550"/>
                                        <p:tgtEl>
                                          <p:spTgt spid="37"/>
                                        </p:tgtEl>
                                      </p:cBhvr>
                                    </p:animEffect>
                                    <p:anim calcmode="lin" valueType="num">
                                      <p:cBhvr additive="base">
                                        <p:cTn id="88" dur="550" fill="hold"/>
                                        <p:tgtEl>
                                          <p:spTgt spid="37"/>
                                        </p:tgtEl>
                                        <p:attrNameLst>
                                          <p:attrName>ppt_x</p:attrName>
                                        </p:attrNameLst>
                                      </p:cBhvr>
                                      <p:tavLst>
                                        <p:tav tm="0">
                                          <p:val>
                                            <p:strVal val="#ppt_x"/>
                                          </p:val>
                                        </p:tav>
                                        <p:tav tm="100000">
                                          <p:val>
                                            <p:strVal val="#ppt_x"/>
                                          </p:val>
                                        </p:tav>
                                      </p:tavLst>
                                    </p:anim>
                                    <p:anim calcmode="lin" valueType="num">
                                      <p:cBhvr additive="base">
                                        <p:cTn id="89" dur="550" fill="hold"/>
                                        <p:tgtEl>
                                          <p:spTgt spid="37"/>
                                        </p:tgtEl>
                                        <p:attrNameLst>
                                          <p:attrName>ppt_y</p:attrName>
                                        </p:attrNameLst>
                                      </p:cBhvr>
                                      <p:tavLst>
                                        <p:tav tm="0">
                                          <p:val>
                                            <p:strVal val="#ppt_y+.08"/>
                                          </p:val>
                                        </p:tav>
                                        <p:tav tm="100000">
                                          <p:val>
                                            <p:strVal val="#ppt_y"/>
                                          </p:val>
                                        </p:tav>
                                      </p:tavLst>
                                    </p:anim>
                                  </p:childTnLst>
                                </p:cTn>
                              </p:par>
                            </p:childTnLst>
                          </p:cTn>
                        </p:par>
                        <p:par>
                          <p:cTn id="90" fill="hold">
                            <p:stCondLst>
                              <p:cond delay="800"/>
                            </p:stCondLst>
                            <p:childTnLst>
                              <p:par>
                                <p:cTn id="91" presetID="42" presetClass="entr" presetSubtype="0" fill="hold" grpId="0" nodeType="after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550"/>
                                        <p:tgtEl>
                                          <p:spTgt spid="38"/>
                                        </p:tgtEl>
                                      </p:cBhvr>
                                    </p:animEffect>
                                    <p:anim calcmode="lin" valueType="num">
                                      <p:cBhvr additive="base">
                                        <p:cTn id="94" dur="550" fill="hold"/>
                                        <p:tgtEl>
                                          <p:spTgt spid="38"/>
                                        </p:tgtEl>
                                        <p:attrNameLst>
                                          <p:attrName>ppt_x</p:attrName>
                                        </p:attrNameLst>
                                      </p:cBhvr>
                                      <p:tavLst>
                                        <p:tav tm="0">
                                          <p:val>
                                            <p:strVal val="#ppt_x"/>
                                          </p:val>
                                        </p:tav>
                                        <p:tav tm="100000">
                                          <p:val>
                                            <p:strVal val="#ppt_x"/>
                                          </p:val>
                                        </p:tav>
                                      </p:tavLst>
                                    </p:anim>
                                    <p:anim calcmode="lin" valueType="num">
                                      <p:cBhvr additive="base">
                                        <p:cTn id="95" dur="550" fill="hold"/>
                                        <p:tgtEl>
                                          <p:spTgt spid="38"/>
                                        </p:tgtEl>
                                        <p:attrNameLst>
                                          <p:attrName>ppt_y</p:attrName>
                                        </p:attrNameLst>
                                      </p:cBhvr>
                                      <p:tavLst>
                                        <p:tav tm="0">
                                          <p:val>
                                            <p:strVal val="#ppt_y+.08"/>
                                          </p:val>
                                        </p:tav>
                                        <p:tav tm="100000">
                                          <p:val>
                                            <p:strVal val="#ppt_y"/>
                                          </p:val>
                                        </p:tav>
                                      </p:tavLst>
                                    </p:anim>
                                  </p:childTnLst>
                                </p:cTn>
                              </p:par>
                            </p:childTnLst>
                          </p:cTn>
                        </p:par>
                        <p:par>
                          <p:cTn id="96" fill="hold">
                            <p:stCondLst>
                              <p:cond delay="800"/>
                            </p:stCondLst>
                            <p:childTnLst>
                              <p:par>
                                <p:cTn id="97" presetID="53" presetClass="entr" presetSubtype="16" fill="hold" grpId="0" nodeType="after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550"/>
                                        <p:tgtEl>
                                          <p:spTgt spid="39"/>
                                        </p:tgtEl>
                                      </p:cBhvr>
                                    </p:animEffect>
                                    <p:anim calcmode="lin" valueType="num">
                                      <p:cBhvr additive="base">
                                        <p:cTn id="100" dur="550" fill="hold"/>
                                        <p:tgtEl>
                                          <p:spTgt spid="39"/>
                                        </p:tgtEl>
                                        <p:attrNameLst>
                                          <p:attrName>ppt_w</p:attrName>
                                        </p:attrNameLst>
                                      </p:cBhvr>
                                      <p:tavLst>
                                        <p:tav tm="0">
                                          <p:val>
                                            <p:strVal val="0"/>
                                          </p:val>
                                        </p:tav>
                                        <p:tav tm="100000">
                                          <p:val>
                                            <p:strVal val="#ppt_w"/>
                                          </p:val>
                                        </p:tav>
                                      </p:tavLst>
                                    </p:anim>
                                    <p:anim calcmode="lin" valueType="num">
                                      <p:cBhvr additive="base">
                                        <p:cTn id="101" dur="550" fill="hold"/>
                                        <p:tgtEl>
                                          <p:spTgt spid="39"/>
                                        </p:tgtEl>
                                        <p:attrNameLst>
                                          <p:attrName>ppt_h</p:attrName>
                                        </p:attrNameLst>
                                      </p:cBhvr>
                                      <p:tavLst>
                                        <p:tav tm="0">
                                          <p:val>
                                            <p:strVal val="0"/>
                                          </p:val>
                                        </p:tav>
                                        <p:tav tm="100000">
                                          <p:val>
                                            <p:strVal val="#ppt_h"/>
                                          </p:val>
                                        </p:tav>
                                      </p:tavLst>
                                    </p:anim>
                                  </p:childTnLst>
                                </p:cTn>
                              </p:par>
                            </p:childTnLst>
                          </p:cTn>
                        </p:par>
                        <p:par>
                          <p:cTn id="102" fill="hold">
                            <p:stCondLst>
                              <p:cond delay="800"/>
                            </p:stCondLst>
                            <p:childTnLst>
                              <p:par>
                                <p:cTn id="103" presetID="42" presetClass="entr" presetSubtype="0" fill="hold" grpId="0" nodeType="after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550"/>
                                        <p:tgtEl>
                                          <p:spTgt spid="40"/>
                                        </p:tgtEl>
                                      </p:cBhvr>
                                    </p:animEffect>
                                    <p:anim calcmode="lin" valueType="num">
                                      <p:cBhvr additive="base">
                                        <p:cTn id="106" dur="550" fill="hold"/>
                                        <p:tgtEl>
                                          <p:spTgt spid="40"/>
                                        </p:tgtEl>
                                        <p:attrNameLst>
                                          <p:attrName>ppt_x</p:attrName>
                                        </p:attrNameLst>
                                      </p:cBhvr>
                                      <p:tavLst>
                                        <p:tav tm="0">
                                          <p:val>
                                            <p:strVal val="#ppt_x"/>
                                          </p:val>
                                        </p:tav>
                                        <p:tav tm="100000">
                                          <p:val>
                                            <p:strVal val="#ppt_x"/>
                                          </p:val>
                                        </p:tav>
                                      </p:tavLst>
                                    </p:anim>
                                    <p:anim calcmode="lin" valueType="num">
                                      <p:cBhvr additive="base">
                                        <p:cTn id="107" dur="550" fill="hold"/>
                                        <p:tgtEl>
                                          <p:spTgt spid="40"/>
                                        </p:tgtEl>
                                        <p:attrNameLst>
                                          <p:attrName>ppt_y</p:attrName>
                                        </p:attrNameLst>
                                      </p:cBhvr>
                                      <p:tavLst>
                                        <p:tav tm="0">
                                          <p:val>
                                            <p:strVal val="#ppt_y+.08"/>
                                          </p:val>
                                        </p:tav>
                                        <p:tav tm="100000">
                                          <p:val>
                                            <p:strVal val="#ppt_y"/>
                                          </p:val>
                                        </p:tav>
                                      </p:tavLst>
                                    </p:anim>
                                  </p:childTnLst>
                                </p:cTn>
                              </p:par>
                            </p:childTnLst>
                          </p:cTn>
                        </p:par>
                        <p:par>
                          <p:cTn id="108" fill="hold">
                            <p:stCondLst>
                              <p:cond delay="1000"/>
                            </p:stCondLst>
                            <p:childTnLst>
                              <p:par>
                                <p:cTn id="109" presetID="42" presetClass="entr" presetSubtype="0" fill="hold" grpId="0" nodeType="after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550"/>
                                        <p:tgtEl>
                                          <p:spTgt spid="41"/>
                                        </p:tgtEl>
                                      </p:cBhvr>
                                    </p:animEffect>
                                    <p:anim calcmode="lin" valueType="num">
                                      <p:cBhvr additive="base">
                                        <p:cTn id="112" dur="550" fill="hold"/>
                                        <p:tgtEl>
                                          <p:spTgt spid="41"/>
                                        </p:tgtEl>
                                        <p:attrNameLst>
                                          <p:attrName>ppt_x</p:attrName>
                                        </p:attrNameLst>
                                      </p:cBhvr>
                                      <p:tavLst>
                                        <p:tav tm="0">
                                          <p:val>
                                            <p:strVal val="#ppt_x"/>
                                          </p:val>
                                        </p:tav>
                                        <p:tav tm="100000">
                                          <p:val>
                                            <p:strVal val="#ppt_x"/>
                                          </p:val>
                                        </p:tav>
                                      </p:tavLst>
                                    </p:anim>
                                    <p:anim calcmode="lin" valueType="num">
                                      <p:cBhvr additive="base">
                                        <p:cTn id="113" dur="550" fill="hold"/>
                                        <p:tgtEl>
                                          <p:spTgt spid="41"/>
                                        </p:tgtEl>
                                        <p:attrNameLst>
                                          <p:attrName>ppt_y</p:attrName>
                                        </p:attrNameLst>
                                      </p:cBhvr>
                                      <p:tavLst>
                                        <p:tav tm="0">
                                          <p:val>
                                            <p:strVal val="#ppt_y+.08"/>
                                          </p:val>
                                        </p:tav>
                                        <p:tav tm="100000">
                                          <p:val>
                                            <p:strVal val="#ppt_y"/>
                                          </p:val>
                                        </p:tav>
                                      </p:tavLst>
                                    </p:anim>
                                  </p:childTnLst>
                                </p:cTn>
                              </p:par>
                            </p:childTnLst>
                          </p:cTn>
                        </p:par>
                        <p:par>
                          <p:cTn id="114" fill="hold">
                            <p:stCondLst>
                              <p:cond delay="1000"/>
                            </p:stCondLst>
                            <p:childTnLst>
                              <p:par>
                                <p:cTn id="115" presetID="42" presetClass="entr" presetSubtype="0" fill="hold" grpId="0" nodeType="after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550"/>
                                        <p:tgtEl>
                                          <p:spTgt spid="42"/>
                                        </p:tgtEl>
                                      </p:cBhvr>
                                    </p:animEffect>
                                    <p:anim calcmode="lin" valueType="num">
                                      <p:cBhvr additive="base">
                                        <p:cTn id="118" dur="550" fill="hold"/>
                                        <p:tgtEl>
                                          <p:spTgt spid="42"/>
                                        </p:tgtEl>
                                        <p:attrNameLst>
                                          <p:attrName>ppt_x</p:attrName>
                                        </p:attrNameLst>
                                      </p:cBhvr>
                                      <p:tavLst>
                                        <p:tav tm="0">
                                          <p:val>
                                            <p:strVal val="#ppt_x"/>
                                          </p:val>
                                        </p:tav>
                                        <p:tav tm="100000">
                                          <p:val>
                                            <p:strVal val="#ppt_x"/>
                                          </p:val>
                                        </p:tav>
                                      </p:tavLst>
                                    </p:anim>
                                    <p:anim calcmode="lin" valueType="num">
                                      <p:cBhvr additive="base">
                                        <p:cTn id="119" dur="550" fill="hold"/>
                                        <p:tgtEl>
                                          <p:spTgt spid="42"/>
                                        </p:tgtEl>
                                        <p:attrNameLst>
                                          <p:attrName>ppt_y</p:attrName>
                                        </p:attrNameLst>
                                      </p:cBhvr>
                                      <p:tavLst>
                                        <p:tav tm="0">
                                          <p:val>
                                            <p:strVal val="#ppt_y+.08"/>
                                          </p:val>
                                        </p:tav>
                                        <p:tav tm="100000">
                                          <p:val>
                                            <p:strVal val="#ppt_y"/>
                                          </p:val>
                                        </p:tav>
                                      </p:tavLst>
                                    </p:anim>
                                  </p:childTnLst>
                                </p:cTn>
                              </p:par>
                            </p:childTnLst>
                          </p:cTn>
                        </p:par>
                        <p:par>
                          <p:cTn id="120" fill="hold">
                            <p:stCondLst>
                              <p:cond delay="1000"/>
                            </p:stCondLst>
                            <p:childTnLst>
                              <p:par>
                                <p:cTn id="121" presetID="53" presetClass="entr" presetSubtype="16" fill="hold" grpId="0" nodeType="after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fade">
                                      <p:cBhvr>
                                        <p:cTn id="123" dur="550"/>
                                        <p:tgtEl>
                                          <p:spTgt spid="43"/>
                                        </p:tgtEl>
                                      </p:cBhvr>
                                    </p:animEffect>
                                    <p:anim calcmode="lin" valueType="num">
                                      <p:cBhvr additive="base">
                                        <p:cTn id="124" dur="550" fill="hold"/>
                                        <p:tgtEl>
                                          <p:spTgt spid="43"/>
                                        </p:tgtEl>
                                        <p:attrNameLst>
                                          <p:attrName>ppt_w</p:attrName>
                                        </p:attrNameLst>
                                      </p:cBhvr>
                                      <p:tavLst>
                                        <p:tav tm="0">
                                          <p:val>
                                            <p:strVal val="0"/>
                                          </p:val>
                                        </p:tav>
                                        <p:tav tm="100000">
                                          <p:val>
                                            <p:strVal val="#ppt_w"/>
                                          </p:val>
                                        </p:tav>
                                      </p:tavLst>
                                    </p:anim>
                                    <p:anim calcmode="lin" valueType="num">
                                      <p:cBhvr additive="base">
                                        <p:cTn id="125" dur="550" fill="hold"/>
                                        <p:tgtEl>
                                          <p:spTgt spid="43"/>
                                        </p:tgtEl>
                                        <p:attrNameLst>
                                          <p:attrName>ppt_h</p:attrName>
                                        </p:attrNameLst>
                                      </p:cBhvr>
                                      <p:tavLst>
                                        <p:tav tm="0">
                                          <p:val>
                                            <p:strVal val="0"/>
                                          </p:val>
                                        </p:tav>
                                        <p:tav tm="100000">
                                          <p:val>
                                            <p:strVal val="#ppt_h"/>
                                          </p:val>
                                        </p:tav>
                                      </p:tavLst>
                                    </p:anim>
                                  </p:childTnLst>
                                </p:cTn>
                              </p:par>
                            </p:childTnLst>
                          </p:cTn>
                        </p:par>
                        <p:par>
                          <p:cTn id="126" fill="hold">
                            <p:stCondLst>
                              <p:cond delay="1000"/>
                            </p:stCondLst>
                            <p:childTnLst>
                              <p:par>
                                <p:cTn id="127" presetID="42" presetClass="entr" presetSubtype="0" fill="hold" grpId="0" nodeType="after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550"/>
                                        <p:tgtEl>
                                          <p:spTgt spid="44"/>
                                        </p:tgtEl>
                                      </p:cBhvr>
                                    </p:animEffect>
                                    <p:anim calcmode="lin" valueType="num">
                                      <p:cBhvr additive="base">
                                        <p:cTn id="130" dur="550" fill="hold"/>
                                        <p:tgtEl>
                                          <p:spTgt spid="44"/>
                                        </p:tgtEl>
                                        <p:attrNameLst>
                                          <p:attrName>ppt_x</p:attrName>
                                        </p:attrNameLst>
                                      </p:cBhvr>
                                      <p:tavLst>
                                        <p:tav tm="0">
                                          <p:val>
                                            <p:strVal val="#ppt_x"/>
                                          </p:val>
                                        </p:tav>
                                        <p:tav tm="100000">
                                          <p:val>
                                            <p:strVal val="#ppt_x"/>
                                          </p:val>
                                        </p:tav>
                                      </p:tavLst>
                                    </p:anim>
                                    <p:anim calcmode="lin" valueType="num">
                                      <p:cBhvr additive="base">
                                        <p:cTn id="131" dur="550" fill="hold"/>
                                        <p:tgtEl>
                                          <p:spTgt spid="44"/>
                                        </p:tgtEl>
                                        <p:attrNameLst>
                                          <p:attrName>ppt_y</p:attrName>
                                        </p:attrNameLst>
                                      </p:cBhvr>
                                      <p:tavLst>
                                        <p:tav tm="0">
                                          <p:val>
                                            <p:strVal val="#ppt_y+.08"/>
                                          </p:val>
                                        </p:tav>
                                        <p:tav tm="100000">
                                          <p:val>
                                            <p:strVal val="#ppt_y"/>
                                          </p:val>
                                        </p:tav>
                                      </p:tavLst>
                                    </p:anim>
                                  </p:childTnLst>
                                </p:cTn>
                              </p:par>
                            </p:childTnLst>
                          </p:cTn>
                        </p:par>
                        <p:par>
                          <p:cTn id="132" fill="hold">
                            <p:stCondLst>
                              <p:cond delay="1200"/>
                            </p:stCondLst>
                            <p:childTnLst>
                              <p:par>
                                <p:cTn id="133" presetID="42" presetClass="entr" presetSubtype="0" fill="hold" grpId="0" nodeType="afterEffect">
                                  <p:stCondLst>
                                    <p:cond delay="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550"/>
                                        <p:tgtEl>
                                          <p:spTgt spid="45"/>
                                        </p:tgtEl>
                                      </p:cBhvr>
                                    </p:animEffect>
                                    <p:anim calcmode="lin" valueType="num">
                                      <p:cBhvr additive="base">
                                        <p:cTn id="136" dur="550" fill="hold"/>
                                        <p:tgtEl>
                                          <p:spTgt spid="45"/>
                                        </p:tgtEl>
                                        <p:attrNameLst>
                                          <p:attrName>ppt_x</p:attrName>
                                        </p:attrNameLst>
                                      </p:cBhvr>
                                      <p:tavLst>
                                        <p:tav tm="0">
                                          <p:val>
                                            <p:strVal val="#ppt_x"/>
                                          </p:val>
                                        </p:tav>
                                        <p:tav tm="100000">
                                          <p:val>
                                            <p:strVal val="#ppt_x"/>
                                          </p:val>
                                        </p:tav>
                                      </p:tavLst>
                                    </p:anim>
                                    <p:anim calcmode="lin" valueType="num">
                                      <p:cBhvr additive="base">
                                        <p:cTn id="137" dur="550" fill="hold"/>
                                        <p:tgtEl>
                                          <p:spTgt spid="45"/>
                                        </p:tgtEl>
                                        <p:attrNameLst>
                                          <p:attrName>ppt_y</p:attrName>
                                        </p:attrNameLst>
                                      </p:cBhvr>
                                      <p:tavLst>
                                        <p:tav tm="0">
                                          <p:val>
                                            <p:strVal val="#ppt_y+.08"/>
                                          </p:val>
                                        </p:tav>
                                        <p:tav tm="100000">
                                          <p:val>
                                            <p:strVal val="#ppt_y"/>
                                          </p:val>
                                        </p:tav>
                                      </p:tavLst>
                                    </p:anim>
                                  </p:childTnLst>
                                </p:cTn>
                              </p:par>
                            </p:childTnLst>
                          </p:cTn>
                        </p:par>
                        <p:par>
                          <p:cTn id="138" fill="hold">
                            <p:stCondLst>
                              <p:cond delay="1200"/>
                            </p:stCondLst>
                            <p:childTnLst>
                              <p:par>
                                <p:cTn id="139" presetID="42" presetClass="entr" presetSubtype="0" fill="hold" grpId="0" nodeType="afterEffect">
                                  <p:stCondLst>
                                    <p:cond delay="0"/>
                                  </p:stCondLst>
                                  <p:childTnLst>
                                    <p:set>
                                      <p:cBhvr>
                                        <p:cTn id="140" dur="1" fill="hold">
                                          <p:stCondLst>
                                            <p:cond delay="0"/>
                                          </p:stCondLst>
                                        </p:cTn>
                                        <p:tgtEl>
                                          <p:spTgt spid="46"/>
                                        </p:tgtEl>
                                        <p:attrNameLst>
                                          <p:attrName>style.visibility</p:attrName>
                                        </p:attrNameLst>
                                      </p:cBhvr>
                                      <p:to>
                                        <p:strVal val="visible"/>
                                      </p:to>
                                    </p:set>
                                    <p:animEffect transition="in" filter="fade">
                                      <p:cBhvr>
                                        <p:cTn id="141" dur="550"/>
                                        <p:tgtEl>
                                          <p:spTgt spid="46"/>
                                        </p:tgtEl>
                                      </p:cBhvr>
                                    </p:animEffect>
                                    <p:anim calcmode="lin" valueType="num">
                                      <p:cBhvr additive="base">
                                        <p:cTn id="142" dur="550" fill="hold"/>
                                        <p:tgtEl>
                                          <p:spTgt spid="46"/>
                                        </p:tgtEl>
                                        <p:attrNameLst>
                                          <p:attrName>ppt_x</p:attrName>
                                        </p:attrNameLst>
                                      </p:cBhvr>
                                      <p:tavLst>
                                        <p:tav tm="0">
                                          <p:val>
                                            <p:strVal val="#ppt_x"/>
                                          </p:val>
                                        </p:tav>
                                        <p:tav tm="100000">
                                          <p:val>
                                            <p:strVal val="#ppt_x"/>
                                          </p:val>
                                        </p:tav>
                                      </p:tavLst>
                                    </p:anim>
                                    <p:anim calcmode="lin" valueType="num">
                                      <p:cBhvr additive="base">
                                        <p:cTn id="143" dur="550" fill="hold"/>
                                        <p:tgtEl>
                                          <p:spTgt spid="46"/>
                                        </p:tgtEl>
                                        <p:attrNameLst>
                                          <p:attrName>ppt_y</p:attrName>
                                        </p:attrNameLst>
                                      </p:cBhvr>
                                      <p:tavLst>
                                        <p:tav tm="0">
                                          <p:val>
                                            <p:strVal val="#ppt_y+.08"/>
                                          </p:val>
                                        </p:tav>
                                        <p:tav tm="100000">
                                          <p:val>
                                            <p:strVal val="#ppt_y"/>
                                          </p:val>
                                        </p:tav>
                                      </p:tavLst>
                                    </p:anim>
                                  </p:childTnLst>
                                </p:cTn>
                              </p:par>
                            </p:childTnLst>
                          </p:cTn>
                        </p:par>
                        <p:par>
                          <p:cTn id="144" fill="hold">
                            <p:stCondLst>
                              <p:cond delay="1200"/>
                            </p:stCondLst>
                            <p:childTnLst>
                              <p:par>
                                <p:cTn id="145" presetID="53" presetClass="entr" presetSubtype="16" fill="hold" grpId="0" nodeType="afterEffect">
                                  <p:stCondLst>
                                    <p:cond delay="0"/>
                                  </p:stCondLst>
                                  <p:childTnLst>
                                    <p:set>
                                      <p:cBhvr>
                                        <p:cTn id="146" dur="1" fill="hold">
                                          <p:stCondLst>
                                            <p:cond delay="0"/>
                                          </p:stCondLst>
                                        </p:cTn>
                                        <p:tgtEl>
                                          <p:spTgt spid="47"/>
                                        </p:tgtEl>
                                        <p:attrNameLst>
                                          <p:attrName>style.visibility</p:attrName>
                                        </p:attrNameLst>
                                      </p:cBhvr>
                                      <p:to>
                                        <p:strVal val="visible"/>
                                      </p:to>
                                    </p:set>
                                    <p:animEffect transition="in" filter="fade">
                                      <p:cBhvr>
                                        <p:cTn id="147" dur="550"/>
                                        <p:tgtEl>
                                          <p:spTgt spid="47"/>
                                        </p:tgtEl>
                                      </p:cBhvr>
                                    </p:animEffect>
                                    <p:anim calcmode="lin" valueType="num">
                                      <p:cBhvr additive="base">
                                        <p:cTn id="148" dur="550" fill="hold"/>
                                        <p:tgtEl>
                                          <p:spTgt spid="47"/>
                                        </p:tgtEl>
                                        <p:attrNameLst>
                                          <p:attrName>ppt_w</p:attrName>
                                        </p:attrNameLst>
                                      </p:cBhvr>
                                      <p:tavLst>
                                        <p:tav tm="0">
                                          <p:val>
                                            <p:strVal val="0"/>
                                          </p:val>
                                        </p:tav>
                                        <p:tav tm="100000">
                                          <p:val>
                                            <p:strVal val="#ppt_w"/>
                                          </p:val>
                                        </p:tav>
                                      </p:tavLst>
                                    </p:anim>
                                    <p:anim calcmode="lin" valueType="num">
                                      <p:cBhvr additive="base">
                                        <p:cTn id="149" dur="550" fill="hold"/>
                                        <p:tgtEl>
                                          <p:spTgt spid="47"/>
                                        </p:tgtEl>
                                        <p:attrNameLst>
                                          <p:attrName>ppt_h</p:attrName>
                                        </p:attrNameLst>
                                      </p:cBhvr>
                                      <p:tavLst>
                                        <p:tav tm="0">
                                          <p:val>
                                            <p:strVal val="0"/>
                                          </p:val>
                                        </p:tav>
                                        <p:tav tm="100000">
                                          <p:val>
                                            <p:strVal val="#ppt_h"/>
                                          </p:val>
                                        </p:tav>
                                      </p:tavLst>
                                    </p:anim>
                                  </p:childTnLst>
                                </p:cTn>
                              </p:par>
                            </p:childTnLst>
                          </p:cTn>
                        </p:par>
                        <p:par>
                          <p:cTn id="150" fill="hold">
                            <p:stCondLst>
                              <p:cond delay="1200"/>
                            </p:stCondLst>
                            <p:childTnLst>
                              <p:par>
                                <p:cTn id="151" presetID="42" presetClass="entr" presetSubtype="0" fill="hold" grpId="0" nodeType="afterEffect">
                                  <p:stCondLst>
                                    <p:cond delay="0"/>
                                  </p:stCondLst>
                                  <p:childTnLst>
                                    <p:set>
                                      <p:cBhvr>
                                        <p:cTn id="152" dur="1" fill="hold">
                                          <p:stCondLst>
                                            <p:cond delay="0"/>
                                          </p:stCondLst>
                                        </p:cTn>
                                        <p:tgtEl>
                                          <p:spTgt spid="48"/>
                                        </p:tgtEl>
                                        <p:attrNameLst>
                                          <p:attrName>style.visibility</p:attrName>
                                        </p:attrNameLst>
                                      </p:cBhvr>
                                      <p:to>
                                        <p:strVal val="visible"/>
                                      </p:to>
                                    </p:set>
                                    <p:animEffect transition="in" filter="fade">
                                      <p:cBhvr>
                                        <p:cTn id="153" dur="550"/>
                                        <p:tgtEl>
                                          <p:spTgt spid="48"/>
                                        </p:tgtEl>
                                      </p:cBhvr>
                                    </p:animEffect>
                                    <p:anim calcmode="lin" valueType="num">
                                      <p:cBhvr additive="base">
                                        <p:cTn id="154" dur="550" fill="hold"/>
                                        <p:tgtEl>
                                          <p:spTgt spid="48"/>
                                        </p:tgtEl>
                                        <p:attrNameLst>
                                          <p:attrName>ppt_x</p:attrName>
                                        </p:attrNameLst>
                                      </p:cBhvr>
                                      <p:tavLst>
                                        <p:tav tm="0">
                                          <p:val>
                                            <p:strVal val="#ppt_x"/>
                                          </p:val>
                                        </p:tav>
                                        <p:tav tm="100000">
                                          <p:val>
                                            <p:strVal val="#ppt_x"/>
                                          </p:val>
                                        </p:tav>
                                      </p:tavLst>
                                    </p:anim>
                                    <p:anim calcmode="lin" valueType="num">
                                      <p:cBhvr additive="base">
                                        <p:cTn id="155" dur="550" fill="hold"/>
                                        <p:tgtEl>
                                          <p:spTgt spid="4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c5a01db9c3f5ef7d.jpg"/>
          <p:cNvPicPr>
            <a:picLocks noChangeAspect="1"/>
          </p:cNvPicPr>
          <p:nvPr/>
        </p:nvPicPr>
        <p:blipFill>
          <a:blip r:embed="rId2"/>
          <a:srcRect l="9848" r="9848"/>
          <a:stretch>
            <a:fillRect/>
          </a:stretch>
        </p:blipFill>
        <p:spPr>
          <a:xfrm>
            <a:off x="6300000" y="800000"/>
            <a:ext cx="5300000" cy="4950000"/>
          </a:xfrm>
          <a:prstGeom prst="roundRect">
            <a:avLst/>
          </a:prstGeom>
          <a:ln w="19050">
            <a:solidFill>
              <a:srgbClr val="22D3EE"/>
            </a:solidFill>
          </a:ln>
        </p:spPr>
      </p:pic>
      <p:sp>
        <p:nvSpPr>
          <p:cNvPr id="38" name="TextBox 37"/>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Indrajit Das · Wikimedia Commons · CC BY-SA 3.0</a:t>
            </a:r>
          </a:p>
        </p:txBody>
      </p:sp>
      <p:sp>
        <p:nvSpPr>
          <p:cNvPr id="39" name="TextBox 38"/>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01</a:t>
            </a:r>
          </a:p>
        </p:txBody>
      </p:sp>
      <p:sp>
        <p:nvSpPr>
          <p:cNvPr id="40" name="TextBox 39"/>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1" name="TextBox 40"/>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Mavzuning maqsadi va o'rganish natijalari</a:t>
            </a:r>
          </a:p>
        </p:txBody>
      </p:sp>
      <p:sp>
        <p:nvSpPr>
          <p:cNvPr id="42" name="Rectangle 41"/>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7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150"/>
                            </p:stCondLst>
                            <p:childTnLst>
                              <p:par>
                                <p:cTn id="136" presetID="53" presetClass="entr" presetSubtype="16"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anim calcmode="lin" valueType="num">
                                      <p:cBhvr additive="base">
                                        <p:cTn id="139" dur="550" fill="hold"/>
                                        <p:tgtEl>
                                          <p:spTgt spid="36"/>
                                        </p:tgtEl>
                                        <p:attrNameLst>
                                          <p:attrName>ppt_w</p:attrName>
                                        </p:attrNameLst>
                                      </p:cBhvr>
                                      <p:tavLst>
                                        <p:tav tm="0">
                                          <p:val>
                                            <p:strVal val="0"/>
                                          </p:val>
                                        </p:tav>
                                        <p:tav tm="100000">
                                          <p:val>
                                            <p:strVal val="#ppt_w"/>
                                          </p:val>
                                        </p:tav>
                                      </p:tavLst>
                                    </p:anim>
                                    <p:anim calcmode="lin" valueType="num">
                                      <p:cBhvr additive="base">
                                        <p:cTn id="140" dur="550" fill="hold"/>
                                        <p:tgtEl>
                                          <p:spTgt spid="36"/>
                                        </p:tgtEl>
                                        <p:attrNameLst>
                                          <p:attrName>ppt_h</p:attrName>
                                        </p:attrNameLst>
                                      </p:cBhvr>
                                      <p:tavLst>
                                        <p:tav tm="0">
                                          <p:val>
                                            <p:strVal val="0"/>
                                          </p:val>
                                        </p:tav>
                                        <p:tav tm="100000">
                                          <p:val>
                                            <p:strVal val="#ppt_h"/>
                                          </p:val>
                                        </p:tav>
                                      </p:tavLst>
                                    </p:anim>
                                  </p:childTnLst>
                                </p:cTn>
                              </p:par>
                            </p:childTnLst>
                          </p:cTn>
                        </p:par>
                        <p:par>
                          <p:cTn id="141" fill="hold">
                            <p:stCondLst>
                              <p:cond delay="150"/>
                            </p:stCondLst>
                            <p:childTnLst>
                              <p:par>
                                <p:cTn id="142" presetID="53" presetClass="entr" presetSubtype="16" fill="hold" grpId="0" nodeType="afterEffect">
                                  <p:stCondLst>
                                    <p:cond delay="0"/>
                                  </p:stCondLst>
                                  <p:childTnLst>
                                    <p:set>
                                      <p:cBhvr>
                                        <p:cTn id="143" dur="1" fill="hold">
                                          <p:stCondLst>
                                            <p:cond delay="0"/>
                                          </p:stCondLst>
                                        </p:cTn>
                                        <p:tgtEl>
                                          <p:spTgt spid="37"/>
                                        </p:tgtEl>
                                        <p:attrNameLst>
                                          <p:attrName>style.visibility</p:attrName>
                                        </p:attrNameLst>
                                      </p:cBhvr>
                                      <p:to>
                                        <p:strVal val="visible"/>
                                      </p:to>
                                    </p:set>
                                    <p:animEffect transition="in" filter="fade">
                                      <p:cBhvr>
                                        <p:cTn id="144" dur="550"/>
                                        <p:tgtEl>
                                          <p:spTgt spid="37"/>
                                        </p:tgtEl>
                                      </p:cBhvr>
                                    </p:animEffect>
                                    <p:anim calcmode="lin" valueType="num">
                                      <p:cBhvr additive="base">
                                        <p:cTn id="145" dur="550" fill="hold"/>
                                        <p:tgtEl>
                                          <p:spTgt spid="37"/>
                                        </p:tgtEl>
                                        <p:attrNameLst>
                                          <p:attrName>ppt_w</p:attrName>
                                        </p:attrNameLst>
                                      </p:cBhvr>
                                      <p:tavLst>
                                        <p:tav tm="0">
                                          <p:val>
                                            <p:strVal val="0"/>
                                          </p:val>
                                        </p:tav>
                                        <p:tav tm="100000">
                                          <p:val>
                                            <p:strVal val="#ppt_w"/>
                                          </p:val>
                                        </p:tav>
                                      </p:tavLst>
                                    </p:anim>
                                    <p:anim calcmode="lin" valueType="num">
                                      <p:cBhvr additive="base">
                                        <p:cTn id="146" dur="550" fill="hold"/>
                                        <p:tgtEl>
                                          <p:spTgt spid="37"/>
                                        </p:tgtEl>
                                        <p:attrNameLst>
                                          <p:attrName>ppt_h</p:attrName>
                                        </p:attrNameLst>
                                      </p:cBhvr>
                                      <p:tavLst>
                                        <p:tav tm="0">
                                          <p:val>
                                            <p:strVal val="0"/>
                                          </p:val>
                                        </p:tav>
                                        <p:tav tm="100000">
                                          <p:val>
                                            <p:strVal val="#ppt_h"/>
                                          </p:val>
                                        </p:tav>
                                      </p:tavLst>
                                    </p:anim>
                                  </p:childTnLst>
                                </p:cTn>
                              </p:par>
                            </p:childTnLst>
                          </p:cTn>
                        </p:par>
                        <p:par>
                          <p:cTn id="147" fill="hold">
                            <p:stCondLst>
                              <p:cond delay="150"/>
                            </p:stCondLst>
                            <p:childTnLst>
                              <p:par>
                                <p:cTn id="148" presetID="10" presetClass="entr" presetSubtype="0" fill="hold" grpId="0" nodeType="afterEffect">
                                  <p:stCondLst>
                                    <p:cond delay="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550"/>
                                        <p:tgtEl>
                                          <p:spTgt spid="38"/>
                                        </p:tgtEl>
                                      </p:cBhvr>
                                    </p:animEffect>
                                  </p:childTnLst>
                                </p:cTn>
                              </p:par>
                            </p:childTnLst>
                          </p:cTn>
                        </p:par>
                        <p:par>
                          <p:cTn id="151" fill="hold">
                            <p:stCondLst>
                              <p:cond delay="350"/>
                            </p:stCondLst>
                            <p:childTnLst>
                              <p:par>
                                <p:cTn id="152" presetID="53" presetClass="entr" presetSubtype="16" fill="hold" grpId="0" nodeType="after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fade">
                                      <p:cBhvr>
                                        <p:cTn id="154" dur="550"/>
                                        <p:tgtEl>
                                          <p:spTgt spid="39"/>
                                        </p:tgtEl>
                                      </p:cBhvr>
                                    </p:animEffect>
                                    <p:anim calcmode="lin" valueType="num">
                                      <p:cBhvr additive="base">
                                        <p:cTn id="155" dur="550" fill="hold"/>
                                        <p:tgtEl>
                                          <p:spTgt spid="39"/>
                                        </p:tgtEl>
                                        <p:attrNameLst>
                                          <p:attrName>ppt_w</p:attrName>
                                        </p:attrNameLst>
                                      </p:cBhvr>
                                      <p:tavLst>
                                        <p:tav tm="0">
                                          <p:val>
                                            <p:strVal val="0"/>
                                          </p:val>
                                        </p:tav>
                                        <p:tav tm="100000">
                                          <p:val>
                                            <p:strVal val="#ppt_w"/>
                                          </p:val>
                                        </p:tav>
                                      </p:tavLst>
                                    </p:anim>
                                    <p:anim calcmode="lin" valueType="num">
                                      <p:cBhvr additive="base">
                                        <p:cTn id="156" dur="550" fill="hold"/>
                                        <p:tgtEl>
                                          <p:spTgt spid="39"/>
                                        </p:tgtEl>
                                        <p:attrNameLst>
                                          <p:attrName>ppt_h</p:attrName>
                                        </p:attrNameLst>
                                      </p:cBhvr>
                                      <p:tavLst>
                                        <p:tav tm="0">
                                          <p:val>
                                            <p:strVal val="0"/>
                                          </p:val>
                                        </p:tav>
                                        <p:tav tm="100000">
                                          <p:val>
                                            <p:strVal val="#ppt_h"/>
                                          </p:val>
                                        </p:tav>
                                      </p:tavLst>
                                    </p:anim>
                                  </p:childTnLst>
                                </p:cTn>
                              </p:par>
                            </p:childTnLst>
                          </p:cTn>
                        </p:par>
                        <p:par>
                          <p:cTn id="157" fill="hold">
                            <p:stCondLst>
                              <p:cond delay="450"/>
                            </p:stCondLst>
                            <p:childTnLst>
                              <p:par>
                                <p:cTn id="158" presetID="10" presetClass="entr" presetSubtype="0" fill="hold" grpId="0" nodeType="afterEffect">
                                  <p:stCondLst>
                                    <p:cond delay="0"/>
                                  </p:stCondLst>
                                  <p:childTnLst>
                                    <p:set>
                                      <p:cBhvr>
                                        <p:cTn id="159" dur="1" fill="hold">
                                          <p:stCondLst>
                                            <p:cond delay="0"/>
                                          </p:stCondLst>
                                        </p:cTn>
                                        <p:tgtEl>
                                          <p:spTgt spid="40"/>
                                        </p:tgtEl>
                                        <p:attrNameLst>
                                          <p:attrName>style.visibility</p:attrName>
                                        </p:attrNameLst>
                                      </p:cBhvr>
                                      <p:to>
                                        <p:strVal val="visible"/>
                                      </p:to>
                                    </p:set>
                                    <p:animEffect transition="in" filter="fade">
                                      <p:cBhvr>
                                        <p:cTn id="160" dur="550"/>
                                        <p:tgtEl>
                                          <p:spTgt spid="40"/>
                                        </p:tgtEl>
                                      </p:cBhvr>
                                    </p:animEffect>
                                  </p:childTnLst>
                                </p:cTn>
                              </p:par>
                            </p:childTnLst>
                          </p:cTn>
                        </p:par>
                        <p:par>
                          <p:cTn id="161" fill="hold">
                            <p:stCondLst>
                              <p:cond delay="550"/>
                            </p:stCondLst>
                            <p:childTnLst>
                              <p:par>
                                <p:cTn id="162" presetID="2" presetClass="entr" presetSubtype="8" fill="hold" grpId="0" nodeType="afterEffect">
                                  <p:stCondLst>
                                    <p:cond delay="0"/>
                                  </p:stCondLst>
                                  <p:childTnLst>
                                    <p:set>
                                      <p:cBhvr>
                                        <p:cTn id="163" dur="1" fill="hold">
                                          <p:stCondLst>
                                            <p:cond delay="0"/>
                                          </p:stCondLst>
                                        </p:cTn>
                                        <p:tgtEl>
                                          <p:spTgt spid="41"/>
                                        </p:tgtEl>
                                        <p:attrNameLst>
                                          <p:attrName>style.visibility</p:attrName>
                                        </p:attrNameLst>
                                      </p:cBhvr>
                                      <p:to>
                                        <p:strVal val="visible"/>
                                      </p:to>
                                    </p:set>
                                    <p:anim calcmode="lin" valueType="num">
                                      <p:cBhvr additive="base">
                                        <p:cTn id="165" dur="550" fill="hold"/>
                                        <p:tgtEl>
                                          <p:spTgt spid="41"/>
                                        </p:tgtEl>
                                        <p:attrNameLst>
                                          <p:attrName>ppt_x</p:attrName>
                                        </p:attrNameLst>
                                      </p:cBhvr>
                                      <p:tavLst>
                                        <p:tav tm="0">
                                          <p:val>
                                            <p:strVal val="0-#ppt_w/2"/>
                                          </p:val>
                                        </p:tav>
                                        <p:tav tm="100000">
                                          <p:val>
                                            <p:strVal val="#ppt_x"/>
                                          </p:val>
                                        </p:tav>
                                      </p:tavLst>
                                    </p:anim>
                                    <p:anim calcmode="lin" valueType="num">
                                      <p:cBhvr additive="base">
                                        <p:cTn id="166" dur="550" fill="hold"/>
                                        <p:tgtEl>
                                          <p:spTgt spid="41"/>
                                        </p:tgtEl>
                                        <p:attrNameLst>
                                          <p:attrName>ppt_y</p:attrName>
                                        </p:attrNameLst>
                                      </p:cBhvr>
                                      <p:tavLst>
                                        <p:tav tm="0">
                                          <p:val>
                                            <p:strVal val="#ppt_y"/>
                                          </p:val>
                                        </p:tav>
                                        <p:tav tm="100000">
                                          <p:val>
                                            <p:strVal val="#ppt_y"/>
                                          </p:val>
                                        </p:tav>
                                      </p:tavLst>
                                    </p:anim>
                                  </p:childTnLst>
                                </p:cTn>
                              </p:par>
                            </p:childTnLst>
                          </p:cTn>
                        </p:par>
                        <p:par>
                          <p:cTn id="167" fill="hold">
                            <p:stCondLst>
                              <p:cond delay="650"/>
                            </p:stCondLst>
                            <p:childTnLst>
                              <p:par>
                                <p:cTn id="168" presetID="22" presetClass="entr" presetSubtype="8" fill="hold" grpId="0" nodeType="afterEffect">
                                  <p:stCondLst>
                                    <p:cond delay="0"/>
                                  </p:stCondLst>
                                  <p:childTnLst>
                                    <p:set>
                                      <p:cBhvr>
                                        <p:cTn id="169" dur="1" fill="hold">
                                          <p:stCondLst>
                                            <p:cond delay="0"/>
                                          </p:stCondLst>
                                        </p:cTn>
                                        <p:tgtEl>
                                          <p:spTgt spid="42"/>
                                        </p:tgtEl>
                                        <p:attrNameLst>
                                          <p:attrName>style.visibility</p:attrName>
                                        </p:attrNameLst>
                                      </p:cBhvr>
                                      <p:to>
                                        <p:strVal val="visible"/>
                                      </p:to>
                                    </p:set>
                                    <p:animEffect transition="in" filter="wipe(left)">
                                      <p:cBhvr>
                                        <p:cTn id="171" dur="8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Mavzuning maqsadi va o'rganish natijalari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a:t>
            </a:r>
          </a:p>
        </p:txBody>
      </p:sp>
      <p:sp>
        <p:nvSpPr>
          <p:cNvPr id="25" name="Rounded Rectangle 24"/>
          <p:cNvSpPr/>
          <p:nvPr/>
        </p:nvSpPr>
        <p:spPr>
          <a:xfrm>
            <a:off x="550000" y="290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298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298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8" name="TextBox 27"/>
          <p:cNvSpPr txBox="1"/>
          <p:nvPr/>
        </p:nvSpPr>
        <p:spPr>
          <a:xfrm>
            <a:off x="1300000" y="2940000"/>
            <a:ext cx="10250000" cy="440000"/>
          </a:xfrm>
          <a:prstGeom prst="rect">
            <a:avLst/>
          </a:prstGeom>
          <a:noFill/>
        </p:spPr>
        <p:txBody>
          <a:bodyPr wrap="square" anchor="ctr">
            <a:spAutoFit/>
          </a:bodyPr>
          <a:lstStyle/>
          <a:p>
            <a:r>
              <a:rPr sz="1600" b="0">
                <a:solidFill>
                  <a:srgbClr val="E8EEFA"/>
                </a:solidFill>
                <a:latin typeface="Segoe UI"/>
              </a:rPr>
              <a:t>Ushbu amaliy mashg'ulotning maqsadi — magistrantlarda sun'iy intellektga asoslangan hisoblash tizimining arxitekturasini muhandislik nuqtai nazaridan tahlil qilish, apparat va dasturiy ta'minotni birgalikda loyihalash (Hardware–Software Co-design) tamoyillari…</a:t>
            </a:r>
          </a:p>
        </p:txBody>
      </p:sp>
      <p:sp>
        <p:nvSpPr>
          <p:cNvPr id="29" name="Rounded Rectangle 28"/>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3610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610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AI tizimining to'rt qatlamli arxitekturasini (ma'lumot → model → hisoblash platformasi → xizmat) ajratib, har bir qatlamning resurs talabini aniq ko'rsatkichlar (FLOP, bayt, millisekund, vatt) orqali ifodalay oladi;</a:t>
            </a:r>
          </a:p>
        </p:txBody>
      </p:sp>
      <p:sp>
        <p:nvSpPr>
          <p:cNvPr id="33" name="Rounded Rectangle 32"/>
          <p:cNvSpPr/>
          <p:nvPr/>
        </p:nvSpPr>
        <p:spPr>
          <a:xfrm>
            <a:off x="550000" y="416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4240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240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6" name="TextBox 35"/>
          <p:cNvSpPr txBox="1"/>
          <p:nvPr/>
        </p:nvSpPr>
        <p:spPr>
          <a:xfrm>
            <a:off x="1300000" y="4200000"/>
            <a:ext cx="10250000" cy="440000"/>
          </a:xfrm>
          <a:prstGeom prst="rect">
            <a:avLst/>
          </a:prstGeom>
          <a:noFill/>
        </p:spPr>
        <p:txBody>
          <a:bodyPr wrap="square" anchor="ctr">
            <a:spAutoFit/>
          </a:bodyPr>
          <a:lstStyle/>
          <a:p>
            <a:r>
              <a:rPr sz="1600" b="0">
                <a:solidFill>
                  <a:srgbClr val="E8EEFA"/>
                </a:solidFill>
                <a:latin typeface="Segoe UI"/>
              </a:rPr>
              <a:t>Berilgan ish yuklamasi (workload) uchun arifmetik intensivlik (arithmetic intensity) va Roofline chegarasini hisoblab, tizim «hisoblash bilan cheklangan» yoki «xotira bilan cheklangan» ekanini asoslaydi;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ppt_x</p:attrName>
                                        </p:attrNameLst>
                                      </p:cBhvr>
                                      <p:tavLst>
                                        <p:tav tm="0">
                                          <p:val>
                                            <p:strVal val="#ppt_x"/>
                                          </p:val>
                                        </p:tav>
                                        <p:tav tm="100000">
                                          <p:val>
                                            <p:strVal val="#ppt_x"/>
                                          </p:val>
                                        </p:tav>
                                      </p:tavLst>
                                    </p:anim>
                                    <p:anim calcmode="lin" valueType="num">
                                      <p:cBhvr additive="base">
                                        <p:cTn id="17" dur="550" fill="hold"/>
                                        <p:tgtEl>
                                          <p:spTgt spid="25"/>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ppt_x</p:attrName>
                                        </p:attrNameLst>
                                      </p:cBhvr>
                                      <p:tavLst>
                                        <p:tav tm="0">
                                          <p:val>
                                            <p:strVal val="#ppt_x"/>
                                          </p:val>
                                        </p:tav>
                                        <p:tav tm="100000">
                                          <p:val>
                                            <p:strVal val="#ppt_x"/>
                                          </p:val>
                                        </p:tav>
                                      </p:tavLst>
                                    </p:anim>
                                    <p:anim calcmode="lin" valueType="num">
                                      <p:cBhvr additive="base">
                                        <p:cTn id="23" dur="550" fill="hold"/>
                                        <p:tgtEl>
                                          <p:spTgt spid="26"/>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anim calcmode="lin" valueType="num">
                                      <p:cBhvr additive="base">
                                        <p:cTn id="28" dur="550" fill="hold"/>
                                        <p:tgtEl>
                                          <p:spTgt spid="27"/>
                                        </p:tgtEl>
                                        <p:attrNameLst>
                                          <p:attrName>ppt_w</p:attrName>
                                        </p:attrNameLst>
                                      </p:cBhvr>
                                      <p:tavLst>
                                        <p:tav tm="0">
                                          <p:val>
                                            <p:strVal val="0"/>
                                          </p:val>
                                        </p:tav>
                                        <p:tav tm="100000">
                                          <p:val>
                                            <p:strVal val="#ppt_w"/>
                                          </p:val>
                                        </p:tav>
                                      </p:tavLst>
                                    </p:anim>
                                    <p:anim calcmode="lin" valueType="num">
                                      <p:cBhvr additive="base">
                                        <p:cTn id="29" dur="550" fill="hold"/>
                                        <p:tgtEl>
                                          <p:spTgt spid="27"/>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50"/>
                                        <p:tgtEl>
                                          <p:spTgt spid="28"/>
                                        </p:tgtEl>
                                      </p:cBhvr>
                                    </p:animEffect>
                                    <p:anim calcmode="lin" valueType="num">
                                      <p:cBhvr additive="base">
                                        <p:cTn id="34" dur="550" fill="hold"/>
                                        <p:tgtEl>
                                          <p:spTgt spid="28"/>
                                        </p:tgtEl>
                                        <p:attrNameLst>
                                          <p:attrName>ppt_x</p:attrName>
                                        </p:attrNameLst>
                                      </p:cBhvr>
                                      <p:tavLst>
                                        <p:tav tm="0">
                                          <p:val>
                                            <p:strVal val="#ppt_x"/>
                                          </p:val>
                                        </p:tav>
                                        <p:tav tm="100000">
                                          <p:val>
                                            <p:strVal val="#ppt_x"/>
                                          </p:val>
                                        </p:tav>
                                      </p:tavLst>
                                    </p:anim>
                                    <p:anim calcmode="lin" valueType="num">
                                      <p:cBhvr additive="base">
                                        <p:cTn id="35" dur="550" fill="hold"/>
                                        <p:tgtEl>
                                          <p:spTgt spid="28"/>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50"/>
                                        <p:tgtEl>
                                          <p:spTgt spid="29"/>
                                        </p:tgtEl>
                                      </p:cBhvr>
                                    </p:animEffect>
                                    <p:anim calcmode="lin" valueType="num">
                                      <p:cBhvr additive="base">
                                        <p:cTn id="40" dur="550" fill="hold"/>
                                        <p:tgtEl>
                                          <p:spTgt spid="29"/>
                                        </p:tgtEl>
                                        <p:attrNameLst>
                                          <p:attrName>ppt_x</p:attrName>
                                        </p:attrNameLst>
                                      </p:cBhvr>
                                      <p:tavLst>
                                        <p:tav tm="0">
                                          <p:val>
                                            <p:strVal val="#ppt_x"/>
                                          </p:val>
                                        </p:tav>
                                        <p:tav tm="100000">
                                          <p:val>
                                            <p:strVal val="#ppt_x"/>
                                          </p:val>
                                        </p:tav>
                                      </p:tavLst>
                                    </p:anim>
                                    <p:anim calcmode="lin" valueType="num">
                                      <p:cBhvr additive="base">
                                        <p:cTn id="41" dur="550" fill="hold"/>
                                        <p:tgtEl>
                                          <p:spTgt spid="29"/>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50"/>
                                        <p:tgtEl>
                                          <p:spTgt spid="30"/>
                                        </p:tgtEl>
                                      </p:cBhvr>
                                    </p:animEffect>
                                    <p:anim calcmode="lin" valueType="num">
                                      <p:cBhvr additive="base">
                                        <p:cTn id="46" dur="550" fill="hold"/>
                                        <p:tgtEl>
                                          <p:spTgt spid="30"/>
                                        </p:tgtEl>
                                        <p:attrNameLst>
                                          <p:attrName>ppt_x</p:attrName>
                                        </p:attrNameLst>
                                      </p:cBhvr>
                                      <p:tavLst>
                                        <p:tav tm="0">
                                          <p:val>
                                            <p:strVal val="#ppt_x"/>
                                          </p:val>
                                        </p:tav>
                                        <p:tav tm="100000">
                                          <p:val>
                                            <p:strVal val="#ppt_x"/>
                                          </p:val>
                                        </p:tav>
                                      </p:tavLst>
                                    </p:anim>
                                    <p:anim calcmode="lin" valueType="num">
                                      <p:cBhvr additive="base">
                                        <p:cTn id="47" dur="550" fill="hold"/>
                                        <p:tgtEl>
                                          <p:spTgt spid="30"/>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50"/>
                                        <p:tgtEl>
                                          <p:spTgt spid="31"/>
                                        </p:tgtEl>
                                      </p:cBhvr>
                                    </p:animEffect>
                                    <p:anim calcmode="lin" valueType="num">
                                      <p:cBhvr additive="base">
                                        <p:cTn id="52" dur="550" fill="hold"/>
                                        <p:tgtEl>
                                          <p:spTgt spid="31"/>
                                        </p:tgtEl>
                                        <p:attrNameLst>
                                          <p:attrName>ppt_w</p:attrName>
                                        </p:attrNameLst>
                                      </p:cBhvr>
                                      <p:tavLst>
                                        <p:tav tm="0">
                                          <p:val>
                                            <p:strVal val="0"/>
                                          </p:val>
                                        </p:tav>
                                        <p:tav tm="100000">
                                          <p:val>
                                            <p:strVal val="#ppt_w"/>
                                          </p:val>
                                        </p:tav>
                                      </p:tavLst>
                                    </p:anim>
                                    <p:anim calcmode="lin" valueType="num">
                                      <p:cBhvr additive="base">
                                        <p:cTn id="53" dur="550" fill="hold"/>
                                        <p:tgtEl>
                                          <p:spTgt spid="31"/>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50"/>
                                        <p:tgtEl>
                                          <p:spTgt spid="32"/>
                                        </p:tgtEl>
                                      </p:cBhvr>
                                    </p:animEffect>
                                    <p:anim calcmode="lin" valueType="num">
                                      <p:cBhvr additive="base">
                                        <p:cTn id="58" dur="550" fill="hold"/>
                                        <p:tgtEl>
                                          <p:spTgt spid="32"/>
                                        </p:tgtEl>
                                        <p:attrNameLst>
                                          <p:attrName>ppt_x</p:attrName>
                                        </p:attrNameLst>
                                      </p:cBhvr>
                                      <p:tavLst>
                                        <p:tav tm="0">
                                          <p:val>
                                            <p:strVal val="#ppt_x"/>
                                          </p:val>
                                        </p:tav>
                                        <p:tav tm="100000">
                                          <p:val>
                                            <p:strVal val="#ppt_x"/>
                                          </p:val>
                                        </p:tav>
                                      </p:tavLst>
                                    </p:anim>
                                    <p:anim calcmode="lin" valueType="num">
                                      <p:cBhvr additive="base">
                                        <p:cTn id="59" dur="550" fill="hold"/>
                                        <p:tgtEl>
                                          <p:spTgt spid="32"/>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50"/>
                                        <p:tgtEl>
                                          <p:spTgt spid="33"/>
                                        </p:tgtEl>
                                      </p:cBhvr>
                                    </p:animEffect>
                                    <p:anim calcmode="lin" valueType="num">
                                      <p:cBhvr additive="base">
                                        <p:cTn id="64" dur="550" fill="hold"/>
                                        <p:tgtEl>
                                          <p:spTgt spid="33"/>
                                        </p:tgtEl>
                                        <p:attrNameLst>
                                          <p:attrName>ppt_x</p:attrName>
                                        </p:attrNameLst>
                                      </p:cBhvr>
                                      <p:tavLst>
                                        <p:tav tm="0">
                                          <p:val>
                                            <p:strVal val="#ppt_x"/>
                                          </p:val>
                                        </p:tav>
                                        <p:tav tm="100000">
                                          <p:val>
                                            <p:strVal val="#ppt_x"/>
                                          </p:val>
                                        </p:tav>
                                      </p:tavLst>
                                    </p:anim>
                                    <p:anim calcmode="lin" valueType="num">
                                      <p:cBhvr additive="base">
                                        <p:cTn id="65" dur="550" fill="hold"/>
                                        <p:tgtEl>
                                          <p:spTgt spid="33"/>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50"/>
                                        <p:tgtEl>
                                          <p:spTgt spid="34"/>
                                        </p:tgtEl>
                                      </p:cBhvr>
                                    </p:animEffect>
                                    <p:anim calcmode="lin" valueType="num">
                                      <p:cBhvr additive="base">
                                        <p:cTn id="70" dur="550" fill="hold"/>
                                        <p:tgtEl>
                                          <p:spTgt spid="34"/>
                                        </p:tgtEl>
                                        <p:attrNameLst>
                                          <p:attrName>ppt_x</p:attrName>
                                        </p:attrNameLst>
                                      </p:cBhvr>
                                      <p:tavLst>
                                        <p:tav tm="0">
                                          <p:val>
                                            <p:strVal val="#ppt_x"/>
                                          </p:val>
                                        </p:tav>
                                        <p:tav tm="100000">
                                          <p:val>
                                            <p:strVal val="#ppt_x"/>
                                          </p:val>
                                        </p:tav>
                                      </p:tavLst>
                                    </p:anim>
                                    <p:anim calcmode="lin" valueType="num">
                                      <p:cBhvr additive="base">
                                        <p:cTn id="71" dur="550" fill="hold"/>
                                        <p:tgtEl>
                                          <p:spTgt spid="34"/>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550"/>
                                        <p:tgtEl>
                                          <p:spTgt spid="35"/>
                                        </p:tgtEl>
                                      </p:cBhvr>
                                    </p:animEffect>
                                    <p:anim calcmode="lin" valueType="num">
                                      <p:cBhvr additive="base">
                                        <p:cTn id="76" dur="550" fill="hold"/>
                                        <p:tgtEl>
                                          <p:spTgt spid="35"/>
                                        </p:tgtEl>
                                        <p:attrNameLst>
                                          <p:attrName>ppt_w</p:attrName>
                                        </p:attrNameLst>
                                      </p:cBhvr>
                                      <p:tavLst>
                                        <p:tav tm="0">
                                          <p:val>
                                            <p:strVal val="0"/>
                                          </p:val>
                                        </p:tav>
                                        <p:tav tm="100000">
                                          <p:val>
                                            <p:strVal val="#ppt_w"/>
                                          </p:val>
                                        </p:tav>
                                      </p:tavLst>
                                    </p:anim>
                                    <p:anim calcmode="lin" valueType="num">
                                      <p:cBhvr additive="base">
                                        <p:cTn id="77" dur="550" fill="hold"/>
                                        <p:tgtEl>
                                          <p:spTgt spid="35"/>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50"/>
                                        <p:tgtEl>
                                          <p:spTgt spid="36"/>
                                        </p:tgtEl>
                                      </p:cBhvr>
                                    </p:animEffect>
                                    <p:anim calcmode="lin" valueType="num">
                                      <p:cBhvr additive="base">
                                        <p:cTn id="82" dur="550" fill="hold"/>
                                        <p:tgtEl>
                                          <p:spTgt spid="36"/>
                                        </p:tgtEl>
                                        <p:attrNameLst>
                                          <p:attrName>ppt_x</p:attrName>
                                        </p:attrNameLst>
                                      </p:cBhvr>
                                      <p:tavLst>
                                        <p:tav tm="0">
                                          <p:val>
                                            <p:strVal val="#ppt_x"/>
                                          </p:val>
                                        </p:tav>
                                        <p:tav tm="100000">
                                          <p:val>
                                            <p:strVal val="#ppt_x"/>
                                          </p:val>
                                        </p:tav>
                                      </p:tavLst>
                                    </p:anim>
                                    <p:anim calcmode="lin" valueType="num">
                                      <p:cBhvr additive="base">
                                        <p:cTn id="83"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Mavzuning maqsadi va o'rganish natijalari</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a:t>
            </a:r>
          </a:p>
        </p:txBody>
      </p:sp>
      <p:sp>
        <p:nvSpPr>
          <p:cNvPr id="22" name="Rounded Rectangle 21"/>
          <p:cNvSpPr/>
          <p:nvPr/>
        </p:nvSpPr>
        <p:spPr>
          <a:xfrm>
            <a:off x="550000" y="290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2980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000" y="2980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25" name="TextBox 24"/>
          <p:cNvSpPr txBox="1"/>
          <p:nvPr/>
        </p:nvSpPr>
        <p:spPr>
          <a:xfrm>
            <a:off x="1300000" y="2940000"/>
            <a:ext cx="10250000" cy="440000"/>
          </a:xfrm>
          <a:prstGeom prst="rect">
            <a:avLst/>
          </a:prstGeom>
          <a:noFill/>
        </p:spPr>
        <p:txBody>
          <a:bodyPr wrap="square" anchor="ctr">
            <a:spAutoFit/>
          </a:bodyPr>
          <a:lstStyle/>
          <a:p>
            <a:r>
              <a:rPr sz="1600" b="0">
                <a:solidFill>
                  <a:srgbClr val="E8EEFA"/>
                </a:solidFill>
                <a:latin typeface="Segoe UI"/>
              </a:rPr>
              <a:t>Kamida uchta hisoblash platformasining (ma'lumotlar markazi GPU, chekka (edge) moduli, ixtisoslashgan tezlatkich) texnik pasportini bir jadvalda solishtirib, talablar matritsasi asosida tanlov qiladi;</a:t>
            </a:r>
          </a:p>
        </p:txBody>
      </p:sp>
      <p:sp>
        <p:nvSpPr>
          <p:cNvPr id="26" name="Rounded Rectangle 25"/>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3610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3610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29" name="TextBox 28"/>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Hardware–Software Co-design tamoyillarini qo'llab, AI tizimining strukturaviy sxemasini matnli tavsif va interfeyslar ro'yxati ko'rinishida hujjatlashtiradi;</a:t>
            </a:r>
          </a:p>
        </p:txBody>
      </p:sp>
      <p:sp>
        <p:nvSpPr>
          <p:cNvPr id="30" name="Rounded Rectangle 29"/>
          <p:cNvSpPr/>
          <p:nvPr/>
        </p:nvSpPr>
        <p:spPr>
          <a:xfrm>
            <a:off x="550000" y="416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4240000"/>
            <a:ext cx="50000" cy="3600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4240000"/>
            <a:ext cx="360000" cy="36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33" name="TextBox 32"/>
          <p:cNvSpPr txBox="1"/>
          <p:nvPr/>
        </p:nvSpPr>
        <p:spPr>
          <a:xfrm>
            <a:off x="1300000" y="4200000"/>
            <a:ext cx="10250000" cy="440000"/>
          </a:xfrm>
          <a:prstGeom prst="rect">
            <a:avLst/>
          </a:prstGeom>
          <a:noFill/>
        </p:spPr>
        <p:txBody>
          <a:bodyPr wrap="square" anchor="ctr">
            <a:spAutoFit/>
          </a:bodyPr>
          <a:lstStyle/>
          <a:p>
            <a:r>
              <a:rPr sz="1600" b="0">
                <a:solidFill>
                  <a:srgbClr val="E8EEFA"/>
                </a:solidFill>
                <a:latin typeface="Segoe UI"/>
              </a:rPr>
              <a:t>Python'da yuklama hisobi skriptini yozib, nazariy baholarni real o'lchovlar bilan solishtirish metodikasini qo'llaydi.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ppt_x</p:attrName>
                                        </p:attrNameLst>
                                      </p:cBhvr>
                                      <p:tavLst>
                                        <p:tav tm="0">
                                          <p:val>
                                            <p:strVal val="#ppt_x"/>
                                          </p:val>
                                        </p:tav>
                                        <p:tav tm="100000">
                                          <p:val>
                                            <p:strVal val="#ppt_x"/>
                                          </p:val>
                                        </p:tav>
                                      </p:tavLst>
                                    </p:anim>
                                    <p:anim calcmode="lin" valueType="num">
                                      <p:cBhvr additive="base">
                                        <p:cTn id="17" dur="550" fill="hold"/>
                                        <p:tgtEl>
                                          <p:spTgt spid="22"/>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ppt_x</p:attrName>
                                        </p:attrNameLst>
                                      </p:cBhvr>
                                      <p:tavLst>
                                        <p:tav tm="0">
                                          <p:val>
                                            <p:strVal val="#ppt_x"/>
                                          </p:val>
                                        </p:tav>
                                        <p:tav tm="100000">
                                          <p:val>
                                            <p:strVal val="#ppt_x"/>
                                          </p:val>
                                        </p:tav>
                                      </p:tavLst>
                                    </p:anim>
                                    <p:anim calcmode="lin" valueType="num">
                                      <p:cBhvr additive="base">
                                        <p:cTn id="23" dur="550" fill="hold"/>
                                        <p:tgtEl>
                                          <p:spTgt spid="23"/>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50"/>
                                        <p:tgtEl>
                                          <p:spTgt spid="24"/>
                                        </p:tgtEl>
                                      </p:cBhvr>
                                    </p:animEffect>
                                    <p:anim calcmode="lin" valueType="num">
                                      <p:cBhvr additive="base">
                                        <p:cTn id="28" dur="550" fill="hold"/>
                                        <p:tgtEl>
                                          <p:spTgt spid="24"/>
                                        </p:tgtEl>
                                        <p:attrNameLst>
                                          <p:attrName>ppt_w</p:attrName>
                                        </p:attrNameLst>
                                      </p:cBhvr>
                                      <p:tavLst>
                                        <p:tav tm="0">
                                          <p:val>
                                            <p:strVal val="0"/>
                                          </p:val>
                                        </p:tav>
                                        <p:tav tm="100000">
                                          <p:val>
                                            <p:strVal val="#ppt_w"/>
                                          </p:val>
                                        </p:tav>
                                      </p:tavLst>
                                    </p:anim>
                                    <p:anim calcmode="lin" valueType="num">
                                      <p:cBhvr additive="base">
                                        <p:cTn id="29" dur="550" fill="hold"/>
                                        <p:tgtEl>
                                          <p:spTgt spid="24"/>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50"/>
                                        <p:tgtEl>
                                          <p:spTgt spid="25"/>
                                        </p:tgtEl>
                                      </p:cBhvr>
                                    </p:animEffect>
                                    <p:anim calcmode="lin" valueType="num">
                                      <p:cBhvr additive="base">
                                        <p:cTn id="34" dur="550" fill="hold"/>
                                        <p:tgtEl>
                                          <p:spTgt spid="25"/>
                                        </p:tgtEl>
                                        <p:attrNameLst>
                                          <p:attrName>ppt_x</p:attrName>
                                        </p:attrNameLst>
                                      </p:cBhvr>
                                      <p:tavLst>
                                        <p:tav tm="0">
                                          <p:val>
                                            <p:strVal val="#ppt_x"/>
                                          </p:val>
                                        </p:tav>
                                        <p:tav tm="100000">
                                          <p:val>
                                            <p:strVal val="#ppt_x"/>
                                          </p:val>
                                        </p:tav>
                                      </p:tavLst>
                                    </p:anim>
                                    <p:anim calcmode="lin" valueType="num">
                                      <p:cBhvr additive="base">
                                        <p:cTn id="35" dur="550" fill="hold"/>
                                        <p:tgtEl>
                                          <p:spTgt spid="25"/>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50"/>
                                        <p:tgtEl>
                                          <p:spTgt spid="26"/>
                                        </p:tgtEl>
                                      </p:cBhvr>
                                    </p:animEffect>
                                    <p:anim calcmode="lin" valueType="num">
                                      <p:cBhvr additive="base">
                                        <p:cTn id="40" dur="550" fill="hold"/>
                                        <p:tgtEl>
                                          <p:spTgt spid="26"/>
                                        </p:tgtEl>
                                        <p:attrNameLst>
                                          <p:attrName>ppt_x</p:attrName>
                                        </p:attrNameLst>
                                      </p:cBhvr>
                                      <p:tavLst>
                                        <p:tav tm="0">
                                          <p:val>
                                            <p:strVal val="#ppt_x"/>
                                          </p:val>
                                        </p:tav>
                                        <p:tav tm="100000">
                                          <p:val>
                                            <p:strVal val="#ppt_x"/>
                                          </p:val>
                                        </p:tav>
                                      </p:tavLst>
                                    </p:anim>
                                    <p:anim calcmode="lin" valueType="num">
                                      <p:cBhvr additive="base">
                                        <p:cTn id="41" dur="550" fill="hold"/>
                                        <p:tgtEl>
                                          <p:spTgt spid="26"/>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50"/>
                                        <p:tgtEl>
                                          <p:spTgt spid="27"/>
                                        </p:tgtEl>
                                      </p:cBhvr>
                                    </p:animEffect>
                                    <p:anim calcmode="lin" valueType="num">
                                      <p:cBhvr additive="base">
                                        <p:cTn id="46" dur="550" fill="hold"/>
                                        <p:tgtEl>
                                          <p:spTgt spid="27"/>
                                        </p:tgtEl>
                                        <p:attrNameLst>
                                          <p:attrName>ppt_x</p:attrName>
                                        </p:attrNameLst>
                                      </p:cBhvr>
                                      <p:tavLst>
                                        <p:tav tm="0">
                                          <p:val>
                                            <p:strVal val="#ppt_x"/>
                                          </p:val>
                                        </p:tav>
                                        <p:tav tm="100000">
                                          <p:val>
                                            <p:strVal val="#ppt_x"/>
                                          </p:val>
                                        </p:tav>
                                      </p:tavLst>
                                    </p:anim>
                                    <p:anim calcmode="lin" valueType="num">
                                      <p:cBhvr additive="base">
                                        <p:cTn id="47" dur="550" fill="hold"/>
                                        <p:tgtEl>
                                          <p:spTgt spid="27"/>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50"/>
                                        <p:tgtEl>
                                          <p:spTgt spid="28"/>
                                        </p:tgtEl>
                                      </p:cBhvr>
                                    </p:animEffect>
                                    <p:anim calcmode="lin" valueType="num">
                                      <p:cBhvr additive="base">
                                        <p:cTn id="52" dur="550" fill="hold"/>
                                        <p:tgtEl>
                                          <p:spTgt spid="28"/>
                                        </p:tgtEl>
                                        <p:attrNameLst>
                                          <p:attrName>ppt_w</p:attrName>
                                        </p:attrNameLst>
                                      </p:cBhvr>
                                      <p:tavLst>
                                        <p:tav tm="0">
                                          <p:val>
                                            <p:strVal val="0"/>
                                          </p:val>
                                        </p:tav>
                                        <p:tav tm="100000">
                                          <p:val>
                                            <p:strVal val="#ppt_w"/>
                                          </p:val>
                                        </p:tav>
                                      </p:tavLst>
                                    </p:anim>
                                    <p:anim calcmode="lin" valueType="num">
                                      <p:cBhvr additive="base">
                                        <p:cTn id="53" dur="550" fill="hold"/>
                                        <p:tgtEl>
                                          <p:spTgt spid="28"/>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50"/>
                                        <p:tgtEl>
                                          <p:spTgt spid="29"/>
                                        </p:tgtEl>
                                      </p:cBhvr>
                                    </p:animEffect>
                                    <p:anim calcmode="lin" valueType="num">
                                      <p:cBhvr additive="base">
                                        <p:cTn id="58" dur="550" fill="hold"/>
                                        <p:tgtEl>
                                          <p:spTgt spid="29"/>
                                        </p:tgtEl>
                                        <p:attrNameLst>
                                          <p:attrName>ppt_x</p:attrName>
                                        </p:attrNameLst>
                                      </p:cBhvr>
                                      <p:tavLst>
                                        <p:tav tm="0">
                                          <p:val>
                                            <p:strVal val="#ppt_x"/>
                                          </p:val>
                                        </p:tav>
                                        <p:tav tm="100000">
                                          <p:val>
                                            <p:strVal val="#ppt_x"/>
                                          </p:val>
                                        </p:tav>
                                      </p:tavLst>
                                    </p:anim>
                                    <p:anim calcmode="lin" valueType="num">
                                      <p:cBhvr additive="base">
                                        <p:cTn id="59" dur="550" fill="hold"/>
                                        <p:tgtEl>
                                          <p:spTgt spid="29"/>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50"/>
                                        <p:tgtEl>
                                          <p:spTgt spid="30"/>
                                        </p:tgtEl>
                                      </p:cBhvr>
                                    </p:animEffect>
                                    <p:anim calcmode="lin" valueType="num">
                                      <p:cBhvr additive="base">
                                        <p:cTn id="64" dur="550" fill="hold"/>
                                        <p:tgtEl>
                                          <p:spTgt spid="30"/>
                                        </p:tgtEl>
                                        <p:attrNameLst>
                                          <p:attrName>ppt_x</p:attrName>
                                        </p:attrNameLst>
                                      </p:cBhvr>
                                      <p:tavLst>
                                        <p:tav tm="0">
                                          <p:val>
                                            <p:strVal val="#ppt_x"/>
                                          </p:val>
                                        </p:tav>
                                        <p:tav tm="100000">
                                          <p:val>
                                            <p:strVal val="#ppt_x"/>
                                          </p:val>
                                        </p:tav>
                                      </p:tavLst>
                                    </p:anim>
                                    <p:anim calcmode="lin" valueType="num">
                                      <p:cBhvr additive="base">
                                        <p:cTn id="65" dur="550" fill="hold"/>
                                        <p:tgtEl>
                                          <p:spTgt spid="30"/>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550"/>
                                        <p:tgtEl>
                                          <p:spTgt spid="31"/>
                                        </p:tgtEl>
                                      </p:cBhvr>
                                    </p:animEffect>
                                    <p:anim calcmode="lin" valueType="num">
                                      <p:cBhvr additive="base">
                                        <p:cTn id="70" dur="550" fill="hold"/>
                                        <p:tgtEl>
                                          <p:spTgt spid="31"/>
                                        </p:tgtEl>
                                        <p:attrNameLst>
                                          <p:attrName>ppt_x</p:attrName>
                                        </p:attrNameLst>
                                      </p:cBhvr>
                                      <p:tavLst>
                                        <p:tav tm="0">
                                          <p:val>
                                            <p:strVal val="#ppt_x"/>
                                          </p:val>
                                        </p:tav>
                                        <p:tav tm="100000">
                                          <p:val>
                                            <p:strVal val="#ppt_x"/>
                                          </p:val>
                                        </p:tav>
                                      </p:tavLst>
                                    </p:anim>
                                    <p:anim calcmode="lin" valueType="num">
                                      <p:cBhvr additive="base">
                                        <p:cTn id="71" dur="550" fill="hold"/>
                                        <p:tgtEl>
                                          <p:spTgt spid="31"/>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50"/>
                                        <p:tgtEl>
                                          <p:spTgt spid="32"/>
                                        </p:tgtEl>
                                      </p:cBhvr>
                                    </p:animEffect>
                                    <p:anim calcmode="lin" valueType="num">
                                      <p:cBhvr additive="base">
                                        <p:cTn id="76" dur="550" fill="hold"/>
                                        <p:tgtEl>
                                          <p:spTgt spid="32"/>
                                        </p:tgtEl>
                                        <p:attrNameLst>
                                          <p:attrName>ppt_w</p:attrName>
                                        </p:attrNameLst>
                                      </p:cBhvr>
                                      <p:tavLst>
                                        <p:tav tm="0">
                                          <p:val>
                                            <p:strVal val="0"/>
                                          </p:val>
                                        </p:tav>
                                        <p:tav tm="100000">
                                          <p:val>
                                            <p:strVal val="#ppt_w"/>
                                          </p:val>
                                        </p:tav>
                                      </p:tavLst>
                                    </p:anim>
                                    <p:anim calcmode="lin" valueType="num">
                                      <p:cBhvr additive="base">
                                        <p:cTn id="77" dur="550" fill="hold"/>
                                        <p:tgtEl>
                                          <p:spTgt spid="32"/>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50"/>
                                        <p:tgtEl>
                                          <p:spTgt spid="33"/>
                                        </p:tgtEl>
                                      </p:cBhvr>
                                    </p:animEffect>
                                    <p:anim calcmode="lin" valueType="num">
                                      <p:cBhvr additive="base">
                                        <p:cTn id="82" dur="550" fill="hold"/>
                                        <p:tgtEl>
                                          <p:spTgt spid="33"/>
                                        </p:tgtEl>
                                        <p:attrNameLst>
                                          <p:attrName>ppt_x</p:attrName>
                                        </p:attrNameLst>
                                      </p:cBhvr>
                                      <p:tavLst>
                                        <p:tav tm="0">
                                          <p:val>
                                            <p:strVal val="#ppt_x"/>
                                          </p:val>
                                        </p:tav>
                                        <p:tav tm="100000">
                                          <p:val>
                                            <p:strVal val="#ppt_x"/>
                                          </p:val>
                                        </p:tav>
                                      </p:tavLst>
                                    </p:anim>
                                    <p:anim calcmode="lin" valueType="num">
                                      <p:cBhvr additive="base">
                                        <p:cTn id="83"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Mavzuning maqsadi va o'rganish natijalari</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a:t>
            </a:r>
          </a:p>
        </p:txBody>
      </p:sp>
      <p:sp>
        <p:nvSpPr>
          <p:cNvPr id="22" name="Rounded Rectangle 21"/>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361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000" y="361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07</a:t>
            </a:r>
          </a:p>
        </p:txBody>
      </p:sp>
      <p:sp>
        <p:nvSpPr>
          <p:cNvPr id="25" name="TextBox 24"/>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Mavzu fanning TN1 (AI tizimlari arxitekturasini tahlil qilish va loyihalash), TN2 (hisoblash platformalarini tanlash va baholash) hamda TN7 (muhandislik hujjatlarini tayyorlash va natijalarni himoya qilish) ta'lim natijalariga bevosita xizmat qiladi…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ppt_x</p:attrName>
                                        </p:attrNameLst>
                                      </p:cBhvr>
                                      <p:tavLst>
                                        <p:tav tm="0">
                                          <p:val>
                                            <p:strVal val="#ppt_x"/>
                                          </p:val>
                                        </p:tav>
                                        <p:tav tm="100000">
                                          <p:val>
                                            <p:strVal val="#ppt_x"/>
                                          </p:val>
                                        </p:tav>
                                      </p:tavLst>
                                    </p:anim>
                                    <p:anim calcmode="lin" valueType="num">
                                      <p:cBhvr additive="base">
                                        <p:cTn id="17" dur="550" fill="hold"/>
                                        <p:tgtEl>
                                          <p:spTgt spid="22"/>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ppt_x</p:attrName>
                                        </p:attrNameLst>
                                      </p:cBhvr>
                                      <p:tavLst>
                                        <p:tav tm="0">
                                          <p:val>
                                            <p:strVal val="#ppt_x"/>
                                          </p:val>
                                        </p:tav>
                                        <p:tav tm="100000">
                                          <p:val>
                                            <p:strVal val="#ppt_x"/>
                                          </p:val>
                                        </p:tav>
                                      </p:tavLst>
                                    </p:anim>
                                    <p:anim calcmode="lin" valueType="num">
                                      <p:cBhvr additive="base">
                                        <p:cTn id="23" dur="550" fill="hold"/>
                                        <p:tgtEl>
                                          <p:spTgt spid="23"/>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50"/>
                                        <p:tgtEl>
                                          <p:spTgt spid="24"/>
                                        </p:tgtEl>
                                      </p:cBhvr>
                                    </p:animEffect>
                                    <p:anim calcmode="lin" valueType="num">
                                      <p:cBhvr additive="base">
                                        <p:cTn id="28" dur="550" fill="hold"/>
                                        <p:tgtEl>
                                          <p:spTgt spid="24"/>
                                        </p:tgtEl>
                                        <p:attrNameLst>
                                          <p:attrName>ppt_w</p:attrName>
                                        </p:attrNameLst>
                                      </p:cBhvr>
                                      <p:tavLst>
                                        <p:tav tm="0">
                                          <p:val>
                                            <p:strVal val="0"/>
                                          </p:val>
                                        </p:tav>
                                        <p:tav tm="100000">
                                          <p:val>
                                            <p:strVal val="#ppt_w"/>
                                          </p:val>
                                        </p:tav>
                                      </p:tavLst>
                                    </p:anim>
                                    <p:anim calcmode="lin" valueType="num">
                                      <p:cBhvr additive="base">
                                        <p:cTn id="29" dur="550" fill="hold"/>
                                        <p:tgtEl>
                                          <p:spTgt spid="24"/>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50"/>
                                        <p:tgtEl>
                                          <p:spTgt spid="25"/>
                                        </p:tgtEl>
                                      </p:cBhvr>
                                    </p:animEffect>
                                    <p:anim calcmode="lin" valueType="num">
                                      <p:cBhvr additive="base">
                                        <p:cTn id="34" dur="550" fill="hold"/>
                                        <p:tgtEl>
                                          <p:spTgt spid="25"/>
                                        </p:tgtEl>
                                        <p:attrNameLst>
                                          <p:attrName>ppt_x</p:attrName>
                                        </p:attrNameLst>
                                      </p:cBhvr>
                                      <p:tavLst>
                                        <p:tav tm="0">
                                          <p:val>
                                            <p:strVal val="#ppt_x"/>
                                          </p:val>
                                        </p:tav>
                                        <p:tav tm="100000">
                                          <p:val>
                                            <p:strVal val="#ppt_x"/>
                                          </p:val>
                                        </p:tav>
                                      </p:tavLst>
                                    </p:anim>
                                    <p:anim calcmode="lin" valueType="num">
                                      <p:cBhvr additive="base">
                                        <p:cTn id="35"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3" grpId="0" animBg="1"/>
      <p:bldP spid="24" grpId="0" animBg="1"/>
      <p:bldP spid="25"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7cc566e19cb64ab.jpg"/>
          <p:cNvPicPr>
            <a:picLocks noChangeAspect="1"/>
          </p:cNvPicPr>
          <p:nvPr/>
        </p:nvPicPr>
        <p:blipFill>
          <a:blip r:embed="rId2"/>
          <a:srcRect t="12642" b="12642"/>
          <a:stretch>
            <a:fillRect/>
          </a:stretch>
        </p:blipFill>
        <p:spPr>
          <a:xfrm>
            <a:off x="6300000" y="800000"/>
            <a:ext cx="5300000" cy="4950000"/>
          </a:xfrm>
          <a:prstGeom prst="roundRect">
            <a:avLst/>
          </a:prstGeom>
          <a:ln w="19050">
            <a:solidFill>
              <a:srgbClr val="22D3EE"/>
            </a:solidFill>
          </a:ln>
        </p:spPr>
      </p:pic>
      <p:sp>
        <p:nvSpPr>
          <p:cNvPr id="37" name="TextBox 36"/>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Peter Cooper Jr. · Wikimedia Commons · CC0</a:t>
            </a:r>
          </a:p>
        </p:txBody>
      </p:sp>
      <p:sp>
        <p:nvSpPr>
          <p:cNvPr id="38" name="TextBox 37"/>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02</a:t>
            </a:r>
          </a:p>
        </p:txBody>
      </p:sp>
      <p:sp>
        <p:nvSpPr>
          <p:cNvPr id="39" name="TextBox 38"/>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0" name="TextBox 39"/>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Kirish</a:t>
            </a:r>
          </a:p>
        </p:txBody>
      </p:sp>
      <p:sp>
        <p:nvSpPr>
          <p:cNvPr id="41" name="Rectangle 40"/>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6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150"/>
                            </p:stCondLst>
                            <p:childTnLst>
                              <p:par>
                                <p:cTn id="132" presetID="53" presetClass="entr" presetSubtype="16"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anim calcmode="lin" valueType="num">
                                      <p:cBhvr additive="base">
                                        <p:cTn id="135" dur="550" fill="hold"/>
                                        <p:tgtEl>
                                          <p:spTgt spid="35"/>
                                        </p:tgtEl>
                                        <p:attrNameLst>
                                          <p:attrName>ppt_w</p:attrName>
                                        </p:attrNameLst>
                                      </p:cBhvr>
                                      <p:tavLst>
                                        <p:tav tm="0">
                                          <p:val>
                                            <p:strVal val="0"/>
                                          </p:val>
                                        </p:tav>
                                        <p:tav tm="100000">
                                          <p:val>
                                            <p:strVal val="#ppt_w"/>
                                          </p:val>
                                        </p:tav>
                                      </p:tavLst>
                                    </p:anim>
                                    <p:anim calcmode="lin" valueType="num">
                                      <p:cBhvr additive="base">
                                        <p:cTn id="136" dur="550" fill="hold"/>
                                        <p:tgtEl>
                                          <p:spTgt spid="35"/>
                                        </p:tgtEl>
                                        <p:attrNameLst>
                                          <p:attrName>ppt_h</p:attrName>
                                        </p:attrNameLst>
                                      </p:cBhvr>
                                      <p:tavLst>
                                        <p:tav tm="0">
                                          <p:val>
                                            <p:strVal val="0"/>
                                          </p:val>
                                        </p:tav>
                                        <p:tav tm="100000">
                                          <p:val>
                                            <p:strVal val="#ppt_h"/>
                                          </p:val>
                                        </p:tav>
                                      </p:tavLst>
                                    </p:anim>
                                  </p:childTnLst>
                                </p:cTn>
                              </p:par>
                            </p:childTnLst>
                          </p:cTn>
                        </p:par>
                        <p:par>
                          <p:cTn id="137" fill="hold">
                            <p:stCondLst>
                              <p:cond delay="150"/>
                            </p:stCondLst>
                            <p:childTnLst>
                              <p:par>
                                <p:cTn id="138" presetID="53" presetClass="entr" presetSubtype="16" fill="hold" grpId="0" nodeType="afterEffect">
                                  <p:stCondLst>
                                    <p:cond delay="0"/>
                                  </p:stCondLst>
                                  <p:childTnLst>
                                    <p:set>
                                      <p:cBhvr>
                                        <p:cTn id="139" dur="1" fill="hold">
                                          <p:stCondLst>
                                            <p:cond delay="0"/>
                                          </p:stCondLst>
                                        </p:cTn>
                                        <p:tgtEl>
                                          <p:spTgt spid="36"/>
                                        </p:tgtEl>
                                        <p:attrNameLst>
                                          <p:attrName>style.visibility</p:attrName>
                                        </p:attrNameLst>
                                      </p:cBhvr>
                                      <p:to>
                                        <p:strVal val="visible"/>
                                      </p:to>
                                    </p:set>
                                    <p:animEffect transition="in" filter="fade">
                                      <p:cBhvr>
                                        <p:cTn id="140" dur="550"/>
                                        <p:tgtEl>
                                          <p:spTgt spid="36"/>
                                        </p:tgtEl>
                                      </p:cBhvr>
                                    </p:animEffect>
                                    <p:anim calcmode="lin" valueType="num">
                                      <p:cBhvr additive="base">
                                        <p:cTn id="141" dur="550" fill="hold"/>
                                        <p:tgtEl>
                                          <p:spTgt spid="36"/>
                                        </p:tgtEl>
                                        <p:attrNameLst>
                                          <p:attrName>ppt_w</p:attrName>
                                        </p:attrNameLst>
                                      </p:cBhvr>
                                      <p:tavLst>
                                        <p:tav tm="0">
                                          <p:val>
                                            <p:strVal val="0"/>
                                          </p:val>
                                        </p:tav>
                                        <p:tav tm="100000">
                                          <p:val>
                                            <p:strVal val="#ppt_w"/>
                                          </p:val>
                                        </p:tav>
                                      </p:tavLst>
                                    </p:anim>
                                    <p:anim calcmode="lin" valueType="num">
                                      <p:cBhvr additive="base">
                                        <p:cTn id="142" dur="550" fill="hold"/>
                                        <p:tgtEl>
                                          <p:spTgt spid="36"/>
                                        </p:tgtEl>
                                        <p:attrNameLst>
                                          <p:attrName>ppt_h</p:attrName>
                                        </p:attrNameLst>
                                      </p:cBhvr>
                                      <p:tavLst>
                                        <p:tav tm="0">
                                          <p:val>
                                            <p:strVal val="0"/>
                                          </p:val>
                                        </p:tav>
                                        <p:tav tm="100000">
                                          <p:val>
                                            <p:strVal val="#ppt_h"/>
                                          </p:val>
                                        </p:tav>
                                      </p:tavLst>
                                    </p:anim>
                                  </p:childTnLst>
                                </p:cTn>
                              </p:par>
                            </p:childTnLst>
                          </p:cTn>
                        </p:par>
                        <p:par>
                          <p:cTn id="143" fill="hold">
                            <p:stCondLst>
                              <p:cond delay="150"/>
                            </p:stCondLst>
                            <p:childTnLst>
                              <p:par>
                                <p:cTn id="144" presetID="10" presetClass="entr" presetSubtype="0" fill="hold" grpId="0" nodeType="after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childTnLst>
                                </p:cTn>
                              </p:par>
                            </p:childTnLst>
                          </p:cTn>
                        </p:par>
                        <p:par>
                          <p:cTn id="147" fill="hold">
                            <p:stCondLst>
                              <p:cond delay="350"/>
                            </p:stCondLst>
                            <p:childTnLst>
                              <p:par>
                                <p:cTn id="148" presetID="53" presetClass="entr" presetSubtype="16" fill="hold" grpId="0" nodeType="afterEffect">
                                  <p:stCondLst>
                                    <p:cond delay="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550"/>
                                        <p:tgtEl>
                                          <p:spTgt spid="38"/>
                                        </p:tgtEl>
                                      </p:cBhvr>
                                    </p:animEffect>
                                    <p:anim calcmode="lin" valueType="num">
                                      <p:cBhvr additive="base">
                                        <p:cTn id="151" dur="550" fill="hold"/>
                                        <p:tgtEl>
                                          <p:spTgt spid="38"/>
                                        </p:tgtEl>
                                        <p:attrNameLst>
                                          <p:attrName>ppt_w</p:attrName>
                                        </p:attrNameLst>
                                      </p:cBhvr>
                                      <p:tavLst>
                                        <p:tav tm="0">
                                          <p:val>
                                            <p:strVal val="0"/>
                                          </p:val>
                                        </p:tav>
                                        <p:tav tm="100000">
                                          <p:val>
                                            <p:strVal val="#ppt_w"/>
                                          </p:val>
                                        </p:tav>
                                      </p:tavLst>
                                    </p:anim>
                                    <p:anim calcmode="lin" valueType="num">
                                      <p:cBhvr additive="base">
                                        <p:cTn id="152" dur="550" fill="hold"/>
                                        <p:tgtEl>
                                          <p:spTgt spid="38"/>
                                        </p:tgtEl>
                                        <p:attrNameLst>
                                          <p:attrName>ppt_h</p:attrName>
                                        </p:attrNameLst>
                                      </p:cBhvr>
                                      <p:tavLst>
                                        <p:tav tm="0">
                                          <p:val>
                                            <p:strVal val="0"/>
                                          </p:val>
                                        </p:tav>
                                        <p:tav tm="100000">
                                          <p:val>
                                            <p:strVal val="#ppt_h"/>
                                          </p:val>
                                        </p:tav>
                                      </p:tavLst>
                                    </p:anim>
                                  </p:childTnLst>
                                </p:cTn>
                              </p:par>
                            </p:childTnLst>
                          </p:cTn>
                        </p:par>
                        <p:par>
                          <p:cTn id="153" fill="hold">
                            <p:stCondLst>
                              <p:cond delay="450"/>
                            </p:stCondLst>
                            <p:childTnLst>
                              <p:par>
                                <p:cTn id="154" presetID="10" presetClass="entr" presetSubtype="0" fill="hold" grpId="0" nodeType="afterEffect">
                                  <p:stCondLst>
                                    <p:cond delay="0"/>
                                  </p:stCondLst>
                                  <p:childTnLst>
                                    <p:set>
                                      <p:cBhvr>
                                        <p:cTn id="155" dur="1" fill="hold">
                                          <p:stCondLst>
                                            <p:cond delay="0"/>
                                          </p:stCondLst>
                                        </p:cTn>
                                        <p:tgtEl>
                                          <p:spTgt spid="39"/>
                                        </p:tgtEl>
                                        <p:attrNameLst>
                                          <p:attrName>style.visibility</p:attrName>
                                        </p:attrNameLst>
                                      </p:cBhvr>
                                      <p:to>
                                        <p:strVal val="visible"/>
                                      </p:to>
                                    </p:set>
                                    <p:animEffect transition="in" filter="fade">
                                      <p:cBhvr>
                                        <p:cTn id="156" dur="550"/>
                                        <p:tgtEl>
                                          <p:spTgt spid="39"/>
                                        </p:tgtEl>
                                      </p:cBhvr>
                                    </p:animEffect>
                                  </p:childTnLst>
                                </p:cTn>
                              </p:par>
                            </p:childTnLst>
                          </p:cTn>
                        </p:par>
                        <p:par>
                          <p:cTn id="157" fill="hold">
                            <p:stCondLst>
                              <p:cond delay="550"/>
                            </p:stCondLst>
                            <p:childTnLst>
                              <p:par>
                                <p:cTn id="158" presetID="2" presetClass="entr" presetSubtype="8" fill="hold" grpId="0" nodeType="afterEffect">
                                  <p:stCondLst>
                                    <p:cond delay="0"/>
                                  </p:stCondLst>
                                  <p:childTnLst>
                                    <p:set>
                                      <p:cBhvr>
                                        <p:cTn id="159" dur="1" fill="hold">
                                          <p:stCondLst>
                                            <p:cond delay="0"/>
                                          </p:stCondLst>
                                        </p:cTn>
                                        <p:tgtEl>
                                          <p:spTgt spid="40"/>
                                        </p:tgtEl>
                                        <p:attrNameLst>
                                          <p:attrName>style.visibility</p:attrName>
                                        </p:attrNameLst>
                                      </p:cBhvr>
                                      <p:to>
                                        <p:strVal val="visible"/>
                                      </p:to>
                                    </p:set>
                                    <p:anim calcmode="lin" valueType="num">
                                      <p:cBhvr additive="base">
                                        <p:cTn id="161" dur="550" fill="hold"/>
                                        <p:tgtEl>
                                          <p:spTgt spid="40"/>
                                        </p:tgtEl>
                                        <p:attrNameLst>
                                          <p:attrName>ppt_x</p:attrName>
                                        </p:attrNameLst>
                                      </p:cBhvr>
                                      <p:tavLst>
                                        <p:tav tm="0">
                                          <p:val>
                                            <p:strVal val="0-#ppt_w/2"/>
                                          </p:val>
                                        </p:tav>
                                        <p:tav tm="100000">
                                          <p:val>
                                            <p:strVal val="#ppt_x"/>
                                          </p:val>
                                        </p:tav>
                                      </p:tavLst>
                                    </p:anim>
                                    <p:anim calcmode="lin" valueType="num">
                                      <p:cBhvr additive="base">
                                        <p:cTn id="162" dur="550" fill="hold"/>
                                        <p:tgtEl>
                                          <p:spTgt spid="40"/>
                                        </p:tgtEl>
                                        <p:attrNameLst>
                                          <p:attrName>ppt_y</p:attrName>
                                        </p:attrNameLst>
                                      </p:cBhvr>
                                      <p:tavLst>
                                        <p:tav tm="0">
                                          <p:val>
                                            <p:strVal val="#ppt_y"/>
                                          </p:val>
                                        </p:tav>
                                        <p:tav tm="100000">
                                          <p:val>
                                            <p:strVal val="#ppt_y"/>
                                          </p:val>
                                        </p:tav>
                                      </p:tavLst>
                                    </p:anim>
                                  </p:childTnLst>
                                </p:cTn>
                              </p:par>
                            </p:childTnLst>
                          </p:cTn>
                        </p:par>
                        <p:par>
                          <p:cTn id="163" fill="hold">
                            <p:stCondLst>
                              <p:cond delay="650"/>
                            </p:stCondLst>
                            <p:childTnLst>
                              <p:par>
                                <p:cTn id="164" presetID="22" presetClass="entr" presetSubtype="8" fill="hold" grpId="0" nodeType="afterEffect">
                                  <p:stCondLst>
                                    <p:cond delay="0"/>
                                  </p:stCondLst>
                                  <p:childTnLst>
                                    <p:set>
                                      <p:cBhvr>
                                        <p:cTn id="165" dur="1" fill="hold">
                                          <p:stCondLst>
                                            <p:cond delay="0"/>
                                          </p:stCondLst>
                                        </p:cTn>
                                        <p:tgtEl>
                                          <p:spTgt spid="41"/>
                                        </p:tgtEl>
                                        <p:attrNameLst>
                                          <p:attrName>style.visibility</p:attrName>
                                        </p:attrNameLst>
                                      </p:cBhvr>
                                      <p:to>
                                        <p:strVal val="visible"/>
                                      </p:to>
                                    </p:set>
                                    <p:animEffect transition="in" filter="wipe(left)">
                                      <p:cBhvr>
                                        <p:cTn id="167" dur="8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8</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7cc566e19cb64ab.jpg"/>
          <p:cNvPicPr>
            <a:picLocks noChangeAspect="1"/>
          </p:cNvPicPr>
          <p:nvPr/>
        </p:nvPicPr>
        <p:blipFill>
          <a:blip r:embed="rId2"/>
          <a:srcRect t="8025" b="802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Peter Cooper Jr. · Wikimedia Commons · CC0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607432"/>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43121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1567432"/>
            <a:ext cx="5900000" cy="2127568"/>
          </a:xfrm>
          <a:prstGeom prst="rect">
            <a:avLst/>
          </a:prstGeom>
          <a:noFill/>
        </p:spPr>
        <p:txBody>
          <a:bodyPr wrap="square" anchor="ctr">
            <a:spAutoFit/>
          </a:bodyPr>
          <a:lstStyle/>
          <a:p>
            <a:r>
              <a:rPr sz="1400" b="0">
                <a:solidFill>
                  <a:srgbClr val="E8EEFA"/>
                </a:solidFill>
                <a:latin typeface="Segoe UI"/>
              </a:rPr>
              <a:t>Zamonaviy sun'iy intellekt tizimi — bu shunchaki o'qitilgan neyron tarmoq emas, balki ma'lumotlar oqimi, model, hisoblash platformasi, tarmoq, saqlash tizimi va ekspluatatsiya jarayonlarini o'z ichiga olgan murakkab muhandislik majmuasidir.</a:t>
            </a:r>
          </a:p>
        </p:txBody>
      </p:sp>
      <p:sp>
        <p:nvSpPr>
          <p:cNvPr id="31" name="Rounded Rectangle 30"/>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74878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Sanoat tajribasi shuni ko'rsatadiki, AI loyihalarining katta qismi model sifati tufayli emas, balki arxitektura noto'g'ri tanlangani — hisoblash resursi yetmagani, xotira o'tkazuvchanligi tiqilib qolgani, kechikish (latency) talabi bajarilmagani yoki…</a:t>
            </a:r>
          </a:p>
          <a:p>
            <a:pPr>
              <a:spcBef>
                <a:spcPts val="400"/>
              </a:spcBef>
            </a:pPr>
            <a:r>
              <a:rPr sz="1400">
                <a:solidFill>
                  <a:srgbClr val="AEBBD9"/>
                </a:solidFill>
                <a:latin typeface="Segoe UI"/>
              </a:rPr>
              <a:t>Shuning uchun AI muhandisi uchun arxitekturani tahlil qilish va loyihalash ko'nikmasi model o'qitish ko'nikmasi bilan teng darajada muhimdir.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9</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2ce123b9a0f5e6f.jpg"/>
          <p:cNvPicPr>
            <a:picLocks noChangeAspect="1"/>
          </p:cNvPicPr>
          <p:nvPr/>
        </p:nvPicPr>
        <p:blipFill>
          <a:blip r:embed="rId2"/>
          <a:srcRect t="6303" b="6303"/>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Ubahnverleih · Wikimedia Commons · CC0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996824"/>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076824"/>
            <a:ext cx="50000" cy="157817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665912"/>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0" name="TextBox 29"/>
          <p:cNvSpPr txBox="1"/>
          <p:nvPr/>
        </p:nvSpPr>
        <p:spPr>
          <a:xfrm>
            <a:off x="1300000" y="2036824"/>
            <a:ext cx="5900000" cy="1658176"/>
          </a:xfrm>
          <a:prstGeom prst="rect">
            <a:avLst/>
          </a:prstGeom>
          <a:noFill/>
        </p:spPr>
        <p:txBody>
          <a:bodyPr wrap="square" anchor="ctr">
            <a:spAutoFit/>
          </a:bodyPr>
          <a:lstStyle/>
          <a:p>
            <a:r>
              <a:rPr sz="1500" b="1">
                <a:solidFill>
                  <a:srgbClr val="E8EEFA"/>
                </a:solidFill>
                <a:latin typeface="Segoe UI"/>
              </a:rPr>
              <a:t>Hardware–Software Co-design tushunchasi dastlab o'rnatilgan tizimlar (embedded systems) sohasida paydo bo'lgan: qaysi funksiyalarni apparatda (ASIC, FPGA), qaysilarini dasturda bajarish kerakligini loyihalashning dastlabki bosqichida birgalikda hal qilish.</a:t>
            </a:r>
          </a:p>
          <a:p>
            <a:pPr>
              <a:spcBef>
                <a:spcPts val="400"/>
              </a:spcBef>
            </a:pPr>
            <a:r>
              <a:rPr sz="1400">
                <a:solidFill>
                  <a:srgbClr val="AEBBD9"/>
                </a:solidFill>
                <a:latin typeface="Segoe UI"/>
              </a:rPr>
              <a:t>Sun'iy intellekt davrida bu g'oya yangi mazmun kasb etdi.</a:t>
            </a:r>
          </a:p>
        </p:txBody>
      </p:sp>
      <p:sp>
        <p:nvSpPr>
          <p:cNvPr id="31" name="Rounded Rectangle 30"/>
          <p:cNvSpPr/>
          <p:nvPr/>
        </p:nvSpPr>
        <p:spPr>
          <a:xfrm>
            <a:off x="550000" y="3845000"/>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57817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514088"/>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4" name="TextBox 33"/>
          <p:cNvSpPr txBox="1"/>
          <p:nvPr/>
        </p:nvSpPr>
        <p:spPr>
          <a:xfrm>
            <a:off x="1300000" y="3885000"/>
            <a:ext cx="5900000" cy="1658176"/>
          </a:xfrm>
          <a:prstGeom prst="rect">
            <a:avLst/>
          </a:prstGeom>
          <a:noFill/>
        </p:spPr>
        <p:txBody>
          <a:bodyPr wrap="square" anchor="ctr">
            <a:spAutoFit/>
          </a:bodyPr>
          <a:lstStyle/>
          <a:p>
            <a:r>
              <a:rPr sz="1400" b="0">
                <a:solidFill>
                  <a:srgbClr val="E8EEFA"/>
                </a:solidFill>
                <a:latin typeface="Segoe UI"/>
              </a:rPr>
              <a:t>Google'ning TPU loyihasi — modelning matritsa ko'paytirish (matrix multiply) amallariga bo'lgan talabini chuqur tahlil qilib, ayni shu amal uchun sistolik massiv (systolic array) arxitekturasini yaratishning klassik misolidir.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Kirish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10</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3bf51a6fe71b1fc.jpg"/>
          <p:cNvPicPr>
            <a:picLocks noChangeAspect="1"/>
          </p:cNvPicPr>
          <p:nvPr/>
        </p:nvPicPr>
        <p:blipFill>
          <a:blip r:embed="rId2"/>
          <a:srcRect l="18285" r="1828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Aisart · Wikimedia Commons · CC BY-SA 3.0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283880"/>
            <a:ext cx="6750000" cy="301224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363880"/>
            <a:ext cx="50000" cy="2852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1" name="TextBox 30"/>
          <p:cNvSpPr txBox="1"/>
          <p:nvPr/>
        </p:nvSpPr>
        <p:spPr>
          <a:xfrm>
            <a:off x="1300000" y="2323880"/>
            <a:ext cx="5900000" cy="2932240"/>
          </a:xfrm>
          <a:prstGeom prst="rect">
            <a:avLst/>
          </a:prstGeom>
          <a:noFill/>
        </p:spPr>
        <p:txBody>
          <a:bodyPr wrap="square" anchor="ctr">
            <a:spAutoFit/>
          </a:bodyPr>
          <a:lstStyle/>
          <a:p>
            <a:r>
              <a:rPr sz="1700" b="1">
                <a:solidFill>
                  <a:srgbClr val="E8EEFA"/>
                </a:solidFill>
                <a:latin typeface="Segoe UI"/>
              </a:rPr>
              <a:t>Mashg'ulot davomida biz real sanoat vazifasiga yaqin ssenariy ustida ishlaymiz: korxona video-kuzatuv tizimida shaxsiy himoya vositalari (SHV) ni real vaqtda aniqlash uchun AI tizimi loyihalanmoqda.</a:t>
            </a:r>
          </a:p>
          <a:p>
            <a:pPr>
              <a:spcBef>
                <a:spcPts val="400"/>
              </a:spcBef>
            </a:pPr>
            <a:r>
              <a:rPr sz="1600">
                <a:solidFill>
                  <a:srgbClr val="AEBBD9"/>
                </a:solidFill>
                <a:latin typeface="Segoe UI"/>
              </a:rPr>
              <a:t>Talablar: 16 ta kamera, har biri 1080p va 10 kadr/sekund; aniqlash modeli — YOLO oilasidan; bir kadr uchun maksimal uchdan-uchgacha kechikish 200 ms; tizim ishlab chiqarish sexida (changli, +40 °C gacha harorat) joylashadi; byudjet cheklangan.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2c5fd702c6f21dc6.jpg"/>
          <p:cNvPicPr>
            <a:picLocks noChangeAspect="1"/>
          </p:cNvPicPr>
          <p:nvPr/>
        </p:nvPicPr>
        <p:blipFill>
          <a:blip r:embed="rId2"/>
          <a:srcRect l="9514" r="9514"/>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Auledas · Wikimedia Commons · CC BY 4.0</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03</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Nazariy asoslar</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AI tizimining qatlamli arxitekturasi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12</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7d63b53ff17fb657.jpg"/>
          <p:cNvPicPr>
            <a:picLocks noChangeAspect="1"/>
          </p:cNvPicPr>
          <p:nvPr/>
        </p:nvPicPr>
        <p:blipFill>
          <a:blip r:embed="rId2"/>
          <a:srcRect l="18235" r="1823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661544"/>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741544"/>
            <a:ext cx="50000" cy="191345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49827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3" name="TextBox 32"/>
          <p:cNvSpPr txBox="1"/>
          <p:nvPr/>
        </p:nvSpPr>
        <p:spPr>
          <a:xfrm>
            <a:off x="1300000" y="1701544"/>
            <a:ext cx="5900000" cy="1993456"/>
          </a:xfrm>
          <a:prstGeom prst="rect">
            <a:avLst/>
          </a:prstGeom>
          <a:noFill/>
        </p:spPr>
        <p:txBody>
          <a:bodyPr wrap="square" anchor="ctr">
            <a:spAutoFit/>
          </a:bodyPr>
          <a:lstStyle/>
          <a:p>
            <a:r>
              <a:rPr sz="1400" b="1">
                <a:solidFill>
                  <a:srgbClr val="E8EEFA"/>
                </a:solidFill>
                <a:latin typeface="Segoe UI"/>
              </a:rPr>
              <a:t>Sun'iy intellektga asoslangan kompyuter tizimini (AI-enabled computer system) tahlil qilishda to'rt qatlamli model qulay: (1) ma'lumotlar qatlami — sensorlar, oqimlar, saqlash, oldindan ishlov berish; (2) model qatlami — neyron tarmoq arxitekturasi…</a:t>
            </a:r>
          </a:p>
          <a:p>
            <a:pPr>
              <a:spcBef>
                <a:spcPts val="400"/>
              </a:spcBef>
            </a:pPr>
            <a:r>
              <a:rPr sz="1300">
                <a:solidFill>
                  <a:srgbClr val="AEBBD9"/>
                </a:solidFill>
                <a:latin typeface="Segoe UI"/>
              </a:rPr>
              <a:t>Har bir qatlam o'ziga xos resurs talabiga ega va qatlamlar orasidagi interfeyslar aynan tizimning tiqilib qoladigan joylari (bottleneck) bo'lishi mumkin.</a:t>
            </a:r>
          </a:p>
        </p:txBody>
      </p:sp>
      <p:sp>
        <p:nvSpPr>
          <p:cNvPr id="34" name="Rounded Rectangle 33"/>
          <p:cNvSpPr/>
          <p:nvPr/>
        </p:nvSpPr>
        <p:spPr>
          <a:xfrm>
            <a:off x="550000" y="3845000"/>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191345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68172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7" name="TextBox 36"/>
          <p:cNvSpPr txBox="1"/>
          <p:nvPr/>
        </p:nvSpPr>
        <p:spPr>
          <a:xfrm>
            <a:off x="1300000" y="3885000"/>
            <a:ext cx="5900000" cy="1993456"/>
          </a:xfrm>
          <a:prstGeom prst="rect">
            <a:avLst/>
          </a:prstGeom>
          <a:noFill/>
        </p:spPr>
        <p:txBody>
          <a:bodyPr wrap="square" anchor="ctr">
            <a:spAutoFit/>
          </a:bodyPr>
          <a:lstStyle/>
          <a:p>
            <a:r>
              <a:rPr sz="1400" b="1">
                <a:solidFill>
                  <a:srgbClr val="E8EEFA"/>
                </a:solidFill>
                <a:latin typeface="Segoe UI"/>
              </a:rPr>
              <a:t>Masalan, kameradan kelgan H.264 oqimini dekodlash CPU'da bajarilsa, 16 kamera uchun bu bitta protsessor yadrosini to'liq band qilishi mumkin — model qanchalik tez bo'lmasin, tizim dekodlash bosqichida tiqilib qoladi.</a:t>
            </a:r>
          </a:p>
          <a:p>
            <a:pPr>
              <a:spcBef>
                <a:spcPts val="400"/>
              </a:spcBef>
            </a:pPr>
            <a:r>
              <a:rPr sz="1300">
                <a:solidFill>
                  <a:srgbClr val="AEBBD9"/>
                </a:solidFill>
                <a:latin typeface="Segoe UI"/>
              </a:rPr>
              <a:t>Shu sababli arxitektura tahlili har doim butun quvur liniyasini (pipeline) qamrab olishi kerak.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AI tizimining qatlamli arxitekturasi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13</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ccdf8c0a9ea0f98.jpg"/>
          <p:cNvPicPr>
            <a:picLocks noChangeAspect="1"/>
          </p:cNvPicPr>
          <p:nvPr/>
        </p:nvPicPr>
        <p:blipFill>
          <a:blip r:embed="rId2"/>
          <a:srcRect l="2353" r="2353"/>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Blake Patterson from Alexandria, VA, USA · Wikimedia Commons · CC BY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820328"/>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900328"/>
            <a:ext cx="50000" cy="177934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0" name="TextBox 29"/>
          <p:cNvSpPr txBox="1"/>
          <p:nvPr/>
        </p:nvSpPr>
        <p:spPr>
          <a:xfrm>
            <a:off x="1300000" y="2860328"/>
            <a:ext cx="5900000" cy="1859344"/>
          </a:xfrm>
          <a:prstGeom prst="rect">
            <a:avLst/>
          </a:prstGeom>
          <a:noFill/>
        </p:spPr>
        <p:txBody>
          <a:bodyPr wrap="square" anchor="ctr">
            <a:spAutoFit/>
          </a:bodyPr>
          <a:lstStyle/>
          <a:p>
            <a:r>
              <a:rPr sz="1600" b="0">
                <a:solidFill>
                  <a:srgbClr val="E8EEFA"/>
                </a:solidFill>
                <a:latin typeface="Segoe UI"/>
              </a:rPr>
              <a:t>Tahlilning asosiy ko'rsatkichlari quyidagilar: o'tkazuvchanlik (throughput) — birlik vaqtda ishlangan so'rovlar yoki kadrlar soni; kechikish (latency) — bitta so'rovning kirishdan natijagacha o'tgan vaqti, odatda o'rtacha emas, balki p95 yoki p99 persentil…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Ish yuklamasini xarakterlash: FLOP, bayt va arifmetik intensivlik</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14</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7522695264632dda.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Jguarin · Wikimedia Commons · CC BY-SA 4.0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451520"/>
            <a:ext cx="6750000" cy="267696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531520"/>
            <a:ext cx="50000" cy="251696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2491520"/>
            <a:ext cx="5900000" cy="2596960"/>
          </a:xfrm>
          <a:prstGeom prst="rect">
            <a:avLst/>
          </a:prstGeom>
          <a:noFill/>
        </p:spPr>
        <p:txBody>
          <a:bodyPr wrap="square" anchor="ctr">
            <a:spAutoFit/>
          </a:bodyPr>
          <a:lstStyle/>
          <a:p>
            <a:r>
              <a:rPr sz="1500" b="1">
                <a:solidFill>
                  <a:srgbClr val="E8EEFA"/>
                </a:solidFill>
                <a:latin typeface="Segoe UI"/>
              </a:rPr>
              <a:t>Har qanday loyihalash yuklamani raqamlar bilan ifodalashdan boshlanadi.</a:t>
            </a:r>
          </a:p>
          <a:p>
            <a:pPr>
              <a:spcBef>
                <a:spcPts val="400"/>
              </a:spcBef>
            </a:pPr>
            <a:r>
              <a:rPr sz="1400">
                <a:solidFill>
                  <a:srgbClr val="AEBBD9"/>
                </a:solidFill>
                <a:latin typeface="Segoe UI"/>
              </a:rPr>
              <a:t>Chuqur o'rganish modelining bitta inferensi uchun zarur bo'lgan suzuvchi nuqtali amallar soni (FLOP) model arxitekturasidan aniq hisoblanadi: konvolyutsiya qatlami uchun FLOP = 2  K_h  K_w  C_in  C_out  H_out  W_out, to'liq bog'langan qatlam uchun FLOP = 2  N_in  N_out. Masalan, YOLOv8n modeli 640×640 kirishda taxminan 8,7 GFLOP, YOLOv8s — 28,6 GFLOP, YOLOv8m — 78,9 GFLOP talab qiladi (ishlab chiquvchilar hujjatlaridagi taxminiy qiymatlar).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Ish yuklamasini xarakterlash: FLOP, bayt va arifmetik intensivlik</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15</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7cc566e19cb64ab.jpg"/>
          <p:cNvPicPr>
            <a:picLocks noChangeAspect="1"/>
          </p:cNvPicPr>
          <p:nvPr/>
        </p:nvPicPr>
        <p:blipFill>
          <a:blip r:embed="rId2"/>
          <a:srcRect t="8025" b="802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Peter Cooper Jr. · Wikimedia Commons · CC0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879476"/>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959476"/>
            <a:ext cx="50000" cy="169552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60723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1919476"/>
            <a:ext cx="5900000" cy="1775524"/>
          </a:xfrm>
          <a:prstGeom prst="rect">
            <a:avLst/>
          </a:prstGeom>
          <a:noFill/>
        </p:spPr>
        <p:txBody>
          <a:bodyPr wrap="square" anchor="ctr">
            <a:spAutoFit/>
          </a:bodyPr>
          <a:lstStyle/>
          <a:p>
            <a:r>
              <a:rPr sz="1400" b="1">
                <a:solidFill>
                  <a:srgbClr val="E8EEFA"/>
                </a:solidFill>
                <a:latin typeface="Segoe UI"/>
              </a:rPr>
              <a:t>Xotira trafigi ham shunchalik muhim.</a:t>
            </a:r>
          </a:p>
          <a:p>
            <a:pPr>
              <a:spcBef>
                <a:spcPts val="400"/>
              </a:spcBef>
            </a:pPr>
            <a:r>
              <a:rPr sz="1300">
                <a:solidFill>
                  <a:srgbClr val="AEBBD9"/>
                </a:solidFill>
                <a:latin typeface="Segoe UI"/>
              </a:rPr>
              <a:t>Modelning har bir qatlami o'z vaznlarini (weights) va faollashuvlarini (activations) xotiradan o'qiydi va yozadi. Agar vaznlar FP16 formatida bo'lsa, YOLOv8s'ning 11,2 million parametri 22,4 MB joy egallaydi; paketlash (batching) ishlatilmasa, har inferensda vaznlar qayta o'qiladi. Arifmetik intensivlik AI = FLOP / bayt — bitta xotiradan o'qilgan baytga to'g'ri keladigan amallar soni.</a:t>
            </a:r>
          </a:p>
        </p:txBody>
      </p:sp>
      <p:sp>
        <p:nvSpPr>
          <p:cNvPr id="34" name="Rounded Rectangle 33"/>
          <p:cNvSpPr/>
          <p:nvPr/>
        </p:nvSpPr>
        <p:spPr>
          <a:xfrm>
            <a:off x="550000" y="3845000"/>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169552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572762"/>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7" name="TextBox 36"/>
          <p:cNvSpPr txBox="1"/>
          <p:nvPr/>
        </p:nvSpPr>
        <p:spPr>
          <a:xfrm>
            <a:off x="1300000" y="3885000"/>
            <a:ext cx="5900000" cy="1775524"/>
          </a:xfrm>
          <a:prstGeom prst="rect">
            <a:avLst/>
          </a:prstGeom>
          <a:noFill/>
        </p:spPr>
        <p:txBody>
          <a:bodyPr wrap="square" anchor="ctr">
            <a:spAutoFit/>
          </a:bodyPr>
          <a:lstStyle/>
          <a:p>
            <a:r>
              <a:rPr sz="1400" b="1">
                <a:solidFill>
                  <a:srgbClr val="E8EEFA"/>
                </a:solidFill>
                <a:latin typeface="Segoe UI"/>
              </a:rPr>
              <a:t>Roofline modeliga ko'ra, erishiladigan unumdorlik P = min(P_peak, AI  B_mem) formulasi bilan chegaralanadi, bu yerda P_peak — cho'qqi hisoblash unumdorligi, B_mem — xotira o'tkazuvchanligi.</a:t>
            </a:r>
          </a:p>
          <a:p>
            <a:pPr>
              <a:spcBef>
                <a:spcPts val="400"/>
              </a:spcBef>
            </a:pPr>
            <a:r>
              <a:rPr sz="1300">
                <a:solidFill>
                  <a:srgbClr val="AEBBD9"/>
                </a:solidFill>
                <a:latin typeface="Segoe UI"/>
              </a:rPr>
              <a:t>«Tizza nuqtasi» (ridge point) AI_ridge = P_peak / B_mem dan past intensivlikdagi yuklamalar xotira bilan, yuqoridagilari hisoblash bilan cheklanadi.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Hardware–Software Co-design tamoyillari</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16</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e2ce123b9a0f5e6f.jpg"/>
          <p:cNvPicPr>
            <a:picLocks noChangeAspect="1"/>
          </p:cNvPicPr>
          <p:nvPr/>
        </p:nvPicPr>
        <p:blipFill>
          <a:blip r:embed="rId2"/>
          <a:srcRect t="6303" b="6303"/>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Ubahnverleih · Wikimedia Commons · CC0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1842128"/>
            <a:ext cx="50000" cy="181287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2548564"/>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1802128"/>
            <a:ext cx="5900000" cy="1892872"/>
          </a:xfrm>
          <a:prstGeom prst="rect">
            <a:avLst/>
          </a:prstGeom>
          <a:noFill/>
        </p:spPr>
        <p:txBody>
          <a:bodyPr wrap="square" anchor="ctr">
            <a:spAutoFit/>
          </a:bodyPr>
          <a:lstStyle/>
          <a:p>
            <a:r>
              <a:rPr sz="1500" b="1">
                <a:solidFill>
                  <a:srgbClr val="E8EEFA"/>
                </a:solidFill>
                <a:latin typeface="Segoe UI"/>
              </a:rPr>
              <a:t>Yuklamadan boshlash (workload-first). Avval model operatorlari profili tuziladi.</a:t>
            </a:r>
          </a:p>
          <a:p>
            <a:pPr>
              <a:spcBef>
                <a:spcPts val="400"/>
              </a:spcBef>
            </a:pPr>
            <a:r>
              <a:rPr sz="1400">
                <a:solidFill>
                  <a:srgbClr val="AEBBD9"/>
                </a:solidFill>
                <a:latin typeface="Segoe UI"/>
              </a:rPr>
              <a:t>Qaysi operatorlar vaqtning necha foizini oladi. Agar 85 % vaqt konvolyutsiya va matritsa ko'paytirishga ketsa, Tensor Core yoki NPU hal qiluvchi; agar vaqtning katta qismi NMS (non-maximum suppression) kabi tarmoqlanuvchi mantiqqa ketsa, tezkor CPU yadrolari kerak.</a:t>
            </a:r>
          </a:p>
        </p:txBody>
      </p:sp>
      <p:sp>
        <p:nvSpPr>
          <p:cNvPr id="30" name="Rounded Rectangle 29"/>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925000"/>
            <a:ext cx="50000" cy="1812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463143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3885000"/>
            <a:ext cx="5900000" cy="1892872"/>
          </a:xfrm>
          <a:prstGeom prst="rect">
            <a:avLst/>
          </a:prstGeom>
          <a:noFill/>
        </p:spPr>
        <p:txBody>
          <a:bodyPr wrap="square" anchor="ctr">
            <a:spAutoFit/>
          </a:bodyPr>
          <a:lstStyle/>
          <a:p>
            <a:r>
              <a:rPr sz="1400" b="0">
                <a:solidFill>
                  <a:srgbClr val="E8EEFA"/>
                </a:solidFill>
                <a:latin typeface="Segoe UI"/>
              </a:rPr>
              <a:t>Aniqlik formatini apparatga moslashtirish. INT8 kvantlash Tensor Core'larda 2 baravar, Edge TPU'da esa yagona qo'llab-quvvatlanadigan format. Model INT8'ga sifatni yo'qotmasdan kvantlanmasa, Edge TPU avtomatik ravishda nomzodlar ro'yxatidan chiqadi.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50"/>
                                        <p:tgtEl>
                                          <p:spTgt spid="30"/>
                                        </p:tgtEl>
                                      </p:cBhvr>
                                    </p:animEffect>
                                    <p:anim calcmode="lin" valueType="num">
                                      <p:cBhvr additive="base">
                                        <p:cTn id="60" dur="550" fill="hold"/>
                                        <p:tgtEl>
                                          <p:spTgt spid="30"/>
                                        </p:tgtEl>
                                        <p:attrNameLst>
                                          <p:attrName>ppt_x</p:attrName>
                                        </p:attrNameLst>
                                      </p:cBhvr>
                                      <p:tavLst>
                                        <p:tav tm="0">
                                          <p:val>
                                            <p:strVal val="#ppt_x"/>
                                          </p:val>
                                        </p:tav>
                                        <p:tav tm="100000">
                                          <p:val>
                                            <p:strVal val="#ppt_x"/>
                                          </p:val>
                                        </p:tav>
                                      </p:tavLst>
                                    </p:anim>
                                    <p:anim calcmode="lin" valueType="num">
                                      <p:cBhvr additive="base">
                                        <p:cTn id="61" dur="550" fill="hold"/>
                                        <p:tgtEl>
                                          <p:spTgt spid="30"/>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50"/>
                                        <p:tgtEl>
                                          <p:spTgt spid="31"/>
                                        </p:tgtEl>
                                      </p:cBhvr>
                                    </p:animEffect>
                                    <p:anim calcmode="lin" valueType="num">
                                      <p:cBhvr additive="base">
                                        <p:cTn id="66" dur="550" fill="hold"/>
                                        <p:tgtEl>
                                          <p:spTgt spid="31"/>
                                        </p:tgtEl>
                                        <p:attrNameLst>
                                          <p:attrName>ppt_x</p:attrName>
                                        </p:attrNameLst>
                                      </p:cBhvr>
                                      <p:tavLst>
                                        <p:tav tm="0">
                                          <p:val>
                                            <p:strVal val="#ppt_x"/>
                                          </p:val>
                                        </p:tav>
                                        <p:tav tm="100000">
                                          <p:val>
                                            <p:strVal val="#ppt_x"/>
                                          </p:val>
                                        </p:tav>
                                      </p:tavLst>
                                    </p:anim>
                                    <p:anim calcmode="lin" valueType="num">
                                      <p:cBhvr additive="base">
                                        <p:cTn id="67" dur="550" fill="hold"/>
                                        <p:tgtEl>
                                          <p:spTgt spid="31"/>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50"/>
                                        <p:tgtEl>
                                          <p:spTgt spid="32"/>
                                        </p:tgtEl>
                                      </p:cBhvr>
                                    </p:animEffect>
                                    <p:anim calcmode="lin" valueType="num">
                                      <p:cBhvr additive="base">
                                        <p:cTn id="72" dur="550" fill="hold"/>
                                        <p:tgtEl>
                                          <p:spTgt spid="32"/>
                                        </p:tgtEl>
                                        <p:attrNameLst>
                                          <p:attrName>ppt_w</p:attrName>
                                        </p:attrNameLst>
                                      </p:cBhvr>
                                      <p:tavLst>
                                        <p:tav tm="0">
                                          <p:val>
                                            <p:strVal val="0"/>
                                          </p:val>
                                        </p:tav>
                                        <p:tav tm="100000">
                                          <p:val>
                                            <p:strVal val="#ppt_w"/>
                                          </p:val>
                                        </p:tav>
                                      </p:tavLst>
                                    </p:anim>
                                    <p:anim calcmode="lin" valueType="num">
                                      <p:cBhvr additive="base">
                                        <p:cTn id="73" dur="550" fill="hold"/>
                                        <p:tgtEl>
                                          <p:spTgt spid="32"/>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550"/>
                                        <p:tgtEl>
                                          <p:spTgt spid="33"/>
                                        </p:tgtEl>
                                      </p:cBhvr>
                                    </p:animEffect>
                                    <p:anim calcmode="lin" valueType="num">
                                      <p:cBhvr additive="base">
                                        <p:cTn id="78" dur="550" fill="hold"/>
                                        <p:tgtEl>
                                          <p:spTgt spid="33"/>
                                        </p:tgtEl>
                                        <p:attrNameLst>
                                          <p:attrName>ppt_x</p:attrName>
                                        </p:attrNameLst>
                                      </p:cBhvr>
                                      <p:tavLst>
                                        <p:tav tm="0">
                                          <p:val>
                                            <p:strVal val="#ppt_x"/>
                                          </p:val>
                                        </p:tav>
                                        <p:tav tm="100000">
                                          <p:val>
                                            <p:strVal val="#ppt_x"/>
                                          </p:val>
                                        </p:tav>
                                      </p:tavLst>
                                    </p:anim>
                                    <p:anim calcmode="lin" valueType="num">
                                      <p:cBhvr additive="base">
                                        <p:cTn id="79"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Hardware–Software Co-design tamoyillari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17</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3bf51a6fe71b1fc.jpg"/>
          <p:cNvPicPr>
            <a:picLocks noChangeAspect="1"/>
          </p:cNvPicPr>
          <p:nvPr/>
        </p:nvPicPr>
        <p:blipFill>
          <a:blip r:embed="rId2"/>
          <a:srcRect l="18285" r="1828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Aisart · Wikimedia Commons · CC BY-SA 3.0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996824"/>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076824"/>
            <a:ext cx="50000" cy="157817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665912"/>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2036824"/>
            <a:ext cx="5900000" cy="1658176"/>
          </a:xfrm>
          <a:prstGeom prst="rect">
            <a:avLst/>
          </a:prstGeom>
          <a:noFill/>
        </p:spPr>
        <p:txBody>
          <a:bodyPr wrap="square" anchor="ctr">
            <a:spAutoFit/>
          </a:bodyPr>
          <a:lstStyle/>
          <a:p>
            <a:r>
              <a:rPr sz="1400" b="0">
                <a:solidFill>
                  <a:srgbClr val="E8EEFA"/>
                </a:solidFill>
                <a:latin typeface="Segoe UI"/>
              </a:rPr>
              <a:t>Operatorlar qamrovi (operator coverage). Har bir tezlatkich cheklangan operatorlar to'plamini qo'llab-quvvatlaydi. Qo'llab-quvvatlanmagan operator CPU'ga «tushib» qoladi (fallback) va butun grafikning tezligini pasaytiradi. Loyihalashda model grafigi va tezlatkich operatorlar ro'yxati solishtiriladi.</a:t>
            </a:r>
          </a:p>
        </p:txBody>
      </p:sp>
      <p:sp>
        <p:nvSpPr>
          <p:cNvPr id="32" name="Rounded Rectangle 31"/>
          <p:cNvSpPr/>
          <p:nvPr/>
        </p:nvSpPr>
        <p:spPr>
          <a:xfrm>
            <a:off x="550000" y="3845000"/>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57817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514088"/>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5" name="TextBox 34"/>
          <p:cNvSpPr txBox="1"/>
          <p:nvPr/>
        </p:nvSpPr>
        <p:spPr>
          <a:xfrm>
            <a:off x="1300000" y="3885000"/>
            <a:ext cx="5900000" cy="1658176"/>
          </a:xfrm>
          <a:prstGeom prst="rect">
            <a:avLst/>
          </a:prstGeom>
          <a:noFill/>
        </p:spPr>
        <p:txBody>
          <a:bodyPr wrap="square" anchor="ctr">
            <a:spAutoFit/>
          </a:bodyPr>
          <a:lstStyle/>
          <a:p>
            <a:r>
              <a:rPr sz="1400" b="0">
                <a:solidFill>
                  <a:srgbClr val="E8EEFA"/>
                </a:solidFill>
                <a:latin typeface="Segoe UI"/>
              </a:rPr>
              <a:t>Xotira iyerarxiyasini hisobga olish. On-chip SRAM (masalan, Edge TPU'da 8 MB, Orin'da 4 MB L2 + yadro keshlari) ga sig'adigan model va faollashuvlar tashqi DRAM'ga murojaatni keskin kamaytiradi.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Hardware–Software Co-design tamoyillari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18</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7d63b53ff17fb657.jpg"/>
          <p:cNvPicPr>
            <a:picLocks noChangeAspect="1"/>
          </p:cNvPicPr>
          <p:nvPr/>
        </p:nvPicPr>
        <p:blipFill>
          <a:blip r:embed="rId2"/>
          <a:srcRect l="18235" r="1823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332104"/>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412104"/>
            <a:ext cx="50000" cy="1242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833552"/>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1" name="TextBox 30"/>
          <p:cNvSpPr txBox="1"/>
          <p:nvPr/>
        </p:nvSpPr>
        <p:spPr>
          <a:xfrm>
            <a:off x="1300000" y="2372104"/>
            <a:ext cx="5900000" cy="1322896"/>
          </a:xfrm>
          <a:prstGeom prst="rect">
            <a:avLst/>
          </a:prstGeom>
          <a:noFill/>
        </p:spPr>
        <p:txBody>
          <a:bodyPr wrap="square" anchor="ctr">
            <a:spAutoFit/>
          </a:bodyPr>
          <a:lstStyle/>
          <a:p>
            <a:r>
              <a:rPr sz="1600" b="0">
                <a:solidFill>
                  <a:srgbClr val="E8EEFA"/>
                </a:solidFill>
                <a:latin typeface="Segoe UI"/>
              </a:rPr>
              <a:t>Butun tizim narxi va energiya byudjeti. Chekka qurilmada 15–25 Vt, serverda 300–700 Vt bir tezlatkich uchun. Sovutish, korpus, quvvat manbai ham loyihaning bir qismi.</a:t>
            </a:r>
          </a:p>
        </p:txBody>
      </p:sp>
      <p:sp>
        <p:nvSpPr>
          <p:cNvPr id="32" name="Rounded Rectangle 31"/>
          <p:cNvSpPr/>
          <p:nvPr/>
        </p:nvSpPr>
        <p:spPr>
          <a:xfrm>
            <a:off x="550000" y="3845000"/>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242896"/>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346448"/>
            <a:ext cx="400000" cy="40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35" name="TextBox 34"/>
          <p:cNvSpPr txBox="1"/>
          <p:nvPr/>
        </p:nvSpPr>
        <p:spPr>
          <a:xfrm>
            <a:off x="1300000" y="3885000"/>
            <a:ext cx="5900000" cy="1322896"/>
          </a:xfrm>
          <a:prstGeom prst="rect">
            <a:avLst/>
          </a:prstGeom>
          <a:noFill/>
        </p:spPr>
        <p:txBody>
          <a:bodyPr wrap="square" anchor="ctr">
            <a:spAutoFit/>
          </a:bodyPr>
          <a:lstStyle/>
          <a:p>
            <a:r>
              <a:rPr sz="1700" b="1">
                <a:solidFill>
                  <a:srgbClr val="E8EEFA"/>
                </a:solidFill>
                <a:latin typeface="Segoe UI"/>
              </a:rPr>
              <a:t>Iteratsiya. Birinchi tanlov prototipda o'lchanadi, natija talabga javob bermasa.</a:t>
            </a:r>
          </a:p>
          <a:p>
            <a:pPr>
              <a:spcBef>
                <a:spcPts val="400"/>
              </a:spcBef>
            </a:pPr>
            <a:r>
              <a:rPr sz="1600">
                <a:solidFill>
                  <a:srgbClr val="AEBBD9"/>
                </a:solidFill>
                <a:latin typeface="Segoe UI"/>
              </a:rPr>
              <a:t>Model (masalan, kirish o'lchamini 640 dan 512 ga tushirish) yoki apparat (Orin NX → Orin AGX) o'zgartiriladi.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Hisoblash platformalarining texnik tavsiflari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19</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ccdf8c0a9ea0f98.jpg"/>
          <p:cNvPicPr>
            <a:picLocks noChangeAspect="1"/>
          </p:cNvPicPr>
          <p:nvPr/>
        </p:nvPicPr>
        <p:blipFill>
          <a:blip r:embed="rId2"/>
          <a:srcRect l="2353" r="2353"/>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Blake Patterson from Alexandria, VA, USA · Wikimedia Commons · CC BY 2.0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443612"/>
            <a:ext cx="6750000" cy="229138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523612"/>
            <a:ext cx="50000" cy="213138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38930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3" name="TextBox 32"/>
          <p:cNvSpPr txBox="1"/>
          <p:nvPr/>
        </p:nvSpPr>
        <p:spPr>
          <a:xfrm>
            <a:off x="1300000" y="1483612"/>
            <a:ext cx="5900000" cy="2211388"/>
          </a:xfrm>
          <a:prstGeom prst="rect">
            <a:avLst/>
          </a:prstGeom>
          <a:noFill/>
        </p:spPr>
        <p:txBody>
          <a:bodyPr wrap="square" anchor="ctr">
            <a:spAutoFit/>
          </a:bodyPr>
          <a:lstStyle/>
          <a:p>
            <a:r>
              <a:rPr sz="1300" b="0">
                <a:solidFill>
                  <a:srgbClr val="E8EEFA"/>
                </a:solidFill>
                <a:latin typeface="Segoe UI"/>
              </a:rPr>
              <a:t>Quyidagi jadvalda mashg'ulotda solishtiriladigan uchta platformaning ochiq texnik tavsiflari keltirilgan (qiymatlar ishlab chiqaruvchilarning rasmiy ma'lumotlariga asoslangan, taxminiy; aniq raqam modul konfiguratsiyasi va quvvat rejimiga bog'liq).</a:t>
            </a:r>
          </a:p>
        </p:txBody>
      </p:sp>
      <p:sp>
        <p:nvSpPr>
          <p:cNvPr id="34" name="Rounded Rectangle 33"/>
          <p:cNvSpPr/>
          <p:nvPr/>
        </p:nvSpPr>
        <p:spPr>
          <a:xfrm>
            <a:off x="550000" y="3845000"/>
            <a:ext cx="6750000" cy="229138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213138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79069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7" name="TextBox 36"/>
          <p:cNvSpPr txBox="1"/>
          <p:nvPr/>
        </p:nvSpPr>
        <p:spPr>
          <a:xfrm>
            <a:off x="1300000" y="3885000"/>
            <a:ext cx="5900000" cy="2211388"/>
          </a:xfrm>
          <a:prstGeom prst="rect">
            <a:avLst/>
          </a:prstGeom>
          <a:noFill/>
        </p:spPr>
        <p:txBody>
          <a:bodyPr wrap="square" anchor="ctr">
            <a:spAutoFit/>
          </a:bodyPr>
          <a:lstStyle/>
          <a:p>
            <a:r>
              <a:rPr sz="1400" b="1">
                <a:solidFill>
                  <a:srgbClr val="E8EEFA"/>
                </a:solidFill>
                <a:latin typeface="Segoe UI"/>
              </a:rPr>
              <a:t>Jadvaldan ko'rinadiki, «eng kuchli» platforma har doim ham eng mos emas.</a:t>
            </a:r>
          </a:p>
          <a:p>
            <a:pPr>
              <a:spcBef>
                <a:spcPts val="400"/>
              </a:spcBef>
            </a:pPr>
            <a:r>
              <a:rPr sz="1300">
                <a:solidFill>
                  <a:srgbClr val="AEBBD9"/>
                </a:solidFill>
                <a:latin typeface="Segoe UI"/>
              </a:rPr>
              <a:t>A100 unumdorlikda ustun, lekin sexda joylashtirish, sovutish va narx bo'yicha talabga mos kelmaydi; Edge TPU juda arzon va tejamkor, lekin 160 inferens/sekund YOLOv8s yuklamasini ko'tara olmaydi (4 TOPS × ~50 % samaradorlik ≈ 2 TOPS haqiqiy, kerak esa 4,6 TOPS) va faqat INT8 model talab qiladi; Jetson Orin NX esa o'rta yo'l — apparat video dekoderi, sanoat harorati diapazoni, TensorRT qo'llab-quvvatlashi bilan talablarga eng yaqin.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Hisoblash platformalarining texnik tavsiflari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20</a:t>
            </a:r>
          </a:p>
        </p:txBody>
      </p:sp>
      <p:graphicFrame>
        <p:nvGraphicFramePr>
          <p:cNvPr id="26" name="Table 25"/>
          <p:cNvGraphicFramePr>
            <a:graphicFrameLocks noGrp="1"/>
          </p:cNvGraphicFramePr>
          <p:nvPr/>
        </p:nvGraphicFramePr>
        <p:xfrm>
          <a:off x="550000" y="1400000"/>
          <a:ext cx="11100000" cy="468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200" b="1">
                          <a:solidFill>
                            <a:srgbClr val="22D3EE"/>
                          </a:solidFill>
                          <a:latin typeface="Segoe UI"/>
                        </a:rPr>
                        <a:t>Ko'rsatkich</a:t>
                      </a:r>
                    </a:p>
                  </a:txBody>
                  <a:tcPr>
                    <a:solidFill>
                      <a:srgbClr val="1C2755"/>
                    </a:solidFill>
                  </a:tcPr>
                </a:tc>
                <a:tc>
                  <a:txBody>
                    <a:bodyPr/>
                    <a:lstStyle/>
                    <a:p>
                      <a:r>
                        <a:rPr sz="1200" b="1">
                          <a:solidFill>
                            <a:srgbClr val="22D3EE"/>
                          </a:solidFill>
                          <a:latin typeface="Segoe UI"/>
                        </a:rPr>
                        <a:t>NVIDIA Jetson Orin NX 16 GB</a:t>
                      </a:r>
                    </a:p>
                  </a:txBody>
                  <a:tcPr>
                    <a:solidFill>
                      <a:srgbClr val="1C2755"/>
                    </a:solidFill>
                  </a:tcPr>
                </a:tc>
                <a:tc>
                  <a:txBody>
                    <a:bodyPr/>
                    <a:lstStyle/>
                    <a:p>
                      <a:r>
                        <a:rPr sz="1200" b="1">
                          <a:solidFill>
                            <a:srgbClr val="22D3EE"/>
                          </a:solidFill>
                          <a:latin typeface="Segoe UI"/>
                        </a:rPr>
                        <a:t>NVIDIA A100 PCIe 80 GB</a:t>
                      </a:r>
                    </a:p>
                  </a:txBody>
                  <a:tcPr>
                    <a:solidFill>
                      <a:srgbClr val="1C2755"/>
                    </a:solidFill>
                  </a:tcPr>
                </a:tc>
                <a:tc>
                  <a:txBody>
                    <a:bodyPr/>
                    <a:lstStyle/>
                    <a:p>
                      <a:r>
                        <a:rPr sz="1200" b="1">
                          <a:solidFill>
                            <a:srgbClr val="22D3EE"/>
                          </a:solidFill>
                          <a:latin typeface="Segoe UI"/>
                        </a:rPr>
                        <a:t>Google Coral Edge TPU (USB/M.2)</a:t>
                      </a:r>
                    </a:p>
                  </a:txBody>
                  <a:tcPr>
                    <a:solidFill>
                      <a:srgbClr val="1C2755"/>
                    </a:solidFill>
                  </a:tcPr>
                </a:tc>
              </a:tr>
              <a:tr h="520000">
                <a:tc>
                  <a:txBody>
                    <a:bodyPr/>
                    <a:lstStyle/>
                    <a:p>
                      <a:r>
                        <a:rPr sz="1200" b="0">
                          <a:solidFill>
                            <a:srgbClr val="E8EEFA"/>
                          </a:solidFill>
                          <a:latin typeface="Segoe UI"/>
                        </a:rPr>
                        <a:t>Sinf</a:t>
                      </a:r>
                    </a:p>
                  </a:txBody>
                  <a:tcPr>
                    <a:solidFill>
                      <a:srgbClr val="111834"/>
                    </a:solidFill>
                  </a:tcPr>
                </a:tc>
                <a:tc>
                  <a:txBody>
                    <a:bodyPr/>
                    <a:lstStyle/>
                    <a:p>
                      <a:r>
                        <a:rPr sz="1200" b="0">
                          <a:solidFill>
                            <a:srgbClr val="E8EEFA"/>
                          </a:solidFill>
                          <a:latin typeface="Segoe UI"/>
                        </a:rPr>
                        <a:t>Chekka modul (SoM)</a:t>
                      </a:r>
                    </a:p>
                  </a:txBody>
                  <a:tcPr>
                    <a:solidFill>
                      <a:srgbClr val="111834"/>
                    </a:solidFill>
                  </a:tcPr>
                </a:tc>
                <a:tc>
                  <a:txBody>
                    <a:bodyPr/>
                    <a:lstStyle/>
                    <a:p>
                      <a:r>
                        <a:rPr sz="1200" b="0">
                          <a:solidFill>
                            <a:srgbClr val="E8EEFA"/>
                          </a:solidFill>
                          <a:latin typeface="Segoe UI"/>
                        </a:rPr>
                        <a:t>Ma'lumotlar markazi GPU</a:t>
                      </a:r>
                    </a:p>
                  </a:txBody>
                  <a:tcPr>
                    <a:solidFill>
                      <a:srgbClr val="111834"/>
                    </a:solidFill>
                  </a:tcPr>
                </a:tc>
                <a:tc>
                  <a:txBody>
                    <a:bodyPr/>
                    <a:lstStyle/>
                    <a:p>
                      <a:r>
                        <a:rPr sz="1200" b="0">
                          <a:solidFill>
                            <a:srgbClr val="E8EEFA"/>
                          </a:solidFill>
                          <a:latin typeface="Segoe UI"/>
                        </a:rPr>
                        <a:t>Chekka ASIC</a:t>
                      </a:r>
                    </a:p>
                  </a:txBody>
                  <a:tcPr>
                    <a:solidFill>
                      <a:srgbClr val="111834"/>
                    </a:solidFill>
                  </a:tcPr>
                </a:tc>
              </a:tr>
              <a:tr h="520000">
                <a:tc>
                  <a:txBody>
                    <a:bodyPr/>
                    <a:lstStyle/>
                    <a:p>
                      <a:r>
                        <a:rPr sz="1200" b="0">
                          <a:solidFill>
                            <a:srgbClr val="E8EEFA"/>
                          </a:solidFill>
                          <a:latin typeface="Segoe UI"/>
                        </a:rPr>
                        <a:t>Cho'qqi unumdorlik</a:t>
                      </a:r>
                    </a:p>
                  </a:txBody>
                  <a:tcPr>
                    <a:solidFill>
                      <a:srgbClr val="161F40"/>
                    </a:solidFill>
                  </a:tcPr>
                </a:tc>
                <a:tc>
                  <a:txBody>
                    <a:bodyPr/>
                    <a:lstStyle/>
                    <a:p>
                      <a:r>
                        <a:rPr sz="1200" b="0">
                          <a:solidFill>
                            <a:srgbClr val="E8EEFA"/>
                          </a:solidFill>
                          <a:latin typeface="Segoe UI"/>
                        </a:rPr>
                        <a:t>~100 TOPS INT8 (sparse), ~50 TOPS dense</a:t>
                      </a:r>
                    </a:p>
                  </a:txBody>
                  <a:tcPr>
                    <a:solidFill>
                      <a:srgbClr val="161F40"/>
                    </a:solidFill>
                  </a:tcPr>
                </a:tc>
                <a:tc>
                  <a:txBody>
                    <a:bodyPr/>
                    <a:lstStyle/>
                    <a:p>
                      <a:r>
                        <a:rPr sz="1200" b="0">
                          <a:solidFill>
                            <a:srgbClr val="E8EEFA"/>
                          </a:solidFill>
                          <a:latin typeface="Segoe UI"/>
                        </a:rPr>
                        <a:t>312 TFLOP/s FP16 dense, 624 TOPS INT8 dense</a:t>
                      </a:r>
                    </a:p>
                  </a:txBody>
                  <a:tcPr>
                    <a:solidFill>
                      <a:srgbClr val="161F40"/>
                    </a:solidFill>
                  </a:tcPr>
                </a:tc>
                <a:tc>
                  <a:txBody>
                    <a:bodyPr/>
                    <a:lstStyle/>
                    <a:p>
                      <a:r>
                        <a:rPr sz="1200" b="0">
                          <a:solidFill>
                            <a:srgbClr val="E8EEFA"/>
                          </a:solidFill>
                          <a:latin typeface="Segoe UI"/>
                        </a:rPr>
                        <a:t>4 TOPS INT8</a:t>
                      </a:r>
                    </a:p>
                  </a:txBody>
                  <a:tcPr>
                    <a:solidFill>
                      <a:srgbClr val="161F40"/>
                    </a:solidFill>
                  </a:tcPr>
                </a:tc>
              </a:tr>
              <a:tr h="520000">
                <a:tc>
                  <a:txBody>
                    <a:bodyPr/>
                    <a:lstStyle/>
                    <a:p>
                      <a:r>
                        <a:rPr sz="1200" b="0">
                          <a:solidFill>
                            <a:srgbClr val="E8EEFA"/>
                          </a:solidFill>
                          <a:latin typeface="Segoe UI"/>
                        </a:rPr>
                        <a:t>Xotira</a:t>
                      </a:r>
                    </a:p>
                  </a:txBody>
                  <a:tcPr>
                    <a:solidFill>
                      <a:srgbClr val="111834"/>
                    </a:solidFill>
                  </a:tcPr>
                </a:tc>
                <a:tc>
                  <a:txBody>
                    <a:bodyPr/>
                    <a:lstStyle/>
                    <a:p>
                      <a:r>
                        <a:rPr sz="1200" b="0">
                          <a:solidFill>
                            <a:srgbClr val="E8EEFA"/>
                          </a:solidFill>
                          <a:latin typeface="Segoe UI"/>
                        </a:rPr>
                        <a:t>16 GB LPDDR5, 102 GB/s</a:t>
                      </a:r>
                    </a:p>
                  </a:txBody>
                  <a:tcPr>
                    <a:solidFill>
                      <a:srgbClr val="111834"/>
                    </a:solidFill>
                  </a:tcPr>
                </a:tc>
                <a:tc>
                  <a:txBody>
                    <a:bodyPr/>
                    <a:lstStyle/>
                    <a:p>
                      <a:r>
                        <a:rPr sz="1200" b="0">
                          <a:solidFill>
                            <a:srgbClr val="E8EEFA"/>
                          </a:solidFill>
                          <a:latin typeface="Segoe UI"/>
                        </a:rPr>
                        <a:t>80 GB HBM2e, ~1,9 TB/s</a:t>
                      </a:r>
                    </a:p>
                  </a:txBody>
                  <a:tcPr>
                    <a:solidFill>
                      <a:srgbClr val="111834"/>
                    </a:solidFill>
                  </a:tcPr>
                </a:tc>
                <a:tc>
                  <a:txBody>
                    <a:bodyPr/>
                    <a:lstStyle/>
                    <a:p>
                      <a:r>
                        <a:rPr sz="1200" b="0">
                          <a:solidFill>
                            <a:srgbClr val="E8EEFA"/>
                          </a:solidFill>
                          <a:latin typeface="Segoe UI"/>
                        </a:rPr>
                        <a:t>8 MB on-chip SRAM, host DRAM</a:t>
                      </a:r>
                    </a:p>
                  </a:txBody>
                  <a:tcPr>
                    <a:solidFill>
                      <a:srgbClr val="111834"/>
                    </a:solidFill>
                  </a:tcPr>
                </a:tc>
              </a:tr>
              <a:tr h="520000">
                <a:tc>
                  <a:txBody>
                    <a:bodyPr/>
                    <a:lstStyle/>
                    <a:p>
                      <a:r>
                        <a:rPr sz="1200" b="0">
                          <a:solidFill>
                            <a:srgbClr val="E8EEFA"/>
                          </a:solidFill>
                          <a:latin typeface="Segoe UI"/>
                        </a:rPr>
                        <a:t>Quvvat</a:t>
                      </a:r>
                    </a:p>
                  </a:txBody>
                  <a:tcPr>
                    <a:solidFill>
                      <a:srgbClr val="161F40"/>
                    </a:solidFill>
                  </a:tcPr>
                </a:tc>
                <a:tc>
                  <a:txBody>
                    <a:bodyPr/>
                    <a:lstStyle/>
                    <a:p>
                      <a:r>
                        <a:rPr sz="1200" b="0">
                          <a:solidFill>
                            <a:srgbClr val="E8EEFA"/>
                          </a:solidFill>
                          <a:latin typeface="Segoe UI"/>
                        </a:rPr>
                        <a:t>10–25 Vt (sozlanadi)</a:t>
                      </a:r>
                    </a:p>
                  </a:txBody>
                  <a:tcPr>
                    <a:solidFill>
                      <a:srgbClr val="161F40"/>
                    </a:solidFill>
                  </a:tcPr>
                </a:tc>
                <a:tc>
                  <a:txBody>
                    <a:bodyPr/>
                    <a:lstStyle/>
                    <a:p>
                      <a:r>
                        <a:rPr sz="1200" b="0">
                          <a:solidFill>
                            <a:srgbClr val="E8EEFA"/>
                          </a:solidFill>
                          <a:latin typeface="Segoe UI"/>
                        </a:rPr>
                        <a:t>300 Vt TDP</a:t>
                      </a:r>
                    </a:p>
                  </a:txBody>
                  <a:tcPr>
                    <a:solidFill>
                      <a:srgbClr val="161F40"/>
                    </a:solidFill>
                  </a:tcPr>
                </a:tc>
                <a:tc>
                  <a:txBody>
                    <a:bodyPr/>
                    <a:lstStyle/>
                    <a:p>
                      <a:r>
                        <a:rPr sz="1200" b="0">
                          <a:solidFill>
                            <a:srgbClr val="E8EEFA"/>
                          </a:solidFill>
                          <a:latin typeface="Segoe UI"/>
                        </a:rPr>
                        <a:t>~2 Vt</a:t>
                      </a:r>
                    </a:p>
                  </a:txBody>
                  <a:tcPr>
                    <a:solidFill>
                      <a:srgbClr val="161F40"/>
                    </a:solidFill>
                  </a:tcPr>
                </a:tc>
              </a:tr>
              <a:tr h="520000">
                <a:tc>
                  <a:txBody>
                    <a:bodyPr/>
                    <a:lstStyle/>
                    <a:p>
                      <a:r>
                        <a:rPr sz="1200" b="0">
                          <a:solidFill>
                            <a:srgbClr val="E8EEFA"/>
                          </a:solidFill>
                          <a:latin typeface="Segoe UI"/>
                        </a:rPr>
                        <a:t>Energiya samaradorligi</a:t>
                      </a:r>
                    </a:p>
                  </a:txBody>
                  <a:tcPr>
                    <a:solidFill>
                      <a:srgbClr val="111834"/>
                    </a:solidFill>
                  </a:tcPr>
                </a:tc>
                <a:tc>
                  <a:txBody>
                    <a:bodyPr/>
                    <a:lstStyle/>
                    <a:p>
                      <a:r>
                        <a:rPr sz="1200" b="0">
                          <a:solidFill>
                            <a:srgbClr val="E8EEFA"/>
                          </a:solidFill>
                          <a:latin typeface="Segoe UI"/>
                        </a:rPr>
                        <a:t>~4 TOPS/W (INT8 dense)</a:t>
                      </a:r>
                    </a:p>
                  </a:txBody>
                  <a:tcPr>
                    <a:solidFill>
                      <a:srgbClr val="111834"/>
                    </a:solidFill>
                  </a:tcPr>
                </a:tc>
                <a:tc>
                  <a:txBody>
                    <a:bodyPr/>
                    <a:lstStyle/>
                    <a:p>
                      <a:r>
                        <a:rPr sz="1200" b="0">
                          <a:solidFill>
                            <a:srgbClr val="E8EEFA"/>
                          </a:solidFill>
                          <a:latin typeface="Segoe UI"/>
                        </a:rPr>
                        <a:t>~2 TOPS/W (INT8 dense)</a:t>
                      </a:r>
                    </a:p>
                  </a:txBody>
                  <a:tcPr>
                    <a:solidFill>
                      <a:srgbClr val="111834"/>
                    </a:solidFill>
                  </a:tcPr>
                </a:tc>
                <a:tc>
                  <a:txBody>
                    <a:bodyPr/>
                    <a:lstStyle/>
                    <a:p>
                      <a:r>
                        <a:rPr sz="1200" b="0">
                          <a:solidFill>
                            <a:srgbClr val="E8EEFA"/>
                          </a:solidFill>
                          <a:latin typeface="Segoe UI"/>
                        </a:rPr>
                        <a:t>~2 TOPS/W</a:t>
                      </a:r>
                    </a:p>
                  </a:txBody>
                  <a:tcPr>
                    <a:solidFill>
                      <a:srgbClr val="111834"/>
                    </a:solidFill>
                  </a:tcPr>
                </a:tc>
              </a:tr>
              <a:tr h="520000">
                <a:tc>
                  <a:txBody>
                    <a:bodyPr/>
                    <a:lstStyle/>
                    <a:p>
                      <a:r>
                        <a:rPr sz="1200" b="0">
                          <a:solidFill>
                            <a:srgbClr val="E8EEFA"/>
                          </a:solidFill>
                          <a:latin typeface="Segoe UI"/>
                        </a:rPr>
                        <a:t>Qo'llab-quvvatlanadigan formatlar</a:t>
                      </a:r>
                    </a:p>
                  </a:txBody>
                  <a:tcPr>
                    <a:solidFill>
                      <a:srgbClr val="161F40"/>
                    </a:solidFill>
                  </a:tcPr>
                </a:tc>
                <a:tc>
                  <a:txBody>
                    <a:bodyPr/>
                    <a:lstStyle/>
                    <a:p>
                      <a:r>
                        <a:rPr sz="1200" b="0">
                          <a:solidFill>
                            <a:srgbClr val="E8EEFA"/>
                          </a:solidFill>
                          <a:latin typeface="Segoe UI"/>
                        </a:rPr>
                        <a:t>FP32, FP16, INT8, (TF32 Ampere)</a:t>
                      </a:r>
                    </a:p>
                  </a:txBody>
                  <a:tcPr>
                    <a:solidFill>
                      <a:srgbClr val="161F40"/>
                    </a:solidFill>
                  </a:tcPr>
                </a:tc>
                <a:tc>
                  <a:txBody>
                    <a:bodyPr/>
                    <a:lstStyle/>
                    <a:p>
                      <a:r>
                        <a:rPr sz="1200" b="0">
                          <a:solidFill>
                            <a:srgbClr val="E8EEFA"/>
                          </a:solidFill>
                          <a:latin typeface="Segoe UI"/>
                        </a:rPr>
                        <a:t>FP64, TF32, FP16, BF16, INT8</a:t>
                      </a:r>
                    </a:p>
                  </a:txBody>
                  <a:tcPr>
                    <a:solidFill>
                      <a:srgbClr val="161F40"/>
                    </a:solidFill>
                  </a:tcPr>
                </a:tc>
                <a:tc>
                  <a:txBody>
                    <a:bodyPr/>
                    <a:lstStyle/>
                    <a:p>
                      <a:r>
                        <a:rPr sz="1200" b="0">
                          <a:solidFill>
                            <a:srgbClr val="E8EEFA"/>
                          </a:solidFill>
                          <a:latin typeface="Segoe UI"/>
                        </a:rPr>
                        <a:t>faqat INT8 (to'liq kvantlangan TFLite)</a:t>
                      </a:r>
                    </a:p>
                  </a:txBody>
                  <a:tcPr>
                    <a:solidFill>
                      <a:srgbClr val="161F40"/>
                    </a:solidFill>
                  </a:tcPr>
                </a:tc>
              </a:tr>
              <a:tr h="520000">
                <a:tc>
                  <a:txBody>
                    <a:bodyPr/>
                    <a:lstStyle/>
                    <a:p>
                      <a:r>
                        <a:rPr sz="1200" b="0">
                          <a:solidFill>
                            <a:srgbClr val="E8EEFA"/>
                          </a:solidFill>
                          <a:latin typeface="Segoe UI"/>
                        </a:rPr>
                        <a:t>Dasturiy stek</a:t>
                      </a:r>
                    </a:p>
                  </a:txBody>
                  <a:tcPr>
                    <a:solidFill>
                      <a:srgbClr val="111834"/>
                    </a:solidFill>
                  </a:tcPr>
                </a:tc>
                <a:tc>
                  <a:txBody>
                    <a:bodyPr/>
                    <a:lstStyle/>
                    <a:p>
                      <a:r>
                        <a:rPr sz="1200" b="0">
                          <a:solidFill>
                            <a:srgbClr val="E8EEFA"/>
                          </a:solidFill>
                          <a:latin typeface="Segoe UI"/>
                        </a:rPr>
                        <a:t>JetPack, CUDA, TensorRT, DeepStream</a:t>
                      </a:r>
                    </a:p>
                  </a:txBody>
                  <a:tcPr>
                    <a:solidFill>
                      <a:srgbClr val="111834"/>
                    </a:solidFill>
                  </a:tcPr>
                </a:tc>
                <a:tc>
                  <a:txBody>
                    <a:bodyPr/>
                    <a:lstStyle/>
                    <a:p>
                      <a:r>
                        <a:rPr sz="1200" b="0">
                          <a:solidFill>
                            <a:srgbClr val="E8EEFA"/>
                          </a:solidFill>
                          <a:latin typeface="Segoe UI"/>
                        </a:rPr>
                        <a:t>CUDA, TensorRT, Triton</a:t>
                      </a:r>
                    </a:p>
                  </a:txBody>
                  <a:tcPr>
                    <a:solidFill>
                      <a:srgbClr val="111834"/>
                    </a:solidFill>
                  </a:tcPr>
                </a:tc>
                <a:tc>
                  <a:txBody>
                    <a:bodyPr/>
                    <a:lstStyle/>
                    <a:p>
                      <a:r>
                        <a:rPr sz="1200" b="0">
                          <a:solidFill>
                            <a:srgbClr val="E8EEFA"/>
                          </a:solidFill>
                          <a:latin typeface="Segoe UI"/>
                        </a:rPr>
                        <a:t>TFLite, libedgetpu, PyCoral</a:t>
                      </a:r>
                    </a:p>
                  </a:txBody>
                  <a:tcPr>
                    <a:solidFill>
                      <a:srgbClr val="111834"/>
                    </a:solidFill>
                  </a:tcPr>
                </a:tc>
              </a:tr>
              <a:tr h="520000">
                <a:tc>
                  <a:txBody>
                    <a:bodyPr/>
                    <a:lstStyle/>
                    <a:p>
                      <a:r>
                        <a:rPr sz="1200" b="0">
                          <a:solidFill>
                            <a:srgbClr val="E8EEFA"/>
                          </a:solidFill>
                          <a:latin typeface="Segoe UI"/>
                        </a:rPr>
                        <a:t>Video dekodlash</a:t>
                      </a:r>
                    </a:p>
                  </a:txBody>
                  <a:tcPr>
                    <a:solidFill>
                      <a:srgbClr val="161F40"/>
                    </a:solidFill>
                  </a:tcPr>
                </a:tc>
                <a:tc>
                  <a:txBody>
                    <a:bodyPr/>
                    <a:lstStyle/>
                    <a:p>
                      <a:r>
                        <a:rPr sz="1200" b="0">
                          <a:solidFill>
                            <a:srgbClr val="E8EEFA"/>
                          </a:solidFill>
                          <a:latin typeface="Segoe UI"/>
                        </a:rPr>
                        <a:t>Apparat NVDEC (bir nechta 1080p30 oqim)</a:t>
                      </a:r>
                    </a:p>
                  </a:txBody>
                  <a:tcPr>
                    <a:solidFill>
                      <a:srgbClr val="161F40"/>
                    </a:solidFill>
                  </a:tcPr>
                </a:tc>
                <a:tc>
                  <a:txBody>
                    <a:bodyPr/>
                    <a:lstStyle/>
                    <a:p>
                      <a:r>
                        <a:rPr sz="1200" b="0">
                          <a:solidFill>
                            <a:srgbClr val="E8EEFA"/>
                          </a:solidFill>
                          <a:latin typeface="Segoe UI"/>
                        </a:rPr>
                        <a:t>NVDEC (5 ta)</a:t>
                      </a:r>
                    </a:p>
                  </a:txBody>
                  <a:tcPr>
                    <a:solidFill>
                      <a:srgbClr val="161F40"/>
                    </a:solidFill>
                  </a:tcPr>
                </a:tc>
                <a:tc>
                  <a:txBody>
                    <a:bodyPr/>
                    <a:lstStyle/>
                    <a:p>
                      <a:r>
                        <a:rPr sz="1200" b="0">
                          <a:solidFill>
                            <a:srgbClr val="E8EEFA"/>
                          </a:solidFill>
                          <a:latin typeface="Segoe UI"/>
                        </a:rPr>
                        <a:t>Yo'q (host CPU)</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6" dur="8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Hisoblash platformalarining texnik tavsiflari (davomi)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21</a:t>
            </a:r>
          </a:p>
        </p:txBody>
      </p:sp>
      <p:graphicFrame>
        <p:nvGraphicFramePr>
          <p:cNvPr id="25" name="Table 24"/>
          <p:cNvGraphicFramePr>
            <a:graphicFrameLocks noGrp="1"/>
          </p:cNvGraphicFramePr>
          <p:nvPr/>
        </p:nvGraphicFramePr>
        <p:xfrm>
          <a:off x="550000" y="1400000"/>
          <a:ext cx="11100000" cy="156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200" b="1">
                          <a:solidFill>
                            <a:srgbClr val="22D3EE"/>
                          </a:solidFill>
                          <a:latin typeface="Segoe UI"/>
                        </a:rPr>
                        <a:t>Ko'rsatkich</a:t>
                      </a:r>
                    </a:p>
                  </a:txBody>
                  <a:tcPr>
                    <a:solidFill>
                      <a:srgbClr val="1C2755"/>
                    </a:solidFill>
                  </a:tcPr>
                </a:tc>
                <a:tc>
                  <a:txBody>
                    <a:bodyPr/>
                    <a:lstStyle/>
                    <a:p>
                      <a:r>
                        <a:rPr sz="1200" b="1">
                          <a:solidFill>
                            <a:srgbClr val="22D3EE"/>
                          </a:solidFill>
                          <a:latin typeface="Segoe UI"/>
                        </a:rPr>
                        <a:t>NVIDIA Jetson Orin NX 16 GB</a:t>
                      </a:r>
                    </a:p>
                  </a:txBody>
                  <a:tcPr>
                    <a:solidFill>
                      <a:srgbClr val="1C2755"/>
                    </a:solidFill>
                  </a:tcPr>
                </a:tc>
                <a:tc>
                  <a:txBody>
                    <a:bodyPr/>
                    <a:lstStyle/>
                    <a:p>
                      <a:r>
                        <a:rPr sz="1200" b="1">
                          <a:solidFill>
                            <a:srgbClr val="22D3EE"/>
                          </a:solidFill>
                          <a:latin typeface="Segoe UI"/>
                        </a:rPr>
                        <a:t>NVIDIA A100 PCIe 80 GB</a:t>
                      </a:r>
                    </a:p>
                  </a:txBody>
                  <a:tcPr>
                    <a:solidFill>
                      <a:srgbClr val="1C2755"/>
                    </a:solidFill>
                  </a:tcPr>
                </a:tc>
                <a:tc>
                  <a:txBody>
                    <a:bodyPr/>
                    <a:lstStyle/>
                    <a:p>
                      <a:r>
                        <a:rPr sz="1200" b="1">
                          <a:solidFill>
                            <a:srgbClr val="22D3EE"/>
                          </a:solidFill>
                          <a:latin typeface="Segoe UI"/>
                        </a:rPr>
                        <a:t>Google Coral Edge TPU (USB/M.2)</a:t>
                      </a:r>
                    </a:p>
                  </a:txBody>
                  <a:tcPr>
                    <a:solidFill>
                      <a:srgbClr val="1C2755"/>
                    </a:solidFill>
                  </a:tcPr>
                </a:tc>
              </a:tr>
              <a:tr h="520000">
                <a:tc>
                  <a:txBody>
                    <a:bodyPr/>
                    <a:lstStyle/>
                    <a:p>
                      <a:r>
                        <a:rPr sz="1200" b="0">
                          <a:solidFill>
                            <a:srgbClr val="E8EEFA"/>
                          </a:solidFill>
                          <a:latin typeface="Segoe UI"/>
                        </a:rPr>
                        <a:t>Taxminiy narx</a:t>
                      </a:r>
                    </a:p>
                  </a:txBody>
                  <a:tcPr>
                    <a:solidFill>
                      <a:srgbClr val="111834"/>
                    </a:solidFill>
                  </a:tcPr>
                </a:tc>
                <a:tc>
                  <a:txBody>
                    <a:bodyPr/>
                    <a:lstStyle/>
                    <a:p>
                      <a:r>
                        <a:rPr sz="1200" b="0">
                          <a:solidFill>
                            <a:srgbClr val="E8EEFA"/>
                          </a:solidFill>
                          <a:latin typeface="Segoe UI"/>
                        </a:rPr>
                        <a:t>500–700 AQSh dollari (modul + plata)</a:t>
                      </a:r>
                    </a:p>
                  </a:txBody>
                  <a:tcPr>
                    <a:solidFill>
                      <a:srgbClr val="111834"/>
                    </a:solidFill>
                  </a:tcPr>
                </a:tc>
                <a:tc>
                  <a:txBody>
                    <a:bodyPr/>
                    <a:lstStyle/>
                    <a:p>
                      <a:r>
                        <a:rPr sz="1200" b="0">
                          <a:solidFill>
                            <a:srgbClr val="E8EEFA"/>
                          </a:solidFill>
                          <a:latin typeface="Segoe UI"/>
                        </a:rPr>
                        <a:t>10 000+ AQSh dollari</a:t>
                      </a:r>
                    </a:p>
                  </a:txBody>
                  <a:tcPr>
                    <a:solidFill>
                      <a:srgbClr val="111834"/>
                    </a:solidFill>
                  </a:tcPr>
                </a:tc>
                <a:tc>
                  <a:txBody>
                    <a:bodyPr/>
                    <a:lstStyle/>
                    <a:p>
                      <a:r>
                        <a:rPr sz="1200" b="0">
                          <a:solidFill>
                            <a:srgbClr val="E8EEFA"/>
                          </a:solidFill>
                          <a:latin typeface="Segoe UI"/>
                        </a:rPr>
                        <a:t>60–100 AQSh dollari</a:t>
                      </a:r>
                    </a:p>
                  </a:txBody>
                  <a:tcPr>
                    <a:solidFill>
                      <a:srgbClr val="111834"/>
                    </a:solidFill>
                  </a:tcPr>
                </a:tc>
              </a:tr>
              <a:tr h="520000">
                <a:tc>
                  <a:txBody>
                    <a:bodyPr/>
                    <a:lstStyle/>
                    <a:p>
                      <a:r>
                        <a:rPr sz="1200" b="0">
                          <a:solidFill>
                            <a:srgbClr val="E8EEFA"/>
                          </a:solidFill>
                          <a:latin typeface="Segoe UI"/>
                        </a:rPr>
                        <a:t>Ish harorati</a:t>
                      </a:r>
                    </a:p>
                  </a:txBody>
                  <a:tcPr>
                    <a:solidFill>
                      <a:srgbClr val="161F40"/>
                    </a:solidFill>
                  </a:tcPr>
                </a:tc>
                <a:tc>
                  <a:txBody>
                    <a:bodyPr/>
                    <a:lstStyle/>
                    <a:p>
                      <a:r>
                        <a:rPr sz="1200" b="0">
                          <a:solidFill>
                            <a:srgbClr val="E8EEFA"/>
                          </a:solidFill>
                          <a:latin typeface="Segoe UI"/>
                        </a:rPr>
                        <a:t>−25…+80 °C (sanoat variantlari)</a:t>
                      </a:r>
                    </a:p>
                  </a:txBody>
                  <a:tcPr>
                    <a:solidFill>
                      <a:srgbClr val="161F40"/>
                    </a:solidFill>
                  </a:tcPr>
                </a:tc>
                <a:tc>
                  <a:txBody>
                    <a:bodyPr/>
                    <a:lstStyle/>
                    <a:p>
                      <a:r>
                        <a:rPr sz="1200" b="0">
                          <a:solidFill>
                            <a:srgbClr val="E8EEFA"/>
                          </a:solidFill>
                          <a:latin typeface="Segoe UI"/>
                        </a:rPr>
                        <a:t>Ma'lumotlar markazi muhiti</a:t>
                      </a:r>
                    </a:p>
                  </a:txBody>
                  <a:tcPr>
                    <a:solidFill>
                      <a:srgbClr val="161F40"/>
                    </a:solidFill>
                  </a:tcPr>
                </a:tc>
                <a:tc>
                  <a:txBody>
                    <a:bodyPr/>
                    <a:lstStyle/>
                    <a:p>
                      <a:r>
                        <a:rPr sz="1200" b="0">
                          <a:solidFill>
                            <a:srgbClr val="E8EEFA"/>
                          </a:solidFill>
                          <a:latin typeface="Segoe UI"/>
                        </a:rPr>
                        <a:t>0…+70 °C (sanoat: kengroq)</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6"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Strukturaviy sxema va interfeyslar</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22</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7522695264632dda.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Jguarin · Wikimedia Commons · CC BY-SA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686216"/>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766216"/>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726216"/>
            <a:ext cx="5900000" cy="2127568"/>
          </a:xfrm>
          <a:prstGeom prst="rect">
            <a:avLst/>
          </a:prstGeom>
          <a:noFill/>
        </p:spPr>
        <p:txBody>
          <a:bodyPr wrap="square" anchor="ctr">
            <a:spAutoFit/>
          </a:bodyPr>
          <a:lstStyle/>
          <a:p>
            <a:r>
              <a:rPr sz="1500" b="1">
                <a:solidFill>
                  <a:srgbClr val="E8EEFA"/>
                </a:solidFill>
                <a:latin typeface="Segoe UI"/>
              </a:rPr>
              <a:t>Strukturaviy sxema — tizimning asosiy bloklari va ular orasidagi ma'lumot/boshqaruv oqimlarining tavsifi.</a:t>
            </a:r>
          </a:p>
          <a:p>
            <a:pPr>
              <a:spcBef>
                <a:spcPts val="400"/>
              </a:spcBef>
            </a:pPr>
            <a:r>
              <a:rPr sz="1400">
                <a:solidFill>
                  <a:srgbClr val="AEBBD9"/>
                </a:solidFill>
                <a:latin typeface="Segoe UI"/>
              </a:rPr>
              <a:t>AI tizimi uchun odatiy bloklar: kirish manbalari (IP-kameralar, RTSP), tarmoq kommutatori, ingest/dekodlash bloki, oldindan ishlov berish (resize, normalizatsiya), inferens dvigateli (TensorRT engine), keyingi ishlov berish (NMS, kuzatuv), biznes-mantiq (qoidalar, ogohlantirish), saqlash (hodisalar bazasi, video klip), monitoring (metrikalar, loglar), tashqi API.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NAZARIY ASOSLAR</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Strukturaviy sxema va interfeyslar</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23</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7cc566e19cb64ab.jpg"/>
          <p:cNvPicPr>
            <a:picLocks noChangeAspect="1"/>
          </p:cNvPicPr>
          <p:nvPr/>
        </p:nvPicPr>
        <p:blipFill>
          <a:blip r:embed="rId2"/>
          <a:srcRect t="8025" b="802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Peter Cooper Jr. · Wikimedia Commons · CC0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283880"/>
            <a:ext cx="6750000" cy="301224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363880"/>
            <a:ext cx="50000" cy="28522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2323880"/>
            <a:ext cx="5900000" cy="2932240"/>
          </a:xfrm>
          <a:prstGeom prst="rect">
            <a:avLst/>
          </a:prstGeom>
          <a:noFill/>
        </p:spPr>
        <p:txBody>
          <a:bodyPr wrap="square" anchor="ctr">
            <a:spAutoFit/>
          </a:bodyPr>
          <a:lstStyle/>
          <a:p>
            <a:r>
              <a:rPr sz="1700" b="1">
                <a:solidFill>
                  <a:srgbClr val="E8EEFA"/>
                </a:solidFill>
                <a:latin typeface="Segoe UI"/>
              </a:rPr>
              <a:t>Har bir interfeys uchun protokol (RTSP/H.264, shared memory, gRPC, MQTT), o'tkazuvchanlik (Mbit/s yoki kadr/s) va kechikish byudjeti ko'rsatiladi.</a:t>
            </a:r>
          </a:p>
          <a:p>
            <a:pPr>
              <a:spcBef>
                <a:spcPts val="400"/>
              </a:spcBef>
            </a:pPr>
            <a:r>
              <a:rPr sz="1600">
                <a:solidFill>
                  <a:srgbClr val="AEBBD9"/>
                </a:solidFill>
                <a:latin typeface="Segoe UI"/>
              </a:rPr>
              <a:t>Kechikish byudjeti — umumiy 200 ms ni bloklar orasida taqsimlash: tarmoq va dekodlash 40 ms, oldindan ishlov 10 ms, inferens 60 ms, keyingi ishlov va mantiq 20 ms, zaxira 70 ms. Bunday taqsimot keyingi mashg'ulotlarda o'lchov natijalarini solishtirish uchun etalon bo'lib xizmat qiladi.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6d278e4f1eeea9c6.jpg"/>
          <p:cNvPicPr>
            <a:picLocks noChangeAspect="1"/>
          </p:cNvPicPr>
          <p:nvPr/>
        </p:nvPicPr>
        <p:blipFill>
          <a:blip r:embed="rId2"/>
          <a:srcRect l="14324" r="14324"/>
          <a:stretch>
            <a:fillRect/>
          </a:stretch>
        </p:blipFill>
        <p:spPr>
          <a:xfrm>
            <a:off x="6300000" y="800000"/>
            <a:ext cx="5300000" cy="4950000"/>
          </a:xfrm>
          <a:prstGeom prst="roundRect">
            <a:avLst/>
          </a:prstGeom>
          <a:ln w="19050">
            <a:solidFill>
              <a:srgbClr val="22D3EE"/>
            </a:solidFill>
          </a:ln>
        </p:spPr>
      </p:pic>
      <p:sp>
        <p:nvSpPr>
          <p:cNvPr id="43" name="TextBox 42"/>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Daniel Schwen · Wikimedia Commons · CC BY-SA 2.5</a:t>
            </a:r>
          </a:p>
        </p:txBody>
      </p:sp>
      <p:sp>
        <p:nvSpPr>
          <p:cNvPr id="44" name="TextBox 43"/>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04</a:t>
            </a:r>
          </a:p>
        </p:txBody>
      </p:sp>
      <p:sp>
        <p:nvSpPr>
          <p:cNvPr id="45" name="TextBox 44"/>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6" name="TextBox 45"/>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Amaliy misol</a:t>
            </a:r>
          </a:p>
        </p:txBody>
      </p:sp>
      <p:sp>
        <p:nvSpPr>
          <p:cNvPr id="47" name="Rectangle 46"/>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9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150"/>
                            </p:stCondLst>
                            <p:childTnLst>
                              <p:par>
                                <p:cTn id="156" presetID="53" presetClass="entr" presetSubtype="16"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anim calcmode="lin" valueType="num">
                                      <p:cBhvr additive="base">
                                        <p:cTn id="159" dur="550" fill="hold"/>
                                        <p:tgtEl>
                                          <p:spTgt spid="41"/>
                                        </p:tgtEl>
                                        <p:attrNameLst>
                                          <p:attrName>ppt_w</p:attrName>
                                        </p:attrNameLst>
                                      </p:cBhvr>
                                      <p:tavLst>
                                        <p:tav tm="0">
                                          <p:val>
                                            <p:strVal val="0"/>
                                          </p:val>
                                        </p:tav>
                                        <p:tav tm="100000">
                                          <p:val>
                                            <p:strVal val="#ppt_w"/>
                                          </p:val>
                                        </p:tav>
                                      </p:tavLst>
                                    </p:anim>
                                    <p:anim calcmode="lin" valueType="num">
                                      <p:cBhvr additive="base">
                                        <p:cTn id="160" dur="550" fill="hold"/>
                                        <p:tgtEl>
                                          <p:spTgt spid="41"/>
                                        </p:tgtEl>
                                        <p:attrNameLst>
                                          <p:attrName>ppt_h</p:attrName>
                                        </p:attrNameLst>
                                      </p:cBhvr>
                                      <p:tavLst>
                                        <p:tav tm="0">
                                          <p:val>
                                            <p:strVal val="0"/>
                                          </p:val>
                                        </p:tav>
                                        <p:tav tm="100000">
                                          <p:val>
                                            <p:strVal val="#ppt_h"/>
                                          </p:val>
                                        </p:tav>
                                      </p:tavLst>
                                    </p:anim>
                                  </p:childTnLst>
                                </p:cTn>
                              </p:par>
                            </p:childTnLst>
                          </p:cTn>
                        </p:par>
                        <p:par>
                          <p:cTn id="161" fill="hold">
                            <p:stCondLst>
                              <p:cond delay="150"/>
                            </p:stCondLst>
                            <p:childTnLst>
                              <p:par>
                                <p:cTn id="162" presetID="53" presetClass="entr" presetSubtype="16" fill="hold" grpId="0" nodeType="afterEffect">
                                  <p:stCondLst>
                                    <p:cond delay="0"/>
                                  </p:stCondLst>
                                  <p:childTnLst>
                                    <p:set>
                                      <p:cBhvr>
                                        <p:cTn id="163" dur="1" fill="hold">
                                          <p:stCondLst>
                                            <p:cond delay="0"/>
                                          </p:stCondLst>
                                        </p:cTn>
                                        <p:tgtEl>
                                          <p:spTgt spid="42"/>
                                        </p:tgtEl>
                                        <p:attrNameLst>
                                          <p:attrName>style.visibility</p:attrName>
                                        </p:attrNameLst>
                                      </p:cBhvr>
                                      <p:to>
                                        <p:strVal val="visible"/>
                                      </p:to>
                                    </p:set>
                                    <p:animEffect transition="in" filter="fade">
                                      <p:cBhvr>
                                        <p:cTn id="164" dur="550"/>
                                        <p:tgtEl>
                                          <p:spTgt spid="42"/>
                                        </p:tgtEl>
                                      </p:cBhvr>
                                    </p:animEffect>
                                    <p:anim calcmode="lin" valueType="num">
                                      <p:cBhvr additive="base">
                                        <p:cTn id="165" dur="550" fill="hold"/>
                                        <p:tgtEl>
                                          <p:spTgt spid="42"/>
                                        </p:tgtEl>
                                        <p:attrNameLst>
                                          <p:attrName>ppt_w</p:attrName>
                                        </p:attrNameLst>
                                      </p:cBhvr>
                                      <p:tavLst>
                                        <p:tav tm="0">
                                          <p:val>
                                            <p:strVal val="0"/>
                                          </p:val>
                                        </p:tav>
                                        <p:tav tm="100000">
                                          <p:val>
                                            <p:strVal val="#ppt_w"/>
                                          </p:val>
                                        </p:tav>
                                      </p:tavLst>
                                    </p:anim>
                                    <p:anim calcmode="lin" valueType="num">
                                      <p:cBhvr additive="base">
                                        <p:cTn id="166" dur="550" fill="hold"/>
                                        <p:tgtEl>
                                          <p:spTgt spid="42"/>
                                        </p:tgtEl>
                                        <p:attrNameLst>
                                          <p:attrName>ppt_h</p:attrName>
                                        </p:attrNameLst>
                                      </p:cBhvr>
                                      <p:tavLst>
                                        <p:tav tm="0">
                                          <p:val>
                                            <p:strVal val="0"/>
                                          </p:val>
                                        </p:tav>
                                        <p:tav tm="100000">
                                          <p:val>
                                            <p:strVal val="#ppt_h"/>
                                          </p:val>
                                        </p:tav>
                                      </p:tavLst>
                                    </p:anim>
                                  </p:childTnLst>
                                </p:cTn>
                              </p:par>
                            </p:childTnLst>
                          </p:cTn>
                        </p:par>
                        <p:par>
                          <p:cTn id="167" fill="hold">
                            <p:stCondLst>
                              <p:cond delay="150"/>
                            </p:stCondLst>
                            <p:childTnLst>
                              <p:par>
                                <p:cTn id="168" presetID="10" presetClass="entr" presetSubtype="0" fill="hold" grpId="0" nodeType="after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fade">
                                      <p:cBhvr>
                                        <p:cTn id="170" dur="550"/>
                                        <p:tgtEl>
                                          <p:spTgt spid="43"/>
                                        </p:tgtEl>
                                      </p:cBhvr>
                                    </p:animEffect>
                                  </p:childTnLst>
                                </p:cTn>
                              </p:par>
                            </p:childTnLst>
                          </p:cTn>
                        </p:par>
                        <p:par>
                          <p:cTn id="171" fill="hold">
                            <p:stCondLst>
                              <p:cond delay="350"/>
                            </p:stCondLst>
                            <p:childTnLst>
                              <p:par>
                                <p:cTn id="172" presetID="53" presetClass="entr" presetSubtype="16" fill="hold" grpId="0" nodeType="afterEffect">
                                  <p:stCondLst>
                                    <p:cond delay="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550"/>
                                        <p:tgtEl>
                                          <p:spTgt spid="44"/>
                                        </p:tgtEl>
                                      </p:cBhvr>
                                    </p:animEffect>
                                    <p:anim calcmode="lin" valueType="num">
                                      <p:cBhvr additive="base">
                                        <p:cTn id="175" dur="550" fill="hold"/>
                                        <p:tgtEl>
                                          <p:spTgt spid="44"/>
                                        </p:tgtEl>
                                        <p:attrNameLst>
                                          <p:attrName>ppt_w</p:attrName>
                                        </p:attrNameLst>
                                      </p:cBhvr>
                                      <p:tavLst>
                                        <p:tav tm="0">
                                          <p:val>
                                            <p:strVal val="0"/>
                                          </p:val>
                                        </p:tav>
                                        <p:tav tm="100000">
                                          <p:val>
                                            <p:strVal val="#ppt_w"/>
                                          </p:val>
                                        </p:tav>
                                      </p:tavLst>
                                    </p:anim>
                                    <p:anim calcmode="lin" valueType="num">
                                      <p:cBhvr additive="base">
                                        <p:cTn id="176" dur="550" fill="hold"/>
                                        <p:tgtEl>
                                          <p:spTgt spid="44"/>
                                        </p:tgtEl>
                                        <p:attrNameLst>
                                          <p:attrName>ppt_h</p:attrName>
                                        </p:attrNameLst>
                                      </p:cBhvr>
                                      <p:tavLst>
                                        <p:tav tm="0">
                                          <p:val>
                                            <p:strVal val="0"/>
                                          </p:val>
                                        </p:tav>
                                        <p:tav tm="100000">
                                          <p:val>
                                            <p:strVal val="#ppt_h"/>
                                          </p:val>
                                        </p:tav>
                                      </p:tavLst>
                                    </p:anim>
                                  </p:childTnLst>
                                </p:cTn>
                              </p:par>
                            </p:childTnLst>
                          </p:cTn>
                        </p:par>
                        <p:par>
                          <p:cTn id="177" fill="hold">
                            <p:stCondLst>
                              <p:cond delay="450"/>
                            </p:stCondLst>
                            <p:childTnLst>
                              <p:par>
                                <p:cTn id="178" presetID="10" presetClass="entr" presetSubtype="0" fill="hold" grpId="0" nodeType="afterEffect">
                                  <p:stCondLst>
                                    <p:cond delay="0"/>
                                  </p:stCondLst>
                                  <p:childTnLst>
                                    <p:set>
                                      <p:cBhvr>
                                        <p:cTn id="179" dur="1" fill="hold">
                                          <p:stCondLst>
                                            <p:cond delay="0"/>
                                          </p:stCondLst>
                                        </p:cTn>
                                        <p:tgtEl>
                                          <p:spTgt spid="45"/>
                                        </p:tgtEl>
                                        <p:attrNameLst>
                                          <p:attrName>style.visibility</p:attrName>
                                        </p:attrNameLst>
                                      </p:cBhvr>
                                      <p:to>
                                        <p:strVal val="visible"/>
                                      </p:to>
                                    </p:set>
                                    <p:animEffect transition="in" filter="fade">
                                      <p:cBhvr>
                                        <p:cTn id="180" dur="550"/>
                                        <p:tgtEl>
                                          <p:spTgt spid="45"/>
                                        </p:tgtEl>
                                      </p:cBhvr>
                                    </p:animEffect>
                                  </p:childTnLst>
                                </p:cTn>
                              </p:par>
                            </p:childTnLst>
                          </p:cTn>
                        </p:par>
                        <p:par>
                          <p:cTn id="181" fill="hold">
                            <p:stCondLst>
                              <p:cond delay="550"/>
                            </p:stCondLst>
                            <p:childTnLst>
                              <p:par>
                                <p:cTn id="182" presetID="2" presetClass="entr" presetSubtype="8" fill="hold" grpId="0" nodeType="afterEffect">
                                  <p:stCondLst>
                                    <p:cond delay="0"/>
                                  </p:stCondLst>
                                  <p:childTnLst>
                                    <p:set>
                                      <p:cBhvr>
                                        <p:cTn id="183" dur="1" fill="hold">
                                          <p:stCondLst>
                                            <p:cond delay="0"/>
                                          </p:stCondLst>
                                        </p:cTn>
                                        <p:tgtEl>
                                          <p:spTgt spid="46"/>
                                        </p:tgtEl>
                                        <p:attrNameLst>
                                          <p:attrName>style.visibility</p:attrName>
                                        </p:attrNameLst>
                                      </p:cBhvr>
                                      <p:to>
                                        <p:strVal val="visible"/>
                                      </p:to>
                                    </p:set>
                                    <p:anim calcmode="lin" valueType="num">
                                      <p:cBhvr additive="base">
                                        <p:cTn id="185" dur="550" fill="hold"/>
                                        <p:tgtEl>
                                          <p:spTgt spid="46"/>
                                        </p:tgtEl>
                                        <p:attrNameLst>
                                          <p:attrName>ppt_x</p:attrName>
                                        </p:attrNameLst>
                                      </p:cBhvr>
                                      <p:tavLst>
                                        <p:tav tm="0">
                                          <p:val>
                                            <p:strVal val="0-#ppt_w/2"/>
                                          </p:val>
                                        </p:tav>
                                        <p:tav tm="100000">
                                          <p:val>
                                            <p:strVal val="#ppt_x"/>
                                          </p:val>
                                        </p:tav>
                                      </p:tavLst>
                                    </p:anim>
                                    <p:anim calcmode="lin" valueType="num">
                                      <p:cBhvr additive="base">
                                        <p:cTn id="186" dur="550" fill="hold"/>
                                        <p:tgtEl>
                                          <p:spTgt spid="46"/>
                                        </p:tgtEl>
                                        <p:attrNameLst>
                                          <p:attrName>ppt_y</p:attrName>
                                        </p:attrNameLst>
                                      </p:cBhvr>
                                      <p:tavLst>
                                        <p:tav tm="0">
                                          <p:val>
                                            <p:strVal val="#ppt_y"/>
                                          </p:val>
                                        </p:tav>
                                        <p:tav tm="100000">
                                          <p:val>
                                            <p:strVal val="#ppt_y"/>
                                          </p:val>
                                        </p:tav>
                                      </p:tavLst>
                                    </p:anim>
                                  </p:childTnLst>
                                </p:cTn>
                              </p:par>
                            </p:childTnLst>
                          </p:cTn>
                        </p:par>
                        <p:par>
                          <p:cTn id="187" fill="hold">
                            <p:stCondLst>
                              <p:cond delay="650"/>
                            </p:stCondLst>
                            <p:childTnLst>
                              <p:par>
                                <p:cTn id="188" presetID="22" presetClass="entr" presetSubtype="8" fill="hold" grpId="0" nodeType="afterEffect">
                                  <p:stCondLst>
                                    <p:cond delay="0"/>
                                  </p:stCondLst>
                                  <p:childTnLst>
                                    <p:set>
                                      <p:cBhvr>
                                        <p:cTn id="189" dur="1" fill="hold">
                                          <p:stCondLst>
                                            <p:cond delay="0"/>
                                          </p:stCondLst>
                                        </p:cTn>
                                        <p:tgtEl>
                                          <p:spTgt spid="47"/>
                                        </p:tgtEl>
                                        <p:attrNameLst>
                                          <p:attrName>style.visibility</p:attrName>
                                        </p:attrNameLst>
                                      </p:cBhvr>
                                      <p:to>
                                        <p:strVal val="visible"/>
                                      </p:to>
                                    </p:set>
                                    <p:animEffect transition="in" filter="wipe(left)">
                                      <p:cBhvr>
                                        <p:cTn id="191" dur="8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Amaliy misol</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25</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2ce123b9a0f5e6f.jpg"/>
          <p:cNvPicPr>
            <a:picLocks noChangeAspect="1"/>
          </p:cNvPicPr>
          <p:nvPr/>
        </p:nvPicPr>
        <p:blipFill>
          <a:blip r:embed="rId2"/>
          <a:srcRect t="6303" b="6303"/>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Ubahnverleih · Wikimedia Commons · CC0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607432"/>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43121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1567432"/>
            <a:ext cx="5900000" cy="2127568"/>
          </a:xfrm>
          <a:prstGeom prst="rect">
            <a:avLst/>
          </a:prstGeom>
          <a:noFill/>
        </p:spPr>
        <p:txBody>
          <a:bodyPr wrap="square" anchor="ctr">
            <a:spAutoFit/>
          </a:bodyPr>
          <a:lstStyle/>
          <a:p>
            <a:r>
              <a:rPr sz="1400" b="0">
                <a:solidFill>
                  <a:srgbClr val="E8EEFA"/>
                </a:solidFill>
                <a:latin typeface="Segoe UI"/>
              </a:rPr>
              <a:t>Laboratoriya topshirig'i: «SHV aniqlash tizimi uchun hisoblash platformasini tanlash va strukturaviy sxema ishlab chiqish».</a:t>
            </a:r>
          </a:p>
        </p:txBody>
      </p:sp>
      <p:sp>
        <p:nvSpPr>
          <p:cNvPr id="31" name="Rounded Rectangle 30"/>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74878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Talab qilinadigan muhit.</a:t>
            </a:r>
          </a:p>
          <a:p>
            <a:pPr>
              <a:spcBef>
                <a:spcPts val="400"/>
              </a:spcBef>
            </a:pPr>
            <a:r>
              <a:rPr sz="1400">
                <a:solidFill>
                  <a:srgbClr val="AEBBD9"/>
                </a:solidFill>
                <a:latin typeface="Segoe UI"/>
              </a:rPr>
              <a:t>Apparat: oddiy noutbuk yoki ish stantsiyasi (GPU shart emas). Dasturiy ta'minot: Python 3.10 yoki undan yuqori; kutubxonalar torch&gt;=2.1, ultralytics&gt;=8.1 (model FLOP hisobi uchun), pandas, tabulate. O'rnatish: pip install torch ultralytics pandas tabulate. Internet ulanishi — modellarning oldindan o'qitilgan vaznlarini yuklab olish uchun (bir marta). Vaqt: 2 akademik soat auditoriyada, hisobot — uyda yakunlanadi.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1-qadam. Talablar matritsasini tuzish</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26</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3bf51a6fe71b1fc.jpg"/>
          <p:cNvPicPr>
            <a:picLocks noChangeAspect="1"/>
          </p:cNvPicPr>
          <p:nvPr/>
        </p:nvPicPr>
        <p:blipFill>
          <a:blip r:embed="rId2"/>
          <a:srcRect l="18285" r="1828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Aisart · Wikimedia Commons · CC BY-SA 3.0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23152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311520"/>
            <a:ext cx="50000" cy="13434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78326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2271520"/>
            <a:ext cx="5900000" cy="1423480"/>
          </a:xfrm>
          <a:prstGeom prst="rect">
            <a:avLst/>
          </a:prstGeom>
          <a:noFill/>
        </p:spPr>
        <p:txBody>
          <a:bodyPr wrap="square" anchor="ctr">
            <a:spAutoFit/>
          </a:bodyPr>
          <a:lstStyle/>
          <a:p>
            <a:r>
              <a:rPr sz="1500" b="1">
                <a:solidFill>
                  <a:srgbClr val="E8EEFA"/>
                </a:solidFill>
                <a:latin typeface="Segoe UI"/>
              </a:rPr>
              <a:t>Avval ssenariy talablarini o'lchanadigan ko'rsatkichlarga aylantiring va har biriga og'irlik (1–5) bering.</a:t>
            </a:r>
          </a:p>
          <a:p>
            <a:pPr>
              <a:spcBef>
                <a:spcPts val="400"/>
              </a:spcBef>
            </a:pPr>
            <a:r>
              <a:rPr sz="1400">
                <a:solidFill>
                  <a:srgbClr val="AEBBD9"/>
                </a:solidFill>
                <a:latin typeface="Segoe UI"/>
              </a:rPr>
              <a:t>Quyidagi matritsa namuna; talaba o'z asoslashi bilan og'irliklarni o'zgartirishi mumkin.</a:t>
            </a:r>
          </a:p>
        </p:txBody>
      </p:sp>
      <p:sp>
        <p:nvSpPr>
          <p:cNvPr id="33" name="Rounded Rectangle 32"/>
          <p:cNvSpPr/>
          <p:nvPr/>
        </p:nvSpPr>
        <p:spPr>
          <a:xfrm>
            <a:off x="550000" y="384500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13434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39674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6" name="TextBox 35"/>
          <p:cNvSpPr txBox="1"/>
          <p:nvPr/>
        </p:nvSpPr>
        <p:spPr>
          <a:xfrm>
            <a:off x="1300000" y="3885000"/>
            <a:ext cx="5900000" cy="1423480"/>
          </a:xfrm>
          <a:prstGeom prst="rect">
            <a:avLst/>
          </a:prstGeom>
          <a:noFill/>
        </p:spPr>
        <p:txBody>
          <a:bodyPr wrap="square" anchor="ctr">
            <a:spAutoFit/>
          </a:bodyPr>
          <a:lstStyle/>
          <a:p>
            <a:r>
              <a:rPr sz="1500" b="1">
                <a:solidFill>
                  <a:srgbClr val="E8EEFA"/>
                </a:solidFill>
                <a:latin typeface="Segoe UI"/>
              </a:rPr>
              <a:t>Nima bo'ldi va nega.</a:t>
            </a:r>
          </a:p>
          <a:p>
            <a:pPr>
              <a:spcBef>
                <a:spcPts val="400"/>
              </a:spcBef>
            </a:pPr>
            <a:r>
              <a:rPr sz="1400">
                <a:solidFill>
                  <a:srgbClr val="AEBBD9"/>
                </a:solidFill>
                <a:latin typeface="Segoe UI"/>
              </a:rPr>
              <a:t>Talablar matritsasi loyihalashni sub'ektiv bahsdan ob'ektiv taqqoslashga o'tkazadi. Og'irliklar buyurtmachi ustuvorliklarini aks ettiradi: kechikish va o'tkazuvchanlik — funksional talab (bajarilmasa tizim ishlamaydi), narx — iqtisodiy cheklov.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1-qadam. Talablar matritsasini tuzish</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27</a:t>
            </a:r>
          </a:p>
        </p:txBody>
      </p:sp>
      <p:graphicFrame>
        <p:nvGraphicFramePr>
          <p:cNvPr id="22" name="Table 21"/>
          <p:cNvGraphicFramePr>
            <a:graphicFrameLocks noGrp="1"/>
          </p:cNvGraphicFramePr>
          <p:nvPr/>
        </p:nvGraphicFramePr>
        <p:xfrm>
          <a:off x="550000" y="1400000"/>
          <a:ext cx="11100000" cy="416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400" b="1">
                          <a:solidFill>
                            <a:srgbClr val="22D3EE"/>
                          </a:solidFill>
                          <a:latin typeface="Segoe UI"/>
                        </a:rPr>
                        <a:t>Talab</a:t>
                      </a:r>
                    </a:p>
                  </a:txBody>
                  <a:tcPr>
                    <a:solidFill>
                      <a:srgbClr val="1C2755"/>
                    </a:solidFill>
                  </a:tcPr>
                </a:tc>
                <a:tc>
                  <a:txBody>
                    <a:bodyPr/>
                    <a:lstStyle/>
                    <a:p>
                      <a:r>
                        <a:rPr sz="1400" b="1">
                          <a:solidFill>
                            <a:srgbClr val="22D3EE"/>
                          </a:solidFill>
                          <a:latin typeface="Segoe UI"/>
                        </a:rPr>
                        <a:t>O'lchov</a:t>
                      </a:r>
                    </a:p>
                  </a:txBody>
                  <a:tcPr>
                    <a:solidFill>
                      <a:srgbClr val="1C2755"/>
                    </a:solidFill>
                  </a:tcPr>
                </a:tc>
                <a:tc>
                  <a:txBody>
                    <a:bodyPr/>
                    <a:lstStyle/>
                    <a:p>
                      <a:r>
                        <a:rPr sz="1400" b="1">
                          <a:solidFill>
                            <a:srgbClr val="22D3EE"/>
                          </a:solidFill>
                          <a:latin typeface="Segoe UI"/>
                        </a:rPr>
                        <a:t>Chegaraviy qiymat</a:t>
                      </a:r>
                    </a:p>
                  </a:txBody>
                  <a:tcPr>
                    <a:solidFill>
                      <a:srgbClr val="1C2755"/>
                    </a:solidFill>
                  </a:tcPr>
                </a:tc>
                <a:tc>
                  <a:txBody>
                    <a:bodyPr/>
                    <a:lstStyle/>
                    <a:p>
                      <a:r>
                        <a:rPr sz="1400" b="1">
                          <a:solidFill>
                            <a:srgbClr val="22D3EE"/>
                          </a:solidFill>
                          <a:latin typeface="Segoe UI"/>
                        </a:rPr>
                        <a:t>Og'irlik</a:t>
                      </a:r>
                    </a:p>
                  </a:txBody>
                  <a:tcPr>
                    <a:solidFill>
                      <a:srgbClr val="1C2755"/>
                    </a:solidFill>
                  </a:tcPr>
                </a:tc>
              </a:tr>
              <a:tr h="520000">
                <a:tc>
                  <a:txBody>
                    <a:bodyPr/>
                    <a:lstStyle/>
                    <a:p>
                      <a:r>
                        <a:rPr sz="1400" b="0">
                          <a:solidFill>
                            <a:srgbClr val="E8EEFA"/>
                          </a:solidFill>
                          <a:latin typeface="Segoe UI"/>
                        </a:rPr>
                        <a:t>O'tkazuvchanlik</a:t>
                      </a:r>
                    </a:p>
                  </a:txBody>
                  <a:tcPr>
                    <a:solidFill>
                      <a:srgbClr val="111834"/>
                    </a:solidFill>
                  </a:tcPr>
                </a:tc>
                <a:tc>
                  <a:txBody>
                    <a:bodyPr/>
                    <a:lstStyle/>
                    <a:p>
                      <a:r>
                        <a:rPr sz="1400" b="0">
                          <a:solidFill>
                            <a:srgbClr val="E8EEFA"/>
                          </a:solidFill>
                          <a:latin typeface="Segoe UI"/>
                        </a:rPr>
                        <a:t>inferens/s</a:t>
                      </a:r>
                    </a:p>
                  </a:txBody>
                  <a:tcPr>
                    <a:solidFill>
                      <a:srgbClr val="111834"/>
                    </a:solidFill>
                  </a:tcPr>
                </a:tc>
                <a:tc>
                  <a:txBody>
                    <a:bodyPr/>
                    <a:lstStyle/>
                    <a:p>
                      <a:r>
                        <a:rPr sz="1400" b="0">
                          <a:solidFill>
                            <a:srgbClr val="E8EEFA"/>
                          </a:solidFill>
                          <a:latin typeface="Segoe UI"/>
                        </a:rPr>
                        <a:t>≥ 160 (YOLOv8s, 640)</a:t>
                      </a:r>
                    </a:p>
                  </a:txBody>
                  <a:tcPr>
                    <a:solidFill>
                      <a:srgbClr val="111834"/>
                    </a:solidFill>
                  </a:tcPr>
                </a:tc>
                <a:tc>
                  <a:txBody>
                    <a:bodyPr/>
                    <a:lstStyle/>
                    <a:p>
                      <a:r>
                        <a:rPr sz="1400" b="0">
                          <a:solidFill>
                            <a:srgbClr val="E8EEFA"/>
                          </a:solidFill>
                          <a:latin typeface="Segoe UI"/>
                        </a:rPr>
                        <a:t>5</a:t>
                      </a:r>
                    </a:p>
                  </a:txBody>
                  <a:tcPr>
                    <a:solidFill>
                      <a:srgbClr val="111834"/>
                    </a:solidFill>
                  </a:tcPr>
                </a:tc>
              </a:tr>
              <a:tr h="520000">
                <a:tc>
                  <a:txBody>
                    <a:bodyPr/>
                    <a:lstStyle/>
                    <a:p>
                      <a:r>
                        <a:rPr sz="1400" b="0">
                          <a:solidFill>
                            <a:srgbClr val="E8EEFA"/>
                          </a:solidFill>
                          <a:latin typeface="Segoe UI"/>
                        </a:rPr>
                        <a:t>Uchdan-uchga kechikish</a:t>
                      </a:r>
                    </a:p>
                  </a:txBody>
                  <a:tcPr>
                    <a:solidFill>
                      <a:srgbClr val="161F40"/>
                    </a:solidFill>
                  </a:tcPr>
                </a:tc>
                <a:tc>
                  <a:txBody>
                    <a:bodyPr/>
                    <a:lstStyle/>
                    <a:p>
                      <a:r>
                        <a:rPr sz="1400" b="0">
                          <a:solidFill>
                            <a:srgbClr val="E8EEFA"/>
                          </a:solidFill>
                          <a:latin typeface="Segoe UI"/>
                        </a:rPr>
                        <a:t>ms (p95)</a:t>
                      </a:r>
                    </a:p>
                  </a:txBody>
                  <a:tcPr>
                    <a:solidFill>
                      <a:srgbClr val="161F40"/>
                    </a:solidFill>
                  </a:tcPr>
                </a:tc>
                <a:tc>
                  <a:txBody>
                    <a:bodyPr/>
                    <a:lstStyle/>
                    <a:p>
                      <a:r>
                        <a:rPr sz="1400" b="0">
                          <a:solidFill>
                            <a:srgbClr val="E8EEFA"/>
                          </a:solidFill>
                          <a:latin typeface="Segoe UI"/>
                        </a:rPr>
                        <a:t>≤ 200</a:t>
                      </a:r>
                    </a:p>
                  </a:txBody>
                  <a:tcPr>
                    <a:solidFill>
                      <a:srgbClr val="161F40"/>
                    </a:solidFill>
                  </a:tcPr>
                </a:tc>
                <a:tc>
                  <a:txBody>
                    <a:bodyPr/>
                    <a:lstStyle/>
                    <a:p>
                      <a:r>
                        <a:rPr sz="1400" b="0">
                          <a:solidFill>
                            <a:srgbClr val="E8EEFA"/>
                          </a:solidFill>
                          <a:latin typeface="Segoe UI"/>
                        </a:rPr>
                        <a:t>5</a:t>
                      </a:r>
                    </a:p>
                  </a:txBody>
                  <a:tcPr>
                    <a:solidFill>
                      <a:srgbClr val="161F40"/>
                    </a:solidFill>
                  </a:tcPr>
                </a:tc>
              </a:tr>
              <a:tr h="520000">
                <a:tc>
                  <a:txBody>
                    <a:bodyPr/>
                    <a:lstStyle/>
                    <a:p>
                      <a:r>
                        <a:rPr sz="1400" b="0">
                          <a:solidFill>
                            <a:srgbClr val="E8EEFA"/>
                          </a:solidFill>
                          <a:latin typeface="Segoe UI"/>
                        </a:rPr>
                        <a:t>Ish harorati</a:t>
                      </a:r>
                    </a:p>
                  </a:txBody>
                  <a:tcPr>
                    <a:solidFill>
                      <a:srgbClr val="111834"/>
                    </a:solidFill>
                  </a:tcPr>
                </a:tc>
                <a:tc>
                  <a:txBody>
                    <a:bodyPr/>
                    <a:lstStyle/>
                    <a:p>
                      <a:r>
                        <a:rPr sz="1400" b="0">
                          <a:solidFill>
                            <a:srgbClr val="E8EEFA"/>
                          </a:solidFill>
                          <a:latin typeface="Segoe UI"/>
                        </a:rPr>
                        <a:t>°C</a:t>
                      </a:r>
                    </a:p>
                  </a:txBody>
                  <a:tcPr>
                    <a:solidFill>
                      <a:srgbClr val="111834"/>
                    </a:solidFill>
                  </a:tcPr>
                </a:tc>
                <a:tc>
                  <a:txBody>
                    <a:bodyPr/>
                    <a:lstStyle/>
                    <a:p>
                      <a:r>
                        <a:rPr sz="1400" b="0">
                          <a:solidFill>
                            <a:srgbClr val="E8EEFA"/>
                          </a:solidFill>
                          <a:latin typeface="Segoe UI"/>
                        </a:rPr>
                        <a:t>+40 muhitda barqaror</a:t>
                      </a:r>
                    </a:p>
                  </a:txBody>
                  <a:tcPr>
                    <a:solidFill>
                      <a:srgbClr val="111834"/>
                    </a:solidFill>
                  </a:tcPr>
                </a:tc>
                <a:tc>
                  <a:txBody>
                    <a:bodyPr/>
                    <a:lstStyle/>
                    <a:p>
                      <a:r>
                        <a:rPr sz="1400" b="0">
                          <a:solidFill>
                            <a:srgbClr val="E8EEFA"/>
                          </a:solidFill>
                          <a:latin typeface="Segoe UI"/>
                        </a:rPr>
                        <a:t>4</a:t>
                      </a:r>
                    </a:p>
                  </a:txBody>
                  <a:tcPr>
                    <a:solidFill>
                      <a:srgbClr val="111834"/>
                    </a:solidFill>
                  </a:tcPr>
                </a:tc>
              </a:tr>
              <a:tr h="520000">
                <a:tc>
                  <a:txBody>
                    <a:bodyPr/>
                    <a:lstStyle/>
                    <a:p>
                      <a:r>
                        <a:rPr sz="1400" b="0">
                          <a:solidFill>
                            <a:srgbClr val="E8EEFA"/>
                          </a:solidFill>
                          <a:latin typeface="Segoe UI"/>
                        </a:rPr>
                        <a:t>Quvvat</a:t>
                      </a:r>
                    </a:p>
                  </a:txBody>
                  <a:tcPr>
                    <a:solidFill>
                      <a:srgbClr val="161F40"/>
                    </a:solidFill>
                  </a:tcPr>
                </a:tc>
                <a:tc>
                  <a:txBody>
                    <a:bodyPr/>
                    <a:lstStyle/>
                    <a:p>
                      <a:r>
                        <a:rPr sz="1400" b="0">
                          <a:solidFill>
                            <a:srgbClr val="E8EEFA"/>
                          </a:solidFill>
                          <a:latin typeface="Segoe UI"/>
                        </a:rPr>
                        <a:t>Vt</a:t>
                      </a:r>
                    </a:p>
                  </a:txBody>
                  <a:tcPr>
                    <a:solidFill>
                      <a:srgbClr val="161F40"/>
                    </a:solidFill>
                  </a:tcPr>
                </a:tc>
                <a:tc>
                  <a:txBody>
                    <a:bodyPr/>
                    <a:lstStyle/>
                    <a:p>
                      <a:r>
                        <a:rPr sz="1400" b="0">
                          <a:solidFill>
                            <a:srgbClr val="E8EEFA"/>
                          </a:solidFill>
                          <a:latin typeface="Segoe UI"/>
                        </a:rPr>
                        <a:t>≤ 60 (butun quti)</a:t>
                      </a:r>
                    </a:p>
                  </a:txBody>
                  <a:tcPr>
                    <a:solidFill>
                      <a:srgbClr val="161F40"/>
                    </a:solidFill>
                  </a:tcPr>
                </a:tc>
                <a:tc>
                  <a:txBody>
                    <a:bodyPr/>
                    <a:lstStyle/>
                    <a:p>
                      <a:r>
                        <a:rPr sz="1400" b="0">
                          <a:solidFill>
                            <a:srgbClr val="E8EEFA"/>
                          </a:solidFill>
                          <a:latin typeface="Segoe UI"/>
                        </a:rPr>
                        <a:t>3</a:t>
                      </a:r>
                    </a:p>
                  </a:txBody>
                  <a:tcPr>
                    <a:solidFill>
                      <a:srgbClr val="161F40"/>
                    </a:solidFill>
                  </a:tcPr>
                </a:tc>
              </a:tr>
              <a:tr h="520000">
                <a:tc>
                  <a:txBody>
                    <a:bodyPr/>
                    <a:lstStyle/>
                    <a:p>
                      <a:r>
                        <a:rPr sz="1400" b="0">
                          <a:solidFill>
                            <a:srgbClr val="E8EEFA"/>
                          </a:solidFill>
                          <a:latin typeface="Segoe UI"/>
                        </a:rPr>
                        <a:t>Video dekodlash</a:t>
                      </a:r>
                    </a:p>
                  </a:txBody>
                  <a:tcPr>
                    <a:solidFill>
                      <a:srgbClr val="111834"/>
                    </a:solidFill>
                  </a:tcPr>
                </a:tc>
                <a:tc>
                  <a:txBody>
                    <a:bodyPr/>
                    <a:lstStyle/>
                    <a:p>
                      <a:r>
                        <a:rPr sz="1400" b="0">
                          <a:solidFill>
                            <a:srgbClr val="E8EEFA"/>
                          </a:solidFill>
                          <a:latin typeface="Segoe UI"/>
                        </a:rPr>
                        <a:t>oqimlar soni</a:t>
                      </a:r>
                    </a:p>
                  </a:txBody>
                  <a:tcPr>
                    <a:solidFill>
                      <a:srgbClr val="111834"/>
                    </a:solidFill>
                  </a:tcPr>
                </a:tc>
                <a:tc>
                  <a:txBody>
                    <a:bodyPr/>
                    <a:lstStyle/>
                    <a:p>
                      <a:r>
                        <a:rPr sz="1400" b="0">
                          <a:solidFill>
                            <a:srgbClr val="E8EEFA"/>
                          </a:solidFill>
                          <a:latin typeface="Segoe UI"/>
                        </a:rPr>
                        <a:t>16 × 1080p10</a:t>
                      </a:r>
                    </a:p>
                  </a:txBody>
                  <a:tcPr>
                    <a:solidFill>
                      <a:srgbClr val="111834"/>
                    </a:solidFill>
                  </a:tcPr>
                </a:tc>
                <a:tc>
                  <a:txBody>
                    <a:bodyPr/>
                    <a:lstStyle/>
                    <a:p>
                      <a:r>
                        <a:rPr sz="1400" b="0">
                          <a:solidFill>
                            <a:srgbClr val="E8EEFA"/>
                          </a:solidFill>
                          <a:latin typeface="Segoe UI"/>
                        </a:rPr>
                        <a:t>4</a:t>
                      </a:r>
                    </a:p>
                  </a:txBody>
                  <a:tcPr>
                    <a:solidFill>
                      <a:srgbClr val="111834"/>
                    </a:solidFill>
                  </a:tcPr>
                </a:tc>
              </a:tr>
              <a:tr h="520000">
                <a:tc>
                  <a:txBody>
                    <a:bodyPr/>
                    <a:lstStyle/>
                    <a:p>
                      <a:r>
                        <a:rPr sz="1400" b="0">
                          <a:solidFill>
                            <a:srgbClr val="E8EEFA"/>
                          </a:solidFill>
                          <a:latin typeface="Segoe UI"/>
                        </a:rPr>
                        <a:t>Narx</a:t>
                      </a:r>
                    </a:p>
                  </a:txBody>
                  <a:tcPr>
                    <a:solidFill>
                      <a:srgbClr val="161F40"/>
                    </a:solidFill>
                  </a:tcPr>
                </a:tc>
                <a:tc>
                  <a:txBody>
                    <a:bodyPr/>
                    <a:lstStyle/>
                    <a:p>
                      <a:r>
                        <a:rPr sz="1400" b="0">
                          <a:solidFill>
                            <a:srgbClr val="E8EEFA"/>
                          </a:solidFill>
                          <a:latin typeface="Segoe UI"/>
                        </a:rPr>
                        <a:t>AQSh dollari</a:t>
                      </a:r>
                    </a:p>
                  </a:txBody>
                  <a:tcPr>
                    <a:solidFill>
                      <a:srgbClr val="161F40"/>
                    </a:solidFill>
                  </a:tcPr>
                </a:tc>
                <a:tc>
                  <a:txBody>
                    <a:bodyPr/>
                    <a:lstStyle/>
                    <a:p>
                      <a:r>
                        <a:rPr sz="1400" b="0">
                          <a:solidFill>
                            <a:srgbClr val="E8EEFA"/>
                          </a:solidFill>
                          <a:latin typeface="Segoe UI"/>
                        </a:rPr>
                        <a:t>≤ 2000 (hisoblash qismi)</a:t>
                      </a:r>
                    </a:p>
                  </a:txBody>
                  <a:tcPr>
                    <a:solidFill>
                      <a:srgbClr val="161F40"/>
                    </a:solidFill>
                  </a:tcPr>
                </a:tc>
                <a:tc>
                  <a:txBody>
                    <a:bodyPr/>
                    <a:lstStyle/>
                    <a:p>
                      <a:r>
                        <a:rPr sz="1400" b="0">
                          <a:solidFill>
                            <a:srgbClr val="E8EEFA"/>
                          </a:solidFill>
                          <a:latin typeface="Segoe UI"/>
                        </a:rPr>
                        <a:t>3</a:t>
                      </a:r>
                    </a:p>
                  </a:txBody>
                  <a:tcPr>
                    <a:solidFill>
                      <a:srgbClr val="161F40"/>
                    </a:solidFill>
                  </a:tcPr>
                </a:tc>
              </a:tr>
              <a:tr h="520000">
                <a:tc>
                  <a:txBody>
                    <a:bodyPr/>
                    <a:lstStyle/>
                    <a:p>
                      <a:r>
                        <a:rPr sz="1400" b="0">
                          <a:solidFill>
                            <a:srgbClr val="E8EEFA"/>
                          </a:solidFill>
                          <a:latin typeface="Segoe UI"/>
                        </a:rPr>
                        <a:t>Dasturiy ekotizim</a:t>
                      </a:r>
                    </a:p>
                  </a:txBody>
                  <a:tcPr>
                    <a:solidFill>
                      <a:srgbClr val="111834"/>
                    </a:solidFill>
                  </a:tcPr>
                </a:tc>
                <a:tc>
                  <a:txBody>
                    <a:bodyPr/>
                    <a:lstStyle/>
                    <a:p>
                      <a:r>
                        <a:rPr sz="1400" b="0">
                          <a:solidFill>
                            <a:srgbClr val="E8EEFA"/>
                          </a:solidFill>
                          <a:latin typeface="Segoe UI"/>
                        </a:rPr>
                        <a:t>sifat bahosi</a:t>
                      </a:r>
                    </a:p>
                  </a:txBody>
                  <a:tcPr>
                    <a:solidFill>
                      <a:srgbClr val="111834"/>
                    </a:solidFill>
                  </a:tcPr>
                </a:tc>
                <a:tc>
                  <a:txBody>
                    <a:bodyPr/>
                    <a:lstStyle/>
                    <a:p>
                      <a:r>
                        <a:rPr sz="1400" b="0">
                          <a:solidFill>
                            <a:srgbClr val="E8EEFA"/>
                          </a:solidFill>
                          <a:latin typeface="Segoe UI"/>
                        </a:rPr>
                        <a:t>TensorRT/ONNX qo'llab-quvvatlash</a:t>
                      </a:r>
                    </a:p>
                  </a:txBody>
                  <a:tcPr>
                    <a:solidFill>
                      <a:srgbClr val="111834"/>
                    </a:solidFill>
                  </a:tcPr>
                </a:tc>
                <a:tc>
                  <a:txBody>
                    <a:bodyPr/>
                    <a:lstStyle/>
                    <a:p>
                      <a:r>
                        <a:rPr sz="1400" b="0">
                          <a:solidFill>
                            <a:srgbClr val="E8EEFA"/>
                          </a:solidFill>
                          <a:latin typeface="Segoe UI"/>
                        </a:rPr>
                        <a:t>3</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6" dur="8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2-qadam. Model yuklamasini Python'da hisoblash</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28</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7d63b53ff17fb657.jpg"/>
          <p:cNvPicPr>
            <a:picLocks noChangeAspect="1"/>
          </p:cNvPicPr>
          <p:nvPr/>
        </p:nvPicPr>
        <p:blipFill>
          <a:blip r:embed="rId2"/>
          <a:srcRect l="18235" r="1823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Federal Bureau of Investigation · Wikimedia Commons · Public domain</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607432"/>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43121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1567432"/>
            <a:ext cx="5900000" cy="2127568"/>
          </a:xfrm>
          <a:prstGeom prst="rect">
            <a:avLst/>
          </a:prstGeom>
          <a:noFill/>
        </p:spPr>
        <p:txBody>
          <a:bodyPr wrap="square" anchor="ctr">
            <a:spAutoFit/>
          </a:bodyPr>
          <a:lstStyle/>
          <a:p>
            <a:r>
              <a:rPr sz="1400" b="0">
                <a:solidFill>
                  <a:srgbClr val="E8EEFA"/>
                </a:solidFill>
                <a:latin typeface="Segoe UI"/>
              </a:rPr>
              <a:t>Quyidagi skript tanlangan YOLO variantlari uchun FLOP, parametrlar soni, vaznlar hajmi va talab qilinadigan jami unumdorlikni hisoblaydi.</a:t>
            </a:r>
          </a:p>
        </p:txBody>
      </p:sp>
      <p:sp>
        <p:nvSpPr>
          <p:cNvPr id="31" name="Rounded Rectangle 30"/>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74878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Nima bo'ldi va nega.</a:t>
            </a:r>
          </a:p>
          <a:p>
            <a:pPr>
              <a:spcBef>
                <a:spcPts val="400"/>
              </a:spcBef>
            </a:pPr>
            <a:r>
              <a:rPr sz="1400">
                <a:solidFill>
                  <a:srgbClr val="AEBBD9"/>
                </a:solidFill>
                <a:latin typeface="Segoe UI"/>
              </a:rPr>
              <a:t>Skript modelning statik xususiyatlaridan kelib chiqib «nazariy» talabni beradi. Bu — yuqori chegaradan ancha past baho emas, aksincha, quyi chegara: real platformada dekodlash, xotira ko'chirish va operatorlar samaradorligi (odatda cho'qqining 30–60 %) tufayli haqiqiy talab 2–3 baravar yuqori bo'ladi. Shuning uchun platformani tanlashda «samaradorlik koeffitsiyenti» kiritiladi.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2-qadam. Model yuklamasini Python'da hisoblash</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29</a:t>
            </a:r>
          </a:p>
        </p:txBody>
      </p:sp>
      <p:graphicFrame>
        <p:nvGraphicFramePr>
          <p:cNvPr id="22" name="Table 21"/>
          <p:cNvGraphicFramePr>
            <a:graphicFrameLocks noGrp="1"/>
          </p:cNvGraphicFramePr>
          <p:nvPr/>
        </p:nvGraphicFramePr>
        <p:xfrm>
          <a:off x="550000" y="1400000"/>
          <a:ext cx="11100000" cy="3640000"/>
        </p:xfrm>
        <a:graphic>
          <a:graphicData uri="http://schemas.openxmlformats.org/drawingml/2006/table">
            <a:tbl>
              <a:tblPr firstRow="1" bandRow="1">
                <a:tableStyleId>{5C22544A-7EE6-4342-B048-85BDC9FD1C3A}</a:tableStyleId>
              </a:tblPr>
              <a:tblGrid>
                <a:gridCol w="1850000"/>
                <a:gridCol w="1850000"/>
                <a:gridCol w="1850000"/>
                <a:gridCol w="1850000"/>
                <a:gridCol w="1850000"/>
                <a:gridCol w="1850000"/>
              </a:tblGrid>
              <a:tr h="520000">
                <a:tc>
                  <a:txBody>
                    <a:bodyPr/>
                    <a:lstStyle/>
                    <a:p>
                      <a:r>
                        <a:rPr sz="1400" b="1">
                          <a:solidFill>
                            <a:srgbClr val="22D3EE"/>
                          </a:solidFill>
                          <a:latin typeface="Segoe UI"/>
                        </a:rPr>
                        <a:t>model</a:t>
                      </a:r>
                    </a:p>
                  </a:txBody>
                  <a:tcPr>
                    <a:solidFill>
                      <a:srgbClr val="1C2755"/>
                    </a:solidFill>
                  </a:tcPr>
                </a:tc>
                <a:tc>
                  <a:txBody>
                    <a:bodyPr/>
                    <a:lstStyle/>
                    <a:p>
                      <a:r>
                        <a:rPr sz="1400" b="1">
                          <a:solidFill>
                            <a:srgbClr val="22D3EE"/>
                          </a:solidFill>
                          <a:latin typeface="Segoe UI"/>
                        </a:rPr>
                        <a:t>imgsz</a:t>
                      </a:r>
                    </a:p>
                  </a:txBody>
                  <a:tcPr>
                    <a:solidFill>
                      <a:srgbClr val="1C2755"/>
                    </a:solidFill>
                  </a:tcPr>
                </a:tc>
                <a:tc>
                  <a:txBody>
                    <a:bodyPr/>
                    <a:lstStyle/>
                    <a:p>
                      <a:r>
                        <a:rPr sz="1400" b="1">
                          <a:solidFill>
                            <a:srgbClr val="22D3EE"/>
                          </a:solidFill>
                          <a:latin typeface="Segoe UI"/>
                        </a:rPr>
                        <a:t>params_M</a:t>
                      </a:r>
                    </a:p>
                  </a:txBody>
                  <a:tcPr>
                    <a:solidFill>
                      <a:srgbClr val="1C2755"/>
                    </a:solidFill>
                  </a:tcPr>
                </a:tc>
                <a:tc>
                  <a:txBody>
                    <a:bodyPr/>
                    <a:lstStyle/>
                    <a:p>
                      <a:r>
                        <a:rPr sz="1400" b="1">
                          <a:solidFill>
                            <a:srgbClr val="22D3EE"/>
                          </a:solidFill>
                          <a:latin typeface="Segoe UI"/>
                        </a:rPr>
                        <a:t>vazn_FP16_MB</a:t>
                      </a:r>
                    </a:p>
                  </a:txBody>
                  <a:tcPr>
                    <a:solidFill>
                      <a:srgbClr val="1C2755"/>
                    </a:solidFill>
                  </a:tcPr>
                </a:tc>
                <a:tc>
                  <a:txBody>
                    <a:bodyPr/>
                    <a:lstStyle/>
                    <a:p>
                      <a:r>
                        <a:rPr sz="1400" b="1">
                          <a:solidFill>
                            <a:srgbClr val="22D3EE"/>
                          </a:solidFill>
                          <a:latin typeface="Segoe UI"/>
                        </a:rPr>
                        <a:t>GFLOP_inferens</a:t>
                      </a:r>
                    </a:p>
                  </a:txBody>
                  <a:tcPr>
                    <a:solidFill>
                      <a:srgbClr val="1C2755"/>
                    </a:solidFill>
                  </a:tcPr>
                </a:tc>
                <a:tc>
                  <a:txBody>
                    <a:bodyPr/>
                    <a:lstStyle/>
                    <a:p>
                      <a:r>
                        <a:rPr sz="1400" b="1">
                          <a:solidFill>
                            <a:srgbClr val="22D3EE"/>
                          </a:solidFill>
                          <a:latin typeface="Segoe UI"/>
                        </a:rPr>
                        <a:t>TFLOP_s_talab</a:t>
                      </a:r>
                    </a:p>
                  </a:txBody>
                  <a:tcPr>
                    <a:solidFill>
                      <a:srgbClr val="1C2755"/>
                    </a:solidFill>
                  </a:tcPr>
                </a:tc>
              </a:tr>
              <a:tr h="520000">
                <a:tc>
                  <a:txBody>
                    <a:bodyPr/>
                    <a:lstStyle/>
                    <a:p>
                      <a:r>
                        <a:rPr sz="1400" b="0">
                          <a:solidFill>
                            <a:srgbClr val="E8EEFA"/>
                          </a:solidFill>
                          <a:latin typeface="Segoe UI"/>
                        </a:rPr>
                        <a:t>yolov8n</a:t>
                      </a:r>
                    </a:p>
                  </a:txBody>
                  <a:tcPr>
                    <a:solidFill>
                      <a:srgbClr val="111834"/>
                    </a:solidFill>
                  </a:tcPr>
                </a:tc>
                <a:tc>
                  <a:txBody>
                    <a:bodyPr/>
                    <a:lstStyle/>
                    <a:p>
                      <a:r>
                        <a:rPr sz="1400" b="0">
                          <a:solidFill>
                            <a:srgbClr val="E8EEFA"/>
                          </a:solidFill>
                          <a:latin typeface="Segoe UI"/>
                        </a:rPr>
                        <a:t>512</a:t>
                      </a:r>
                    </a:p>
                  </a:txBody>
                  <a:tcPr>
                    <a:solidFill>
                      <a:srgbClr val="111834"/>
                    </a:solidFill>
                  </a:tcPr>
                </a:tc>
                <a:tc>
                  <a:txBody>
                    <a:bodyPr/>
                    <a:lstStyle/>
                    <a:p>
                      <a:r>
                        <a:rPr sz="1400" b="0">
                          <a:solidFill>
                            <a:srgbClr val="E8EEFA"/>
                          </a:solidFill>
                          <a:latin typeface="Segoe UI"/>
                        </a:rPr>
                        <a:t>3,15</a:t>
                      </a:r>
                    </a:p>
                  </a:txBody>
                  <a:tcPr>
                    <a:solidFill>
                      <a:srgbClr val="111834"/>
                    </a:solidFill>
                  </a:tcPr>
                </a:tc>
                <a:tc>
                  <a:txBody>
                    <a:bodyPr/>
                    <a:lstStyle/>
                    <a:p>
                      <a:r>
                        <a:rPr sz="1400" b="0">
                          <a:solidFill>
                            <a:srgbClr val="E8EEFA"/>
                          </a:solidFill>
                          <a:latin typeface="Segoe UI"/>
                        </a:rPr>
                        <a:t>6,3</a:t>
                      </a:r>
                    </a:p>
                  </a:txBody>
                  <a:tcPr>
                    <a:solidFill>
                      <a:srgbClr val="111834"/>
                    </a:solidFill>
                  </a:tcPr>
                </a:tc>
                <a:tc>
                  <a:txBody>
                    <a:bodyPr/>
                    <a:lstStyle/>
                    <a:p>
                      <a:r>
                        <a:rPr sz="1400" b="0">
                          <a:solidFill>
                            <a:srgbClr val="E8EEFA"/>
                          </a:solidFill>
                          <a:latin typeface="Segoe UI"/>
                        </a:rPr>
                        <a:t>5,6</a:t>
                      </a:r>
                    </a:p>
                  </a:txBody>
                  <a:tcPr>
                    <a:solidFill>
                      <a:srgbClr val="111834"/>
                    </a:solidFill>
                  </a:tcPr>
                </a:tc>
                <a:tc>
                  <a:txBody>
                    <a:bodyPr/>
                    <a:lstStyle/>
                    <a:p>
                      <a:r>
                        <a:rPr sz="1400" b="0">
                          <a:solidFill>
                            <a:srgbClr val="E8EEFA"/>
                          </a:solidFill>
                          <a:latin typeface="Segoe UI"/>
                        </a:rPr>
                        <a:t>0,89</a:t>
                      </a:r>
                    </a:p>
                  </a:txBody>
                  <a:tcPr>
                    <a:solidFill>
                      <a:srgbClr val="111834"/>
                    </a:solidFill>
                  </a:tcPr>
                </a:tc>
              </a:tr>
              <a:tr h="520000">
                <a:tc>
                  <a:txBody>
                    <a:bodyPr/>
                    <a:lstStyle/>
                    <a:p>
                      <a:r>
                        <a:rPr sz="1400" b="0">
                          <a:solidFill>
                            <a:srgbClr val="E8EEFA"/>
                          </a:solidFill>
                          <a:latin typeface="Segoe UI"/>
                        </a:rPr>
                        <a:t>yolov8n</a:t>
                      </a:r>
                    </a:p>
                  </a:txBody>
                  <a:tcPr>
                    <a:solidFill>
                      <a:srgbClr val="161F40"/>
                    </a:solidFill>
                  </a:tcPr>
                </a:tc>
                <a:tc>
                  <a:txBody>
                    <a:bodyPr/>
                    <a:lstStyle/>
                    <a:p>
                      <a:r>
                        <a:rPr sz="1400" b="0">
                          <a:solidFill>
                            <a:srgbClr val="E8EEFA"/>
                          </a:solidFill>
                          <a:latin typeface="Segoe UI"/>
                        </a:rPr>
                        <a:t>640</a:t>
                      </a:r>
                    </a:p>
                  </a:txBody>
                  <a:tcPr>
                    <a:solidFill>
                      <a:srgbClr val="161F40"/>
                    </a:solidFill>
                  </a:tcPr>
                </a:tc>
                <a:tc>
                  <a:txBody>
                    <a:bodyPr/>
                    <a:lstStyle/>
                    <a:p>
                      <a:r>
                        <a:rPr sz="1400" b="0">
                          <a:solidFill>
                            <a:srgbClr val="E8EEFA"/>
                          </a:solidFill>
                          <a:latin typeface="Segoe UI"/>
                        </a:rPr>
                        <a:t>3,15</a:t>
                      </a:r>
                    </a:p>
                  </a:txBody>
                  <a:tcPr>
                    <a:solidFill>
                      <a:srgbClr val="161F40"/>
                    </a:solidFill>
                  </a:tcPr>
                </a:tc>
                <a:tc>
                  <a:txBody>
                    <a:bodyPr/>
                    <a:lstStyle/>
                    <a:p>
                      <a:r>
                        <a:rPr sz="1400" b="0">
                          <a:solidFill>
                            <a:srgbClr val="E8EEFA"/>
                          </a:solidFill>
                          <a:latin typeface="Segoe UI"/>
                        </a:rPr>
                        <a:t>6,3</a:t>
                      </a:r>
                    </a:p>
                  </a:txBody>
                  <a:tcPr>
                    <a:solidFill>
                      <a:srgbClr val="161F40"/>
                    </a:solidFill>
                  </a:tcPr>
                </a:tc>
                <a:tc>
                  <a:txBody>
                    <a:bodyPr/>
                    <a:lstStyle/>
                    <a:p>
                      <a:r>
                        <a:rPr sz="1400" b="0">
                          <a:solidFill>
                            <a:srgbClr val="E8EEFA"/>
                          </a:solidFill>
                          <a:latin typeface="Segoe UI"/>
                        </a:rPr>
                        <a:t>8,7</a:t>
                      </a:r>
                    </a:p>
                  </a:txBody>
                  <a:tcPr>
                    <a:solidFill>
                      <a:srgbClr val="161F40"/>
                    </a:solidFill>
                  </a:tcPr>
                </a:tc>
                <a:tc>
                  <a:txBody>
                    <a:bodyPr/>
                    <a:lstStyle/>
                    <a:p>
                      <a:r>
                        <a:rPr sz="1400" b="0">
                          <a:solidFill>
                            <a:srgbClr val="E8EEFA"/>
                          </a:solidFill>
                          <a:latin typeface="Segoe UI"/>
                        </a:rPr>
                        <a:t>1,39</a:t>
                      </a:r>
                    </a:p>
                  </a:txBody>
                  <a:tcPr>
                    <a:solidFill>
                      <a:srgbClr val="161F40"/>
                    </a:solidFill>
                  </a:tcPr>
                </a:tc>
              </a:tr>
              <a:tr h="520000">
                <a:tc>
                  <a:txBody>
                    <a:bodyPr/>
                    <a:lstStyle/>
                    <a:p>
                      <a:r>
                        <a:rPr sz="1400" b="0">
                          <a:solidFill>
                            <a:srgbClr val="E8EEFA"/>
                          </a:solidFill>
                          <a:latin typeface="Segoe UI"/>
                        </a:rPr>
                        <a:t>yolov8s</a:t>
                      </a:r>
                    </a:p>
                  </a:txBody>
                  <a:tcPr>
                    <a:solidFill>
                      <a:srgbClr val="111834"/>
                    </a:solidFill>
                  </a:tcPr>
                </a:tc>
                <a:tc>
                  <a:txBody>
                    <a:bodyPr/>
                    <a:lstStyle/>
                    <a:p>
                      <a:r>
                        <a:rPr sz="1400" b="0">
                          <a:solidFill>
                            <a:srgbClr val="E8EEFA"/>
                          </a:solidFill>
                          <a:latin typeface="Segoe UI"/>
                        </a:rPr>
                        <a:t>512</a:t>
                      </a:r>
                    </a:p>
                  </a:txBody>
                  <a:tcPr>
                    <a:solidFill>
                      <a:srgbClr val="111834"/>
                    </a:solidFill>
                  </a:tcPr>
                </a:tc>
                <a:tc>
                  <a:txBody>
                    <a:bodyPr/>
                    <a:lstStyle/>
                    <a:p>
                      <a:r>
                        <a:rPr sz="1400" b="0">
                          <a:solidFill>
                            <a:srgbClr val="E8EEFA"/>
                          </a:solidFill>
                          <a:latin typeface="Segoe UI"/>
                        </a:rPr>
                        <a:t>11,17</a:t>
                      </a:r>
                    </a:p>
                  </a:txBody>
                  <a:tcPr>
                    <a:solidFill>
                      <a:srgbClr val="111834"/>
                    </a:solidFill>
                  </a:tcPr>
                </a:tc>
                <a:tc>
                  <a:txBody>
                    <a:bodyPr/>
                    <a:lstStyle/>
                    <a:p>
                      <a:r>
                        <a:rPr sz="1400" b="0">
                          <a:solidFill>
                            <a:srgbClr val="E8EEFA"/>
                          </a:solidFill>
                          <a:latin typeface="Segoe UI"/>
                        </a:rPr>
                        <a:t>22,3</a:t>
                      </a:r>
                    </a:p>
                  </a:txBody>
                  <a:tcPr>
                    <a:solidFill>
                      <a:srgbClr val="111834"/>
                    </a:solidFill>
                  </a:tcPr>
                </a:tc>
                <a:tc>
                  <a:txBody>
                    <a:bodyPr/>
                    <a:lstStyle/>
                    <a:p>
                      <a:r>
                        <a:rPr sz="1400" b="0">
                          <a:solidFill>
                            <a:srgbClr val="E8EEFA"/>
                          </a:solidFill>
                          <a:latin typeface="Segoe UI"/>
                        </a:rPr>
                        <a:t>18,3</a:t>
                      </a:r>
                    </a:p>
                  </a:txBody>
                  <a:tcPr>
                    <a:solidFill>
                      <a:srgbClr val="111834"/>
                    </a:solidFill>
                  </a:tcPr>
                </a:tc>
                <a:tc>
                  <a:txBody>
                    <a:bodyPr/>
                    <a:lstStyle/>
                    <a:p>
                      <a:r>
                        <a:rPr sz="1400" b="0">
                          <a:solidFill>
                            <a:srgbClr val="E8EEFA"/>
                          </a:solidFill>
                          <a:latin typeface="Segoe UI"/>
                        </a:rPr>
                        <a:t>2,93</a:t>
                      </a:r>
                    </a:p>
                  </a:txBody>
                  <a:tcPr>
                    <a:solidFill>
                      <a:srgbClr val="111834"/>
                    </a:solidFill>
                  </a:tcPr>
                </a:tc>
              </a:tr>
              <a:tr h="520000">
                <a:tc>
                  <a:txBody>
                    <a:bodyPr/>
                    <a:lstStyle/>
                    <a:p>
                      <a:r>
                        <a:rPr sz="1400" b="0">
                          <a:solidFill>
                            <a:srgbClr val="E8EEFA"/>
                          </a:solidFill>
                          <a:latin typeface="Segoe UI"/>
                        </a:rPr>
                        <a:t>yolov8s</a:t>
                      </a:r>
                    </a:p>
                  </a:txBody>
                  <a:tcPr>
                    <a:solidFill>
                      <a:srgbClr val="161F40"/>
                    </a:solidFill>
                  </a:tcPr>
                </a:tc>
                <a:tc>
                  <a:txBody>
                    <a:bodyPr/>
                    <a:lstStyle/>
                    <a:p>
                      <a:r>
                        <a:rPr sz="1400" b="0">
                          <a:solidFill>
                            <a:srgbClr val="E8EEFA"/>
                          </a:solidFill>
                          <a:latin typeface="Segoe UI"/>
                        </a:rPr>
                        <a:t>640</a:t>
                      </a:r>
                    </a:p>
                  </a:txBody>
                  <a:tcPr>
                    <a:solidFill>
                      <a:srgbClr val="161F40"/>
                    </a:solidFill>
                  </a:tcPr>
                </a:tc>
                <a:tc>
                  <a:txBody>
                    <a:bodyPr/>
                    <a:lstStyle/>
                    <a:p>
                      <a:r>
                        <a:rPr sz="1400" b="0">
                          <a:solidFill>
                            <a:srgbClr val="E8EEFA"/>
                          </a:solidFill>
                          <a:latin typeface="Segoe UI"/>
                        </a:rPr>
                        <a:t>11,17</a:t>
                      </a:r>
                    </a:p>
                  </a:txBody>
                  <a:tcPr>
                    <a:solidFill>
                      <a:srgbClr val="161F40"/>
                    </a:solidFill>
                  </a:tcPr>
                </a:tc>
                <a:tc>
                  <a:txBody>
                    <a:bodyPr/>
                    <a:lstStyle/>
                    <a:p>
                      <a:r>
                        <a:rPr sz="1400" b="0">
                          <a:solidFill>
                            <a:srgbClr val="E8EEFA"/>
                          </a:solidFill>
                          <a:latin typeface="Segoe UI"/>
                        </a:rPr>
                        <a:t>22,3</a:t>
                      </a:r>
                    </a:p>
                  </a:txBody>
                  <a:tcPr>
                    <a:solidFill>
                      <a:srgbClr val="161F40"/>
                    </a:solidFill>
                  </a:tcPr>
                </a:tc>
                <a:tc>
                  <a:txBody>
                    <a:bodyPr/>
                    <a:lstStyle/>
                    <a:p>
                      <a:r>
                        <a:rPr sz="1400" b="0">
                          <a:solidFill>
                            <a:srgbClr val="E8EEFA"/>
                          </a:solidFill>
                          <a:latin typeface="Segoe UI"/>
                        </a:rPr>
                        <a:t>28,6</a:t>
                      </a:r>
                    </a:p>
                  </a:txBody>
                  <a:tcPr>
                    <a:solidFill>
                      <a:srgbClr val="161F40"/>
                    </a:solidFill>
                  </a:tcPr>
                </a:tc>
                <a:tc>
                  <a:txBody>
                    <a:bodyPr/>
                    <a:lstStyle/>
                    <a:p>
                      <a:r>
                        <a:rPr sz="1400" b="0">
                          <a:solidFill>
                            <a:srgbClr val="E8EEFA"/>
                          </a:solidFill>
                          <a:latin typeface="Segoe UI"/>
                        </a:rPr>
                        <a:t>4,58</a:t>
                      </a:r>
                    </a:p>
                  </a:txBody>
                  <a:tcPr>
                    <a:solidFill>
                      <a:srgbClr val="161F40"/>
                    </a:solidFill>
                  </a:tcPr>
                </a:tc>
              </a:tr>
              <a:tr h="520000">
                <a:tc>
                  <a:txBody>
                    <a:bodyPr/>
                    <a:lstStyle/>
                    <a:p>
                      <a:r>
                        <a:rPr sz="1400" b="0">
                          <a:solidFill>
                            <a:srgbClr val="E8EEFA"/>
                          </a:solidFill>
                          <a:latin typeface="Segoe UI"/>
                        </a:rPr>
                        <a:t>yolov8m</a:t>
                      </a:r>
                    </a:p>
                  </a:txBody>
                  <a:tcPr>
                    <a:solidFill>
                      <a:srgbClr val="111834"/>
                    </a:solidFill>
                  </a:tcPr>
                </a:tc>
                <a:tc>
                  <a:txBody>
                    <a:bodyPr/>
                    <a:lstStyle/>
                    <a:p>
                      <a:r>
                        <a:rPr sz="1400" b="0">
                          <a:solidFill>
                            <a:srgbClr val="E8EEFA"/>
                          </a:solidFill>
                          <a:latin typeface="Segoe UI"/>
                        </a:rPr>
                        <a:t>512</a:t>
                      </a:r>
                    </a:p>
                  </a:txBody>
                  <a:tcPr>
                    <a:solidFill>
                      <a:srgbClr val="111834"/>
                    </a:solidFill>
                  </a:tcPr>
                </a:tc>
                <a:tc>
                  <a:txBody>
                    <a:bodyPr/>
                    <a:lstStyle/>
                    <a:p>
                      <a:r>
                        <a:rPr sz="1400" b="0">
                          <a:solidFill>
                            <a:srgbClr val="E8EEFA"/>
                          </a:solidFill>
                          <a:latin typeface="Segoe UI"/>
                        </a:rPr>
                        <a:t>25,9</a:t>
                      </a:r>
                    </a:p>
                  </a:txBody>
                  <a:tcPr>
                    <a:solidFill>
                      <a:srgbClr val="111834"/>
                    </a:solidFill>
                  </a:tcPr>
                </a:tc>
                <a:tc>
                  <a:txBody>
                    <a:bodyPr/>
                    <a:lstStyle/>
                    <a:p>
                      <a:r>
                        <a:rPr sz="1400" b="0">
                          <a:solidFill>
                            <a:srgbClr val="E8EEFA"/>
                          </a:solidFill>
                          <a:latin typeface="Segoe UI"/>
                        </a:rPr>
                        <a:t>51,8</a:t>
                      </a:r>
                    </a:p>
                  </a:txBody>
                  <a:tcPr>
                    <a:solidFill>
                      <a:srgbClr val="111834"/>
                    </a:solidFill>
                  </a:tcPr>
                </a:tc>
                <a:tc>
                  <a:txBody>
                    <a:bodyPr/>
                    <a:lstStyle/>
                    <a:p>
                      <a:r>
                        <a:rPr sz="1400" b="0">
                          <a:solidFill>
                            <a:srgbClr val="E8EEFA"/>
                          </a:solidFill>
                          <a:latin typeface="Segoe UI"/>
                        </a:rPr>
                        <a:t>50,5</a:t>
                      </a:r>
                    </a:p>
                  </a:txBody>
                  <a:tcPr>
                    <a:solidFill>
                      <a:srgbClr val="111834"/>
                    </a:solidFill>
                  </a:tcPr>
                </a:tc>
                <a:tc>
                  <a:txBody>
                    <a:bodyPr/>
                    <a:lstStyle/>
                    <a:p>
                      <a:r>
                        <a:rPr sz="1400" b="0">
                          <a:solidFill>
                            <a:srgbClr val="E8EEFA"/>
                          </a:solidFill>
                          <a:latin typeface="Segoe UI"/>
                        </a:rPr>
                        <a:t>8,08</a:t>
                      </a:r>
                    </a:p>
                  </a:txBody>
                  <a:tcPr>
                    <a:solidFill>
                      <a:srgbClr val="111834"/>
                    </a:solidFill>
                  </a:tcPr>
                </a:tc>
              </a:tr>
              <a:tr h="520000">
                <a:tc>
                  <a:txBody>
                    <a:bodyPr/>
                    <a:lstStyle/>
                    <a:p>
                      <a:r>
                        <a:rPr sz="1400" b="0">
                          <a:solidFill>
                            <a:srgbClr val="E8EEFA"/>
                          </a:solidFill>
                          <a:latin typeface="Segoe UI"/>
                        </a:rPr>
                        <a:t>yolov8m</a:t>
                      </a:r>
                    </a:p>
                  </a:txBody>
                  <a:tcPr>
                    <a:solidFill>
                      <a:srgbClr val="161F40"/>
                    </a:solidFill>
                  </a:tcPr>
                </a:tc>
                <a:tc>
                  <a:txBody>
                    <a:bodyPr/>
                    <a:lstStyle/>
                    <a:p>
                      <a:r>
                        <a:rPr sz="1400" b="0">
                          <a:solidFill>
                            <a:srgbClr val="E8EEFA"/>
                          </a:solidFill>
                          <a:latin typeface="Segoe UI"/>
                        </a:rPr>
                        <a:t>640</a:t>
                      </a:r>
                    </a:p>
                  </a:txBody>
                  <a:tcPr>
                    <a:solidFill>
                      <a:srgbClr val="161F40"/>
                    </a:solidFill>
                  </a:tcPr>
                </a:tc>
                <a:tc>
                  <a:txBody>
                    <a:bodyPr/>
                    <a:lstStyle/>
                    <a:p>
                      <a:r>
                        <a:rPr sz="1400" b="0">
                          <a:solidFill>
                            <a:srgbClr val="E8EEFA"/>
                          </a:solidFill>
                          <a:latin typeface="Segoe UI"/>
                        </a:rPr>
                        <a:t>25,9</a:t>
                      </a:r>
                    </a:p>
                  </a:txBody>
                  <a:tcPr>
                    <a:solidFill>
                      <a:srgbClr val="161F40"/>
                    </a:solidFill>
                  </a:tcPr>
                </a:tc>
                <a:tc>
                  <a:txBody>
                    <a:bodyPr/>
                    <a:lstStyle/>
                    <a:p>
                      <a:r>
                        <a:rPr sz="1400" b="0">
                          <a:solidFill>
                            <a:srgbClr val="E8EEFA"/>
                          </a:solidFill>
                          <a:latin typeface="Segoe UI"/>
                        </a:rPr>
                        <a:t>51,8</a:t>
                      </a:r>
                    </a:p>
                  </a:txBody>
                  <a:tcPr>
                    <a:solidFill>
                      <a:srgbClr val="161F40"/>
                    </a:solidFill>
                  </a:tcPr>
                </a:tc>
                <a:tc>
                  <a:txBody>
                    <a:bodyPr/>
                    <a:lstStyle/>
                    <a:p>
                      <a:r>
                        <a:rPr sz="1400" b="0">
                          <a:solidFill>
                            <a:srgbClr val="E8EEFA"/>
                          </a:solidFill>
                          <a:latin typeface="Segoe UI"/>
                        </a:rPr>
                        <a:t>78,9</a:t>
                      </a:r>
                    </a:p>
                  </a:txBody>
                  <a:tcPr>
                    <a:solidFill>
                      <a:srgbClr val="161F40"/>
                    </a:solidFill>
                  </a:tcPr>
                </a:tc>
                <a:tc>
                  <a:txBody>
                    <a:bodyPr/>
                    <a:lstStyle/>
                    <a:p>
                      <a:r>
                        <a:rPr sz="1400" b="0">
                          <a:solidFill>
                            <a:srgbClr val="E8EEFA"/>
                          </a:solidFill>
                          <a:latin typeface="Segoe UI"/>
                        </a:rPr>
                        <a:t>12,6</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6" dur="8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2-qadam. Model yuklamasini Python'da hisoblash — kod</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30</a:t>
            </a:r>
          </a:p>
        </p:txBody>
      </p:sp>
      <p:sp>
        <p:nvSpPr>
          <p:cNvPr id="25" name="Rounded Rectangle 24"/>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0000" y="1700000"/>
            <a:ext cx="10700000" cy="4500000"/>
          </a:xfrm>
          <a:prstGeom prst="rect">
            <a:avLst/>
          </a:prstGeom>
          <a:noFill/>
        </p:spPr>
        <p:txBody>
          <a:bodyPr wrap="square">
            <a:spAutoFit/>
          </a:bodyPr>
          <a:lstStyle/>
          <a:p>
            <a:r>
              <a:rPr sz="1200">
                <a:solidFill>
                  <a:srgbClr val="6EE7B7"/>
                </a:solidFill>
                <a:latin typeface="Consolas"/>
              </a:rPr>
              <a:t># yuklama_hisobi.py</a:t>
            </a:r>
          </a:p>
          <a:p>
            <a:r>
              <a:rPr sz="1200">
                <a:solidFill>
                  <a:srgbClr val="6EE7B7"/>
                </a:solidFill>
                <a:latin typeface="Consolas"/>
              </a:rPr>
              <a:t># Maqsad: model varianti va kamera konfiguratsiyasi uchun hisoblash talabini baholash</a:t>
            </a:r>
          </a:p>
          <a:p>
            <a:r>
              <a:rPr sz="1200">
                <a:solidFill>
                  <a:srgbClr val="DBE4F5"/>
                </a:solidFill>
                <a:latin typeface="Consolas"/>
              </a:rPr>
              <a:t>from ultralytics import YOLO</a:t>
            </a:r>
          </a:p>
          <a:p>
            <a:r>
              <a:rPr sz="1200">
                <a:solidFill>
                  <a:srgbClr val="DBE4F5"/>
                </a:solidFill>
                <a:latin typeface="Consolas"/>
              </a:rPr>
              <a:t>import pandas as pd</a:t>
            </a:r>
          </a:p>
          <a:p>
            <a:r>
              <a:rPr sz="1200">
                <a:solidFill>
                  <a:srgbClr val="DBE4F5"/>
                </a:solidFill>
                <a:latin typeface="Consolas"/>
              </a:rPr>
              <a:t> </a:t>
            </a:r>
          </a:p>
          <a:p>
            <a:r>
              <a:rPr sz="1200">
                <a:solidFill>
                  <a:srgbClr val="DBE4F5"/>
                </a:solidFill>
                <a:latin typeface="Consolas"/>
              </a:rPr>
              <a:t>KAMERALAR = 16</a:t>
            </a:r>
          </a:p>
          <a:p>
            <a:r>
              <a:rPr sz="1200">
                <a:solidFill>
                  <a:srgbClr val="DBE4F5"/>
                </a:solidFill>
                <a:latin typeface="Consolas"/>
              </a:rPr>
              <a:t>FPS = 10</a:t>
            </a:r>
          </a:p>
          <a:p>
            <a:r>
              <a:rPr sz="1200">
                <a:solidFill>
                  <a:srgbClr val="DBE4F5"/>
                </a:solidFill>
                <a:latin typeface="Consolas"/>
              </a:rPr>
              <a:t>INFERENS_S = KAMERALAR * FPS          # 160 inferens/sekund</a:t>
            </a:r>
          </a:p>
          <a:p>
            <a:r>
              <a:rPr sz="1200">
                <a:solidFill>
                  <a:srgbClr val="DBE4F5"/>
                </a:solidFill>
                <a:latin typeface="Consolas"/>
              </a:rPr>
              <a:t> </a:t>
            </a:r>
          </a:p>
          <a:p>
            <a:r>
              <a:rPr sz="1200">
                <a:solidFill>
                  <a:srgbClr val="DBE4F5"/>
                </a:solidFill>
                <a:latin typeface="Consolas"/>
              </a:rPr>
              <a:t>def model_profili(nomi, imgsz=640):</a:t>
            </a:r>
          </a:p>
          <a:p>
            <a:r>
              <a:rPr sz="1200">
                <a:solidFill>
                  <a:srgbClr val="DBE4F5"/>
                </a:solidFill>
                <a:latin typeface="Consolas"/>
              </a:rPr>
              <a:t>    m = YOLO(nomi)                     # vaznlar birinchi marta yuklab olinadi</a:t>
            </a:r>
          </a:p>
          <a:p>
            <a:r>
              <a:rPr sz="1200">
                <a:solidFill>
                  <a:srgbClr val="6EE7B7"/>
                </a:solidFill>
                <a:latin typeface="Consolas"/>
              </a:rPr>
              <a:t>    # ultralytics 'info' usuli (qatlamlar, parametrlar, gradientlar, GFLOP) qaytaradi</a:t>
            </a:r>
          </a:p>
          <a:p>
            <a:r>
              <a:rPr sz="1200">
                <a:solidFill>
                  <a:srgbClr val="DBE4F5"/>
                </a:solidFill>
                <a:latin typeface="Consolas"/>
              </a:rPr>
              <a:t>    qatlam, params, grad, gflops = m.info(verbose=False, imgsz=imgsz)</a:t>
            </a:r>
          </a:p>
          <a:p>
            <a:r>
              <a:rPr sz="1200">
                <a:solidFill>
                  <a:srgbClr val="DBE4F5"/>
                </a:solidFill>
                <a:latin typeface="Consolas"/>
              </a:rPr>
              <a:t>    return {</a:t>
            </a:r>
          </a:p>
          <a:p>
            <a:r>
              <a:rPr sz="1200">
                <a:solidFill>
                  <a:srgbClr val="DBE4F5"/>
                </a:solidFill>
                <a:latin typeface="Consolas"/>
              </a:rPr>
              <a:t>        "model": nomi,</a:t>
            </a:r>
          </a:p>
          <a:p>
            <a:r>
              <a:rPr sz="1200">
                <a:solidFill>
                  <a:srgbClr val="DBE4F5"/>
                </a:solidFill>
                <a:latin typeface="Consolas"/>
              </a:rPr>
              <a:t>        "imgsz": imgsz,</a:t>
            </a:r>
          </a:p>
          <a:p>
            <a:r>
              <a:rPr sz="1200">
                <a:solidFill>
                  <a:srgbClr val="DBE4F5"/>
                </a:solidFill>
                <a:latin typeface="Consolas"/>
              </a:rPr>
              <a:t>        "params_M": round(params / 1e6, 2),</a:t>
            </a:r>
          </a:p>
          <a:p>
            <a:r>
              <a:rPr sz="1200">
                <a:solidFill>
                  <a:srgbClr val="DBE4F5"/>
                </a:solidFill>
                <a:latin typeface="Consolas"/>
              </a:rPr>
              <a:t>        "vazn_FP16_MB": round(params * 2 / 1e6, 1),</a:t>
            </a:r>
          </a:p>
          <a:p>
            <a:r>
              <a:rPr sz="1200">
                <a:solidFill>
                  <a:srgbClr val="DBE4F5"/>
                </a:solidFill>
                <a:latin typeface="Consolas"/>
              </a:rPr>
              <a:t>        "vazn_INT8_MB": round(params * 1 / 1e6, 1),</a:t>
            </a:r>
          </a:p>
          <a:p>
            <a:r>
              <a:rPr sz="1200">
                <a:solidFill>
                  <a:srgbClr val="DBE4F5"/>
                </a:solidFill>
                <a:latin typeface="Consolas"/>
              </a:rPr>
              <a:t>        "GFLOP_inferens": round(gflops, 1),</a:t>
            </a:r>
          </a:p>
          <a:p>
            <a:r>
              <a:rPr sz="1200">
                <a:solidFill>
                  <a:srgbClr val="6EE7B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50"/>
                                        <p:tgtEl>
                                          <p:spTgt spid="27"/>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550"/>
                                        <p:tgtEl>
                                          <p:spTgt spid="28"/>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4" dur="8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P spid="29"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3-qadam. Platformalarni samaradorlik koeffitsiyenti bilan baholash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31</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ccdf8c0a9ea0f98.jpg"/>
          <p:cNvPicPr>
            <a:picLocks noChangeAspect="1"/>
          </p:cNvPicPr>
          <p:nvPr/>
        </p:nvPicPr>
        <p:blipFill>
          <a:blip r:embed="rId2"/>
          <a:srcRect l="2353" r="2353"/>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Blake Patterson from Alexandria, VA, USA · Wikimedia Commons · CC BY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648868"/>
            <a:ext cx="50000" cy="22822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Nima bo'ldi va nega. zaxira_koef — platformaning haqiqiy unumdorligi talabdan necha marta oshishi.</a:t>
            </a:r>
          </a:p>
          <a:p>
            <a:pPr>
              <a:spcBef>
                <a:spcPts val="400"/>
              </a:spcBef>
            </a:pPr>
            <a:r>
              <a:rPr sz="1400">
                <a:solidFill>
                  <a:srgbClr val="AEBBD9"/>
                </a:solidFill>
                <a:latin typeface="Segoe UI"/>
              </a:rPr>
              <a:t>1 dan kichik qiymat (Edge TPU, CPU) — platforma yetarli emas; 3–5 oralig'i — sog'lom zaxira (pik yuklama, model yangilanishi, qo'shimcha kuzatuv algoritmi uchun); 50 dan katta (A100) — ortiqcha xarajat. Edge TPU uchun yechim bo'lishi mumkin edi: 16 kamerani 4 ta Coral modulga bo'lish va yolov8n INT8 ishlatish, lekin apparat dekoder yo'qligi CPU'ni band qiladi. Shu tahlil Orin NX ni asosiy nomzod qiladi.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3-qadam. Platformalarni samaradorlik koeffitsiyenti bilan baholash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32</a:t>
            </a:r>
          </a:p>
        </p:txBody>
      </p:sp>
      <p:graphicFrame>
        <p:nvGraphicFramePr>
          <p:cNvPr id="24" name="Table 23"/>
          <p:cNvGraphicFramePr>
            <a:graphicFrameLocks noGrp="1"/>
          </p:cNvGraphicFramePr>
          <p:nvPr/>
        </p:nvGraphicFramePr>
        <p:xfrm>
          <a:off x="550000" y="1400000"/>
          <a:ext cx="11100000" cy="3120000"/>
        </p:xfrm>
        <a:graphic>
          <a:graphicData uri="http://schemas.openxmlformats.org/drawingml/2006/table">
            <a:tbl>
              <a:tblPr firstRow="1" bandRow="1">
                <a:tableStyleId>{5C22544A-7EE6-4342-B048-85BDC9FD1C3A}</a:tableStyleId>
              </a:tblPr>
              <a:tblGrid>
                <a:gridCol w="2220000"/>
                <a:gridCol w="2220000"/>
                <a:gridCol w="2220000"/>
                <a:gridCol w="2220000"/>
                <a:gridCol w="2220000"/>
              </a:tblGrid>
              <a:tr h="520000">
                <a:tc>
                  <a:txBody>
                    <a:bodyPr/>
                    <a:lstStyle/>
                    <a:p>
                      <a:r>
                        <a:rPr sz="1400" b="1">
                          <a:solidFill>
                            <a:srgbClr val="22D3EE"/>
                          </a:solidFill>
                          <a:latin typeface="Segoe UI"/>
                        </a:rPr>
                        <a:t>nom</a:t>
                      </a:r>
                    </a:p>
                  </a:txBody>
                  <a:tcPr>
                    <a:solidFill>
                      <a:srgbClr val="1C2755"/>
                    </a:solidFill>
                  </a:tcPr>
                </a:tc>
                <a:tc>
                  <a:txBody>
                    <a:bodyPr/>
                    <a:lstStyle/>
                    <a:p>
                      <a:r>
                        <a:rPr sz="1400" b="1">
                          <a:solidFill>
                            <a:srgbClr val="22D3EE"/>
                          </a:solidFill>
                          <a:latin typeface="Segoe UI"/>
                        </a:rPr>
                        <a:t>tops_real</a:t>
                      </a:r>
                    </a:p>
                  </a:txBody>
                  <a:tcPr>
                    <a:solidFill>
                      <a:srgbClr val="1C2755"/>
                    </a:solidFill>
                  </a:tcPr>
                </a:tc>
                <a:tc>
                  <a:txBody>
                    <a:bodyPr/>
                    <a:lstStyle/>
                    <a:p>
                      <a:r>
                        <a:rPr sz="1400" b="1">
                          <a:solidFill>
                            <a:srgbClr val="22D3EE"/>
                          </a:solidFill>
                          <a:latin typeface="Segoe UI"/>
                        </a:rPr>
                        <a:t>zaxira_koef</a:t>
                      </a:r>
                    </a:p>
                  </a:txBody>
                  <a:tcPr>
                    <a:solidFill>
                      <a:srgbClr val="1C2755"/>
                    </a:solidFill>
                  </a:tcPr>
                </a:tc>
                <a:tc>
                  <a:txBody>
                    <a:bodyPr/>
                    <a:lstStyle/>
                    <a:p>
                      <a:r>
                        <a:rPr sz="1400" b="1">
                          <a:solidFill>
                            <a:srgbClr val="22D3EE"/>
                          </a:solidFill>
                          <a:latin typeface="Segoe UI"/>
                        </a:rPr>
                        <a:t>dekod_yetarli</a:t>
                      </a:r>
                    </a:p>
                  </a:txBody>
                  <a:tcPr>
                    <a:solidFill>
                      <a:srgbClr val="1C2755"/>
                    </a:solidFill>
                  </a:tcPr>
                </a:tc>
                <a:tc>
                  <a:txBody>
                    <a:bodyPr/>
                    <a:lstStyle/>
                    <a:p>
                      <a:r>
                        <a:rPr sz="1400" b="1">
                          <a:solidFill>
                            <a:srgbClr val="22D3EE"/>
                          </a:solidFill>
                          <a:latin typeface="Segoe UI"/>
                        </a:rPr>
                        <a:t>inferens_Vt</a:t>
                      </a:r>
                    </a:p>
                  </a:txBody>
                  <a:tcPr>
                    <a:solidFill>
                      <a:srgbClr val="1C2755"/>
                    </a:solidFill>
                  </a:tcPr>
                </a:tc>
              </a:tr>
              <a:tr h="520000">
                <a:tc>
                  <a:txBody>
                    <a:bodyPr/>
                    <a:lstStyle/>
                    <a:p>
                      <a:r>
                        <a:rPr sz="1400" b="0">
                          <a:solidFill>
                            <a:srgbClr val="E8EEFA"/>
                          </a:solidFill>
                          <a:latin typeface="Segoe UI"/>
                        </a:rPr>
                        <a:t>Jetson Orin NX 16GB</a:t>
                      </a:r>
                    </a:p>
                  </a:txBody>
                  <a:tcPr>
                    <a:solidFill>
                      <a:srgbClr val="111834"/>
                    </a:solidFill>
                  </a:tcPr>
                </a:tc>
                <a:tc>
                  <a:txBody>
                    <a:bodyPr/>
                    <a:lstStyle/>
                    <a:p>
                      <a:r>
                        <a:rPr sz="1400" b="0">
                          <a:solidFill>
                            <a:srgbClr val="E8EEFA"/>
                          </a:solidFill>
                          <a:latin typeface="Segoe UI"/>
                        </a:rPr>
                        <a:t>22,5</a:t>
                      </a:r>
                    </a:p>
                  </a:txBody>
                  <a:tcPr>
                    <a:solidFill>
                      <a:srgbClr val="111834"/>
                    </a:solidFill>
                  </a:tcPr>
                </a:tc>
                <a:tc>
                  <a:txBody>
                    <a:bodyPr/>
                    <a:lstStyle/>
                    <a:p>
                      <a:r>
                        <a:rPr sz="1400" b="0">
                          <a:solidFill>
                            <a:srgbClr val="E8EEFA"/>
                          </a:solidFill>
                          <a:latin typeface="Segoe UI"/>
                        </a:rPr>
                        <a:t>4,9</a:t>
                      </a:r>
                    </a:p>
                  </a:txBody>
                  <a:tcPr>
                    <a:solidFill>
                      <a:srgbClr val="111834"/>
                    </a:solidFill>
                  </a:tcPr>
                </a:tc>
                <a:tc>
                  <a:txBody>
                    <a:bodyPr/>
                    <a:lstStyle/>
                    <a:p>
                      <a:r>
                        <a:rPr sz="1400" b="0">
                          <a:solidFill>
                            <a:srgbClr val="E8EEFA"/>
                          </a:solidFill>
                          <a:latin typeface="Segoe UI"/>
                        </a:rPr>
                        <a:t>True</a:t>
                      </a:r>
                    </a:p>
                  </a:txBody>
                  <a:tcPr>
                    <a:solidFill>
                      <a:srgbClr val="111834"/>
                    </a:solidFill>
                  </a:tcPr>
                </a:tc>
                <a:tc>
                  <a:txBody>
                    <a:bodyPr/>
                    <a:lstStyle/>
                    <a:p>
                      <a:r>
                        <a:rPr sz="1400" b="0">
                          <a:solidFill>
                            <a:srgbClr val="E8EEFA"/>
                          </a:solidFill>
                          <a:latin typeface="Segoe UI"/>
                        </a:rPr>
                        <a:t>0,032</a:t>
                      </a:r>
                    </a:p>
                  </a:txBody>
                  <a:tcPr>
                    <a:solidFill>
                      <a:srgbClr val="111834"/>
                    </a:solidFill>
                  </a:tcPr>
                </a:tc>
              </a:tr>
              <a:tr h="520000">
                <a:tc>
                  <a:txBody>
                    <a:bodyPr/>
                    <a:lstStyle/>
                    <a:p>
                      <a:r>
                        <a:rPr sz="1400" b="0">
                          <a:solidFill>
                            <a:srgbClr val="E8EEFA"/>
                          </a:solidFill>
                          <a:latin typeface="Segoe UI"/>
                        </a:rPr>
                        <a:t>Jetson AGX Orin 64GB</a:t>
                      </a:r>
                    </a:p>
                  </a:txBody>
                  <a:tcPr>
                    <a:solidFill>
                      <a:srgbClr val="161F40"/>
                    </a:solidFill>
                  </a:tcPr>
                </a:tc>
                <a:tc>
                  <a:txBody>
                    <a:bodyPr/>
                    <a:lstStyle/>
                    <a:p>
                      <a:r>
                        <a:rPr sz="1400" b="0">
                          <a:solidFill>
                            <a:srgbClr val="E8EEFA"/>
                          </a:solidFill>
                          <a:latin typeface="Segoe UI"/>
                        </a:rPr>
                        <a:t>62,1</a:t>
                      </a:r>
                    </a:p>
                  </a:txBody>
                  <a:tcPr>
                    <a:solidFill>
                      <a:srgbClr val="161F40"/>
                    </a:solidFill>
                  </a:tcPr>
                </a:tc>
                <a:tc>
                  <a:txBody>
                    <a:bodyPr/>
                    <a:lstStyle/>
                    <a:p>
                      <a:r>
                        <a:rPr sz="1400" b="0">
                          <a:solidFill>
                            <a:srgbClr val="E8EEFA"/>
                          </a:solidFill>
                          <a:latin typeface="Segoe UI"/>
                        </a:rPr>
                        <a:t>13,6</a:t>
                      </a:r>
                    </a:p>
                  </a:txBody>
                  <a:tcPr>
                    <a:solidFill>
                      <a:srgbClr val="161F40"/>
                    </a:solidFill>
                  </a:tcPr>
                </a:tc>
                <a:tc>
                  <a:txBody>
                    <a:bodyPr/>
                    <a:lstStyle/>
                    <a:p>
                      <a:r>
                        <a:rPr sz="1400" b="0">
                          <a:solidFill>
                            <a:srgbClr val="E8EEFA"/>
                          </a:solidFill>
                          <a:latin typeface="Segoe UI"/>
                        </a:rPr>
                        <a:t>True</a:t>
                      </a:r>
                    </a:p>
                  </a:txBody>
                  <a:tcPr>
                    <a:solidFill>
                      <a:srgbClr val="161F40"/>
                    </a:solidFill>
                  </a:tcPr>
                </a:tc>
                <a:tc>
                  <a:txBody>
                    <a:bodyPr/>
                    <a:lstStyle/>
                    <a:p>
                      <a:r>
                        <a:rPr sz="1400" b="0">
                          <a:solidFill>
                            <a:srgbClr val="E8EEFA"/>
                          </a:solidFill>
                          <a:latin typeface="Segoe UI"/>
                        </a:rPr>
                        <a:t>0,028</a:t>
                      </a:r>
                    </a:p>
                  </a:txBody>
                  <a:tcPr>
                    <a:solidFill>
                      <a:srgbClr val="161F40"/>
                    </a:solidFill>
                  </a:tcPr>
                </a:tc>
              </a:tr>
              <a:tr h="520000">
                <a:tc>
                  <a:txBody>
                    <a:bodyPr/>
                    <a:lstStyle/>
                    <a:p>
                      <a:r>
                        <a:rPr sz="1400" b="0">
                          <a:solidFill>
                            <a:srgbClr val="E8EEFA"/>
                          </a:solidFill>
                          <a:latin typeface="Segoe UI"/>
                        </a:rPr>
                        <a:t>A100 PCIe 80GB</a:t>
                      </a:r>
                    </a:p>
                  </a:txBody>
                  <a:tcPr>
                    <a:solidFill>
                      <a:srgbClr val="111834"/>
                    </a:solidFill>
                  </a:tcPr>
                </a:tc>
                <a:tc>
                  <a:txBody>
                    <a:bodyPr/>
                    <a:lstStyle/>
                    <a:p>
                      <a:r>
                        <a:rPr sz="1400" b="0">
                          <a:solidFill>
                            <a:srgbClr val="E8EEFA"/>
                          </a:solidFill>
                          <a:latin typeface="Segoe UI"/>
                        </a:rPr>
                        <a:t>312</a:t>
                      </a:r>
                    </a:p>
                  </a:txBody>
                  <a:tcPr>
                    <a:solidFill>
                      <a:srgbClr val="111834"/>
                    </a:solidFill>
                  </a:tcPr>
                </a:tc>
                <a:tc>
                  <a:txBody>
                    <a:bodyPr/>
                    <a:lstStyle/>
                    <a:p>
                      <a:r>
                        <a:rPr sz="1400" b="0">
                          <a:solidFill>
                            <a:srgbClr val="E8EEFA"/>
                          </a:solidFill>
                          <a:latin typeface="Segoe UI"/>
                        </a:rPr>
                        <a:t>68</a:t>
                      </a:r>
                    </a:p>
                  </a:txBody>
                  <a:tcPr>
                    <a:solidFill>
                      <a:srgbClr val="111834"/>
                    </a:solidFill>
                  </a:tcPr>
                </a:tc>
                <a:tc>
                  <a:txBody>
                    <a:bodyPr/>
                    <a:lstStyle/>
                    <a:p>
                      <a:r>
                        <a:rPr sz="1400" b="0">
                          <a:solidFill>
                            <a:srgbClr val="E8EEFA"/>
                          </a:solidFill>
                          <a:latin typeface="Segoe UI"/>
                        </a:rPr>
                        <a:t>True</a:t>
                      </a:r>
                    </a:p>
                  </a:txBody>
                  <a:tcPr>
                    <a:solidFill>
                      <a:srgbClr val="111834"/>
                    </a:solidFill>
                  </a:tcPr>
                </a:tc>
                <a:tc>
                  <a:txBody>
                    <a:bodyPr/>
                    <a:lstStyle/>
                    <a:p>
                      <a:r>
                        <a:rPr sz="1400" b="0">
                          <a:solidFill>
                            <a:srgbClr val="E8EEFA"/>
                          </a:solidFill>
                          <a:latin typeface="Segoe UI"/>
                        </a:rPr>
                        <a:t>0,027</a:t>
                      </a:r>
                    </a:p>
                  </a:txBody>
                  <a:tcPr>
                    <a:solidFill>
                      <a:srgbClr val="111834"/>
                    </a:solidFill>
                  </a:tcPr>
                </a:tc>
              </a:tr>
              <a:tr h="520000">
                <a:tc>
                  <a:txBody>
                    <a:bodyPr/>
                    <a:lstStyle/>
                    <a:p>
                      <a:r>
                        <a:rPr sz="1400" b="0">
                          <a:solidFill>
                            <a:srgbClr val="E8EEFA"/>
                          </a:solidFill>
                          <a:latin typeface="Segoe UI"/>
                        </a:rPr>
                        <a:t>Coral Edge TPU M.2</a:t>
                      </a:r>
                    </a:p>
                  </a:txBody>
                  <a:tcPr>
                    <a:solidFill>
                      <a:srgbClr val="161F40"/>
                    </a:solidFill>
                  </a:tcPr>
                </a:tc>
                <a:tc>
                  <a:txBody>
                    <a:bodyPr/>
                    <a:lstStyle/>
                    <a:p>
                      <a:r>
                        <a:rPr sz="1400" b="0">
                          <a:solidFill>
                            <a:srgbClr val="E8EEFA"/>
                          </a:solidFill>
                          <a:latin typeface="Segoe UI"/>
                        </a:rPr>
                        <a:t>2,0</a:t>
                      </a:r>
                    </a:p>
                  </a:txBody>
                  <a:tcPr>
                    <a:solidFill>
                      <a:srgbClr val="161F40"/>
                    </a:solidFill>
                  </a:tcPr>
                </a:tc>
                <a:tc>
                  <a:txBody>
                    <a:bodyPr/>
                    <a:lstStyle/>
                    <a:p>
                      <a:r>
                        <a:rPr sz="1400" b="0">
                          <a:solidFill>
                            <a:srgbClr val="E8EEFA"/>
                          </a:solidFill>
                          <a:latin typeface="Segoe UI"/>
                        </a:rPr>
                        <a:t>0,44</a:t>
                      </a:r>
                    </a:p>
                  </a:txBody>
                  <a:tcPr>
                    <a:solidFill>
                      <a:srgbClr val="161F40"/>
                    </a:solidFill>
                  </a:tcPr>
                </a:tc>
                <a:tc>
                  <a:txBody>
                    <a:bodyPr/>
                    <a:lstStyle/>
                    <a:p>
                      <a:r>
                        <a:rPr sz="1400" b="0">
                          <a:solidFill>
                            <a:srgbClr val="E8EEFA"/>
                          </a:solidFill>
                          <a:latin typeface="Segoe UI"/>
                        </a:rPr>
                        <a:t>False</a:t>
                      </a:r>
                    </a:p>
                  </a:txBody>
                  <a:tcPr>
                    <a:solidFill>
                      <a:srgbClr val="161F40"/>
                    </a:solidFill>
                  </a:tcPr>
                </a:tc>
                <a:tc>
                  <a:txBody>
                    <a:bodyPr/>
                    <a:lstStyle/>
                    <a:p>
                      <a:r>
                        <a:rPr sz="1400" b="0">
                          <a:solidFill>
                            <a:srgbClr val="E8EEFA"/>
                          </a:solidFill>
                          <a:latin typeface="Segoe UI"/>
                        </a:rPr>
                        <a:t>0,029</a:t>
                      </a:r>
                    </a:p>
                  </a:txBody>
                  <a:tcPr>
                    <a:solidFill>
                      <a:srgbClr val="161F40"/>
                    </a:solidFill>
                  </a:tcPr>
                </a:tc>
              </a:tr>
              <a:tr h="520000">
                <a:tc>
                  <a:txBody>
                    <a:bodyPr/>
                    <a:lstStyle/>
                    <a:p>
                      <a:r>
                        <a:rPr sz="1400" b="0">
                          <a:solidFill>
                            <a:srgbClr val="E8EEFA"/>
                          </a:solidFill>
                          <a:latin typeface="Segoe UI"/>
                        </a:rPr>
                        <a:t>x86 CPU 8 yadro</a:t>
                      </a:r>
                    </a:p>
                  </a:txBody>
                  <a:tcPr>
                    <a:solidFill>
                      <a:srgbClr val="111834"/>
                    </a:solidFill>
                  </a:tcPr>
                </a:tc>
                <a:tc>
                  <a:txBody>
                    <a:bodyPr/>
                    <a:lstStyle/>
                    <a:p>
                      <a:r>
                        <a:rPr sz="1400" b="0">
                          <a:solidFill>
                            <a:srgbClr val="E8EEFA"/>
                          </a:solidFill>
                          <a:latin typeface="Segoe UI"/>
                        </a:rPr>
                        <a:t>1,5</a:t>
                      </a:r>
                    </a:p>
                  </a:txBody>
                  <a:tcPr>
                    <a:solidFill>
                      <a:srgbClr val="111834"/>
                    </a:solidFill>
                  </a:tcPr>
                </a:tc>
                <a:tc>
                  <a:txBody>
                    <a:bodyPr/>
                    <a:lstStyle/>
                    <a:p>
                      <a:r>
                        <a:rPr sz="1400" b="0">
                          <a:solidFill>
                            <a:srgbClr val="E8EEFA"/>
                          </a:solidFill>
                          <a:latin typeface="Segoe UI"/>
                        </a:rPr>
                        <a:t>0,33</a:t>
                      </a:r>
                    </a:p>
                  </a:txBody>
                  <a:tcPr>
                    <a:solidFill>
                      <a:srgbClr val="111834"/>
                    </a:solidFill>
                  </a:tcPr>
                </a:tc>
                <a:tc>
                  <a:txBody>
                    <a:bodyPr/>
                    <a:lstStyle/>
                    <a:p>
                      <a:r>
                        <a:rPr sz="1400" b="0">
                          <a:solidFill>
                            <a:srgbClr val="E8EEFA"/>
                          </a:solidFill>
                          <a:latin typeface="Segoe UI"/>
                        </a:rPr>
                        <a:t>False</a:t>
                      </a:r>
                    </a:p>
                  </a:txBody>
                  <a:tcPr>
                    <a:solidFill>
                      <a:srgbClr val="111834"/>
                    </a:solidFill>
                  </a:tcPr>
                </a:tc>
                <a:tc>
                  <a:txBody>
                    <a:bodyPr/>
                    <a:lstStyle/>
                    <a:p>
                      <a:r>
                        <a:rPr sz="1400" b="0">
                          <a:solidFill>
                            <a:srgbClr val="E8EEFA"/>
                          </a:solidFill>
                          <a:latin typeface="Segoe UI"/>
                        </a:rPr>
                        <a:t>1,24</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6" dur="8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6" name="TextBox 15"/>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3-qadam. Platformalarni samaradorlik koeffitsiyenti bilan baholash — kod</a:t>
            </a:r>
          </a:p>
        </p:txBody>
      </p:sp>
      <p:sp>
        <p:nvSpPr>
          <p:cNvPr id="17" name="Rectangle 16"/>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19" name="Rounded Rectangle 18"/>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33</a:t>
            </a:r>
          </a:p>
        </p:txBody>
      </p:sp>
      <p:sp>
        <p:nvSpPr>
          <p:cNvPr id="20" name="Rounded Rectangle 19"/>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0000" y="1700000"/>
            <a:ext cx="10700000" cy="4500000"/>
          </a:xfrm>
          <a:prstGeom prst="rect">
            <a:avLst/>
          </a:prstGeom>
          <a:noFill/>
        </p:spPr>
        <p:txBody>
          <a:bodyPr wrap="square">
            <a:spAutoFit/>
          </a:bodyPr>
          <a:lstStyle/>
          <a:p>
            <a:r>
              <a:rPr sz="1000">
                <a:solidFill>
                  <a:srgbClr val="6EE7B7"/>
                </a:solidFill>
                <a:latin typeface="Consolas"/>
              </a:rPr>
              <a:t># platforma_tanlash.py</a:t>
            </a:r>
          </a:p>
          <a:p>
            <a:r>
              <a:rPr sz="1000">
                <a:solidFill>
                  <a:srgbClr val="DBE4F5"/>
                </a:solidFill>
                <a:latin typeface="Consolas"/>
              </a:rPr>
              <a:t>import pandas as pd</a:t>
            </a:r>
          </a:p>
          <a:p>
            <a:r>
              <a:rPr sz="1000">
                <a:solidFill>
                  <a:srgbClr val="DBE4F5"/>
                </a:solidFill>
                <a:latin typeface="Consolas"/>
              </a:rPr>
              <a:t> </a:t>
            </a:r>
          </a:p>
          <a:p>
            <a:r>
              <a:rPr sz="1000">
                <a:solidFill>
                  <a:srgbClr val="DBE4F5"/>
                </a:solidFill>
                <a:latin typeface="Consolas"/>
              </a:rPr>
              <a:t>platformalar = pd.DataFrame([</a:t>
            </a:r>
          </a:p>
          <a:p>
            <a:r>
              <a:rPr sz="1000">
                <a:solidFill>
                  <a:srgbClr val="6EE7B7"/>
                </a:solidFill>
                <a:latin typeface="Consolas"/>
              </a:rPr>
              <a:t>    # nom, cho'qqi INT8 dense TOPS, taxminiy samaradorlik, quvvat Vt, narx $, NVDEC oqim 1080p30</a:t>
            </a:r>
          </a:p>
          <a:p>
            <a:r>
              <a:rPr sz="1000">
                <a:solidFill>
                  <a:srgbClr val="DBE4F5"/>
                </a:solidFill>
                <a:latin typeface="Consolas"/>
              </a:rPr>
              <a:t>    ("Jetson Orin NX 16GB", 50,  0.45, 25,  650,  7),</a:t>
            </a:r>
          </a:p>
          <a:p>
            <a:r>
              <a:rPr sz="1000">
                <a:solidFill>
                  <a:srgbClr val="DBE4F5"/>
                </a:solidFill>
                <a:latin typeface="Consolas"/>
              </a:rPr>
              <a:t>    ("Jetson AGX Orin 64GB", 138, 0.45, 60,  2000, 14),</a:t>
            </a:r>
          </a:p>
          <a:p>
            <a:r>
              <a:rPr sz="1000">
                <a:solidFill>
                  <a:srgbClr val="DBE4F5"/>
                </a:solidFill>
                <a:latin typeface="Consolas"/>
              </a:rPr>
              <a:t>    ("A100 PCIe 80GB",      624, 0.50, 300, 10000, 10),</a:t>
            </a:r>
          </a:p>
          <a:p>
            <a:r>
              <a:rPr sz="1000">
                <a:solidFill>
                  <a:srgbClr val="DBE4F5"/>
                </a:solidFill>
                <a:latin typeface="Consolas"/>
              </a:rPr>
              <a:t>    ("Coral Edge TPU M.2",  4,   0.50, 2,   80,   0),</a:t>
            </a:r>
          </a:p>
          <a:p>
            <a:r>
              <a:rPr sz="1000">
                <a:solidFill>
                  <a:srgbClr val="DBE4F5"/>
                </a:solidFill>
                <a:latin typeface="Consolas"/>
              </a:rPr>
              <a:t>    ("x86 CPU 8 yadro (AVX-512)", 2.5, 0.60, 65, 400, 0),</a:t>
            </a:r>
          </a:p>
          <a:p>
            <a:r>
              <a:rPr sz="1000">
                <a:solidFill>
                  <a:srgbClr val="DBE4F5"/>
                </a:solidFill>
                <a:latin typeface="Consolas"/>
              </a:rPr>
              <a:t>], columns=["nom", "tops_peak", "eff", "vt", "narx", "nvdec_1080p30"])</a:t>
            </a:r>
          </a:p>
          <a:p>
            <a:r>
              <a:rPr sz="1000">
                <a:solidFill>
                  <a:srgbClr val="DBE4F5"/>
                </a:solidFill>
                <a:latin typeface="Consolas"/>
              </a:rPr>
              <a:t> </a:t>
            </a:r>
          </a:p>
          <a:p>
            <a:r>
              <a:rPr sz="1000">
                <a:solidFill>
                  <a:srgbClr val="DBE4F5"/>
                </a:solidFill>
                <a:latin typeface="Consolas"/>
              </a:rPr>
              <a:t>platformalar["tops_real"] = platformalar.tops_peak * platformalar.eff</a:t>
            </a:r>
          </a:p>
          <a:p>
            <a:r>
              <a:rPr sz="1000">
                <a:solidFill>
                  <a:srgbClr val="DBE4F5"/>
                </a:solidFill>
                <a:latin typeface="Consolas"/>
              </a:rPr>
              <a:t> </a:t>
            </a:r>
          </a:p>
          <a:p>
            <a:r>
              <a:rPr sz="1000">
                <a:solidFill>
                  <a:srgbClr val="DBE4F5"/>
                </a:solidFill>
                <a:latin typeface="Consolas"/>
              </a:rPr>
              <a:t>yuklama = pd.read_csv("yuklama.csv")</a:t>
            </a:r>
          </a:p>
          <a:p>
            <a:r>
              <a:rPr sz="1000">
                <a:solidFill>
                  <a:srgbClr val="DBE4F5"/>
                </a:solidFill>
                <a:latin typeface="Consolas"/>
              </a:rPr>
              <a:t>talab = yuklama[(yuklama.model == "yolov8s.pt") &amp; (yuklama.imgsz == 640)].TFLOP_s_talab.iloc[0]</a:t>
            </a:r>
          </a:p>
          <a:p>
            <a:r>
              <a:rPr sz="1000">
                <a:solidFill>
                  <a:srgbClr val="6EE7B7"/>
                </a:solidFill>
                <a:latin typeface="Consolas"/>
              </a:rPr>
              <a:t># INT8 TOPS ≈ FLOP/s ekvivalenti sifatida qabul qilamiz (soddalashtirish)</a:t>
            </a:r>
          </a:p>
          <a:p>
            <a:r>
              <a:rPr sz="1000">
                <a:solidFill>
                  <a:srgbClr val="DBE4F5"/>
                </a:solidFill>
                <a:latin typeface="Consolas"/>
              </a:rPr>
              <a:t>platformalar["zaxira_koef"] = (platformalar.tops_real / talab).round(2)</a:t>
            </a:r>
          </a:p>
          <a:p>
            <a:r>
              <a:rPr sz="1000">
                <a:solidFill>
                  <a:srgbClr val="DBE4F5"/>
                </a:solidFill>
                <a:latin typeface="Consolas"/>
              </a:rPr>
              <a:t>platformalar["dekod_yetarli"] = platformalar.nvdec_1080p30 * 3 &gt;= 16  # 1080p10 =&gt; 3 oqim 1080p30 o'rniga</a:t>
            </a:r>
          </a:p>
          <a:p>
            <a:r>
              <a:rPr sz="1000">
                <a:solidFill>
                  <a:srgbClr val="DBE4F5"/>
                </a:solidFill>
                <a:latin typeface="Consolas"/>
              </a:rPr>
              <a:t>platformalar["inferens_Vt"] = (platformalar.vt / (platformalar.tops_real * 1e3 / 28.6)).round(3)</a:t>
            </a:r>
          </a:p>
          <a:p>
            <a:r>
              <a:rPr sz="1000">
                <a:solidFill>
                  <a:srgbClr val="6EE7B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6"/>
                                        </p:tgtEl>
                                        <p:attrNameLst>
                                          <p:attrName>style.visibility</p:attrName>
                                        </p:attrNameLst>
                                      </p:cBhvr>
                                      <p:to>
                                        <p:strVal val="visible"/>
                                      </p:to>
                                    </p:set>
                                    <p:animEffect transition="in" filter="fade">
                                      <p:cBhvr>
                                        <p:cTn id="6" dur="550"/>
                                        <p:tgtEl>
                                          <p:spTgt spid="16"/>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1" dur="800"/>
                                        <p:tgtEl>
                                          <p:spTgt spid="17"/>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50"/>
                                        <p:tgtEl>
                                          <p:spTgt spid="20"/>
                                        </p:tgtEl>
                                      </p:cBhvr>
                                    </p:animEffect>
                                    <p:anim calcmode="lin" valueType="num">
                                      <p:cBhvr additive="base">
                                        <p:cTn id="16" dur="550" fill="hold"/>
                                        <p:tgtEl>
                                          <p:spTgt spid="20"/>
                                        </p:tgtEl>
                                        <p:attrNameLst>
                                          <p:attrName>ppt_w</p:attrName>
                                        </p:attrNameLst>
                                      </p:cBhvr>
                                      <p:tavLst>
                                        <p:tav tm="0">
                                          <p:val>
                                            <p:strVal val="0"/>
                                          </p:val>
                                        </p:tav>
                                        <p:tav tm="100000">
                                          <p:val>
                                            <p:strVal val="#ppt_w"/>
                                          </p:val>
                                        </p:tav>
                                      </p:tavLst>
                                    </p:anim>
                                    <p:anim calcmode="lin" valueType="num">
                                      <p:cBhvr additive="base">
                                        <p:cTn id="17" dur="550" fill="hold"/>
                                        <p:tgtEl>
                                          <p:spTgt spid="20"/>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50"/>
                                        <p:tgtEl>
                                          <p:spTgt spid="21"/>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50"/>
                                        <p:tgtEl>
                                          <p:spTgt spid="22"/>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50"/>
                                        <p:tgtEl>
                                          <p:spTgt spid="23"/>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ipe(left)">
                                      <p:cBhvr>
                                        <p:cTn id="34" dur="8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0" grpId="0" animBg="1"/>
      <p:bldP spid="21" grpId="0" animBg="1"/>
      <p:bldP spid="22" grpId="0" animBg="1"/>
      <p:bldP spid="23" grpId="0" animBg="1"/>
      <p:bldP spid="2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4-qadam. Strukturaviy sxemani matnda tavsiflash</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34</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7522695264632dda.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Jguarin · Wikimedia Commons · CC BY-SA 4.0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2552104"/>
            <a:ext cx="6750000" cy="247579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2632104"/>
            <a:ext cx="50000" cy="23157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3" name="TextBox 32"/>
          <p:cNvSpPr txBox="1"/>
          <p:nvPr/>
        </p:nvSpPr>
        <p:spPr>
          <a:xfrm>
            <a:off x="1300000" y="2592104"/>
            <a:ext cx="5900000" cy="2395792"/>
          </a:xfrm>
          <a:prstGeom prst="rect">
            <a:avLst/>
          </a:prstGeom>
          <a:noFill/>
        </p:spPr>
        <p:txBody>
          <a:bodyPr wrap="square" anchor="ctr">
            <a:spAutoFit/>
          </a:bodyPr>
          <a:lstStyle/>
          <a:p>
            <a:r>
              <a:rPr sz="1700" b="1">
                <a:solidFill>
                  <a:srgbClr val="E8EEFA"/>
                </a:solidFill>
                <a:latin typeface="Segoe UI"/>
              </a:rPr>
              <a:t>Nima bo'ldi va nega.</a:t>
            </a:r>
          </a:p>
          <a:p>
            <a:pPr>
              <a:spcBef>
                <a:spcPts val="400"/>
              </a:spcBef>
            </a:pPr>
            <a:r>
              <a:rPr sz="1600">
                <a:solidFill>
                  <a:srgbClr val="AEBBD9"/>
                </a:solidFill>
                <a:latin typeface="Segoe UI"/>
              </a:rPr>
              <a:t>Sxema har bir qadamda «ma'lumot qayerda yotadi» savoliga javob beradi. Jetson'da NVDEC chiqishi to'g'ridan-to'g'ri GPU xotirasida qolishi (nol nusxalash, zero-copy) CPU–GPU ko'chirishlarini olib tashlaydi — bu Co-design'ning amaliy ko'rinishi: apparat imkoniyati (umumiy xotira) dasturiy yechimni (DeepStream yoki VPI quvuri) belgilaydi.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4-qadam. Strukturaviy sxemani matnda tavsiflash</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35</a:t>
            </a:r>
          </a:p>
        </p:txBody>
      </p:sp>
      <p:graphicFrame>
        <p:nvGraphicFramePr>
          <p:cNvPr id="26" name="Table 25"/>
          <p:cNvGraphicFramePr>
            <a:graphicFrameLocks noGrp="1"/>
          </p:cNvGraphicFramePr>
          <p:nvPr/>
        </p:nvGraphicFramePr>
        <p:xfrm>
          <a:off x="550000" y="1400000"/>
          <a:ext cx="11100000" cy="364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400" b="1">
                          <a:solidFill>
                            <a:srgbClr val="22D3EE"/>
                          </a:solidFill>
                          <a:latin typeface="Segoe UI"/>
                        </a:rPr>
                        <a:t>Interfeys</a:t>
                      </a:r>
                    </a:p>
                  </a:txBody>
                  <a:tcPr>
                    <a:solidFill>
                      <a:srgbClr val="1C2755"/>
                    </a:solidFill>
                  </a:tcPr>
                </a:tc>
                <a:tc>
                  <a:txBody>
                    <a:bodyPr/>
                    <a:lstStyle/>
                    <a:p>
                      <a:r>
                        <a:rPr sz="1400" b="1">
                          <a:solidFill>
                            <a:srgbClr val="22D3EE"/>
                          </a:solidFill>
                          <a:latin typeface="Segoe UI"/>
                        </a:rPr>
                        <a:t>Protokol/vosita</a:t>
                      </a:r>
                    </a:p>
                  </a:txBody>
                  <a:tcPr>
                    <a:solidFill>
                      <a:srgbClr val="1C2755"/>
                    </a:solidFill>
                  </a:tcPr>
                </a:tc>
                <a:tc>
                  <a:txBody>
                    <a:bodyPr/>
                    <a:lstStyle/>
                    <a:p>
                      <a:r>
                        <a:rPr sz="1400" b="1">
                          <a:solidFill>
                            <a:srgbClr val="22D3EE"/>
                          </a:solidFill>
                          <a:latin typeface="Segoe UI"/>
                        </a:rPr>
                        <a:t>O'tkazuvchanlik</a:t>
                      </a:r>
                    </a:p>
                  </a:txBody>
                  <a:tcPr>
                    <a:solidFill>
                      <a:srgbClr val="1C2755"/>
                    </a:solidFill>
                  </a:tcPr>
                </a:tc>
                <a:tc>
                  <a:txBody>
                    <a:bodyPr/>
                    <a:lstStyle/>
                    <a:p>
                      <a:r>
                        <a:rPr sz="1400" b="1">
                          <a:solidFill>
                            <a:srgbClr val="22D3EE"/>
                          </a:solidFill>
                          <a:latin typeface="Segoe UI"/>
                        </a:rPr>
                        <a:t>Kechikish byudjeti</a:t>
                      </a:r>
                    </a:p>
                  </a:txBody>
                  <a:tcPr>
                    <a:solidFill>
                      <a:srgbClr val="1C2755"/>
                    </a:solidFill>
                  </a:tcPr>
                </a:tc>
              </a:tr>
              <a:tr h="520000">
                <a:tc>
                  <a:txBody>
                    <a:bodyPr/>
                    <a:lstStyle/>
                    <a:p>
                      <a:r>
                        <a:rPr sz="1400" b="0">
                          <a:solidFill>
                            <a:srgbClr val="E8EEFA"/>
                          </a:solidFill>
                          <a:latin typeface="Segoe UI"/>
                        </a:rPr>
                        <a:t>Kamera → Jetson</a:t>
                      </a:r>
                    </a:p>
                  </a:txBody>
                  <a:tcPr>
                    <a:solidFill>
                      <a:srgbClr val="111834"/>
                    </a:solidFill>
                  </a:tcPr>
                </a:tc>
                <a:tc>
                  <a:txBody>
                    <a:bodyPr/>
                    <a:lstStyle/>
                    <a:p>
                      <a:r>
                        <a:rPr sz="1400" b="0">
                          <a:solidFill>
                            <a:srgbClr val="E8EEFA"/>
                          </a:solidFill>
                          <a:latin typeface="Segoe UI"/>
                        </a:rPr>
                        <a:t>RTSP/H.264</a:t>
                      </a:r>
                    </a:p>
                  </a:txBody>
                  <a:tcPr>
                    <a:solidFill>
                      <a:srgbClr val="111834"/>
                    </a:solidFill>
                  </a:tcPr>
                </a:tc>
                <a:tc>
                  <a:txBody>
                    <a:bodyPr/>
                    <a:lstStyle/>
                    <a:p>
                      <a:r>
                        <a:rPr sz="1400" b="0">
                          <a:solidFill>
                            <a:srgbClr val="E8EEFA"/>
                          </a:solidFill>
                          <a:latin typeface="Segoe UI"/>
                        </a:rPr>
                        <a:t>16 × ~4 Mbit/s = 64 Mbit/s</a:t>
                      </a:r>
                    </a:p>
                  </a:txBody>
                  <a:tcPr>
                    <a:solidFill>
                      <a:srgbClr val="111834"/>
                    </a:solidFill>
                  </a:tcPr>
                </a:tc>
                <a:tc>
                  <a:txBody>
                    <a:bodyPr/>
                    <a:lstStyle/>
                    <a:p>
                      <a:r>
                        <a:rPr sz="1400" b="0">
                          <a:solidFill>
                            <a:srgbClr val="E8EEFA"/>
                          </a:solidFill>
                          <a:latin typeface="Segoe UI"/>
                        </a:rPr>
                        <a:t>30 ms</a:t>
                      </a:r>
                    </a:p>
                  </a:txBody>
                  <a:tcPr>
                    <a:solidFill>
                      <a:srgbClr val="111834"/>
                    </a:solidFill>
                  </a:tcPr>
                </a:tc>
              </a:tr>
              <a:tr h="520000">
                <a:tc>
                  <a:txBody>
                    <a:bodyPr/>
                    <a:lstStyle/>
                    <a:p>
                      <a:r>
                        <a:rPr sz="1400" b="0">
                          <a:solidFill>
                            <a:srgbClr val="E8EEFA"/>
                          </a:solidFill>
                          <a:latin typeface="Segoe UI"/>
                        </a:rPr>
                        <a:t>Dekoder → oldindan ishlov</a:t>
                      </a:r>
                    </a:p>
                  </a:txBody>
                  <a:tcPr>
                    <a:solidFill>
                      <a:srgbClr val="161F40"/>
                    </a:solidFill>
                  </a:tcPr>
                </a:tc>
                <a:tc>
                  <a:txBody>
                    <a:bodyPr/>
                    <a:lstStyle/>
                    <a:p>
                      <a:r>
                        <a:rPr sz="1400" b="0">
                          <a:solidFill>
                            <a:srgbClr val="E8EEFA"/>
                          </a:solidFill>
                          <a:latin typeface="Segoe UI"/>
                        </a:rPr>
                        <a:t>NVMM (GPU xotira)</a:t>
                      </a:r>
                    </a:p>
                  </a:txBody>
                  <a:tcPr>
                    <a:solidFill>
                      <a:srgbClr val="161F40"/>
                    </a:solidFill>
                  </a:tcPr>
                </a:tc>
                <a:tc>
                  <a:txBody>
                    <a:bodyPr/>
                    <a:lstStyle/>
                    <a:p>
                      <a:r>
                        <a:rPr sz="1400" b="0">
                          <a:solidFill>
                            <a:srgbClr val="E8EEFA"/>
                          </a:solidFill>
                          <a:latin typeface="Segoe UI"/>
                        </a:rPr>
                        <a:t>16 × 10 kadr × 6 MB</a:t>
                      </a:r>
                    </a:p>
                  </a:txBody>
                  <a:tcPr>
                    <a:solidFill>
                      <a:srgbClr val="161F40"/>
                    </a:solidFill>
                  </a:tcPr>
                </a:tc>
                <a:tc>
                  <a:txBody>
                    <a:bodyPr/>
                    <a:lstStyle/>
                    <a:p>
                      <a:r>
                        <a:rPr sz="1400" b="0">
                          <a:solidFill>
                            <a:srgbClr val="E8EEFA"/>
                          </a:solidFill>
                          <a:latin typeface="Segoe UI"/>
                        </a:rPr>
                        <a:t>5 ms</a:t>
                      </a:r>
                    </a:p>
                  </a:txBody>
                  <a:tcPr>
                    <a:solidFill>
                      <a:srgbClr val="161F40"/>
                    </a:solidFill>
                  </a:tcPr>
                </a:tc>
              </a:tr>
              <a:tr h="520000">
                <a:tc>
                  <a:txBody>
                    <a:bodyPr/>
                    <a:lstStyle/>
                    <a:p>
                      <a:r>
                        <a:rPr sz="1400" b="0">
                          <a:solidFill>
                            <a:srgbClr val="E8EEFA"/>
                          </a:solidFill>
                          <a:latin typeface="Segoe UI"/>
                        </a:rPr>
                        <a:t>Oldindan ishlov → TensorRT</a:t>
                      </a:r>
                    </a:p>
                  </a:txBody>
                  <a:tcPr>
                    <a:solidFill>
                      <a:srgbClr val="111834"/>
                    </a:solidFill>
                  </a:tcPr>
                </a:tc>
                <a:tc>
                  <a:txBody>
                    <a:bodyPr/>
                    <a:lstStyle/>
                    <a:p>
                      <a:r>
                        <a:rPr sz="1400" b="0">
                          <a:solidFill>
                            <a:srgbClr val="E8EEFA"/>
                          </a:solidFill>
                          <a:latin typeface="Segoe UI"/>
                        </a:rPr>
                        <a:t>CUDA tensor</a:t>
                      </a:r>
                    </a:p>
                  </a:txBody>
                  <a:tcPr>
                    <a:solidFill>
                      <a:srgbClr val="111834"/>
                    </a:solidFill>
                  </a:tcPr>
                </a:tc>
                <a:tc>
                  <a:txBody>
                    <a:bodyPr/>
                    <a:lstStyle/>
                    <a:p>
                      <a:r>
                        <a:rPr sz="1400" b="0">
                          <a:solidFill>
                            <a:srgbClr val="E8EEFA"/>
                          </a:solidFill>
                          <a:latin typeface="Segoe UI"/>
                        </a:rPr>
                        <a:t>160 × 2,4 MB/s</a:t>
                      </a:r>
                    </a:p>
                  </a:txBody>
                  <a:tcPr>
                    <a:solidFill>
                      <a:srgbClr val="111834"/>
                    </a:solidFill>
                  </a:tcPr>
                </a:tc>
                <a:tc>
                  <a:txBody>
                    <a:bodyPr/>
                    <a:lstStyle/>
                    <a:p>
                      <a:r>
                        <a:rPr sz="1400" b="0">
                          <a:solidFill>
                            <a:srgbClr val="E8EEFA"/>
                          </a:solidFill>
                          <a:latin typeface="Segoe UI"/>
                        </a:rPr>
                        <a:t>5 ms</a:t>
                      </a:r>
                    </a:p>
                  </a:txBody>
                  <a:tcPr>
                    <a:solidFill>
                      <a:srgbClr val="111834"/>
                    </a:solidFill>
                  </a:tcPr>
                </a:tc>
              </a:tr>
              <a:tr h="520000">
                <a:tc>
                  <a:txBody>
                    <a:bodyPr/>
                    <a:lstStyle/>
                    <a:p>
                      <a:r>
                        <a:rPr sz="1400" b="0">
                          <a:solidFill>
                            <a:srgbClr val="E8EEFA"/>
                          </a:solidFill>
                          <a:latin typeface="Segoe UI"/>
                        </a:rPr>
                        <a:t>TensorRT inferens</a:t>
                      </a:r>
                    </a:p>
                  </a:txBody>
                  <a:tcPr>
                    <a:solidFill>
                      <a:srgbClr val="161F40"/>
                    </a:solidFill>
                  </a:tcPr>
                </a:tc>
                <a:tc>
                  <a:txBody>
                    <a:bodyPr/>
                    <a:lstStyle/>
                    <a:p>
                      <a:r>
                        <a:rPr sz="1400" b="0">
                          <a:solidFill>
                            <a:srgbClr val="E8EEFA"/>
                          </a:solidFill>
                          <a:latin typeface="Segoe UI"/>
                        </a:rPr>
                        <a:t>batch 4, INT8</a:t>
                      </a:r>
                    </a:p>
                  </a:txBody>
                  <a:tcPr>
                    <a:solidFill>
                      <a:srgbClr val="161F40"/>
                    </a:solidFill>
                  </a:tcPr>
                </a:tc>
                <a:tc>
                  <a:txBody>
                    <a:bodyPr/>
                    <a:lstStyle/>
                    <a:p>
                      <a:r>
                        <a:rPr sz="1400" b="0">
                          <a:solidFill>
                            <a:srgbClr val="E8EEFA"/>
                          </a:solidFill>
                          <a:latin typeface="Segoe UI"/>
                        </a:rPr>
                        <a:t>160 inferens/s</a:t>
                      </a:r>
                    </a:p>
                  </a:txBody>
                  <a:tcPr>
                    <a:solidFill>
                      <a:srgbClr val="161F40"/>
                    </a:solidFill>
                  </a:tcPr>
                </a:tc>
                <a:tc>
                  <a:txBody>
                    <a:bodyPr/>
                    <a:lstStyle/>
                    <a:p>
                      <a:r>
                        <a:rPr sz="1400" b="0">
                          <a:solidFill>
                            <a:srgbClr val="E8EEFA"/>
                          </a:solidFill>
                          <a:latin typeface="Segoe UI"/>
                        </a:rPr>
                        <a:t>60 ms (p95)</a:t>
                      </a:r>
                    </a:p>
                  </a:txBody>
                  <a:tcPr>
                    <a:solidFill>
                      <a:srgbClr val="161F40"/>
                    </a:solidFill>
                  </a:tcPr>
                </a:tc>
              </a:tr>
              <a:tr h="520000">
                <a:tc>
                  <a:txBody>
                    <a:bodyPr/>
                    <a:lstStyle/>
                    <a:p>
                      <a:r>
                        <a:rPr sz="1400" b="0">
                          <a:solidFill>
                            <a:srgbClr val="E8EEFA"/>
                          </a:solidFill>
                          <a:latin typeface="Segoe UI"/>
                        </a:rPr>
                        <a:t>Keyingi ishlov</a:t>
                      </a:r>
                    </a:p>
                  </a:txBody>
                  <a:tcPr>
                    <a:solidFill>
                      <a:srgbClr val="111834"/>
                    </a:solidFill>
                  </a:tcPr>
                </a:tc>
                <a:tc>
                  <a:txBody>
                    <a:bodyPr/>
                    <a:lstStyle/>
                    <a:p>
                      <a:r>
                        <a:rPr sz="1400" b="0">
                          <a:solidFill>
                            <a:srgbClr val="E8EEFA"/>
                          </a:solidFill>
                          <a:latin typeface="Segoe UI"/>
                        </a:rPr>
                        <a:t>CPU</a:t>
                      </a:r>
                    </a:p>
                  </a:txBody>
                  <a:tcPr>
                    <a:solidFill>
                      <a:srgbClr val="111834"/>
                    </a:solidFill>
                  </a:tcPr>
                </a:tc>
                <a:tc>
                  <a:txBody>
                    <a:bodyPr/>
                    <a:lstStyle/>
                    <a:p>
                      <a:r>
                        <a:rPr sz="1400" b="0">
                          <a:solidFill>
                            <a:srgbClr val="E8EEFA"/>
                          </a:solidFill>
                          <a:latin typeface="Segoe UI"/>
                        </a:rPr>
                        <a:t>—</a:t>
                      </a:r>
                    </a:p>
                  </a:txBody>
                  <a:tcPr>
                    <a:solidFill>
                      <a:srgbClr val="111834"/>
                    </a:solidFill>
                  </a:tcPr>
                </a:tc>
                <a:tc>
                  <a:txBody>
                    <a:bodyPr/>
                    <a:lstStyle/>
                    <a:p>
                      <a:r>
                        <a:rPr sz="1400" b="0">
                          <a:solidFill>
                            <a:srgbClr val="E8EEFA"/>
                          </a:solidFill>
                          <a:latin typeface="Segoe UI"/>
                        </a:rPr>
                        <a:t>20 ms</a:t>
                      </a:r>
                    </a:p>
                  </a:txBody>
                  <a:tcPr>
                    <a:solidFill>
                      <a:srgbClr val="111834"/>
                    </a:solidFill>
                  </a:tcPr>
                </a:tc>
              </a:tr>
              <a:tr h="520000">
                <a:tc>
                  <a:txBody>
                    <a:bodyPr/>
                    <a:lstStyle/>
                    <a:p>
                      <a:r>
                        <a:rPr sz="1400" b="0">
                          <a:solidFill>
                            <a:srgbClr val="E8EEFA"/>
                          </a:solidFill>
                          <a:latin typeface="Segoe UI"/>
                        </a:rPr>
                        <a:t>Jetson → server</a:t>
                      </a:r>
                    </a:p>
                  </a:txBody>
                  <a:tcPr>
                    <a:solidFill>
                      <a:srgbClr val="161F40"/>
                    </a:solidFill>
                  </a:tcPr>
                </a:tc>
                <a:tc>
                  <a:txBody>
                    <a:bodyPr/>
                    <a:lstStyle/>
                    <a:p>
                      <a:r>
                        <a:rPr sz="1400" b="0">
                          <a:solidFill>
                            <a:srgbClr val="E8EEFA"/>
                          </a:solidFill>
                          <a:latin typeface="Segoe UI"/>
                        </a:rPr>
                        <a:t>MQTT/TLS</a:t>
                      </a:r>
                    </a:p>
                  </a:txBody>
                  <a:tcPr>
                    <a:solidFill>
                      <a:srgbClr val="161F40"/>
                    </a:solidFill>
                  </a:tcPr>
                </a:tc>
                <a:tc>
                  <a:txBody>
                    <a:bodyPr/>
                    <a:lstStyle/>
                    <a:p>
                      <a:r>
                        <a:rPr sz="1400" b="0">
                          <a:solidFill>
                            <a:srgbClr val="E8EEFA"/>
                          </a:solidFill>
                          <a:latin typeface="Segoe UI"/>
                        </a:rPr>
                        <a:t>hodisa boshiga ~2 KB</a:t>
                      </a:r>
                    </a:p>
                  </a:txBody>
                  <a:tcPr>
                    <a:solidFill>
                      <a:srgbClr val="161F40"/>
                    </a:solidFill>
                  </a:tcPr>
                </a:tc>
                <a:tc>
                  <a:txBody>
                    <a:bodyPr/>
                    <a:lstStyle/>
                    <a:p>
                      <a:r>
                        <a:rPr sz="1400" b="0">
                          <a:solidFill>
                            <a:srgbClr val="E8EEFA"/>
                          </a:solidFill>
                          <a:latin typeface="Segoe UI"/>
                        </a:rPr>
                        <a:t>50 ms (tanqidiy emas)</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6" dur="8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4-qadam. Strukturaviy sxemani matnda tavsiflash — kod</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36</a:t>
            </a:r>
          </a:p>
        </p:txBody>
      </p:sp>
      <p:sp>
        <p:nvSpPr>
          <p:cNvPr id="26" name="Rounded Rectangle 25"/>
          <p:cNvSpPr/>
          <p:nvPr/>
        </p:nvSpPr>
        <p:spPr>
          <a:xfrm>
            <a:off x="550000" y="1330000"/>
            <a:ext cx="11100000" cy="4950000"/>
          </a:xfrm>
          <a:prstGeom prst="roundRect">
            <a:avLst>
              <a:gd name="adj" fmla="val 3000"/>
            </a:avLst>
          </a:prstGeom>
          <a:solidFill>
            <a:srgbClr val="050814"/>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0000" y="145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0000" y="145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10000" y="145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000" y="1700000"/>
            <a:ext cx="10700000" cy="4500000"/>
          </a:xfrm>
          <a:prstGeom prst="rect">
            <a:avLst/>
          </a:prstGeom>
          <a:noFill/>
        </p:spPr>
        <p:txBody>
          <a:bodyPr wrap="square">
            <a:spAutoFit/>
          </a:bodyPr>
          <a:lstStyle/>
          <a:p>
            <a:r>
              <a:rPr sz="1000">
                <a:solidFill>
                  <a:srgbClr val="DBE4F5"/>
                </a:solidFill>
                <a:latin typeface="Consolas"/>
              </a:rPr>
              <a:t>[16 × IP-kamera, RTSP/H.264 1080p10] --(Ethernet 1 Gbit/s, PoE kommutator)--&gt;</a:t>
            </a:r>
          </a:p>
          <a:p>
            <a:r>
              <a:rPr sz="1000">
                <a:solidFill>
                  <a:srgbClr val="DBE4F5"/>
                </a:solidFill>
                <a:latin typeface="Consolas"/>
              </a:rPr>
              <a:t>[Jetson Orin NX: NVDEC dekoder 16 oqim] --(NVMM xotira, nol nusxalash)--&gt;</a:t>
            </a:r>
          </a:p>
          <a:p>
            <a:r>
              <a:rPr sz="1000">
                <a:solidFill>
                  <a:srgbClr val="DBE4F5"/>
                </a:solidFill>
                <a:latin typeface="Consolas"/>
              </a:rPr>
              <a:t>[Oldindan ishlov: resize 640x640, FP16 normalizatsiya, VPI/CUDA] --&gt;</a:t>
            </a:r>
          </a:p>
          <a:p>
            <a:r>
              <a:rPr sz="1000">
                <a:solidFill>
                  <a:srgbClr val="DBE4F5"/>
                </a:solidFill>
                <a:latin typeface="Consolas"/>
              </a:rPr>
              <a:t>[TensorRT engine: YOLOv8s INT8, batch 4, 2 ta CUDA stream] --&gt;</a:t>
            </a:r>
          </a:p>
          <a:p>
            <a:r>
              <a:rPr sz="1000">
                <a:solidFill>
                  <a:srgbClr val="DBE4F5"/>
                </a:solidFill>
                <a:latin typeface="Consolas"/>
              </a:rPr>
              <a:t>[Keyingi ishlov: NMS (GPU), ByteTrack kuzatuv (CPU, 2 yadro)] --&gt;</a:t>
            </a:r>
          </a:p>
          <a:p>
            <a:r>
              <a:rPr sz="1000">
                <a:solidFill>
                  <a:srgbClr val="DBE4F5"/>
                </a:solidFill>
                <a:latin typeface="Consolas"/>
              </a:rPr>
              <a:t>[Biznes-mantiq: SHV qoidalari, hodisa generatori] --(MQTT/TLS)--&gt; [Markaziy server]</a:t>
            </a:r>
          </a:p>
          <a:p>
            <a:r>
              <a:rPr sz="1000">
                <a:solidFill>
                  <a:srgbClr val="DBE4F5"/>
                </a:solidFill>
                <a:latin typeface="Consolas"/>
              </a:rPr>
              <a:t>                                              \--(SQLite + klip)--&gt; [Mahalliy saqlash 256 GB NVMe]</a:t>
            </a:r>
          </a:p>
          <a:p>
            <a:r>
              <a:rPr sz="1000">
                <a:solidFill>
                  <a:srgbClr val="DBE4F5"/>
                </a:solidFill>
                <a:latin typeface="Consolas"/>
              </a:rPr>
              <a:t>[Monitoring: Prometheus eksporter (FPS, p95 latency, harorat, quvvat)]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10" presetClass="entr" presetSubtype="0"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childTnLst>
                                </p:cTn>
                              </p:par>
                            </p:childTnLst>
                          </p:cTn>
                        </p:par>
                        <p:par>
                          <p:cTn id="22" fill="hold">
                            <p:stCondLst>
                              <p:cond delay="200"/>
                            </p:stCondLst>
                            <p:childTnLst>
                              <p:par>
                                <p:cTn id="23" presetID="10" presetClass="entr" presetSubtype="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50"/>
                                        <p:tgtEl>
                                          <p:spTgt spid="28"/>
                                        </p:tgtEl>
                                      </p:cBhvr>
                                    </p:animEffect>
                                  </p:childTnLst>
                                </p:cTn>
                              </p:par>
                            </p:childTnLst>
                          </p:cTn>
                        </p:par>
                        <p:par>
                          <p:cTn id="26" fill="hold">
                            <p:stCondLst>
                              <p:cond delay="200"/>
                            </p:stCondLst>
                            <p:childTnLst>
                              <p:par>
                                <p:cTn id="27" presetID="10" presetClass="entr" presetSubtype="0"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50"/>
                                        <p:tgtEl>
                                          <p:spTgt spid="29"/>
                                        </p:tgtEl>
                                      </p:cBhvr>
                                    </p:animEffect>
                                  </p:childTnLst>
                                </p:cTn>
                              </p:par>
                            </p:childTnLst>
                          </p:cTn>
                        </p:par>
                        <p:par>
                          <p:cTn id="30" fill="hold">
                            <p:stCondLst>
                              <p:cond delay="350"/>
                            </p:stCondLst>
                            <p:childTnLst>
                              <p:par>
                                <p:cTn id="31" presetID="2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4" dur="8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7" grpId="0" animBg="1"/>
      <p:bldP spid="28" grpId="0" animBg="1"/>
      <p:bldP spid="29" grpId="0" animBg="1"/>
      <p:bldP spid="30"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5-qadam. Qarorni hujjatlashtirish va xavflarni ko'rsatish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37</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7cc566e19cb64ab.jpg"/>
          <p:cNvPicPr>
            <a:picLocks noChangeAspect="1"/>
          </p:cNvPicPr>
          <p:nvPr/>
        </p:nvPicPr>
        <p:blipFill>
          <a:blip r:embed="rId2"/>
          <a:srcRect t="8025" b="802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Peter Cooper Jr. · Wikimedia Commons · CC0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686216"/>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766216"/>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726216"/>
            <a:ext cx="5900000" cy="2127568"/>
          </a:xfrm>
          <a:prstGeom prst="rect">
            <a:avLst/>
          </a:prstGeom>
          <a:noFill/>
        </p:spPr>
        <p:txBody>
          <a:bodyPr wrap="square" anchor="ctr">
            <a:spAutoFit/>
          </a:bodyPr>
          <a:lstStyle/>
          <a:p>
            <a:r>
              <a:rPr sz="1500" b="1">
                <a:solidFill>
                  <a:srgbClr val="E8EEFA"/>
                </a:solidFill>
                <a:latin typeface="Segoe UI"/>
              </a:rPr>
              <a:t>Hisobotda tanlangan platforma, rad etilgan muqobillar sabablari va xavflar ro'yxati yoziladi.</a:t>
            </a:r>
          </a:p>
          <a:p>
            <a:pPr>
              <a:spcBef>
                <a:spcPts val="400"/>
              </a:spcBef>
            </a:pPr>
            <a:r>
              <a:rPr sz="1400">
                <a:solidFill>
                  <a:srgbClr val="AEBBD9"/>
                </a:solidFill>
                <a:latin typeface="Segoe UI"/>
              </a:rPr>
              <a:t>Namuna xavflar: INT8 kvantlashda mAP 1–2 foiz punkt pasayishi (A3 mashg'ulotida tekshiriladi); +40 °C muhitda Orin NX termal cheklov (throttling) tufayli 25 Vt rejimida barqaror ishlamasligi — passiv emas, faol sovutishli sanoat korpusi talab qilinadi; 16 oqimni bitta modulda dekodlash NVDEC chegarasiga yaqin — zaxira sifatida ikki modulga bo'lish rejasi.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Hisobot shakli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38</a:t>
            </a:r>
          </a:p>
        </p:txBody>
      </p:sp>
      <p:sp>
        <p:nvSpPr>
          <p:cNvPr id="26" name="Rounded Rectangle 25"/>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361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361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Hisobot (PDF yoki Markdown, 4–6 bet) quyidagilarni o'z ichiga oladi: (1) talablar matritsasi; (2) yuklama.csv jadvali va skript natijasi ekran tasviri; (3) platformalar taqqoslash jadvali va zaxira_koef izohi; (4) strukturaviy sxema matni va interfeyslar…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ppt_x</p:attrName>
                                        </p:attrNameLst>
                                      </p:cBhvr>
                                      <p:tavLst>
                                        <p:tav tm="0">
                                          <p:val>
                                            <p:strVal val="#ppt_x"/>
                                          </p:val>
                                        </p:tav>
                                        <p:tav tm="100000">
                                          <p:val>
                                            <p:strVal val="#ppt_x"/>
                                          </p:val>
                                        </p:tav>
                                      </p:tavLst>
                                    </p:anim>
                                    <p:anim calcmode="lin" valueType="num">
                                      <p:cBhvr additive="base">
                                        <p:cTn id="17" dur="550" fill="hold"/>
                                        <p:tgtEl>
                                          <p:spTgt spid="26"/>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ppt_x</p:attrName>
                                        </p:attrNameLst>
                                      </p:cBhvr>
                                      <p:tavLst>
                                        <p:tav tm="0">
                                          <p:val>
                                            <p:strVal val="#ppt_x"/>
                                          </p:val>
                                        </p:tav>
                                        <p:tav tm="100000">
                                          <p:val>
                                            <p:strVal val="#ppt_x"/>
                                          </p:val>
                                        </p:tav>
                                      </p:tavLst>
                                    </p:anim>
                                    <p:anim calcmode="lin" valueType="num">
                                      <p:cBhvr additive="base">
                                        <p:cTn id="23" dur="550" fill="hold"/>
                                        <p:tgtEl>
                                          <p:spTgt spid="27"/>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anim calcmode="lin" valueType="num">
                                      <p:cBhvr additive="base">
                                        <p:cTn id="28" dur="550" fill="hold"/>
                                        <p:tgtEl>
                                          <p:spTgt spid="28"/>
                                        </p:tgtEl>
                                        <p:attrNameLst>
                                          <p:attrName>ppt_w</p:attrName>
                                        </p:attrNameLst>
                                      </p:cBhvr>
                                      <p:tavLst>
                                        <p:tav tm="0">
                                          <p:val>
                                            <p:strVal val="0"/>
                                          </p:val>
                                        </p:tav>
                                        <p:tav tm="100000">
                                          <p:val>
                                            <p:strVal val="#ppt_w"/>
                                          </p:val>
                                        </p:tav>
                                      </p:tavLst>
                                    </p:anim>
                                    <p:anim calcmode="lin" valueType="num">
                                      <p:cBhvr additive="base">
                                        <p:cTn id="29" dur="550" fill="hold"/>
                                        <p:tgtEl>
                                          <p:spTgt spid="28"/>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50"/>
                                        <p:tgtEl>
                                          <p:spTgt spid="29"/>
                                        </p:tgtEl>
                                      </p:cBhvr>
                                    </p:animEffect>
                                    <p:anim calcmode="lin" valueType="num">
                                      <p:cBhvr additive="base">
                                        <p:cTn id="34" dur="550" fill="hold"/>
                                        <p:tgtEl>
                                          <p:spTgt spid="29"/>
                                        </p:tgtEl>
                                        <p:attrNameLst>
                                          <p:attrName>ppt_x</p:attrName>
                                        </p:attrNameLst>
                                      </p:cBhvr>
                                      <p:tavLst>
                                        <p:tav tm="0">
                                          <p:val>
                                            <p:strVal val="#ppt_x"/>
                                          </p:val>
                                        </p:tav>
                                        <p:tav tm="100000">
                                          <p:val>
                                            <p:strVal val="#ppt_x"/>
                                          </p:val>
                                        </p:tav>
                                      </p:tavLst>
                                    </p:anim>
                                    <p:anim calcmode="lin" valueType="num">
                                      <p:cBhvr additive="base">
                                        <p:cTn id="35"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7" grpId="0" animBg="1"/>
      <p:bldP spid="28" grpId="0" animBg="1"/>
      <p:bldP spid="29"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Baholash mezoni (jami 100 ball)</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39</a:t>
            </a:r>
          </a:p>
        </p:txBody>
      </p:sp>
      <p:sp>
        <p:nvSpPr>
          <p:cNvPr id="24" name="Rounded Rectangle 23"/>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50000" y="361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60000" y="361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7" name="TextBox 26"/>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Qo'shimcha 10 ball: talaba ikkinchi ssenariy (masalan, 64 kamera, markaziy serverda ishlov) uchun ham tahlil o'tkazib, Edge va markazlashgan variantlarning TCO'sini 3 yilga solishtirsa.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ppt_x</p:attrName>
                                        </p:attrNameLst>
                                      </p:cBhvr>
                                      <p:tavLst>
                                        <p:tav tm="0">
                                          <p:val>
                                            <p:strVal val="#ppt_x"/>
                                          </p:val>
                                        </p:tav>
                                        <p:tav tm="100000">
                                          <p:val>
                                            <p:strVal val="#ppt_x"/>
                                          </p:val>
                                        </p:tav>
                                      </p:tavLst>
                                    </p:anim>
                                    <p:anim calcmode="lin" valueType="num">
                                      <p:cBhvr additive="base">
                                        <p:cTn id="17" dur="550" fill="hold"/>
                                        <p:tgtEl>
                                          <p:spTgt spid="24"/>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ppt_x</p:attrName>
                                        </p:attrNameLst>
                                      </p:cBhvr>
                                      <p:tavLst>
                                        <p:tav tm="0">
                                          <p:val>
                                            <p:strVal val="#ppt_x"/>
                                          </p:val>
                                        </p:tav>
                                        <p:tav tm="100000">
                                          <p:val>
                                            <p:strVal val="#ppt_x"/>
                                          </p:val>
                                        </p:tav>
                                      </p:tavLst>
                                    </p:anim>
                                    <p:anim calcmode="lin" valueType="num">
                                      <p:cBhvr additive="base">
                                        <p:cTn id="23" dur="550" fill="hold"/>
                                        <p:tgtEl>
                                          <p:spTgt spid="25"/>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anim calcmode="lin" valueType="num">
                                      <p:cBhvr additive="base">
                                        <p:cTn id="28" dur="550" fill="hold"/>
                                        <p:tgtEl>
                                          <p:spTgt spid="26"/>
                                        </p:tgtEl>
                                        <p:attrNameLst>
                                          <p:attrName>ppt_w</p:attrName>
                                        </p:attrNameLst>
                                      </p:cBhvr>
                                      <p:tavLst>
                                        <p:tav tm="0">
                                          <p:val>
                                            <p:strVal val="0"/>
                                          </p:val>
                                        </p:tav>
                                        <p:tav tm="100000">
                                          <p:val>
                                            <p:strVal val="#ppt_w"/>
                                          </p:val>
                                        </p:tav>
                                      </p:tavLst>
                                    </p:anim>
                                    <p:anim calcmode="lin" valueType="num">
                                      <p:cBhvr additive="base">
                                        <p:cTn id="29" dur="550" fill="hold"/>
                                        <p:tgtEl>
                                          <p:spTgt spid="26"/>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50"/>
                                        <p:tgtEl>
                                          <p:spTgt spid="27"/>
                                        </p:tgtEl>
                                      </p:cBhvr>
                                    </p:animEffect>
                                    <p:anim calcmode="lin" valueType="num">
                                      <p:cBhvr additive="base">
                                        <p:cTn id="34" dur="550" fill="hold"/>
                                        <p:tgtEl>
                                          <p:spTgt spid="27"/>
                                        </p:tgtEl>
                                        <p:attrNameLst>
                                          <p:attrName>ppt_x</p:attrName>
                                        </p:attrNameLst>
                                      </p:cBhvr>
                                      <p:tavLst>
                                        <p:tav tm="0">
                                          <p:val>
                                            <p:strVal val="#ppt_x"/>
                                          </p:val>
                                        </p:tav>
                                        <p:tav tm="100000">
                                          <p:val>
                                            <p:strVal val="#ppt_x"/>
                                          </p:val>
                                        </p:tav>
                                      </p:tavLst>
                                    </p:anim>
                                    <p:anim calcmode="lin" valueType="num">
                                      <p:cBhvr additive="base">
                                        <p:cTn id="35" dur="550" fill="hold"/>
                                        <p:tgtEl>
                                          <p:spTgt spid="2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5" grpId="0" animBg="1"/>
      <p:bldP spid="26" grpId="0" animBg="1"/>
      <p:bldP spid="27"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AMALIY MISOL</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Baholash mezoni (jami 100 ball)</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40</a:t>
            </a:r>
          </a:p>
        </p:txBody>
      </p:sp>
      <p:graphicFrame>
        <p:nvGraphicFramePr>
          <p:cNvPr id="23" name="Table 22"/>
          <p:cNvGraphicFramePr>
            <a:graphicFrameLocks noGrp="1"/>
          </p:cNvGraphicFramePr>
          <p:nvPr/>
        </p:nvGraphicFramePr>
        <p:xfrm>
          <a:off x="550000" y="1400000"/>
          <a:ext cx="11100000" cy="3640000"/>
        </p:xfrm>
        <a:graphic>
          <a:graphicData uri="http://schemas.openxmlformats.org/drawingml/2006/table">
            <a:tbl>
              <a:tblPr firstRow="1" bandRow="1">
                <a:tableStyleId>{5C22544A-7EE6-4342-B048-85BDC9FD1C3A}</a:tableStyleId>
              </a:tblPr>
              <a:tblGrid>
                <a:gridCol w="5550000"/>
                <a:gridCol w="5550000"/>
              </a:tblGrid>
              <a:tr h="520000">
                <a:tc>
                  <a:txBody>
                    <a:bodyPr/>
                    <a:lstStyle/>
                    <a:p>
                      <a:r>
                        <a:rPr sz="1000" b="1">
                          <a:solidFill>
                            <a:srgbClr val="22D3EE"/>
                          </a:solidFill>
                          <a:latin typeface="Segoe UI"/>
                        </a:rPr>
                        <a:t>Mezon</a:t>
                      </a:r>
                    </a:p>
                  </a:txBody>
                  <a:tcPr>
                    <a:solidFill>
                      <a:srgbClr val="1C2755"/>
                    </a:solidFill>
                  </a:tcPr>
                </a:tc>
                <a:tc>
                  <a:txBody>
                    <a:bodyPr/>
                    <a:lstStyle/>
                    <a:p>
                      <a:r>
                        <a:rPr sz="1000" b="1">
                          <a:solidFill>
                            <a:srgbClr val="22D3EE"/>
                          </a:solidFill>
                          <a:latin typeface="Segoe UI"/>
                        </a:rPr>
                        <a:t>Ball</a:t>
                      </a:r>
                    </a:p>
                  </a:txBody>
                  <a:tcPr>
                    <a:solidFill>
                      <a:srgbClr val="1C2755"/>
                    </a:solidFill>
                  </a:tcPr>
                </a:tc>
              </a:tr>
              <a:tr h="520000">
                <a:tc>
                  <a:txBody>
                    <a:bodyPr/>
                    <a:lstStyle/>
                    <a:p>
                      <a:r>
                        <a:rPr sz="1000" b="0">
                          <a:solidFill>
                            <a:srgbClr val="E8EEFA"/>
                          </a:solidFill>
                          <a:latin typeface="Segoe UI"/>
                        </a:rPr>
                        <a:t>Talablar matritsasi to'liq va og'irliklar asoslangan</a:t>
                      </a:r>
                    </a:p>
                  </a:txBody>
                  <a:tcPr>
                    <a:solidFill>
                      <a:srgbClr val="111834"/>
                    </a:solidFill>
                  </a:tcPr>
                </a:tc>
                <a:tc>
                  <a:txBody>
                    <a:bodyPr/>
                    <a:lstStyle/>
                    <a:p>
                      <a:r>
                        <a:rPr sz="1000" b="0">
                          <a:solidFill>
                            <a:srgbClr val="E8EEFA"/>
                          </a:solidFill>
                          <a:latin typeface="Segoe UI"/>
                        </a:rPr>
                        <a:t>15</a:t>
                      </a:r>
                    </a:p>
                  </a:txBody>
                  <a:tcPr>
                    <a:solidFill>
                      <a:srgbClr val="111834"/>
                    </a:solidFill>
                  </a:tcPr>
                </a:tc>
              </a:tr>
              <a:tr h="520000">
                <a:tc>
                  <a:txBody>
                    <a:bodyPr/>
                    <a:lstStyle/>
                    <a:p>
                      <a:r>
                        <a:rPr sz="1000" b="0">
                          <a:solidFill>
                            <a:srgbClr val="E8EEFA"/>
                          </a:solidFill>
                          <a:latin typeface="Segoe UI"/>
                        </a:rPr>
                        <a:t>Yuklama hisobi skripti ishlaydi, natijalar to'g'ri talqin qilingan</a:t>
                      </a:r>
                    </a:p>
                  </a:txBody>
                  <a:tcPr>
                    <a:solidFill>
                      <a:srgbClr val="161F40"/>
                    </a:solidFill>
                  </a:tcPr>
                </a:tc>
                <a:tc>
                  <a:txBody>
                    <a:bodyPr/>
                    <a:lstStyle/>
                    <a:p>
                      <a:r>
                        <a:rPr sz="1000" b="0">
                          <a:solidFill>
                            <a:srgbClr val="E8EEFA"/>
                          </a:solidFill>
                          <a:latin typeface="Segoe UI"/>
                        </a:rPr>
                        <a:t>20</a:t>
                      </a:r>
                    </a:p>
                  </a:txBody>
                  <a:tcPr>
                    <a:solidFill>
                      <a:srgbClr val="161F40"/>
                    </a:solidFill>
                  </a:tcPr>
                </a:tc>
              </a:tr>
              <a:tr h="520000">
                <a:tc>
                  <a:txBody>
                    <a:bodyPr/>
                    <a:lstStyle/>
                    <a:p>
                      <a:r>
                        <a:rPr sz="1000" b="0">
                          <a:solidFill>
                            <a:srgbClr val="E8EEFA"/>
                          </a:solidFill>
                          <a:latin typeface="Segoe UI"/>
                        </a:rPr>
                        <a:t>Kamida 3 platforma rasmiy tavsiflar bilan solishtirilgan, manbalar ko'rsatilgan</a:t>
                      </a:r>
                    </a:p>
                  </a:txBody>
                  <a:tcPr>
                    <a:solidFill>
                      <a:srgbClr val="111834"/>
                    </a:solidFill>
                  </a:tcPr>
                </a:tc>
                <a:tc>
                  <a:txBody>
                    <a:bodyPr/>
                    <a:lstStyle/>
                    <a:p>
                      <a:r>
                        <a:rPr sz="1000" b="0">
                          <a:solidFill>
                            <a:srgbClr val="E8EEFA"/>
                          </a:solidFill>
                          <a:latin typeface="Segoe UI"/>
                        </a:rPr>
                        <a:t>20</a:t>
                      </a:r>
                    </a:p>
                  </a:txBody>
                  <a:tcPr>
                    <a:solidFill>
                      <a:srgbClr val="111834"/>
                    </a:solidFill>
                  </a:tcPr>
                </a:tc>
              </a:tr>
              <a:tr h="520000">
                <a:tc>
                  <a:txBody>
                    <a:bodyPr/>
                    <a:lstStyle/>
                    <a:p>
                      <a:r>
                        <a:rPr sz="1000" b="0">
                          <a:solidFill>
                            <a:srgbClr val="E8EEFA"/>
                          </a:solidFill>
                          <a:latin typeface="Segoe UI"/>
                        </a:rPr>
                        <a:t>Strukturaviy sxema barcha bloklar va interfeyslarni qamrab olgan, kechikish byudjeti taqsimlangan</a:t>
                      </a:r>
                    </a:p>
                  </a:txBody>
                  <a:tcPr>
                    <a:solidFill>
                      <a:srgbClr val="161F40"/>
                    </a:solidFill>
                  </a:tcPr>
                </a:tc>
                <a:tc>
                  <a:txBody>
                    <a:bodyPr/>
                    <a:lstStyle/>
                    <a:p>
                      <a:r>
                        <a:rPr sz="1000" b="0">
                          <a:solidFill>
                            <a:srgbClr val="E8EEFA"/>
                          </a:solidFill>
                          <a:latin typeface="Segoe UI"/>
                        </a:rPr>
                        <a:t>20</a:t>
                      </a:r>
                    </a:p>
                  </a:txBody>
                  <a:tcPr>
                    <a:solidFill>
                      <a:srgbClr val="161F40"/>
                    </a:solidFill>
                  </a:tcPr>
                </a:tc>
              </a:tr>
              <a:tr h="520000">
                <a:tc>
                  <a:txBody>
                    <a:bodyPr/>
                    <a:lstStyle/>
                    <a:p>
                      <a:r>
                        <a:rPr sz="1000" b="0">
                          <a:solidFill>
                            <a:srgbClr val="E8EEFA"/>
                          </a:solidFill>
                          <a:latin typeface="Segoe UI"/>
                        </a:rPr>
                        <a:t>Co-design tamoyillari (format, operator qamrovi, xotira, energiya) qarorda aks etgan</a:t>
                      </a:r>
                    </a:p>
                  </a:txBody>
                  <a:tcPr>
                    <a:solidFill>
                      <a:srgbClr val="111834"/>
                    </a:solidFill>
                  </a:tcPr>
                </a:tc>
                <a:tc>
                  <a:txBody>
                    <a:bodyPr/>
                    <a:lstStyle/>
                    <a:p>
                      <a:r>
                        <a:rPr sz="1000" b="0">
                          <a:solidFill>
                            <a:srgbClr val="E8EEFA"/>
                          </a:solidFill>
                          <a:latin typeface="Segoe UI"/>
                        </a:rPr>
                        <a:t>15</a:t>
                      </a:r>
                    </a:p>
                  </a:txBody>
                  <a:tcPr>
                    <a:solidFill>
                      <a:srgbClr val="111834"/>
                    </a:solidFill>
                  </a:tcPr>
                </a:tc>
              </a:tr>
              <a:tr h="520000">
                <a:tc>
                  <a:txBody>
                    <a:bodyPr/>
                    <a:lstStyle/>
                    <a:p>
                      <a:r>
                        <a:rPr sz="1000" b="0">
                          <a:solidFill>
                            <a:srgbClr val="E8EEFA"/>
                          </a:solidFill>
                          <a:latin typeface="Segoe UI"/>
                        </a:rPr>
                        <a:t>Hisobot rasmiylashtirilishi va himoya paytidagi javoblar</a:t>
                      </a:r>
                    </a:p>
                  </a:txBody>
                  <a:tcPr>
                    <a:solidFill>
                      <a:srgbClr val="161F40"/>
                    </a:solidFill>
                  </a:tcPr>
                </a:tc>
                <a:tc>
                  <a:txBody>
                    <a:bodyPr/>
                    <a:lstStyle/>
                    <a:p>
                      <a:r>
                        <a:rPr sz="1000" b="0">
                          <a:solidFill>
                            <a:srgbClr val="E8EEFA"/>
                          </a:solidFill>
                          <a:latin typeface="Segoe UI"/>
                        </a:rPr>
                        <a:t>10</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6" dur="8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7784f250cc8e5ea5.jpg"/>
          <p:cNvPicPr>
            <a:picLocks noChangeAspect="1"/>
          </p:cNvPicPr>
          <p:nvPr/>
        </p:nvPicPr>
        <p:blipFill>
          <a:blip r:embed="rId2"/>
          <a:srcRect t="7534" b="7534"/>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File:Tektronix TPS 2014B cropped.jpg: * File:Tektronix TPS 2014B.jpg: Marcin Łuk · Wikimedia Commons · CC BY-SA 3.</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05</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Natijalarni tahlil qilish</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Natijalarni tahlil qilish</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42</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e2ce123b9a0f5e6f.jpg"/>
          <p:cNvPicPr>
            <a:picLocks noChangeAspect="1"/>
          </p:cNvPicPr>
          <p:nvPr/>
        </p:nvPicPr>
        <p:blipFill>
          <a:blip r:embed="rId2"/>
          <a:srcRect t="6303" b="6303"/>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Ubahnverleih · Wikimedia Commons · CC0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1661544"/>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1741544"/>
            <a:ext cx="50000" cy="191345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249827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1701544"/>
            <a:ext cx="5900000" cy="1993456"/>
          </a:xfrm>
          <a:prstGeom prst="rect">
            <a:avLst/>
          </a:prstGeom>
          <a:noFill/>
        </p:spPr>
        <p:txBody>
          <a:bodyPr wrap="square" anchor="ctr">
            <a:spAutoFit/>
          </a:bodyPr>
          <a:lstStyle/>
          <a:p>
            <a:r>
              <a:rPr sz="1400" b="1">
                <a:solidFill>
                  <a:srgbClr val="E8EEFA"/>
                </a:solidFill>
                <a:latin typeface="Segoe UI"/>
              </a:rPr>
              <a:t>Mashg'ulot natijalari ikki darajada talqin qilinadi.</a:t>
            </a:r>
          </a:p>
          <a:p>
            <a:pPr>
              <a:spcBef>
                <a:spcPts val="400"/>
              </a:spcBef>
            </a:pPr>
            <a:r>
              <a:rPr sz="1300">
                <a:solidFill>
                  <a:srgbClr val="AEBBD9"/>
                </a:solidFill>
                <a:latin typeface="Segoe UI"/>
              </a:rPr>
              <a:t>Birinchi daraja — miqdoriy: zaxira_koef va energiya ko'rsatkichlari platformalarni aniq tartiblaydi. Ko'rinib turibdiki, Jetson Orin NX talabni taxminan 5 baravar zaxira bilan qoplaydi, bu zaxira pik yuklama (barcha kameralarda bir vaqtda harakat), kuzatuv algoritmi va kelgusida model yangilanishi uchun kerak.</a:t>
            </a:r>
          </a:p>
        </p:txBody>
      </p:sp>
      <p:sp>
        <p:nvSpPr>
          <p:cNvPr id="30" name="Rounded Rectangle 29"/>
          <p:cNvSpPr/>
          <p:nvPr/>
        </p:nvSpPr>
        <p:spPr>
          <a:xfrm>
            <a:off x="550000" y="3845000"/>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925000"/>
            <a:ext cx="50000" cy="191345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468172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3885000"/>
            <a:ext cx="5900000" cy="1993456"/>
          </a:xfrm>
          <a:prstGeom prst="rect">
            <a:avLst/>
          </a:prstGeom>
          <a:noFill/>
        </p:spPr>
        <p:txBody>
          <a:bodyPr wrap="square" anchor="ctr">
            <a:spAutoFit/>
          </a:bodyPr>
          <a:lstStyle/>
          <a:p>
            <a:r>
              <a:rPr sz="1400" b="1">
                <a:solidFill>
                  <a:srgbClr val="E8EEFA"/>
                </a:solidFill>
                <a:latin typeface="Segoe UI"/>
              </a:rPr>
              <a:t>Ikkinchi daraja — sifatiy cheklovlar.</a:t>
            </a:r>
          </a:p>
          <a:p>
            <a:pPr>
              <a:spcBef>
                <a:spcPts val="400"/>
              </a:spcBef>
            </a:pPr>
            <a:r>
              <a:rPr sz="1300">
                <a:solidFill>
                  <a:srgbClr val="AEBBD9"/>
                </a:solidFill>
                <a:latin typeface="Segoe UI"/>
              </a:rPr>
              <a:t>Nazariy hisob bir qancha soddalashtirishlarga asoslanadi: INT8 TOPS va FP32 FLOP bir-biriga teng deb olindi, samaradorlik koeffitsiyenti 45–50 % deb taxmin qilindi, dekodlash va oldindan ishlov berish yuklamasi batafsil modellashtirilmadi. Real tizimda bu bahoni faqat prototip o'lchovlari tasdiqlaydi yoki rad etadi. Shu sababli A1 natijasi — yakuniy qaror emas, balki A2–A4 mashg'ulotlarida o'lchov bilan tekshiriladigan gipoteza.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50"/>
                                        <p:tgtEl>
                                          <p:spTgt spid="30"/>
                                        </p:tgtEl>
                                      </p:cBhvr>
                                    </p:animEffect>
                                    <p:anim calcmode="lin" valueType="num">
                                      <p:cBhvr additive="base">
                                        <p:cTn id="60" dur="550" fill="hold"/>
                                        <p:tgtEl>
                                          <p:spTgt spid="30"/>
                                        </p:tgtEl>
                                        <p:attrNameLst>
                                          <p:attrName>ppt_x</p:attrName>
                                        </p:attrNameLst>
                                      </p:cBhvr>
                                      <p:tavLst>
                                        <p:tav tm="0">
                                          <p:val>
                                            <p:strVal val="#ppt_x"/>
                                          </p:val>
                                        </p:tav>
                                        <p:tav tm="100000">
                                          <p:val>
                                            <p:strVal val="#ppt_x"/>
                                          </p:val>
                                        </p:tav>
                                      </p:tavLst>
                                    </p:anim>
                                    <p:anim calcmode="lin" valueType="num">
                                      <p:cBhvr additive="base">
                                        <p:cTn id="61" dur="550" fill="hold"/>
                                        <p:tgtEl>
                                          <p:spTgt spid="30"/>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50"/>
                                        <p:tgtEl>
                                          <p:spTgt spid="31"/>
                                        </p:tgtEl>
                                      </p:cBhvr>
                                    </p:animEffect>
                                    <p:anim calcmode="lin" valueType="num">
                                      <p:cBhvr additive="base">
                                        <p:cTn id="66" dur="550" fill="hold"/>
                                        <p:tgtEl>
                                          <p:spTgt spid="31"/>
                                        </p:tgtEl>
                                        <p:attrNameLst>
                                          <p:attrName>ppt_x</p:attrName>
                                        </p:attrNameLst>
                                      </p:cBhvr>
                                      <p:tavLst>
                                        <p:tav tm="0">
                                          <p:val>
                                            <p:strVal val="#ppt_x"/>
                                          </p:val>
                                        </p:tav>
                                        <p:tav tm="100000">
                                          <p:val>
                                            <p:strVal val="#ppt_x"/>
                                          </p:val>
                                        </p:tav>
                                      </p:tavLst>
                                    </p:anim>
                                    <p:anim calcmode="lin" valueType="num">
                                      <p:cBhvr additive="base">
                                        <p:cTn id="67" dur="550" fill="hold"/>
                                        <p:tgtEl>
                                          <p:spTgt spid="31"/>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50"/>
                                        <p:tgtEl>
                                          <p:spTgt spid="32"/>
                                        </p:tgtEl>
                                      </p:cBhvr>
                                    </p:animEffect>
                                    <p:anim calcmode="lin" valueType="num">
                                      <p:cBhvr additive="base">
                                        <p:cTn id="72" dur="550" fill="hold"/>
                                        <p:tgtEl>
                                          <p:spTgt spid="32"/>
                                        </p:tgtEl>
                                        <p:attrNameLst>
                                          <p:attrName>ppt_w</p:attrName>
                                        </p:attrNameLst>
                                      </p:cBhvr>
                                      <p:tavLst>
                                        <p:tav tm="0">
                                          <p:val>
                                            <p:strVal val="0"/>
                                          </p:val>
                                        </p:tav>
                                        <p:tav tm="100000">
                                          <p:val>
                                            <p:strVal val="#ppt_w"/>
                                          </p:val>
                                        </p:tav>
                                      </p:tavLst>
                                    </p:anim>
                                    <p:anim calcmode="lin" valueType="num">
                                      <p:cBhvr additive="base">
                                        <p:cTn id="73" dur="550" fill="hold"/>
                                        <p:tgtEl>
                                          <p:spTgt spid="32"/>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550"/>
                                        <p:tgtEl>
                                          <p:spTgt spid="33"/>
                                        </p:tgtEl>
                                      </p:cBhvr>
                                    </p:animEffect>
                                    <p:anim calcmode="lin" valueType="num">
                                      <p:cBhvr additive="base">
                                        <p:cTn id="78" dur="550" fill="hold"/>
                                        <p:tgtEl>
                                          <p:spTgt spid="33"/>
                                        </p:tgtEl>
                                        <p:attrNameLst>
                                          <p:attrName>ppt_x</p:attrName>
                                        </p:attrNameLst>
                                      </p:cBhvr>
                                      <p:tavLst>
                                        <p:tav tm="0">
                                          <p:val>
                                            <p:strVal val="#ppt_x"/>
                                          </p:val>
                                        </p:tav>
                                        <p:tav tm="100000">
                                          <p:val>
                                            <p:strVal val="#ppt_x"/>
                                          </p:val>
                                        </p:tav>
                                      </p:tavLst>
                                    </p:anim>
                                    <p:anim calcmode="lin" valueType="num">
                                      <p:cBhvr additive="base">
                                        <p:cTn id="79"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Natijalarni tahlil qilish</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43</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3bf51a6fe71b1fc.jpg"/>
          <p:cNvPicPr>
            <a:picLocks noChangeAspect="1"/>
          </p:cNvPicPr>
          <p:nvPr/>
        </p:nvPicPr>
        <p:blipFill>
          <a:blip r:embed="rId2"/>
          <a:srcRect l="18285" r="1828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Aisart · Wikimedia Commons · CC BY-SA 3.0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820328"/>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900328"/>
            <a:ext cx="50000" cy="177934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2860328"/>
            <a:ext cx="5900000" cy="1859344"/>
          </a:xfrm>
          <a:prstGeom prst="rect">
            <a:avLst/>
          </a:prstGeom>
          <a:noFill/>
        </p:spPr>
        <p:txBody>
          <a:bodyPr wrap="square" anchor="ctr">
            <a:spAutoFit/>
          </a:bodyPr>
          <a:lstStyle/>
          <a:p>
            <a:r>
              <a:rPr sz="1600" b="0">
                <a:solidFill>
                  <a:srgbClr val="E8EEFA"/>
                </a:solidFill>
                <a:latin typeface="Segoe UI"/>
              </a:rPr>
              <a:t>Muqobil yondashuvlar: (1) markazlashgan arxitektura — barcha kameralar oqimini serverdagi bitta GPU'ga yuborish; afzalligi — boshqaruv osonligi, kamchiligi — tarmoq yuklamasi (64 Mbit/s uzluksiz), yagona nosozlik nuqtasi, sex va server xonasi orasidagi…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94cd127ff92307cd.jpg"/>
          <p:cNvPicPr>
            <a:picLocks noChangeAspect="1"/>
          </p:cNvPicPr>
          <p:nvPr/>
        </p:nvPicPr>
        <p:blipFill>
          <a:blip r:embed="rId2"/>
          <a:srcRect l="9848" r="9848"/>
          <a:stretch>
            <a:fillRect/>
          </a:stretch>
        </p:blipFill>
        <p:spPr>
          <a:xfrm>
            <a:off x="6300000" y="800000"/>
            <a:ext cx="5300000" cy="4950000"/>
          </a:xfrm>
          <a:prstGeom prst="roundRect">
            <a:avLst/>
          </a:prstGeom>
          <a:ln w="19050">
            <a:solidFill>
              <a:srgbClr val="22D3EE"/>
            </a:solidFill>
          </a:ln>
        </p:spPr>
      </p:pic>
      <p:sp>
        <p:nvSpPr>
          <p:cNvPr id="36" name="TextBox 35"/>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Christopher Bowns · Wikimedia Commons · CC BY-SA 2.0</a:t>
            </a:r>
          </a:p>
        </p:txBody>
      </p:sp>
      <p:sp>
        <p:nvSpPr>
          <p:cNvPr id="37" name="TextBox 36"/>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06</a:t>
            </a:r>
          </a:p>
        </p:txBody>
      </p:sp>
      <p:sp>
        <p:nvSpPr>
          <p:cNvPr id="38" name="TextBox 37"/>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BO‘LIM</a:t>
            </a:r>
          </a:p>
        </p:txBody>
      </p:sp>
      <p:sp>
        <p:nvSpPr>
          <p:cNvPr id="39" name="TextBox 38"/>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Keng tarqalgan xatolar va amaliy tavsiyalar</a:t>
            </a:r>
          </a:p>
        </p:txBody>
      </p:sp>
      <p:sp>
        <p:nvSpPr>
          <p:cNvPr id="40" name="Rectangle 39"/>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6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150"/>
                            </p:stCondLst>
                            <p:childTnLst>
                              <p:par>
                                <p:cTn id="128" presetID="53" presetClass="entr" presetSubtype="16"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anim calcmode="lin" valueType="num">
                                      <p:cBhvr additive="base">
                                        <p:cTn id="131" dur="550" fill="hold"/>
                                        <p:tgtEl>
                                          <p:spTgt spid="34"/>
                                        </p:tgtEl>
                                        <p:attrNameLst>
                                          <p:attrName>ppt_w</p:attrName>
                                        </p:attrNameLst>
                                      </p:cBhvr>
                                      <p:tavLst>
                                        <p:tav tm="0">
                                          <p:val>
                                            <p:strVal val="0"/>
                                          </p:val>
                                        </p:tav>
                                        <p:tav tm="100000">
                                          <p:val>
                                            <p:strVal val="#ppt_w"/>
                                          </p:val>
                                        </p:tav>
                                      </p:tavLst>
                                    </p:anim>
                                    <p:anim calcmode="lin" valueType="num">
                                      <p:cBhvr additive="base">
                                        <p:cTn id="132" dur="550" fill="hold"/>
                                        <p:tgtEl>
                                          <p:spTgt spid="34"/>
                                        </p:tgtEl>
                                        <p:attrNameLst>
                                          <p:attrName>ppt_h</p:attrName>
                                        </p:attrNameLst>
                                      </p:cBhvr>
                                      <p:tavLst>
                                        <p:tav tm="0">
                                          <p:val>
                                            <p:strVal val="0"/>
                                          </p:val>
                                        </p:tav>
                                        <p:tav tm="100000">
                                          <p:val>
                                            <p:strVal val="#ppt_h"/>
                                          </p:val>
                                        </p:tav>
                                      </p:tavLst>
                                    </p:anim>
                                  </p:childTnLst>
                                </p:cTn>
                              </p:par>
                            </p:childTnLst>
                          </p:cTn>
                        </p:par>
                        <p:par>
                          <p:cTn id="133" fill="hold">
                            <p:stCondLst>
                              <p:cond delay="150"/>
                            </p:stCondLst>
                            <p:childTnLst>
                              <p:par>
                                <p:cTn id="134" presetID="53" presetClass="entr" presetSubtype="16" fill="hold" grpId="0" nodeType="afterEffect">
                                  <p:stCondLst>
                                    <p:cond delay="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6" dur="550"/>
                                        <p:tgtEl>
                                          <p:spTgt spid="35"/>
                                        </p:tgtEl>
                                      </p:cBhvr>
                                    </p:animEffect>
                                    <p:anim calcmode="lin" valueType="num">
                                      <p:cBhvr additive="base">
                                        <p:cTn id="137" dur="550" fill="hold"/>
                                        <p:tgtEl>
                                          <p:spTgt spid="35"/>
                                        </p:tgtEl>
                                        <p:attrNameLst>
                                          <p:attrName>ppt_w</p:attrName>
                                        </p:attrNameLst>
                                      </p:cBhvr>
                                      <p:tavLst>
                                        <p:tav tm="0">
                                          <p:val>
                                            <p:strVal val="0"/>
                                          </p:val>
                                        </p:tav>
                                        <p:tav tm="100000">
                                          <p:val>
                                            <p:strVal val="#ppt_w"/>
                                          </p:val>
                                        </p:tav>
                                      </p:tavLst>
                                    </p:anim>
                                    <p:anim calcmode="lin" valueType="num">
                                      <p:cBhvr additive="base">
                                        <p:cTn id="138" dur="550" fill="hold"/>
                                        <p:tgtEl>
                                          <p:spTgt spid="35"/>
                                        </p:tgtEl>
                                        <p:attrNameLst>
                                          <p:attrName>ppt_h</p:attrName>
                                        </p:attrNameLst>
                                      </p:cBhvr>
                                      <p:tavLst>
                                        <p:tav tm="0">
                                          <p:val>
                                            <p:strVal val="0"/>
                                          </p:val>
                                        </p:tav>
                                        <p:tav tm="100000">
                                          <p:val>
                                            <p:strVal val="#ppt_h"/>
                                          </p:val>
                                        </p:tav>
                                      </p:tavLst>
                                    </p:anim>
                                  </p:childTnLst>
                                </p:cTn>
                              </p:par>
                            </p:childTnLst>
                          </p:cTn>
                        </p:par>
                        <p:par>
                          <p:cTn id="139" fill="hold">
                            <p:stCondLst>
                              <p:cond delay="150"/>
                            </p:stCondLst>
                            <p:childTnLst>
                              <p:par>
                                <p:cTn id="140" presetID="10" presetClass="entr" presetSubtype="0" fill="hold" grpId="0" nodeType="afterEffect">
                                  <p:stCondLst>
                                    <p:cond delay="0"/>
                                  </p:stCondLst>
                                  <p:childTnLst>
                                    <p:set>
                                      <p:cBhvr>
                                        <p:cTn id="141" dur="1" fill="hold">
                                          <p:stCondLst>
                                            <p:cond delay="0"/>
                                          </p:stCondLst>
                                        </p:cTn>
                                        <p:tgtEl>
                                          <p:spTgt spid="36"/>
                                        </p:tgtEl>
                                        <p:attrNameLst>
                                          <p:attrName>style.visibility</p:attrName>
                                        </p:attrNameLst>
                                      </p:cBhvr>
                                      <p:to>
                                        <p:strVal val="visible"/>
                                      </p:to>
                                    </p:set>
                                    <p:animEffect transition="in" filter="fade">
                                      <p:cBhvr>
                                        <p:cTn id="142" dur="550"/>
                                        <p:tgtEl>
                                          <p:spTgt spid="36"/>
                                        </p:tgtEl>
                                      </p:cBhvr>
                                    </p:animEffect>
                                  </p:childTnLst>
                                </p:cTn>
                              </p:par>
                            </p:childTnLst>
                          </p:cTn>
                        </p:par>
                        <p:par>
                          <p:cTn id="143" fill="hold">
                            <p:stCondLst>
                              <p:cond delay="350"/>
                            </p:stCondLst>
                            <p:childTnLst>
                              <p:par>
                                <p:cTn id="144" presetID="53" presetClass="entr" presetSubtype="16" fill="hold" grpId="0" nodeType="after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anim calcmode="lin" valueType="num">
                                      <p:cBhvr additive="base">
                                        <p:cTn id="147" dur="550" fill="hold"/>
                                        <p:tgtEl>
                                          <p:spTgt spid="37"/>
                                        </p:tgtEl>
                                        <p:attrNameLst>
                                          <p:attrName>ppt_w</p:attrName>
                                        </p:attrNameLst>
                                      </p:cBhvr>
                                      <p:tavLst>
                                        <p:tav tm="0">
                                          <p:val>
                                            <p:strVal val="0"/>
                                          </p:val>
                                        </p:tav>
                                        <p:tav tm="100000">
                                          <p:val>
                                            <p:strVal val="#ppt_w"/>
                                          </p:val>
                                        </p:tav>
                                      </p:tavLst>
                                    </p:anim>
                                    <p:anim calcmode="lin" valueType="num">
                                      <p:cBhvr additive="base">
                                        <p:cTn id="148" dur="550" fill="hold"/>
                                        <p:tgtEl>
                                          <p:spTgt spid="37"/>
                                        </p:tgtEl>
                                        <p:attrNameLst>
                                          <p:attrName>ppt_h</p:attrName>
                                        </p:attrNameLst>
                                      </p:cBhvr>
                                      <p:tavLst>
                                        <p:tav tm="0">
                                          <p:val>
                                            <p:strVal val="0"/>
                                          </p:val>
                                        </p:tav>
                                        <p:tav tm="100000">
                                          <p:val>
                                            <p:strVal val="#ppt_h"/>
                                          </p:val>
                                        </p:tav>
                                      </p:tavLst>
                                    </p:anim>
                                  </p:childTnLst>
                                </p:cTn>
                              </p:par>
                            </p:childTnLst>
                          </p:cTn>
                        </p:par>
                        <p:par>
                          <p:cTn id="149" fill="hold">
                            <p:stCondLst>
                              <p:cond delay="450"/>
                            </p:stCondLst>
                            <p:childTnLst>
                              <p:par>
                                <p:cTn id="150" presetID="10" presetClass="entr" presetSubtype="0" fill="hold" grpId="0" nodeType="afterEffect">
                                  <p:stCondLst>
                                    <p:cond delay="0"/>
                                  </p:stCondLst>
                                  <p:childTnLst>
                                    <p:set>
                                      <p:cBhvr>
                                        <p:cTn id="151" dur="1" fill="hold">
                                          <p:stCondLst>
                                            <p:cond delay="0"/>
                                          </p:stCondLst>
                                        </p:cTn>
                                        <p:tgtEl>
                                          <p:spTgt spid="38"/>
                                        </p:tgtEl>
                                        <p:attrNameLst>
                                          <p:attrName>style.visibility</p:attrName>
                                        </p:attrNameLst>
                                      </p:cBhvr>
                                      <p:to>
                                        <p:strVal val="visible"/>
                                      </p:to>
                                    </p:set>
                                    <p:animEffect transition="in" filter="fade">
                                      <p:cBhvr>
                                        <p:cTn id="152" dur="550"/>
                                        <p:tgtEl>
                                          <p:spTgt spid="38"/>
                                        </p:tgtEl>
                                      </p:cBhvr>
                                    </p:animEffect>
                                  </p:childTnLst>
                                </p:cTn>
                              </p:par>
                            </p:childTnLst>
                          </p:cTn>
                        </p:par>
                        <p:par>
                          <p:cTn id="153" fill="hold">
                            <p:stCondLst>
                              <p:cond delay="550"/>
                            </p:stCondLst>
                            <p:childTnLst>
                              <p:par>
                                <p:cTn id="154" presetID="2" presetClass="entr" presetSubtype="8" fill="hold" grpId="0" nodeType="afterEffect">
                                  <p:stCondLst>
                                    <p:cond delay="0"/>
                                  </p:stCondLst>
                                  <p:childTnLst>
                                    <p:set>
                                      <p:cBhvr>
                                        <p:cTn id="155" dur="1" fill="hold">
                                          <p:stCondLst>
                                            <p:cond delay="0"/>
                                          </p:stCondLst>
                                        </p:cTn>
                                        <p:tgtEl>
                                          <p:spTgt spid="39"/>
                                        </p:tgtEl>
                                        <p:attrNameLst>
                                          <p:attrName>style.visibility</p:attrName>
                                        </p:attrNameLst>
                                      </p:cBhvr>
                                      <p:to>
                                        <p:strVal val="visible"/>
                                      </p:to>
                                    </p:set>
                                    <p:anim calcmode="lin" valueType="num">
                                      <p:cBhvr additive="base">
                                        <p:cTn id="157" dur="550" fill="hold"/>
                                        <p:tgtEl>
                                          <p:spTgt spid="39"/>
                                        </p:tgtEl>
                                        <p:attrNameLst>
                                          <p:attrName>ppt_x</p:attrName>
                                        </p:attrNameLst>
                                      </p:cBhvr>
                                      <p:tavLst>
                                        <p:tav tm="0">
                                          <p:val>
                                            <p:strVal val="0-#ppt_w/2"/>
                                          </p:val>
                                        </p:tav>
                                        <p:tav tm="100000">
                                          <p:val>
                                            <p:strVal val="#ppt_x"/>
                                          </p:val>
                                        </p:tav>
                                      </p:tavLst>
                                    </p:anim>
                                    <p:anim calcmode="lin" valueType="num">
                                      <p:cBhvr additive="base">
                                        <p:cTn id="158" dur="550" fill="hold"/>
                                        <p:tgtEl>
                                          <p:spTgt spid="39"/>
                                        </p:tgtEl>
                                        <p:attrNameLst>
                                          <p:attrName>ppt_y</p:attrName>
                                        </p:attrNameLst>
                                      </p:cBhvr>
                                      <p:tavLst>
                                        <p:tav tm="0">
                                          <p:val>
                                            <p:strVal val="#ppt_y"/>
                                          </p:val>
                                        </p:tav>
                                        <p:tav tm="100000">
                                          <p:val>
                                            <p:strVal val="#ppt_y"/>
                                          </p:val>
                                        </p:tav>
                                      </p:tavLst>
                                    </p:anim>
                                  </p:childTnLst>
                                </p:cTn>
                              </p:par>
                            </p:childTnLst>
                          </p:cTn>
                        </p:par>
                        <p:par>
                          <p:cTn id="159" fill="hold">
                            <p:stCondLst>
                              <p:cond delay="650"/>
                            </p:stCondLst>
                            <p:childTnLst>
                              <p:par>
                                <p:cTn id="160" presetID="22" presetClass="entr" presetSubtype="8" fill="hold" grpId="0" nodeType="afterEffect">
                                  <p:stCondLst>
                                    <p:cond delay="0"/>
                                  </p:stCondLst>
                                  <p:childTnLst>
                                    <p:set>
                                      <p:cBhvr>
                                        <p:cTn id="161" dur="1" fill="hold">
                                          <p:stCondLst>
                                            <p:cond delay="0"/>
                                          </p:stCondLst>
                                        </p:cTn>
                                        <p:tgtEl>
                                          <p:spTgt spid="40"/>
                                        </p:tgtEl>
                                        <p:attrNameLst>
                                          <p:attrName>style.visibility</p:attrName>
                                        </p:attrNameLst>
                                      </p:cBhvr>
                                      <p:to>
                                        <p:strVal val="visible"/>
                                      </p:to>
                                    </p:set>
                                    <p:animEffect transition="in" filter="wipe(left)">
                                      <p:cBhvr>
                                        <p:cTn id="163" dur="8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Keng tarqalgan xatolar va amaliy tavsiyalar</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45</a:t>
            </a:r>
          </a:p>
        </p:txBody>
      </p:sp>
      <p:sp>
        <p:nvSpPr>
          <p:cNvPr id="24" name="Rounded Rectangle 23"/>
          <p:cNvSpPr/>
          <p:nvPr/>
        </p:nvSpPr>
        <p:spPr>
          <a:xfrm>
            <a:off x="550000" y="290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50000" y="298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60000" y="298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7" name="TextBox 26"/>
          <p:cNvSpPr txBox="1"/>
          <p:nvPr/>
        </p:nvSpPr>
        <p:spPr>
          <a:xfrm>
            <a:off x="1300000" y="2940000"/>
            <a:ext cx="10250000" cy="440000"/>
          </a:xfrm>
          <a:prstGeom prst="rect">
            <a:avLst/>
          </a:prstGeom>
          <a:noFill/>
        </p:spPr>
        <p:txBody>
          <a:bodyPr wrap="square" anchor="ctr">
            <a:spAutoFit/>
          </a:bodyPr>
          <a:lstStyle/>
          <a:p>
            <a:r>
              <a:rPr sz="1600" b="0">
                <a:solidFill>
                  <a:srgbClr val="E8EEFA"/>
                </a:solidFill>
                <a:latin typeface="Segoe UI"/>
              </a:rPr>
              <a:t>Cho'qqi TOPS'ni haqiqiy unumdorlik deb qabul qilish. Ishlab chiqaruvchi ko'rsatadigan TOPS ko'pincha siyraklik (sparsity) hisobga olingan va ideal yuklama uchun. Har doim dense qiymatni oling va 30–60 % samaradorlik koeffitsiyentini qo'llang.</a:t>
            </a:r>
          </a:p>
        </p:txBody>
      </p:sp>
      <p:sp>
        <p:nvSpPr>
          <p:cNvPr id="28" name="Rounded Rectangle 27"/>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3610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610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1" name="TextBox 30"/>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Faqat inferensni hisoblash. Dekodlash, o'lcham o'zgartirish, NMS, kuzatuv va tarmoq ko'pincha inferens vaqtidan ko'p bo'ladi. Butun quvur liniyasi uchun kechikish byudjeti tuzing.</a:t>
            </a:r>
          </a:p>
        </p:txBody>
      </p:sp>
      <p:sp>
        <p:nvSpPr>
          <p:cNvPr id="32" name="Rounded Rectangle 31"/>
          <p:cNvSpPr/>
          <p:nvPr/>
        </p:nvSpPr>
        <p:spPr>
          <a:xfrm>
            <a:off x="550000" y="416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4240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240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5" name="TextBox 34"/>
          <p:cNvSpPr txBox="1"/>
          <p:nvPr/>
        </p:nvSpPr>
        <p:spPr>
          <a:xfrm>
            <a:off x="1300000" y="4200000"/>
            <a:ext cx="10250000" cy="440000"/>
          </a:xfrm>
          <a:prstGeom prst="rect">
            <a:avLst/>
          </a:prstGeom>
          <a:noFill/>
        </p:spPr>
        <p:txBody>
          <a:bodyPr wrap="square" anchor="ctr">
            <a:spAutoFit/>
          </a:bodyPr>
          <a:lstStyle/>
          <a:p>
            <a:r>
              <a:rPr sz="1600" b="0">
                <a:solidFill>
                  <a:srgbClr val="E8EEFA"/>
                </a:solidFill>
                <a:latin typeface="Segoe UI"/>
              </a:rPr>
              <a:t>Aniqlik formatini e'tiborsiz qoldirish. Edge TPU faqat INT8, ko'pgina NPU'lar FP16 ni qo'llamaydi. Platformani tanlashdan oldin modelni shu formatga kvantlash mumkinligini tekshiring.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ppt_x</p:attrName>
                                        </p:attrNameLst>
                                      </p:cBhvr>
                                      <p:tavLst>
                                        <p:tav tm="0">
                                          <p:val>
                                            <p:strVal val="#ppt_x"/>
                                          </p:val>
                                        </p:tav>
                                        <p:tav tm="100000">
                                          <p:val>
                                            <p:strVal val="#ppt_x"/>
                                          </p:val>
                                        </p:tav>
                                      </p:tavLst>
                                    </p:anim>
                                    <p:anim calcmode="lin" valueType="num">
                                      <p:cBhvr additive="base">
                                        <p:cTn id="17" dur="550" fill="hold"/>
                                        <p:tgtEl>
                                          <p:spTgt spid="24"/>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ppt_x</p:attrName>
                                        </p:attrNameLst>
                                      </p:cBhvr>
                                      <p:tavLst>
                                        <p:tav tm="0">
                                          <p:val>
                                            <p:strVal val="#ppt_x"/>
                                          </p:val>
                                        </p:tav>
                                        <p:tav tm="100000">
                                          <p:val>
                                            <p:strVal val="#ppt_x"/>
                                          </p:val>
                                        </p:tav>
                                      </p:tavLst>
                                    </p:anim>
                                    <p:anim calcmode="lin" valueType="num">
                                      <p:cBhvr additive="base">
                                        <p:cTn id="23" dur="550" fill="hold"/>
                                        <p:tgtEl>
                                          <p:spTgt spid="25"/>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anim calcmode="lin" valueType="num">
                                      <p:cBhvr additive="base">
                                        <p:cTn id="28" dur="550" fill="hold"/>
                                        <p:tgtEl>
                                          <p:spTgt spid="26"/>
                                        </p:tgtEl>
                                        <p:attrNameLst>
                                          <p:attrName>ppt_w</p:attrName>
                                        </p:attrNameLst>
                                      </p:cBhvr>
                                      <p:tavLst>
                                        <p:tav tm="0">
                                          <p:val>
                                            <p:strVal val="0"/>
                                          </p:val>
                                        </p:tav>
                                        <p:tav tm="100000">
                                          <p:val>
                                            <p:strVal val="#ppt_w"/>
                                          </p:val>
                                        </p:tav>
                                      </p:tavLst>
                                    </p:anim>
                                    <p:anim calcmode="lin" valueType="num">
                                      <p:cBhvr additive="base">
                                        <p:cTn id="29" dur="550" fill="hold"/>
                                        <p:tgtEl>
                                          <p:spTgt spid="26"/>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50"/>
                                        <p:tgtEl>
                                          <p:spTgt spid="27"/>
                                        </p:tgtEl>
                                      </p:cBhvr>
                                    </p:animEffect>
                                    <p:anim calcmode="lin" valueType="num">
                                      <p:cBhvr additive="base">
                                        <p:cTn id="34" dur="550" fill="hold"/>
                                        <p:tgtEl>
                                          <p:spTgt spid="27"/>
                                        </p:tgtEl>
                                        <p:attrNameLst>
                                          <p:attrName>ppt_x</p:attrName>
                                        </p:attrNameLst>
                                      </p:cBhvr>
                                      <p:tavLst>
                                        <p:tav tm="0">
                                          <p:val>
                                            <p:strVal val="#ppt_x"/>
                                          </p:val>
                                        </p:tav>
                                        <p:tav tm="100000">
                                          <p:val>
                                            <p:strVal val="#ppt_x"/>
                                          </p:val>
                                        </p:tav>
                                      </p:tavLst>
                                    </p:anim>
                                    <p:anim calcmode="lin" valueType="num">
                                      <p:cBhvr additive="base">
                                        <p:cTn id="35" dur="550" fill="hold"/>
                                        <p:tgtEl>
                                          <p:spTgt spid="27"/>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50"/>
                                        <p:tgtEl>
                                          <p:spTgt spid="28"/>
                                        </p:tgtEl>
                                      </p:cBhvr>
                                    </p:animEffect>
                                    <p:anim calcmode="lin" valueType="num">
                                      <p:cBhvr additive="base">
                                        <p:cTn id="40" dur="550" fill="hold"/>
                                        <p:tgtEl>
                                          <p:spTgt spid="28"/>
                                        </p:tgtEl>
                                        <p:attrNameLst>
                                          <p:attrName>ppt_x</p:attrName>
                                        </p:attrNameLst>
                                      </p:cBhvr>
                                      <p:tavLst>
                                        <p:tav tm="0">
                                          <p:val>
                                            <p:strVal val="#ppt_x"/>
                                          </p:val>
                                        </p:tav>
                                        <p:tav tm="100000">
                                          <p:val>
                                            <p:strVal val="#ppt_x"/>
                                          </p:val>
                                        </p:tav>
                                      </p:tavLst>
                                    </p:anim>
                                    <p:anim calcmode="lin" valueType="num">
                                      <p:cBhvr additive="base">
                                        <p:cTn id="41" dur="550" fill="hold"/>
                                        <p:tgtEl>
                                          <p:spTgt spid="28"/>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50"/>
                                        <p:tgtEl>
                                          <p:spTgt spid="29"/>
                                        </p:tgtEl>
                                      </p:cBhvr>
                                    </p:animEffect>
                                    <p:anim calcmode="lin" valueType="num">
                                      <p:cBhvr additive="base">
                                        <p:cTn id="46" dur="550" fill="hold"/>
                                        <p:tgtEl>
                                          <p:spTgt spid="29"/>
                                        </p:tgtEl>
                                        <p:attrNameLst>
                                          <p:attrName>ppt_x</p:attrName>
                                        </p:attrNameLst>
                                      </p:cBhvr>
                                      <p:tavLst>
                                        <p:tav tm="0">
                                          <p:val>
                                            <p:strVal val="#ppt_x"/>
                                          </p:val>
                                        </p:tav>
                                        <p:tav tm="100000">
                                          <p:val>
                                            <p:strVal val="#ppt_x"/>
                                          </p:val>
                                        </p:tav>
                                      </p:tavLst>
                                    </p:anim>
                                    <p:anim calcmode="lin" valueType="num">
                                      <p:cBhvr additive="base">
                                        <p:cTn id="47" dur="550" fill="hold"/>
                                        <p:tgtEl>
                                          <p:spTgt spid="29"/>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50"/>
                                        <p:tgtEl>
                                          <p:spTgt spid="30"/>
                                        </p:tgtEl>
                                      </p:cBhvr>
                                    </p:animEffect>
                                    <p:anim calcmode="lin" valueType="num">
                                      <p:cBhvr additive="base">
                                        <p:cTn id="52" dur="550" fill="hold"/>
                                        <p:tgtEl>
                                          <p:spTgt spid="30"/>
                                        </p:tgtEl>
                                        <p:attrNameLst>
                                          <p:attrName>ppt_w</p:attrName>
                                        </p:attrNameLst>
                                      </p:cBhvr>
                                      <p:tavLst>
                                        <p:tav tm="0">
                                          <p:val>
                                            <p:strVal val="0"/>
                                          </p:val>
                                        </p:tav>
                                        <p:tav tm="100000">
                                          <p:val>
                                            <p:strVal val="#ppt_w"/>
                                          </p:val>
                                        </p:tav>
                                      </p:tavLst>
                                    </p:anim>
                                    <p:anim calcmode="lin" valueType="num">
                                      <p:cBhvr additive="base">
                                        <p:cTn id="53" dur="550" fill="hold"/>
                                        <p:tgtEl>
                                          <p:spTgt spid="30"/>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50"/>
                                        <p:tgtEl>
                                          <p:spTgt spid="31"/>
                                        </p:tgtEl>
                                      </p:cBhvr>
                                    </p:animEffect>
                                    <p:anim calcmode="lin" valueType="num">
                                      <p:cBhvr additive="base">
                                        <p:cTn id="58" dur="550" fill="hold"/>
                                        <p:tgtEl>
                                          <p:spTgt spid="31"/>
                                        </p:tgtEl>
                                        <p:attrNameLst>
                                          <p:attrName>ppt_x</p:attrName>
                                        </p:attrNameLst>
                                      </p:cBhvr>
                                      <p:tavLst>
                                        <p:tav tm="0">
                                          <p:val>
                                            <p:strVal val="#ppt_x"/>
                                          </p:val>
                                        </p:tav>
                                        <p:tav tm="100000">
                                          <p:val>
                                            <p:strVal val="#ppt_x"/>
                                          </p:val>
                                        </p:tav>
                                      </p:tavLst>
                                    </p:anim>
                                    <p:anim calcmode="lin" valueType="num">
                                      <p:cBhvr additive="base">
                                        <p:cTn id="59" dur="550" fill="hold"/>
                                        <p:tgtEl>
                                          <p:spTgt spid="31"/>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50"/>
                                        <p:tgtEl>
                                          <p:spTgt spid="32"/>
                                        </p:tgtEl>
                                      </p:cBhvr>
                                    </p:animEffect>
                                    <p:anim calcmode="lin" valueType="num">
                                      <p:cBhvr additive="base">
                                        <p:cTn id="64" dur="550" fill="hold"/>
                                        <p:tgtEl>
                                          <p:spTgt spid="32"/>
                                        </p:tgtEl>
                                        <p:attrNameLst>
                                          <p:attrName>ppt_x</p:attrName>
                                        </p:attrNameLst>
                                      </p:cBhvr>
                                      <p:tavLst>
                                        <p:tav tm="0">
                                          <p:val>
                                            <p:strVal val="#ppt_x"/>
                                          </p:val>
                                        </p:tav>
                                        <p:tav tm="100000">
                                          <p:val>
                                            <p:strVal val="#ppt_x"/>
                                          </p:val>
                                        </p:tav>
                                      </p:tavLst>
                                    </p:anim>
                                    <p:anim calcmode="lin" valueType="num">
                                      <p:cBhvr additive="base">
                                        <p:cTn id="65" dur="550" fill="hold"/>
                                        <p:tgtEl>
                                          <p:spTgt spid="32"/>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50"/>
                                        <p:tgtEl>
                                          <p:spTgt spid="33"/>
                                        </p:tgtEl>
                                      </p:cBhvr>
                                    </p:animEffect>
                                    <p:anim calcmode="lin" valueType="num">
                                      <p:cBhvr additive="base">
                                        <p:cTn id="70" dur="550" fill="hold"/>
                                        <p:tgtEl>
                                          <p:spTgt spid="33"/>
                                        </p:tgtEl>
                                        <p:attrNameLst>
                                          <p:attrName>ppt_x</p:attrName>
                                        </p:attrNameLst>
                                      </p:cBhvr>
                                      <p:tavLst>
                                        <p:tav tm="0">
                                          <p:val>
                                            <p:strVal val="#ppt_x"/>
                                          </p:val>
                                        </p:tav>
                                        <p:tav tm="100000">
                                          <p:val>
                                            <p:strVal val="#ppt_x"/>
                                          </p:val>
                                        </p:tav>
                                      </p:tavLst>
                                    </p:anim>
                                    <p:anim calcmode="lin" valueType="num">
                                      <p:cBhvr additive="base">
                                        <p:cTn id="71" dur="550" fill="hold"/>
                                        <p:tgtEl>
                                          <p:spTgt spid="33"/>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50"/>
                                        <p:tgtEl>
                                          <p:spTgt spid="34"/>
                                        </p:tgtEl>
                                      </p:cBhvr>
                                    </p:animEffect>
                                    <p:anim calcmode="lin" valueType="num">
                                      <p:cBhvr additive="base">
                                        <p:cTn id="76" dur="550" fill="hold"/>
                                        <p:tgtEl>
                                          <p:spTgt spid="34"/>
                                        </p:tgtEl>
                                        <p:attrNameLst>
                                          <p:attrName>ppt_w</p:attrName>
                                        </p:attrNameLst>
                                      </p:cBhvr>
                                      <p:tavLst>
                                        <p:tav tm="0">
                                          <p:val>
                                            <p:strVal val="0"/>
                                          </p:val>
                                        </p:tav>
                                        <p:tav tm="100000">
                                          <p:val>
                                            <p:strVal val="#ppt_w"/>
                                          </p:val>
                                        </p:tav>
                                      </p:tavLst>
                                    </p:anim>
                                    <p:anim calcmode="lin" valueType="num">
                                      <p:cBhvr additive="base">
                                        <p:cTn id="77" dur="550" fill="hold"/>
                                        <p:tgtEl>
                                          <p:spTgt spid="34"/>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550"/>
                                        <p:tgtEl>
                                          <p:spTgt spid="35"/>
                                        </p:tgtEl>
                                      </p:cBhvr>
                                    </p:animEffect>
                                    <p:anim calcmode="lin" valueType="num">
                                      <p:cBhvr additive="base">
                                        <p:cTn id="82" dur="550" fill="hold"/>
                                        <p:tgtEl>
                                          <p:spTgt spid="35"/>
                                        </p:tgtEl>
                                        <p:attrNameLst>
                                          <p:attrName>ppt_x</p:attrName>
                                        </p:attrNameLst>
                                      </p:cBhvr>
                                      <p:tavLst>
                                        <p:tav tm="0">
                                          <p:val>
                                            <p:strVal val="#ppt_x"/>
                                          </p:val>
                                        </p:tav>
                                        <p:tav tm="100000">
                                          <p:val>
                                            <p:strVal val="#ppt_x"/>
                                          </p:val>
                                        </p:tav>
                                      </p:tavLst>
                                    </p:anim>
                                    <p:anim calcmode="lin" valueType="num">
                                      <p:cBhvr additive="base">
                                        <p:cTn id="83"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Keng tarqalgan xatolar va amaliy tavsiyalar</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46</a:t>
            </a:r>
          </a:p>
        </p:txBody>
      </p:sp>
      <p:sp>
        <p:nvSpPr>
          <p:cNvPr id="25" name="Rounded Rectangle 24"/>
          <p:cNvSpPr/>
          <p:nvPr/>
        </p:nvSpPr>
        <p:spPr>
          <a:xfrm>
            <a:off x="550000" y="290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2980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2980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28" name="TextBox 27"/>
          <p:cNvSpPr txBox="1"/>
          <p:nvPr/>
        </p:nvSpPr>
        <p:spPr>
          <a:xfrm>
            <a:off x="1300000" y="2940000"/>
            <a:ext cx="10250000" cy="440000"/>
          </a:xfrm>
          <a:prstGeom prst="rect">
            <a:avLst/>
          </a:prstGeom>
          <a:noFill/>
        </p:spPr>
        <p:txBody>
          <a:bodyPr wrap="square" anchor="ctr">
            <a:spAutoFit/>
          </a:bodyPr>
          <a:lstStyle/>
          <a:p>
            <a:r>
              <a:rPr sz="1600" b="0">
                <a:solidFill>
                  <a:srgbClr val="E8EEFA"/>
                </a:solidFill>
                <a:latin typeface="Segoe UI"/>
              </a:rPr>
              <a:t>Operatorlar qamrovini tekshirmaslik. Model grafigidagi bitta qo'llab-quvvatlanmagan operator butun tezlatkichni foydasiz qilishi mumkin. ONNX eksport va tezlatkich kompilyatorining xabarnomalarini o'qing.</a:t>
            </a:r>
          </a:p>
        </p:txBody>
      </p:sp>
      <p:sp>
        <p:nvSpPr>
          <p:cNvPr id="29" name="Rounded Rectangle 28"/>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3610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610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2" name="TextBox 31"/>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Termal va mexanik muhitni unutish. 25 Vt chekka modul passiv radiator bilan +40 °C da throttling qiladi. Quvvat rejimini (nvpmodel) va sovutishni loyihaning qismi deb hisoblang.</a:t>
            </a:r>
          </a:p>
        </p:txBody>
      </p:sp>
      <p:sp>
        <p:nvSpPr>
          <p:cNvPr id="33" name="Rounded Rectangle 32"/>
          <p:cNvSpPr/>
          <p:nvPr/>
        </p:nvSpPr>
        <p:spPr>
          <a:xfrm>
            <a:off x="550000" y="416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4240000"/>
            <a:ext cx="50000" cy="3600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240000"/>
            <a:ext cx="360000" cy="36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36" name="TextBox 35"/>
          <p:cNvSpPr txBox="1"/>
          <p:nvPr/>
        </p:nvSpPr>
        <p:spPr>
          <a:xfrm>
            <a:off x="1300000" y="4200000"/>
            <a:ext cx="10250000" cy="440000"/>
          </a:xfrm>
          <a:prstGeom prst="rect">
            <a:avLst/>
          </a:prstGeom>
          <a:noFill/>
        </p:spPr>
        <p:txBody>
          <a:bodyPr wrap="square" anchor="ctr">
            <a:spAutoFit/>
          </a:bodyPr>
          <a:lstStyle/>
          <a:p>
            <a:r>
              <a:rPr sz="1600" b="0">
                <a:solidFill>
                  <a:srgbClr val="E8EEFA"/>
                </a:solidFill>
                <a:latin typeface="Segoe UI"/>
              </a:rPr>
              <a:t>O'rtacha kechikishni hisobot qilish. Foydalanuvchi uchun p95/p99 muhim. Kechikish taqsimotining «dumini» (tail latency) o'lchang va byudjetni shu bo'yicha tuzing.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ppt_x</p:attrName>
                                        </p:attrNameLst>
                                      </p:cBhvr>
                                      <p:tavLst>
                                        <p:tav tm="0">
                                          <p:val>
                                            <p:strVal val="#ppt_x"/>
                                          </p:val>
                                        </p:tav>
                                        <p:tav tm="100000">
                                          <p:val>
                                            <p:strVal val="#ppt_x"/>
                                          </p:val>
                                        </p:tav>
                                      </p:tavLst>
                                    </p:anim>
                                    <p:anim calcmode="lin" valueType="num">
                                      <p:cBhvr additive="base">
                                        <p:cTn id="17" dur="550" fill="hold"/>
                                        <p:tgtEl>
                                          <p:spTgt spid="25"/>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ppt_x</p:attrName>
                                        </p:attrNameLst>
                                      </p:cBhvr>
                                      <p:tavLst>
                                        <p:tav tm="0">
                                          <p:val>
                                            <p:strVal val="#ppt_x"/>
                                          </p:val>
                                        </p:tav>
                                        <p:tav tm="100000">
                                          <p:val>
                                            <p:strVal val="#ppt_x"/>
                                          </p:val>
                                        </p:tav>
                                      </p:tavLst>
                                    </p:anim>
                                    <p:anim calcmode="lin" valueType="num">
                                      <p:cBhvr additive="base">
                                        <p:cTn id="23" dur="550" fill="hold"/>
                                        <p:tgtEl>
                                          <p:spTgt spid="26"/>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anim calcmode="lin" valueType="num">
                                      <p:cBhvr additive="base">
                                        <p:cTn id="28" dur="550" fill="hold"/>
                                        <p:tgtEl>
                                          <p:spTgt spid="27"/>
                                        </p:tgtEl>
                                        <p:attrNameLst>
                                          <p:attrName>ppt_w</p:attrName>
                                        </p:attrNameLst>
                                      </p:cBhvr>
                                      <p:tavLst>
                                        <p:tav tm="0">
                                          <p:val>
                                            <p:strVal val="0"/>
                                          </p:val>
                                        </p:tav>
                                        <p:tav tm="100000">
                                          <p:val>
                                            <p:strVal val="#ppt_w"/>
                                          </p:val>
                                        </p:tav>
                                      </p:tavLst>
                                    </p:anim>
                                    <p:anim calcmode="lin" valueType="num">
                                      <p:cBhvr additive="base">
                                        <p:cTn id="29" dur="550" fill="hold"/>
                                        <p:tgtEl>
                                          <p:spTgt spid="27"/>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50"/>
                                        <p:tgtEl>
                                          <p:spTgt spid="28"/>
                                        </p:tgtEl>
                                      </p:cBhvr>
                                    </p:animEffect>
                                    <p:anim calcmode="lin" valueType="num">
                                      <p:cBhvr additive="base">
                                        <p:cTn id="34" dur="550" fill="hold"/>
                                        <p:tgtEl>
                                          <p:spTgt spid="28"/>
                                        </p:tgtEl>
                                        <p:attrNameLst>
                                          <p:attrName>ppt_x</p:attrName>
                                        </p:attrNameLst>
                                      </p:cBhvr>
                                      <p:tavLst>
                                        <p:tav tm="0">
                                          <p:val>
                                            <p:strVal val="#ppt_x"/>
                                          </p:val>
                                        </p:tav>
                                        <p:tav tm="100000">
                                          <p:val>
                                            <p:strVal val="#ppt_x"/>
                                          </p:val>
                                        </p:tav>
                                      </p:tavLst>
                                    </p:anim>
                                    <p:anim calcmode="lin" valueType="num">
                                      <p:cBhvr additive="base">
                                        <p:cTn id="35" dur="550" fill="hold"/>
                                        <p:tgtEl>
                                          <p:spTgt spid="28"/>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50"/>
                                        <p:tgtEl>
                                          <p:spTgt spid="29"/>
                                        </p:tgtEl>
                                      </p:cBhvr>
                                    </p:animEffect>
                                    <p:anim calcmode="lin" valueType="num">
                                      <p:cBhvr additive="base">
                                        <p:cTn id="40" dur="550" fill="hold"/>
                                        <p:tgtEl>
                                          <p:spTgt spid="29"/>
                                        </p:tgtEl>
                                        <p:attrNameLst>
                                          <p:attrName>ppt_x</p:attrName>
                                        </p:attrNameLst>
                                      </p:cBhvr>
                                      <p:tavLst>
                                        <p:tav tm="0">
                                          <p:val>
                                            <p:strVal val="#ppt_x"/>
                                          </p:val>
                                        </p:tav>
                                        <p:tav tm="100000">
                                          <p:val>
                                            <p:strVal val="#ppt_x"/>
                                          </p:val>
                                        </p:tav>
                                      </p:tavLst>
                                    </p:anim>
                                    <p:anim calcmode="lin" valueType="num">
                                      <p:cBhvr additive="base">
                                        <p:cTn id="41" dur="550" fill="hold"/>
                                        <p:tgtEl>
                                          <p:spTgt spid="29"/>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50"/>
                                        <p:tgtEl>
                                          <p:spTgt spid="30"/>
                                        </p:tgtEl>
                                      </p:cBhvr>
                                    </p:animEffect>
                                    <p:anim calcmode="lin" valueType="num">
                                      <p:cBhvr additive="base">
                                        <p:cTn id="46" dur="550" fill="hold"/>
                                        <p:tgtEl>
                                          <p:spTgt spid="30"/>
                                        </p:tgtEl>
                                        <p:attrNameLst>
                                          <p:attrName>ppt_x</p:attrName>
                                        </p:attrNameLst>
                                      </p:cBhvr>
                                      <p:tavLst>
                                        <p:tav tm="0">
                                          <p:val>
                                            <p:strVal val="#ppt_x"/>
                                          </p:val>
                                        </p:tav>
                                        <p:tav tm="100000">
                                          <p:val>
                                            <p:strVal val="#ppt_x"/>
                                          </p:val>
                                        </p:tav>
                                      </p:tavLst>
                                    </p:anim>
                                    <p:anim calcmode="lin" valueType="num">
                                      <p:cBhvr additive="base">
                                        <p:cTn id="47" dur="550" fill="hold"/>
                                        <p:tgtEl>
                                          <p:spTgt spid="30"/>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50"/>
                                        <p:tgtEl>
                                          <p:spTgt spid="31"/>
                                        </p:tgtEl>
                                      </p:cBhvr>
                                    </p:animEffect>
                                    <p:anim calcmode="lin" valueType="num">
                                      <p:cBhvr additive="base">
                                        <p:cTn id="52" dur="550" fill="hold"/>
                                        <p:tgtEl>
                                          <p:spTgt spid="31"/>
                                        </p:tgtEl>
                                        <p:attrNameLst>
                                          <p:attrName>ppt_w</p:attrName>
                                        </p:attrNameLst>
                                      </p:cBhvr>
                                      <p:tavLst>
                                        <p:tav tm="0">
                                          <p:val>
                                            <p:strVal val="0"/>
                                          </p:val>
                                        </p:tav>
                                        <p:tav tm="100000">
                                          <p:val>
                                            <p:strVal val="#ppt_w"/>
                                          </p:val>
                                        </p:tav>
                                      </p:tavLst>
                                    </p:anim>
                                    <p:anim calcmode="lin" valueType="num">
                                      <p:cBhvr additive="base">
                                        <p:cTn id="53" dur="550" fill="hold"/>
                                        <p:tgtEl>
                                          <p:spTgt spid="31"/>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50"/>
                                        <p:tgtEl>
                                          <p:spTgt spid="32"/>
                                        </p:tgtEl>
                                      </p:cBhvr>
                                    </p:animEffect>
                                    <p:anim calcmode="lin" valueType="num">
                                      <p:cBhvr additive="base">
                                        <p:cTn id="58" dur="550" fill="hold"/>
                                        <p:tgtEl>
                                          <p:spTgt spid="32"/>
                                        </p:tgtEl>
                                        <p:attrNameLst>
                                          <p:attrName>ppt_x</p:attrName>
                                        </p:attrNameLst>
                                      </p:cBhvr>
                                      <p:tavLst>
                                        <p:tav tm="0">
                                          <p:val>
                                            <p:strVal val="#ppt_x"/>
                                          </p:val>
                                        </p:tav>
                                        <p:tav tm="100000">
                                          <p:val>
                                            <p:strVal val="#ppt_x"/>
                                          </p:val>
                                        </p:tav>
                                      </p:tavLst>
                                    </p:anim>
                                    <p:anim calcmode="lin" valueType="num">
                                      <p:cBhvr additive="base">
                                        <p:cTn id="59" dur="550" fill="hold"/>
                                        <p:tgtEl>
                                          <p:spTgt spid="32"/>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50"/>
                                        <p:tgtEl>
                                          <p:spTgt spid="33"/>
                                        </p:tgtEl>
                                      </p:cBhvr>
                                    </p:animEffect>
                                    <p:anim calcmode="lin" valueType="num">
                                      <p:cBhvr additive="base">
                                        <p:cTn id="64" dur="550" fill="hold"/>
                                        <p:tgtEl>
                                          <p:spTgt spid="33"/>
                                        </p:tgtEl>
                                        <p:attrNameLst>
                                          <p:attrName>ppt_x</p:attrName>
                                        </p:attrNameLst>
                                      </p:cBhvr>
                                      <p:tavLst>
                                        <p:tav tm="0">
                                          <p:val>
                                            <p:strVal val="#ppt_x"/>
                                          </p:val>
                                        </p:tav>
                                        <p:tav tm="100000">
                                          <p:val>
                                            <p:strVal val="#ppt_x"/>
                                          </p:val>
                                        </p:tav>
                                      </p:tavLst>
                                    </p:anim>
                                    <p:anim calcmode="lin" valueType="num">
                                      <p:cBhvr additive="base">
                                        <p:cTn id="65" dur="550" fill="hold"/>
                                        <p:tgtEl>
                                          <p:spTgt spid="33"/>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50"/>
                                        <p:tgtEl>
                                          <p:spTgt spid="34"/>
                                        </p:tgtEl>
                                      </p:cBhvr>
                                    </p:animEffect>
                                    <p:anim calcmode="lin" valueType="num">
                                      <p:cBhvr additive="base">
                                        <p:cTn id="70" dur="550" fill="hold"/>
                                        <p:tgtEl>
                                          <p:spTgt spid="34"/>
                                        </p:tgtEl>
                                        <p:attrNameLst>
                                          <p:attrName>ppt_x</p:attrName>
                                        </p:attrNameLst>
                                      </p:cBhvr>
                                      <p:tavLst>
                                        <p:tav tm="0">
                                          <p:val>
                                            <p:strVal val="#ppt_x"/>
                                          </p:val>
                                        </p:tav>
                                        <p:tav tm="100000">
                                          <p:val>
                                            <p:strVal val="#ppt_x"/>
                                          </p:val>
                                        </p:tav>
                                      </p:tavLst>
                                    </p:anim>
                                    <p:anim calcmode="lin" valueType="num">
                                      <p:cBhvr additive="base">
                                        <p:cTn id="71" dur="550" fill="hold"/>
                                        <p:tgtEl>
                                          <p:spTgt spid="34"/>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550"/>
                                        <p:tgtEl>
                                          <p:spTgt spid="35"/>
                                        </p:tgtEl>
                                      </p:cBhvr>
                                    </p:animEffect>
                                    <p:anim calcmode="lin" valueType="num">
                                      <p:cBhvr additive="base">
                                        <p:cTn id="76" dur="550" fill="hold"/>
                                        <p:tgtEl>
                                          <p:spTgt spid="35"/>
                                        </p:tgtEl>
                                        <p:attrNameLst>
                                          <p:attrName>ppt_w</p:attrName>
                                        </p:attrNameLst>
                                      </p:cBhvr>
                                      <p:tavLst>
                                        <p:tav tm="0">
                                          <p:val>
                                            <p:strVal val="0"/>
                                          </p:val>
                                        </p:tav>
                                        <p:tav tm="100000">
                                          <p:val>
                                            <p:strVal val="#ppt_w"/>
                                          </p:val>
                                        </p:tav>
                                      </p:tavLst>
                                    </p:anim>
                                    <p:anim calcmode="lin" valueType="num">
                                      <p:cBhvr additive="base">
                                        <p:cTn id="77" dur="550" fill="hold"/>
                                        <p:tgtEl>
                                          <p:spTgt spid="35"/>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50"/>
                                        <p:tgtEl>
                                          <p:spTgt spid="36"/>
                                        </p:tgtEl>
                                      </p:cBhvr>
                                    </p:animEffect>
                                    <p:anim calcmode="lin" valueType="num">
                                      <p:cBhvr additive="base">
                                        <p:cTn id="82" dur="550" fill="hold"/>
                                        <p:tgtEl>
                                          <p:spTgt spid="36"/>
                                        </p:tgtEl>
                                        <p:attrNameLst>
                                          <p:attrName>ppt_x</p:attrName>
                                        </p:attrNameLst>
                                      </p:cBhvr>
                                      <p:tavLst>
                                        <p:tav tm="0">
                                          <p:val>
                                            <p:strVal val="#ppt_x"/>
                                          </p:val>
                                        </p:tav>
                                        <p:tav tm="100000">
                                          <p:val>
                                            <p:strVal val="#ppt_x"/>
                                          </p:val>
                                        </p:tav>
                                      </p:tavLst>
                                    </p:anim>
                                    <p:anim calcmode="lin" valueType="num">
                                      <p:cBhvr additive="base">
                                        <p:cTn id="83"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250000"/>
            <a:ext cx="9800000" cy="650000"/>
          </a:xfrm>
          <a:prstGeom prst="rect">
            <a:avLst/>
          </a:prstGeom>
          <a:noFill/>
        </p:spPr>
        <p:txBody>
          <a:bodyPr wrap="square" anchor="ctr" lIns="50800" rIns="50800">
            <a:spAutoFit/>
          </a:bodyPr>
          <a:lstStyle/>
          <a:p>
            <a:pPr algn="l"/>
            <a:r>
              <a:rPr sz="2600" b="1">
                <a:solidFill>
                  <a:srgbClr val="E8EEFA"/>
                </a:solidFill>
                <a:latin typeface="Segoe UI"/>
              </a:rPr>
              <a:t>Keng tarqalgan xatolar va amaliy tavsiyalar</a:t>
            </a:r>
          </a:p>
        </p:txBody>
      </p:sp>
      <p:sp>
        <p:nvSpPr>
          <p:cNvPr id="18" name="Rectangle 17"/>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0" name="Rounded Rectangle 19"/>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47</a:t>
            </a:r>
          </a:p>
        </p:txBody>
      </p:sp>
      <p:sp>
        <p:nvSpPr>
          <p:cNvPr id="21" name="Rounded Rectangle 20"/>
          <p:cNvSpPr/>
          <p:nvPr/>
        </p:nvSpPr>
        <p:spPr>
          <a:xfrm>
            <a:off x="550000" y="321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3295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0000" y="3295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07</a:t>
            </a:r>
          </a:p>
        </p:txBody>
      </p:sp>
      <p:sp>
        <p:nvSpPr>
          <p:cNvPr id="24" name="TextBox 23"/>
          <p:cNvSpPr txBox="1"/>
          <p:nvPr/>
        </p:nvSpPr>
        <p:spPr>
          <a:xfrm>
            <a:off x="1300000" y="3255000"/>
            <a:ext cx="10250000" cy="440000"/>
          </a:xfrm>
          <a:prstGeom prst="rect">
            <a:avLst/>
          </a:prstGeom>
          <a:noFill/>
        </p:spPr>
        <p:txBody>
          <a:bodyPr wrap="square" anchor="ctr">
            <a:spAutoFit/>
          </a:bodyPr>
          <a:lstStyle/>
          <a:p>
            <a:r>
              <a:rPr sz="1600" b="0">
                <a:solidFill>
                  <a:srgbClr val="E8EEFA"/>
                </a:solidFill>
                <a:latin typeface="Segoe UI"/>
              </a:rPr>
              <a:t>TCO'ni faqat apparat narxi deb bilish. Elektr energiyasi, sovutish, texnik xizmat, dasturiy litsenziyalar va muhandis vaqti 3–5 yil davomida apparat narxidan oshib ketadi.</a:t>
            </a:r>
          </a:p>
        </p:txBody>
      </p:sp>
      <p:sp>
        <p:nvSpPr>
          <p:cNvPr id="25" name="Rounded Rectangle 24"/>
          <p:cNvSpPr/>
          <p:nvPr/>
        </p:nvSpPr>
        <p:spPr>
          <a:xfrm>
            <a:off x="550000" y="384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3925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3925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08</a:t>
            </a:r>
          </a:p>
        </p:txBody>
      </p:sp>
      <p:sp>
        <p:nvSpPr>
          <p:cNvPr id="28" name="TextBox 27"/>
          <p:cNvSpPr txBox="1"/>
          <p:nvPr/>
        </p:nvSpPr>
        <p:spPr>
          <a:xfrm>
            <a:off x="1300000" y="3885000"/>
            <a:ext cx="10250000" cy="440000"/>
          </a:xfrm>
          <a:prstGeom prst="rect">
            <a:avLst/>
          </a:prstGeom>
          <a:noFill/>
        </p:spPr>
        <p:txBody>
          <a:bodyPr wrap="square" anchor="ctr">
            <a:spAutoFit/>
          </a:bodyPr>
          <a:lstStyle/>
          <a:p>
            <a:r>
              <a:rPr sz="1600" b="0">
                <a:solidFill>
                  <a:srgbClr val="E8EEFA"/>
                </a:solidFill>
                <a:latin typeface="Segoe UI"/>
              </a:rPr>
              <a:t>Hujjatlashtirmaslik. Qaror asoslari (talablar matritsasi, rad etish sabablari) yozilmasa, 6 oydan keyin «nega aynan shu platforma?» savoliga hech kim javob bera olmaydi.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7"/>
                                        </p:tgtEl>
                                        <p:attrNameLst>
                                          <p:attrName>style.visibility</p:attrName>
                                        </p:attrNameLst>
                                      </p:cBhvr>
                                      <p:to>
                                        <p:strVal val="visible"/>
                                      </p:to>
                                    </p:set>
                                    <p:animEffect transition="in" filter="fade">
                                      <p:cBhvr>
                                        <p:cTn id="6" dur="550"/>
                                        <p:tgtEl>
                                          <p:spTgt spid="17"/>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1" dur="800"/>
                                        <p:tgtEl>
                                          <p:spTgt spid="18"/>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50"/>
                                        <p:tgtEl>
                                          <p:spTgt spid="21"/>
                                        </p:tgtEl>
                                      </p:cBhvr>
                                    </p:animEffect>
                                    <p:anim calcmode="lin" valueType="num">
                                      <p:cBhvr additive="base">
                                        <p:cTn id="16" dur="550" fill="hold"/>
                                        <p:tgtEl>
                                          <p:spTgt spid="21"/>
                                        </p:tgtEl>
                                        <p:attrNameLst>
                                          <p:attrName>ppt_x</p:attrName>
                                        </p:attrNameLst>
                                      </p:cBhvr>
                                      <p:tavLst>
                                        <p:tav tm="0">
                                          <p:val>
                                            <p:strVal val="#ppt_x"/>
                                          </p:val>
                                        </p:tav>
                                        <p:tav tm="100000">
                                          <p:val>
                                            <p:strVal val="#ppt_x"/>
                                          </p:val>
                                        </p:tav>
                                      </p:tavLst>
                                    </p:anim>
                                    <p:anim calcmode="lin" valueType="num">
                                      <p:cBhvr additive="base">
                                        <p:cTn id="17" dur="550" fill="hold"/>
                                        <p:tgtEl>
                                          <p:spTgt spid="21"/>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50"/>
                                        <p:tgtEl>
                                          <p:spTgt spid="22"/>
                                        </p:tgtEl>
                                      </p:cBhvr>
                                    </p:animEffect>
                                    <p:anim calcmode="lin" valueType="num">
                                      <p:cBhvr additive="base">
                                        <p:cTn id="22" dur="550" fill="hold"/>
                                        <p:tgtEl>
                                          <p:spTgt spid="22"/>
                                        </p:tgtEl>
                                        <p:attrNameLst>
                                          <p:attrName>ppt_x</p:attrName>
                                        </p:attrNameLst>
                                      </p:cBhvr>
                                      <p:tavLst>
                                        <p:tav tm="0">
                                          <p:val>
                                            <p:strVal val="#ppt_x"/>
                                          </p:val>
                                        </p:tav>
                                        <p:tav tm="100000">
                                          <p:val>
                                            <p:strVal val="#ppt_x"/>
                                          </p:val>
                                        </p:tav>
                                      </p:tavLst>
                                    </p:anim>
                                    <p:anim calcmode="lin" valueType="num">
                                      <p:cBhvr additive="base">
                                        <p:cTn id="23" dur="550" fill="hold"/>
                                        <p:tgtEl>
                                          <p:spTgt spid="22"/>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50"/>
                                        <p:tgtEl>
                                          <p:spTgt spid="23"/>
                                        </p:tgtEl>
                                      </p:cBhvr>
                                    </p:animEffect>
                                    <p:anim calcmode="lin" valueType="num">
                                      <p:cBhvr additive="base">
                                        <p:cTn id="28" dur="550" fill="hold"/>
                                        <p:tgtEl>
                                          <p:spTgt spid="23"/>
                                        </p:tgtEl>
                                        <p:attrNameLst>
                                          <p:attrName>ppt_w</p:attrName>
                                        </p:attrNameLst>
                                      </p:cBhvr>
                                      <p:tavLst>
                                        <p:tav tm="0">
                                          <p:val>
                                            <p:strVal val="0"/>
                                          </p:val>
                                        </p:tav>
                                        <p:tav tm="100000">
                                          <p:val>
                                            <p:strVal val="#ppt_w"/>
                                          </p:val>
                                        </p:tav>
                                      </p:tavLst>
                                    </p:anim>
                                    <p:anim calcmode="lin" valueType="num">
                                      <p:cBhvr additive="base">
                                        <p:cTn id="29" dur="550" fill="hold"/>
                                        <p:tgtEl>
                                          <p:spTgt spid="23"/>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50"/>
                                        <p:tgtEl>
                                          <p:spTgt spid="24"/>
                                        </p:tgtEl>
                                      </p:cBhvr>
                                    </p:animEffect>
                                    <p:anim calcmode="lin" valueType="num">
                                      <p:cBhvr additive="base">
                                        <p:cTn id="34" dur="550" fill="hold"/>
                                        <p:tgtEl>
                                          <p:spTgt spid="24"/>
                                        </p:tgtEl>
                                        <p:attrNameLst>
                                          <p:attrName>ppt_x</p:attrName>
                                        </p:attrNameLst>
                                      </p:cBhvr>
                                      <p:tavLst>
                                        <p:tav tm="0">
                                          <p:val>
                                            <p:strVal val="#ppt_x"/>
                                          </p:val>
                                        </p:tav>
                                        <p:tav tm="100000">
                                          <p:val>
                                            <p:strVal val="#ppt_x"/>
                                          </p:val>
                                        </p:tav>
                                      </p:tavLst>
                                    </p:anim>
                                    <p:anim calcmode="lin" valueType="num">
                                      <p:cBhvr additive="base">
                                        <p:cTn id="35" dur="550" fill="hold"/>
                                        <p:tgtEl>
                                          <p:spTgt spid="24"/>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50"/>
                                        <p:tgtEl>
                                          <p:spTgt spid="25"/>
                                        </p:tgtEl>
                                      </p:cBhvr>
                                    </p:animEffect>
                                    <p:anim calcmode="lin" valueType="num">
                                      <p:cBhvr additive="base">
                                        <p:cTn id="40" dur="550" fill="hold"/>
                                        <p:tgtEl>
                                          <p:spTgt spid="25"/>
                                        </p:tgtEl>
                                        <p:attrNameLst>
                                          <p:attrName>ppt_x</p:attrName>
                                        </p:attrNameLst>
                                      </p:cBhvr>
                                      <p:tavLst>
                                        <p:tav tm="0">
                                          <p:val>
                                            <p:strVal val="#ppt_x"/>
                                          </p:val>
                                        </p:tav>
                                        <p:tav tm="100000">
                                          <p:val>
                                            <p:strVal val="#ppt_x"/>
                                          </p:val>
                                        </p:tav>
                                      </p:tavLst>
                                    </p:anim>
                                    <p:anim calcmode="lin" valueType="num">
                                      <p:cBhvr additive="base">
                                        <p:cTn id="41" dur="550" fill="hold"/>
                                        <p:tgtEl>
                                          <p:spTgt spid="25"/>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50"/>
                                        <p:tgtEl>
                                          <p:spTgt spid="26"/>
                                        </p:tgtEl>
                                      </p:cBhvr>
                                    </p:animEffect>
                                    <p:anim calcmode="lin" valueType="num">
                                      <p:cBhvr additive="base">
                                        <p:cTn id="46" dur="550" fill="hold"/>
                                        <p:tgtEl>
                                          <p:spTgt spid="26"/>
                                        </p:tgtEl>
                                        <p:attrNameLst>
                                          <p:attrName>ppt_x</p:attrName>
                                        </p:attrNameLst>
                                      </p:cBhvr>
                                      <p:tavLst>
                                        <p:tav tm="0">
                                          <p:val>
                                            <p:strVal val="#ppt_x"/>
                                          </p:val>
                                        </p:tav>
                                        <p:tav tm="100000">
                                          <p:val>
                                            <p:strVal val="#ppt_x"/>
                                          </p:val>
                                        </p:tav>
                                      </p:tavLst>
                                    </p:anim>
                                    <p:anim calcmode="lin" valueType="num">
                                      <p:cBhvr additive="base">
                                        <p:cTn id="47" dur="550" fill="hold"/>
                                        <p:tgtEl>
                                          <p:spTgt spid="26"/>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50"/>
                                        <p:tgtEl>
                                          <p:spTgt spid="27"/>
                                        </p:tgtEl>
                                      </p:cBhvr>
                                    </p:animEffect>
                                    <p:anim calcmode="lin" valueType="num">
                                      <p:cBhvr additive="base">
                                        <p:cTn id="52" dur="550" fill="hold"/>
                                        <p:tgtEl>
                                          <p:spTgt spid="27"/>
                                        </p:tgtEl>
                                        <p:attrNameLst>
                                          <p:attrName>ppt_w</p:attrName>
                                        </p:attrNameLst>
                                      </p:cBhvr>
                                      <p:tavLst>
                                        <p:tav tm="0">
                                          <p:val>
                                            <p:strVal val="0"/>
                                          </p:val>
                                        </p:tav>
                                        <p:tav tm="100000">
                                          <p:val>
                                            <p:strVal val="#ppt_w"/>
                                          </p:val>
                                        </p:tav>
                                      </p:tavLst>
                                    </p:anim>
                                    <p:anim calcmode="lin" valueType="num">
                                      <p:cBhvr additive="base">
                                        <p:cTn id="53" dur="550" fill="hold"/>
                                        <p:tgtEl>
                                          <p:spTgt spid="27"/>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50"/>
                                        <p:tgtEl>
                                          <p:spTgt spid="28"/>
                                        </p:tgtEl>
                                      </p:cBhvr>
                                    </p:animEffect>
                                    <p:anim calcmode="lin" valueType="num">
                                      <p:cBhvr additive="base">
                                        <p:cTn id="58" dur="550" fill="hold"/>
                                        <p:tgtEl>
                                          <p:spTgt spid="28"/>
                                        </p:tgtEl>
                                        <p:attrNameLst>
                                          <p:attrName>ppt_x</p:attrName>
                                        </p:attrNameLst>
                                      </p:cBhvr>
                                      <p:tavLst>
                                        <p:tav tm="0">
                                          <p:val>
                                            <p:strVal val="#ppt_x"/>
                                          </p:val>
                                        </p:tav>
                                        <p:tav tm="100000">
                                          <p:val>
                                            <p:strVal val="#ppt_x"/>
                                          </p:val>
                                        </p:tav>
                                      </p:tavLst>
                                    </p:anim>
                                    <p:anim calcmode="lin" valueType="num">
                                      <p:cBhvr additive="base">
                                        <p:cTn id="59"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LABORATORIYA</a:t>
            </a:r>
          </a:p>
        </p:txBody>
      </p:sp>
      <p:sp>
        <p:nvSpPr>
          <p:cNvPr id="23" name="TextBox 22"/>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Virtual laboratoriya va kodlar</a:t>
            </a:r>
          </a:p>
        </p:txBody>
      </p:sp>
      <p:sp>
        <p:nvSpPr>
          <p:cNvPr id="24" name="Rectangle 23"/>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A1 · Sun'iy intellektga asoslangan kompyuter tizimlari arxitekturasini tahlil qilish va loyihalash</a:t>
            </a:r>
          </a:p>
        </p:txBody>
      </p:sp>
      <p:sp>
        <p:nvSpPr>
          <p:cNvPr id="26" name="Rounded Rectangle 25"/>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48</a:t>
            </a:r>
          </a:p>
        </p:txBody>
      </p:sp>
      <p:sp>
        <p:nvSpPr>
          <p:cNvPr id="27" name="Rounded Rectangle 26"/>
          <p:cNvSpPr/>
          <p:nvPr/>
        </p:nvSpPr>
        <p:spPr>
          <a:xfrm>
            <a:off x="8150000" y="1450000"/>
            <a:ext cx="3500000" cy="3500000"/>
          </a:xfrm>
          <a:prstGeom prst="roundRect">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2"/>
          <a:stretch>
            <a:fillRect/>
          </a:stretch>
        </p:blipFill>
        <p:spPr>
          <a:xfrm>
            <a:off x="8300000" y="1600000"/>
            <a:ext cx="3200000" cy="3200000"/>
          </a:xfrm>
          <a:prstGeom prst="rect">
            <a:avLst/>
          </a:prstGeom>
        </p:spPr>
      </p:pic>
      <p:sp>
        <p:nvSpPr>
          <p:cNvPr id="29" name="TextBox 28"/>
          <p:cNvSpPr txBox="1"/>
          <p:nvPr/>
        </p:nvSpPr>
        <p:spPr>
          <a:xfrm>
            <a:off x="600000" y="1500000"/>
            <a:ext cx="7300000" cy="4600000"/>
          </a:xfrm>
          <a:prstGeom prst="rect">
            <a:avLst/>
          </a:prstGeom>
          <a:noFill/>
        </p:spPr>
        <p:txBody>
          <a:bodyPr wrap="square" anchor="t" lIns="50800" rIns="50800">
            <a:spAutoFit/>
          </a:bodyPr>
          <a:lstStyle/>
          <a:p>
            <a:pPr algn="l"/>
            <a:r>
              <a:rPr sz="1800" b="0">
                <a:solidFill>
                  <a:srgbClr val="E8EEFA"/>
                </a:solidFill>
                <a:latin typeface="Segoe UI"/>
              </a:rPr>
              <a:t>Saytda bajarish: https://aiscan.airi.uz/ktm/ → Mavzular → A1 → 🧪 Virtual bajarish (7 bosqich)</a:t>
            </a:r>
          </a:p>
          <a:p>
            <a:pPr algn="l"/>
            <a:r>
              <a:rPr sz="1800" b="0">
                <a:solidFill>
                  <a:srgbClr val="E8EEFA"/>
                </a:solidFill>
                <a:latin typeface="Segoe UI"/>
              </a:rPr>
              <a:t>Kodlarni ko‘chirib olish — QR kod yoki:</a:t>
            </a:r>
          </a:p>
          <a:p>
            <a:pPr algn="l"/>
            <a:r>
              <a:rPr sz="1800" b="0">
                <a:solidFill>
                  <a:srgbClr val="E8EEFA"/>
                </a:solidFill>
                <a:latin typeface="Segoe UI"/>
              </a:rPr>
              <a:t>git clone https://github.com/sayka7/ktm_labs.git</a:t>
            </a:r>
          </a:p>
          <a:p>
            <a:pPr algn="l"/>
            <a:r>
              <a:rPr sz="1800" b="0">
                <a:solidFill>
                  <a:srgbClr val="E8EEFA"/>
                </a:solidFill>
                <a:latin typeface="Segoe UI"/>
              </a:rPr>
              <a:t>Mustaqil topshiriq: 20 variantdan o‘zingizniki (jurnal raqami bo‘yicha)</a:t>
            </a:r>
          </a:p>
          <a:p>
            <a:pPr algn="l"/>
            <a:r>
              <a:rPr sz="1800" b="0">
                <a:solidFill>
                  <a:srgbClr val="E8EEFA"/>
                </a:solidFill>
                <a:latin typeface="Segoe UI"/>
              </a:rPr>
              <a:t>Topshirish: saytdagi «📤 Topshirish va baho» — avtomatik tekshiruv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550"/>
                                        <p:tgtEl>
                                          <p:spTgt spid="2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1" dur="800"/>
                                        <p:tgtEl>
                                          <p:spTgt spid="24"/>
                                        </p:tgtEl>
                                      </p:cBhvr>
                                    </p:animEffect>
                                  </p:childTnLst>
                                </p:cTn>
                              </p:par>
                            </p:childTnLst>
                          </p:cTn>
                        </p:par>
                        <p:par>
                          <p:cTn id="12" fill="hold">
                            <p:stCondLst>
                              <p:cond delay="200"/>
                            </p:stCondLst>
                            <p:childTnLst>
                              <p:par>
                                <p:cTn id="13" presetID="53" presetClass="entr" presetSubtype="16"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50"/>
                                        <p:tgtEl>
                                          <p:spTgt spid="27"/>
                                        </p:tgtEl>
                                      </p:cBhvr>
                                    </p:animEffect>
                                    <p:anim calcmode="lin" valueType="num">
                                      <p:cBhvr additive="base">
                                        <p:cTn id="16" dur="550" fill="hold"/>
                                        <p:tgtEl>
                                          <p:spTgt spid="27"/>
                                        </p:tgtEl>
                                        <p:attrNameLst>
                                          <p:attrName>ppt_w</p:attrName>
                                        </p:attrNameLst>
                                      </p:cBhvr>
                                      <p:tavLst>
                                        <p:tav tm="0">
                                          <p:val>
                                            <p:strVal val="0"/>
                                          </p:val>
                                        </p:tav>
                                        <p:tav tm="100000">
                                          <p:val>
                                            <p:strVal val="#ppt_w"/>
                                          </p:val>
                                        </p:tav>
                                      </p:tavLst>
                                    </p:anim>
                                    <p:anim calcmode="lin" valueType="num">
                                      <p:cBhvr additive="base">
                                        <p:cTn id="17" dur="550" fill="hold"/>
                                        <p:tgtEl>
                                          <p:spTgt spid="27"/>
                                        </p:tgtEl>
                                        <p:attrNameLst>
                                          <p:attrName>ppt_h</p:attrName>
                                        </p:attrNameLst>
                                      </p:cBhvr>
                                      <p:tavLst>
                                        <p:tav tm="0">
                                          <p:val>
                                            <p:strVal val="0"/>
                                          </p:val>
                                        </p:tav>
                                        <p:tav tm="100000">
                                          <p:val>
                                            <p:strVal val="#ppt_h"/>
                                          </p:val>
                                        </p:tav>
                                      </p:tavLst>
                                    </p:anim>
                                  </p:childTnLst>
                                </p:cTn>
                              </p:par>
                            </p:childTnLst>
                          </p:cTn>
                        </p:par>
                        <p:par>
                          <p:cTn id="18" fill="hold">
                            <p:stCondLst>
                              <p:cond delay="200"/>
                            </p:stCondLst>
                            <p:childTnLst>
                              <p:par>
                                <p:cTn id="19" presetID="53" presetClass="entr" presetSubtype="16"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50"/>
                                        <p:tgtEl>
                                          <p:spTgt spid="28"/>
                                        </p:tgtEl>
                                      </p:cBhvr>
                                    </p:animEffect>
                                    <p:anim calcmode="lin" valueType="num">
                                      <p:cBhvr additive="base">
                                        <p:cTn id="22" dur="550" fill="hold"/>
                                        <p:tgtEl>
                                          <p:spTgt spid="28"/>
                                        </p:tgtEl>
                                        <p:attrNameLst>
                                          <p:attrName>ppt_w</p:attrName>
                                        </p:attrNameLst>
                                      </p:cBhvr>
                                      <p:tavLst>
                                        <p:tav tm="0">
                                          <p:val>
                                            <p:strVal val="0"/>
                                          </p:val>
                                        </p:tav>
                                        <p:tav tm="100000">
                                          <p:val>
                                            <p:strVal val="#ppt_w"/>
                                          </p:val>
                                        </p:tav>
                                      </p:tavLst>
                                    </p:anim>
                                    <p:anim calcmode="lin" valueType="num">
                                      <p:cBhvr additive="base">
                                        <p:cTn id="23" dur="550" fill="hold"/>
                                        <p:tgtEl>
                                          <p:spTgt spid="28"/>
                                        </p:tgtEl>
                                        <p:attrNameLst>
                                          <p:attrName>ppt_h</p:attrName>
                                        </p:attrNameLst>
                                      </p:cBhvr>
                                      <p:tavLst>
                                        <p:tav tm="0">
                                          <p:val>
                                            <p:strVal val="0"/>
                                          </p:val>
                                        </p:tav>
                                        <p:tav tm="100000">
                                          <p:val>
                                            <p:strVal val="#ppt_h"/>
                                          </p:val>
                                        </p:tav>
                                      </p:tavLst>
                                    </p:anim>
                                  </p:childTnLst>
                                </p:cTn>
                              </p:par>
                            </p:childTnLst>
                          </p:cTn>
                        </p:par>
                        <p:par>
                          <p:cTn id="24" fill="hold">
                            <p:stCondLst>
                              <p:cond delay="350"/>
                            </p:stCondLst>
                            <p:childTnLst>
                              <p:par>
                                <p:cTn id="25" presetID="42"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anim calcmode="lin" valueType="num">
                                      <p:cBhvr additive="base">
                                        <p:cTn id="28" dur="550" fill="hold"/>
                                        <p:tgtEl>
                                          <p:spTgt spid="29"/>
                                        </p:tgtEl>
                                        <p:attrNameLst>
                                          <p:attrName>ppt_x</p:attrName>
                                        </p:attrNameLst>
                                      </p:cBhvr>
                                      <p:tavLst>
                                        <p:tav tm="0">
                                          <p:val>
                                            <p:strVal val="#ppt_x"/>
                                          </p:val>
                                        </p:tav>
                                        <p:tav tm="100000">
                                          <p:val>
                                            <p:strVal val="#ppt_x"/>
                                          </p:val>
                                        </p:tav>
                                      </p:tavLst>
                                    </p:anim>
                                    <p:anim calcmode="lin" valueType="num">
                                      <p:cBhvr additive="base">
                                        <p:cTn id="29"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9"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80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0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0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80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80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0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0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0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45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5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0000" y="766666"/>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50000" y="766666"/>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450000" y="728571"/>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50000" y="1033333"/>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5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45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45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450000" y="1185714"/>
            <a:ext cx="2650000" cy="11428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45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50000" y="1300000"/>
            <a:ext cx="2650000" cy="57142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45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5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450000" y="1185714"/>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50000" y="1566666"/>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45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5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45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450000" y="1642857"/>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5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0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0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0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100000" y="766666"/>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0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0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10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100000" y="1033333"/>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00000" y="1185714"/>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0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10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100000" y="1300000"/>
            <a:ext cx="2650000" cy="11428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0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00000" y="1414285"/>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100000" y="766666"/>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10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0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100000" y="1566666"/>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10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10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10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75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75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75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75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75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75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75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75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75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75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75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75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3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3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3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3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3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030000" y="658571"/>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030000" y="887142"/>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030000" y="1115714"/>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030000" y="1344285"/>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030000" y="1572857"/>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030000" y="1801428"/>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6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6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6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6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6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13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3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13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00000" y="2500000"/>
            <a:ext cx="10800000" cy="1100000"/>
          </a:xfrm>
          <a:prstGeom prst="rect">
            <a:avLst/>
          </a:prstGeom>
          <a:noFill/>
        </p:spPr>
        <p:txBody>
          <a:bodyPr wrap="square" anchor="t" lIns="50800" rIns="50800">
            <a:spAutoFit/>
          </a:bodyPr>
          <a:lstStyle/>
          <a:p>
            <a:pPr algn="ctr"/>
            <a:r>
              <a:rPr sz="4400" b="1">
                <a:solidFill>
                  <a:srgbClr val="E8EEFA"/>
                </a:solidFill>
                <a:latin typeface="Segoe UI"/>
              </a:rPr>
              <a:t>E’tiboringiz uchun rahmat!</a:t>
            </a:r>
          </a:p>
        </p:txBody>
      </p:sp>
      <p:sp>
        <p:nvSpPr>
          <p:cNvPr id="91" name="Rectangle 90"/>
          <p:cNvSpPr/>
          <p:nvPr/>
        </p:nvSpPr>
        <p:spPr>
          <a:xfrm>
            <a:off x="4800000" y="3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00000" y="3850000"/>
            <a:ext cx="10800000" cy="500000"/>
          </a:xfrm>
          <a:prstGeom prst="rect">
            <a:avLst/>
          </a:prstGeom>
          <a:noFill/>
        </p:spPr>
        <p:txBody>
          <a:bodyPr wrap="square" anchor="t" lIns="50800" rIns="50800">
            <a:spAutoFit/>
          </a:bodyPr>
          <a:lstStyle/>
          <a:p>
            <a:pPr algn="ctr"/>
            <a:r>
              <a:rPr sz="2600" b="1">
                <a:solidFill>
                  <a:srgbClr val="22D3EE"/>
                </a:solidFill>
                <a:latin typeface="Segoe UI"/>
              </a:rPr>
              <a:t>Savollar?</a:t>
            </a:r>
          </a:p>
        </p:txBody>
      </p:sp>
      <p:sp>
        <p:nvSpPr>
          <p:cNvPr id="93" name="TextBox 92"/>
          <p:cNvSpPr txBox="1"/>
          <p:nvPr/>
        </p:nvSpPr>
        <p:spPr>
          <a:xfrm>
            <a:off x="1200000" y="4800000"/>
            <a:ext cx="9800000" cy="800000"/>
          </a:xfrm>
          <a:prstGeom prst="rect">
            <a:avLst/>
          </a:prstGeom>
          <a:noFill/>
        </p:spPr>
        <p:txBody>
          <a:bodyPr wrap="square" anchor="t" lIns="50800" rIns="50800">
            <a:spAutoFit/>
          </a:bodyPr>
          <a:lstStyle/>
          <a:p>
            <a:pPr algn="ctr"/>
            <a:r>
              <a:rPr sz="1400" b="0">
                <a:solidFill>
                  <a:srgbClr val="AEBBD9"/>
                </a:solidFill>
                <a:latin typeface="Segoe UI"/>
              </a:rPr>
              <a:t>Mavzu matni va materiallar: https://aiscan.airi.uz/ktm/#/c/mis2104/mavzu/A1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7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0"/>
                            </p:stCondLst>
                            <p:childTnLst>
                              <p:par>
                                <p:cTn id="236" presetID="10" presetClass="entr" presetSubtype="0" fill="hold" grpId="0" nodeType="afterEffect">
                                  <p:stCondLst>
                                    <p:cond delay="0"/>
                                  </p:stCondLst>
                                  <p:childTnLst>
                                    <p:set>
                                      <p:cBhvr>
                                        <p:cTn id="237" dur="1" fill="hold">
                                          <p:stCondLst>
                                            <p:cond delay="0"/>
                                          </p:stCondLst>
                                        </p:cTn>
                                        <p:tgtEl>
                                          <p:spTgt spid="61"/>
                                        </p:tgtEl>
                                        <p:attrNameLst>
                                          <p:attrName>style.visibility</p:attrName>
                                        </p:attrNameLst>
                                      </p:cBhvr>
                                      <p:to>
                                        <p:strVal val="visible"/>
                                      </p:to>
                                    </p:set>
                                    <p:animEffect transition="in" filter="fade">
                                      <p:cBhvr>
                                        <p:cTn id="238" dur="550"/>
                                        <p:tgtEl>
                                          <p:spTgt spid="61"/>
                                        </p:tgtEl>
                                      </p:cBhvr>
                                    </p:animEffect>
                                  </p:childTnLst>
                                </p:cTn>
                              </p:par>
                            </p:childTnLst>
                          </p:cTn>
                        </p:par>
                        <p:par>
                          <p:cTn id="239" fill="hold">
                            <p:stCondLst>
                              <p:cond delay="0"/>
                            </p:stCondLst>
                            <p:childTnLst>
                              <p:par>
                                <p:cTn id="240" presetID="10" presetClass="entr" presetSubtype="0" fill="hold" grpId="0" nodeType="afterEffect">
                                  <p:stCondLst>
                                    <p:cond delay="0"/>
                                  </p:stCondLst>
                                  <p:childTnLst>
                                    <p:set>
                                      <p:cBhvr>
                                        <p:cTn id="241" dur="1" fill="hold">
                                          <p:stCondLst>
                                            <p:cond delay="0"/>
                                          </p:stCondLst>
                                        </p:cTn>
                                        <p:tgtEl>
                                          <p:spTgt spid="62"/>
                                        </p:tgtEl>
                                        <p:attrNameLst>
                                          <p:attrName>style.visibility</p:attrName>
                                        </p:attrNameLst>
                                      </p:cBhvr>
                                      <p:to>
                                        <p:strVal val="visible"/>
                                      </p:to>
                                    </p:set>
                                    <p:animEffect transition="in" filter="fade">
                                      <p:cBhvr>
                                        <p:cTn id="242" dur="550"/>
                                        <p:tgtEl>
                                          <p:spTgt spid="62"/>
                                        </p:tgtEl>
                                      </p:cBhvr>
                                    </p:animEffect>
                                  </p:childTnLst>
                                </p:cTn>
                              </p:par>
                            </p:childTnLst>
                          </p:cTn>
                        </p:par>
                        <p:par>
                          <p:cTn id="243" fill="hold">
                            <p:stCondLst>
                              <p:cond delay="0"/>
                            </p:stCondLst>
                            <p:childTnLst>
                              <p:par>
                                <p:cTn id="244" presetID="10" presetClass="entr" presetSubtype="0" fill="hold" grpId="0" nodeType="afterEffect">
                                  <p:stCondLst>
                                    <p:cond delay="0"/>
                                  </p:stCondLst>
                                  <p:childTnLst>
                                    <p:set>
                                      <p:cBhvr>
                                        <p:cTn id="245" dur="1" fill="hold">
                                          <p:stCondLst>
                                            <p:cond delay="0"/>
                                          </p:stCondLst>
                                        </p:cTn>
                                        <p:tgtEl>
                                          <p:spTgt spid="63"/>
                                        </p:tgtEl>
                                        <p:attrNameLst>
                                          <p:attrName>style.visibility</p:attrName>
                                        </p:attrNameLst>
                                      </p:cBhvr>
                                      <p:to>
                                        <p:strVal val="visible"/>
                                      </p:to>
                                    </p:set>
                                    <p:animEffect transition="in" filter="fade">
                                      <p:cBhvr>
                                        <p:cTn id="246" dur="550"/>
                                        <p:tgtEl>
                                          <p:spTgt spid="63"/>
                                        </p:tgtEl>
                                      </p:cBhvr>
                                    </p:animEffect>
                                  </p:childTnLst>
                                </p:cTn>
                              </p:par>
                            </p:childTnLst>
                          </p:cTn>
                        </p:par>
                        <p:par>
                          <p:cTn id="247" fill="hold">
                            <p:stCondLst>
                              <p:cond delay="0"/>
                            </p:stCondLst>
                            <p:childTnLst>
                              <p:par>
                                <p:cTn id="248" presetID="10" presetClass="entr" presetSubtype="0" fill="hold" grpId="0" nodeType="afterEffect">
                                  <p:stCondLst>
                                    <p:cond delay="0"/>
                                  </p:stCondLst>
                                  <p:childTnLst>
                                    <p:set>
                                      <p:cBhvr>
                                        <p:cTn id="249" dur="1" fill="hold">
                                          <p:stCondLst>
                                            <p:cond delay="0"/>
                                          </p:stCondLst>
                                        </p:cTn>
                                        <p:tgtEl>
                                          <p:spTgt spid="64"/>
                                        </p:tgtEl>
                                        <p:attrNameLst>
                                          <p:attrName>style.visibility</p:attrName>
                                        </p:attrNameLst>
                                      </p:cBhvr>
                                      <p:to>
                                        <p:strVal val="visible"/>
                                      </p:to>
                                    </p:set>
                                    <p:animEffect transition="in" filter="fade">
                                      <p:cBhvr>
                                        <p:cTn id="250" dur="550"/>
                                        <p:tgtEl>
                                          <p:spTgt spid="64"/>
                                        </p:tgtEl>
                                      </p:cBhvr>
                                    </p:animEffect>
                                  </p:childTnLst>
                                </p:cTn>
                              </p:par>
                            </p:childTnLst>
                          </p:cTn>
                        </p:par>
                        <p:par>
                          <p:cTn id="251" fill="hold">
                            <p:stCondLst>
                              <p:cond delay="0"/>
                            </p:stCondLst>
                            <p:childTnLst>
                              <p:par>
                                <p:cTn id="252" presetID="10" presetClass="entr" presetSubtype="0" fill="hold" grpId="0" nodeType="afterEffect">
                                  <p:stCondLst>
                                    <p:cond delay="0"/>
                                  </p:stCondLst>
                                  <p:childTnLst>
                                    <p:set>
                                      <p:cBhvr>
                                        <p:cTn id="253" dur="1" fill="hold">
                                          <p:stCondLst>
                                            <p:cond delay="0"/>
                                          </p:stCondLst>
                                        </p:cTn>
                                        <p:tgtEl>
                                          <p:spTgt spid="65"/>
                                        </p:tgtEl>
                                        <p:attrNameLst>
                                          <p:attrName>style.visibility</p:attrName>
                                        </p:attrNameLst>
                                      </p:cBhvr>
                                      <p:to>
                                        <p:strVal val="visible"/>
                                      </p:to>
                                    </p:set>
                                    <p:animEffect transition="in" filter="fade">
                                      <p:cBhvr>
                                        <p:cTn id="254" dur="550"/>
                                        <p:tgtEl>
                                          <p:spTgt spid="65"/>
                                        </p:tgtEl>
                                      </p:cBhvr>
                                    </p:animEffect>
                                  </p:childTnLst>
                                </p:cTn>
                              </p:par>
                            </p:childTnLst>
                          </p:cTn>
                        </p:par>
                        <p:par>
                          <p:cTn id="255" fill="hold">
                            <p:stCondLst>
                              <p:cond delay="0"/>
                            </p:stCondLst>
                            <p:childTnLst>
                              <p:par>
                                <p:cTn id="256" presetID="10" presetClass="entr" presetSubtype="0" fill="hold" grpId="0" nodeType="afterEffect">
                                  <p:stCondLst>
                                    <p:cond delay="0"/>
                                  </p:stCondLst>
                                  <p:childTnLst>
                                    <p:set>
                                      <p:cBhvr>
                                        <p:cTn id="257" dur="1" fill="hold">
                                          <p:stCondLst>
                                            <p:cond delay="0"/>
                                          </p:stCondLst>
                                        </p:cTn>
                                        <p:tgtEl>
                                          <p:spTgt spid="66"/>
                                        </p:tgtEl>
                                        <p:attrNameLst>
                                          <p:attrName>style.visibility</p:attrName>
                                        </p:attrNameLst>
                                      </p:cBhvr>
                                      <p:to>
                                        <p:strVal val="visible"/>
                                      </p:to>
                                    </p:set>
                                    <p:animEffect transition="in" filter="fade">
                                      <p:cBhvr>
                                        <p:cTn id="258" dur="550"/>
                                        <p:tgtEl>
                                          <p:spTgt spid="66"/>
                                        </p:tgtEl>
                                      </p:cBhvr>
                                    </p:animEffect>
                                  </p:childTnLst>
                                </p:cTn>
                              </p:par>
                            </p:childTnLst>
                          </p:cTn>
                        </p:par>
                        <p:par>
                          <p:cTn id="259" fill="hold">
                            <p:stCondLst>
                              <p:cond delay="0"/>
                            </p:stCondLst>
                            <p:childTnLst>
                              <p:par>
                                <p:cTn id="260" presetID="10" presetClass="entr" presetSubtype="0" fill="hold" grpId="0" nodeType="afterEffect">
                                  <p:stCondLst>
                                    <p:cond delay="0"/>
                                  </p:stCondLst>
                                  <p:childTnLst>
                                    <p:set>
                                      <p:cBhvr>
                                        <p:cTn id="261" dur="1" fill="hold">
                                          <p:stCondLst>
                                            <p:cond delay="0"/>
                                          </p:stCondLst>
                                        </p:cTn>
                                        <p:tgtEl>
                                          <p:spTgt spid="67"/>
                                        </p:tgtEl>
                                        <p:attrNameLst>
                                          <p:attrName>style.visibility</p:attrName>
                                        </p:attrNameLst>
                                      </p:cBhvr>
                                      <p:to>
                                        <p:strVal val="visible"/>
                                      </p:to>
                                    </p:set>
                                    <p:animEffect transition="in" filter="fade">
                                      <p:cBhvr>
                                        <p:cTn id="262" dur="550"/>
                                        <p:tgtEl>
                                          <p:spTgt spid="67"/>
                                        </p:tgtEl>
                                      </p:cBhvr>
                                    </p:animEffect>
                                  </p:childTnLst>
                                </p:cTn>
                              </p:par>
                            </p:childTnLst>
                          </p:cTn>
                        </p:par>
                        <p:par>
                          <p:cTn id="263" fill="hold">
                            <p:stCondLst>
                              <p:cond delay="0"/>
                            </p:stCondLst>
                            <p:childTnLst>
                              <p:par>
                                <p:cTn id="264" presetID="10" presetClass="entr" presetSubtype="0" fill="hold" grpId="0" nodeType="afterEffect">
                                  <p:stCondLst>
                                    <p:cond delay="0"/>
                                  </p:stCondLst>
                                  <p:childTnLst>
                                    <p:set>
                                      <p:cBhvr>
                                        <p:cTn id="265" dur="1" fill="hold">
                                          <p:stCondLst>
                                            <p:cond delay="0"/>
                                          </p:stCondLst>
                                        </p:cTn>
                                        <p:tgtEl>
                                          <p:spTgt spid="68"/>
                                        </p:tgtEl>
                                        <p:attrNameLst>
                                          <p:attrName>style.visibility</p:attrName>
                                        </p:attrNameLst>
                                      </p:cBhvr>
                                      <p:to>
                                        <p:strVal val="visible"/>
                                      </p:to>
                                    </p:set>
                                    <p:animEffect transition="in" filter="fade">
                                      <p:cBhvr>
                                        <p:cTn id="266" dur="550"/>
                                        <p:tgtEl>
                                          <p:spTgt spid="68"/>
                                        </p:tgtEl>
                                      </p:cBhvr>
                                    </p:animEffect>
                                  </p:childTnLst>
                                </p:cTn>
                              </p:par>
                            </p:childTnLst>
                          </p:cTn>
                        </p:par>
                        <p:par>
                          <p:cTn id="267" fill="hold">
                            <p:stCondLst>
                              <p:cond delay="0"/>
                            </p:stCondLst>
                            <p:childTnLst>
                              <p:par>
                                <p:cTn id="268" presetID="10" presetClass="entr" presetSubtype="0" fill="hold" grpId="0" nodeType="afterEffect">
                                  <p:stCondLst>
                                    <p:cond delay="0"/>
                                  </p:stCondLst>
                                  <p:childTnLst>
                                    <p:set>
                                      <p:cBhvr>
                                        <p:cTn id="269" dur="1" fill="hold">
                                          <p:stCondLst>
                                            <p:cond delay="0"/>
                                          </p:stCondLst>
                                        </p:cTn>
                                        <p:tgtEl>
                                          <p:spTgt spid="69"/>
                                        </p:tgtEl>
                                        <p:attrNameLst>
                                          <p:attrName>style.visibility</p:attrName>
                                        </p:attrNameLst>
                                      </p:cBhvr>
                                      <p:to>
                                        <p:strVal val="visible"/>
                                      </p:to>
                                    </p:set>
                                    <p:animEffect transition="in" filter="fade">
                                      <p:cBhvr>
                                        <p:cTn id="270" dur="550"/>
                                        <p:tgtEl>
                                          <p:spTgt spid="69"/>
                                        </p:tgtEl>
                                      </p:cBhvr>
                                    </p:animEffect>
                                  </p:childTnLst>
                                </p:cTn>
                              </p:par>
                            </p:childTnLst>
                          </p:cTn>
                        </p:par>
                        <p:par>
                          <p:cTn id="271" fill="hold">
                            <p:stCondLst>
                              <p:cond delay="0"/>
                            </p:stCondLst>
                            <p:childTnLst>
                              <p:par>
                                <p:cTn id="272" presetID="10" presetClass="entr" presetSubtype="0" fill="hold" grpId="0" nodeType="afterEffect">
                                  <p:stCondLst>
                                    <p:cond delay="0"/>
                                  </p:stCondLst>
                                  <p:childTnLst>
                                    <p:set>
                                      <p:cBhvr>
                                        <p:cTn id="273" dur="1" fill="hold">
                                          <p:stCondLst>
                                            <p:cond delay="0"/>
                                          </p:stCondLst>
                                        </p:cTn>
                                        <p:tgtEl>
                                          <p:spTgt spid="70"/>
                                        </p:tgtEl>
                                        <p:attrNameLst>
                                          <p:attrName>style.visibility</p:attrName>
                                        </p:attrNameLst>
                                      </p:cBhvr>
                                      <p:to>
                                        <p:strVal val="visible"/>
                                      </p:to>
                                    </p:set>
                                    <p:animEffect transition="in" filter="fade">
                                      <p:cBhvr>
                                        <p:cTn id="274" dur="550"/>
                                        <p:tgtEl>
                                          <p:spTgt spid="70"/>
                                        </p:tgtEl>
                                      </p:cBhvr>
                                    </p:animEffect>
                                  </p:childTnLst>
                                </p:cTn>
                              </p:par>
                            </p:childTnLst>
                          </p:cTn>
                        </p:par>
                        <p:par>
                          <p:cTn id="275" fill="hold">
                            <p:stCondLst>
                              <p:cond delay="0"/>
                            </p:stCondLst>
                            <p:childTnLst>
                              <p:par>
                                <p:cTn id="276" presetID="10" presetClass="entr" presetSubtype="0" fill="hold" grpId="0" nodeType="afterEffect">
                                  <p:stCondLst>
                                    <p:cond delay="0"/>
                                  </p:stCondLst>
                                  <p:childTnLst>
                                    <p:set>
                                      <p:cBhvr>
                                        <p:cTn id="277" dur="1" fill="hold">
                                          <p:stCondLst>
                                            <p:cond delay="0"/>
                                          </p:stCondLst>
                                        </p:cTn>
                                        <p:tgtEl>
                                          <p:spTgt spid="71"/>
                                        </p:tgtEl>
                                        <p:attrNameLst>
                                          <p:attrName>style.visibility</p:attrName>
                                        </p:attrNameLst>
                                      </p:cBhvr>
                                      <p:to>
                                        <p:strVal val="visible"/>
                                      </p:to>
                                    </p:set>
                                    <p:animEffect transition="in" filter="fade">
                                      <p:cBhvr>
                                        <p:cTn id="278" dur="550"/>
                                        <p:tgtEl>
                                          <p:spTgt spid="71"/>
                                        </p:tgtEl>
                                      </p:cBhvr>
                                    </p:animEffect>
                                  </p:childTnLst>
                                </p:cTn>
                              </p:par>
                            </p:childTnLst>
                          </p:cTn>
                        </p:par>
                        <p:par>
                          <p:cTn id="279" fill="hold">
                            <p:stCondLst>
                              <p:cond delay="0"/>
                            </p:stCondLst>
                            <p:childTnLst>
                              <p:par>
                                <p:cTn id="280" presetID="10" presetClass="entr" presetSubtype="0" fill="hold" grpId="0" nodeType="afterEffect">
                                  <p:stCondLst>
                                    <p:cond delay="0"/>
                                  </p:stCondLst>
                                  <p:childTnLst>
                                    <p:set>
                                      <p:cBhvr>
                                        <p:cTn id="281" dur="1" fill="hold">
                                          <p:stCondLst>
                                            <p:cond delay="0"/>
                                          </p:stCondLst>
                                        </p:cTn>
                                        <p:tgtEl>
                                          <p:spTgt spid="72"/>
                                        </p:tgtEl>
                                        <p:attrNameLst>
                                          <p:attrName>style.visibility</p:attrName>
                                        </p:attrNameLst>
                                      </p:cBhvr>
                                      <p:to>
                                        <p:strVal val="visible"/>
                                      </p:to>
                                    </p:set>
                                    <p:animEffect transition="in" filter="fade">
                                      <p:cBhvr>
                                        <p:cTn id="282" dur="550"/>
                                        <p:tgtEl>
                                          <p:spTgt spid="72"/>
                                        </p:tgtEl>
                                      </p:cBhvr>
                                    </p:animEffect>
                                  </p:childTnLst>
                                </p:cTn>
                              </p:par>
                            </p:childTnLst>
                          </p:cTn>
                        </p:par>
                        <p:par>
                          <p:cTn id="283" fill="hold">
                            <p:stCondLst>
                              <p:cond delay="0"/>
                            </p:stCondLst>
                            <p:childTnLst>
                              <p:par>
                                <p:cTn id="284" presetID="10" presetClass="entr" presetSubtype="0" fill="hold" grpId="0" nodeType="afterEffect">
                                  <p:stCondLst>
                                    <p:cond delay="0"/>
                                  </p:stCondLst>
                                  <p:childTnLst>
                                    <p:set>
                                      <p:cBhvr>
                                        <p:cTn id="285" dur="1" fill="hold">
                                          <p:stCondLst>
                                            <p:cond delay="0"/>
                                          </p:stCondLst>
                                        </p:cTn>
                                        <p:tgtEl>
                                          <p:spTgt spid="73"/>
                                        </p:tgtEl>
                                        <p:attrNameLst>
                                          <p:attrName>style.visibility</p:attrName>
                                        </p:attrNameLst>
                                      </p:cBhvr>
                                      <p:to>
                                        <p:strVal val="visible"/>
                                      </p:to>
                                    </p:set>
                                    <p:animEffect transition="in" filter="fade">
                                      <p:cBhvr>
                                        <p:cTn id="286" dur="550"/>
                                        <p:tgtEl>
                                          <p:spTgt spid="73"/>
                                        </p:tgtEl>
                                      </p:cBhvr>
                                    </p:animEffect>
                                  </p:childTnLst>
                                </p:cTn>
                              </p:par>
                            </p:childTnLst>
                          </p:cTn>
                        </p:par>
                        <p:par>
                          <p:cTn id="287" fill="hold">
                            <p:stCondLst>
                              <p:cond delay="0"/>
                            </p:stCondLst>
                            <p:childTnLst>
                              <p:par>
                                <p:cTn id="288" presetID="10" presetClass="entr" presetSubtype="0" fill="hold" grpId="0" nodeType="afterEffect">
                                  <p:stCondLst>
                                    <p:cond delay="0"/>
                                  </p:stCondLst>
                                  <p:childTnLst>
                                    <p:set>
                                      <p:cBhvr>
                                        <p:cTn id="289" dur="1" fill="hold">
                                          <p:stCondLst>
                                            <p:cond delay="0"/>
                                          </p:stCondLst>
                                        </p:cTn>
                                        <p:tgtEl>
                                          <p:spTgt spid="74"/>
                                        </p:tgtEl>
                                        <p:attrNameLst>
                                          <p:attrName>style.visibility</p:attrName>
                                        </p:attrNameLst>
                                      </p:cBhvr>
                                      <p:to>
                                        <p:strVal val="visible"/>
                                      </p:to>
                                    </p:set>
                                    <p:animEffect transition="in" filter="fade">
                                      <p:cBhvr>
                                        <p:cTn id="290" dur="550"/>
                                        <p:tgtEl>
                                          <p:spTgt spid="74"/>
                                        </p:tgtEl>
                                      </p:cBhvr>
                                    </p:animEffect>
                                  </p:childTnLst>
                                </p:cTn>
                              </p:par>
                            </p:childTnLst>
                          </p:cTn>
                        </p:par>
                        <p:par>
                          <p:cTn id="291" fill="hold">
                            <p:stCondLst>
                              <p:cond delay="0"/>
                            </p:stCondLst>
                            <p:childTnLst>
                              <p:par>
                                <p:cTn id="292" presetID="10" presetClass="entr" presetSubtype="0" fill="hold" grpId="0" nodeType="afterEffect">
                                  <p:stCondLst>
                                    <p:cond delay="0"/>
                                  </p:stCondLst>
                                  <p:childTnLst>
                                    <p:set>
                                      <p:cBhvr>
                                        <p:cTn id="293" dur="1" fill="hold">
                                          <p:stCondLst>
                                            <p:cond delay="0"/>
                                          </p:stCondLst>
                                        </p:cTn>
                                        <p:tgtEl>
                                          <p:spTgt spid="75"/>
                                        </p:tgtEl>
                                        <p:attrNameLst>
                                          <p:attrName>style.visibility</p:attrName>
                                        </p:attrNameLst>
                                      </p:cBhvr>
                                      <p:to>
                                        <p:strVal val="visible"/>
                                      </p:to>
                                    </p:set>
                                    <p:animEffect transition="in" filter="fade">
                                      <p:cBhvr>
                                        <p:cTn id="294" dur="550"/>
                                        <p:tgtEl>
                                          <p:spTgt spid="75"/>
                                        </p:tgtEl>
                                      </p:cBhvr>
                                    </p:animEffect>
                                  </p:childTnLst>
                                </p:cTn>
                              </p:par>
                            </p:childTnLst>
                          </p:cTn>
                        </p:par>
                        <p:par>
                          <p:cTn id="295" fill="hold">
                            <p:stCondLst>
                              <p:cond delay="0"/>
                            </p:stCondLst>
                            <p:childTnLst>
                              <p:par>
                                <p:cTn id="296" presetID="10" presetClass="entr" presetSubtype="0" fill="hold" grpId="0" nodeType="afterEffect">
                                  <p:stCondLst>
                                    <p:cond delay="0"/>
                                  </p:stCondLst>
                                  <p:childTnLst>
                                    <p:set>
                                      <p:cBhvr>
                                        <p:cTn id="297" dur="1" fill="hold">
                                          <p:stCondLst>
                                            <p:cond delay="0"/>
                                          </p:stCondLst>
                                        </p:cTn>
                                        <p:tgtEl>
                                          <p:spTgt spid="76"/>
                                        </p:tgtEl>
                                        <p:attrNameLst>
                                          <p:attrName>style.visibility</p:attrName>
                                        </p:attrNameLst>
                                      </p:cBhvr>
                                      <p:to>
                                        <p:strVal val="visible"/>
                                      </p:to>
                                    </p:set>
                                    <p:animEffect transition="in" filter="fade">
                                      <p:cBhvr>
                                        <p:cTn id="298" dur="550"/>
                                        <p:tgtEl>
                                          <p:spTgt spid="76"/>
                                        </p:tgtEl>
                                      </p:cBhvr>
                                    </p:animEffect>
                                  </p:childTnLst>
                                </p:cTn>
                              </p:par>
                            </p:childTnLst>
                          </p:cTn>
                        </p:par>
                        <p:par>
                          <p:cTn id="299" fill="hold">
                            <p:stCondLst>
                              <p:cond delay="0"/>
                            </p:stCondLst>
                            <p:childTnLst>
                              <p:par>
                                <p:cTn id="300" presetID="10" presetClass="entr" presetSubtype="0" fill="hold" grpId="0" nodeType="afterEffect">
                                  <p:stCondLst>
                                    <p:cond delay="0"/>
                                  </p:stCondLst>
                                  <p:childTnLst>
                                    <p:set>
                                      <p:cBhvr>
                                        <p:cTn id="301" dur="1" fill="hold">
                                          <p:stCondLst>
                                            <p:cond delay="0"/>
                                          </p:stCondLst>
                                        </p:cTn>
                                        <p:tgtEl>
                                          <p:spTgt spid="77"/>
                                        </p:tgtEl>
                                        <p:attrNameLst>
                                          <p:attrName>style.visibility</p:attrName>
                                        </p:attrNameLst>
                                      </p:cBhvr>
                                      <p:to>
                                        <p:strVal val="visible"/>
                                      </p:to>
                                    </p:set>
                                    <p:animEffect transition="in" filter="fade">
                                      <p:cBhvr>
                                        <p:cTn id="302" dur="550"/>
                                        <p:tgtEl>
                                          <p:spTgt spid="77"/>
                                        </p:tgtEl>
                                      </p:cBhvr>
                                    </p:animEffect>
                                  </p:childTnLst>
                                </p:cTn>
                              </p:par>
                            </p:childTnLst>
                          </p:cTn>
                        </p:par>
                        <p:par>
                          <p:cTn id="303" fill="hold">
                            <p:stCondLst>
                              <p:cond delay="0"/>
                            </p:stCondLst>
                            <p:childTnLst>
                              <p:par>
                                <p:cTn id="304" presetID="10" presetClass="entr" presetSubtype="0" fill="hold" grpId="0" nodeType="afterEffect">
                                  <p:stCondLst>
                                    <p:cond delay="0"/>
                                  </p:stCondLst>
                                  <p:childTnLst>
                                    <p:set>
                                      <p:cBhvr>
                                        <p:cTn id="305" dur="1" fill="hold">
                                          <p:stCondLst>
                                            <p:cond delay="0"/>
                                          </p:stCondLst>
                                        </p:cTn>
                                        <p:tgtEl>
                                          <p:spTgt spid="78"/>
                                        </p:tgtEl>
                                        <p:attrNameLst>
                                          <p:attrName>style.visibility</p:attrName>
                                        </p:attrNameLst>
                                      </p:cBhvr>
                                      <p:to>
                                        <p:strVal val="visible"/>
                                      </p:to>
                                    </p:set>
                                    <p:animEffect transition="in" filter="fade">
                                      <p:cBhvr>
                                        <p:cTn id="306" dur="550"/>
                                        <p:tgtEl>
                                          <p:spTgt spid="78"/>
                                        </p:tgtEl>
                                      </p:cBhvr>
                                    </p:animEffect>
                                  </p:childTnLst>
                                </p:cTn>
                              </p:par>
                            </p:childTnLst>
                          </p:cTn>
                        </p:par>
                        <p:par>
                          <p:cTn id="307" fill="hold">
                            <p:stCondLst>
                              <p:cond delay="0"/>
                            </p:stCondLst>
                            <p:childTnLst>
                              <p:par>
                                <p:cTn id="308" presetID="10" presetClass="entr" presetSubtype="0" fill="hold" grpId="0" nodeType="afterEffect">
                                  <p:stCondLst>
                                    <p:cond delay="0"/>
                                  </p:stCondLst>
                                  <p:childTnLst>
                                    <p:set>
                                      <p:cBhvr>
                                        <p:cTn id="309" dur="1" fill="hold">
                                          <p:stCondLst>
                                            <p:cond delay="0"/>
                                          </p:stCondLst>
                                        </p:cTn>
                                        <p:tgtEl>
                                          <p:spTgt spid="79"/>
                                        </p:tgtEl>
                                        <p:attrNameLst>
                                          <p:attrName>style.visibility</p:attrName>
                                        </p:attrNameLst>
                                      </p:cBhvr>
                                      <p:to>
                                        <p:strVal val="visible"/>
                                      </p:to>
                                    </p:set>
                                    <p:animEffect transition="in" filter="fade">
                                      <p:cBhvr>
                                        <p:cTn id="310" dur="550"/>
                                        <p:tgtEl>
                                          <p:spTgt spid="79"/>
                                        </p:tgtEl>
                                      </p:cBhvr>
                                    </p:animEffect>
                                  </p:childTnLst>
                                </p:cTn>
                              </p:par>
                            </p:childTnLst>
                          </p:cTn>
                        </p:par>
                        <p:par>
                          <p:cTn id="311" fill="hold">
                            <p:stCondLst>
                              <p:cond delay="0"/>
                            </p:stCondLst>
                            <p:childTnLst>
                              <p:par>
                                <p:cTn id="312" presetID="10" presetClass="entr" presetSubtype="0" fill="hold" grpId="0" nodeType="afterEffect">
                                  <p:stCondLst>
                                    <p:cond delay="0"/>
                                  </p:stCondLst>
                                  <p:childTnLst>
                                    <p:set>
                                      <p:cBhvr>
                                        <p:cTn id="313" dur="1" fill="hold">
                                          <p:stCondLst>
                                            <p:cond delay="0"/>
                                          </p:stCondLst>
                                        </p:cTn>
                                        <p:tgtEl>
                                          <p:spTgt spid="80"/>
                                        </p:tgtEl>
                                        <p:attrNameLst>
                                          <p:attrName>style.visibility</p:attrName>
                                        </p:attrNameLst>
                                      </p:cBhvr>
                                      <p:to>
                                        <p:strVal val="visible"/>
                                      </p:to>
                                    </p:set>
                                    <p:animEffect transition="in" filter="fade">
                                      <p:cBhvr>
                                        <p:cTn id="314" dur="550"/>
                                        <p:tgtEl>
                                          <p:spTgt spid="80"/>
                                        </p:tgtEl>
                                      </p:cBhvr>
                                    </p:animEffect>
                                  </p:childTnLst>
                                </p:cTn>
                              </p:par>
                            </p:childTnLst>
                          </p:cTn>
                        </p:par>
                        <p:par>
                          <p:cTn id="315" fill="hold">
                            <p:stCondLst>
                              <p:cond delay="0"/>
                            </p:stCondLst>
                            <p:childTnLst>
                              <p:par>
                                <p:cTn id="316" presetID="10" presetClass="entr" presetSubtype="0" fill="hold" grpId="0" nodeType="afterEffect">
                                  <p:stCondLst>
                                    <p:cond delay="0"/>
                                  </p:stCondLst>
                                  <p:childTnLst>
                                    <p:set>
                                      <p:cBhvr>
                                        <p:cTn id="317" dur="1" fill="hold">
                                          <p:stCondLst>
                                            <p:cond delay="0"/>
                                          </p:stCondLst>
                                        </p:cTn>
                                        <p:tgtEl>
                                          <p:spTgt spid="81"/>
                                        </p:tgtEl>
                                        <p:attrNameLst>
                                          <p:attrName>style.visibility</p:attrName>
                                        </p:attrNameLst>
                                      </p:cBhvr>
                                      <p:to>
                                        <p:strVal val="visible"/>
                                      </p:to>
                                    </p:set>
                                    <p:animEffect transition="in" filter="fade">
                                      <p:cBhvr>
                                        <p:cTn id="318" dur="550"/>
                                        <p:tgtEl>
                                          <p:spTgt spid="81"/>
                                        </p:tgtEl>
                                      </p:cBhvr>
                                    </p:animEffect>
                                  </p:childTnLst>
                                </p:cTn>
                              </p:par>
                            </p:childTnLst>
                          </p:cTn>
                        </p:par>
                        <p:par>
                          <p:cTn id="319" fill="hold">
                            <p:stCondLst>
                              <p:cond delay="0"/>
                            </p:stCondLst>
                            <p:childTnLst>
                              <p:par>
                                <p:cTn id="320" presetID="10" presetClass="entr" presetSubtype="0" fill="hold" grpId="0" nodeType="afterEffect">
                                  <p:stCondLst>
                                    <p:cond delay="0"/>
                                  </p:stCondLst>
                                  <p:childTnLst>
                                    <p:set>
                                      <p:cBhvr>
                                        <p:cTn id="321" dur="1" fill="hold">
                                          <p:stCondLst>
                                            <p:cond delay="0"/>
                                          </p:stCondLst>
                                        </p:cTn>
                                        <p:tgtEl>
                                          <p:spTgt spid="82"/>
                                        </p:tgtEl>
                                        <p:attrNameLst>
                                          <p:attrName>style.visibility</p:attrName>
                                        </p:attrNameLst>
                                      </p:cBhvr>
                                      <p:to>
                                        <p:strVal val="visible"/>
                                      </p:to>
                                    </p:set>
                                    <p:animEffect transition="in" filter="fade">
                                      <p:cBhvr>
                                        <p:cTn id="322" dur="550"/>
                                        <p:tgtEl>
                                          <p:spTgt spid="82"/>
                                        </p:tgtEl>
                                      </p:cBhvr>
                                    </p:animEffect>
                                  </p:childTnLst>
                                </p:cTn>
                              </p:par>
                            </p:childTnLst>
                          </p:cTn>
                        </p:par>
                        <p:par>
                          <p:cTn id="323" fill="hold">
                            <p:stCondLst>
                              <p:cond delay="0"/>
                            </p:stCondLst>
                            <p:childTnLst>
                              <p:par>
                                <p:cTn id="324" presetID="10" presetClass="entr" presetSubtype="0" fill="hold" grpId="0" nodeType="afterEffect">
                                  <p:stCondLst>
                                    <p:cond delay="0"/>
                                  </p:stCondLst>
                                  <p:childTnLst>
                                    <p:set>
                                      <p:cBhvr>
                                        <p:cTn id="325" dur="1" fill="hold">
                                          <p:stCondLst>
                                            <p:cond delay="0"/>
                                          </p:stCondLst>
                                        </p:cTn>
                                        <p:tgtEl>
                                          <p:spTgt spid="83"/>
                                        </p:tgtEl>
                                        <p:attrNameLst>
                                          <p:attrName>style.visibility</p:attrName>
                                        </p:attrNameLst>
                                      </p:cBhvr>
                                      <p:to>
                                        <p:strVal val="visible"/>
                                      </p:to>
                                    </p:set>
                                    <p:animEffect transition="in" filter="fade">
                                      <p:cBhvr>
                                        <p:cTn id="326" dur="550"/>
                                        <p:tgtEl>
                                          <p:spTgt spid="83"/>
                                        </p:tgtEl>
                                      </p:cBhvr>
                                    </p:animEffect>
                                  </p:childTnLst>
                                </p:cTn>
                              </p:par>
                            </p:childTnLst>
                          </p:cTn>
                        </p:par>
                        <p:par>
                          <p:cTn id="327" fill="hold">
                            <p:stCondLst>
                              <p:cond delay="0"/>
                            </p:stCondLst>
                            <p:childTnLst>
                              <p:par>
                                <p:cTn id="328" presetID="10" presetClass="entr" presetSubtype="0" fill="hold" grpId="0" nodeType="afterEffect">
                                  <p:stCondLst>
                                    <p:cond delay="0"/>
                                  </p:stCondLst>
                                  <p:childTnLst>
                                    <p:set>
                                      <p:cBhvr>
                                        <p:cTn id="329" dur="1" fill="hold">
                                          <p:stCondLst>
                                            <p:cond delay="0"/>
                                          </p:stCondLst>
                                        </p:cTn>
                                        <p:tgtEl>
                                          <p:spTgt spid="84"/>
                                        </p:tgtEl>
                                        <p:attrNameLst>
                                          <p:attrName>style.visibility</p:attrName>
                                        </p:attrNameLst>
                                      </p:cBhvr>
                                      <p:to>
                                        <p:strVal val="visible"/>
                                      </p:to>
                                    </p:set>
                                    <p:animEffect transition="in" filter="fade">
                                      <p:cBhvr>
                                        <p:cTn id="330" dur="550"/>
                                        <p:tgtEl>
                                          <p:spTgt spid="84"/>
                                        </p:tgtEl>
                                      </p:cBhvr>
                                    </p:animEffect>
                                  </p:childTnLst>
                                </p:cTn>
                              </p:par>
                            </p:childTnLst>
                          </p:cTn>
                        </p:par>
                        <p:par>
                          <p:cTn id="331" fill="hold">
                            <p:stCondLst>
                              <p:cond delay="0"/>
                            </p:stCondLst>
                            <p:childTnLst>
                              <p:par>
                                <p:cTn id="332" presetID="10" presetClass="entr" presetSubtype="0" fill="hold" grpId="0" nodeType="afterEffect">
                                  <p:stCondLst>
                                    <p:cond delay="0"/>
                                  </p:stCondLst>
                                  <p:childTnLst>
                                    <p:set>
                                      <p:cBhvr>
                                        <p:cTn id="333" dur="1" fill="hold">
                                          <p:stCondLst>
                                            <p:cond delay="0"/>
                                          </p:stCondLst>
                                        </p:cTn>
                                        <p:tgtEl>
                                          <p:spTgt spid="85"/>
                                        </p:tgtEl>
                                        <p:attrNameLst>
                                          <p:attrName>style.visibility</p:attrName>
                                        </p:attrNameLst>
                                      </p:cBhvr>
                                      <p:to>
                                        <p:strVal val="visible"/>
                                      </p:to>
                                    </p:set>
                                    <p:animEffect transition="in" filter="fade">
                                      <p:cBhvr>
                                        <p:cTn id="334" dur="550"/>
                                        <p:tgtEl>
                                          <p:spTgt spid="85"/>
                                        </p:tgtEl>
                                      </p:cBhvr>
                                    </p:animEffect>
                                  </p:childTnLst>
                                </p:cTn>
                              </p:par>
                            </p:childTnLst>
                          </p:cTn>
                        </p:par>
                        <p:par>
                          <p:cTn id="335" fill="hold">
                            <p:stCondLst>
                              <p:cond delay="0"/>
                            </p:stCondLst>
                            <p:childTnLst>
                              <p:par>
                                <p:cTn id="336" presetID="10" presetClass="entr" presetSubtype="0" fill="hold" grpId="0" nodeType="afterEffect">
                                  <p:stCondLst>
                                    <p:cond delay="0"/>
                                  </p:stCondLst>
                                  <p:childTnLst>
                                    <p:set>
                                      <p:cBhvr>
                                        <p:cTn id="337" dur="1" fill="hold">
                                          <p:stCondLst>
                                            <p:cond delay="0"/>
                                          </p:stCondLst>
                                        </p:cTn>
                                        <p:tgtEl>
                                          <p:spTgt spid="86"/>
                                        </p:tgtEl>
                                        <p:attrNameLst>
                                          <p:attrName>style.visibility</p:attrName>
                                        </p:attrNameLst>
                                      </p:cBhvr>
                                      <p:to>
                                        <p:strVal val="visible"/>
                                      </p:to>
                                    </p:set>
                                    <p:animEffect transition="in" filter="fade">
                                      <p:cBhvr>
                                        <p:cTn id="338" dur="550"/>
                                        <p:tgtEl>
                                          <p:spTgt spid="86"/>
                                        </p:tgtEl>
                                      </p:cBhvr>
                                    </p:animEffect>
                                  </p:childTnLst>
                                </p:cTn>
                              </p:par>
                            </p:childTnLst>
                          </p:cTn>
                        </p:par>
                        <p:par>
                          <p:cTn id="339" fill="hold">
                            <p:stCondLst>
                              <p:cond delay="0"/>
                            </p:stCondLst>
                            <p:childTnLst>
                              <p:par>
                                <p:cTn id="340" presetID="10" presetClass="entr" presetSubtype="0" fill="hold" grpId="0" nodeType="afterEffect">
                                  <p:stCondLst>
                                    <p:cond delay="0"/>
                                  </p:stCondLst>
                                  <p:childTnLst>
                                    <p:set>
                                      <p:cBhvr>
                                        <p:cTn id="341" dur="1" fill="hold">
                                          <p:stCondLst>
                                            <p:cond delay="0"/>
                                          </p:stCondLst>
                                        </p:cTn>
                                        <p:tgtEl>
                                          <p:spTgt spid="87"/>
                                        </p:tgtEl>
                                        <p:attrNameLst>
                                          <p:attrName>style.visibility</p:attrName>
                                        </p:attrNameLst>
                                      </p:cBhvr>
                                      <p:to>
                                        <p:strVal val="visible"/>
                                      </p:to>
                                    </p:set>
                                    <p:animEffect transition="in" filter="fade">
                                      <p:cBhvr>
                                        <p:cTn id="342" dur="550"/>
                                        <p:tgtEl>
                                          <p:spTgt spid="87"/>
                                        </p:tgtEl>
                                      </p:cBhvr>
                                    </p:animEffect>
                                  </p:childTnLst>
                                </p:cTn>
                              </p:par>
                            </p:childTnLst>
                          </p:cTn>
                        </p:par>
                        <p:par>
                          <p:cTn id="343" fill="hold">
                            <p:stCondLst>
                              <p:cond delay="0"/>
                            </p:stCondLst>
                            <p:childTnLst>
                              <p:par>
                                <p:cTn id="344" presetID="10" presetClass="entr" presetSubtype="0" fill="hold" grpId="0" nodeType="afterEffect">
                                  <p:stCondLst>
                                    <p:cond delay="0"/>
                                  </p:stCondLst>
                                  <p:childTnLst>
                                    <p:set>
                                      <p:cBhvr>
                                        <p:cTn id="345" dur="1" fill="hold">
                                          <p:stCondLst>
                                            <p:cond delay="0"/>
                                          </p:stCondLst>
                                        </p:cTn>
                                        <p:tgtEl>
                                          <p:spTgt spid="88"/>
                                        </p:tgtEl>
                                        <p:attrNameLst>
                                          <p:attrName>style.visibility</p:attrName>
                                        </p:attrNameLst>
                                      </p:cBhvr>
                                      <p:to>
                                        <p:strVal val="visible"/>
                                      </p:to>
                                    </p:set>
                                    <p:animEffect transition="in" filter="fade">
                                      <p:cBhvr>
                                        <p:cTn id="346" dur="550"/>
                                        <p:tgtEl>
                                          <p:spTgt spid="88"/>
                                        </p:tgtEl>
                                      </p:cBhvr>
                                    </p:animEffect>
                                  </p:childTnLst>
                                </p:cTn>
                              </p:par>
                            </p:childTnLst>
                          </p:cTn>
                        </p:par>
                        <p:par>
                          <p:cTn id="347" fill="hold">
                            <p:stCondLst>
                              <p:cond delay="0"/>
                            </p:stCondLst>
                            <p:childTnLst>
                              <p:par>
                                <p:cTn id="348" presetID="10" presetClass="entr" presetSubtype="0" fill="hold" grpId="0" nodeType="afterEffect">
                                  <p:stCondLst>
                                    <p:cond delay="0"/>
                                  </p:stCondLst>
                                  <p:childTnLst>
                                    <p:set>
                                      <p:cBhvr>
                                        <p:cTn id="349" dur="1" fill="hold">
                                          <p:stCondLst>
                                            <p:cond delay="0"/>
                                          </p:stCondLst>
                                        </p:cTn>
                                        <p:tgtEl>
                                          <p:spTgt spid="89"/>
                                        </p:tgtEl>
                                        <p:attrNameLst>
                                          <p:attrName>style.visibility</p:attrName>
                                        </p:attrNameLst>
                                      </p:cBhvr>
                                      <p:to>
                                        <p:strVal val="visible"/>
                                      </p:to>
                                    </p:set>
                                    <p:animEffect transition="in" filter="fade">
                                      <p:cBhvr>
                                        <p:cTn id="350" dur="550"/>
                                        <p:tgtEl>
                                          <p:spTgt spid="89"/>
                                        </p:tgtEl>
                                      </p:cBhvr>
                                    </p:animEffect>
                                  </p:childTnLst>
                                </p:cTn>
                              </p:par>
                            </p:childTnLst>
                          </p:cTn>
                        </p:par>
                        <p:par>
                          <p:cTn id="351" fill="hold">
                            <p:stCondLst>
                              <p:cond delay="200"/>
                            </p:stCondLst>
                            <p:childTnLst>
                              <p:par>
                                <p:cTn id="352" presetID="53" presetClass="entr" presetSubtype="16" fill="hold" grpId="0" nodeType="afterEffect">
                                  <p:stCondLst>
                                    <p:cond delay="0"/>
                                  </p:stCondLst>
                                  <p:childTnLst>
                                    <p:set>
                                      <p:cBhvr>
                                        <p:cTn id="353" dur="1" fill="hold">
                                          <p:stCondLst>
                                            <p:cond delay="0"/>
                                          </p:stCondLst>
                                        </p:cTn>
                                        <p:tgtEl>
                                          <p:spTgt spid="90"/>
                                        </p:tgtEl>
                                        <p:attrNameLst>
                                          <p:attrName>style.visibility</p:attrName>
                                        </p:attrNameLst>
                                      </p:cBhvr>
                                      <p:to>
                                        <p:strVal val="visible"/>
                                      </p:to>
                                    </p:set>
                                    <p:animEffect transition="in" filter="fade">
                                      <p:cBhvr>
                                        <p:cTn id="354" dur="550"/>
                                        <p:tgtEl>
                                          <p:spTgt spid="90"/>
                                        </p:tgtEl>
                                      </p:cBhvr>
                                    </p:animEffect>
                                    <p:anim calcmode="lin" valueType="num">
                                      <p:cBhvr additive="base">
                                        <p:cTn id="355" dur="550" fill="hold"/>
                                        <p:tgtEl>
                                          <p:spTgt spid="90"/>
                                        </p:tgtEl>
                                        <p:attrNameLst>
                                          <p:attrName>ppt_w</p:attrName>
                                        </p:attrNameLst>
                                      </p:cBhvr>
                                      <p:tavLst>
                                        <p:tav tm="0">
                                          <p:val>
                                            <p:strVal val="0"/>
                                          </p:val>
                                        </p:tav>
                                        <p:tav tm="100000">
                                          <p:val>
                                            <p:strVal val="#ppt_w"/>
                                          </p:val>
                                        </p:tav>
                                      </p:tavLst>
                                    </p:anim>
                                    <p:anim calcmode="lin" valueType="num">
                                      <p:cBhvr additive="base">
                                        <p:cTn id="356" dur="550" fill="hold"/>
                                        <p:tgtEl>
                                          <p:spTgt spid="90"/>
                                        </p:tgtEl>
                                        <p:attrNameLst>
                                          <p:attrName>ppt_h</p:attrName>
                                        </p:attrNameLst>
                                      </p:cBhvr>
                                      <p:tavLst>
                                        <p:tav tm="0">
                                          <p:val>
                                            <p:strVal val="0"/>
                                          </p:val>
                                        </p:tav>
                                        <p:tav tm="100000">
                                          <p:val>
                                            <p:strVal val="#ppt_h"/>
                                          </p:val>
                                        </p:tav>
                                      </p:tavLst>
                                    </p:anim>
                                  </p:childTnLst>
                                </p:cTn>
                              </p:par>
                            </p:childTnLst>
                          </p:cTn>
                        </p:par>
                        <p:par>
                          <p:cTn id="357" fill="hold">
                            <p:stCondLst>
                              <p:cond delay="350"/>
                            </p:stCondLst>
                            <p:childTnLst>
                              <p:par>
                                <p:cTn id="358" presetID="22" presetClass="entr" presetSubtype="8" fill="hold" grpId="0" nodeType="afterEffect">
                                  <p:stCondLst>
                                    <p:cond delay="0"/>
                                  </p:stCondLst>
                                  <p:childTnLst>
                                    <p:set>
                                      <p:cBhvr>
                                        <p:cTn id="359" dur="1" fill="hold">
                                          <p:stCondLst>
                                            <p:cond delay="0"/>
                                          </p:stCondLst>
                                        </p:cTn>
                                        <p:tgtEl>
                                          <p:spTgt spid="91"/>
                                        </p:tgtEl>
                                        <p:attrNameLst>
                                          <p:attrName>style.visibility</p:attrName>
                                        </p:attrNameLst>
                                      </p:cBhvr>
                                      <p:to>
                                        <p:strVal val="visible"/>
                                      </p:to>
                                    </p:set>
                                    <p:animEffect transition="in" filter="wipe(left)">
                                      <p:cBhvr>
                                        <p:cTn id="361" dur="800"/>
                                        <p:tgtEl>
                                          <p:spTgt spid="91"/>
                                        </p:tgtEl>
                                      </p:cBhvr>
                                    </p:animEffect>
                                  </p:childTnLst>
                                </p:cTn>
                              </p:par>
                            </p:childTnLst>
                          </p:cTn>
                        </p:par>
                        <p:par>
                          <p:cTn id="362" fill="hold">
                            <p:stCondLst>
                              <p:cond delay="500"/>
                            </p:stCondLst>
                            <p:childTnLst>
                              <p:par>
                                <p:cTn id="363" presetID="42" presetClass="entr" presetSubtype="0" fill="hold" grpId="0" nodeType="afterEffect">
                                  <p:stCondLst>
                                    <p:cond delay="0"/>
                                  </p:stCondLst>
                                  <p:childTnLst>
                                    <p:set>
                                      <p:cBhvr>
                                        <p:cTn id="364" dur="1" fill="hold">
                                          <p:stCondLst>
                                            <p:cond delay="0"/>
                                          </p:stCondLst>
                                        </p:cTn>
                                        <p:tgtEl>
                                          <p:spTgt spid="92"/>
                                        </p:tgtEl>
                                        <p:attrNameLst>
                                          <p:attrName>style.visibility</p:attrName>
                                        </p:attrNameLst>
                                      </p:cBhvr>
                                      <p:to>
                                        <p:strVal val="visible"/>
                                      </p:to>
                                    </p:set>
                                    <p:animEffect transition="in" filter="fade">
                                      <p:cBhvr>
                                        <p:cTn id="365" dur="550"/>
                                        <p:tgtEl>
                                          <p:spTgt spid="92"/>
                                        </p:tgtEl>
                                      </p:cBhvr>
                                    </p:animEffect>
                                    <p:anim calcmode="lin" valueType="num">
                                      <p:cBhvr additive="base">
                                        <p:cTn id="366" dur="550" fill="hold"/>
                                        <p:tgtEl>
                                          <p:spTgt spid="92"/>
                                        </p:tgtEl>
                                        <p:attrNameLst>
                                          <p:attrName>ppt_x</p:attrName>
                                        </p:attrNameLst>
                                      </p:cBhvr>
                                      <p:tavLst>
                                        <p:tav tm="0">
                                          <p:val>
                                            <p:strVal val="#ppt_x"/>
                                          </p:val>
                                        </p:tav>
                                        <p:tav tm="100000">
                                          <p:val>
                                            <p:strVal val="#ppt_x"/>
                                          </p:val>
                                        </p:tav>
                                      </p:tavLst>
                                    </p:anim>
                                    <p:anim calcmode="lin" valueType="num">
                                      <p:cBhvr additive="base">
                                        <p:cTn id="367" dur="550" fill="hold"/>
                                        <p:tgtEl>
                                          <p:spTgt spid="92"/>
                                        </p:tgtEl>
                                        <p:attrNameLst>
                                          <p:attrName>ppt_y</p:attrName>
                                        </p:attrNameLst>
                                      </p:cBhvr>
                                      <p:tavLst>
                                        <p:tav tm="0">
                                          <p:val>
                                            <p:strVal val="#ppt_y+.08"/>
                                          </p:val>
                                        </p:tav>
                                        <p:tav tm="100000">
                                          <p:val>
                                            <p:strVal val="#ppt_y"/>
                                          </p:val>
                                        </p:tav>
                                      </p:tavLst>
                                    </p:anim>
                                  </p:childTnLst>
                                </p:cTn>
                              </p:par>
                            </p:childTnLst>
                          </p:cTn>
                        </p:par>
                        <p:par>
                          <p:cTn id="368" fill="hold">
                            <p:stCondLst>
                              <p:cond delay="650"/>
                            </p:stCondLst>
                            <p:childTnLst>
                              <p:par>
                                <p:cTn id="369" presetID="10" presetClass="entr" presetSubtype="0" fill="hold" grpId="0" nodeType="afterEffect">
                                  <p:stCondLst>
                                    <p:cond delay="0"/>
                                  </p:stCondLst>
                                  <p:childTnLst>
                                    <p:set>
                                      <p:cBhvr>
                                        <p:cTn id="370" dur="1" fill="hold">
                                          <p:stCondLst>
                                            <p:cond delay="0"/>
                                          </p:stCondLst>
                                        </p:cTn>
                                        <p:tgtEl>
                                          <p:spTgt spid="93"/>
                                        </p:tgtEl>
                                        <p:attrNameLst>
                                          <p:attrName>style.visibility</p:attrName>
                                        </p:attrNameLst>
                                      </p:cBhvr>
                                      <p:to>
                                        <p:strVal val="visible"/>
                                      </p:to>
                                    </p:set>
                                    <p:animEffect transition="in" filter="fade">
                                      <p:cBhvr>
                                        <p:cTn id="371" dur="55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
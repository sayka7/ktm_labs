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Lst>
  <p:sldSz cx="12192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notesMaster" Target="notesMasters/notesMaster1.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Ushbu amaliy mashg'ulotning maqsadi — magistrantlarda sun'iy intellektga asoslangan hisoblash tizimining arxitekturasini muhandislik nuqtai nazaridan tahlil qilish, apparat va dasturiy ta'minotni birgalikda loyihalash (Hardware–Software Co-design) tamoyillari asosida strukturaviy sxema ishlab chiqish hamda bozordagi hisoblash platformalarini texnik tavsiflar bo'yicha asosli taqqoslash ko'nikmasini shakllantirishdir.</a:t>
            </a:r>
          </a:p>
          <a:p/>
          <a:p>
            <a:r>
              <a:t>Mashg'ulot yakunida talaba:</a:t>
            </a:r>
          </a:p>
          <a:p/>
          <a:p>
            <a:r>
              <a:t>AI tizimining to'rt qatlamli arxitekturasini (ma'lumot → model → hisoblash platformasi → xizmat) ajratib, har bir qatlamning resurs talabini aniq ko'rsatkichlar (FLOP, bayt, millisekund, vatt) orqali ifodalay oladi;</a:t>
            </a:r>
          </a:p>
          <a:p/>
          <a:p>
            <a:r>
              <a:t>Berilgan ish yuklamasi (workload) uchun arifmetik intensivlik (arithmetic intensity) va Roofline chegarasini hisoblab, tizim «hisoblash bilan cheklangan» yoki «xotira bilan cheklangan» ekanini asoslaydi;</a:t>
            </a:r>
          </a:p>
          <a:p/>
          <a:p>
            <a:r>
              <a:t>Kamida uchta hisoblash platformasining (ma'lumotlar markazi GPU, chekka (edge) moduli, ixtisoslashgan tezlatkich) texnik pasportini bir jadvalda solishtirib, talablar matritsasi asosida tanlov qiladi;</a:t>
            </a:r>
          </a:p>
          <a:p/>
          <a:p>
            <a:r>
              <a:t>Hardware–Software Co-design tamoyillarini qo'llab, AI tizimining strukturaviy sxemasini matnli tavsif va interfeyslar ro'yxati ko'rinishida hujjatlashtiradi;</a:t>
            </a:r>
          </a:p>
          <a:p/>
          <a:p>
            <a:r>
              <a:t>Python'da yuklama hisobi skriptini yozib, nazariy baholarni real o'lchovlar bilan solishtirish metodikasini qo'llaydi.</a:t>
            </a:r>
          </a:p>
          <a:p/>
          <a:p>
            <a:r>
              <a:t>Mavzu fanning TN1 (AI tizimlari arxitekturasini tahlil qilish va loyihalash), TN2 (hisoblash platformalarini tanlash va baholash) hamda TN7 (muhandislik hujjatlarini tayyorlash va natijalarni himoya qilish) ta'lim natijalariga bevosita xizmat qiladi; shuningdek, M1, M2 va M10 ma'ruzalaridagi nazariy materialni amaliy mustahkamlaydi.</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Ushbu amaliy mashg'ulotning maqsadi — magistrantlarda sun'iy intellektga asoslangan hisoblash tizimining arxitekturasini muhandislik nuqtai nazaridan tahlil qilish, apparat va dasturiy ta'minotni birgalikda loyihalash (Hardware–Software Co-design) tamoyillari asosida strukturaviy sxema ishlab chiqish hamda bozordagi hisoblash platformalarini texnik tavsiflar bo'yicha asosli taqqoslash ko'nikmasini shakllantirishdir.</a:t>
            </a:r>
          </a:p>
          <a:p/>
          <a:p>
            <a:r>
              <a:t>Mashg'ulot yakunida talaba:</a:t>
            </a:r>
          </a:p>
          <a:p/>
          <a:p>
            <a:r>
              <a:t>AI tizimining to'rt qatlamli arxitekturasini (ma'lumot → model → hisoblash platformasi → xizmat) ajratib, har bir qatlamning resurs talabini aniq ko'rsatkichlar (FLOP, bayt, millisekund, vatt) orqali ifodalay oladi;</a:t>
            </a:r>
          </a:p>
          <a:p/>
          <a:p>
            <a:r>
              <a:t>Berilgan ish yuklamasi (workload) uchun arifmetik intensivlik (arithmetic intensity) va Roofline chegarasini hisoblab, tizim «hisoblash bilan cheklangan» yoki «xotira bilan cheklangan» ekanini asoslaydi;</a:t>
            </a:r>
          </a:p>
          <a:p/>
          <a:p>
            <a:r>
              <a:t>Kamida uchta hisoblash platformasining (ma'lumotlar markazi GPU, chekka (edge) moduli, ixtisoslashgan tezlatkich) texnik pasportini bir jadvalda solishtirib, talablar matritsasi asosida tanlov qiladi;</a:t>
            </a:r>
          </a:p>
          <a:p/>
          <a:p>
            <a:r>
              <a:t>Hardware–Software Co-design tamoyillarini qo'llab, AI tizimining strukturaviy sxemasini matnli tavsif va interfeyslar ro'yxati ko'rinishida hujjatlashtiradi;</a:t>
            </a:r>
          </a:p>
          <a:p/>
          <a:p>
            <a:r>
              <a:t>Python'da yuklama hisobi skriptini yozib, nazariy baholarni real o'lchovlar bilan solishtirish metodikasini qo'llaydi.</a:t>
            </a:r>
          </a:p>
          <a:p/>
          <a:p>
            <a:r>
              <a:t>Mavzu fanning TN1 (AI tizimlari arxitekturasini tahlil qilish va loyihalash), TN2 (hisoblash platformalarini tanlash va baholash) hamda TN7 (muhandislik hujjatlarini tayyorlash va natijalarni himoya qilish) ta'lim natijalariga bevosita xizmat qiladi; shuningdek, M1, M2 va M10 ma'ruzalaridagi nazariy materialni amaliy mustahkamlaydi.</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Zamonaviy sun'iy intellekt tizimi — bu shunchaki o'qitilgan neyron tarmoq emas, balki ma'lumotlar oqimi, model, hisoblash platformasi, tarmoq, saqlash tizimi va ekspluatatsiya jarayonlarini o'z ichiga olgan murakkab muhandislik majmuasidir. Sanoat tajribasi shuni ko'rsatadiki, AI loyihalarining katta qismi model sifati tufayli emas, balki arxitektura noto'g'ri tanlangani — hisoblash resursi yetmagani, xotira o'tkazuvchanligi tiqilib qolgani, kechikish (latency) talabi bajarilmagani yoki ekspluatatsiya narxi byudjetdan oshib ketgani sababli muvaffaqiyatsizlikka uchraydi. Shuning uchun AI muhandisi uchun arxitekturani tahlil qilish va loyihalash ko'nikmasi model o'qitish ko'nikmasi bilan teng darajada muhimdir.</a:t>
            </a:r>
          </a:p>
          <a:p/>
          <a:p>
            <a:r>
              <a:t>Hardware–Software Co-design tushunchasi dastlab o'rnatilgan tizimlar (embedded systems) sohasida paydo bo'lgan: qaysi funksiyalarni apparatda (ASIC, FPGA), qaysilarini dasturda bajarish kerakligini loyihalashning dastlabki bosqichida birgalikda hal qilish. Sun'iy intellekt davrida bu g'oya yangi mazmun kasb etdi. Google'ning TPU loyihasi — modelning matritsa ko'paytirish (matrix multiply) amallariga bo'lgan talabini chuqur tahlil qilib, ayni shu amal uchun sistolik massiv (systolic array) arxitekturasini yaratishning klassik misolidir. NVIDIA Tensor Core'larining paydo bo'lishi, FP8 va FP4 formatlarining Hopper va Blackwell avlodlarida qo'llab-quvvatlanishi, Apple Neural Engine va Qualcomm Hexagon NPU'larining smartfonlarga kirib kelishi — bularning barchasi dasturiy ta'minot (model arxitekturasi, aniqlik formati, operatorlar to'plami) va apparat (hisoblash bloklari, xotira iyerarxiyasi, o'zaro bog'lanish) birgalikda rivojlanayotganining dalilidir.</a:t>
            </a:r>
          </a:p>
          <a:p/>
          <a:p>
            <a:r>
              <a:t>Mashg'ulot davomida biz real sanoat vazifasiga yaqin ssenariy ustida ishlaymiz: korxona video-kuzatuv tizimida shaxsiy himoya vositalari (SHV) ni real vaqtda aniqlash uchun AI tizimi loyihalanmoqda. Talablar: 16 ta kamera, har biri 1080p va 10 kadr/sekund; aniqlash modeli — YOLO oilasidan; bir kadr uchun maksimal uchdan-uchgacha kechikish 200 ms; tizim ishlab chiqarish sexida (changli, +40 °C gacha harorat) joylashadi; byudjet cheklangan. Ushbu talablardan kelib chiqib, talaba platformani tanlashi, strukturaviy sxemani ishlab chiqishi va o'z qarorini raqamlar bilan asoslashi kerak.</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Sun'iy intellektga asoslangan kompyuter tizimini (AI-enabled computer system) tahlil qilishda to'rt qatlamli model qulay: (1) ma'lumotlar qatlami — sensorlar, oqimlar, saqlash, oldindan ishlov berish; (2) model qatlami — neyron tarmoq arxitekturasi, parametrlar, aniqlik formati, operatorlar grafigi; (3) hisoblash platformasi qatlami — CPU, GPU, NPU, FPGA, xotira iyerarxiyasi, o'zaro bog'lanish (interconnect); (4) xizmat qatlami — API, konteynerlar, orkestratsiya, monitoring. Har bir qatlam o'ziga xos resurs talabiga ega va qatlamlar orasidagi interfeyslar aynan tizimning tiqilib qoladigan joylari (bottleneck) bo'lishi mumkin. Masalan, kameradan kelgan H.264 oqimini dekodlash CPU'da bajarilsa, 16 kamera uchun bu bitta protsessor yadrosini to'liq band qilishi mumkin — model qanchalik tez bo'lmasin, tizim dekodlash bosqichida tiqilib qoladi. Shu sababli arxitektura tahlili har doim butun quvur liniyasini (pipeline) qamrab olishi kerak.</a:t>
            </a:r>
          </a:p>
          <a:p/>
          <a:p>
            <a:r>
              <a:t>Tahlilning asosiy ko'rsatkichlari quyidagilar: o'tkazuvchanlik (throughput) — birlik vaqtda ishlangan so'rovlar yoki kadrlar soni; kechikish (latency) — bitta so'rovning kirishdan natijagacha o'tgan vaqti, odatda o'rtacha emas, balki p95 yoki p99 persentil bilan o'lchanadi; energiya samaradorligi — bitta inferensga sarflangan joul yoki vatt birligiga to'g'ri keladigan operatsiyalar soni (TOPS/W); egallanadigan xotira hajmi; umumiy egalik qiymati (total cost of ownership, TCO).</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Har qanday loyihalash yuklamani raqamlar bilan ifodalashdan boshlanadi. Chuqur o'rganish modelining bitta inferensi uchun zarur bo'lgan suzuvchi nuqtali amallar soni (FLOP) model arxitekturasidan aniq hisoblanadi: konvolyutsiya qatlami uchun FLOP = 2  K_h  K_w  C_in  C_out  H_out  W_out, to'liq bog'langan qatlam uchun FLOP = 2  N_in  N_out. Masalan, YOLOv8n modeli 640×640 kirishda taxminan 8,7 GFLOP, YOLOv8s — 28,6 GFLOP, YOLOv8m — 78,9 GFLOP talab qiladi (ishlab chiquvchilar hujjatlaridagi taxminiy qiymatlar). 16 kamera va 10 kadr/sekund uchun jami 160 inferens/sekund kerak; YOLOv8s uchun bu 160  28,6 = 4576 GFLOP/s, ya'ni taxminan 4,6 TFLOP/s haqiqiy (erishiladigan) unumdorlik.</a:t>
            </a:r>
          </a:p>
          <a:p/>
          <a:p>
            <a:r>
              <a:t>Xotira trafigi ham shunchalik muhim. Modelning har bir qatlami o'z vaznlarini (weights) va faollashuvlarini (activations) xotiradan o'qiydi va yozadi. Agar vaznlar FP16 formatida bo'lsa, YOLOv8s'ning 11,2 million parametri 22,4 MB joy egallaydi; paketlash (batching) ishlatilmasa, har inferensda vaznlar qayta o'qiladi. Arifmetik intensivlik AI = FLOP / bayt — bitta xotiradan o'qilgan baytga to'g'ri keladigan amallar soni. Roofline modeliga ko'ra, erishiladigan unumdorlik P = min(P_peak, AI  B_mem) formulasi bilan chegaralanadi, bu yerda P_peak — cho'qqi hisoblash unumdorligi, B_mem — xotira o'tkazuvchanligi. «Tizza nuqtasi» (ridge point) AI_ridge = P_peak / B_mem dan past intensivlikdagi yuklamalar xotira bilan, yuqoridagilari hisoblash bilan cheklanadi. Ma'lumotlar markazi GPU'larida (masalan, H100 SXM: ~990 TFLOP/s FP16 dense, ~3,35 TB/s HBM3) tizza nuqtasi taxminan 300 FLOP/bayt; Jetson Orin NX (~50 TOPS INT8 sparse emas, 102 GB/s LPDDR5) uchun esa taxminan 500 FLOP/bayt. Demak, bir xil model turli platformalarda turli rejimda ishlashi mumkin — bu Co-design uchun muhim xulosa.</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Co-design — apparat va dasturiy qarorlarni ketma-ket emas, balki iterativ va birgalikda qabul qilish metodologiyasi. Uning asosiy tamoyillari:</a:t>
            </a:r>
          </a:p>
          <a:p/>
          <a:p>
            <a:r>
              <a:t>Yuklamadan boshlash (workload-first). Avval model operatorlari profili tuziladi: qaysi operatorlar vaqtning necha foizini oladi. Agar 85 % vaqt konvolyutsiya va matritsa ko'paytirishga ketsa, Tensor Core yoki NPU hal qiluvchi; agar vaqtning katta qismi NMS (non-maximum suppression) kabi tarmoqlanuvchi mantiqqa ketsa, tezkor CPU yadrolari kerak.</a:t>
            </a:r>
          </a:p>
          <a:p/>
          <a:p>
            <a:r>
              <a:t>Aniqlik formatini apparatga moslashtirish. INT8 kvantlash Tensor Core'larda 2 baravar, Edge TPU'da esa yagona qo'llab-quvvatlanadigan format. Model INT8'ga sifatni yo'qotmasdan kvantlanmasa, Edge TPU avtomatik ravishda nomzodlar ro'yxatidan chiqadi.</a:t>
            </a:r>
          </a:p>
          <a:p/>
          <a:p>
            <a:r>
              <a:t>Operatorlar qamrovi (operator coverage). Har bir tezlatkich cheklangan operatorlar to'plamini qo'llab-quvvatlaydi. Qo'llab-quvvatlanmagan operator CPU'ga «tushib» qoladi (fallback) va butun grafikning tezligini pasaytiradi. Loyihalashda model grafigi va tezlatkich operatorlar ro'yxati solishtiriladi.</a:t>
            </a:r>
          </a:p>
          <a:p/>
          <a:p>
            <a:r>
              <a:t>Xotira iyerarxiyasini hisobga olish. On-chip SRAM (masalan, Edge TPU'da 8 MB, Orin'da 4 MB L2 + yadro keshlari) ga sig'adigan model va faollashuvlar tashqi DRAM'ga murojaatni keskin kamaytiradi.</a:t>
            </a:r>
          </a:p>
          <a:p/>
          <a:p>
            <a:r>
              <a:t>Butun tizim narxi va energiya byudjeti. Chekka qurilmada 15–25 Vt, serverda 300–700 Vt bir tezlatkich uchun. Sovutish, korpus, quvvat manbai ham loyihaning bir qismi.</a:t>
            </a:r>
          </a:p>
          <a:p/>
          <a:p>
            <a:r>
              <a:t>Iteratsiya. Birinchi tanlov prototipda o'lchanadi, natija talabga javob bermasa — model (masalan, kirish o'lchamini 640 dan 512 ga tushirish) yoki apparat (Orin NX → Orin AGX) o'zgartiriladi.</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Co-design — apparat va dasturiy qarorlarni ketma-ket emas, balki iterativ va birgalikda qabul qilish metodologiyasi. Uning asosiy tamoyillari:</a:t>
            </a:r>
          </a:p>
          <a:p/>
          <a:p>
            <a:r>
              <a:t>Yuklamadan boshlash (workload-first). Avval model operatorlari profili tuziladi: qaysi operatorlar vaqtning necha foizini oladi. Agar 85 % vaqt konvolyutsiya va matritsa ko'paytirishga ketsa, Tensor Core yoki NPU hal qiluvchi; agar vaqtning katta qismi NMS (non-maximum suppression) kabi tarmoqlanuvchi mantiqqa ketsa, tezkor CPU yadrolari kerak.</a:t>
            </a:r>
          </a:p>
          <a:p/>
          <a:p>
            <a:r>
              <a:t>Aniqlik formatini apparatga moslashtirish. INT8 kvantlash Tensor Core'larda 2 baravar, Edge TPU'da esa yagona qo'llab-quvvatlanadigan format. Model INT8'ga sifatni yo'qotmasdan kvantlanmasa, Edge TPU avtomatik ravishda nomzodlar ro'yxatidan chiqadi.</a:t>
            </a:r>
          </a:p>
          <a:p/>
          <a:p>
            <a:r>
              <a:t>Operatorlar qamrovi (operator coverage). Har bir tezlatkich cheklangan operatorlar to'plamini qo'llab-quvvatlaydi. Qo'llab-quvvatlanmagan operator CPU'ga «tushib» qoladi (fallback) va butun grafikning tezligini pasaytiradi. Loyihalashda model grafigi va tezlatkich operatorlar ro'yxati solishtiriladi.</a:t>
            </a:r>
          </a:p>
          <a:p/>
          <a:p>
            <a:r>
              <a:t>Xotira iyerarxiyasini hisobga olish. On-chip SRAM (masalan, Edge TPU'da 8 MB, Orin'da 4 MB L2 + yadro keshlari) ga sig'adigan model va faollashuvlar tashqi DRAM'ga murojaatni keskin kamaytiradi.</a:t>
            </a:r>
          </a:p>
          <a:p/>
          <a:p>
            <a:r>
              <a:t>Butun tizim narxi va energiya byudjeti. Chekka qurilmada 15–25 Vt, serverda 300–700 Vt bir tezlatkich uchun. Sovutish, korpus, quvvat manbai ham loyihaning bir qismi.</a:t>
            </a:r>
          </a:p>
          <a:p/>
          <a:p>
            <a:r>
              <a:t>Iteratsiya. Birinchi tanlov prototipda o'lchanadi, natija talabga javob bermasa — model (masalan, kirish o'lchamini 640 dan 512 ga tushirish) yoki apparat (Orin NX → Orin AGX) o'zgartiriladi.</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Quyidagi jadvalda mashg'ulotda solishtiriladigan uchta platformaning ochiq texnik tavsiflari keltirilgan (qiymatlar ishlab chiqaruvchilarning rasmiy ma'lumotlariga asoslangan, taxminiy; aniq raqam modul konfiguratsiyasi va quvvat rejimiga bog'liq).</a:t>
            </a:r>
          </a:p>
          <a:p/>
          <a:p>
            <a:r>
              <a:t>Jadvaldan ko'rinadiki, «eng kuchli» platforma har doim ham eng mos emas. A100 unumdorlikda ustun, lekin sexda joylashtirish, sovutish va narx bo'yicha talabga mos kelmaydi; Edge TPU juda arzon va tejamkor, lekin 160 inferens/sekund YOLOv8s yuklamasini ko'tara olmaydi (4 TOPS × ~50 % samaradorlik ≈ 2 TOPS haqiqiy, kerak esa 4,6 TOPS) va faqat INT8 model talab qiladi; Jetson Orin NX esa o'rta yo'l — apparat video dekoderi, sanoat harorati diapazoni, TensorRT qo'llab-quvvatlashi bilan talablarga eng yaqin.</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Strukturaviy sxema — tizimning asosiy bloklari va ular orasidagi ma'lumot/boshqaruv oqimlarining tavsifi. AI tizimi uchun odatiy bloklar: kirish manbalari (IP-kameralar, RTSP), tarmoq kommutatori, ingest/dekodlash bloki, oldindan ishlov berish (resize, normalizatsiya), inferens dvigateli (TensorRT engine), keyingi ishlov berish (NMS, kuzatuv), biznes-mantiq (qoidalar, ogohlantirish), saqlash (hodisalar bazasi, video klip), monitoring (metrikalar, loglar), tashqi API. Har bir interfeys uchun protokol (RTSP/H.264, shared memory, gRPC, MQTT), o'tkazuvchanlik (Mbit/s yoki kadr/s) va kechikish byudjeti ko'rsatiladi. Kechikish byudjeti — umumiy 200 ms ni bloklar orasida taqsimlash: tarmoq va dekodlash 40 ms, oldindan ishlov 10 ms, inferens 60 ms, keyingi ishlov va mantiq 20 ms, zaxira 70 ms. Bunday taqsimot keyingi mashg'ulotlarda o'lchov natijalarini solishtirish uchun etalon bo'lib xizmat qiladi.</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Laboratoriya topshirig'i: «SHV aniqlash tizimi uchun hisoblash platformasini tanlash va strukturaviy sxema ishlab chiqish».</a:t>
            </a:r>
          </a:p>
          <a:p/>
          <a:p>
            <a:r>
              <a:t>Talab qilinadigan muhit. Apparat: oddiy noutbuk yoki ish stantsiyasi (GPU shart emas). Dasturiy ta'minot: Python 3.10 yoki undan yuqori; kutubxonalar torch&gt;=2.1, ultralytics&gt;=8.1 (model FLOP hisobi uchun), pandas, tabulate. O'rnatish: pip install torch ultralytics pandas tabulate. Internet ulanishi — modellarning oldindan o'qitilgan vaznlarini yuklab olish uchun (bir marta). Vaqt: 2 akademik soat auditoriyada, hisobot — uyda yakunlanadi.</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Avval ssenariy talablarini o'lchanadigan ko'rsatkichlarga aylantiring va har biriga og'irlik (1–5) bering. Quyidagi matritsa namuna; talaba o'z asoslashi bilan og'irliklarni o'zgartirishi mumkin.</a:t>
            </a:r>
          </a:p>
          <a:p/>
          <a:p>
            <a:r>
              <a:t>Nima bo'ldi va nega. Talablar matritsasi loyihalashni sub'ektiv bahsdan ob'ektiv taqqoslashga o'tkazadi. Og'irliklar buyurtmachi ustuvorliklarini aks ettiradi: kechikish va o'tkazuvchanlik — funksional talab (bajarilmasa tizim ishlamaydi), narx — iqtisodiy cheklov.</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Quyidagi skript tanlangan YOLO variantlari uchun FLOP, parametrlar soni, vaznlar hajmi va talab qilinadigan jami unumdorlikni hisoblaydi.</a:t>
            </a:r>
          </a:p>
          <a:p/>
          <a:p>
            <a:r>
              <a:t>Kutilgan natija (taxminiy, ultralytics versiyasiga qarab ±5 %):</a:t>
            </a:r>
          </a:p>
          <a:p/>
          <a:p>
            <a:r>
              <a:t>Nima bo'ldi va nega. Skript modelning statik xususiyatlaridan kelib chiqib «nazariy» talabni beradi. Bu — yuqori chegaradan ancha past baho emas, aksincha, quyi chegara: real platformada dekodlash, xotira ko'chirish va operatorlar samaradorligi (odatda cho'qqining 30–60 %) tufayli haqiqiy talab 2–3 baravar yuqori bo'ladi. Shuning uchun platformani tanlashda «samaradorlik koeffitsiyenti» kiritiladi.</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Kod to‘liq holda mavzu matnida va laboratoriya repozitoriysida keltirilgan.</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Kutilgan natija (taxminiy):</a:t>
            </a:r>
          </a:p>
          <a:p/>
          <a:p>
            <a:r>
              <a:t>Nima bo'ldi va nega. zaxira_koef — platformaning haqiqiy unumdorligi talabdan necha marta oshishi. 1 dan kichik qiymat (Edge TPU, CPU) — platforma yetarli emas; 3–5 oralig'i — sog'lom zaxira (pik yuklama, model yangilanishi, qo'shimcha kuzatuv algoritmi uchun); 50 dan katta (A100) — ortiqcha xarajat. Edge TPU uchun yechim bo'lishi mumkin edi: 16 kamerani 4 ta Coral modulga bo'lish va yolov8n INT8 ishlatish, lekin apparat dekoder yo'qligi CPU'ni band qiladi. Shu tahlil Orin NX ni asosiy nomzod qiladi.</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Kod to‘liq holda mavzu matnida va laboratoriya repozitoriysida keltirilgan.</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Talaba quyidagi shaklda strukturaviy sxemani yozadi (rasm shart emas; blok ro'yxati va interfeyslar jadvali yetarli):</a:t>
            </a:r>
          </a:p>
          <a:p/>
          <a:p>
            <a:r>
              <a:t>Interfeyslar jadvali:</a:t>
            </a:r>
          </a:p>
          <a:p/>
          <a:p>
            <a:r>
              <a:t>Nima bo'ldi va nega. Sxema har bir qadamda «ma'lumot qayerda yotadi» savoliga javob beradi. Jetson'da NVDEC chiqishi to'g'ridan-to'g'ri GPU xotirasida qolishi (nol nusxalash, zero-copy) CPU–GPU ko'chirishlarini olib tashlaydi — bu Co-design'ning amaliy ko'rinishi: apparat imkoniyati (umumiy xotira) dasturiy yechimni (DeepStream yoki VPI quvuri) belgilaydi.</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Kod to‘liq holda mavzu matnida va laboratoriya repozitoriysida keltirilgan.</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Hisobotda tanlangan platforma, rad etilgan muqobillar sabablari va xavflar ro'yxati yoziladi. Namuna xavflar: INT8 kvantlashda mAP 1–2 foiz punkt pasayishi (A3 mashg'ulotida tekshiriladi); +40 °C muhitda Orin NX termal cheklov (throttling) tufayli 25 Vt rejimida barqaror ishlamasligi — passiv emas, faol sovutishli sanoat korpusi talab qilinadi; 16 oqimni bitta modulda dekodlash NVDEC chegarasiga yaqin — zaxira sifatida ikki modulga bo'lish rejasi.</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Hisobot (PDF yoki Markdown, 4–6 bet) quyidagilarni o'z ichiga oladi: (1) talablar matritsasi; (2) yuklama.csv jadvali va skript natijasi ekran tasviri; (3) platformalar taqqoslash jadvali va zaxira_koef izohi; (4) strukturaviy sxema matni va interfeyslar jadvali; (5) kechikish byudjeti taqsimoti; (6) xavflar va muqobil variantlar; (7) xulosa — bir xatboshida qaror asosi.</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Qo'shimcha 10 ball: talaba ikkinchi ssenariy (masalan, 64 kamera, markaziy serverda ishlov) uchun ham tahlil o'tkazib, Edge va markazlashgan variantlarning TCO'sini 3 yilga solishtirsa.</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Mashg'ulot natijalari ikki darajada talqin qilinadi. Birinchi daraja — miqdoriy: zaxira_koef va energiya ko'rsatkichlari platformalarni aniq tartiblaydi. Ko'rinib turibdiki, Jetson Orin NX talabni taxminan 5 baravar zaxira bilan qoplaydi, bu zaxira pik yuklama (barcha kameralarda bir vaqtda harakat), kuzatuv algoritmi va kelgusida model yangilanishi uchun kerak. AGX Orin 13 baravar zaxira beradi, lekin uch baravar qimmat; agar buyurtmachi kelajakda kameralar sonini 32–48 gacha oshirishni rejalashtirsa, AGX Orin oqilona bo'lishi mumkin — ya'ni qaror texnik emas, balki texnik-iqtisodiy.</a:t>
            </a:r>
          </a:p>
          <a:p/>
          <a:p>
            <a:r>
              <a:t>Ikkinchi daraja — sifatiy cheklovlar. Nazariy hisob bir qancha soddalashtirishlarga asoslanadi: INT8 TOPS va FP32 FLOP bir-biriga teng deb olindi, samaradorlik koeffitsiyenti 45–50 % deb taxmin qilindi, dekodlash va oldindan ishlov berish yuklamasi batafsil modellashtirilmadi. Real tizimda bu bahoni faqat prototip o'lchovlari tasdiqlaydi yoki rad etadi. Shu sababli A1 natijasi — yakuniy qaror emas, balki A2–A4 mashg'ulotlarida o'lchov bilan tekshiriladigan gipoteza. Xususan, A3 da INT8 kvantlash aniqlikka ta'siri va haqiqiy latency, A4 da esa Jetson'da butun quvur liniyasining o'tkazuvchanligi o'lchanadi.</a:t>
            </a:r>
          </a:p>
          <a:p/>
          <a:p>
            <a:r>
              <a:t>Muqobil yondashuvlar: (1) markazlashgan arxitektura — barcha kameralar oqimini serverdagi bitta GPU'ga yuborish; afzalligi — boshqaruv osonligi, kamchiligi — tarmoq yuklamasi (64 Mbit/s uzluksiz), yagona nosozlik nuqtasi, sex va server xonasi orasidagi kechikish; (2) gibrid — chekkada yengil model (yolov8n) birlamchi filtrlash, shubhali kadrlar serverda og'ir model bilan qayta tekshirish; bu Cloud–Edge taqqoslash A4 da chuqurlashtiriladi; (3) FPGA asosidagi yechim (masalan, AMD Kria KV260) — energiya samarador va deterministik kechikish, lekin ishlab chiqish murakkabligi va ekotizim cheklovlari yuqori.</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Cho'qqi TOPS'ni haqiqiy unumdorlik deb qabul qilish. Ishlab chiqaruvchi ko'rsatadigan TOPS ko'pincha siyraklik (sparsity) hisobga olingan va ideal yuklama uchun. Har doim dense qiymatni oling va 30–60 % samaradorlik koeffitsiyentini qo'llang.</a:t>
            </a:r>
          </a:p>
          <a:p/>
          <a:p>
            <a:r>
              <a:t>Faqat inferensni hisoblash. Dekodlash, o'lcham o'zgartirish, NMS, kuzatuv va tarmoq ko'pincha inferens vaqtidan ko'p bo'ladi. Butun quvur liniyasi uchun kechikish byudjeti tuzing.</a:t>
            </a:r>
          </a:p>
          <a:p/>
          <a:p>
            <a:r>
              <a:t>Aniqlik formatini e'tiborsiz qoldirish. Edge TPU faqat INT8, ko'pgina NPU'lar FP16 ni qo'llamaydi. Platformani tanlashdan oldin modelni shu formatga kvantlash mumkinligini tekshiring.</a:t>
            </a:r>
          </a:p>
          <a:p/>
          <a:p>
            <a:r>
              <a:t>Operatorlar qamrovini tekshirmaslik. Model grafigidagi bitta qo'llab-quvvatlanmagan operator butun tezlatkichni foydasiz qilishi mumkin. ONNX eksport va tezlatkich kompilyatorining xabarnomalarini o'qing.</a:t>
            </a:r>
          </a:p>
          <a:p/>
          <a:p>
            <a:r>
              <a:t>Termal va mexanik muhitni unutish. 25 Vt chekka modul passiv radiator bilan +40 °C da throttling qiladi. Quvvat rejimini (nvpmodel) va sovutishni loyihaning qismi deb hisoblang.</a:t>
            </a:r>
          </a:p>
          <a:p/>
          <a:p>
            <a:r>
              <a:t>O'rtacha kechikishni hisobot qilish. Foydalanuvchi uchun p95/p99 muhim. Kechikish taqsimotining «dumini» (tail latency) o'lchang va byudjetni shu bo'yicha tuzing.</a:t>
            </a:r>
          </a:p>
          <a:p/>
          <a:p>
            <a:r>
              <a:t>TCO'ni faqat apparat narxi deb bilish. Elektr energiyasi, sovutish, texnik xizmat, dasturiy litsenziyalar va muhandis vaqti 3–5 yil davomida apparat narxidan oshib ketadi.</a:t>
            </a:r>
          </a:p>
          <a:p/>
          <a:p>
            <a:r>
              <a:t>Hujjatlashtirmaslik. Qaror asoslari (talablar matritsasi, rad etish sabablari) yozilmasa, 6 oydan keyin «nega aynan shu platforma?» savoliga hech kim javob bera olmaydi.</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Cho'qqi TOPS'ni haqiqiy unumdorlik deb qabul qilish. Ishlab chiqaruvchi ko'rsatadigan TOPS ko'pincha siyraklik (sparsity) hisobga olingan va ideal yuklama uchun. Har doim dense qiymatni oling va 30–60 % samaradorlik koeffitsiyentini qo'llang.</a:t>
            </a:r>
          </a:p>
          <a:p/>
          <a:p>
            <a:r>
              <a:t>Faqat inferensni hisoblash. Dekodlash, o'lcham o'zgartirish, NMS, kuzatuv va tarmoq ko'pincha inferens vaqtidan ko'p bo'ladi. Butun quvur liniyasi uchun kechikish byudjeti tuzing.</a:t>
            </a:r>
          </a:p>
          <a:p/>
          <a:p>
            <a:r>
              <a:t>Aniqlik formatini e'tiborsiz qoldirish. Edge TPU faqat INT8, ko'pgina NPU'lar FP16 ni qo'llamaydi. Platformani tanlashdan oldin modelni shu formatga kvantlash mumkinligini tekshiring.</a:t>
            </a:r>
          </a:p>
          <a:p/>
          <a:p>
            <a:r>
              <a:t>Operatorlar qamrovini tekshirmaslik. Model grafigidagi bitta qo'llab-quvvatlanmagan operator butun tezlatkichni foydasiz qilishi mumkin. ONNX eksport va tezlatkich kompilyatorining xabarnomalarini o'qing.</a:t>
            </a:r>
          </a:p>
          <a:p/>
          <a:p>
            <a:r>
              <a:t>Termal va mexanik muhitni unutish. 25 Vt chekka modul passiv radiator bilan +40 °C da throttling qiladi. Quvvat rejimini (nvpmodel) va sovutishni loyihaning qismi deb hisoblang.</a:t>
            </a:r>
          </a:p>
          <a:p/>
          <a:p>
            <a:r>
              <a:t>O'rtacha kechikishni hisobot qilish. Foydalanuvchi uchun p95/p99 muhim. Kechikish taqsimotining «dumini» (tail latency) o'lchang va byudjetni shu bo'yicha tuzing.</a:t>
            </a:r>
          </a:p>
          <a:p/>
          <a:p>
            <a:r>
              <a:t>TCO'ni faqat apparat narxi deb bilish. Elektr energiyasi, sovutish, texnik xizmat, dasturiy litsenziyalar va muhandis vaqti 3–5 yil davomida apparat narxidan oshib ketadi.</a:t>
            </a:r>
          </a:p>
          <a:p/>
          <a:p>
            <a:r>
              <a:t>Hujjatlashtirmaslik. Qaror asoslari (talablar matritsasi, rad etish sabablari) yozilmasa, 6 oydan keyin «nega aynan shu platforma?» savoliga hech kim javob bera olmaydi.</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Nima uchun bir xil model (masalan, YOLOv8s) A100 da hisoblash bilan, Jetson Orin NX da esa xotira bilan cheklangan rejimda ishlashi mumkin? Roofline modeli orqali tushuntiring.</a:t>
            </a:r>
          </a:p>
          <a:p/>
          <a:p>
            <a:r>
              <a:t>Agar buyurtmachi kechikish talabini 200 ms dan 50 ms ga tushirsa, strukturaviy sxemaning qaysi bloklari qayta loyihalanadi va nima uchun batching strategiyasi o'zgaradi?</a:t>
            </a:r>
          </a:p>
          <a:p/>
          <a:p>
            <a:r>
              <a:t>Hardware–Software Co-design nuqtai nazaridan modelni INT8 ga kvantlash qarori apparat tanlovidan oldin qabul qilinishi kerakmi yoki keyin? Fikringizni asoslang.</a:t>
            </a:r>
          </a:p>
          <a:p/>
          <a:p>
            <a:r>
              <a:t>Edge TPU'ning 4 TOPS unumdorligi 16 kamera uchun yetmasligi ko'rsatildi. Qanday arxitektura o'zgarishlari (model, kadr tezligi, kamera taqsimoti) bilan Edge TPU asosidagi yechimni yaroqli qilish mumkin va bunda qanday yangi tiqilib qolish nuqtalari paydo bo'ladi?</a:t>
            </a:r>
          </a:p>
          <a:p/>
          <a:p>
            <a:r>
              <a:t>Samaradorlik koeffitsiyentini 45 % deb olish qanchalik asosli? Uni prototip bosqichida qanday o'lchab aniqlashtirgan bo'lardingiz?</a:t>
            </a:r>
          </a:p>
          <a:p/>
          <a:p>
            <a:r>
              <a:t>Markazlashgan (bitta server GPU) va chekka (har sexda Jetson) arxitekturalarning 3 yillik TCO'sini solishtirish uchun qaysi xarajat moddalarini hisobga olish kerak?</a:t>
            </a:r>
          </a:p>
          <a:p/>
          <a:p>
            <a:r>
              <a:t>Strukturaviy sxemadagi «nol nusxalash» (zero-copy) interfeysi nima uchun Co-design'ning namunasi hisoblanadi? Bu imkoniyat bo'lmagan platformada (masalan, diskret GPU + CPU dekodlash) kechikish byudjeti qanday o'zgaradi?</a:t>
            </a:r>
          </a:p>
          <a:p/>
          <a:p>
            <a:r>
              <a:t>Talablar matritsasidagi og'irliklarni kim belgilashi kerak — muhandis, buyurtmachi yoki ikkalasi birga? Og'irliklar noto'g'ri belgilansa, qaysi xatoliklar yuzaga keladi?</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Nima uchun bir xil model (masalan, YOLOv8s) A100 da hisoblash bilan, Jetson Orin NX da esa xotira bilan cheklangan rejimda ishlashi mumkin? Roofline modeli orqali tushuntiring.</a:t>
            </a:r>
          </a:p>
          <a:p/>
          <a:p>
            <a:r>
              <a:t>Agar buyurtmachi kechikish talabini 200 ms dan 50 ms ga tushirsa, strukturaviy sxemaning qaysi bloklari qayta loyihalanadi va nima uchun batching strategiyasi o'zgaradi?</a:t>
            </a:r>
          </a:p>
          <a:p/>
          <a:p>
            <a:r>
              <a:t>Hardware–Software Co-design nuqtai nazaridan modelni INT8 ga kvantlash qarori apparat tanlovidan oldin qabul qilinishi kerakmi yoki keyin? Fikringizni asoslang.</a:t>
            </a:r>
          </a:p>
          <a:p/>
          <a:p>
            <a:r>
              <a:t>Edge TPU'ning 4 TOPS unumdorligi 16 kamera uchun yetmasligi ko'rsatildi. Qanday arxitektura o'zgarishlari (model, kadr tezligi, kamera taqsimoti) bilan Edge TPU asosidagi yechimni yaroqli qilish mumkin va bunda qanday yangi tiqilib qolish nuqtalari paydo bo'ladi?</a:t>
            </a:r>
          </a:p>
          <a:p/>
          <a:p>
            <a:r>
              <a:t>Samaradorlik koeffitsiyentini 45 % deb olish qanchalik asosli? Uni prototip bosqichida qanday o'lchab aniqlashtirgan bo'lardingiz?</a:t>
            </a:r>
          </a:p>
          <a:p/>
          <a:p>
            <a:r>
              <a:t>Markazlashgan (bitta server GPU) va chekka (har sexda Jetson) arxitekturalarning 3 yillik TCO'sini solishtirish uchun qaysi xarajat moddalarini hisobga olish kerak?</a:t>
            </a:r>
          </a:p>
          <a:p/>
          <a:p>
            <a:r>
              <a:t>Strukturaviy sxemadagi «nol nusxalash» (zero-copy) interfeysi nima uchun Co-design'ning namunasi hisoblanadi? Bu imkoniyat bo'lmagan platformada (masalan, diskret GPU + CPU dekodlash) kechikish byudjeti qanday o'zgaradi?</a:t>
            </a:r>
          </a:p>
          <a:p/>
          <a:p>
            <a:r>
              <a:t>Talablar matritsasidagi og'irliklarni kim belgilashi kerak — muhandis, buyurtmachi yoki ikkalasi birga? Og'irliklar noto'g'ri belgilansa, qaysi xatoliklar yuzaga keladi?</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1-topshiriq (sillabusdagi 3-mustaqil ta'lim topshirig'iga bog'liq). O'zingiz tanlagan amaliy masala (tibbiy tasvir tahlili, nutqni aniqlash, tavsiya tizimi yoki sanoat nazorati) uchun CPU, GPU, TPU, NPU va FPGA sinflaridan kamida to'rtta aniq platformaning texnik tavsiflarini rasmiy manbalardan to'plang, mashg'ulotdagi metodika bo'yicha yuklama hisobi va talablar matritsasini tuzing, platformani tanlang va strukturaviy sxemani ishlab chiqing. Baholash: manbalarning to'g'riligi va dolzarbligi (25 %), hisob-kitobning asoslanganligi (30 %), sxema va interfeyslar to'liqligi (25 %), xavflar tahlili va muqobillar (20 %).</a:t>
            </a:r>
          </a:p>
          <a:p/>
          <a:p>
            <a:r>
              <a:t>2-topshiriq (sillabusdagi 1-mustaqil ta'lim topshirig'iga bog'liq). Real dunyo AI mahsuloti (masalan, video-oqim platformasidagi tavsiya tizimi yoki logistika kompaniyasidagi talab prognozi) hayot siklini o'rganib, uning hisoblash arxitekturasini to'rt qatlamli model bo'yicha tahlil qiling: har bir qatlam uchun ehtimoliy platforma, tiqilib qolish nuqtasi va Co-design qarorini ko'rsating. Hajm 3–4 bet; baholash: tahlil chuqurligi (50 %), texnik asoslilik (30 %), taqdimot (20 %).</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Quyidagi topshiriqlar virtual laboratoriyada bajariladi (sayt ichidagi CPU-sandbox: Python 3.12, 2 yadro, GPU va tarmoq yo'q). Har bir topshiriq laboratoriya bosqichlari kodini o'zgartirib bajariladi; to'liq matn va baholash shartlari virtual laboratoriya sahifasida. Jami 100 ball: 3 oson × 5, 4 o'rta × 10, 3 qiyin × 15.</a:t>
            </a:r>
          </a:p>
          <a:p/>
          <a:p>
            <a:r>
              <a:t>Eslatma: topshiriqlar A1 virtual laboratoriyasining 7 bosqichiga tayanadi; natijalar (jadval, grafik, qisqa xulosa) hisobotga ilova qilinadi.</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 Hennessy, J. L., &amp; Patterson, D. A. Computer Architecture: A Quantitative Approach. 7th Edition. Morgan Kaufmann, 2024. — Roofline modeli, miqdoriy loyihalash tamoyillari, maxsus arxitekturalar (DSA) bobi.</a:t>
            </a:r>
          </a:p>
          <a:p/>
          <a:p>
            <a:r>
              <a:t>[2] Kneusel, R. T. Artificial Intelligence Engineering: A Practical Guide for AI Applications. No Starch Press, 2023. — AI tizimlarini muhandislik nuqtai nazaridan loyihalash.</a:t>
            </a:r>
          </a:p>
          <a:p/>
          <a:p>
            <a:r>
              <a:t>[3] Amershi, S. va boshq. Machine Learning Engineering. MIT Press, 2025. — ML tizimlari hayot sikli va arxitektura qarorlari.</a:t>
            </a:r>
          </a:p>
          <a:p/>
          <a:p>
            <a:r>
              <a:t>[4] Sze, V., Chen, Y.-H., Yang, T.-J., &amp; Emer, J. S. Efficient Processing of Deep Neural Networks. Morgan &amp; Claypool, 2020. — energiya samaradorligi, xotira iyerarxiyasi va tezlatkichlarni baholash metrikalari.</a:t>
            </a:r>
          </a:p>
          <a:p/>
          <a:p>
            <a:r>
              <a:t>[6] NVIDIA Developer Portal — Jetson Orin modullari va A100 texnik tavsiflari, TensorRT va DeepStream hujjatlari (https://developer.nvidia.com).</a:t>
            </a:r>
          </a:p>
          <a:p/>
          <a:p>
            <a:r>
              <a:t>[7] PyTorch rasmiy hujjatlari (https://pytorch.org).</a:t>
            </a:r>
          </a:p>
          <a:p/>
          <a:p>
            <a:r>
              <a:t>Williams, S., Waterman, A., &amp; Patterson, D. Roofline: An Insightful Visual Performance Model for Multicore Architectures. Communications of the ACM, 52(4), 2009. — Roofline modelining asl maqolasi.</a:t>
            </a:r>
          </a:p>
          <a:p/>
          <a:p>
            <a:r>
              <a:t>Jouppi, N. P. va boshq. In-Datacenter Performance Analysis of a Tensor Processing Unit. ISCA 2017. — yuklama tahlili asosida tezlatkich loyihalashning klassik misoli.</a:t>
            </a:r>
          </a:p>
          <a:p/>
          <a:p>
            <a:r>
              <a:t>Ultralytics YOLOv8 hujjatlari — model variantlari, parametrlar va GFLOP qiymatlari (https://docs.ultralytics.com).</a:t>
            </a:r>
          </a:p>
          <a:p/>
          <a:p>
            <a:r>
              <a:t>Google Coral hujjatlari — Edge TPU texnik tavsiflari va qo'llab-quvvatlanadigan operatorlar (https://coral.ai/docs).</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 Hennessy, J. L., &amp; Patterson, D. A. Computer Architecture: A Quantitative Approach. 7th Edition. Morgan Kaufmann, 2024. — Roofline modeli, miqdoriy loyihalash tamoyillari, maxsus arxitekturalar (DSA) bobi.</a:t>
            </a:r>
          </a:p>
          <a:p/>
          <a:p>
            <a:r>
              <a:t>[2] Kneusel, R. T. Artificial Intelligence Engineering: A Practical Guide for AI Applications. No Starch Press, 2023. — AI tizimlarini muhandislik nuqtai nazaridan loyihalash.</a:t>
            </a:r>
          </a:p>
          <a:p/>
          <a:p>
            <a:r>
              <a:t>[3] Amershi, S. va boshq. Machine Learning Engineering. MIT Press, 2025. — ML tizimlari hayot sikli va arxitektura qarorlari.</a:t>
            </a:r>
          </a:p>
          <a:p/>
          <a:p>
            <a:r>
              <a:t>[4] Sze, V., Chen, Y.-H., Yang, T.-J., &amp; Emer, J. S. Efficient Processing of Deep Neural Networks. Morgan &amp; Claypool, 2020. — energiya samaradorligi, xotira iyerarxiyasi va tezlatkichlarni baholash metrikalari.</a:t>
            </a:r>
          </a:p>
          <a:p/>
          <a:p>
            <a:r>
              <a:t>[6] NVIDIA Developer Portal — Jetson Orin modullari va A100 texnik tavsiflari, TensorRT va DeepStream hujjatlari (https://developer.nvidia.com).</a:t>
            </a:r>
          </a:p>
          <a:p/>
          <a:p>
            <a:r>
              <a:t>[7] PyTorch rasmiy hujjatlari (https://pytorch.org).</a:t>
            </a:r>
          </a:p>
          <a:p/>
          <a:p>
            <a:r>
              <a:t>Williams, S., Waterman, A., &amp; Patterson, D. Roofline: An Insightful Visual Performance Model for Multicore Architectures. Communications of the ACM, 52(4), 2009. — Roofline modelining asl maqolasi.</a:t>
            </a:r>
          </a:p>
          <a:p/>
          <a:p>
            <a:r>
              <a:t>Jouppi, N. P. va boshq. In-Datacenter Performance Analysis of a Tensor Processing Unit. ISCA 2017. — yuklama tahlili asosida tezlatkich loyihalashning klassik misoli.</a:t>
            </a:r>
          </a:p>
          <a:p/>
          <a:p>
            <a:r>
              <a:t>Ultralytics YOLOv8 hujjatlari — model variantlari, parametrlar va GFLOP qiymatlari (https://docs.ultralytics.com).</a:t>
            </a:r>
          </a:p>
          <a:p/>
          <a:p>
            <a:r>
              <a:t>Google Coral hujjatlari — Edge TPU texnik tavsiflari va qo'llab-quvvatlanadigan operatorlar (https://coral.ai/docs).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142845"/>
              </a:gs>
              <a:gs pos="100000">
                <a:srgbClr val="0F6E80"/>
              </a:gs>
            </a:gsLst>
            <a:lin scaled="0" ang="27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8600000" y="-1200000"/>
            <a:ext cx="4600000" cy="4600000"/>
          </a:xfrm>
          <a:prstGeom prst="ellipse">
            <a:avLst/>
          </a:prstGeom>
          <a:solidFill>
            <a:srgbClr val="244C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0200000" y="3900000"/>
            <a:ext cx="2600000" cy="2600000"/>
          </a:xfrm>
          <a:prstGeom prst="ellipse">
            <a:avLst/>
          </a:prstGeom>
          <a:solidFill>
            <a:srgbClr val="138F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9300000" y="3300000"/>
            <a:ext cx="700000" cy="700000"/>
          </a:xfrm>
          <a:prstGeom prst="ellipse">
            <a:avLst/>
          </a:prstGeom>
          <a:solidFill>
            <a:srgbClr val="7FD6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700000" y="4650000"/>
            <a:ext cx="2400000" cy="70000"/>
          </a:xfrm>
          <a:prstGeom prst="rect">
            <a:avLst/>
          </a:prstGeom>
          <a:solidFill>
            <a:srgbClr val="7FD6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00000" y="700000"/>
            <a:ext cx="8000000" cy="500000"/>
          </a:xfrm>
          <a:prstGeom prst="rect">
            <a:avLst/>
          </a:prstGeom>
          <a:noFill/>
        </p:spPr>
        <p:txBody>
          <a:bodyPr wrap="square" anchor="t" lIns="50800" rIns="50800">
            <a:spAutoFit/>
          </a:bodyPr>
          <a:lstStyle/>
          <a:p>
            <a:pPr algn="l"/>
            <a:r>
              <a:rPr sz="1600" b="0">
                <a:solidFill>
                  <a:srgbClr val="A9C4E6"/>
                </a:solidFill>
                <a:latin typeface="Calibri"/>
              </a:rPr>
              <a:t>Sun'iy intellektga asoslangan kompyuter tizimlari muhandisligi</a:t>
            </a:r>
          </a:p>
        </p:txBody>
      </p:sp>
      <p:sp>
        <p:nvSpPr>
          <p:cNvPr id="8" name="TextBox 7"/>
          <p:cNvSpPr txBox="1"/>
          <p:nvPr/>
        </p:nvSpPr>
        <p:spPr>
          <a:xfrm>
            <a:off x="700000" y="1300000"/>
            <a:ext cx="8000000" cy="500000"/>
          </a:xfrm>
          <a:prstGeom prst="rect">
            <a:avLst/>
          </a:prstGeom>
          <a:noFill/>
        </p:spPr>
        <p:txBody>
          <a:bodyPr wrap="square" anchor="t" lIns="50800" rIns="50800">
            <a:spAutoFit/>
          </a:bodyPr>
          <a:lstStyle/>
          <a:p>
            <a:pPr algn="l"/>
            <a:r>
              <a:rPr sz="1600" b="1">
                <a:solidFill>
                  <a:srgbClr val="7FD6D7"/>
                </a:solidFill>
                <a:latin typeface="Calibri"/>
              </a:rPr>
              <a:t>LABORATORIYA ISHI · A1 · 2 soat</a:t>
            </a:r>
          </a:p>
        </p:txBody>
      </p:sp>
      <p:sp>
        <p:nvSpPr>
          <p:cNvPr id="9" name="TextBox 8"/>
          <p:cNvSpPr txBox="1"/>
          <p:nvPr/>
        </p:nvSpPr>
        <p:spPr>
          <a:xfrm>
            <a:off x="700000" y="1900000"/>
            <a:ext cx="8400000" cy="2600000"/>
          </a:xfrm>
          <a:prstGeom prst="rect">
            <a:avLst/>
          </a:prstGeom>
          <a:noFill/>
        </p:spPr>
        <p:txBody>
          <a:bodyPr wrap="square" anchor="t" lIns="50800" rIns="50800">
            <a:spAutoFit/>
          </a:bodyPr>
          <a:lstStyle/>
          <a:p>
            <a:pPr algn="l"/>
            <a:r>
              <a:rPr sz="3000" b="1">
                <a:solidFill>
                  <a:srgbClr val="FFFFFF"/>
                </a:solidFill>
                <a:latin typeface="Calibri"/>
              </a:rPr>
              <a:t>Sun'iy intellektga asoslangan kompyuter tizimlari arxitekturasini tahlil qilish va loyihalash</a:t>
            </a:r>
          </a:p>
        </p:txBody>
      </p:sp>
      <p:sp>
        <p:nvSpPr>
          <p:cNvPr id="10" name="TextBox 9"/>
          <p:cNvSpPr txBox="1"/>
          <p:nvPr/>
        </p:nvSpPr>
        <p:spPr>
          <a:xfrm>
            <a:off x="700000" y="4900000"/>
            <a:ext cx="8000000" cy="1200000"/>
          </a:xfrm>
          <a:prstGeom prst="rect">
            <a:avLst/>
          </a:prstGeom>
          <a:noFill/>
        </p:spPr>
        <p:txBody>
          <a:bodyPr wrap="square" anchor="t" lIns="50800" rIns="50800">
            <a:spAutoFit/>
          </a:bodyPr>
          <a:lstStyle/>
          <a:p>
            <a:pPr algn="l"/>
            <a:r>
              <a:rPr sz="1500" b="0">
                <a:solidFill>
                  <a:srgbClr val="D7E3F4"/>
                </a:solidFill>
                <a:latin typeface="Calibri"/>
              </a:rPr>
              <a:t>O‘qituvchi: S.Iskandarova, t.f.f.d. (PhD), dotsent</a:t>
            </a:r>
          </a:p>
          <a:p>
            <a:pPr algn="l"/>
            <a:r>
              <a:rPr sz="1500" b="0">
                <a:solidFill>
                  <a:srgbClr val="D7E3F4"/>
                </a:solidFill>
                <a:latin typeface="Calibri"/>
              </a:rPr>
              <a:t>2026-2027 o‘quv yili</a:t>
            </a:r>
          </a:p>
          <a:p>
            <a:pPr algn="l"/>
            <a:r>
              <a:rPr sz="1500" b="0">
                <a:solidFill>
                  <a:srgbClr val="D7E3F4"/>
                </a:solidFill>
                <a:latin typeface="Calibri"/>
              </a:rPr>
              <a:t>https://aiscan.airi.uz/ktm/</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46" fill="hold">
                      <p:stCondLst>
                        <p:cond delay="indefinite"/>
                        <p:cond evt="onBegin" delay="0">
                          <p:tn val="2"/>
                        </p:cond>
                      </p:stCondLst>
                      <p:childTnLst>
                        <p:par>
                          <p:cTn id="3" fill="hold">
                            <p:stCondLst>
                              <p:cond delay="0"/>
                            </p:stCondLst>
                            <p:childTnLst>
                              <p:par>
                                <p:cTn id="4" presetID="53" presetClass="entr" presetSubtype="16" fill="hold" grpId="0" nodeType="withEffect">
                                  <p:stCondLst>
                                    <p:cond delay="0"/>
                                  </p:stCondLst>
                                  <p:childTnLst>
                                    <p:set>
                                      <p:cBhvr>
                                        <p:cTn id="5" dur="1" fill="hold">
                                          <p:stCondLst>
                                            <p:cond delay="0"/>
                                          </p:stCondLst>
                                        </p:cTn>
                                        <p:tgtEl>
                                          <p:spTgt spid="3"/>
                                        </p:tgtEl>
                                        <p:attrNameLst>
                                          <p:attrName>style.visibility</p:attrName>
                                        </p:attrNameLst>
                                      </p:cBhvr>
                                      <p:to>
                                        <p:strVal val="visible"/>
                                      </p:to>
                                    </p:set>
                                    <p:animEffect transition="in" filter="fade">
                                      <p:cBhvr>
                                        <p:cTn id="6" dur="550"/>
                                        <p:tgtEl>
                                          <p:spTgt spid="3"/>
                                        </p:tgtEl>
                                      </p:cBhvr>
                                    </p:animEffect>
                                    <p:anim calcmode="lin" valueType="num">
                                      <p:cBhvr additive="base">
                                        <p:cTn id="7" dur="550" fill="hold"/>
                                        <p:tgtEl>
                                          <p:spTgt spid="3"/>
                                        </p:tgtEl>
                                        <p:attrNameLst>
                                          <p:attrName>ppt_w</p:attrName>
                                        </p:attrNameLst>
                                      </p:cBhvr>
                                      <p:tavLst>
                                        <p:tav tm="0">
                                          <p:val>
                                            <p:strVal val="0"/>
                                          </p:val>
                                        </p:tav>
                                        <p:tav tm="100000">
                                          <p:val>
                                            <p:strVal val="#ppt_w"/>
                                          </p:val>
                                        </p:tav>
                                      </p:tavLst>
                                    </p:anim>
                                    <p:anim calcmode="lin" valueType="num">
                                      <p:cBhvr additive="base">
                                        <p:cTn id="8" dur="550" fill="hold"/>
                                        <p:tgtEl>
                                          <p:spTgt spid="3"/>
                                        </p:tgtEl>
                                        <p:attrNameLst>
                                          <p:attrName>ppt_h</p:attrName>
                                        </p:attrNameLst>
                                      </p:cBhvr>
                                      <p:tavLst>
                                        <p:tav tm="0">
                                          <p:val>
                                            <p:strVal val="0"/>
                                          </p:val>
                                        </p:tav>
                                        <p:tav tm="100000">
                                          <p:val>
                                            <p:strVal val="#ppt_h"/>
                                          </p:val>
                                        </p:tav>
                                      </p:tavLst>
                                    </p:anim>
                                  </p:childTnLst>
                                </p:cTn>
                              </p:par>
                            </p:childTnLst>
                          </p:cTn>
                        </p:par>
                        <p:par>
                          <p:cTn id="9" fill="hold">
                            <p:stCondLst>
                              <p:cond delay="150"/>
                            </p:stCondLst>
                            <p:childTnLst>
                              <p:par>
                                <p:cTn id="10" presetID="53" presetClass="entr" presetSubtype="16" fill="hold" grpId="0" nodeType="afterEffect">
                                  <p:stCondLst>
                                    <p:cond delay="0"/>
                                  </p:stCondLst>
                                  <p:childTnLst>
                                    <p:set>
                                      <p:cBhvr>
                                        <p:cTn id="11" dur="1" fill="hold">
                                          <p:stCondLst>
                                            <p:cond delay="0"/>
                                          </p:stCondLst>
                                        </p:cTn>
                                        <p:tgtEl>
                                          <p:spTgt spid="4"/>
                                        </p:tgtEl>
                                        <p:attrNameLst>
                                          <p:attrName>style.visibility</p:attrName>
                                        </p:attrNameLst>
                                      </p:cBhvr>
                                      <p:to>
                                        <p:strVal val="visible"/>
                                      </p:to>
                                    </p:set>
                                    <p:animEffect transition="in" filter="fade">
                                      <p:cBhvr>
                                        <p:cTn id="12" dur="550"/>
                                        <p:tgtEl>
                                          <p:spTgt spid="4"/>
                                        </p:tgtEl>
                                      </p:cBhvr>
                                    </p:animEffect>
                                    <p:anim calcmode="lin" valueType="num">
                                      <p:cBhvr additive="base">
                                        <p:cTn id="13" dur="550" fill="hold"/>
                                        <p:tgtEl>
                                          <p:spTgt spid="4"/>
                                        </p:tgtEl>
                                        <p:attrNameLst>
                                          <p:attrName>ppt_w</p:attrName>
                                        </p:attrNameLst>
                                      </p:cBhvr>
                                      <p:tavLst>
                                        <p:tav tm="0">
                                          <p:val>
                                            <p:strVal val="0"/>
                                          </p:val>
                                        </p:tav>
                                        <p:tav tm="100000">
                                          <p:val>
                                            <p:strVal val="#ppt_w"/>
                                          </p:val>
                                        </p:tav>
                                      </p:tavLst>
                                    </p:anim>
                                    <p:anim calcmode="lin" valueType="num">
                                      <p:cBhvr additive="base">
                                        <p:cTn id="14" dur="550" fill="hold"/>
                                        <p:tgtEl>
                                          <p:spTgt spid="4"/>
                                        </p:tgtEl>
                                        <p:attrNameLst>
                                          <p:attrName>ppt_h</p:attrName>
                                        </p:attrNameLst>
                                      </p:cBhvr>
                                      <p:tavLst>
                                        <p:tav tm="0">
                                          <p:val>
                                            <p:strVal val="0"/>
                                          </p:val>
                                        </p:tav>
                                        <p:tav tm="100000">
                                          <p:val>
                                            <p:strVal val="#ppt_h"/>
                                          </p:val>
                                        </p:tav>
                                      </p:tavLst>
                                    </p:anim>
                                  </p:childTnLst>
                                </p:cTn>
                              </p:par>
                            </p:childTnLst>
                          </p:cTn>
                        </p:par>
                        <p:par>
                          <p:cTn id="15" fill="hold">
                            <p:stCondLst>
                              <p:cond delay="300"/>
                            </p:stCondLst>
                            <p:childTnLst>
                              <p:par>
                                <p:cTn id="16" presetID="53" presetClass="entr" presetSubtype="16" fill="hold" grpId="0" nodeType="afterEffect">
                                  <p:stCondLst>
                                    <p:cond delay="0"/>
                                  </p:stCondLst>
                                  <p:childTnLst>
                                    <p:set>
                                      <p:cBhvr>
                                        <p:cTn id="17" dur="1" fill="hold">
                                          <p:stCondLst>
                                            <p:cond delay="0"/>
                                          </p:stCondLst>
                                        </p:cTn>
                                        <p:tgtEl>
                                          <p:spTgt spid="5"/>
                                        </p:tgtEl>
                                        <p:attrNameLst>
                                          <p:attrName>style.visibility</p:attrName>
                                        </p:attrNameLst>
                                      </p:cBhvr>
                                      <p:to>
                                        <p:strVal val="visible"/>
                                      </p:to>
                                    </p:set>
                                    <p:animEffect transition="in" filter="fade">
                                      <p:cBhvr>
                                        <p:cTn id="18" dur="550"/>
                                        <p:tgtEl>
                                          <p:spTgt spid="5"/>
                                        </p:tgtEl>
                                      </p:cBhvr>
                                    </p:animEffect>
                                    <p:anim calcmode="lin" valueType="num">
                                      <p:cBhvr additive="base">
                                        <p:cTn id="19" dur="550" fill="hold"/>
                                        <p:tgtEl>
                                          <p:spTgt spid="5"/>
                                        </p:tgtEl>
                                        <p:attrNameLst>
                                          <p:attrName>ppt_w</p:attrName>
                                        </p:attrNameLst>
                                      </p:cBhvr>
                                      <p:tavLst>
                                        <p:tav tm="0">
                                          <p:val>
                                            <p:strVal val="0"/>
                                          </p:val>
                                        </p:tav>
                                        <p:tav tm="100000">
                                          <p:val>
                                            <p:strVal val="#ppt_w"/>
                                          </p:val>
                                        </p:tav>
                                      </p:tavLst>
                                    </p:anim>
                                    <p:anim calcmode="lin" valueType="num">
                                      <p:cBhvr additive="base">
                                        <p:cTn id="20" dur="550" fill="hold"/>
                                        <p:tgtEl>
                                          <p:spTgt spid="5"/>
                                        </p:tgtEl>
                                        <p:attrNameLst>
                                          <p:attrName>ppt_h</p:attrName>
                                        </p:attrNameLst>
                                      </p:cBhvr>
                                      <p:tavLst>
                                        <p:tav tm="0">
                                          <p:val>
                                            <p:strVal val="0"/>
                                          </p:val>
                                        </p:tav>
                                        <p:tav tm="100000">
                                          <p:val>
                                            <p:strVal val="#ppt_h"/>
                                          </p:val>
                                        </p:tav>
                                      </p:tavLst>
                                    </p:anim>
                                  </p:childTnLst>
                                </p:cTn>
                              </p:par>
                            </p:childTnLst>
                          </p:cTn>
                        </p:par>
                        <p:par>
                          <p:cTn id="21" fill="hold">
                            <p:stCondLst>
                              <p:cond delay="400"/>
                            </p:stCondLst>
                            <p:childTnLst>
                              <p:par>
                                <p:cTn id="22" presetID="10" presetClass="entr" presetSubtype="0" fill="hold" grpId="0" nodeType="afterEffect">
                                  <p:stCondLst>
                                    <p:cond delay="0"/>
                                  </p:stCondLst>
                                  <p:childTnLst>
                                    <p:set>
                                      <p:cBhvr>
                                        <p:cTn id="23" dur="1" fill="hold">
                                          <p:stCondLst>
                                            <p:cond delay="0"/>
                                          </p:stCondLst>
                                        </p:cTn>
                                        <p:tgtEl>
                                          <p:spTgt spid="7"/>
                                        </p:tgtEl>
                                        <p:attrNameLst>
                                          <p:attrName>style.visibility</p:attrName>
                                        </p:attrNameLst>
                                      </p:cBhvr>
                                      <p:to>
                                        <p:strVal val="visible"/>
                                      </p:to>
                                    </p:set>
                                    <p:animEffect transition="in" filter="fade">
                                      <p:cBhvr>
                                        <p:cTn id="24" dur="550"/>
                                        <p:tgtEl>
                                          <p:spTgt spid="7"/>
                                        </p:tgtEl>
                                      </p:cBhvr>
                                    </p:animEffect>
                                  </p:childTnLst>
                                </p:cTn>
                              </p:par>
                            </p:childTnLst>
                          </p:cTn>
                        </p:par>
                        <p:par>
                          <p:cTn id="25" fill="hold">
                            <p:stCondLst>
                              <p:cond delay="550"/>
                            </p:stCondLst>
                            <p:childTnLst>
                              <p:par>
                                <p:cTn id="26" presetID="2" presetClass="entr" presetSubtype="8" fill="hold" grpId="0" nodeType="afterEffect">
                                  <p:stCondLst>
                                    <p:cond delay="0"/>
                                  </p:stCondLst>
                                  <p:childTnLst>
                                    <p:set>
                                      <p:cBhvr>
                                        <p:cTn id="27" dur="1" fill="hold">
                                          <p:stCondLst>
                                            <p:cond delay="0"/>
                                          </p:stCondLst>
                                        </p:cTn>
                                        <p:tgtEl>
                                          <p:spTgt spid="8"/>
                                        </p:tgtEl>
                                        <p:attrNameLst>
                                          <p:attrName>style.visibility</p:attrName>
                                        </p:attrNameLst>
                                      </p:cBhvr>
                                      <p:to>
                                        <p:strVal val="visible"/>
                                      </p:to>
                                    </p:set>
                                    <p:anim calcmode="lin" valueType="num">
                                      <p:cBhvr additive="base">
                                        <p:cTn id="29" dur="550" fill="hold"/>
                                        <p:tgtEl>
                                          <p:spTgt spid="8"/>
                                        </p:tgtEl>
                                        <p:attrNameLst>
                                          <p:attrName>ppt_x</p:attrName>
                                        </p:attrNameLst>
                                      </p:cBhvr>
                                      <p:tavLst>
                                        <p:tav tm="0">
                                          <p:val>
                                            <p:strVal val="0-#ppt_w/2"/>
                                          </p:val>
                                        </p:tav>
                                        <p:tav tm="100000">
                                          <p:val>
                                            <p:strVal val="#ppt_x"/>
                                          </p:val>
                                        </p:tav>
                                      </p:tavLst>
                                    </p:anim>
                                    <p:anim calcmode="lin" valueType="num">
                                      <p:cBhvr additive="base">
                                        <p:cTn id="30" dur="550" fill="hold"/>
                                        <p:tgtEl>
                                          <p:spTgt spid="8"/>
                                        </p:tgtEl>
                                        <p:attrNameLst>
                                          <p:attrName>ppt_y</p:attrName>
                                        </p:attrNameLst>
                                      </p:cBhvr>
                                      <p:tavLst>
                                        <p:tav tm="0">
                                          <p:val>
                                            <p:strVal val="#ppt_y"/>
                                          </p:val>
                                        </p:tav>
                                        <p:tav tm="100000">
                                          <p:val>
                                            <p:strVal val="#ppt_y"/>
                                          </p:val>
                                        </p:tav>
                                      </p:tavLst>
                                    </p:anim>
                                  </p:childTnLst>
                                </p:cTn>
                              </p:par>
                            </p:childTnLst>
                          </p:cTn>
                        </p:par>
                        <p:par>
                          <p:cTn id="31" fill="hold">
                            <p:stCondLst>
                              <p:cond delay="700"/>
                            </p:stCondLst>
                            <p:childTnLst>
                              <p:par>
                                <p:cTn id="32" presetID="42" presetClass="entr" presetSubtype="0" fill="hold" grpId="0" nodeType="afterEffect">
                                  <p:stCondLst>
                                    <p:cond delay="0"/>
                                  </p:stCondLst>
                                  <p:childTnLst>
                                    <p:set>
                                      <p:cBhvr>
                                        <p:cTn id="33" dur="1" fill="hold">
                                          <p:stCondLst>
                                            <p:cond delay="0"/>
                                          </p:stCondLst>
                                        </p:cTn>
                                        <p:tgtEl>
                                          <p:spTgt spid="9"/>
                                        </p:tgtEl>
                                        <p:attrNameLst>
                                          <p:attrName>style.visibility</p:attrName>
                                        </p:attrNameLst>
                                      </p:cBhvr>
                                      <p:to>
                                        <p:strVal val="visible"/>
                                      </p:to>
                                    </p:set>
                                    <p:animEffect transition="in" filter="fade">
                                      <p:cBhvr>
                                        <p:cTn id="34" dur="550"/>
                                        <p:tgtEl>
                                          <p:spTgt spid="9"/>
                                        </p:tgtEl>
                                      </p:cBhvr>
                                    </p:animEffect>
                                    <p:anim calcmode="lin" valueType="num">
                                      <p:cBhvr additive="base">
                                        <p:cTn id="35" dur="550" fill="hold"/>
                                        <p:tgtEl>
                                          <p:spTgt spid="9"/>
                                        </p:tgtEl>
                                        <p:attrNameLst>
                                          <p:attrName>ppt_x</p:attrName>
                                        </p:attrNameLst>
                                      </p:cBhvr>
                                      <p:tavLst>
                                        <p:tav tm="0">
                                          <p:val>
                                            <p:strVal val="#ppt_x"/>
                                          </p:val>
                                        </p:tav>
                                        <p:tav tm="100000">
                                          <p:val>
                                            <p:strVal val="#ppt_x"/>
                                          </p:val>
                                        </p:tav>
                                      </p:tavLst>
                                    </p:anim>
                                    <p:anim calcmode="lin" valueType="num">
                                      <p:cBhvr additive="base">
                                        <p:cTn id="36" dur="550" fill="hold"/>
                                        <p:tgtEl>
                                          <p:spTgt spid="9"/>
                                        </p:tgtEl>
                                        <p:attrNameLst>
                                          <p:attrName>ppt_y</p:attrName>
                                        </p:attrNameLst>
                                      </p:cBhvr>
                                      <p:tavLst>
                                        <p:tav tm="0">
                                          <p:val>
                                            <p:strVal val="#ppt_y+.08"/>
                                          </p:val>
                                        </p:tav>
                                        <p:tav tm="100000">
                                          <p:val>
                                            <p:strVal val="#ppt_y"/>
                                          </p:val>
                                        </p:tav>
                                      </p:tavLst>
                                    </p:anim>
                                  </p:childTnLst>
                                </p:cTn>
                              </p:par>
                            </p:childTnLst>
                          </p:cTn>
                        </p:par>
                        <p:par>
                          <p:cTn id="37" fill="hold">
                            <p:stCondLst>
                              <p:cond delay="850"/>
                            </p:stCondLst>
                            <p:childTnLst>
                              <p:par>
                                <p:cTn id="38" presetID="22" presetClass="entr" presetSubtype="8" fill="hold" grpId="0" nodeType="afterEffect">
                                  <p:stCondLst>
                                    <p:cond delay="0"/>
                                  </p:stCondLst>
                                  <p:childTnLst>
                                    <p:set>
                                      <p:cBhvr>
                                        <p:cTn id="39" dur="1" fill="hold">
                                          <p:stCondLst>
                                            <p:cond delay="0"/>
                                          </p:stCondLst>
                                        </p:cTn>
                                        <p:tgtEl>
                                          <p:spTgt spid="6"/>
                                        </p:tgtEl>
                                        <p:attrNameLst>
                                          <p:attrName>style.visibility</p:attrName>
                                        </p:attrNameLst>
                                      </p:cBhvr>
                                      <p:to>
                                        <p:strVal val="visible"/>
                                      </p:to>
                                    </p:set>
                                    <p:animEffect transition="in" filter="wipe(left)">
                                      <p:cBhvr>
                                        <p:cTn id="41" dur="800"/>
                                        <p:tgtEl>
                                          <p:spTgt spid="6"/>
                                        </p:tgtEl>
                                      </p:cBhvr>
                                    </p:animEffect>
                                  </p:childTnLst>
                                </p:cTn>
                              </p:par>
                            </p:childTnLst>
                          </p:cTn>
                        </p:par>
                        <p:par>
                          <p:cTn id="42" fill="hold">
                            <p:stCondLst>
                              <p:cond delay="1000"/>
                            </p:stCondLst>
                            <p:childTnLst>
                              <p:par>
                                <p:cTn id="43" presetID="10" presetClass="entr" presetSubtype="0" fill="hold" grpId="0" nodeType="afterEffect">
                                  <p:stCondLst>
                                    <p:cond delay="0"/>
                                  </p:stCondLst>
                                  <p:childTnLst>
                                    <p:set>
                                      <p:cBhvr>
                                        <p:cTn id="44" dur="1" fill="hold">
                                          <p:stCondLst>
                                            <p:cond delay="0"/>
                                          </p:stCondLst>
                                        </p:cTn>
                                        <p:tgtEl>
                                          <p:spTgt spid="10"/>
                                        </p:tgtEl>
                                        <p:attrNameLst>
                                          <p:attrName>style.visibility</p:attrName>
                                        </p:attrNameLst>
                                      </p:cBhvr>
                                      <p:to>
                                        <p:strVal val="visible"/>
                                      </p:to>
                                    </p:set>
                                    <p:animEffect transition="in" filter="fade">
                                      <p:cBhvr>
                                        <p:cTn id="45" dur="55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4" grpId="0" animBg="1"/>
      <p:bldP spid="5" grpId="0" animBg="1"/>
      <p:bldP spid="7" grpId="0" animBg="1"/>
      <p:bldP spid="8" grpId="0" animBg="1"/>
      <p:bldP spid="9" grpId="0" animBg="1"/>
      <p:bldP spid="6" grpId="0" animBg="1"/>
      <p:bldP spid="10" grpId="0" animBg="1"/>
    </p:bldLst>
  </p:timing>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110000"/>
            <a:ext cx="10300000" cy="300000"/>
          </a:xfrm>
          <a:prstGeom prst="rect">
            <a:avLst/>
          </a:prstGeom>
          <a:noFill/>
        </p:spPr>
        <p:txBody>
          <a:bodyPr wrap="square" anchor="t" lIns="50800" rIns="50800">
            <a:spAutoFit/>
          </a:bodyPr>
          <a:lstStyle/>
          <a:p>
            <a:pPr algn="l"/>
            <a:r>
              <a:rPr sz="1200" b="1">
                <a:solidFill>
                  <a:srgbClr val="A9C4E6"/>
                </a:solidFill>
                <a:latin typeface="Calibri"/>
              </a:rPr>
              <a:t>MAVZU</a:t>
            </a:r>
          </a:p>
        </p:txBody>
      </p:sp>
      <p:sp>
        <p:nvSpPr>
          <p:cNvPr id="6" name="TextBox 5"/>
          <p:cNvSpPr txBox="1"/>
          <p:nvPr/>
        </p:nvSpPr>
        <p:spPr>
          <a:xfrm>
            <a:off x="500000" y="330000"/>
            <a:ext cx="10400000" cy="650000"/>
          </a:xfrm>
          <a:prstGeom prst="rect">
            <a:avLst/>
          </a:prstGeom>
          <a:noFill/>
        </p:spPr>
        <p:txBody>
          <a:bodyPr wrap="square" anchor="ctr" lIns="50800" rIns="50800">
            <a:spAutoFit/>
          </a:bodyPr>
          <a:lstStyle/>
          <a:p>
            <a:pPr algn="l"/>
            <a:r>
              <a:rPr sz="2600" b="1">
                <a:solidFill>
                  <a:srgbClr val="FFFFFF"/>
                </a:solidFill>
                <a:latin typeface="Calibri"/>
              </a:rPr>
              <a:t>Reja</a:t>
            </a:r>
          </a:p>
        </p:txBody>
      </p:sp>
      <p:sp>
        <p:nvSpPr>
          <p:cNvPr id="7" name="Rectangle 6"/>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A1 · Sun'iy intellektga asoslangan kompyuter tizimlari arxitekturasini tahlil qilish va loyihalash</a:t>
            </a:r>
          </a:p>
        </p:txBody>
      </p:sp>
      <p:sp>
        <p:nvSpPr>
          <p:cNvPr id="9" name="TextBox 8"/>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2</a:t>
            </a:r>
          </a:p>
        </p:txBody>
      </p:sp>
      <p:sp>
        <p:nvSpPr>
          <p:cNvPr id="10" name="Rounded Rectangle 9"/>
          <p:cNvSpPr/>
          <p:nvPr/>
        </p:nvSpPr>
        <p:spPr>
          <a:xfrm>
            <a:off x="550000" y="1300000"/>
            <a:ext cx="11100000" cy="387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50000" y="1300000"/>
            <a:ext cx="70000" cy="387000"/>
          </a:xfrm>
          <a:prstGeom prst="rect">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800000" y="1263500"/>
            <a:ext cx="460000" cy="460000"/>
          </a:xfrm>
          <a:prstGeom prst="ellipse">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1</a:t>
            </a:r>
          </a:p>
        </p:txBody>
      </p:sp>
      <p:sp>
        <p:nvSpPr>
          <p:cNvPr id="13" name="TextBox 12"/>
          <p:cNvSpPr txBox="1"/>
          <p:nvPr/>
        </p:nvSpPr>
        <p:spPr>
          <a:xfrm>
            <a:off x="1450000" y="1300000"/>
            <a:ext cx="10050000" cy="387000"/>
          </a:xfrm>
          <a:prstGeom prst="rect">
            <a:avLst/>
          </a:prstGeom>
          <a:noFill/>
        </p:spPr>
        <p:txBody>
          <a:bodyPr wrap="square" anchor="ctr" lIns="50800" rIns="50800">
            <a:spAutoFit/>
          </a:bodyPr>
          <a:lstStyle/>
          <a:p>
            <a:pPr algn="l"/>
            <a:r>
              <a:rPr sz="1900" b="0">
                <a:solidFill>
                  <a:srgbClr val="1B2430"/>
                </a:solidFill>
                <a:latin typeface="Calibri"/>
              </a:rPr>
              <a:t>Mavzuning maqsadi va o'rganish natijalari</a:t>
            </a:r>
          </a:p>
        </p:txBody>
      </p:sp>
      <p:sp>
        <p:nvSpPr>
          <p:cNvPr id="14" name="Rounded Rectangle 13"/>
          <p:cNvSpPr/>
          <p:nvPr/>
        </p:nvSpPr>
        <p:spPr>
          <a:xfrm>
            <a:off x="550000" y="1807000"/>
            <a:ext cx="11100000" cy="387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50000" y="1807000"/>
            <a:ext cx="70000" cy="387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00000" y="1770500"/>
            <a:ext cx="460000" cy="46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2</a:t>
            </a:r>
          </a:p>
        </p:txBody>
      </p:sp>
      <p:sp>
        <p:nvSpPr>
          <p:cNvPr id="17" name="TextBox 16"/>
          <p:cNvSpPr txBox="1"/>
          <p:nvPr/>
        </p:nvSpPr>
        <p:spPr>
          <a:xfrm>
            <a:off x="1450000" y="1807000"/>
            <a:ext cx="10050000" cy="387000"/>
          </a:xfrm>
          <a:prstGeom prst="rect">
            <a:avLst/>
          </a:prstGeom>
          <a:noFill/>
        </p:spPr>
        <p:txBody>
          <a:bodyPr wrap="square" anchor="ctr" lIns="50800" rIns="50800">
            <a:spAutoFit/>
          </a:bodyPr>
          <a:lstStyle/>
          <a:p>
            <a:pPr algn="l"/>
            <a:r>
              <a:rPr sz="1900" b="0">
                <a:solidFill>
                  <a:srgbClr val="1B2430"/>
                </a:solidFill>
                <a:latin typeface="Calibri"/>
              </a:rPr>
              <a:t>Kirish</a:t>
            </a:r>
          </a:p>
        </p:txBody>
      </p:sp>
      <p:sp>
        <p:nvSpPr>
          <p:cNvPr id="18" name="Rounded Rectangle 17"/>
          <p:cNvSpPr/>
          <p:nvPr/>
        </p:nvSpPr>
        <p:spPr>
          <a:xfrm>
            <a:off x="550000" y="2314000"/>
            <a:ext cx="11100000" cy="387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550000" y="2314000"/>
            <a:ext cx="70000" cy="387000"/>
          </a:xfrm>
          <a:prstGeom prst="rect">
            <a:avLst/>
          </a:prstGeom>
          <a:solidFill>
            <a:srgbClr val="6A3F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800000" y="2277500"/>
            <a:ext cx="460000" cy="460000"/>
          </a:xfrm>
          <a:prstGeom prst="ellipse">
            <a:avLst/>
          </a:prstGeom>
          <a:solidFill>
            <a:srgbClr val="6A3FB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3</a:t>
            </a:r>
          </a:p>
        </p:txBody>
      </p:sp>
      <p:sp>
        <p:nvSpPr>
          <p:cNvPr id="21" name="TextBox 20"/>
          <p:cNvSpPr txBox="1"/>
          <p:nvPr/>
        </p:nvSpPr>
        <p:spPr>
          <a:xfrm>
            <a:off x="1450000" y="2314000"/>
            <a:ext cx="10050000" cy="387000"/>
          </a:xfrm>
          <a:prstGeom prst="rect">
            <a:avLst/>
          </a:prstGeom>
          <a:noFill/>
        </p:spPr>
        <p:txBody>
          <a:bodyPr wrap="square" anchor="ctr" lIns="50800" rIns="50800">
            <a:spAutoFit/>
          </a:bodyPr>
          <a:lstStyle/>
          <a:p>
            <a:pPr algn="l"/>
            <a:r>
              <a:rPr sz="1900" b="0">
                <a:solidFill>
                  <a:srgbClr val="1B2430"/>
                </a:solidFill>
                <a:latin typeface="Calibri"/>
              </a:rPr>
              <a:t>Nazariy asoslar</a:t>
            </a:r>
          </a:p>
        </p:txBody>
      </p:sp>
      <p:sp>
        <p:nvSpPr>
          <p:cNvPr id="22" name="Rounded Rectangle 21"/>
          <p:cNvSpPr/>
          <p:nvPr/>
        </p:nvSpPr>
        <p:spPr>
          <a:xfrm>
            <a:off x="550000" y="2821000"/>
            <a:ext cx="11100000" cy="387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550000" y="2821000"/>
            <a:ext cx="70000" cy="387000"/>
          </a:xfrm>
          <a:prstGeom prst="rect">
            <a:avLst/>
          </a:prstGeom>
          <a:solidFill>
            <a:srgbClr val="B779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800000" y="2784500"/>
            <a:ext cx="460000" cy="460000"/>
          </a:xfrm>
          <a:prstGeom prst="ellipse">
            <a:avLst/>
          </a:prstGeom>
          <a:solidFill>
            <a:srgbClr val="B7791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4</a:t>
            </a:r>
          </a:p>
        </p:txBody>
      </p:sp>
      <p:sp>
        <p:nvSpPr>
          <p:cNvPr id="25" name="TextBox 24"/>
          <p:cNvSpPr txBox="1"/>
          <p:nvPr/>
        </p:nvSpPr>
        <p:spPr>
          <a:xfrm>
            <a:off x="1450000" y="2821000"/>
            <a:ext cx="10050000" cy="387000"/>
          </a:xfrm>
          <a:prstGeom prst="rect">
            <a:avLst/>
          </a:prstGeom>
          <a:noFill/>
        </p:spPr>
        <p:txBody>
          <a:bodyPr wrap="square" anchor="ctr" lIns="50800" rIns="50800">
            <a:spAutoFit/>
          </a:bodyPr>
          <a:lstStyle/>
          <a:p>
            <a:pPr algn="l"/>
            <a:r>
              <a:rPr sz="1900" b="0">
                <a:solidFill>
                  <a:srgbClr val="1B2430"/>
                </a:solidFill>
                <a:latin typeface="Calibri"/>
              </a:rPr>
              <a:t>Amaliy misol</a:t>
            </a:r>
          </a:p>
        </p:txBody>
      </p:sp>
      <p:sp>
        <p:nvSpPr>
          <p:cNvPr id="26" name="Rounded Rectangle 25"/>
          <p:cNvSpPr/>
          <p:nvPr/>
        </p:nvSpPr>
        <p:spPr>
          <a:xfrm>
            <a:off x="550000" y="3328000"/>
            <a:ext cx="11100000" cy="387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550000" y="3328000"/>
            <a:ext cx="70000" cy="387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800000" y="3291500"/>
            <a:ext cx="460000" cy="4600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5</a:t>
            </a:r>
          </a:p>
        </p:txBody>
      </p:sp>
      <p:sp>
        <p:nvSpPr>
          <p:cNvPr id="29" name="TextBox 28"/>
          <p:cNvSpPr txBox="1"/>
          <p:nvPr/>
        </p:nvSpPr>
        <p:spPr>
          <a:xfrm>
            <a:off x="1450000" y="3328000"/>
            <a:ext cx="10050000" cy="387000"/>
          </a:xfrm>
          <a:prstGeom prst="rect">
            <a:avLst/>
          </a:prstGeom>
          <a:noFill/>
        </p:spPr>
        <p:txBody>
          <a:bodyPr wrap="square" anchor="ctr" lIns="50800" rIns="50800">
            <a:spAutoFit/>
          </a:bodyPr>
          <a:lstStyle/>
          <a:p>
            <a:pPr algn="l"/>
            <a:r>
              <a:rPr sz="1900" b="0">
                <a:solidFill>
                  <a:srgbClr val="1B2430"/>
                </a:solidFill>
                <a:latin typeface="Calibri"/>
              </a:rPr>
              <a:t>Natijalarni tahlil qilish</a:t>
            </a:r>
          </a:p>
        </p:txBody>
      </p:sp>
      <p:sp>
        <p:nvSpPr>
          <p:cNvPr id="30" name="Rounded Rectangle 29"/>
          <p:cNvSpPr/>
          <p:nvPr/>
        </p:nvSpPr>
        <p:spPr>
          <a:xfrm>
            <a:off x="550000" y="3835000"/>
            <a:ext cx="11100000" cy="387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550000" y="3835000"/>
            <a:ext cx="70000" cy="387000"/>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Oval 31"/>
          <p:cNvSpPr/>
          <p:nvPr/>
        </p:nvSpPr>
        <p:spPr>
          <a:xfrm>
            <a:off x="800000" y="3798500"/>
            <a:ext cx="460000" cy="460000"/>
          </a:xfrm>
          <a:prstGeom prst="ellipse">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6</a:t>
            </a:r>
          </a:p>
        </p:txBody>
      </p:sp>
      <p:sp>
        <p:nvSpPr>
          <p:cNvPr id="33" name="TextBox 32"/>
          <p:cNvSpPr txBox="1"/>
          <p:nvPr/>
        </p:nvSpPr>
        <p:spPr>
          <a:xfrm>
            <a:off x="1450000" y="3835000"/>
            <a:ext cx="10050000" cy="387000"/>
          </a:xfrm>
          <a:prstGeom prst="rect">
            <a:avLst/>
          </a:prstGeom>
          <a:noFill/>
        </p:spPr>
        <p:txBody>
          <a:bodyPr wrap="square" anchor="ctr" lIns="50800" rIns="50800">
            <a:spAutoFit/>
          </a:bodyPr>
          <a:lstStyle/>
          <a:p>
            <a:pPr algn="l"/>
            <a:r>
              <a:rPr sz="1900" b="0">
                <a:solidFill>
                  <a:srgbClr val="1B2430"/>
                </a:solidFill>
                <a:latin typeface="Calibri"/>
              </a:rPr>
              <a:t>Keng tarqalgan xatolar va amaliy tavsiyalar</a:t>
            </a:r>
          </a:p>
        </p:txBody>
      </p:sp>
      <p:sp>
        <p:nvSpPr>
          <p:cNvPr id="34" name="Rounded Rectangle 33"/>
          <p:cNvSpPr/>
          <p:nvPr/>
        </p:nvSpPr>
        <p:spPr>
          <a:xfrm>
            <a:off x="550000" y="4342000"/>
            <a:ext cx="11100000" cy="387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550000" y="4342000"/>
            <a:ext cx="70000" cy="387000"/>
          </a:xfrm>
          <a:prstGeom prst="rect">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Oval 35"/>
          <p:cNvSpPr/>
          <p:nvPr/>
        </p:nvSpPr>
        <p:spPr>
          <a:xfrm>
            <a:off x="800000" y="4305500"/>
            <a:ext cx="460000" cy="460000"/>
          </a:xfrm>
          <a:prstGeom prst="ellipse">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7</a:t>
            </a:r>
          </a:p>
        </p:txBody>
      </p:sp>
      <p:sp>
        <p:nvSpPr>
          <p:cNvPr id="37" name="TextBox 36"/>
          <p:cNvSpPr txBox="1"/>
          <p:nvPr/>
        </p:nvSpPr>
        <p:spPr>
          <a:xfrm>
            <a:off x="1450000" y="4342000"/>
            <a:ext cx="10050000" cy="387000"/>
          </a:xfrm>
          <a:prstGeom prst="rect">
            <a:avLst/>
          </a:prstGeom>
          <a:noFill/>
        </p:spPr>
        <p:txBody>
          <a:bodyPr wrap="square" anchor="ctr" lIns="50800" rIns="50800">
            <a:spAutoFit/>
          </a:bodyPr>
          <a:lstStyle/>
          <a:p>
            <a:pPr algn="l"/>
            <a:r>
              <a:rPr sz="1900" b="0">
                <a:solidFill>
                  <a:srgbClr val="1B2430"/>
                </a:solidFill>
                <a:latin typeface="Calibri"/>
              </a:rPr>
              <a:t>Nazorat savollari</a:t>
            </a:r>
          </a:p>
        </p:txBody>
      </p:sp>
      <p:sp>
        <p:nvSpPr>
          <p:cNvPr id="38" name="Rounded Rectangle 37"/>
          <p:cNvSpPr/>
          <p:nvPr/>
        </p:nvSpPr>
        <p:spPr>
          <a:xfrm>
            <a:off x="550000" y="4849000"/>
            <a:ext cx="11100000" cy="387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550000" y="4849000"/>
            <a:ext cx="70000" cy="387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Oval 39"/>
          <p:cNvSpPr/>
          <p:nvPr/>
        </p:nvSpPr>
        <p:spPr>
          <a:xfrm>
            <a:off x="800000" y="4812500"/>
            <a:ext cx="460000" cy="46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8</a:t>
            </a:r>
          </a:p>
        </p:txBody>
      </p:sp>
      <p:sp>
        <p:nvSpPr>
          <p:cNvPr id="41" name="TextBox 40"/>
          <p:cNvSpPr txBox="1"/>
          <p:nvPr/>
        </p:nvSpPr>
        <p:spPr>
          <a:xfrm>
            <a:off x="1450000" y="4849000"/>
            <a:ext cx="10050000" cy="387000"/>
          </a:xfrm>
          <a:prstGeom prst="rect">
            <a:avLst/>
          </a:prstGeom>
          <a:noFill/>
        </p:spPr>
        <p:txBody>
          <a:bodyPr wrap="square" anchor="ctr" lIns="50800" rIns="50800">
            <a:spAutoFit/>
          </a:bodyPr>
          <a:lstStyle/>
          <a:p>
            <a:pPr algn="l"/>
            <a:r>
              <a:rPr sz="1900" b="0">
                <a:solidFill>
                  <a:srgbClr val="1B2430"/>
                </a:solidFill>
                <a:latin typeface="Calibri"/>
              </a:rPr>
              <a:t>Mustaqil ish uchun topshiriq</a:t>
            </a:r>
          </a:p>
        </p:txBody>
      </p:sp>
      <p:sp>
        <p:nvSpPr>
          <p:cNvPr id="42" name="Rounded Rectangle 41"/>
          <p:cNvSpPr/>
          <p:nvPr/>
        </p:nvSpPr>
        <p:spPr>
          <a:xfrm>
            <a:off x="550000" y="5356000"/>
            <a:ext cx="11100000" cy="387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ectangle 42"/>
          <p:cNvSpPr/>
          <p:nvPr/>
        </p:nvSpPr>
        <p:spPr>
          <a:xfrm>
            <a:off x="550000" y="5356000"/>
            <a:ext cx="70000" cy="387000"/>
          </a:xfrm>
          <a:prstGeom prst="rect">
            <a:avLst/>
          </a:prstGeom>
          <a:solidFill>
            <a:srgbClr val="6A3F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Oval 43"/>
          <p:cNvSpPr/>
          <p:nvPr/>
        </p:nvSpPr>
        <p:spPr>
          <a:xfrm>
            <a:off x="800000" y="5319500"/>
            <a:ext cx="460000" cy="460000"/>
          </a:xfrm>
          <a:prstGeom prst="ellipse">
            <a:avLst/>
          </a:prstGeom>
          <a:solidFill>
            <a:srgbClr val="6A3FB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9</a:t>
            </a:r>
          </a:p>
        </p:txBody>
      </p:sp>
      <p:sp>
        <p:nvSpPr>
          <p:cNvPr id="45" name="TextBox 44"/>
          <p:cNvSpPr txBox="1"/>
          <p:nvPr/>
        </p:nvSpPr>
        <p:spPr>
          <a:xfrm>
            <a:off x="1450000" y="5356000"/>
            <a:ext cx="10050000" cy="387000"/>
          </a:xfrm>
          <a:prstGeom prst="rect">
            <a:avLst/>
          </a:prstGeom>
          <a:noFill/>
        </p:spPr>
        <p:txBody>
          <a:bodyPr wrap="square" anchor="ctr" lIns="50800" rIns="50800">
            <a:spAutoFit/>
          </a:bodyPr>
          <a:lstStyle/>
          <a:p>
            <a:pPr algn="l"/>
            <a:r>
              <a:rPr sz="1900" b="0">
                <a:solidFill>
                  <a:srgbClr val="1B2430"/>
                </a:solidFill>
                <a:latin typeface="Calibri"/>
              </a:rPr>
              <a:t>Qo'shimcha topshiriqlar (10 ta)</a:t>
            </a:r>
          </a:p>
        </p:txBody>
      </p:sp>
      <p:sp>
        <p:nvSpPr>
          <p:cNvPr id="46" name="Rounded Rectangle 45"/>
          <p:cNvSpPr/>
          <p:nvPr/>
        </p:nvSpPr>
        <p:spPr>
          <a:xfrm>
            <a:off x="550000" y="5863000"/>
            <a:ext cx="11100000" cy="387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Rectangle 46"/>
          <p:cNvSpPr/>
          <p:nvPr/>
        </p:nvSpPr>
        <p:spPr>
          <a:xfrm>
            <a:off x="550000" y="5863000"/>
            <a:ext cx="70000" cy="387000"/>
          </a:xfrm>
          <a:prstGeom prst="rect">
            <a:avLst/>
          </a:prstGeom>
          <a:solidFill>
            <a:srgbClr val="B779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Oval 47"/>
          <p:cNvSpPr/>
          <p:nvPr/>
        </p:nvSpPr>
        <p:spPr>
          <a:xfrm>
            <a:off x="800000" y="5826500"/>
            <a:ext cx="460000" cy="460000"/>
          </a:xfrm>
          <a:prstGeom prst="ellipse">
            <a:avLst/>
          </a:prstGeom>
          <a:solidFill>
            <a:srgbClr val="B7791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10</a:t>
            </a:r>
          </a:p>
        </p:txBody>
      </p:sp>
      <p:sp>
        <p:nvSpPr>
          <p:cNvPr id="49" name="TextBox 48"/>
          <p:cNvSpPr txBox="1"/>
          <p:nvPr/>
        </p:nvSpPr>
        <p:spPr>
          <a:xfrm>
            <a:off x="1450000" y="5863000"/>
            <a:ext cx="10050000" cy="387000"/>
          </a:xfrm>
          <a:prstGeom prst="rect">
            <a:avLst/>
          </a:prstGeom>
          <a:noFill/>
        </p:spPr>
        <p:txBody>
          <a:bodyPr wrap="square" anchor="ctr" lIns="50800" rIns="50800">
            <a:spAutoFit/>
          </a:bodyPr>
          <a:lstStyle/>
          <a:p>
            <a:pPr algn="l"/>
            <a:r>
              <a:rPr sz="1900" b="0">
                <a:solidFill>
                  <a:srgbClr val="1B2430"/>
                </a:solidFill>
                <a:latin typeface="Calibri"/>
              </a:rPr>
              <a:t>Foydalanilgan manbalar</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247"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6"/>
                                        </p:tgtEl>
                                        <p:attrNameLst>
                                          <p:attrName>style.visibility</p:attrName>
                                        </p:attrNameLst>
                                      </p:cBhvr>
                                      <p:to>
                                        <p:strVal val="visible"/>
                                      </p:to>
                                    </p:set>
                                    <p:animEffect transition="in" filter="fade">
                                      <p:cBhvr>
                                        <p:cTn id="6" dur="550"/>
                                        <p:tgtEl>
                                          <p:spTgt spid="6"/>
                                        </p:tgtEl>
                                      </p:cBhvr>
                                    </p:animEffect>
                                  </p:childTnLst>
                                </p:cTn>
                              </p:par>
                            </p:childTnLst>
                          </p:cTn>
                        </p:par>
                        <p:par>
                          <p:cTn id="7" fill="hold">
                            <p:stCondLst>
                              <p:cond delay="220"/>
                            </p:stCondLst>
                            <p:childTnLst>
                              <p:par>
                                <p:cTn id="8" presetID="42" presetClass="entr" presetSubtype="0" fill="hold" grpId="0" nodeType="after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fade">
                                      <p:cBhvr>
                                        <p:cTn id="10" dur="550"/>
                                        <p:tgtEl>
                                          <p:spTgt spid="10"/>
                                        </p:tgtEl>
                                      </p:cBhvr>
                                    </p:animEffect>
                                    <p:anim calcmode="lin" valueType="num">
                                      <p:cBhvr additive="base">
                                        <p:cTn id="11" dur="550" fill="hold"/>
                                        <p:tgtEl>
                                          <p:spTgt spid="10"/>
                                        </p:tgtEl>
                                        <p:attrNameLst>
                                          <p:attrName>ppt_x</p:attrName>
                                        </p:attrNameLst>
                                      </p:cBhvr>
                                      <p:tavLst>
                                        <p:tav tm="0">
                                          <p:val>
                                            <p:strVal val="#ppt_x"/>
                                          </p:val>
                                        </p:tav>
                                        <p:tav tm="100000">
                                          <p:val>
                                            <p:strVal val="#ppt_x"/>
                                          </p:val>
                                        </p:tav>
                                      </p:tavLst>
                                    </p:anim>
                                    <p:anim calcmode="lin" valueType="num">
                                      <p:cBhvr additive="base">
                                        <p:cTn id="12" dur="550" fill="hold"/>
                                        <p:tgtEl>
                                          <p:spTgt spid="10"/>
                                        </p:tgtEl>
                                        <p:attrNameLst>
                                          <p:attrName>ppt_y</p:attrName>
                                        </p:attrNameLst>
                                      </p:cBhvr>
                                      <p:tavLst>
                                        <p:tav tm="0">
                                          <p:val>
                                            <p:strVal val="#ppt_y+.08"/>
                                          </p:val>
                                        </p:tav>
                                        <p:tav tm="100000">
                                          <p:val>
                                            <p:strVal val="#ppt_y"/>
                                          </p:val>
                                        </p:tav>
                                      </p:tavLst>
                                    </p:anim>
                                  </p:childTnLst>
                                </p:cTn>
                              </p:par>
                            </p:childTnLst>
                          </p:cTn>
                        </p:par>
                        <p:par>
                          <p:cTn id="13" fill="hold">
                            <p:stCondLst>
                              <p:cond delay="220"/>
                            </p:stCondLst>
                            <p:childTnLst>
                              <p:par>
                                <p:cTn id="14" presetID="42" presetClass="entr" presetSubtype="0" fill="hold" grpId="0" nodeType="afterEffect">
                                  <p:stCondLst>
                                    <p:cond delay="0"/>
                                  </p:stCondLst>
                                  <p:childTnLst>
                                    <p:set>
                                      <p:cBhvr>
                                        <p:cTn id="15" dur="1" fill="hold">
                                          <p:stCondLst>
                                            <p:cond delay="0"/>
                                          </p:stCondLst>
                                        </p:cTn>
                                        <p:tgtEl>
                                          <p:spTgt spid="11"/>
                                        </p:tgtEl>
                                        <p:attrNameLst>
                                          <p:attrName>style.visibility</p:attrName>
                                        </p:attrNameLst>
                                      </p:cBhvr>
                                      <p:to>
                                        <p:strVal val="visible"/>
                                      </p:to>
                                    </p:set>
                                    <p:animEffect transition="in" filter="fade">
                                      <p:cBhvr>
                                        <p:cTn id="16" dur="550"/>
                                        <p:tgtEl>
                                          <p:spTgt spid="11"/>
                                        </p:tgtEl>
                                      </p:cBhvr>
                                    </p:animEffect>
                                    <p:anim calcmode="lin" valueType="num">
                                      <p:cBhvr additive="base">
                                        <p:cTn id="17" dur="550" fill="hold"/>
                                        <p:tgtEl>
                                          <p:spTgt spid="11"/>
                                        </p:tgtEl>
                                        <p:attrNameLst>
                                          <p:attrName>ppt_x</p:attrName>
                                        </p:attrNameLst>
                                      </p:cBhvr>
                                      <p:tavLst>
                                        <p:tav tm="0">
                                          <p:val>
                                            <p:strVal val="#ppt_x"/>
                                          </p:val>
                                        </p:tav>
                                        <p:tav tm="100000">
                                          <p:val>
                                            <p:strVal val="#ppt_x"/>
                                          </p:val>
                                        </p:tav>
                                      </p:tavLst>
                                    </p:anim>
                                    <p:anim calcmode="lin" valueType="num">
                                      <p:cBhvr additive="base">
                                        <p:cTn id="18" dur="550" fill="hold"/>
                                        <p:tgtEl>
                                          <p:spTgt spid="11"/>
                                        </p:tgtEl>
                                        <p:attrNameLst>
                                          <p:attrName>ppt_y</p:attrName>
                                        </p:attrNameLst>
                                      </p:cBhvr>
                                      <p:tavLst>
                                        <p:tav tm="0">
                                          <p:val>
                                            <p:strVal val="#ppt_y+.08"/>
                                          </p:val>
                                        </p:tav>
                                        <p:tav tm="100000">
                                          <p:val>
                                            <p:strVal val="#ppt_y"/>
                                          </p:val>
                                        </p:tav>
                                      </p:tavLst>
                                    </p:anim>
                                  </p:childTnLst>
                                </p:cTn>
                              </p:par>
                            </p:childTnLst>
                          </p:cTn>
                        </p:par>
                        <p:par>
                          <p:cTn id="19" fill="hold">
                            <p:stCondLst>
                              <p:cond delay="220"/>
                            </p:stCondLst>
                            <p:childTnLst>
                              <p:par>
                                <p:cTn id="20" presetID="53" presetClass="entr" presetSubtype="16" fill="hold" grpId="0" nodeType="afterEffect">
                                  <p:stCondLst>
                                    <p:cond delay="0"/>
                                  </p:stCondLst>
                                  <p:childTnLst>
                                    <p:set>
                                      <p:cBhvr>
                                        <p:cTn id="21" dur="1" fill="hold">
                                          <p:stCondLst>
                                            <p:cond delay="0"/>
                                          </p:stCondLst>
                                        </p:cTn>
                                        <p:tgtEl>
                                          <p:spTgt spid="12"/>
                                        </p:tgtEl>
                                        <p:attrNameLst>
                                          <p:attrName>style.visibility</p:attrName>
                                        </p:attrNameLst>
                                      </p:cBhvr>
                                      <p:to>
                                        <p:strVal val="visible"/>
                                      </p:to>
                                    </p:set>
                                    <p:animEffect transition="in" filter="fade">
                                      <p:cBhvr>
                                        <p:cTn id="22" dur="550"/>
                                        <p:tgtEl>
                                          <p:spTgt spid="12"/>
                                        </p:tgtEl>
                                      </p:cBhvr>
                                    </p:animEffect>
                                    <p:anim calcmode="lin" valueType="num">
                                      <p:cBhvr additive="base">
                                        <p:cTn id="23" dur="550" fill="hold"/>
                                        <p:tgtEl>
                                          <p:spTgt spid="12"/>
                                        </p:tgtEl>
                                        <p:attrNameLst>
                                          <p:attrName>ppt_w</p:attrName>
                                        </p:attrNameLst>
                                      </p:cBhvr>
                                      <p:tavLst>
                                        <p:tav tm="0">
                                          <p:val>
                                            <p:strVal val="0"/>
                                          </p:val>
                                        </p:tav>
                                        <p:tav tm="100000">
                                          <p:val>
                                            <p:strVal val="#ppt_w"/>
                                          </p:val>
                                        </p:tav>
                                      </p:tavLst>
                                    </p:anim>
                                    <p:anim calcmode="lin" valueType="num">
                                      <p:cBhvr additive="base">
                                        <p:cTn id="24" dur="550" fill="hold"/>
                                        <p:tgtEl>
                                          <p:spTgt spid="12"/>
                                        </p:tgtEl>
                                        <p:attrNameLst>
                                          <p:attrName>ppt_h</p:attrName>
                                        </p:attrNameLst>
                                      </p:cBhvr>
                                      <p:tavLst>
                                        <p:tav tm="0">
                                          <p:val>
                                            <p:strVal val="0"/>
                                          </p:val>
                                        </p:tav>
                                        <p:tav tm="100000">
                                          <p:val>
                                            <p:strVal val="#ppt_h"/>
                                          </p:val>
                                        </p:tav>
                                      </p:tavLst>
                                    </p:anim>
                                  </p:childTnLst>
                                </p:cTn>
                              </p:par>
                            </p:childTnLst>
                          </p:cTn>
                        </p:par>
                        <p:par>
                          <p:cTn id="25" fill="hold">
                            <p:stCondLst>
                              <p:cond delay="220"/>
                            </p:stCondLst>
                            <p:childTnLst>
                              <p:par>
                                <p:cTn id="26" presetID="42" presetClass="entr" presetSubtype="0" fill="hold" grpId="0" nodeType="afterEffect">
                                  <p:stCondLst>
                                    <p:cond delay="0"/>
                                  </p:stCondLst>
                                  <p:childTnLst>
                                    <p:set>
                                      <p:cBhvr>
                                        <p:cTn id="27" dur="1" fill="hold">
                                          <p:stCondLst>
                                            <p:cond delay="0"/>
                                          </p:stCondLst>
                                        </p:cTn>
                                        <p:tgtEl>
                                          <p:spTgt spid="13"/>
                                        </p:tgtEl>
                                        <p:attrNameLst>
                                          <p:attrName>style.visibility</p:attrName>
                                        </p:attrNameLst>
                                      </p:cBhvr>
                                      <p:to>
                                        <p:strVal val="visible"/>
                                      </p:to>
                                    </p:set>
                                    <p:animEffect transition="in" filter="fade">
                                      <p:cBhvr>
                                        <p:cTn id="28" dur="550"/>
                                        <p:tgtEl>
                                          <p:spTgt spid="13"/>
                                        </p:tgtEl>
                                      </p:cBhvr>
                                    </p:animEffect>
                                    <p:anim calcmode="lin" valueType="num">
                                      <p:cBhvr additive="base">
                                        <p:cTn id="29" dur="550" fill="hold"/>
                                        <p:tgtEl>
                                          <p:spTgt spid="13"/>
                                        </p:tgtEl>
                                        <p:attrNameLst>
                                          <p:attrName>ppt_x</p:attrName>
                                        </p:attrNameLst>
                                      </p:cBhvr>
                                      <p:tavLst>
                                        <p:tav tm="0">
                                          <p:val>
                                            <p:strVal val="#ppt_x"/>
                                          </p:val>
                                        </p:tav>
                                        <p:tav tm="100000">
                                          <p:val>
                                            <p:strVal val="#ppt_x"/>
                                          </p:val>
                                        </p:tav>
                                      </p:tavLst>
                                    </p:anim>
                                    <p:anim calcmode="lin" valueType="num">
                                      <p:cBhvr additive="base">
                                        <p:cTn id="30" dur="550" fill="hold"/>
                                        <p:tgtEl>
                                          <p:spTgt spid="13"/>
                                        </p:tgtEl>
                                        <p:attrNameLst>
                                          <p:attrName>ppt_y</p:attrName>
                                        </p:attrNameLst>
                                      </p:cBhvr>
                                      <p:tavLst>
                                        <p:tav tm="0">
                                          <p:val>
                                            <p:strVal val="#ppt_y+.08"/>
                                          </p:val>
                                        </p:tav>
                                        <p:tav tm="100000">
                                          <p:val>
                                            <p:strVal val="#ppt_y"/>
                                          </p:val>
                                        </p:tav>
                                      </p:tavLst>
                                    </p:anim>
                                  </p:childTnLst>
                                </p:cTn>
                              </p:par>
                            </p:childTnLst>
                          </p:cTn>
                        </p:par>
                        <p:par>
                          <p:cTn id="31" fill="hold">
                            <p:stCondLst>
                              <p:cond delay="440"/>
                            </p:stCondLst>
                            <p:childTnLst>
                              <p:par>
                                <p:cTn id="32" presetID="42" presetClass="entr" presetSubtype="0" fill="hold" grpId="0" nodeType="afterEffect">
                                  <p:stCondLst>
                                    <p:cond delay="0"/>
                                  </p:stCondLst>
                                  <p:childTnLst>
                                    <p:set>
                                      <p:cBhvr>
                                        <p:cTn id="33" dur="1" fill="hold">
                                          <p:stCondLst>
                                            <p:cond delay="0"/>
                                          </p:stCondLst>
                                        </p:cTn>
                                        <p:tgtEl>
                                          <p:spTgt spid="14"/>
                                        </p:tgtEl>
                                        <p:attrNameLst>
                                          <p:attrName>style.visibility</p:attrName>
                                        </p:attrNameLst>
                                      </p:cBhvr>
                                      <p:to>
                                        <p:strVal val="visible"/>
                                      </p:to>
                                    </p:set>
                                    <p:animEffect transition="in" filter="fade">
                                      <p:cBhvr>
                                        <p:cTn id="34" dur="550"/>
                                        <p:tgtEl>
                                          <p:spTgt spid="14"/>
                                        </p:tgtEl>
                                      </p:cBhvr>
                                    </p:animEffect>
                                    <p:anim calcmode="lin" valueType="num">
                                      <p:cBhvr additive="base">
                                        <p:cTn id="35" dur="550" fill="hold"/>
                                        <p:tgtEl>
                                          <p:spTgt spid="14"/>
                                        </p:tgtEl>
                                        <p:attrNameLst>
                                          <p:attrName>ppt_x</p:attrName>
                                        </p:attrNameLst>
                                      </p:cBhvr>
                                      <p:tavLst>
                                        <p:tav tm="0">
                                          <p:val>
                                            <p:strVal val="#ppt_x"/>
                                          </p:val>
                                        </p:tav>
                                        <p:tav tm="100000">
                                          <p:val>
                                            <p:strVal val="#ppt_x"/>
                                          </p:val>
                                        </p:tav>
                                      </p:tavLst>
                                    </p:anim>
                                    <p:anim calcmode="lin" valueType="num">
                                      <p:cBhvr additive="base">
                                        <p:cTn id="36" dur="550" fill="hold"/>
                                        <p:tgtEl>
                                          <p:spTgt spid="14"/>
                                        </p:tgtEl>
                                        <p:attrNameLst>
                                          <p:attrName>ppt_y</p:attrName>
                                        </p:attrNameLst>
                                      </p:cBhvr>
                                      <p:tavLst>
                                        <p:tav tm="0">
                                          <p:val>
                                            <p:strVal val="#ppt_y+.08"/>
                                          </p:val>
                                        </p:tav>
                                        <p:tav tm="100000">
                                          <p:val>
                                            <p:strVal val="#ppt_y"/>
                                          </p:val>
                                        </p:tav>
                                      </p:tavLst>
                                    </p:anim>
                                  </p:childTnLst>
                                </p:cTn>
                              </p:par>
                            </p:childTnLst>
                          </p:cTn>
                        </p:par>
                        <p:par>
                          <p:cTn id="37" fill="hold">
                            <p:stCondLst>
                              <p:cond delay="440"/>
                            </p:stCondLst>
                            <p:childTnLst>
                              <p:par>
                                <p:cTn id="38" presetID="42" presetClass="entr" presetSubtype="0" fill="hold" grpId="0" nodeType="afterEffect">
                                  <p:stCondLst>
                                    <p:cond delay="0"/>
                                  </p:stCondLst>
                                  <p:childTnLst>
                                    <p:set>
                                      <p:cBhvr>
                                        <p:cTn id="39" dur="1" fill="hold">
                                          <p:stCondLst>
                                            <p:cond delay="0"/>
                                          </p:stCondLst>
                                        </p:cTn>
                                        <p:tgtEl>
                                          <p:spTgt spid="15"/>
                                        </p:tgtEl>
                                        <p:attrNameLst>
                                          <p:attrName>style.visibility</p:attrName>
                                        </p:attrNameLst>
                                      </p:cBhvr>
                                      <p:to>
                                        <p:strVal val="visible"/>
                                      </p:to>
                                    </p:set>
                                    <p:animEffect transition="in" filter="fade">
                                      <p:cBhvr>
                                        <p:cTn id="40" dur="550"/>
                                        <p:tgtEl>
                                          <p:spTgt spid="15"/>
                                        </p:tgtEl>
                                      </p:cBhvr>
                                    </p:animEffect>
                                    <p:anim calcmode="lin" valueType="num">
                                      <p:cBhvr additive="base">
                                        <p:cTn id="41" dur="550" fill="hold"/>
                                        <p:tgtEl>
                                          <p:spTgt spid="15"/>
                                        </p:tgtEl>
                                        <p:attrNameLst>
                                          <p:attrName>ppt_x</p:attrName>
                                        </p:attrNameLst>
                                      </p:cBhvr>
                                      <p:tavLst>
                                        <p:tav tm="0">
                                          <p:val>
                                            <p:strVal val="#ppt_x"/>
                                          </p:val>
                                        </p:tav>
                                        <p:tav tm="100000">
                                          <p:val>
                                            <p:strVal val="#ppt_x"/>
                                          </p:val>
                                        </p:tav>
                                      </p:tavLst>
                                    </p:anim>
                                    <p:anim calcmode="lin" valueType="num">
                                      <p:cBhvr additive="base">
                                        <p:cTn id="42" dur="550" fill="hold"/>
                                        <p:tgtEl>
                                          <p:spTgt spid="15"/>
                                        </p:tgtEl>
                                        <p:attrNameLst>
                                          <p:attrName>ppt_y</p:attrName>
                                        </p:attrNameLst>
                                      </p:cBhvr>
                                      <p:tavLst>
                                        <p:tav tm="0">
                                          <p:val>
                                            <p:strVal val="#ppt_y+.08"/>
                                          </p:val>
                                        </p:tav>
                                        <p:tav tm="100000">
                                          <p:val>
                                            <p:strVal val="#ppt_y"/>
                                          </p:val>
                                        </p:tav>
                                      </p:tavLst>
                                    </p:anim>
                                  </p:childTnLst>
                                </p:cTn>
                              </p:par>
                            </p:childTnLst>
                          </p:cTn>
                        </p:par>
                        <p:par>
                          <p:cTn id="43" fill="hold">
                            <p:stCondLst>
                              <p:cond delay="440"/>
                            </p:stCondLst>
                            <p:childTnLst>
                              <p:par>
                                <p:cTn id="44" presetID="53" presetClass="entr" presetSubtype="16" fill="hold" grpId="0" nodeType="afterEffect">
                                  <p:stCondLst>
                                    <p:cond delay="0"/>
                                  </p:stCondLst>
                                  <p:childTnLst>
                                    <p:set>
                                      <p:cBhvr>
                                        <p:cTn id="45" dur="1" fill="hold">
                                          <p:stCondLst>
                                            <p:cond delay="0"/>
                                          </p:stCondLst>
                                        </p:cTn>
                                        <p:tgtEl>
                                          <p:spTgt spid="16"/>
                                        </p:tgtEl>
                                        <p:attrNameLst>
                                          <p:attrName>style.visibility</p:attrName>
                                        </p:attrNameLst>
                                      </p:cBhvr>
                                      <p:to>
                                        <p:strVal val="visible"/>
                                      </p:to>
                                    </p:set>
                                    <p:animEffect transition="in" filter="fade">
                                      <p:cBhvr>
                                        <p:cTn id="46" dur="550"/>
                                        <p:tgtEl>
                                          <p:spTgt spid="16"/>
                                        </p:tgtEl>
                                      </p:cBhvr>
                                    </p:animEffect>
                                    <p:anim calcmode="lin" valueType="num">
                                      <p:cBhvr additive="base">
                                        <p:cTn id="47" dur="550" fill="hold"/>
                                        <p:tgtEl>
                                          <p:spTgt spid="16"/>
                                        </p:tgtEl>
                                        <p:attrNameLst>
                                          <p:attrName>ppt_w</p:attrName>
                                        </p:attrNameLst>
                                      </p:cBhvr>
                                      <p:tavLst>
                                        <p:tav tm="0">
                                          <p:val>
                                            <p:strVal val="0"/>
                                          </p:val>
                                        </p:tav>
                                        <p:tav tm="100000">
                                          <p:val>
                                            <p:strVal val="#ppt_w"/>
                                          </p:val>
                                        </p:tav>
                                      </p:tavLst>
                                    </p:anim>
                                    <p:anim calcmode="lin" valueType="num">
                                      <p:cBhvr additive="base">
                                        <p:cTn id="48" dur="550" fill="hold"/>
                                        <p:tgtEl>
                                          <p:spTgt spid="16"/>
                                        </p:tgtEl>
                                        <p:attrNameLst>
                                          <p:attrName>ppt_h</p:attrName>
                                        </p:attrNameLst>
                                      </p:cBhvr>
                                      <p:tavLst>
                                        <p:tav tm="0">
                                          <p:val>
                                            <p:strVal val="0"/>
                                          </p:val>
                                        </p:tav>
                                        <p:tav tm="100000">
                                          <p:val>
                                            <p:strVal val="#ppt_h"/>
                                          </p:val>
                                        </p:tav>
                                      </p:tavLst>
                                    </p:anim>
                                  </p:childTnLst>
                                </p:cTn>
                              </p:par>
                            </p:childTnLst>
                          </p:cTn>
                        </p:par>
                        <p:par>
                          <p:cTn id="49" fill="hold">
                            <p:stCondLst>
                              <p:cond delay="440"/>
                            </p:stCondLst>
                            <p:childTnLst>
                              <p:par>
                                <p:cTn id="50" presetID="42" presetClass="entr" presetSubtype="0" fill="hold" grpId="0" nodeType="afterEffect">
                                  <p:stCondLst>
                                    <p:cond delay="0"/>
                                  </p:stCondLst>
                                  <p:childTnLst>
                                    <p:set>
                                      <p:cBhvr>
                                        <p:cTn id="51" dur="1" fill="hold">
                                          <p:stCondLst>
                                            <p:cond delay="0"/>
                                          </p:stCondLst>
                                        </p:cTn>
                                        <p:tgtEl>
                                          <p:spTgt spid="17"/>
                                        </p:tgtEl>
                                        <p:attrNameLst>
                                          <p:attrName>style.visibility</p:attrName>
                                        </p:attrNameLst>
                                      </p:cBhvr>
                                      <p:to>
                                        <p:strVal val="visible"/>
                                      </p:to>
                                    </p:set>
                                    <p:animEffect transition="in" filter="fade">
                                      <p:cBhvr>
                                        <p:cTn id="52" dur="550"/>
                                        <p:tgtEl>
                                          <p:spTgt spid="17"/>
                                        </p:tgtEl>
                                      </p:cBhvr>
                                    </p:animEffect>
                                    <p:anim calcmode="lin" valueType="num">
                                      <p:cBhvr additive="base">
                                        <p:cTn id="53" dur="550" fill="hold"/>
                                        <p:tgtEl>
                                          <p:spTgt spid="17"/>
                                        </p:tgtEl>
                                        <p:attrNameLst>
                                          <p:attrName>ppt_x</p:attrName>
                                        </p:attrNameLst>
                                      </p:cBhvr>
                                      <p:tavLst>
                                        <p:tav tm="0">
                                          <p:val>
                                            <p:strVal val="#ppt_x"/>
                                          </p:val>
                                        </p:tav>
                                        <p:tav tm="100000">
                                          <p:val>
                                            <p:strVal val="#ppt_x"/>
                                          </p:val>
                                        </p:tav>
                                      </p:tavLst>
                                    </p:anim>
                                    <p:anim calcmode="lin" valueType="num">
                                      <p:cBhvr additive="base">
                                        <p:cTn id="54" dur="550" fill="hold"/>
                                        <p:tgtEl>
                                          <p:spTgt spid="17"/>
                                        </p:tgtEl>
                                        <p:attrNameLst>
                                          <p:attrName>ppt_y</p:attrName>
                                        </p:attrNameLst>
                                      </p:cBhvr>
                                      <p:tavLst>
                                        <p:tav tm="0">
                                          <p:val>
                                            <p:strVal val="#ppt_y+.08"/>
                                          </p:val>
                                        </p:tav>
                                        <p:tav tm="100000">
                                          <p:val>
                                            <p:strVal val="#ppt_y"/>
                                          </p:val>
                                        </p:tav>
                                      </p:tavLst>
                                    </p:anim>
                                  </p:childTnLst>
                                </p:cTn>
                              </p:par>
                            </p:childTnLst>
                          </p:cTn>
                        </p:par>
                        <p:par>
                          <p:cTn id="55" fill="hold">
                            <p:stCondLst>
                              <p:cond delay="660"/>
                            </p:stCondLst>
                            <p:childTnLst>
                              <p:par>
                                <p:cTn id="56" presetID="42" presetClass="entr" presetSubtype="0" fill="hold" grpId="0" nodeType="afterEffect">
                                  <p:stCondLst>
                                    <p:cond delay="0"/>
                                  </p:stCondLst>
                                  <p:childTnLst>
                                    <p:set>
                                      <p:cBhvr>
                                        <p:cTn id="57" dur="1" fill="hold">
                                          <p:stCondLst>
                                            <p:cond delay="0"/>
                                          </p:stCondLst>
                                        </p:cTn>
                                        <p:tgtEl>
                                          <p:spTgt spid="18"/>
                                        </p:tgtEl>
                                        <p:attrNameLst>
                                          <p:attrName>style.visibility</p:attrName>
                                        </p:attrNameLst>
                                      </p:cBhvr>
                                      <p:to>
                                        <p:strVal val="visible"/>
                                      </p:to>
                                    </p:set>
                                    <p:animEffect transition="in" filter="fade">
                                      <p:cBhvr>
                                        <p:cTn id="58" dur="550"/>
                                        <p:tgtEl>
                                          <p:spTgt spid="18"/>
                                        </p:tgtEl>
                                      </p:cBhvr>
                                    </p:animEffect>
                                    <p:anim calcmode="lin" valueType="num">
                                      <p:cBhvr additive="base">
                                        <p:cTn id="59" dur="550" fill="hold"/>
                                        <p:tgtEl>
                                          <p:spTgt spid="18"/>
                                        </p:tgtEl>
                                        <p:attrNameLst>
                                          <p:attrName>ppt_x</p:attrName>
                                        </p:attrNameLst>
                                      </p:cBhvr>
                                      <p:tavLst>
                                        <p:tav tm="0">
                                          <p:val>
                                            <p:strVal val="#ppt_x"/>
                                          </p:val>
                                        </p:tav>
                                        <p:tav tm="100000">
                                          <p:val>
                                            <p:strVal val="#ppt_x"/>
                                          </p:val>
                                        </p:tav>
                                      </p:tavLst>
                                    </p:anim>
                                    <p:anim calcmode="lin" valueType="num">
                                      <p:cBhvr additive="base">
                                        <p:cTn id="60" dur="550" fill="hold"/>
                                        <p:tgtEl>
                                          <p:spTgt spid="18"/>
                                        </p:tgtEl>
                                        <p:attrNameLst>
                                          <p:attrName>ppt_y</p:attrName>
                                        </p:attrNameLst>
                                      </p:cBhvr>
                                      <p:tavLst>
                                        <p:tav tm="0">
                                          <p:val>
                                            <p:strVal val="#ppt_y+.08"/>
                                          </p:val>
                                        </p:tav>
                                        <p:tav tm="100000">
                                          <p:val>
                                            <p:strVal val="#ppt_y"/>
                                          </p:val>
                                        </p:tav>
                                      </p:tavLst>
                                    </p:anim>
                                  </p:childTnLst>
                                </p:cTn>
                              </p:par>
                            </p:childTnLst>
                          </p:cTn>
                        </p:par>
                        <p:par>
                          <p:cTn id="61" fill="hold">
                            <p:stCondLst>
                              <p:cond delay="660"/>
                            </p:stCondLst>
                            <p:childTnLst>
                              <p:par>
                                <p:cTn id="62" presetID="42" presetClass="entr" presetSubtype="0" fill="hold" grpId="0" nodeType="afterEffect">
                                  <p:stCondLst>
                                    <p:cond delay="0"/>
                                  </p:stCondLst>
                                  <p:childTnLst>
                                    <p:set>
                                      <p:cBhvr>
                                        <p:cTn id="63" dur="1" fill="hold">
                                          <p:stCondLst>
                                            <p:cond delay="0"/>
                                          </p:stCondLst>
                                        </p:cTn>
                                        <p:tgtEl>
                                          <p:spTgt spid="19"/>
                                        </p:tgtEl>
                                        <p:attrNameLst>
                                          <p:attrName>style.visibility</p:attrName>
                                        </p:attrNameLst>
                                      </p:cBhvr>
                                      <p:to>
                                        <p:strVal val="visible"/>
                                      </p:to>
                                    </p:set>
                                    <p:animEffect transition="in" filter="fade">
                                      <p:cBhvr>
                                        <p:cTn id="64" dur="550"/>
                                        <p:tgtEl>
                                          <p:spTgt spid="19"/>
                                        </p:tgtEl>
                                      </p:cBhvr>
                                    </p:animEffect>
                                    <p:anim calcmode="lin" valueType="num">
                                      <p:cBhvr additive="base">
                                        <p:cTn id="65" dur="550" fill="hold"/>
                                        <p:tgtEl>
                                          <p:spTgt spid="19"/>
                                        </p:tgtEl>
                                        <p:attrNameLst>
                                          <p:attrName>ppt_x</p:attrName>
                                        </p:attrNameLst>
                                      </p:cBhvr>
                                      <p:tavLst>
                                        <p:tav tm="0">
                                          <p:val>
                                            <p:strVal val="#ppt_x"/>
                                          </p:val>
                                        </p:tav>
                                        <p:tav tm="100000">
                                          <p:val>
                                            <p:strVal val="#ppt_x"/>
                                          </p:val>
                                        </p:tav>
                                      </p:tavLst>
                                    </p:anim>
                                    <p:anim calcmode="lin" valueType="num">
                                      <p:cBhvr additive="base">
                                        <p:cTn id="66" dur="550" fill="hold"/>
                                        <p:tgtEl>
                                          <p:spTgt spid="19"/>
                                        </p:tgtEl>
                                        <p:attrNameLst>
                                          <p:attrName>ppt_y</p:attrName>
                                        </p:attrNameLst>
                                      </p:cBhvr>
                                      <p:tavLst>
                                        <p:tav tm="0">
                                          <p:val>
                                            <p:strVal val="#ppt_y+.08"/>
                                          </p:val>
                                        </p:tav>
                                        <p:tav tm="100000">
                                          <p:val>
                                            <p:strVal val="#ppt_y"/>
                                          </p:val>
                                        </p:tav>
                                      </p:tavLst>
                                    </p:anim>
                                  </p:childTnLst>
                                </p:cTn>
                              </p:par>
                            </p:childTnLst>
                          </p:cTn>
                        </p:par>
                        <p:par>
                          <p:cTn id="67" fill="hold">
                            <p:stCondLst>
                              <p:cond delay="660"/>
                            </p:stCondLst>
                            <p:childTnLst>
                              <p:par>
                                <p:cTn id="68" presetID="53" presetClass="entr" presetSubtype="16" fill="hold" grpId="0" nodeType="afterEffect">
                                  <p:stCondLst>
                                    <p:cond delay="0"/>
                                  </p:stCondLst>
                                  <p:childTnLst>
                                    <p:set>
                                      <p:cBhvr>
                                        <p:cTn id="69" dur="1" fill="hold">
                                          <p:stCondLst>
                                            <p:cond delay="0"/>
                                          </p:stCondLst>
                                        </p:cTn>
                                        <p:tgtEl>
                                          <p:spTgt spid="20"/>
                                        </p:tgtEl>
                                        <p:attrNameLst>
                                          <p:attrName>style.visibility</p:attrName>
                                        </p:attrNameLst>
                                      </p:cBhvr>
                                      <p:to>
                                        <p:strVal val="visible"/>
                                      </p:to>
                                    </p:set>
                                    <p:animEffect transition="in" filter="fade">
                                      <p:cBhvr>
                                        <p:cTn id="70" dur="550"/>
                                        <p:tgtEl>
                                          <p:spTgt spid="20"/>
                                        </p:tgtEl>
                                      </p:cBhvr>
                                    </p:animEffect>
                                    <p:anim calcmode="lin" valueType="num">
                                      <p:cBhvr additive="base">
                                        <p:cTn id="71" dur="550" fill="hold"/>
                                        <p:tgtEl>
                                          <p:spTgt spid="20"/>
                                        </p:tgtEl>
                                        <p:attrNameLst>
                                          <p:attrName>ppt_w</p:attrName>
                                        </p:attrNameLst>
                                      </p:cBhvr>
                                      <p:tavLst>
                                        <p:tav tm="0">
                                          <p:val>
                                            <p:strVal val="0"/>
                                          </p:val>
                                        </p:tav>
                                        <p:tav tm="100000">
                                          <p:val>
                                            <p:strVal val="#ppt_w"/>
                                          </p:val>
                                        </p:tav>
                                      </p:tavLst>
                                    </p:anim>
                                    <p:anim calcmode="lin" valueType="num">
                                      <p:cBhvr additive="base">
                                        <p:cTn id="72" dur="550" fill="hold"/>
                                        <p:tgtEl>
                                          <p:spTgt spid="20"/>
                                        </p:tgtEl>
                                        <p:attrNameLst>
                                          <p:attrName>ppt_h</p:attrName>
                                        </p:attrNameLst>
                                      </p:cBhvr>
                                      <p:tavLst>
                                        <p:tav tm="0">
                                          <p:val>
                                            <p:strVal val="0"/>
                                          </p:val>
                                        </p:tav>
                                        <p:tav tm="100000">
                                          <p:val>
                                            <p:strVal val="#ppt_h"/>
                                          </p:val>
                                        </p:tav>
                                      </p:tavLst>
                                    </p:anim>
                                  </p:childTnLst>
                                </p:cTn>
                              </p:par>
                            </p:childTnLst>
                          </p:cTn>
                        </p:par>
                        <p:par>
                          <p:cTn id="73" fill="hold">
                            <p:stCondLst>
                              <p:cond delay="660"/>
                            </p:stCondLst>
                            <p:childTnLst>
                              <p:par>
                                <p:cTn id="74" presetID="42" presetClass="entr" presetSubtype="0" fill="hold" grpId="0" nodeType="afterEffect">
                                  <p:stCondLst>
                                    <p:cond delay="0"/>
                                  </p:stCondLst>
                                  <p:childTnLst>
                                    <p:set>
                                      <p:cBhvr>
                                        <p:cTn id="75" dur="1" fill="hold">
                                          <p:stCondLst>
                                            <p:cond delay="0"/>
                                          </p:stCondLst>
                                        </p:cTn>
                                        <p:tgtEl>
                                          <p:spTgt spid="21"/>
                                        </p:tgtEl>
                                        <p:attrNameLst>
                                          <p:attrName>style.visibility</p:attrName>
                                        </p:attrNameLst>
                                      </p:cBhvr>
                                      <p:to>
                                        <p:strVal val="visible"/>
                                      </p:to>
                                    </p:set>
                                    <p:animEffect transition="in" filter="fade">
                                      <p:cBhvr>
                                        <p:cTn id="76" dur="550"/>
                                        <p:tgtEl>
                                          <p:spTgt spid="21"/>
                                        </p:tgtEl>
                                      </p:cBhvr>
                                    </p:animEffect>
                                    <p:anim calcmode="lin" valueType="num">
                                      <p:cBhvr additive="base">
                                        <p:cTn id="77" dur="550" fill="hold"/>
                                        <p:tgtEl>
                                          <p:spTgt spid="21"/>
                                        </p:tgtEl>
                                        <p:attrNameLst>
                                          <p:attrName>ppt_x</p:attrName>
                                        </p:attrNameLst>
                                      </p:cBhvr>
                                      <p:tavLst>
                                        <p:tav tm="0">
                                          <p:val>
                                            <p:strVal val="#ppt_x"/>
                                          </p:val>
                                        </p:tav>
                                        <p:tav tm="100000">
                                          <p:val>
                                            <p:strVal val="#ppt_x"/>
                                          </p:val>
                                        </p:tav>
                                      </p:tavLst>
                                    </p:anim>
                                    <p:anim calcmode="lin" valueType="num">
                                      <p:cBhvr additive="base">
                                        <p:cTn id="78" dur="550" fill="hold"/>
                                        <p:tgtEl>
                                          <p:spTgt spid="21"/>
                                        </p:tgtEl>
                                        <p:attrNameLst>
                                          <p:attrName>ppt_y</p:attrName>
                                        </p:attrNameLst>
                                      </p:cBhvr>
                                      <p:tavLst>
                                        <p:tav tm="0">
                                          <p:val>
                                            <p:strVal val="#ppt_y+.08"/>
                                          </p:val>
                                        </p:tav>
                                        <p:tav tm="100000">
                                          <p:val>
                                            <p:strVal val="#ppt_y"/>
                                          </p:val>
                                        </p:tav>
                                      </p:tavLst>
                                    </p:anim>
                                  </p:childTnLst>
                                </p:cTn>
                              </p:par>
                            </p:childTnLst>
                          </p:cTn>
                        </p:par>
                        <p:par>
                          <p:cTn id="79" fill="hold">
                            <p:stCondLst>
                              <p:cond delay="880"/>
                            </p:stCondLst>
                            <p:childTnLst>
                              <p:par>
                                <p:cTn id="80" presetID="42" presetClass="entr" presetSubtype="0" fill="hold" grpId="0" nodeType="afterEffect">
                                  <p:stCondLst>
                                    <p:cond delay="0"/>
                                  </p:stCondLst>
                                  <p:childTnLst>
                                    <p:set>
                                      <p:cBhvr>
                                        <p:cTn id="81" dur="1" fill="hold">
                                          <p:stCondLst>
                                            <p:cond delay="0"/>
                                          </p:stCondLst>
                                        </p:cTn>
                                        <p:tgtEl>
                                          <p:spTgt spid="22"/>
                                        </p:tgtEl>
                                        <p:attrNameLst>
                                          <p:attrName>style.visibility</p:attrName>
                                        </p:attrNameLst>
                                      </p:cBhvr>
                                      <p:to>
                                        <p:strVal val="visible"/>
                                      </p:to>
                                    </p:set>
                                    <p:animEffect transition="in" filter="fade">
                                      <p:cBhvr>
                                        <p:cTn id="82" dur="550"/>
                                        <p:tgtEl>
                                          <p:spTgt spid="22"/>
                                        </p:tgtEl>
                                      </p:cBhvr>
                                    </p:animEffect>
                                    <p:anim calcmode="lin" valueType="num">
                                      <p:cBhvr additive="base">
                                        <p:cTn id="83" dur="550" fill="hold"/>
                                        <p:tgtEl>
                                          <p:spTgt spid="22"/>
                                        </p:tgtEl>
                                        <p:attrNameLst>
                                          <p:attrName>ppt_x</p:attrName>
                                        </p:attrNameLst>
                                      </p:cBhvr>
                                      <p:tavLst>
                                        <p:tav tm="0">
                                          <p:val>
                                            <p:strVal val="#ppt_x"/>
                                          </p:val>
                                        </p:tav>
                                        <p:tav tm="100000">
                                          <p:val>
                                            <p:strVal val="#ppt_x"/>
                                          </p:val>
                                        </p:tav>
                                      </p:tavLst>
                                    </p:anim>
                                    <p:anim calcmode="lin" valueType="num">
                                      <p:cBhvr additive="base">
                                        <p:cTn id="84" dur="550" fill="hold"/>
                                        <p:tgtEl>
                                          <p:spTgt spid="22"/>
                                        </p:tgtEl>
                                        <p:attrNameLst>
                                          <p:attrName>ppt_y</p:attrName>
                                        </p:attrNameLst>
                                      </p:cBhvr>
                                      <p:tavLst>
                                        <p:tav tm="0">
                                          <p:val>
                                            <p:strVal val="#ppt_y+.08"/>
                                          </p:val>
                                        </p:tav>
                                        <p:tav tm="100000">
                                          <p:val>
                                            <p:strVal val="#ppt_y"/>
                                          </p:val>
                                        </p:tav>
                                      </p:tavLst>
                                    </p:anim>
                                  </p:childTnLst>
                                </p:cTn>
                              </p:par>
                            </p:childTnLst>
                          </p:cTn>
                        </p:par>
                        <p:par>
                          <p:cTn id="85" fill="hold">
                            <p:stCondLst>
                              <p:cond delay="880"/>
                            </p:stCondLst>
                            <p:childTnLst>
                              <p:par>
                                <p:cTn id="86" presetID="42" presetClass="entr" presetSubtype="0" fill="hold" grpId="0" nodeType="afterEffect">
                                  <p:stCondLst>
                                    <p:cond delay="0"/>
                                  </p:stCondLst>
                                  <p:childTnLst>
                                    <p:set>
                                      <p:cBhvr>
                                        <p:cTn id="87" dur="1" fill="hold">
                                          <p:stCondLst>
                                            <p:cond delay="0"/>
                                          </p:stCondLst>
                                        </p:cTn>
                                        <p:tgtEl>
                                          <p:spTgt spid="23"/>
                                        </p:tgtEl>
                                        <p:attrNameLst>
                                          <p:attrName>style.visibility</p:attrName>
                                        </p:attrNameLst>
                                      </p:cBhvr>
                                      <p:to>
                                        <p:strVal val="visible"/>
                                      </p:to>
                                    </p:set>
                                    <p:animEffect transition="in" filter="fade">
                                      <p:cBhvr>
                                        <p:cTn id="88" dur="550"/>
                                        <p:tgtEl>
                                          <p:spTgt spid="23"/>
                                        </p:tgtEl>
                                      </p:cBhvr>
                                    </p:animEffect>
                                    <p:anim calcmode="lin" valueType="num">
                                      <p:cBhvr additive="base">
                                        <p:cTn id="89" dur="550" fill="hold"/>
                                        <p:tgtEl>
                                          <p:spTgt spid="23"/>
                                        </p:tgtEl>
                                        <p:attrNameLst>
                                          <p:attrName>ppt_x</p:attrName>
                                        </p:attrNameLst>
                                      </p:cBhvr>
                                      <p:tavLst>
                                        <p:tav tm="0">
                                          <p:val>
                                            <p:strVal val="#ppt_x"/>
                                          </p:val>
                                        </p:tav>
                                        <p:tav tm="100000">
                                          <p:val>
                                            <p:strVal val="#ppt_x"/>
                                          </p:val>
                                        </p:tav>
                                      </p:tavLst>
                                    </p:anim>
                                    <p:anim calcmode="lin" valueType="num">
                                      <p:cBhvr additive="base">
                                        <p:cTn id="90" dur="550" fill="hold"/>
                                        <p:tgtEl>
                                          <p:spTgt spid="23"/>
                                        </p:tgtEl>
                                        <p:attrNameLst>
                                          <p:attrName>ppt_y</p:attrName>
                                        </p:attrNameLst>
                                      </p:cBhvr>
                                      <p:tavLst>
                                        <p:tav tm="0">
                                          <p:val>
                                            <p:strVal val="#ppt_y+.08"/>
                                          </p:val>
                                        </p:tav>
                                        <p:tav tm="100000">
                                          <p:val>
                                            <p:strVal val="#ppt_y"/>
                                          </p:val>
                                        </p:tav>
                                      </p:tavLst>
                                    </p:anim>
                                  </p:childTnLst>
                                </p:cTn>
                              </p:par>
                            </p:childTnLst>
                          </p:cTn>
                        </p:par>
                        <p:par>
                          <p:cTn id="91" fill="hold">
                            <p:stCondLst>
                              <p:cond delay="880"/>
                            </p:stCondLst>
                            <p:childTnLst>
                              <p:par>
                                <p:cTn id="92" presetID="53" presetClass="entr" presetSubtype="16" fill="hold" grpId="0" nodeType="afterEffect">
                                  <p:stCondLst>
                                    <p:cond delay="0"/>
                                  </p:stCondLst>
                                  <p:childTnLst>
                                    <p:set>
                                      <p:cBhvr>
                                        <p:cTn id="93" dur="1" fill="hold">
                                          <p:stCondLst>
                                            <p:cond delay="0"/>
                                          </p:stCondLst>
                                        </p:cTn>
                                        <p:tgtEl>
                                          <p:spTgt spid="24"/>
                                        </p:tgtEl>
                                        <p:attrNameLst>
                                          <p:attrName>style.visibility</p:attrName>
                                        </p:attrNameLst>
                                      </p:cBhvr>
                                      <p:to>
                                        <p:strVal val="visible"/>
                                      </p:to>
                                    </p:set>
                                    <p:animEffect transition="in" filter="fade">
                                      <p:cBhvr>
                                        <p:cTn id="94" dur="550"/>
                                        <p:tgtEl>
                                          <p:spTgt spid="24"/>
                                        </p:tgtEl>
                                      </p:cBhvr>
                                    </p:animEffect>
                                    <p:anim calcmode="lin" valueType="num">
                                      <p:cBhvr additive="base">
                                        <p:cTn id="95" dur="550" fill="hold"/>
                                        <p:tgtEl>
                                          <p:spTgt spid="24"/>
                                        </p:tgtEl>
                                        <p:attrNameLst>
                                          <p:attrName>ppt_w</p:attrName>
                                        </p:attrNameLst>
                                      </p:cBhvr>
                                      <p:tavLst>
                                        <p:tav tm="0">
                                          <p:val>
                                            <p:strVal val="0"/>
                                          </p:val>
                                        </p:tav>
                                        <p:tav tm="100000">
                                          <p:val>
                                            <p:strVal val="#ppt_w"/>
                                          </p:val>
                                        </p:tav>
                                      </p:tavLst>
                                    </p:anim>
                                    <p:anim calcmode="lin" valueType="num">
                                      <p:cBhvr additive="base">
                                        <p:cTn id="96" dur="550" fill="hold"/>
                                        <p:tgtEl>
                                          <p:spTgt spid="24"/>
                                        </p:tgtEl>
                                        <p:attrNameLst>
                                          <p:attrName>ppt_h</p:attrName>
                                        </p:attrNameLst>
                                      </p:cBhvr>
                                      <p:tavLst>
                                        <p:tav tm="0">
                                          <p:val>
                                            <p:strVal val="0"/>
                                          </p:val>
                                        </p:tav>
                                        <p:tav tm="100000">
                                          <p:val>
                                            <p:strVal val="#ppt_h"/>
                                          </p:val>
                                        </p:tav>
                                      </p:tavLst>
                                    </p:anim>
                                  </p:childTnLst>
                                </p:cTn>
                              </p:par>
                            </p:childTnLst>
                          </p:cTn>
                        </p:par>
                        <p:par>
                          <p:cTn id="97" fill="hold">
                            <p:stCondLst>
                              <p:cond delay="880"/>
                            </p:stCondLst>
                            <p:childTnLst>
                              <p:par>
                                <p:cTn id="98" presetID="42" presetClass="entr" presetSubtype="0" fill="hold" grpId="0" nodeType="afterEffect">
                                  <p:stCondLst>
                                    <p:cond delay="0"/>
                                  </p:stCondLst>
                                  <p:childTnLst>
                                    <p:set>
                                      <p:cBhvr>
                                        <p:cTn id="99" dur="1" fill="hold">
                                          <p:stCondLst>
                                            <p:cond delay="0"/>
                                          </p:stCondLst>
                                        </p:cTn>
                                        <p:tgtEl>
                                          <p:spTgt spid="25"/>
                                        </p:tgtEl>
                                        <p:attrNameLst>
                                          <p:attrName>style.visibility</p:attrName>
                                        </p:attrNameLst>
                                      </p:cBhvr>
                                      <p:to>
                                        <p:strVal val="visible"/>
                                      </p:to>
                                    </p:set>
                                    <p:animEffect transition="in" filter="fade">
                                      <p:cBhvr>
                                        <p:cTn id="100" dur="550"/>
                                        <p:tgtEl>
                                          <p:spTgt spid="25"/>
                                        </p:tgtEl>
                                      </p:cBhvr>
                                    </p:animEffect>
                                    <p:anim calcmode="lin" valueType="num">
                                      <p:cBhvr additive="base">
                                        <p:cTn id="101" dur="550" fill="hold"/>
                                        <p:tgtEl>
                                          <p:spTgt spid="25"/>
                                        </p:tgtEl>
                                        <p:attrNameLst>
                                          <p:attrName>ppt_x</p:attrName>
                                        </p:attrNameLst>
                                      </p:cBhvr>
                                      <p:tavLst>
                                        <p:tav tm="0">
                                          <p:val>
                                            <p:strVal val="#ppt_x"/>
                                          </p:val>
                                        </p:tav>
                                        <p:tav tm="100000">
                                          <p:val>
                                            <p:strVal val="#ppt_x"/>
                                          </p:val>
                                        </p:tav>
                                      </p:tavLst>
                                    </p:anim>
                                    <p:anim calcmode="lin" valueType="num">
                                      <p:cBhvr additive="base">
                                        <p:cTn id="102" dur="550" fill="hold"/>
                                        <p:tgtEl>
                                          <p:spTgt spid="25"/>
                                        </p:tgtEl>
                                        <p:attrNameLst>
                                          <p:attrName>ppt_y</p:attrName>
                                        </p:attrNameLst>
                                      </p:cBhvr>
                                      <p:tavLst>
                                        <p:tav tm="0">
                                          <p:val>
                                            <p:strVal val="#ppt_y+.08"/>
                                          </p:val>
                                        </p:tav>
                                        <p:tav tm="100000">
                                          <p:val>
                                            <p:strVal val="#ppt_y"/>
                                          </p:val>
                                        </p:tav>
                                      </p:tavLst>
                                    </p:anim>
                                  </p:childTnLst>
                                </p:cTn>
                              </p:par>
                            </p:childTnLst>
                          </p:cTn>
                        </p:par>
                        <p:par>
                          <p:cTn id="103" fill="hold">
                            <p:stCondLst>
                              <p:cond delay="1100"/>
                            </p:stCondLst>
                            <p:childTnLst>
                              <p:par>
                                <p:cTn id="104" presetID="42" presetClass="entr" presetSubtype="0" fill="hold" grpId="0" nodeType="afterEffect">
                                  <p:stCondLst>
                                    <p:cond delay="0"/>
                                  </p:stCondLst>
                                  <p:childTnLst>
                                    <p:set>
                                      <p:cBhvr>
                                        <p:cTn id="105" dur="1" fill="hold">
                                          <p:stCondLst>
                                            <p:cond delay="0"/>
                                          </p:stCondLst>
                                        </p:cTn>
                                        <p:tgtEl>
                                          <p:spTgt spid="26"/>
                                        </p:tgtEl>
                                        <p:attrNameLst>
                                          <p:attrName>style.visibility</p:attrName>
                                        </p:attrNameLst>
                                      </p:cBhvr>
                                      <p:to>
                                        <p:strVal val="visible"/>
                                      </p:to>
                                    </p:set>
                                    <p:animEffect transition="in" filter="fade">
                                      <p:cBhvr>
                                        <p:cTn id="106" dur="550"/>
                                        <p:tgtEl>
                                          <p:spTgt spid="26"/>
                                        </p:tgtEl>
                                      </p:cBhvr>
                                    </p:animEffect>
                                    <p:anim calcmode="lin" valueType="num">
                                      <p:cBhvr additive="base">
                                        <p:cTn id="107" dur="550" fill="hold"/>
                                        <p:tgtEl>
                                          <p:spTgt spid="26"/>
                                        </p:tgtEl>
                                        <p:attrNameLst>
                                          <p:attrName>ppt_x</p:attrName>
                                        </p:attrNameLst>
                                      </p:cBhvr>
                                      <p:tavLst>
                                        <p:tav tm="0">
                                          <p:val>
                                            <p:strVal val="#ppt_x"/>
                                          </p:val>
                                        </p:tav>
                                        <p:tav tm="100000">
                                          <p:val>
                                            <p:strVal val="#ppt_x"/>
                                          </p:val>
                                        </p:tav>
                                      </p:tavLst>
                                    </p:anim>
                                    <p:anim calcmode="lin" valueType="num">
                                      <p:cBhvr additive="base">
                                        <p:cTn id="108" dur="550" fill="hold"/>
                                        <p:tgtEl>
                                          <p:spTgt spid="26"/>
                                        </p:tgtEl>
                                        <p:attrNameLst>
                                          <p:attrName>ppt_y</p:attrName>
                                        </p:attrNameLst>
                                      </p:cBhvr>
                                      <p:tavLst>
                                        <p:tav tm="0">
                                          <p:val>
                                            <p:strVal val="#ppt_y+.08"/>
                                          </p:val>
                                        </p:tav>
                                        <p:tav tm="100000">
                                          <p:val>
                                            <p:strVal val="#ppt_y"/>
                                          </p:val>
                                        </p:tav>
                                      </p:tavLst>
                                    </p:anim>
                                  </p:childTnLst>
                                </p:cTn>
                              </p:par>
                            </p:childTnLst>
                          </p:cTn>
                        </p:par>
                        <p:par>
                          <p:cTn id="109" fill="hold">
                            <p:stCondLst>
                              <p:cond delay="1100"/>
                            </p:stCondLst>
                            <p:childTnLst>
                              <p:par>
                                <p:cTn id="110" presetID="42" presetClass="entr" presetSubtype="0" fill="hold" grpId="0" nodeType="afterEffect">
                                  <p:stCondLst>
                                    <p:cond delay="0"/>
                                  </p:stCondLst>
                                  <p:childTnLst>
                                    <p:set>
                                      <p:cBhvr>
                                        <p:cTn id="111" dur="1" fill="hold">
                                          <p:stCondLst>
                                            <p:cond delay="0"/>
                                          </p:stCondLst>
                                        </p:cTn>
                                        <p:tgtEl>
                                          <p:spTgt spid="27"/>
                                        </p:tgtEl>
                                        <p:attrNameLst>
                                          <p:attrName>style.visibility</p:attrName>
                                        </p:attrNameLst>
                                      </p:cBhvr>
                                      <p:to>
                                        <p:strVal val="visible"/>
                                      </p:to>
                                    </p:set>
                                    <p:animEffect transition="in" filter="fade">
                                      <p:cBhvr>
                                        <p:cTn id="112" dur="550"/>
                                        <p:tgtEl>
                                          <p:spTgt spid="27"/>
                                        </p:tgtEl>
                                      </p:cBhvr>
                                    </p:animEffect>
                                    <p:anim calcmode="lin" valueType="num">
                                      <p:cBhvr additive="base">
                                        <p:cTn id="113" dur="550" fill="hold"/>
                                        <p:tgtEl>
                                          <p:spTgt spid="27"/>
                                        </p:tgtEl>
                                        <p:attrNameLst>
                                          <p:attrName>ppt_x</p:attrName>
                                        </p:attrNameLst>
                                      </p:cBhvr>
                                      <p:tavLst>
                                        <p:tav tm="0">
                                          <p:val>
                                            <p:strVal val="#ppt_x"/>
                                          </p:val>
                                        </p:tav>
                                        <p:tav tm="100000">
                                          <p:val>
                                            <p:strVal val="#ppt_x"/>
                                          </p:val>
                                        </p:tav>
                                      </p:tavLst>
                                    </p:anim>
                                    <p:anim calcmode="lin" valueType="num">
                                      <p:cBhvr additive="base">
                                        <p:cTn id="114" dur="550" fill="hold"/>
                                        <p:tgtEl>
                                          <p:spTgt spid="27"/>
                                        </p:tgtEl>
                                        <p:attrNameLst>
                                          <p:attrName>ppt_y</p:attrName>
                                        </p:attrNameLst>
                                      </p:cBhvr>
                                      <p:tavLst>
                                        <p:tav tm="0">
                                          <p:val>
                                            <p:strVal val="#ppt_y+.08"/>
                                          </p:val>
                                        </p:tav>
                                        <p:tav tm="100000">
                                          <p:val>
                                            <p:strVal val="#ppt_y"/>
                                          </p:val>
                                        </p:tav>
                                      </p:tavLst>
                                    </p:anim>
                                  </p:childTnLst>
                                </p:cTn>
                              </p:par>
                            </p:childTnLst>
                          </p:cTn>
                        </p:par>
                        <p:par>
                          <p:cTn id="115" fill="hold">
                            <p:stCondLst>
                              <p:cond delay="1100"/>
                            </p:stCondLst>
                            <p:childTnLst>
                              <p:par>
                                <p:cTn id="116" presetID="53" presetClass="entr" presetSubtype="16" fill="hold" grpId="0" nodeType="afterEffect">
                                  <p:stCondLst>
                                    <p:cond delay="0"/>
                                  </p:stCondLst>
                                  <p:childTnLst>
                                    <p:set>
                                      <p:cBhvr>
                                        <p:cTn id="117" dur="1" fill="hold">
                                          <p:stCondLst>
                                            <p:cond delay="0"/>
                                          </p:stCondLst>
                                        </p:cTn>
                                        <p:tgtEl>
                                          <p:spTgt spid="28"/>
                                        </p:tgtEl>
                                        <p:attrNameLst>
                                          <p:attrName>style.visibility</p:attrName>
                                        </p:attrNameLst>
                                      </p:cBhvr>
                                      <p:to>
                                        <p:strVal val="visible"/>
                                      </p:to>
                                    </p:set>
                                    <p:animEffect transition="in" filter="fade">
                                      <p:cBhvr>
                                        <p:cTn id="118" dur="550"/>
                                        <p:tgtEl>
                                          <p:spTgt spid="28"/>
                                        </p:tgtEl>
                                      </p:cBhvr>
                                    </p:animEffect>
                                    <p:anim calcmode="lin" valueType="num">
                                      <p:cBhvr additive="base">
                                        <p:cTn id="119" dur="550" fill="hold"/>
                                        <p:tgtEl>
                                          <p:spTgt spid="28"/>
                                        </p:tgtEl>
                                        <p:attrNameLst>
                                          <p:attrName>ppt_w</p:attrName>
                                        </p:attrNameLst>
                                      </p:cBhvr>
                                      <p:tavLst>
                                        <p:tav tm="0">
                                          <p:val>
                                            <p:strVal val="0"/>
                                          </p:val>
                                        </p:tav>
                                        <p:tav tm="100000">
                                          <p:val>
                                            <p:strVal val="#ppt_w"/>
                                          </p:val>
                                        </p:tav>
                                      </p:tavLst>
                                    </p:anim>
                                    <p:anim calcmode="lin" valueType="num">
                                      <p:cBhvr additive="base">
                                        <p:cTn id="120" dur="550" fill="hold"/>
                                        <p:tgtEl>
                                          <p:spTgt spid="28"/>
                                        </p:tgtEl>
                                        <p:attrNameLst>
                                          <p:attrName>ppt_h</p:attrName>
                                        </p:attrNameLst>
                                      </p:cBhvr>
                                      <p:tavLst>
                                        <p:tav tm="0">
                                          <p:val>
                                            <p:strVal val="0"/>
                                          </p:val>
                                        </p:tav>
                                        <p:tav tm="100000">
                                          <p:val>
                                            <p:strVal val="#ppt_h"/>
                                          </p:val>
                                        </p:tav>
                                      </p:tavLst>
                                    </p:anim>
                                  </p:childTnLst>
                                </p:cTn>
                              </p:par>
                            </p:childTnLst>
                          </p:cTn>
                        </p:par>
                        <p:par>
                          <p:cTn id="121" fill="hold">
                            <p:stCondLst>
                              <p:cond delay="1100"/>
                            </p:stCondLst>
                            <p:childTnLst>
                              <p:par>
                                <p:cTn id="122" presetID="42" presetClass="entr" presetSubtype="0" fill="hold" grpId="0" nodeType="afterEffect">
                                  <p:stCondLst>
                                    <p:cond delay="0"/>
                                  </p:stCondLst>
                                  <p:childTnLst>
                                    <p:set>
                                      <p:cBhvr>
                                        <p:cTn id="123" dur="1" fill="hold">
                                          <p:stCondLst>
                                            <p:cond delay="0"/>
                                          </p:stCondLst>
                                        </p:cTn>
                                        <p:tgtEl>
                                          <p:spTgt spid="29"/>
                                        </p:tgtEl>
                                        <p:attrNameLst>
                                          <p:attrName>style.visibility</p:attrName>
                                        </p:attrNameLst>
                                      </p:cBhvr>
                                      <p:to>
                                        <p:strVal val="visible"/>
                                      </p:to>
                                    </p:set>
                                    <p:animEffect transition="in" filter="fade">
                                      <p:cBhvr>
                                        <p:cTn id="124" dur="550"/>
                                        <p:tgtEl>
                                          <p:spTgt spid="29"/>
                                        </p:tgtEl>
                                      </p:cBhvr>
                                    </p:animEffect>
                                    <p:anim calcmode="lin" valueType="num">
                                      <p:cBhvr additive="base">
                                        <p:cTn id="125" dur="550" fill="hold"/>
                                        <p:tgtEl>
                                          <p:spTgt spid="29"/>
                                        </p:tgtEl>
                                        <p:attrNameLst>
                                          <p:attrName>ppt_x</p:attrName>
                                        </p:attrNameLst>
                                      </p:cBhvr>
                                      <p:tavLst>
                                        <p:tav tm="0">
                                          <p:val>
                                            <p:strVal val="#ppt_x"/>
                                          </p:val>
                                        </p:tav>
                                        <p:tav tm="100000">
                                          <p:val>
                                            <p:strVal val="#ppt_x"/>
                                          </p:val>
                                        </p:tav>
                                      </p:tavLst>
                                    </p:anim>
                                    <p:anim calcmode="lin" valueType="num">
                                      <p:cBhvr additive="base">
                                        <p:cTn id="126" dur="550" fill="hold"/>
                                        <p:tgtEl>
                                          <p:spTgt spid="29"/>
                                        </p:tgtEl>
                                        <p:attrNameLst>
                                          <p:attrName>ppt_y</p:attrName>
                                        </p:attrNameLst>
                                      </p:cBhvr>
                                      <p:tavLst>
                                        <p:tav tm="0">
                                          <p:val>
                                            <p:strVal val="#ppt_y+.08"/>
                                          </p:val>
                                        </p:tav>
                                        <p:tav tm="100000">
                                          <p:val>
                                            <p:strVal val="#ppt_y"/>
                                          </p:val>
                                        </p:tav>
                                      </p:tavLst>
                                    </p:anim>
                                  </p:childTnLst>
                                </p:cTn>
                              </p:par>
                            </p:childTnLst>
                          </p:cTn>
                        </p:par>
                        <p:par>
                          <p:cTn id="127" fill="hold">
                            <p:stCondLst>
                              <p:cond delay="1320"/>
                            </p:stCondLst>
                            <p:childTnLst>
                              <p:par>
                                <p:cTn id="128" presetID="42" presetClass="entr" presetSubtype="0" fill="hold" grpId="0" nodeType="afterEffect">
                                  <p:stCondLst>
                                    <p:cond delay="0"/>
                                  </p:stCondLst>
                                  <p:childTnLst>
                                    <p:set>
                                      <p:cBhvr>
                                        <p:cTn id="129" dur="1" fill="hold">
                                          <p:stCondLst>
                                            <p:cond delay="0"/>
                                          </p:stCondLst>
                                        </p:cTn>
                                        <p:tgtEl>
                                          <p:spTgt spid="30"/>
                                        </p:tgtEl>
                                        <p:attrNameLst>
                                          <p:attrName>style.visibility</p:attrName>
                                        </p:attrNameLst>
                                      </p:cBhvr>
                                      <p:to>
                                        <p:strVal val="visible"/>
                                      </p:to>
                                    </p:set>
                                    <p:animEffect transition="in" filter="fade">
                                      <p:cBhvr>
                                        <p:cTn id="130" dur="550"/>
                                        <p:tgtEl>
                                          <p:spTgt spid="30"/>
                                        </p:tgtEl>
                                      </p:cBhvr>
                                    </p:animEffect>
                                    <p:anim calcmode="lin" valueType="num">
                                      <p:cBhvr additive="base">
                                        <p:cTn id="131" dur="550" fill="hold"/>
                                        <p:tgtEl>
                                          <p:spTgt spid="30"/>
                                        </p:tgtEl>
                                        <p:attrNameLst>
                                          <p:attrName>ppt_x</p:attrName>
                                        </p:attrNameLst>
                                      </p:cBhvr>
                                      <p:tavLst>
                                        <p:tav tm="0">
                                          <p:val>
                                            <p:strVal val="#ppt_x"/>
                                          </p:val>
                                        </p:tav>
                                        <p:tav tm="100000">
                                          <p:val>
                                            <p:strVal val="#ppt_x"/>
                                          </p:val>
                                        </p:tav>
                                      </p:tavLst>
                                    </p:anim>
                                    <p:anim calcmode="lin" valueType="num">
                                      <p:cBhvr additive="base">
                                        <p:cTn id="132" dur="550" fill="hold"/>
                                        <p:tgtEl>
                                          <p:spTgt spid="30"/>
                                        </p:tgtEl>
                                        <p:attrNameLst>
                                          <p:attrName>ppt_y</p:attrName>
                                        </p:attrNameLst>
                                      </p:cBhvr>
                                      <p:tavLst>
                                        <p:tav tm="0">
                                          <p:val>
                                            <p:strVal val="#ppt_y+.08"/>
                                          </p:val>
                                        </p:tav>
                                        <p:tav tm="100000">
                                          <p:val>
                                            <p:strVal val="#ppt_y"/>
                                          </p:val>
                                        </p:tav>
                                      </p:tavLst>
                                    </p:anim>
                                  </p:childTnLst>
                                </p:cTn>
                              </p:par>
                            </p:childTnLst>
                          </p:cTn>
                        </p:par>
                        <p:par>
                          <p:cTn id="133" fill="hold">
                            <p:stCondLst>
                              <p:cond delay="1320"/>
                            </p:stCondLst>
                            <p:childTnLst>
                              <p:par>
                                <p:cTn id="134" presetID="42" presetClass="entr" presetSubtype="0" fill="hold" grpId="0" nodeType="afterEffect">
                                  <p:stCondLst>
                                    <p:cond delay="0"/>
                                  </p:stCondLst>
                                  <p:childTnLst>
                                    <p:set>
                                      <p:cBhvr>
                                        <p:cTn id="135" dur="1" fill="hold">
                                          <p:stCondLst>
                                            <p:cond delay="0"/>
                                          </p:stCondLst>
                                        </p:cTn>
                                        <p:tgtEl>
                                          <p:spTgt spid="31"/>
                                        </p:tgtEl>
                                        <p:attrNameLst>
                                          <p:attrName>style.visibility</p:attrName>
                                        </p:attrNameLst>
                                      </p:cBhvr>
                                      <p:to>
                                        <p:strVal val="visible"/>
                                      </p:to>
                                    </p:set>
                                    <p:animEffect transition="in" filter="fade">
                                      <p:cBhvr>
                                        <p:cTn id="136" dur="550"/>
                                        <p:tgtEl>
                                          <p:spTgt spid="31"/>
                                        </p:tgtEl>
                                      </p:cBhvr>
                                    </p:animEffect>
                                    <p:anim calcmode="lin" valueType="num">
                                      <p:cBhvr additive="base">
                                        <p:cTn id="137" dur="550" fill="hold"/>
                                        <p:tgtEl>
                                          <p:spTgt spid="31"/>
                                        </p:tgtEl>
                                        <p:attrNameLst>
                                          <p:attrName>ppt_x</p:attrName>
                                        </p:attrNameLst>
                                      </p:cBhvr>
                                      <p:tavLst>
                                        <p:tav tm="0">
                                          <p:val>
                                            <p:strVal val="#ppt_x"/>
                                          </p:val>
                                        </p:tav>
                                        <p:tav tm="100000">
                                          <p:val>
                                            <p:strVal val="#ppt_x"/>
                                          </p:val>
                                        </p:tav>
                                      </p:tavLst>
                                    </p:anim>
                                    <p:anim calcmode="lin" valueType="num">
                                      <p:cBhvr additive="base">
                                        <p:cTn id="138" dur="550" fill="hold"/>
                                        <p:tgtEl>
                                          <p:spTgt spid="31"/>
                                        </p:tgtEl>
                                        <p:attrNameLst>
                                          <p:attrName>ppt_y</p:attrName>
                                        </p:attrNameLst>
                                      </p:cBhvr>
                                      <p:tavLst>
                                        <p:tav tm="0">
                                          <p:val>
                                            <p:strVal val="#ppt_y+.08"/>
                                          </p:val>
                                        </p:tav>
                                        <p:tav tm="100000">
                                          <p:val>
                                            <p:strVal val="#ppt_y"/>
                                          </p:val>
                                        </p:tav>
                                      </p:tavLst>
                                    </p:anim>
                                  </p:childTnLst>
                                </p:cTn>
                              </p:par>
                            </p:childTnLst>
                          </p:cTn>
                        </p:par>
                        <p:par>
                          <p:cTn id="139" fill="hold">
                            <p:stCondLst>
                              <p:cond delay="1320"/>
                            </p:stCondLst>
                            <p:childTnLst>
                              <p:par>
                                <p:cTn id="140" presetID="53" presetClass="entr" presetSubtype="16" fill="hold" grpId="0" nodeType="afterEffect">
                                  <p:stCondLst>
                                    <p:cond delay="0"/>
                                  </p:stCondLst>
                                  <p:childTnLst>
                                    <p:set>
                                      <p:cBhvr>
                                        <p:cTn id="141" dur="1" fill="hold">
                                          <p:stCondLst>
                                            <p:cond delay="0"/>
                                          </p:stCondLst>
                                        </p:cTn>
                                        <p:tgtEl>
                                          <p:spTgt spid="32"/>
                                        </p:tgtEl>
                                        <p:attrNameLst>
                                          <p:attrName>style.visibility</p:attrName>
                                        </p:attrNameLst>
                                      </p:cBhvr>
                                      <p:to>
                                        <p:strVal val="visible"/>
                                      </p:to>
                                    </p:set>
                                    <p:animEffect transition="in" filter="fade">
                                      <p:cBhvr>
                                        <p:cTn id="142" dur="550"/>
                                        <p:tgtEl>
                                          <p:spTgt spid="32"/>
                                        </p:tgtEl>
                                      </p:cBhvr>
                                    </p:animEffect>
                                    <p:anim calcmode="lin" valueType="num">
                                      <p:cBhvr additive="base">
                                        <p:cTn id="143" dur="550" fill="hold"/>
                                        <p:tgtEl>
                                          <p:spTgt spid="32"/>
                                        </p:tgtEl>
                                        <p:attrNameLst>
                                          <p:attrName>ppt_w</p:attrName>
                                        </p:attrNameLst>
                                      </p:cBhvr>
                                      <p:tavLst>
                                        <p:tav tm="0">
                                          <p:val>
                                            <p:strVal val="0"/>
                                          </p:val>
                                        </p:tav>
                                        <p:tav tm="100000">
                                          <p:val>
                                            <p:strVal val="#ppt_w"/>
                                          </p:val>
                                        </p:tav>
                                      </p:tavLst>
                                    </p:anim>
                                    <p:anim calcmode="lin" valueType="num">
                                      <p:cBhvr additive="base">
                                        <p:cTn id="144" dur="550" fill="hold"/>
                                        <p:tgtEl>
                                          <p:spTgt spid="32"/>
                                        </p:tgtEl>
                                        <p:attrNameLst>
                                          <p:attrName>ppt_h</p:attrName>
                                        </p:attrNameLst>
                                      </p:cBhvr>
                                      <p:tavLst>
                                        <p:tav tm="0">
                                          <p:val>
                                            <p:strVal val="0"/>
                                          </p:val>
                                        </p:tav>
                                        <p:tav tm="100000">
                                          <p:val>
                                            <p:strVal val="#ppt_h"/>
                                          </p:val>
                                        </p:tav>
                                      </p:tavLst>
                                    </p:anim>
                                  </p:childTnLst>
                                </p:cTn>
                              </p:par>
                            </p:childTnLst>
                          </p:cTn>
                        </p:par>
                        <p:par>
                          <p:cTn id="145" fill="hold">
                            <p:stCondLst>
                              <p:cond delay="1320"/>
                            </p:stCondLst>
                            <p:childTnLst>
                              <p:par>
                                <p:cTn id="146" presetID="42" presetClass="entr" presetSubtype="0" fill="hold" grpId="0" nodeType="afterEffect">
                                  <p:stCondLst>
                                    <p:cond delay="0"/>
                                  </p:stCondLst>
                                  <p:childTnLst>
                                    <p:set>
                                      <p:cBhvr>
                                        <p:cTn id="147" dur="1" fill="hold">
                                          <p:stCondLst>
                                            <p:cond delay="0"/>
                                          </p:stCondLst>
                                        </p:cTn>
                                        <p:tgtEl>
                                          <p:spTgt spid="33"/>
                                        </p:tgtEl>
                                        <p:attrNameLst>
                                          <p:attrName>style.visibility</p:attrName>
                                        </p:attrNameLst>
                                      </p:cBhvr>
                                      <p:to>
                                        <p:strVal val="visible"/>
                                      </p:to>
                                    </p:set>
                                    <p:animEffect transition="in" filter="fade">
                                      <p:cBhvr>
                                        <p:cTn id="148" dur="550"/>
                                        <p:tgtEl>
                                          <p:spTgt spid="33"/>
                                        </p:tgtEl>
                                      </p:cBhvr>
                                    </p:animEffect>
                                    <p:anim calcmode="lin" valueType="num">
                                      <p:cBhvr additive="base">
                                        <p:cTn id="149" dur="550" fill="hold"/>
                                        <p:tgtEl>
                                          <p:spTgt spid="33"/>
                                        </p:tgtEl>
                                        <p:attrNameLst>
                                          <p:attrName>ppt_x</p:attrName>
                                        </p:attrNameLst>
                                      </p:cBhvr>
                                      <p:tavLst>
                                        <p:tav tm="0">
                                          <p:val>
                                            <p:strVal val="#ppt_x"/>
                                          </p:val>
                                        </p:tav>
                                        <p:tav tm="100000">
                                          <p:val>
                                            <p:strVal val="#ppt_x"/>
                                          </p:val>
                                        </p:tav>
                                      </p:tavLst>
                                    </p:anim>
                                    <p:anim calcmode="lin" valueType="num">
                                      <p:cBhvr additive="base">
                                        <p:cTn id="150" dur="550" fill="hold"/>
                                        <p:tgtEl>
                                          <p:spTgt spid="33"/>
                                        </p:tgtEl>
                                        <p:attrNameLst>
                                          <p:attrName>ppt_y</p:attrName>
                                        </p:attrNameLst>
                                      </p:cBhvr>
                                      <p:tavLst>
                                        <p:tav tm="0">
                                          <p:val>
                                            <p:strVal val="#ppt_y+.08"/>
                                          </p:val>
                                        </p:tav>
                                        <p:tav tm="100000">
                                          <p:val>
                                            <p:strVal val="#ppt_y"/>
                                          </p:val>
                                        </p:tav>
                                      </p:tavLst>
                                    </p:anim>
                                  </p:childTnLst>
                                </p:cTn>
                              </p:par>
                            </p:childTnLst>
                          </p:cTn>
                        </p:par>
                        <p:par>
                          <p:cTn id="151" fill="hold">
                            <p:stCondLst>
                              <p:cond delay="1540"/>
                            </p:stCondLst>
                            <p:childTnLst>
                              <p:par>
                                <p:cTn id="152" presetID="42" presetClass="entr" presetSubtype="0" fill="hold" grpId="0" nodeType="afterEffect">
                                  <p:stCondLst>
                                    <p:cond delay="0"/>
                                  </p:stCondLst>
                                  <p:childTnLst>
                                    <p:set>
                                      <p:cBhvr>
                                        <p:cTn id="153" dur="1" fill="hold">
                                          <p:stCondLst>
                                            <p:cond delay="0"/>
                                          </p:stCondLst>
                                        </p:cTn>
                                        <p:tgtEl>
                                          <p:spTgt spid="34"/>
                                        </p:tgtEl>
                                        <p:attrNameLst>
                                          <p:attrName>style.visibility</p:attrName>
                                        </p:attrNameLst>
                                      </p:cBhvr>
                                      <p:to>
                                        <p:strVal val="visible"/>
                                      </p:to>
                                    </p:set>
                                    <p:animEffect transition="in" filter="fade">
                                      <p:cBhvr>
                                        <p:cTn id="154" dur="550"/>
                                        <p:tgtEl>
                                          <p:spTgt spid="34"/>
                                        </p:tgtEl>
                                      </p:cBhvr>
                                    </p:animEffect>
                                    <p:anim calcmode="lin" valueType="num">
                                      <p:cBhvr additive="base">
                                        <p:cTn id="155" dur="550" fill="hold"/>
                                        <p:tgtEl>
                                          <p:spTgt spid="34"/>
                                        </p:tgtEl>
                                        <p:attrNameLst>
                                          <p:attrName>ppt_x</p:attrName>
                                        </p:attrNameLst>
                                      </p:cBhvr>
                                      <p:tavLst>
                                        <p:tav tm="0">
                                          <p:val>
                                            <p:strVal val="#ppt_x"/>
                                          </p:val>
                                        </p:tav>
                                        <p:tav tm="100000">
                                          <p:val>
                                            <p:strVal val="#ppt_x"/>
                                          </p:val>
                                        </p:tav>
                                      </p:tavLst>
                                    </p:anim>
                                    <p:anim calcmode="lin" valueType="num">
                                      <p:cBhvr additive="base">
                                        <p:cTn id="156" dur="550" fill="hold"/>
                                        <p:tgtEl>
                                          <p:spTgt spid="34"/>
                                        </p:tgtEl>
                                        <p:attrNameLst>
                                          <p:attrName>ppt_y</p:attrName>
                                        </p:attrNameLst>
                                      </p:cBhvr>
                                      <p:tavLst>
                                        <p:tav tm="0">
                                          <p:val>
                                            <p:strVal val="#ppt_y+.08"/>
                                          </p:val>
                                        </p:tav>
                                        <p:tav tm="100000">
                                          <p:val>
                                            <p:strVal val="#ppt_y"/>
                                          </p:val>
                                        </p:tav>
                                      </p:tavLst>
                                    </p:anim>
                                  </p:childTnLst>
                                </p:cTn>
                              </p:par>
                            </p:childTnLst>
                          </p:cTn>
                        </p:par>
                        <p:par>
                          <p:cTn id="157" fill="hold">
                            <p:stCondLst>
                              <p:cond delay="1540"/>
                            </p:stCondLst>
                            <p:childTnLst>
                              <p:par>
                                <p:cTn id="158" presetID="42" presetClass="entr" presetSubtype="0" fill="hold" grpId="0" nodeType="afterEffect">
                                  <p:stCondLst>
                                    <p:cond delay="0"/>
                                  </p:stCondLst>
                                  <p:childTnLst>
                                    <p:set>
                                      <p:cBhvr>
                                        <p:cTn id="159" dur="1" fill="hold">
                                          <p:stCondLst>
                                            <p:cond delay="0"/>
                                          </p:stCondLst>
                                        </p:cTn>
                                        <p:tgtEl>
                                          <p:spTgt spid="35"/>
                                        </p:tgtEl>
                                        <p:attrNameLst>
                                          <p:attrName>style.visibility</p:attrName>
                                        </p:attrNameLst>
                                      </p:cBhvr>
                                      <p:to>
                                        <p:strVal val="visible"/>
                                      </p:to>
                                    </p:set>
                                    <p:animEffect transition="in" filter="fade">
                                      <p:cBhvr>
                                        <p:cTn id="160" dur="550"/>
                                        <p:tgtEl>
                                          <p:spTgt spid="35"/>
                                        </p:tgtEl>
                                      </p:cBhvr>
                                    </p:animEffect>
                                    <p:anim calcmode="lin" valueType="num">
                                      <p:cBhvr additive="base">
                                        <p:cTn id="161" dur="550" fill="hold"/>
                                        <p:tgtEl>
                                          <p:spTgt spid="35"/>
                                        </p:tgtEl>
                                        <p:attrNameLst>
                                          <p:attrName>ppt_x</p:attrName>
                                        </p:attrNameLst>
                                      </p:cBhvr>
                                      <p:tavLst>
                                        <p:tav tm="0">
                                          <p:val>
                                            <p:strVal val="#ppt_x"/>
                                          </p:val>
                                        </p:tav>
                                        <p:tav tm="100000">
                                          <p:val>
                                            <p:strVal val="#ppt_x"/>
                                          </p:val>
                                        </p:tav>
                                      </p:tavLst>
                                    </p:anim>
                                    <p:anim calcmode="lin" valueType="num">
                                      <p:cBhvr additive="base">
                                        <p:cTn id="162" dur="550" fill="hold"/>
                                        <p:tgtEl>
                                          <p:spTgt spid="35"/>
                                        </p:tgtEl>
                                        <p:attrNameLst>
                                          <p:attrName>ppt_y</p:attrName>
                                        </p:attrNameLst>
                                      </p:cBhvr>
                                      <p:tavLst>
                                        <p:tav tm="0">
                                          <p:val>
                                            <p:strVal val="#ppt_y+.08"/>
                                          </p:val>
                                        </p:tav>
                                        <p:tav tm="100000">
                                          <p:val>
                                            <p:strVal val="#ppt_y"/>
                                          </p:val>
                                        </p:tav>
                                      </p:tavLst>
                                    </p:anim>
                                  </p:childTnLst>
                                </p:cTn>
                              </p:par>
                            </p:childTnLst>
                          </p:cTn>
                        </p:par>
                        <p:par>
                          <p:cTn id="163" fill="hold">
                            <p:stCondLst>
                              <p:cond delay="1540"/>
                            </p:stCondLst>
                            <p:childTnLst>
                              <p:par>
                                <p:cTn id="164" presetID="53" presetClass="entr" presetSubtype="16" fill="hold" grpId="0" nodeType="afterEffect">
                                  <p:stCondLst>
                                    <p:cond delay="0"/>
                                  </p:stCondLst>
                                  <p:childTnLst>
                                    <p:set>
                                      <p:cBhvr>
                                        <p:cTn id="165" dur="1" fill="hold">
                                          <p:stCondLst>
                                            <p:cond delay="0"/>
                                          </p:stCondLst>
                                        </p:cTn>
                                        <p:tgtEl>
                                          <p:spTgt spid="36"/>
                                        </p:tgtEl>
                                        <p:attrNameLst>
                                          <p:attrName>style.visibility</p:attrName>
                                        </p:attrNameLst>
                                      </p:cBhvr>
                                      <p:to>
                                        <p:strVal val="visible"/>
                                      </p:to>
                                    </p:set>
                                    <p:animEffect transition="in" filter="fade">
                                      <p:cBhvr>
                                        <p:cTn id="166" dur="550"/>
                                        <p:tgtEl>
                                          <p:spTgt spid="36"/>
                                        </p:tgtEl>
                                      </p:cBhvr>
                                    </p:animEffect>
                                    <p:anim calcmode="lin" valueType="num">
                                      <p:cBhvr additive="base">
                                        <p:cTn id="167" dur="550" fill="hold"/>
                                        <p:tgtEl>
                                          <p:spTgt spid="36"/>
                                        </p:tgtEl>
                                        <p:attrNameLst>
                                          <p:attrName>ppt_w</p:attrName>
                                        </p:attrNameLst>
                                      </p:cBhvr>
                                      <p:tavLst>
                                        <p:tav tm="0">
                                          <p:val>
                                            <p:strVal val="0"/>
                                          </p:val>
                                        </p:tav>
                                        <p:tav tm="100000">
                                          <p:val>
                                            <p:strVal val="#ppt_w"/>
                                          </p:val>
                                        </p:tav>
                                      </p:tavLst>
                                    </p:anim>
                                    <p:anim calcmode="lin" valueType="num">
                                      <p:cBhvr additive="base">
                                        <p:cTn id="168" dur="550" fill="hold"/>
                                        <p:tgtEl>
                                          <p:spTgt spid="36"/>
                                        </p:tgtEl>
                                        <p:attrNameLst>
                                          <p:attrName>ppt_h</p:attrName>
                                        </p:attrNameLst>
                                      </p:cBhvr>
                                      <p:tavLst>
                                        <p:tav tm="0">
                                          <p:val>
                                            <p:strVal val="0"/>
                                          </p:val>
                                        </p:tav>
                                        <p:tav tm="100000">
                                          <p:val>
                                            <p:strVal val="#ppt_h"/>
                                          </p:val>
                                        </p:tav>
                                      </p:tavLst>
                                    </p:anim>
                                  </p:childTnLst>
                                </p:cTn>
                              </p:par>
                            </p:childTnLst>
                          </p:cTn>
                        </p:par>
                        <p:par>
                          <p:cTn id="169" fill="hold">
                            <p:stCondLst>
                              <p:cond delay="1540"/>
                            </p:stCondLst>
                            <p:childTnLst>
                              <p:par>
                                <p:cTn id="170" presetID="42" presetClass="entr" presetSubtype="0" fill="hold" grpId="0" nodeType="afterEffect">
                                  <p:stCondLst>
                                    <p:cond delay="0"/>
                                  </p:stCondLst>
                                  <p:childTnLst>
                                    <p:set>
                                      <p:cBhvr>
                                        <p:cTn id="171" dur="1" fill="hold">
                                          <p:stCondLst>
                                            <p:cond delay="0"/>
                                          </p:stCondLst>
                                        </p:cTn>
                                        <p:tgtEl>
                                          <p:spTgt spid="37"/>
                                        </p:tgtEl>
                                        <p:attrNameLst>
                                          <p:attrName>style.visibility</p:attrName>
                                        </p:attrNameLst>
                                      </p:cBhvr>
                                      <p:to>
                                        <p:strVal val="visible"/>
                                      </p:to>
                                    </p:set>
                                    <p:animEffect transition="in" filter="fade">
                                      <p:cBhvr>
                                        <p:cTn id="172" dur="550"/>
                                        <p:tgtEl>
                                          <p:spTgt spid="37"/>
                                        </p:tgtEl>
                                      </p:cBhvr>
                                    </p:animEffect>
                                    <p:anim calcmode="lin" valueType="num">
                                      <p:cBhvr additive="base">
                                        <p:cTn id="173" dur="550" fill="hold"/>
                                        <p:tgtEl>
                                          <p:spTgt spid="37"/>
                                        </p:tgtEl>
                                        <p:attrNameLst>
                                          <p:attrName>ppt_x</p:attrName>
                                        </p:attrNameLst>
                                      </p:cBhvr>
                                      <p:tavLst>
                                        <p:tav tm="0">
                                          <p:val>
                                            <p:strVal val="#ppt_x"/>
                                          </p:val>
                                        </p:tav>
                                        <p:tav tm="100000">
                                          <p:val>
                                            <p:strVal val="#ppt_x"/>
                                          </p:val>
                                        </p:tav>
                                      </p:tavLst>
                                    </p:anim>
                                    <p:anim calcmode="lin" valueType="num">
                                      <p:cBhvr additive="base">
                                        <p:cTn id="174" dur="550" fill="hold"/>
                                        <p:tgtEl>
                                          <p:spTgt spid="37"/>
                                        </p:tgtEl>
                                        <p:attrNameLst>
                                          <p:attrName>ppt_y</p:attrName>
                                        </p:attrNameLst>
                                      </p:cBhvr>
                                      <p:tavLst>
                                        <p:tav tm="0">
                                          <p:val>
                                            <p:strVal val="#ppt_y+.08"/>
                                          </p:val>
                                        </p:tav>
                                        <p:tav tm="100000">
                                          <p:val>
                                            <p:strVal val="#ppt_y"/>
                                          </p:val>
                                        </p:tav>
                                      </p:tavLst>
                                    </p:anim>
                                  </p:childTnLst>
                                </p:cTn>
                              </p:par>
                            </p:childTnLst>
                          </p:cTn>
                        </p:par>
                        <p:par>
                          <p:cTn id="175" fill="hold">
                            <p:stCondLst>
                              <p:cond delay="1760"/>
                            </p:stCondLst>
                            <p:childTnLst>
                              <p:par>
                                <p:cTn id="176" presetID="42" presetClass="entr" presetSubtype="0" fill="hold" grpId="0" nodeType="afterEffect">
                                  <p:stCondLst>
                                    <p:cond delay="0"/>
                                  </p:stCondLst>
                                  <p:childTnLst>
                                    <p:set>
                                      <p:cBhvr>
                                        <p:cTn id="177" dur="1" fill="hold">
                                          <p:stCondLst>
                                            <p:cond delay="0"/>
                                          </p:stCondLst>
                                        </p:cTn>
                                        <p:tgtEl>
                                          <p:spTgt spid="38"/>
                                        </p:tgtEl>
                                        <p:attrNameLst>
                                          <p:attrName>style.visibility</p:attrName>
                                        </p:attrNameLst>
                                      </p:cBhvr>
                                      <p:to>
                                        <p:strVal val="visible"/>
                                      </p:to>
                                    </p:set>
                                    <p:animEffect transition="in" filter="fade">
                                      <p:cBhvr>
                                        <p:cTn id="178" dur="550"/>
                                        <p:tgtEl>
                                          <p:spTgt spid="38"/>
                                        </p:tgtEl>
                                      </p:cBhvr>
                                    </p:animEffect>
                                    <p:anim calcmode="lin" valueType="num">
                                      <p:cBhvr additive="base">
                                        <p:cTn id="179" dur="550" fill="hold"/>
                                        <p:tgtEl>
                                          <p:spTgt spid="38"/>
                                        </p:tgtEl>
                                        <p:attrNameLst>
                                          <p:attrName>ppt_x</p:attrName>
                                        </p:attrNameLst>
                                      </p:cBhvr>
                                      <p:tavLst>
                                        <p:tav tm="0">
                                          <p:val>
                                            <p:strVal val="#ppt_x"/>
                                          </p:val>
                                        </p:tav>
                                        <p:tav tm="100000">
                                          <p:val>
                                            <p:strVal val="#ppt_x"/>
                                          </p:val>
                                        </p:tav>
                                      </p:tavLst>
                                    </p:anim>
                                    <p:anim calcmode="lin" valueType="num">
                                      <p:cBhvr additive="base">
                                        <p:cTn id="180" dur="550" fill="hold"/>
                                        <p:tgtEl>
                                          <p:spTgt spid="38"/>
                                        </p:tgtEl>
                                        <p:attrNameLst>
                                          <p:attrName>ppt_y</p:attrName>
                                        </p:attrNameLst>
                                      </p:cBhvr>
                                      <p:tavLst>
                                        <p:tav tm="0">
                                          <p:val>
                                            <p:strVal val="#ppt_y+.08"/>
                                          </p:val>
                                        </p:tav>
                                        <p:tav tm="100000">
                                          <p:val>
                                            <p:strVal val="#ppt_y"/>
                                          </p:val>
                                        </p:tav>
                                      </p:tavLst>
                                    </p:anim>
                                  </p:childTnLst>
                                </p:cTn>
                              </p:par>
                            </p:childTnLst>
                          </p:cTn>
                        </p:par>
                        <p:par>
                          <p:cTn id="181" fill="hold">
                            <p:stCondLst>
                              <p:cond delay="1760"/>
                            </p:stCondLst>
                            <p:childTnLst>
                              <p:par>
                                <p:cTn id="182" presetID="42" presetClass="entr" presetSubtype="0" fill="hold" grpId="0" nodeType="afterEffect">
                                  <p:stCondLst>
                                    <p:cond delay="0"/>
                                  </p:stCondLst>
                                  <p:childTnLst>
                                    <p:set>
                                      <p:cBhvr>
                                        <p:cTn id="183" dur="1" fill="hold">
                                          <p:stCondLst>
                                            <p:cond delay="0"/>
                                          </p:stCondLst>
                                        </p:cTn>
                                        <p:tgtEl>
                                          <p:spTgt spid="39"/>
                                        </p:tgtEl>
                                        <p:attrNameLst>
                                          <p:attrName>style.visibility</p:attrName>
                                        </p:attrNameLst>
                                      </p:cBhvr>
                                      <p:to>
                                        <p:strVal val="visible"/>
                                      </p:to>
                                    </p:set>
                                    <p:animEffect transition="in" filter="fade">
                                      <p:cBhvr>
                                        <p:cTn id="184" dur="550"/>
                                        <p:tgtEl>
                                          <p:spTgt spid="39"/>
                                        </p:tgtEl>
                                      </p:cBhvr>
                                    </p:animEffect>
                                    <p:anim calcmode="lin" valueType="num">
                                      <p:cBhvr additive="base">
                                        <p:cTn id="185" dur="550" fill="hold"/>
                                        <p:tgtEl>
                                          <p:spTgt spid="39"/>
                                        </p:tgtEl>
                                        <p:attrNameLst>
                                          <p:attrName>ppt_x</p:attrName>
                                        </p:attrNameLst>
                                      </p:cBhvr>
                                      <p:tavLst>
                                        <p:tav tm="0">
                                          <p:val>
                                            <p:strVal val="#ppt_x"/>
                                          </p:val>
                                        </p:tav>
                                        <p:tav tm="100000">
                                          <p:val>
                                            <p:strVal val="#ppt_x"/>
                                          </p:val>
                                        </p:tav>
                                      </p:tavLst>
                                    </p:anim>
                                    <p:anim calcmode="lin" valueType="num">
                                      <p:cBhvr additive="base">
                                        <p:cTn id="186" dur="550" fill="hold"/>
                                        <p:tgtEl>
                                          <p:spTgt spid="39"/>
                                        </p:tgtEl>
                                        <p:attrNameLst>
                                          <p:attrName>ppt_y</p:attrName>
                                        </p:attrNameLst>
                                      </p:cBhvr>
                                      <p:tavLst>
                                        <p:tav tm="0">
                                          <p:val>
                                            <p:strVal val="#ppt_y+.08"/>
                                          </p:val>
                                        </p:tav>
                                        <p:tav tm="100000">
                                          <p:val>
                                            <p:strVal val="#ppt_y"/>
                                          </p:val>
                                        </p:tav>
                                      </p:tavLst>
                                    </p:anim>
                                  </p:childTnLst>
                                </p:cTn>
                              </p:par>
                            </p:childTnLst>
                          </p:cTn>
                        </p:par>
                        <p:par>
                          <p:cTn id="187" fill="hold">
                            <p:stCondLst>
                              <p:cond delay="1760"/>
                            </p:stCondLst>
                            <p:childTnLst>
                              <p:par>
                                <p:cTn id="188" presetID="53" presetClass="entr" presetSubtype="16" fill="hold" grpId="0" nodeType="afterEffect">
                                  <p:stCondLst>
                                    <p:cond delay="0"/>
                                  </p:stCondLst>
                                  <p:childTnLst>
                                    <p:set>
                                      <p:cBhvr>
                                        <p:cTn id="189" dur="1" fill="hold">
                                          <p:stCondLst>
                                            <p:cond delay="0"/>
                                          </p:stCondLst>
                                        </p:cTn>
                                        <p:tgtEl>
                                          <p:spTgt spid="40"/>
                                        </p:tgtEl>
                                        <p:attrNameLst>
                                          <p:attrName>style.visibility</p:attrName>
                                        </p:attrNameLst>
                                      </p:cBhvr>
                                      <p:to>
                                        <p:strVal val="visible"/>
                                      </p:to>
                                    </p:set>
                                    <p:animEffect transition="in" filter="fade">
                                      <p:cBhvr>
                                        <p:cTn id="190" dur="550"/>
                                        <p:tgtEl>
                                          <p:spTgt spid="40"/>
                                        </p:tgtEl>
                                      </p:cBhvr>
                                    </p:animEffect>
                                    <p:anim calcmode="lin" valueType="num">
                                      <p:cBhvr additive="base">
                                        <p:cTn id="191" dur="550" fill="hold"/>
                                        <p:tgtEl>
                                          <p:spTgt spid="40"/>
                                        </p:tgtEl>
                                        <p:attrNameLst>
                                          <p:attrName>ppt_w</p:attrName>
                                        </p:attrNameLst>
                                      </p:cBhvr>
                                      <p:tavLst>
                                        <p:tav tm="0">
                                          <p:val>
                                            <p:strVal val="0"/>
                                          </p:val>
                                        </p:tav>
                                        <p:tav tm="100000">
                                          <p:val>
                                            <p:strVal val="#ppt_w"/>
                                          </p:val>
                                        </p:tav>
                                      </p:tavLst>
                                    </p:anim>
                                    <p:anim calcmode="lin" valueType="num">
                                      <p:cBhvr additive="base">
                                        <p:cTn id="192" dur="550" fill="hold"/>
                                        <p:tgtEl>
                                          <p:spTgt spid="40"/>
                                        </p:tgtEl>
                                        <p:attrNameLst>
                                          <p:attrName>ppt_h</p:attrName>
                                        </p:attrNameLst>
                                      </p:cBhvr>
                                      <p:tavLst>
                                        <p:tav tm="0">
                                          <p:val>
                                            <p:strVal val="0"/>
                                          </p:val>
                                        </p:tav>
                                        <p:tav tm="100000">
                                          <p:val>
                                            <p:strVal val="#ppt_h"/>
                                          </p:val>
                                        </p:tav>
                                      </p:tavLst>
                                    </p:anim>
                                  </p:childTnLst>
                                </p:cTn>
                              </p:par>
                            </p:childTnLst>
                          </p:cTn>
                        </p:par>
                        <p:par>
                          <p:cTn id="193" fill="hold">
                            <p:stCondLst>
                              <p:cond delay="1760"/>
                            </p:stCondLst>
                            <p:childTnLst>
                              <p:par>
                                <p:cTn id="194" presetID="42" presetClass="entr" presetSubtype="0" fill="hold" grpId="0" nodeType="afterEffect">
                                  <p:stCondLst>
                                    <p:cond delay="0"/>
                                  </p:stCondLst>
                                  <p:childTnLst>
                                    <p:set>
                                      <p:cBhvr>
                                        <p:cTn id="195" dur="1" fill="hold">
                                          <p:stCondLst>
                                            <p:cond delay="0"/>
                                          </p:stCondLst>
                                        </p:cTn>
                                        <p:tgtEl>
                                          <p:spTgt spid="41"/>
                                        </p:tgtEl>
                                        <p:attrNameLst>
                                          <p:attrName>style.visibility</p:attrName>
                                        </p:attrNameLst>
                                      </p:cBhvr>
                                      <p:to>
                                        <p:strVal val="visible"/>
                                      </p:to>
                                    </p:set>
                                    <p:animEffect transition="in" filter="fade">
                                      <p:cBhvr>
                                        <p:cTn id="196" dur="550"/>
                                        <p:tgtEl>
                                          <p:spTgt spid="41"/>
                                        </p:tgtEl>
                                      </p:cBhvr>
                                    </p:animEffect>
                                    <p:anim calcmode="lin" valueType="num">
                                      <p:cBhvr additive="base">
                                        <p:cTn id="197" dur="550" fill="hold"/>
                                        <p:tgtEl>
                                          <p:spTgt spid="41"/>
                                        </p:tgtEl>
                                        <p:attrNameLst>
                                          <p:attrName>ppt_x</p:attrName>
                                        </p:attrNameLst>
                                      </p:cBhvr>
                                      <p:tavLst>
                                        <p:tav tm="0">
                                          <p:val>
                                            <p:strVal val="#ppt_x"/>
                                          </p:val>
                                        </p:tav>
                                        <p:tav tm="100000">
                                          <p:val>
                                            <p:strVal val="#ppt_x"/>
                                          </p:val>
                                        </p:tav>
                                      </p:tavLst>
                                    </p:anim>
                                    <p:anim calcmode="lin" valueType="num">
                                      <p:cBhvr additive="base">
                                        <p:cTn id="198" dur="550" fill="hold"/>
                                        <p:tgtEl>
                                          <p:spTgt spid="41"/>
                                        </p:tgtEl>
                                        <p:attrNameLst>
                                          <p:attrName>ppt_y</p:attrName>
                                        </p:attrNameLst>
                                      </p:cBhvr>
                                      <p:tavLst>
                                        <p:tav tm="0">
                                          <p:val>
                                            <p:strVal val="#ppt_y+.08"/>
                                          </p:val>
                                        </p:tav>
                                        <p:tav tm="100000">
                                          <p:val>
                                            <p:strVal val="#ppt_y"/>
                                          </p:val>
                                        </p:tav>
                                      </p:tavLst>
                                    </p:anim>
                                  </p:childTnLst>
                                </p:cTn>
                              </p:par>
                            </p:childTnLst>
                          </p:cTn>
                        </p:par>
                        <p:par>
                          <p:cTn id="199" fill="hold">
                            <p:stCondLst>
                              <p:cond delay="1980"/>
                            </p:stCondLst>
                            <p:childTnLst>
                              <p:par>
                                <p:cTn id="200" presetID="42" presetClass="entr" presetSubtype="0" fill="hold" grpId="0" nodeType="afterEffect">
                                  <p:stCondLst>
                                    <p:cond delay="0"/>
                                  </p:stCondLst>
                                  <p:childTnLst>
                                    <p:set>
                                      <p:cBhvr>
                                        <p:cTn id="201" dur="1" fill="hold">
                                          <p:stCondLst>
                                            <p:cond delay="0"/>
                                          </p:stCondLst>
                                        </p:cTn>
                                        <p:tgtEl>
                                          <p:spTgt spid="42"/>
                                        </p:tgtEl>
                                        <p:attrNameLst>
                                          <p:attrName>style.visibility</p:attrName>
                                        </p:attrNameLst>
                                      </p:cBhvr>
                                      <p:to>
                                        <p:strVal val="visible"/>
                                      </p:to>
                                    </p:set>
                                    <p:animEffect transition="in" filter="fade">
                                      <p:cBhvr>
                                        <p:cTn id="202" dur="550"/>
                                        <p:tgtEl>
                                          <p:spTgt spid="42"/>
                                        </p:tgtEl>
                                      </p:cBhvr>
                                    </p:animEffect>
                                    <p:anim calcmode="lin" valueType="num">
                                      <p:cBhvr additive="base">
                                        <p:cTn id="203" dur="550" fill="hold"/>
                                        <p:tgtEl>
                                          <p:spTgt spid="42"/>
                                        </p:tgtEl>
                                        <p:attrNameLst>
                                          <p:attrName>ppt_x</p:attrName>
                                        </p:attrNameLst>
                                      </p:cBhvr>
                                      <p:tavLst>
                                        <p:tav tm="0">
                                          <p:val>
                                            <p:strVal val="#ppt_x"/>
                                          </p:val>
                                        </p:tav>
                                        <p:tav tm="100000">
                                          <p:val>
                                            <p:strVal val="#ppt_x"/>
                                          </p:val>
                                        </p:tav>
                                      </p:tavLst>
                                    </p:anim>
                                    <p:anim calcmode="lin" valueType="num">
                                      <p:cBhvr additive="base">
                                        <p:cTn id="204" dur="550" fill="hold"/>
                                        <p:tgtEl>
                                          <p:spTgt spid="42"/>
                                        </p:tgtEl>
                                        <p:attrNameLst>
                                          <p:attrName>ppt_y</p:attrName>
                                        </p:attrNameLst>
                                      </p:cBhvr>
                                      <p:tavLst>
                                        <p:tav tm="0">
                                          <p:val>
                                            <p:strVal val="#ppt_y+.08"/>
                                          </p:val>
                                        </p:tav>
                                        <p:tav tm="100000">
                                          <p:val>
                                            <p:strVal val="#ppt_y"/>
                                          </p:val>
                                        </p:tav>
                                      </p:tavLst>
                                    </p:anim>
                                  </p:childTnLst>
                                </p:cTn>
                              </p:par>
                            </p:childTnLst>
                          </p:cTn>
                        </p:par>
                        <p:par>
                          <p:cTn id="205" fill="hold">
                            <p:stCondLst>
                              <p:cond delay="1980"/>
                            </p:stCondLst>
                            <p:childTnLst>
                              <p:par>
                                <p:cTn id="206" presetID="42" presetClass="entr" presetSubtype="0" fill="hold" grpId="0" nodeType="afterEffect">
                                  <p:stCondLst>
                                    <p:cond delay="0"/>
                                  </p:stCondLst>
                                  <p:childTnLst>
                                    <p:set>
                                      <p:cBhvr>
                                        <p:cTn id="207" dur="1" fill="hold">
                                          <p:stCondLst>
                                            <p:cond delay="0"/>
                                          </p:stCondLst>
                                        </p:cTn>
                                        <p:tgtEl>
                                          <p:spTgt spid="43"/>
                                        </p:tgtEl>
                                        <p:attrNameLst>
                                          <p:attrName>style.visibility</p:attrName>
                                        </p:attrNameLst>
                                      </p:cBhvr>
                                      <p:to>
                                        <p:strVal val="visible"/>
                                      </p:to>
                                    </p:set>
                                    <p:animEffect transition="in" filter="fade">
                                      <p:cBhvr>
                                        <p:cTn id="208" dur="550"/>
                                        <p:tgtEl>
                                          <p:spTgt spid="43"/>
                                        </p:tgtEl>
                                      </p:cBhvr>
                                    </p:animEffect>
                                    <p:anim calcmode="lin" valueType="num">
                                      <p:cBhvr additive="base">
                                        <p:cTn id="209" dur="550" fill="hold"/>
                                        <p:tgtEl>
                                          <p:spTgt spid="43"/>
                                        </p:tgtEl>
                                        <p:attrNameLst>
                                          <p:attrName>ppt_x</p:attrName>
                                        </p:attrNameLst>
                                      </p:cBhvr>
                                      <p:tavLst>
                                        <p:tav tm="0">
                                          <p:val>
                                            <p:strVal val="#ppt_x"/>
                                          </p:val>
                                        </p:tav>
                                        <p:tav tm="100000">
                                          <p:val>
                                            <p:strVal val="#ppt_x"/>
                                          </p:val>
                                        </p:tav>
                                      </p:tavLst>
                                    </p:anim>
                                    <p:anim calcmode="lin" valueType="num">
                                      <p:cBhvr additive="base">
                                        <p:cTn id="210" dur="550" fill="hold"/>
                                        <p:tgtEl>
                                          <p:spTgt spid="43"/>
                                        </p:tgtEl>
                                        <p:attrNameLst>
                                          <p:attrName>ppt_y</p:attrName>
                                        </p:attrNameLst>
                                      </p:cBhvr>
                                      <p:tavLst>
                                        <p:tav tm="0">
                                          <p:val>
                                            <p:strVal val="#ppt_y+.08"/>
                                          </p:val>
                                        </p:tav>
                                        <p:tav tm="100000">
                                          <p:val>
                                            <p:strVal val="#ppt_y"/>
                                          </p:val>
                                        </p:tav>
                                      </p:tavLst>
                                    </p:anim>
                                  </p:childTnLst>
                                </p:cTn>
                              </p:par>
                            </p:childTnLst>
                          </p:cTn>
                        </p:par>
                        <p:par>
                          <p:cTn id="211" fill="hold">
                            <p:stCondLst>
                              <p:cond delay="1980"/>
                            </p:stCondLst>
                            <p:childTnLst>
                              <p:par>
                                <p:cTn id="212" presetID="53" presetClass="entr" presetSubtype="16" fill="hold" grpId="0" nodeType="afterEffect">
                                  <p:stCondLst>
                                    <p:cond delay="0"/>
                                  </p:stCondLst>
                                  <p:childTnLst>
                                    <p:set>
                                      <p:cBhvr>
                                        <p:cTn id="213" dur="1" fill="hold">
                                          <p:stCondLst>
                                            <p:cond delay="0"/>
                                          </p:stCondLst>
                                        </p:cTn>
                                        <p:tgtEl>
                                          <p:spTgt spid="44"/>
                                        </p:tgtEl>
                                        <p:attrNameLst>
                                          <p:attrName>style.visibility</p:attrName>
                                        </p:attrNameLst>
                                      </p:cBhvr>
                                      <p:to>
                                        <p:strVal val="visible"/>
                                      </p:to>
                                    </p:set>
                                    <p:animEffect transition="in" filter="fade">
                                      <p:cBhvr>
                                        <p:cTn id="214" dur="550"/>
                                        <p:tgtEl>
                                          <p:spTgt spid="44"/>
                                        </p:tgtEl>
                                      </p:cBhvr>
                                    </p:animEffect>
                                    <p:anim calcmode="lin" valueType="num">
                                      <p:cBhvr additive="base">
                                        <p:cTn id="215" dur="550" fill="hold"/>
                                        <p:tgtEl>
                                          <p:spTgt spid="44"/>
                                        </p:tgtEl>
                                        <p:attrNameLst>
                                          <p:attrName>ppt_w</p:attrName>
                                        </p:attrNameLst>
                                      </p:cBhvr>
                                      <p:tavLst>
                                        <p:tav tm="0">
                                          <p:val>
                                            <p:strVal val="0"/>
                                          </p:val>
                                        </p:tav>
                                        <p:tav tm="100000">
                                          <p:val>
                                            <p:strVal val="#ppt_w"/>
                                          </p:val>
                                        </p:tav>
                                      </p:tavLst>
                                    </p:anim>
                                    <p:anim calcmode="lin" valueType="num">
                                      <p:cBhvr additive="base">
                                        <p:cTn id="216" dur="550" fill="hold"/>
                                        <p:tgtEl>
                                          <p:spTgt spid="44"/>
                                        </p:tgtEl>
                                        <p:attrNameLst>
                                          <p:attrName>ppt_h</p:attrName>
                                        </p:attrNameLst>
                                      </p:cBhvr>
                                      <p:tavLst>
                                        <p:tav tm="0">
                                          <p:val>
                                            <p:strVal val="0"/>
                                          </p:val>
                                        </p:tav>
                                        <p:tav tm="100000">
                                          <p:val>
                                            <p:strVal val="#ppt_h"/>
                                          </p:val>
                                        </p:tav>
                                      </p:tavLst>
                                    </p:anim>
                                  </p:childTnLst>
                                </p:cTn>
                              </p:par>
                            </p:childTnLst>
                          </p:cTn>
                        </p:par>
                        <p:par>
                          <p:cTn id="217" fill="hold">
                            <p:stCondLst>
                              <p:cond delay="1980"/>
                            </p:stCondLst>
                            <p:childTnLst>
                              <p:par>
                                <p:cTn id="218" presetID="42" presetClass="entr" presetSubtype="0" fill="hold" grpId="0" nodeType="afterEffect">
                                  <p:stCondLst>
                                    <p:cond delay="0"/>
                                  </p:stCondLst>
                                  <p:childTnLst>
                                    <p:set>
                                      <p:cBhvr>
                                        <p:cTn id="219" dur="1" fill="hold">
                                          <p:stCondLst>
                                            <p:cond delay="0"/>
                                          </p:stCondLst>
                                        </p:cTn>
                                        <p:tgtEl>
                                          <p:spTgt spid="45"/>
                                        </p:tgtEl>
                                        <p:attrNameLst>
                                          <p:attrName>style.visibility</p:attrName>
                                        </p:attrNameLst>
                                      </p:cBhvr>
                                      <p:to>
                                        <p:strVal val="visible"/>
                                      </p:to>
                                    </p:set>
                                    <p:animEffect transition="in" filter="fade">
                                      <p:cBhvr>
                                        <p:cTn id="220" dur="550"/>
                                        <p:tgtEl>
                                          <p:spTgt spid="45"/>
                                        </p:tgtEl>
                                      </p:cBhvr>
                                    </p:animEffect>
                                    <p:anim calcmode="lin" valueType="num">
                                      <p:cBhvr additive="base">
                                        <p:cTn id="221" dur="550" fill="hold"/>
                                        <p:tgtEl>
                                          <p:spTgt spid="45"/>
                                        </p:tgtEl>
                                        <p:attrNameLst>
                                          <p:attrName>ppt_x</p:attrName>
                                        </p:attrNameLst>
                                      </p:cBhvr>
                                      <p:tavLst>
                                        <p:tav tm="0">
                                          <p:val>
                                            <p:strVal val="#ppt_x"/>
                                          </p:val>
                                        </p:tav>
                                        <p:tav tm="100000">
                                          <p:val>
                                            <p:strVal val="#ppt_x"/>
                                          </p:val>
                                        </p:tav>
                                      </p:tavLst>
                                    </p:anim>
                                    <p:anim calcmode="lin" valueType="num">
                                      <p:cBhvr additive="base">
                                        <p:cTn id="222" dur="550" fill="hold"/>
                                        <p:tgtEl>
                                          <p:spTgt spid="45"/>
                                        </p:tgtEl>
                                        <p:attrNameLst>
                                          <p:attrName>ppt_y</p:attrName>
                                        </p:attrNameLst>
                                      </p:cBhvr>
                                      <p:tavLst>
                                        <p:tav tm="0">
                                          <p:val>
                                            <p:strVal val="#ppt_y+.08"/>
                                          </p:val>
                                        </p:tav>
                                        <p:tav tm="100000">
                                          <p:val>
                                            <p:strVal val="#ppt_y"/>
                                          </p:val>
                                        </p:tav>
                                      </p:tavLst>
                                    </p:anim>
                                  </p:childTnLst>
                                </p:cTn>
                              </p:par>
                            </p:childTnLst>
                          </p:cTn>
                        </p:par>
                        <p:par>
                          <p:cTn id="223" fill="hold">
                            <p:stCondLst>
                              <p:cond delay="2200"/>
                            </p:stCondLst>
                            <p:childTnLst>
                              <p:par>
                                <p:cTn id="224" presetID="42" presetClass="entr" presetSubtype="0" fill="hold" grpId="0" nodeType="afterEffect">
                                  <p:stCondLst>
                                    <p:cond delay="0"/>
                                  </p:stCondLst>
                                  <p:childTnLst>
                                    <p:set>
                                      <p:cBhvr>
                                        <p:cTn id="225" dur="1" fill="hold">
                                          <p:stCondLst>
                                            <p:cond delay="0"/>
                                          </p:stCondLst>
                                        </p:cTn>
                                        <p:tgtEl>
                                          <p:spTgt spid="46"/>
                                        </p:tgtEl>
                                        <p:attrNameLst>
                                          <p:attrName>style.visibility</p:attrName>
                                        </p:attrNameLst>
                                      </p:cBhvr>
                                      <p:to>
                                        <p:strVal val="visible"/>
                                      </p:to>
                                    </p:set>
                                    <p:animEffect transition="in" filter="fade">
                                      <p:cBhvr>
                                        <p:cTn id="226" dur="550"/>
                                        <p:tgtEl>
                                          <p:spTgt spid="46"/>
                                        </p:tgtEl>
                                      </p:cBhvr>
                                    </p:animEffect>
                                    <p:anim calcmode="lin" valueType="num">
                                      <p:cBhvr additive="base">
                                        <p:cTn id="227" dur="550" fill="hold"/>
                                        <p:tgtEl>
                                          <p:spTgt spid="46"/>
                                        </p:tgtEl>
                                        <p:attrNameLst>
                                          <p:attrName>ppt_x</p:attrName>
                                        </p:attrNameLst>
                                      </p:cBhvr>
                                      <p:tavLst>
                                        <p:tav tm="0">
                                          <p:val>
                                            <p:strVal val="#ppt_x"/>
                                          </p:val>
                                        </p:tav>
                                        <p:tav tm="100000">
                                          <p:val>
                                            <p:strVal val="#ppt_x"/>
                                          </p:val>
                                        </p:tav>
                                      </p:tavLst>
                                    </p:anim>
                                    <p:anim calcmode="lin" valueType="num">
                                      <p:cBhvr additive="base">
                                        <p:cTn id="228" dur="550" fill="hold"/>
                                        <p:tgtEl>
                                          <p:spTgt spid="46"/>
                                        </p:tgtEl>
                                        <p:attrNameLst>
                                          <p:attrName>ppt_y</p:attrName>
                                        </p:attrNameLst>
                                      </p:cBhvr>
                                      <p:tavLst>
                                        <p:tav tm="0">
                                          <p:val>
                                            <p:strVal val="#ppt_y+.08"/>
                                          </p:val>
                                        </p:tav>
                                        <p:tav tm="100000">
                                          <p:val>
                                            <p:strVal val="#ppt_y"/>
                                          </p:val>
                                        </p:tav>
                                      </p:tavLst>
                                    </p:anim>
                                  </p:childTnLst>
                                </p:cTn>
                              </p:par>
                            </p:childTnLst>
                          </p:cTn>
                        </p:par>
                        <p:par>
                          <p:cTn id="229" fill="hold">
                            <p:stCondLst>
                              <p:cond delay="2200"/>
                            </p:stCondLst>
                            <p:childTnLst>
                              <p:par>
                                <p:cTn id="230" presetID="42" presetClass="entr" presetSubtype="0" fill="hold" grpId="0" nodeType="afterEffect">
                                  <p:stCondLst>
                                    <p:cond delay="0"/>
                                  </p:stCondLst>
                                  <p:childTnLst>
                                    <p:set>
                                      <p:cBhvr>
                                        <p:cTn id="231" dur="1" fill="hold">
                                          <p:stCondLst>
                                            <p:cond delay="0"/>
                                          </p:stCondLst>
                                        </p:cTn>
                                        <p:tgtEl>
                                          <p:spTgt spid="47"/>
                                        </p:tgtEl>
                                        <p:attrNameLst>
                                          <p:attrName>style.visibility</p:attrName>
                                        </p:attrNameLst>
                                      </p:cBhvr>
                                      <p:to>
                                        <p:strVal val="visible"/>
                                      </p:to>
                                    </p:set>
                                    <p:animEffect transition="in" filter="fade">
                                      <p:cBhvr>
                                        <p:cTn id="232" dur="550"/>
                                        <p:tgtEl>
                                          <p:spTgt spid="47"/>
                                        </p:tgtEl>
                                      </p:cBhvr>
                                    </p:animEffect>
                                    <p:anim calcmode="lin" valueType="num">
                                      <p:cBhvr additive="base">
                                        <p:cTn id="233" dur="550" fill="hold"/>
                                        <p:tgtEl>
                                          <p:spTgt spid="47"/>
                                        </p:tgtEl>
                                        <p:attrNameLst>
                                          <p:attrName>ppt_x</p:attrName>
                                        </p:attrNameLst>
                                      </p:cBhvr>
                                      <p:tavLst>
                                        <p:tav tm="0">
                                          <p:val>
                                            <p:strVal val="#ppt_x"/>
                                          </p:val>
                                        </p:tav>
                                        <p:tav tm="100000">
                                          <p:val>
                                            <p:strVal val="#ppt_x"/>
                                          </p:val>
                                        </p:tav>
                                      </p:tavLst>
                                    </p:anim>
                                    <p:anim calcmode="lin" valueType="num">
                                      <p:cBhvr additive="base">
                                        <p:cTn id="234" dur="550" fill="hold"/>
                                        <p:tgtEl>
                                          <p:spTgt spid="47"/>
                                        </p:tgtEl>
                                        <p:attrNameLst>
                                          <p:attrName>ppt_y</p:attrName>
                                        </p:attrNameLst>
                                      </p:cBhvr>
                                      <p:tavLst>
                                        <p:tav tm="0">
                                          <p:val>
                                            <p:strVal val="#ppt_y+.08"/>
                                          </p:val>
                                        </p:tav>
                                        <p:tav tm="100000">
                                          <p:val>
                                            <p:strVal val="#ppt_y"/>
                                          </p:val>
                                        </p:tav>
                                      </p:tavLst>
                                    </p:anim>
                                  </p:childTnLst>
                                </p:cTn>
                              </p:par>
                            </p:childTnLst>
                          </p:cTn>
                        </p:par>
                        <p:par>
                          <p:cTn id="235" fill="hold">
                            <p:stCondLst>
                              <p:cond delay="2200"/>
                            </p:stCondLst>
                            <p:childTnLst>
                              <p:par>
                                <p:cTn id="236" presetID="53" presetClass="entr" presetSubtype="16" fill="hold" grpId="0" nodeType="afterEffect">
                                  <p:stCondLst>
                                    <p:cond delay="0"/>
                                  </p:stCondLst>
                                  <p:childTnLst>
                                    <p:set>
                                      <p:cBhvr>
                                        <p:cTn id="237" dur="1" fill="hold">
                                          <p:stCondLst>
                                            <p:cond delay="0"/>
                                          </p:stCondLst>
                                        </p:cTn>
                                        <p:tgtEl>
                                          <p:spTgt spid="48"/>
                                        </p:tgtEl>
                                        <p:attrNameLst>
                                          <p:attrName>style.visibility</p:attrName>
                                        </p:attrNameLst>
                                      </p:cBhvr>
                                      <p:to>
                                        <p:strVal val="visible"/>
                                      </p:to>
                                    </p:set>
                                    <p:animEffect transition="in" filter="fade">
                                      <p:cBhvr>
                                        <p:cTn id="238" dur="550"/>
                                        <p:tgtEl>
                                          <p:spTgt spid="48"/>
                                        </p:tgtEl>
                                      </p:cBhvr>
                                    </p:animEffect>
                                    <p:anim calcmode="lin" valueType="num">
                                      <p:cBhvr additive="base">
                                        <p:cTn id="239" dur="550" fill="hold"/>
                                        <p:tgtEl>
                                          <p:spTgt spid="48"/>
                                        </p:tgtEl>
                                        <p:attrNameLst>
                                          <p:attrName>ppt_w</p:attrName>
                                        </p:attrNameLst>
                                      </p:cBhvr>
                                      <p:tavLst>
                                        <p:tav tm="0">
                                          <p:val>
                                            <p:strVal val="0"/>
                                          </p:val>
                                        </p:tav>
                                        <p:tav tm="100000">
                                          <p:val>
                                            <p:strVal val="#ppt_w"/>
                                          </p:val>
                                        </p:tav>
                                      </p:tavLst>
                                    </p:anim>
                                    <p:anim calcmode="lin" valueType="num">
                                      <p:cBhvr additive="base">
                                        <p:cTn id="240" dur="550" fill="hold"/>
                                        <p:tgtEl>
                                          <p:spTgt spid="48"/>
                                        </p:tgtEl>
                                        <p:attrNameLst>
                                          <p:attrName>ppt_h</p:attrName>
                                        </p:attrNameLst>
                                      </p:cBhvr>
                                      <p:tavLst>
                                        <p:tav tm="0">
                                          <p:val>
                                            <p:strVal val="0"/>
                                          </p:val>
                                        </p:tav>
                                        <p:tav tm="100000">
                                          <p:val>
                                            <p:strVal val="#ppt_h"/>
                                          </p:val>
                                        </p:tav>
                                      </p:tavLst>
                                    </p:anim>
                                  </p:childTnLst>
                                </p:cTn>
                              </p:par>
                            </p:childTnLst>
                          </p:cTn>
                        </p:par>
                        <p:par>
                          <p:cTn id="241" fill="hold">
                            <p:stCondLst>
                              <p:cond delay="2200"/>
                            </p:stCondLst>
                            <p:childTnLst>
                              <p:par>
                                <p:cTn id="242" presetID="42" presetClass="entr" presetSubtype="0" fill="hold" grpId="0" nodeType="afterEffect">
                                  <p:stCondLst>
                                    <p:cond delay="0"/>
                                  </p:stCondLst>
                                  <p:childTnLst>
                                    <p:set>
                                      <p:cBhvr>
                                        <p:cTn id="243" dur="1" fill="hold">
                                          <p:stCondLst>
                                            <p:cond delay="0"/>
                                          </p:stCondLst>
                                        </p:cTn>
                                        <p:tgtEl>
                                          <p:spTgt spid="49"/>
                                        </p:tgtEl>
                                        <p:attrNameLst>
                                          <p:attrName>style.visibility</p:attrName>
                                        </p:attrNameLst>
                                      </p:cBhvr>
                                      <p:to>
                                        <p:strVal val="visible"/>
                                      </p:to>
                                    </p:set>
                                    <p:animEffect transition="in" filter="fade">
                                      <p:cBhvr>
                                        <p:cTn id="244" dur="550"/>
                                        <p:tgtEl>
                                          <p:spTgt spid="49"/>
                                        </p:tgtEl>
                                      </p:cBhvr>
                                    </p:animEffect>
                                    <p:anim calcmode="lin" valueType="num">
                                      <p:cBhvr additive="base">
                                        <p:cTn id="245" dur="550" fill="hold"/>
                                        <p:tgtEl>
                                          <p:spTgt spid="49"/>
                                        </p:tgtEl>
                                        <p:attrNameLst>
                                          <p:attrName>ppt_x</p:attrName>
                                        </p:attrNameLst>
                                      </p:cBhvr>
                                      <p:tavLst>
                                        <p:tav tm="0">
                                          <p:val>
                                            <p:strVal val="#ppt_x"/>
                                          </p:val>
                                        </p:tav>
                                        <p:tav tm="100000">
                                          <p:val>
                                            <p:strVal val="#ppt_x"/>
                                          </p:val>
                                        </p:tav>
                                      </p:tavLst>
                                    </p:anim>
                                    <p:anim calcmode="lin" valueType="num">
                                      <p:cBhvr additive="base">
                                        <p:cTn id="246" dur="550" fill="hold"/>
                                        <p:tgtEl>
                                          <p:spTgt spid="49"/>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P spid="25" grpId="0" animBg="1"/>
      <p:bldP spid="26" grpId="0" animBg="1"/>
      <p:bldP spid="27" grpId="0" animBg="1"/>
      <p:bldP spid="28" grpId="0" animBg="1"/>
      <p:bldP spid="29" grpId="0" animBg="1"/>
      <p:bldP spid="30" grpId="0" animBg="1"/>
      <p:bldP spid="31" grpId="0" animBg="1"/>
      <p:bldP spid="32" grpId="0" animBg="1"/>
      <p:bldP spid="33" grpId="0" animBg="1"/>
      <p:bldP spid="34" grpId="0" animBg="1"/>
      <p:bldP spid="35" grpId="0" animBg="1"/>
      <p:bldP spid="36" grpId="0" animBg="1"/>
      <p:bldP spid="37" grpId="0" animBg="1"/>
      <p:bldP spid="38" grpId="0" animBg="1"/>
      <p:bldP spid="39" grpId="0" animBg="1"/>
      <p:bldP spid="40" grpId="0" animBg="1"/>
      <p:bldP spid="41" grpId="0" animBg="1"/>
      <p:bldP spid="42" grpId="0" animBg="1"/>
      <p:bldP spid="43" grpId="0" animBg="1"/>
      <p:bldP spid="44" grpId="0" animBg="1"/>
      <p:bldP spid="45" grpId="0" animBg="1"/>
      <p:bldP spid="46" grpId="0" animBg="1"/>
      <p:bldP spid="47" grpId="0" animBg="1"/>
      <p:bldP spid="48" grpId="0" animBg="1"/>
      <p:bldP spid="49" grpId="0" animBg="1"/>
    </p:bldLst>
  </p:timing>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162E4D"/>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900000" y="1700000"/>
            <a:ext cx="3000000" cy="3000000"/>
          </a:xfrm>
          <a:prstGeom prst="ellipse">
            <a:avLst/>
          </a:prstGeom>
          <a:noFill/>
          <a:ln w="76200">
            <a:solidFill>
              <a:srgbClr val="7FD6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00000" y="2350000"/>
            <a:ext cx="3000000" cy="1700000"/>
          </a:xfrm>
          <a:prstGeom prst="rect">
            <a:avLst/>
          </a:prstGeom>
          <a:noFill/>
        </p:spPr>
        <p:txBody>
          <a:bodyPr wrap="square" anchor="ctr" lIns="50800" rIns="50800">
            <a:spAutoFit/>
          </a:bodyPr>
          <a:lstStyle/>
          <a:p>
            <a:pPr algn="ctr"/>
            <a:r>
              <a:rPr sz="7200" b="1">
                <a:solidFill>
                  <a:srgbClr val="FFFFFF"/>
                </a:solidFill>
                <a:latin typeface="Calibri"/>
              </a:rPr>
              <a:t>01</a:t>
            </a:r>
          </a:p>
        </p:txBody>
      </p:sp>
      <p:sp>
        <p:nvSpPr>
          <p:cNvPr id="5" name="TextBox 4"/>
          <p:cNvSpPr txBox="1"/>
          <p:nvPr/>
        </p:nvSpPr>
        <p:spPr>
          <a:xfrm>
            <a:off x="4500000" y="2400000"/>
            <a:ext cx="7000000" cy="1600000"/>
          </a:xfrm>
          <a:prstGeom prst="rect">
            <a:avLst/>
          </a:prstGeom>
          <a:noFill/>
        </p:spPr>
        <p:txBody>
          <a:bodyPr wrap="square" anchor="ctr" lIns="50800" rIns="50800">
            <a:spAutoFit/>
          </a:bodyPr>
          <a:lstStyle/>
          <a:p>
            <a:pPr algn="l"/>
            <a:r>
              <a:rPr sz="3600" b="1">
                <a:solidFill>
                  <a:srgbClr val="FFFFFF"/>
                </a:solidFill>
                <a:latin typeface="Calibri"/>
              </a:rPr>
              <a:t>Mavzuning maqsadi va o'rganish natijalari</a:t>
            </a:r>
          </a:p>
        </p:txBody>
      </p:sp>
      <p:sp>
        <p:nvSpPr>
          <p:cNvPr id="6" name="Rectangle 5"/>
          <p:cNvSpPr/>
          <p:nvPr/>
        </p:nvSpPr>
        <p:spPr>
          <a:xfrm>
            <a:off x="4550000" y="4100000"/>
            <a:ext cx="2200000" cy="60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transition spd="med">
    <p:push dir="u"/>
  </p:transition>
  <p:timing>
    <p:tnLst>
      <p:par>
        <p:cTn id="1" dur="indefinite" restart="never" nodeType="tmRoot">
          <p:childTnLst>
            <p:seq concurrent="1" nextAc="seek">
              <p:cTn id="2" dur="indefinite" nodeType="mainSeq">
                <p:childTnLst>
                  <p:par>
                    <p:cTn id="26" fill="hold">
                      <p:stCondLst>
                        <p:cond delay="indefinite"/>
                        <p:cond evt="onBegin" delay="0">
                          <p:tn val="2"/>
                        </p:cond>
                      </p:stCondLst>
                      <p:childTnLst>
                        <p:par>
                          <p:cTn id="3" fill="hold">
                            <p:stCondLst>
                              <p:cond delay="0"/>
                            </p:stCondLst>
                            <p:childTnLst>
                              <p:par>
                                <p:cTn id="4" presetID="53" presetClass="entr" presetSubtype="16" fill="hold" grpId="0" nodeType="withEffect">
                                  <p:stCondLst>
                                    <p:cond delay="0"/>
                                  </p:stCondLst>
                                  <p:childTnLst>
                                    <p:set>
                                      <p:cBhvr>
                                        <p:cTn id="5" dur="1" fill="hold">
                                          <p:stCondLst>
                                            <p:cond delay="0"/>
                                          </p:stCondLst>
                                        </p:cTn>
                                        <p:tgtEl>
                                          <p:spTgt spid="3"/>
                                        </p:tgtEl>
                                        <p:attrNameLst>
                                          <p:attrName>style.visibility</p:attrName>
                                        </p:attrNameLst>
                                      </p:cBhvr>
                                      <p:to>
                                        <p:strVal val="visible"/>
                                      </p:to>
                                    </p:set>
                                    <p:animEffect transition="in" filter="fade">
                                      <p:cBhvr>
                                        <p:cTn id="6" dur="550"/>
                                        <p:tgtEl>
                                          <p:spTgt spid="3"/>
                                        </p:tgtEl>
                                      </p:cBhvr>
                                    </p:animEffect>
                                    <p:anim calcmode="lin" valueType="num">
                                      <p:cBhvr additive="base">
                                        <p:cTn id="7" dur="550" fill="hold"/>
                                        <p:tgtEl>
                                          <p:spTgt spid="3"/>
                                        </p:tgtEl>
                                        <p:attrNameLst>
                                          <p:attrName>ppt_w</p:attrName>
                                        </p:attrNameLst>
                                      </p:cBhvr>
                                      <p:tavLst>
                                        <p:tav tm="0">
                                          <p:val>
                                            <p:strVal val="0"/>
                                          </p:val>
                                        </p:tav>
                                        <p:tav tm="100000">
                                          <p:val>
                                            <p:strVal val="#ppt_w"/>
                                          </p:val>
                                        </p:tav>
                                      </p:tavLst>
                                    </p:anim>
                                    <p:anim calcmode="lin" valueType="num">
                                      <p:cBhvr additive="base">
                                        <p:cTn id="8" dur="550" fill="hold"/>
                                        <p:tgtEl>
                                          <p:spTgt spid="3"/>
                                        </p:tgtEl>
                                        <p:attrNameLst>
                                          <p:attrName>ppt_h</p:attrName>
                                        </p:attrNameLst>
                                      </p:cBhvr>
                                      <p:tavLst>
                                        <p:tav tm="0">
                                          <p:val>
                                            <p:strVal val="0"/>
                                          </p:val>
                                        </p:tav>
                                        <p:tav tm="100000">
                                          <p:val>
                                            <p:strVal val="#ppt_h"/>
                                          </p:val>
                                        </p:tav>
                                      </p:tavLst>
                                    </p:anim>
                                  </p:childTnLst>
                                </p:cTn>
                              </p:par>
                            </p:childTnLst>
                          </p:cTn>
                        </p:par>
                        <p:par>
                          <p:cTn id="9" fill="hold">
                            <p:stCondLst>
                              <p:cond delay="100"/>
                            </p:stCondLst>
                            <p:childTnLst>
                              <p:par>
                                <p:cTn id="10" presetID="53" presetClass="entr" presetSubtype="16" fill="hold" grpId="0" nodeType="afterEffect">
                                  <p:stCondLst>
                                    <p:cond delay="0"/>
                                  </p:stCondLst>
                                  <p:childTnLst>
                                    <p:set>
                                      <p:cBhvr>
                                        <p:cTn id="11" dur="1" fill="hold">
                                          <p:stCondLst>
                                            <p:cond delay="0"/>
                                          </p:stCondLst>
                                        </p:cTn>
                                        <p:tgtEl>
                                          <p:spTgt spid="4"/>
                                        </p:tgtEl>
                                        <p:attrNameLst>
                                          <p:attrName>style.visibility</p:attrName>
                                        </p:attrNameLst>
                                      </p:cBhvr>
                                      <p:to>
                                        <p:strVal val="visible"/>
                                      </p:to>
                                    </p:set>
                                    <p:animEffect transition="in" filter="fade">
                                      <p:cBhvr>
                                        <p:cTn id="12" dur="550"/>
                                        <p:tgtEl>
                                          <p:spTgt spid="4"/>
                                        </p:tgtEl>
                                      </p:cBhvr>
                                    </p:animEffect>
                                    <p:anim calcmode="lin" valueType="num">
                                      <p:cBhvr additive="base">
                                        <p:cTn id="13" dur="550" fill="hold"/>
                                        <p:tgtEl>
                                          <p:spTgt spid="4"/>
                                        </p:tgtEl>
                                        <p:attrNameLst>
                                          <p:attrName>ppt_w</p:attrName>
                                        </p:attrNameLst>
                                      </p:cBhvr>
                                      <p:tavLst>
                                        <p:tav tm="0">
                                          <p:val>
                                            <p:strVal val="0"/>
                                          </p:val>
                                        </p:tav>
                                        <p:tav tm="100000">
                                          <p:val>
                                            <p:strVal val="#ppt_w"/>
                                          </p:val>
                                        </p:tav>
                                      </p:tavLst>
                                    </p:anim>
                                    <p:anim calcmode="lin" valueType="num">
                                      <p:cBhvr additive="base">
                                        <p:cTn id="14" dur="550" fill="hold"/>
                                        <p:tgtEl>
                                          <p:spTgt spid="4"/>
                                        </p:tgtEl>
                                        <p:attrNameLst>
                                          <p:attrName>ppt_h</p:attrName>
                                        </p:attrNameLst>
                                      </p:cBhvr>
                                      <p:tavLst>
                                        <p:tav tm="0">
                                          <p:val>
                                            <p:strVal val="0"/>
                                          </p:val>
                                        </p:tav>
                                        <p:tav tm="100000">
                                          <p:val>
                                            <p:strVal val="#ppt_h"/>
                                          </p:val>
                                        </p:tav>
                                      </p:tavLst>
                                    </p:anim>
                                  </p:childTnLst>
                                </p:cTn>
                              </p:par>
                            </p:childTnLst>
                          </p:cTn>
                        </p:par>
                        <p:par>
                          <p:cTn id="15" fill="hold">
                            <p:stCondLst>
                              <p:cond delay="250"/>
                            </p:stCondLst>
                            <p:childTnLst>
                              <p:par>
                                <p:cTn id="16" presetID="2" presetClass="entr" presetSubtype="8" fill="hold" grpId="0" nodeType="afterEffect">
                                  <p:stCondLst>
                                    <p:cond delay="0"/>
                                  </p:stCondLst>
                                  <p:childTnLst>
                                    <p:set>
                                      <p:cBhvr>
                                        <p:cTn id="17" dur="1" fill="hold">
                                          <p:stCondLst>
                                            <p:cond delay="0"/>
                                          </p:stCondLst>
                                        </p:cTn>
                                        <p:tgtEl>
                                          <p:spTgt spid="5"/>
                                        </p:tgtEl>
                                        <p:attrNameLst>
                                          <p:attrName>style.visibility</p:attrName>
                                        </p:attrNameLst>
                                      </p:cBhvr>
                                      <p:to>
                                        <p:strVal val="visible"/>
                                      </p:to>
                                    </p:set>
                                    <p:anim calcmode="lin" valueType="num">
                                      <p:cBhvr additive="base">
                                        <p:cTn id="19" dur="550" fill="hold"/>
                                        <p:tgtEl>
                                          <p:spTgt spid="5"/>
                                        </p:tgtEl>
                                        <p:attrNameLst>
                                          <p:attrName>ppt_x</p:attrName>
                                        </p:attrNameLst>
                                      </p:cBhvr>
                                      <p:tavLst>
                                        <p:tav tm="0">
                                          <p:val>
                                            <p:strVal val="0-#ppt_w/2"/>
                                          </p:val>
                                        </p:tav>
                                        <p:tav tm="100000">
                                          <p:val>
                                            <p:strVal val="#ppt_x"/>
                                          </p:val>
                                        </p:tav>
                                      </p:tavLst>
                                    </p:anim>
                                    <p:anim calcmode="lin" valueType="num">
                                      <p:cBhvr additive="base">
                                        <p:cTn id="20" dur="550" fill="hold"/>
                                        <p:tgtEl>
                                          <p:spTgt spid="5"/>
                                        </p:tgtEl>
                                        <p:attrNameLst>
                                          <p:attrName>ppt_y</p:attrName>
                                        </p:attrNameLst>
                                      </p:cBhvr>
                                      <p:tavLst>
                                        <p:tav tm="0">
                                          <p:val>
                                            <p:strVal val="#ppt_y"/>
                                          </p:val>
                                        </p:tav>
                                        <p:tav tm="100000">
                                          <p:val>
                                            <p:strVal val="#ppt_y"/>
                                          </p:val>
                                        </p:tav>
                                      </p:tavLst>
                                    </p:anim>
                                  </p:childTnLst>
                                </p:cTn>
                              </p:par>
                            </p:childTnLst>
                          </p:cTn>
                        </p:par>
                        <p:par>
                          <p:cTn id="21" fill="hold">
                            <p:stCondLst>
                              <p:cond delay="350"/>
                            </p:stCondLst>
                            <p:childTnLst>
                              <p:par>
                                <p:cTn id="22" presetID="22" presetClass="entr" presetSubtype="8" fill="hold" grpId="0" nodeType="afterEffect">
                                  <p:stCondLst>
                                    <p:cond delay="0"/>
                                  </p:stCondLst>
                                  <p:childTnLst>
                                    <p:set>
                                      <p:cBhvr>
                                        <p:cTn id="23" dur="1" fill="hold">
                                          <p:stCondLst>
                                            <p:cond delay="0"/>
                                          </p:stCondLst>
                                        </p:cTn>
                                        <p:tgtEl>
                                          <p:spTgt spid="6"/>
                                        </p:tgtEl>
                                        <p:attrNameLst>
                                          <p:attrName>style.visibility</p:attrName>
                                        </p:attrNameLst>
                                      </p:cBhvr>
                                      <p:to>
                                        <p:strVal val="visible"/>
                                      </p:to>
                                    </p:set>
                                    <p:animEffect transition="in" filter="wipe(left)">
                                      <p:cBhvr>
                                        <p:cTn id="25" dur="8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4" grpId="0" animBg="1"/>
      <p:bldP spid="5" grpId="0" animBg="1"/>
      <p:bldP spid="6" grpId="0" animBg="1"/>
    </p:bldLst>
  </p:timing>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200000"/>
            <a:ext cx="10400000" cy="650000"/>
          </a:xfrm>
          <a:prstGeom prst="rect">
            <a:avLst/>
          </a:prstGeom>
          <a:noFill/>
        </p:spPr>
        <p:txBody>
          <a:bodyPr wrap="square" anchor="ctr" lIns="50800" rIns="50800">
            <a:spAutoFit/>
          </a:bodyPr>
          <a:lstStyle/>
          <a:p>
            <a:pPr algn="l"/>
            <a:r>
              <a:rPr sz="2600" b="1">
                <a:solidFill>
                  <a:srgbClr val="FFFFFF"/>
                </a:solidFill>
                <a:latin typeface="Calibri"/>
              </a:rPr>
              <a:t>Mavzuning maqsadi va o'rganish natijalari (1)</a:t>
            </a:r>
          </a:p>
        </p:txBody>
      </p:sp>
      <p:sp>
        <p:nvSpPr>
          <p:cNvPr id="6" name="Rectangle 5"/>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A1 · Sun'iy intellektga asoslangan kompyuter tizimlari arxitekturasini tahlil qilish va loyihalash</a:t>
            </a:r>
          </a:p>
        </p:txBody>
      </p:sp>
      <p:sp>
        <p:nvSpPr>
          <p:cNvPr id="8" name="TextBox 7"/>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4</a:t>
            </a:r>
          </a:p>
        </p:txBody>
      </p:sp>
      <p:sp>
        <p:nvSpPr>
          <p:cNvPr id="9" name="Rounded Rectangle 8"/>
          <p:cNvSpPr/>
          <p:nvPr/>
        </p:nvSpPr>
        <p:spPr>
          <a:xfrm>
            <a:off x="550000" y="1300000"/>
            <a:ext cx="11100000" cy="894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50000" y="1300000"/>
            <a:ext cx="70000" cy="894000"/>
          </a:xfrm>
          <a:prstGeom prst="rect">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800000" y="1517000"/>
            <a:ext cx="460000" cy="460000"/>
          </a:xfrm>
          <a:prstGeom prst="ellipse">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1</a:t>
            </a:r>
          </a:p>
        </p:txBody>
      </p:sp>
      <p:sp>
        <p:nvSpPr>
          <p:cNvPr id="12" name="TextBox 11"/>
          <p:cNvSpPr txBox="1"/>
          <p:nvPr/>
        </p:nvSpPr>
        <p:spPr>
          <a:xfrm>
            <a:off x="1450000" y="1300000"/>
            <a:ext cx="10050000" cy="894000"/>
          </a:xfrm>
          <a:prstGeom prst="rect">
            <a:avLst/>
          </a:prstGeom>
          <a:noFill/>
        </p:spPr>
        <p:txBody>
          <a:bodyPr wrap="square" anchor="ctr" lIns="50800" rIns="50800">
            <a:spAutoFit/>
          </a:bodyPr>
          <a:lstStyle/>
          <a:p>
            <a:pPr algn="l"/>
            <a:r>
              <a:rPr sz="1400" b="0">
                <a:solidFill>
                  <a:srgbClr val="1B2430"/>
                </a:solidFill>
                <a:latin typeface="Calibri"/>
              </a:rPr>
              <a:t>Ushbu amaliy mashg'ulotning maqsadi — magistrantlarda sun'iy intellektga asoslangan hisoblash tizimining arxitekturasini muhandislik nuqtai nazaridan tahlil qilish, apparat va dasturiy…</a:t>
            </a:r>
          </a:p>
        </p:txBody>
      </p:sp>
      <p:sp>
        <p:nvSpPr>
          <p:cNvPr id="13" name="Rounded Rectangle 12"/>
          <p:cNvSpPr/>
          <p:nvPr/>
        </p:nvSpPr>
        <p:spPr>
          <a:xfrm>
            <a:off x="550000" y="2314000"/>
            <a:ext cx="11100000" cy="894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550000" y="2314000"/>
            <a:ext cx="70000" cy="894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00000" y="2531000"/>
            <a:ext cx="460000" cy="46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2</a:t>
            </a:r>
          </a:p>
        </p:txBody>
      </p:sp>
      <p:sp>
        <p:nvSpPr>
          <p:cNvPr id="16" name="TextBox 15"/>
          <p:cNvSpPr txBox="1"/>
          <p:nvPr/>
        </p:nvSpPr>
        <p:spPr>
          <a:xfrm>
            <a:off x="1450000" y="2314000"/>
            <a:ext cx="10050000" cy="894000"/>
          </a:xfrm>
          <a:prstGeom prst="rect">
            <a:avLst/>
          </a:prstGeom>
          <a:noFill/>
        </p:spPr>
        <p:txBody>
          <a:bodyPr wrap="square" anchor="ctr" lIns="50800" rIns="50800">
            <a:spAutoFit/>
          </a:bodyPr>
          <a:lstStyle/>
          <a:p>
            <a:pPr algn="l"/>
            <a:r>
              <a:rPr sz="1400" b="0">
                <a:solidFill>
                  <a:srgbClr val="1B2430"/>
                </a:solidFill>
                <a:latin typeface="Calibri"/>
              </a:rPr>
              <a:t>Mashg'ulot yakunida talaba:</a:t>
            </a:r>
          </a:p>
        </p:txBody>
      </p:sp>
      <p:sp>
        <p:nvSpPr>
          <p:cNvPr id="17" name="Rounded Rectangle 16"/>
          <p:cNvSpPr/>
          <p:nvPr/>
        </p:nvSpPr>
        <p:spPr>
          <a:xfrm>
            <a:off x="550000" y="3328000"/>
            <a:ext cx="11100000" cy="894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550000" y="3328000"/>
            <a:ext cx="70000" cy="894000"/>
          </a:xfrm>
          <a:prstGeom prst="rect">
            <a:avLst/>
          </a:prstGeom>
          <a:solidFill>
            <a:srgbClr val="6A3F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800000" y="3545000"/>
            <a:ext cx="460000" cy="460000"/>
          </a:xfrm>
          <a:prstGeom prst="ellipse">
            <a:avLst/>
          </a:prstGeom>
          <a:solidFill>
            <a:srgbClr val="6A3FB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3</a:t>
            </a:r>
          </a:p>
        </p:txBody>
      </p:sp>
      <p:sp>
        <p:nvSpPr>
          <p:cNvPr id="20" name="TextBox 19"/>
          <p:cNvSpPr txBox="1"/>
          <p:nvPr/>
        </p:nvSpPr>
        <p:spPr>
          <a:xfrm>
            <a:off x="1450000" y="3328000"/>
            <a:ext cx="10050000" cy="894000"/>
          </a:xfrm>
          <a:prstGeom prst="rect">
            <a:avLst/>
          </a:prstGeom>
          <a:noFill/>
        </p:spPr>
        <p:txBody>
          <a:bodyPr wrap="square" anchor="ctr" lIns="50800" rIns="50800">
            <a:spAutoFit/>
          </a:bodyPr>
          <a:lstStyle/>
          <a:p>
            <a:pPr algn="l"/>
            <a:r>
              <a:rPr sz="1400" b="0">
                <a:solidFill>
                  <a:srgbClr val="1B2430"/>
                </a:solidFill>
                <a:latin typeface="Calibri"/>
              </a:rPr>
              <a:t>AI tizimining to'rt qatlamli arxitekturasini (ma'lumot → model → hisoblash platformasi → xizmat) ajratib, har bir qatlamning resurs talabini aniq ko'rsatkichlar (FLOP, bayt, millisekund,…</a:t>
            </a:r>
          </a:p>
        </p:txBody>
      </p:sp>
      <p:sp>
        <p:nvSpPr>
          <p:cNvPr id="21" name="Rounded Rectangle 20"/>
          <p:cNvSpPr/>
          <p:nvPr/>
        </p:nvSpPr>
        <p:spPr>
          <a:xfrm>
            <a:off x="550000" y="4342000"/>
            <a:ext cx="11100000" cy="894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50000" y="4342000"/>
            <a:ext cx="70000" cy="894000"/>
          </a:xfrm>
          <a:prstGeom prst="rect">
            <a:avLst/>
          </a:prstGeom>
          <a:solidFill>
            <a:srgbClr val="B779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800000" y="4559000"/>
            <a:ext cx="460000" cy="460000"/>
          </a:xfrm>
          <a:prstGeom prst="ellipse">
            <a:avLst/>
          </a:prstGeom>
          <a:solidFill>
            <a:srgbClr val="B7791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4</a:t>
            </a:r>
          </a:p>
        </p:txBody>
      </p:sp>
      <p:sp>
        <p:nvSpPr>
          <p:cNvPr id="24" name="TextBox 23"/>
          <p:cNvSpPr txBox="1"/>
          <p:nvPr/>
        </p:nvSpPr>
        <p:spPr>
          <a:xfrm>
            <a:off x="1450000" y="4342000"/>
            <a:ext cx="10050000" cy="894000"/>
          </a:xfrm>
          <a:prstGeom prst="rect">
            <a:avLst/>
          </a:prstGeom>
          <a:noFill/>
        </p:spPr>
        <p:txBody>
          <a:bodyPr wrap="square" anchor="ctr" lIns="50800" rIns="50800">
            <a:spAutoFit/>
          </a:bodyPr>
          <a:lstStyle/>
          <a:p>
            <a:pPr algn="l"/>
            <a:r>
              <a:rPr sz="1400" b="0">
                <a:solidFill>
                  <a:srgbClr val="1B2430"/>
                </a:solidFill>
                <a:latin typeface="Calibri"/>
              </a:rPr>
              <a:t>Berilgan ish yuklamasi (workload) uchun arifmetik intensivlik (arithmetic intensity) va Roofline chegarasini hisoblab, tizim «hisoblash bilan cheklangan» yoki «xotira bilan cheklangan»…</a:t>
            </a:r>
          </a:p>
        </p:txBody>
      </p:sp>
      <p:sp>
        <p:nvSpPr>
          <p:cNvPr id="25" name="Rounded Rectangle 24"/>
          <p:cNvSpPr/>
          <p:nvPr/>
        </p:nvSpPr>
        <p:spPr>
          <a:xfrm>
            <a:off x="550000" y="5356000"/>
            <a:ext cx="11100000" cy="894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550000" y="5356000"/>
            <a:ext cx="70000" cy="894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800000" y="5573000"/>
            <a:ext cx="460000" cy="4600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5</a:t>
            </a:r>
          </a:p>
        </p:txBody>
      </p:sp>
      <p:sp>
        <p:nvSpPr>
          <p:cNvPr id="28" name="TextBox 27"/>
          <p:cNvSpPr txBox="1"/>
          <p:nvPr/>
        </p:nvSpPr>
        <p:spPr>
          <a:xfrm>
            <a:off x="1450000" y="5356000"/>
            <a:ext cx="10050000" cy="894000"/>
          </a:xfrm>
          <a:prstGeom prst="rect">
            <a:avLst/>
          </a:prstGeom>
          <a:noFill/>
        </p:spPr>
        <p:txBody>
          <a:bodyPr wrap="square" anchor="ctr" lIns="50800" rIns="50800">
            <a:spAutoFit/>
          </a:bodyPr>
          <a:lstStyle/>
          <a:p>
            <a:pPr algn="l"/>
            <a:r>
              <a:rPr sz="1400" b="0">
                <a:solidFill>
                  <a:srgbClr val="1B2430"/>
                </a:solidFill>
                <a:latin typeface="Calibri"/>
              </a:rPr>
              <a:t>Kamida uchta hisoblash platformasining (ma'lumotlar markazi GPU, chekka (edge) moduli, ixtisoslashgan tezlatkich) texnik pasportini bir jadvalda solishtirib, talablar matritsasi asosida…</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127"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5"/>
                                        </p:tgtEl>
                                        <p:attrNameLst>
                                          <p:attrName>style.visibility</p:attrName>
                                        </p:attrNameLst>
                                      </p:cBhvr>
                                      <p:to>
                                        <p:strVal val="visible"/>
                                      </p:to>
                                    </p:set>
                                    <p:animEffect transition="in" filter="fade">
                                      <p:cBhvr>
                                        <p:cTn id="6" dur="550"/>
                                        <p:tgtEl>
                                          <p:spTgt spid="5"/>
                                        </p:tgtEl>
                                      </p:cBhvr>
                                    </p:animEffect>
                                  </p:childTnLst>
                                </p:cTn>
                              </p:par>
                            </p:childTnLst>
                          </p:cTn>
                        </p:par>
                        <p:par>
                          <p:cTn id="7" fill="hold">
                            <p:stCondLst>
                              <p:cond delay="220"/>
                            </p:stCondLst>
                            <p:childTnLst>
                              <p:par>
                                <p:cTn id="8" presetID="42" presetClass="entr" presetSubtype="0" fill="hold" grpId="0" nodeType="afterEffect">
                                  <p:stCondLst>
                                    <p:cond delay="0"/>
                                  </p:stCondLst>
                                  <p:childTnLst>
                                    <p:set>
                                      <p:cBhvr>
                                        <p:cTn id="9" dur="1" fill="hold">
                                          <p:stCondLst>
                                            <p:cond delay="0"/>
                                          </p:stCondLst>
                                        </p:cTn>
                                        <p:tgtEl>
                                          <p:spTgt spid="9"/>
                                        </p:tgtEl>
                                        <p:attrNameLst>
                                          <p:attrName>style.visibility</p:attrName>
                                        </p:attrNameLst>
                                      </p:cBhvr>
                                      <p:to>
                                        <p:strVal val="visible"/>
                                      </p:to>
                                    </p:set>
                                    <p:animEffect transition="in" filter="fade">
                                      <p:cBhvr>
                                        <p:cTn id="10" dur="550"/>
                                        <p:tgtEl>
                                          <p:spTgt spid="9"/>
                                        </p:tgtEl>
                                      </p:cBhvr>
                                    </p:animEffect>
                                    <p:anim calcmode="lin" valueType="num">
                                      <p:cBhvr additive="base">
                                        <p:cTn id="11" dur="550" fill="hold"/>
                                        <p:tgtEl>
                                          <p:spTgt spid="9"/>
                                        </p:tgtEl>
                                        <p:attrNameLst>
                                          <p:attrName>ppt_x</p:attrName>
                                        </p:attrNameLst>
                                      </p:cBhvr>
                                      <p:tavLst>
                                        <p:tav tm="0">
                                          <p:val>
                                            <p:strVal val="#ppt_x"/>
                                          </p:val>
                                        </p:tav>
                                        <p:tav tm="100000">
                                          <p:val>
                                            <p:strVal val="#ppt_x"/>
                                          </p:val>
                                        </p:tav>
                                      </p:tavLst>
                                    </p:anim>
                                    <p:anim calcmode="lin" valueType="num">
                                      <p:cBhvr additive="base">
                                        <p:cTn id="12" dur="550" fill="hold"/>
                                        <p:tgtEl>
                                          <p:spTgt spid="9"/>
                                        </p:tgtEl>
                                        <p:attrNameLst>
                                          <p:attrName>ppt_y</p:attrName>
                                        </p:attrNameLst>
                                      </p:cBhvr>
                                      <p:tavLst>
                                        <p:tav tm="0">
                                          <p:val>
                                            <p:strVal val="#ppt_y+.08"/>
                                          </p:val>
                                        </p:tav>
                                        <p:tav tm="100000">
                                          <p:val>
                                            <p:strVal val="#ppt_y"/>
                                          </p:val>
                                        </p:tav>
                                      </p:tavLst>
                                    </p:anim>
                                  </p:childTnLst>
                                </p:cTn>
                              </p:par>
                            </p:childTnLst>
                          </p:cTn>
                        </p:par>
                        <p:par>
                          <p:cTn id="13" fill="hold">
                            <p:stCondLst>
                              <p:cond delay="220"/>
                            </p:stCondLst>
                            <p:childTnLst>
                              <p:par>
                                <p:cTn id="14" presetID="42" presetClass="entr" presetSubtype="0" fill="hold" grpId="0" nodeType="afterEffect">
                                  <p:stCondLst>
                                    <p:cond delay="0"/>
                                  </p:stCondLst>
                                  <p:childTnLst>
                                    <p:set>
                                      <p:cBhvr>
                                        <p:cTn id="15" dur="1" fill="hold">
                                          <p:stCondLst>
                                            <p:cond delay="0"/>
                                          </p:stCondLst>
                                        </p:cTn>
                                        <p:tgtEl>
                                          <p:spTgt spid="10"/>
                                        </p:tgtEl>
                                        <p:attrNameLst>
                                          <p:attrName>style.visibility</p:attrName>
                                        </p:attrNameLst>
                                      </p:cBhvr>
                                      <p:to>
                                        <p:strVal val="visible"/>
                                      </p:to>
                                    </p:set>
                                    <p:animEffect transition="in" filter="fade">
                                      <p:cBhvr>
                                        <p:cTn id="16" dur="550"/>
                                        <p:tgtEl>
                                          <p:spTgt spid="10"/>
                                        </p:tgtEl>
                                      </p:cBhvr>
                                    </p:animEffect>
                                    <p:anim calcmode="lin" valueType="num">
                                      <p:cBhvr additive="base">
                                        <p:cTn id="17" dur="550" fill="hold"/>
                                        <p:tgtEl>
                                          <p:spTgt spid="10"/>
                                        </p:tgtEl>
                                        <p:attrNameLst>
                                          <p:attrName>ppt_x</p:attrName>
                                        </p:attrNameLst>
                                      </p:cBhvr>
                                      <p:tavLst>
                                        <p:tav tm="0">
                                          <p:val>
                                            <p:strVal val="#ppt_x"/>
                                          </p:val>
                                        </p:tav>
                                        <p:tav tm="100000">
                                          <p:val>
                                            <p:strVal val="#ppt_x"/>
                                          </p:val>
                                        </p:tav>
                                      </p:tavLst>
                                    </p:anim>
                                    <p:anim calcmode="lin" valueType="num">
                                      <p:cBhvr additive="base">
                                        <p:cTn id="18" dur="550" fill="hold"/>
                                        <p:tgtEl>
                                          <p:spTgt spid="10"/>
                                        </p:tgtEl>
                                        <p:attrNameLst>
                                          <p:attrName>ppt_y</p:attrName>
                                        </p:attrNameLst>
                                      </p:cBhvr>
                                      <p:tavLst>
                                        <p:tav tm="0">
                                          <p:val>
                                            <p:strVal val="#ppt_y+.08"/>
                                          </p:val>
                                        </p:tav>
                                        <p:tav tm="100000">
                                          <p:val>
                                            <p:strVal val="#ppt_y"/>
                                          </p:val>
                                        </p:tav>
                                      </p:tavLst>
                                    </p:anim>
                                  </p:childTnLst>
                                </p:cTn>
                              </p:par>
                            </p:childTnLst>
                          </p:cTn>
                        </p:par>
                        <p:par>
                          <p:cTn id="19" fill="hold">
                            <p:stCondLst>
                              <p:cond delay="220"/>
                            </p:stCondLst>
                            <p:childTnLst>
                              <p:par>
                                <p:cTn id="20" presetID="53" presetClass="entr" presetSubtype="16" fill="hold" grpId="0" nodeType="afterEffect">
                                  <p:stCondLst>
                                    <p:cond delay="0"/>
                                  </p:stCondLst>
                                  <p:childTnLst>
                                    <p:set>
                                      <p:cBhvr>
                                        <p:cTn id="21" dur="1" fill="hold">
                                          <p:stCondLst>
                                            <p:cond delay="0"/>
                                          </p:stCondLst>
                                        </p:cTn>
                                        <p:tgtEl>
                                          <p:spTgt spid="11"/>
                                        </p:tgtEl>
                                        <p:attrNameLst>
                                          <p:attrName>style.visibility</p:attrName>
                                        </p:attrNameLst>
                                      </p:cBhvr>
                                      <p:to>
                                        <p:strVal val="visible"/>
                                      </p:to>
                                    </p:set>
                                    <p:animEffect transition="in" filter="fade">
                                      <p:cBhvr>
                                        <p:cTn id="22" dur="550"/>
                                        <p:tgtEl>
                                          <p:spTgt spid="11"/>
                                        </p:tgtEl>
                                      </p:cBhvr>
                                    </p:animEffect>
                                    <p:anim calcmode="lin" valueType="num">
                                      <p:cBhvr additive="base">
                                        <p:cTn id="23" dur="550" fill="hold"/>
                                        <p:tgtEl>
                                          <p:spTgt spid="11"/>
                                        </p:tgtEl>
                                        <p:attrNameLst>
                                          <p:attrName>ppt_w</p:attrName>
                                        </p:attrNameLst>
                                      </p:cBhvr>
                                      <p:tavLst>
                                        <p:tav tm="0">
                                          <p:val>
                                            <p:strVal val="0"/>
                                          </p:val>
                                        </p:tav>
                                        <p:tav tm="100000">
                                          <p:val>
                                            <p:strVal val="#ppt_w"/>
                                          </p:val>
                                        </p:tav>
                                      </p:tavLst>
                                    </p:anim>
                                    <p:anim calcmode="lin" valueType="num">
                                      <p:cBhvr additive="base">
                                        <p:cTn id="24" dur="550" fill="hold"/>
                                        <p:tgtEl>
                                          <p:spTgt spid="11"/>
                                        </p:tgtEl>
                                        <p:attrNameLst>
                                          <p:attrName>ppt_h</p:attrName>
                                        </p:attrNameLst>
                                      </p:cBhvr>
                                      <p:tavLst>
                                        <p:tav tm="0">
                                          <p:val>
                                            <p:strVal val="0"/>
                                          </p:val>
                                        </p:tav>
                                        <p:tav tm="100000">
                                          <p:val>
                                            <p:strVal val="#ppt_h"/>
                                          </p:val>
                                        </p:tav>
                                      </p:tavLst>
                                    </p:anim>
                                  </p:childTnLst>
                                </p:cTn>
                              </p:par>
                            </p:childTnLst>
                          </p:cTn>
                        </p:par>
                        <p:par>
                          <p:cTn id="25" fill="hold">
                            <p:stCondLst>
                              <p:cond delay="220"/>
                            </p:stCondLst>
                            <p:childTnLst>
                              <p:par>
                                <p:cTn id="26" presetID="42" presetClass="entr" presetSubtype="0" fill="hold" grpId="0" nodeType="afterEffect">
                                  <p:stCondLst>
                                    <p:cond delay="0"/>
                                  </p:stCondLst>
                                  <p:childTnLst>
                                    <p:set>
                                      <p:cBhvr>
                                        <p:cTn id="27" dur="1" fill="hold">
                                          <p:stCondLst>
                                            <p:cond delay="0"/>
                                          </p:stCondLst>
                                        </p:cTn>
                                        <p:tgtEl>
                                          <p:spTgt spid="12"/>
                                        </p:tgtEl>
                                        <p:attrNameLst>
                                          <p:attrName>style.visibility</p:attrName>
                                        </p:attrNameLst>
                                      </p:cBhvr>
                                      <p:to>
                                        <p:strVal val="visible"/>
                                      </p:to>
                                    </p:set>
                                    <p:animEffect transition="in" filter="fade">
                                      <p:cBhvr>
                                        <p:cTn id="28" dur="550"/>
                                        <p:tgtEl>
                                          <p:spTgt spid="12"/>
                                        </p:tgtEl>
                                      </p:cBhvr>
                                    </p:animEffect>
                                    <p:anim calcmode="lin" valueType="num">
                                      <p:cBhvr additive="base">
                                        <p:cTn id="29" dur="550" fill="hold"/>
                                        <p:tgtEl>
                                          <p:spTgt spid="12"/>
                                        </p:tgtEl>
                                        <p:attrNameLst>
                                          <p:attrName>ppt_x</p:attrName>
                                        </p:attrNameLst>
                                      </p:cBhvr>
                                      <p:tavLst>
                                        <p:tav tm="0">
                                          <p:val>
                                            <p:strVal val="#ppt_x"/>
                                          </p:val>
                                        </p:tav>
                                        <p:tav tm="100000">
                                          <p:val>
                                            <p:strVal val="#ppt_x"/>
                                          </p:val>
                                        </p:tav>
                                      </p:tavLst>
                                    </p:anim>
                                    <p:anim calcmode="lin" valueType="num">
                                      <p:cBhvr additive="base">
                                        <p:cTn id="30" dur="550" fill="hold"/>
                                        <p:tgtEl>
                                          <p:spTgt spid="12"/>
                                        </p:tgtEl>
                                        <p:attrNameLst>
                                          <p:attrName>ppt_y</p:attrName>
                                        </p:attrNameLst>
                                      </p:cBhvr>
                                      <p:tavLst>
                                        <p:tav tm="0">
                                          <p:val>
                                            <p:strVal val="#ppt_y+.08"/>
                                          </p:val>
                                        </p:tav>
                                        <p:tav tm="100000">
                                          <p:val>
                                            <p:strVal val="#ppt_y"/>
                                          </p:val>
                                        </p:tav>
                                      </p:tavLst>
                                    </p:anim>
                                  </p:childTnLst>
                                </p:cTn>
                              </p:par>
                            </p:childTnLst>
                          </p:cTn>
                        </p:par>
                        <p:par>
                          <p:cTn id="31" fill="hold">
                            <p:stCondLst>
                              <p:cond delay="440"/>
                            </p:stCondLst>
                            <p:childTnLst>
                              <p:par>
                                <p:cTn id="32" presetID="42" presetClass="entr" presetSubtype="0" fill="hold" grpId="0" nodeType="afterEffect">
                                  <p:stCondLst>
                                    <p:cond delay="0"/>
                                  </p:stCondLst>
                                  <p:childTnLst>
                                    <p:set>
                                      <p:cBhvr>
                                        <p:cTn id="33" dur="1" fill="hold">
                                          <p:stCondLst>
                                            <p:cond delay="0"/>
                                          </p:stCondLst>
                                        </p:cTn>
                                        <p:tgtEl>
                                          <p:spTgt spid="13"/>
                                        </p:tgtEl>
                                        <p:attrNameLst>
                                          <p:attrName>style.visibility</p:attrName>
                                        </p:attrNameLst>
                                      </p:cBhvr>
                                      <p:to>
                                        <p:strVal val="visible"/>
                                      </p:to>
                                    </p:set>
                                    <p:animEffect transition="in" filter="fade">
                                      <p:cBhvr>
                                        <p:cTn id="34" dur="550"/>
                                        <p:tgtEl>
                                          <p:spTgt spid="13"/>
                                        </p:tgtEl>
                                      </p:cBhvr>
                                    </p:animEffect>
                                    <p:anim calcmode="lin" valueType="num">
                                      <p:cBhvr additive="base">
                                        <p:cTn id="35" dur="550" fill="hold"/>
                                        <p:tgtEl>
                                          <p:spTgt spid="13"/>
                                        </p:tgtEl>
                                        <p:attrNameLst>
                                          <p:attrName>ppt_x</p:attrName>
                                        </p:attrNameLst>
                                      </p:cBhvr>
                                      <p:tavLst>
                                        <p:tav tm="0">
                                          <p:val>
                                            <p:strVal val="#ppt_x"/>
                                          </p:val>
                                        </p:tav>
                                        <p:tav tm="100000">
                                          <p:val>
                                            <p:strVal val="#ppt_x"/>
                                          </p:val>
                                        </p:tav>
                                      </p:tavLst>
                                    </p:anim>
                                    <p:anim calcmode="lin" valueType="num">
                                      <p:cBhvr additive="base">
                                        <p:cTn id="36" dur="550" fill="hold"/>
                                        <p:tgtEl>
                                          <p:spTgt spid="13"/>
                                        </p:tgtEl>
                                        <p:attrNameLst>
                                          <p:attrName>ppt_y</p:attrName>
                                        </p:attrNameLst>
                                      </p:cBhvr>
                                      <p:tavLst>
                                        <p:tav tm="0">
                                          <p:val>
                                            <p:strVal val="#ppt_y+.08"/>
                                          </p:val>
                                        </p:tav>
                                        <p:tav tm="100000">
                                          <p:val>
                                            <p:strVal val="#ppt_y"/>
                                          </p:val>
                                        </p:tav>
                                      </p:tavLst>
                                    </p:anim>
                                  </p:childTnLst>
                                </p:cTn>
                              </p:par>
                            </p:childTnLst>
                          </p:cTn>
                        </p:par>
                        <p:par>
                          <p:cTn id="37" fill="hold">
                            <p:stCondLst>
                              <p:cond delay="440"/>
                            </p:stCondLst>
                            <p:childTnLst>
                              <p:par>
                                <p:cTn id="38" presetID="42" presetClass="entr" presetSubtype="0" fill="hold" grpId="0" nodeType="afterEffect">
                                  <p:stCondLst>
                                    <p:cond delay="0"/>
                                  </p:stCondLst>
                                  <p:childTnLst>
                                    <p:set>
                                      <p:cBhvr>
                                        <p:cTn id="39" dur="1" fill="hold">
                                          <p:stCondLst>
                                            <p:cond delay="0"/>
                                          </p:stCondLst>
                                        </p:cTn>
                                        <p:tgtEl>
                                          <p:spTgt spid="14"/>
                                        </p:tgtEl>
                                        <p:attrNameLst>
                                          <p:attrName>style.visibility</p:attrName>
                                        </p:attrNameLst>
                                      </p:cBhvr>
                                      <p:to>
                                        <p:strVal val="visible"/>
                                      </p:to>
                                    </p:set>
                                    <p:animEffect transition="in" filter="fade">
                                      <p:cBhvr>
                                        <p:cTn id="40" dur="550"/>
                                        <p:tgtEl>
                                          <p:spTgt spid="14"/>
                                        </p:tgtEl>
                                      </p:cBhvr>
                                    </p:animEffect>
                                    <p:anim calcmode="lin" valueType="num">
                                      <p:cBhvr additive="base">
                                        <p:cTn id="41" dur="550" fill="hold"/>
                                        <p:tgtEl>
                                          <p:spTgt spid="14"/>
                                        </p:tgtEl>
                                        <p:attrNameLst>
                                          <p:attrName>ppt_x</p:attrName>
                                        </p:attrNameLst>
                                      </p:cBhvr>
                                      <p:tavLst>
                                        <p:tav tm="0">
                                          <p:val>
                                            <p:strVal val="#ppt_x"/>
                                          </p:val>
                                        </p:tav>
                                        <p:tav tm="100000">
                                          <p:val>
                                            <p:strVal val="#ppt_x"/>
                                          </p:val>
                                        </p:tav>
                                      </p:tavLst>
                                    </p:anim>
                                    <p:anim calcmode="lin" valueType="num">
                                      <p:cBhvr additive="base">
                                        <p:cTn id="42" dur="550" fill="hold"/>
                                        <p:tgtEl>
                                          <p:spTgt spid="14"/>
                                        </p:tgtEl>
                                        <p:attrNameLst>
                                          <p:attrName>ppt_y</p:attrName>
                                        </p:attrNameLst>
                                      </p:cBhvr>
                                      <p:tavLst>
                                        <p:tav tm="0">
                                          <p:val>
                                            <p:strVal val="#ppt_y+.08"/>
                                          </p:val>
                                        </p:tav>
                                        <p:tav tm="100000">
                                          <p:val>
                                            <p:strVal val="#ppt_y"/>
                                          </p:val>
                                        </p:tav>
                                      </p:tavLst>
                                    </p:anim>
                                  </p:childTnLst>
                                </p:cTn>
                              </p:par>
                            </p:childTnLst>
                          </p:cTn>
                        </p:par>
                        <p:par>
                          <p:cTn id="43" fill="hold">
                            <p:stCondLst>
                              <p:cond delay="440"/>
                            </p:stCondLst>
                            <p:childTnLst>
                              <p:par>
                                <p:cTn id="44" presetID="53" presetClass="entr" presetSubtype="16" fill="hold" grpId="0" nodeType="afterEffect">
                                  <p:stCondLst>
                                    <p:cond delay="0"/>
                                  </p:stCondLst>
                                  <p:childTnLst>
                                    <p:set>
                                      <p:cBhvr>
                                        <p:cTn id="45" dur="1" fill="hold">
                                          <p:stCondLst>
                                            <p:cond delay="0"/>
                                          </p:stCondLst>
                                        </p:cTn>
                                        <p:tgtEl>
                                          <p:spTgt spid="15"/>
                                        </p:tgtEl>
                                        <p:attrNameLst>
                                          <p:attrName>style.visibility</p:attrName>
                                        </p:attrNameLst>
                                      </p:cBhvr>
                                      <p:to>
                                        <p:strVal val="visible"/>
                                      </p:to>
                                    </p:set>
                                    <p:animEffect transition="in" filter="fade">
                                      <p:cBhvr>
                                        <p:cTn id="46" dur="550"/>
                                        <p:tgtEl>
                                          <p:spTgt spid="15"/>
                                        </p:tgtEl>
                                      </p:cBhvr>
                                    </p:animEffect>
                                    <p:anim calcmode="lin" valueType="num">
                                      <p:cBhvr additive="base">
                                        <p:cTn id="47" dur="550" fill="hold"/>
                                        <p:tgtEl>
                                          <p:spTgt spid="15"/>
                                        </p:tgtEl>
                                        <p:attrNameLst>
                                          <p:attrName>ppt_w</p:attrName>
                                        </p:attrNameLst>
                                      </p:cBhvr>
                                      <p:tavLst>
                                        <p:tav tm="0">
                                          <p:val>
                                            <p:strVal val="0"/>
                                          </p:val>
                                        </p:tav>
                                        <p:tav tm="100000">
                                          <p:val>
                                            <p:strVal val="#ppt_w"/>
                                          </p:val>
                                        </p:tav>
                                      </p:tavLst>
                                    </p:anim>
                                    <p:anim calcmode="lin" valueType="num">
                                      <p:cBhvr additive="base">
                                        <p:cTn id="48" dur="550" fill="hold"/>
                                        <p:tgtEl>
                                          <p:spTgt spid="15"/>
                                        </p:tgtEl>
                                        <p:attrNameLst>
                                          <p:attrName>ppt_h</p:attrName>
                                        </p:attrNameLst>
                                      </p:cBhvr>
                                      <p:tavLst>
                                        <p:tav tm="0">
                                          <p:val>
                                            <p:strVal val="0"/>
                                          </p:val>
                                        </p:tav>
                                        <p:tav tm="100000">
                                          <p:val>
                                            <p:strVal val="#ppt_h"/>
                                          </p:val>
                                        </p:tav>
                                      </p:tavLst>
                                    </p:anim>
                                  </p:childTnLst>
                                </p:cTn>
                              </p:par>
                            </p:childTnLst>
                          </p:cTn>
                        </p:par>
                        <p:par>
                          <p:cTn id="49" fill="hold">
                            <p:stCondLst>
                              <p:cond delay="440"/>
                            </p:stCondLst>
                            <p:childTnLst>
                              <p:par>
                                <p:cTn id="50" presetID="42" presetClass="entr" presetSubtype="0" fill="hold" grpId="0" nodeType="afterEffect">
                                  <p:stCondLst>
                                    <p:cond delay="0"/>
                                  </p:stCondLst>
                                  <p:childTnLst>
                                    <p:set>
                                      <p:cBhvr>
                                        <p:cTn id="51" dur="1" fill="hold">
                                          <p:stCondLst>
                                            <p:cond delay="0"/>
                                          </p:stCondLst>
                                        </p:cTn>
                                        <p:tgtEl>
                                          <p:spTgt spid="16"/>
                                        </p:tgtEl>
                                        <p:attrNameLst>
                                          <p:attrName>style.visibility</p:attrName>
                                        </p:attrNameLst>
                                      </p:cBhvr>
                                      <p:to>
                                        <p:strVal val="visible"/>
                                      </p:to>
                                    </p:set>
                                    <p:animEffect transition="in" filter="fade">
                                      <p:cBhvr>
                                        <p:cTn id="52" dur="550"/>
                                        <p:tgtEl>
                                          <p:spTgt spid="16"/>
                                        </p:tgtEl>
                                      </p:cBhvr>
                                    </p:animEffect>
                                    <p:anim calcmode="lin" valueType="num">
                                      <p:cBhvr additive="base">
                                        <p:cTn id="53" dur="550" fill="hold"/>
                                        <p:tgtEl>
                                          <p:spTgt spid="16"/>
                                        </p:tgtEl>
                                        <p:attrNameLst>
                                          <p:attrName>ppt_x</p:attrName>
                                        </p:attrNameLst>
                                      </p:cBhvr>
                                      <p:tavLst>
                                        <p:tav tm="0">
                                          <p:val>
                                            <p:strVal val="#ppt_x"/>
                                          </p:val>
                                        </p:tav>
                                        <p:tav tm="100000">
                                          <p:val>
                                            <p:strVal val="#ppt_x"/>
                                          </p:val>
                                        </p:tav>
                                      </p:tavLst>
                                    </p:anim>
                                    <p:anim calcmode="lin" valueType="num">
                                      <p:cBhvr additive="base">
                                        <p:cTn id="54" dur="550" fill="hold"/>
                                        <p:tgtEl>
                                          <p:spTgt spid="16"/>
                                        </p:tgtEl>
                                        <p:attrNameLst>
                                          <p:attrName>ppt_y</p:attrName>
                                        </p:attrNameLst>
                                      </p:cBhvr>
                                      <p:tavLst>
                                        <p:tav tm="0">
                                          <p:val>
                                            <p:strVal val="#ppt_y+.08"/>
                                          </p:val>
                                        </p:tav>
                                        <p:tav tm="100000">
                                          <p:val>
                                            <p:strVal val="#ppt_y"/>
                                          </p:val>
                                        </p:tav>
                                      </p:tavLst>
                                    </p:anim>
                                  </p:childTnLst>
                                </p:cTn>
                              </p:par>
                            </p:childTnLst>
                          </p:cTn>
                        </p:par>
                        <p:par>
                          <p:cTn id="55" fill="hold">
                            <p:stCondLst>
                              <p:cond delay="660"/>
                            </p:stCondLst>
                            <p:childTnLst>
                              <p:par>
                                <p:cTn id="56" presetID="42" presetClass="entr" presetSubtype="0" fill="hold" grpId="0" nodeType="afterEffect">
                                  <p:stCondLst>
                                    <p:cond delay="0"/>
                                  </p:stCondLst>
                                  <p:childTnLst>
                                    <p:set>
                                      <p:cBhvr>
                                        <p:cTn id="57" dur="1" fill="hold">
                                          <p:stCondLst>
                                            <p:cond delay="0"/>
                                          </p:stCondLst>
                                        </p:cTn>
                                        <p:tgtEl>
                                          <p:spTgt spid="17"/>
                                        </p:tgtEl>
                                        <p:attrNameLst>
                                          <p:attrName>style.visibility</p:attrName>
                                        </p:attrNameLst>
                                      </p:cBhvr>
                                      <p:to>
                                        <p:strVal val="visible"/>
                                      </p:to>
                                    </p:set>
                                    <p:animEffect transition="in" filter="fade">
                                      <p:cBhvr>
                                        <p:cTn id="58" dur="550"/>
                                        <p:tgtEl>
                                          <p:spTgt spid="17"/>
                                        </p:tgtEl>
                                      </p:cBhvr>
                                    </p:animEffect>
                                    <p:anim calcmode="lin" valueType="num">
                                      <p:cBhvr additive="base">
                                        <p:cTn id="59" dur="550" fill="hold"/>
                                        <p:tgtEl>
                                          <p:spTgt spid="17"/>
                                        </p:tgtEl>
                                        <p:attrNameLst>
                                          <p:attrName>ppt_x</p:attrName>
                                        </p:attrNameLst>
                                      </p:cBhvr>
                                      <p:tavLst>
                                        <p:tav tm="0">
                                          <p:val>
                                            <p:strVal val="#ppt_x"/>
                                          </p:val>
                                        </p:tav>
                                        <p:tav tm="100000">
                                          <p:val>
                                            <p:strVal val="#ppt_x"/>
                                          </p:val>
                                        </p:tav>
                                      </p:tavLst>
                                    </p:anim>
                                    <p:anim calcmode="lin" valueType="num">
                                      <p:cBhvr additive="base">
                                        <p:cTn id="60" dur="550" fill="hold"/>
                                        <p:tgtEl>
                                          <p:spTgt spid="17"/>
                                        </p:tgtEl>
                                        <p:attrNameLst>
                                          <p:attrName>ppt_y</p:attrName>
                                        </p:attrNameLst>
                                      </p:cBhvr>
                                      <p:tavLst>
                                        <p:tav tm="0">
                                          <p:val>
                                            <p:strVal val="#ppt_y+.08"/>
                                          </p:val>
                                        </p:tav>
                                        <p:tav tm="100000">
                                          <p:val>
                                            <p:strVal val="#ppt_y"/>
                                          </p:val>
                                        </p:tav>
                                      </p:tavLst>
                                    </p:anim>
                                  </p:childTnLst>
                                </p:cTn>
                              </p:par>
                            </p:childTnLst>
                          </p:cTn>
                        </p:par>
                        <p:par>
                          <p:cTn id="61" fill="hold">
                            <p:stCondLst>
                              <p:cond delay="660"/>
                            </p:stCondLst>
                            <p:childTnLst>
                              <p:par>
                                <p:cTn id="62" presetID="42" presetClass="entr" presetSubtype="0" fill="hold" grpId="0" nodeType="afterEffect">
                                  <p:stCondLst>
                                    <p:cond delay="0"/>
                                  </p:stCondLst>
                                  <p:childTnLst>
                                    <p:set>
                                      <p:cBhvr>
                                        <p:cTn id="63" dur="1" fill="hold">
                                          <p:stCondLst>
                                            <p:cond delay="0"/>
                                          </p:stCondLst>
                                        </p:cTn>
                                        <p:tgtEl>
                                          <p:spTgt spid="18"/>
                                        </p:tgtEl>
                                        <p:attrNameLst>
                                          <p:attrName>style.visibility</p:attrName>
                                        </p:attrNameLst>
                                      </p:cBhvr>
                                      <p:to>
                                        <p:strVal val="visible"/>
                                      </p:to>
                                    </p:set>
                                    <p:animEffect transition="in" filter="fade">
                                      <p:cBhvr>
                                        <p:cTn id="64" dur="550"/>
                                        <p:tgtEl>
                                          <p:spTgt spid="18"/>
                                        </p:tgtEl>
                                      </p:cBhvr>
                                    </p:animEffect>
                                    <p:anim calcmode="lin" valueType="num">
                                      <p:cBhvr additive="base">
                                        <p:cTn id="65" dur="550" fill="hold"/>
                                        <p:tgtEl>
                                          <p:spTgt spid="18"/>
                                        </p:tgtEl>
                                        <p:attrNameLst>
                                          <p:attrName>ppt_x</p:attrName>
                                        </p:attrNameLst>
                                      </p:cBhvr>
                                      <p:tavLst>
                                        <p:tav tm="0">
                                          <p:val>
                                            <p:strVal val="#ppt_x"/>
                                          </p:val>
                                        </p:tav>
                                        <p:tav tm="100000">
                                          <p:val>
                                            <p:strVal val="#ppt_x"/>
                                          </p:val>
                                        </p:tav>
                                      </p:tavLst>
                                    </p:anim>
                                    <p:anim calcmode="lin" valueType="num">
                                      <p:cBhvr additive="base">
                                        <p:cTn id="66" dur="550" fill="hold"/>
                                        <p:tgtEl>
                                          <p:spTgt spid="18"/>
                                        </p:tgtEl>
                                        <p:attrNameLst>
                                          <p:attrName>ppt_y</p:attrName>
                                        </p:attrNameLst>
                                      </p:cBhvr>
                                      <p:tavLst>
                                        <p:tav tm="0">
                                          <p:val>
                                            <p:strVal val="#ppt_y+.08"/>
                                          </p:val>
                                        </p:tav>
                                        <p:tav tm="100000">
                                          <p:val>
                                            <p:strVal val="#ppt_y"/>
                                          </p:val>
                                        </p:tav>
                                      </p:tavLst>
                                    </p:anim>
                                  </p:childTnLst>
                                </p:cTn>
                              </p:par>
                            </p:childTnLst>
                          </p:cTn>
                        </p:par>
                        <p:par>
                          <p:cTn id="67" fill="hold">
                            <p:stCondLst>
                              <p:cond delay="660"/>
                            </p:stCondLst>
                            <p:childTnLst>
                              <p:par>
                                <p:cTn id="68" presetID="53" presetClass="entr" presetSubtype="16" fill="hold" grpId="0" nodeType="afterEffect">
                                  <p:stCondLst>
                                    <p:cond delay="0"/>
                                  </p:stCondLst>
                                  <p:childTnLst>
                                    <p:set>
                                      <p:cBhvr>
                                        <p:cTn id="69" dur="1" fill="hold">
                                          <p:stCondLst>
                                            <p:cond delay="0"/>
                                          </p:stCondLst>
                                        </p:cTn>
                                        <p:tgtEl>
                                          <p:spTgt spid="19"/>
                                        </p:tgtEl>
                                        <p:attrNameLst>
                                          <p:attrName>style.visibility</p:attrName>
                                        </p:attrNameLst>
                                      </p:cBhvr>
                                      <p:to>
                                        <p:strVal val="visible"/>
                                      </p:to>
                                    </p:set>
                                    <p:animEffect transition="in" filter="fade">
                                      <p:cBhvr>
                                        <p:cTn id="70" dur="550"/>
                                        <p:tgtEl>
                                          <p:spTgt spid="19"/>
                                        </p:tgtEl>
                                      </p:cBhvr>
                                    </p:animEffect>
                                    <p:anim calcmode="lin" valueType="num">
                                      <p:cBhvr additive="base">
                                        <p:cTn id="71" dur="550" fill="hold"/>
                                        <p:tgtEl>
                                          <p:spTgt spid="19"/>
                                        </p:tgtEl>
                                        <p:attrNameLst>
                                          <p:attrName>ppt_w</p:attrName>
                                        </p:attrNameLst>
                                      </p:cBhvr>
                                      <p:tavLst>
                                        <p:tav tm="0">
                                          <p:val>
                                            <p:strVal val="0"/>
                                          </p:val>
                                        </p:tav>
                                        <p:tav tm="100000">
                                          <p:val>
                                            <p:strVal val="#ppt_w"/>
                                          </p:val>
                                        </p:tav>
                                      </p:tavLst>
                                    </p:anim>
                                    <p:anim calcmode="lin" valueType="num">
                                      <p:cBhvr additive="base">
                                        <p:cTn id="72" dur="550" fill="hold"/>
                                        <p:tgtEl>
                                          <p:spTgt spid="19"/>
                                        </p:tgtEl>
                                        <p:attrNameLst>
                                          <p:attrName>ppt_h</p:attrName>
                                        </p:attrNameLst>
                                      </p:cBhvr>
                                      <p:tavLst>
                                        <p:tav tm="0">
                                          <p:val>
                                            <p:strVal val="0"/>
                                          </p:val>
                                        </p:tav>
                                        <p:tav tm="100000">
                                          <p:val>
                                            <p:strVal val="#ppt_h"/>
                                          </p:val>
                                        </p:tav>
                                      </p:tavLst>
                                    </p:anim>
                                  </p:childTnLst>
                                </p:cTn>
                              </p:par>
                            </p:childTnLst>
                          </p:cTn>
                        </p:par>
                        <p:par>
                          <p:cTn id="73" fill="hold">
                            <p:stCondLst>
                              <p:cond delay="660"/>
                            </p:stCondLst>
                            <p:childTnLst>
                              <p:par>
                                <p:cTn id="74" presetID="42" presetClass="entr" presetSubtype="0" fill="hold" grpId="0" nodeType="afterEffect">
                                  <p:stCondLst>
                                    <p:cond delay="0"/>
                                  </p:stCondLst>
                                  <p:childTnLst>
                                    <p:set>
                                      <p:cBhvr>
                                        <p:cTn id="75" dur="1" fill="hold">
                                          <p:stCondLst>
                                            <p:cond delay="0"/>
                                          </p:stCondLst>
                                        </p:cTn>
                                        <p:tgtEl>
                                          <p:spTgt spid="20"/>
                                        </p:tgtEl>
                                        <p:attrNameLst>
                                          <p:attrName>style.visibility</p:attrName>
                                        </p:attrNameLst>
                                      </p:cBhvr>
                                      <p:to>
                                        <p:strVal val="visible"/>
                                      </p:to>
                                    </p:set>
                                    <p:animEffect transition="in" filter="fade">
                                      <p:cBhvr>
                                        <p:cTn id="76" dur="550"/>
                                        <p:tgtEl>
                                          <p:spTgt spid="20"/>
                                        </p:tgtEl>
                                      </p:cBhvr>
                                    </p:animEffect>
                                    <p:anim calcmode="lin" valueType="num">
                                      <p:cBhvr additive="base">
                                        <p:cTn id="77" dur="550" fill="hold"/>
                                        <p:tgtEl>
                                          <p:spTgt spid="20"/>
                                        </p:tgtEl>
                                        <p:attrNameLst>
                                          <p:attrName>ppt_x</p:attrName>
                                        </p:attrNameLst>
                                      </p:cBhvr>
                                      <p:tavLst>
                                        <p:tav tm="0">
                                          <p:val>
                                            <p:strVal val="#ppt_x"/>
                                          </p:val>
                                        </p:tav>
                                        <p:tav tm="100000">
                                          <p:val>
                                            <p:strVal val="#ppt_x"/>
                                          </p:val>
                                        </p:tav>
                                      </p:tavLst>
                                    </p:anim>
                                    <p:anim calcmode="lin" valueType="num">
                                      <p:cBhvr additive="base">
                                        <p:cTn id="78" dur="550" fill="hold"/>
                                        <p:tgtEl>
                                          <p:spTgt spid="20"/>
                                        </p:tgtEl>
                                        <p:attrNameLst>
                                          <p:attrName>ppt_y</p:attrName>
                                        </p:attrNameLst>
                                      </p:cBhvr>
                                      <p:tavLst>
                                        <p:tav tm="0">
                                          <p:val>
                                            <p:strVal val="#ppt_y+.08"/>
                                          </p:val>
                                        </p:tav>
                                        <p:tav tm="100000">
                                          <p:val>
                                            <p:strVal val="#ppt_y"/>
                                          </p:val>
                                        </p:tav>
                                      </p:tavLst>
                                    </p:anim>
                                  </p:childTnLst>
                                </p:cTn>
                              </p:par>
                            </p:childTnLst>
                          </p:cTn>
                        </p:par>
                        <p:par>
                          <p:cTn id="79" fill="hold">
                            <p:stCondLst>
                              <p:cond delay="880"/>
                            </p:stCondLst>
                            <p:childTnLst>
                              <p:par>
                                <p:cTn id="80" presetID="42" presetClass="entr" presetSubtype="0" fill="hold" grpId="0" nodeType="afterEffect">
                                  <p:stCondLst>
                                    <p:cond delay="0"/>
                                  </p:stCondLst>
                                  <p:childTnLst>
                                    <p:set>
                                      <p:cBhvr>
                                        <p:cTn id="81" dur="1" fill="hold">
                                          <p:stCondLst>
                                            <p:cond delay="0"/>
                                          </p:stCondLst>
                                        </p:cTn>
                                        <p:tgtEl>
                                          <p:spTgt spid="21"/>
                                        </p:tgtEl>
                                        <p:attrNameLst>
                                          <p:attrName>style.visibility</p:attrName>
                                        </p:attrNameLst>
                                      </p:cBhvr>
                                      <p:to>
                                        <p:strVal val="visible"/>
                                      </p:to>
                                    </p:set>
                                    <p:animEffect transition="in" filter="fade">
                                      <p:cBhvr>
                                        <p:cTn id="82" dur="550"/>
                                        <p:tgtEl>
                                          <p:spTgt spid="21"/>
                                        </p:tgtEl>
                                      </p:cBhvr>
                                    </p:animEffect>
                                    <p:anim calcmode="lin" valueType="num">
                                      <p:cBhvr additive="base">
                                        <p:cTn id="83" dur="550" fill="hold"/>
                                        <p:tgtEl>
                                          <p:spTgt spid="21"/>
                                        </p:tgtEl>
                                        <p:attrNameLst>
                                          <p:attrName>ppt_x</p:attrName>
                                        </p:attrNameLst>
                                      </p:cBhvr>
                                      <p:tavLst>
                                        <p:tav tm="0">
                                          <p:val>
                                            <p:strVal val="#ppt_x"/>
                                          </p:val>
                                        </p:tav>
                                        <p:tav tm="100000">
                                          <p:val>
                                            <p:strVal val="#ppt_x"/>
                                          </p:val>
                                        </p:tav>
                                      </p:tavLst>
                                    </p:anim>
                                    <p:anim calcmode="lin" valueType="num">
                                      <p:cBhvr additive="base">
                                        <p:cTn id="84" dur="550" fill="hold"/>
                                        <p:tgtEl>
                                          <p:spTgt spid="21"/>
                                        </p:tgtEl>
                                        <p:attrNameLst>
                                          <p:attrName>ppt_y</p:attrName>
                                        </p:attrNameLst>
                                      </p:cBhvr>
                                      <p:tavLst>
                                        <p:tav tm="0">
                                          <p:val>
                                            <p:strVal val="#ppt_y+.08"/>
                                          </p:val>
                                        </p:tav>
                                        <p:tav tm="100000">
                                          <p:val>
                                            <p:strVal val="#ppt_y"/>
                                          </p:val>
                                        </p:tav>
                                      </p:tavLst>
                                    </p:anim>
                                  </p:childTnLst>
                                </p:cTn>
                              </p:par>
                            </p:childTnLst>
                          </p:cTn>
                        </p:par>
                        <p:par>
                          <p:cTn id="85" fill="hold">
                            <p:stCondLst>
                              <p:cond delay="880"/>
                            </p:stCondLst>
                            <p:childTnLst>
                              <p:par>
                                <p:cTn id="86" presetID="42" presetClass="entr" presetSubtype="0" fill="hold" grpId="0" nodeType="afterEffect">
                                  <p:stCondLst>
                                    <p:cond delay="0"/>
                                  </p:stCondLst>
                                  <p:childTnLst>
                                    <p:set>
                                      <p:cBhvr>
                                        <p:cTn id="87" dur="1" fill="hold">
                                          <p:stCondLst>
                                            <p:cond delay="0"/>
                                          </p:stCondLst>
                                        </p:cTn>
                                        <p:tgtEl>
                                          <p:spTgt spid="22"/>
                                        </p:tgtEl>
                                        <p:attrNameLst>
                                          <p:attrName>style.visibility</p:attrName>
                                        </p:attrNameLst>
                                      </p:cBhvr>
                                      <p:to>
                                        <p:strVal val="visible"/>
                                      </p:to>
                                    </p:set>
                                    <p:animEffect transition="in" filter="fade">
                                      <p:cBhvr>
                                        <p:cTn id="88" dur="550"/>
                                        <p:tgtEl>
                                          <p:spTgt spid="22"/>
                                        </p:tgtEl>
                                      </p:cBhvr>
                                    </p:animEffect>
                                    <p:anim calcmode="lin" valueType="num">
                                      <p:cBhvr additive="base">
                                        <p:cTn id="89" dur="550" fill="hold"/>
                                        <p:tgtEl>
                                          <p:spTgt spid="22"/>
                                        </p:tgtEl>
                                        <p:attrNameLst>
                                          <p:attrName>ppt_x</p:attrName>
                                        </p:attrNameLst>
                                      </p:cBhvr>
                                      <p:tavLst>
                                        <p:tav tm="0">
                                          <p:val>
                                            <p:strVal val="#ppt_x"/>
                                          </p:val>
                                        </p:tav>
                                        <p:tav tm="100000">
                                          <p:val>
                                            <p:strVal val="#ppt_x"/>
                                          </p:val>
                                        </p:tav>
                                      </p:tavLst>
                                    </p:anim>
                                    <p:anim calcmode="lin" valueType="num">
                                      <p:cBhvr additive="base">
                                        <p:cTn id="90" dur="550" fill="hold"/>
                                        <p:tgtEl>
                                          <p:spTgt spid="22"/>
                                        </p:tgtEl>
                                        <p:attrNameLst>
                                          <p:attrName>ppt_y</p:attrName>
                                        </p:attrNameLst>
                                      </p:cBhvr>
                                      <p:tavLst>
                                        <p:tav tm="0">
                                          <p:val>
                                            <p:strVal val="#ppt_y+.08"/>
                                          </p:val>
                                        </p:tav>
                                        <p:tav tm="100000">
                                          <p:val>
                                            <p:strVal val="#ppt_y"/>
                                          </p:val>
                                        </p:tav>
                                      </p:tavLst>
                                    </p:anim>
                                  </p:childTnLst>
                                </p:cTn>
                              </p:par>
                            </p:childTnLst>
                          </p:cTn>
                        </p:par>
                        <p:par>
                          <p:cTn id="91" fill="hold">
                            <p:stCondLst>
                              <p:cond delay="880"/>
                            </p:stCondLst>
                            <p:childTnLst>
                              <p:par>
                                <p:cTn id="92" presetID="53" presetClass="entr" presetSubtype="16" fill="hold" grpId="0" nodeType="afterEffect">
                                  <p:stCondLst>
                                    <p:cond delay="0"/>
                                  </p:stCondLst>
                                  <p:childTnLst>
                                    <p:set>
                                      <p:cBhvr>
                                        <p:cTn id="93" dur="1" fill="hold">
                                          <p:stCondLst>
                                            <p:cond delay="0"/>
                                          </p:stCondLst>
                                        </p:cTn>
                                        <p:tgtEl>
                                          <p:spTgt spid="23"/>
                                        </p:tgtEl>
                                        <p:attrNameLst>
                                          <p:attrName>style.visibility</p:attrName>
                                        </p:attrNameLst>
                                      </p:cBhvr>
                                      <p:to>
                                        <p:strVal val="visible"/>
                                      </p:to>
                                    </p:set>
                                    <p:animEffect transition="in" filter="fade">
                                      <p:cBhvr>
                                        <p:cTn id="94" dur="550"/>
                                        <p:tgtEl>
                                          <p:spTgt spid="23"/>
                                        </p:tgtEl>
                                      </p:cBhvr>
                                    </p:animEffect>
                                    <p:anim calcmode="lin" valueType="num">
                                      <p:cBhvr additive="base">
                                        <p:cTn id="95" dur="550" fill="hold"/>
                                        <p:tgtEl>
                                          <p:spTgt spid="23"/>
                                        </p:tgtEl>
                                        <p:attrNameLst>
                                          <p:attrName>ppt_w</p:attrName>
                                        </p:attrNameLst>
                                      </p:cBhvr>
                                      <p:tavLst>
                                        <p:tav tm="0">
                                          <p:val>
                                            <p:strVal val="0"/>
                                          </p:val>
                                        </p:tav>
                                        <p:tav tm="100000">
                                          <p:val>
                                            <p:strVal val="#ppt_w"/>
                                          </p:val>
                                        </p:tav>
                                      </p:tavLst>
                                    </p:anim>
                                    <p:anim calcmode="lin" valueType="num">
                                      <p:cBhvr additive="base">
                                        <p:cTn id="96" dur="550" fill="hold"/>
                                        <p:tgtEl>
                                          <p:spTgt spid="23"/>
                                        </p:tgtEl>
                                        <p:attrNameLst>
                                          <p:attrName>ppt_h</p:attrName>
                                        </p:attrNameLst>
                                      </p:cBhvr>
                                      <p:tavLst>
                                        <p:tav tm="0">
                                          <p:val>
                                            <p:strVal val="0"/>
                                          </p:val>
                                        </p:tav>
                                        <p:tav tm="100000">
                                          <p:val>
                                            <p:strVal val="#ppt_h"/>
                                          </p:val>
                                        </p:tav>
                                      </p:tavLst>
                                    </p:anim>
                                  </p:childTnLst>
                                </p:cTn>
                              </p:par>
                            </p:childTnLst>
                          </p:cTn>
                        </p:par>
                        <p:par>
                          <p:cTn id="97" fill="hold">
                            <p:stCondLst>
                              <p:cond delay="880"/>
                            </p:stCondLst>
                            <p:childTnLst>
                              <p:par>
                                <p:cTn id="98" presetID="42" presetClass="entr" presetSubtype="0" fill="hold" grpId="0" nodeType="afterEffect">
                                  <p:stCondLst>
                                    <p:cond delay="0"/>
                                  </p:stCondLst>
                                  <p:childTnLst>
                                    <p:set>
                                      <p:cBhvr>
                                        <p:cTn id="99" dur="1" fill="hold">
                                          <p:stCondLst>
                                            <p:cond delay="0"/>
                                          </p:stCondLst>
                                        </p:cTn>
                                        <p:tgtEl>
                                          <p:spTgt spid="24"/>
                                        </p:tgtEl>
                                        <p:attrNameLst>
                                          <p:attrName>style.visibility</p:attrName>
                                        </p:attrNameLst>
                                      </p:cBhvr>
                                      <p:to>
                                        <p:strVal val="visible"/>
                                      </p:to>
                                    </p:set>
                                    <p:animEffect transition="in" filter="fade">
                                      <p:cBhvr>
                                        <p:cTn id="100" dur="550"/>
                                        <p:tgtEl>
                                          <p:spTgt spid="24"/>
                                        </p:tgtEl>
                                      </p:cBhvr>
                                    </p:animEffect>
                                    <p:anim calcmode="lin" valueType="num">
                                      <p:cBhvr additive="base">
                                        <p:cTn id="101" dur="550" fill="hold"/>
                                        <p:tgtEl>
                                          <p:spTgt spid="24"/>
                                        </p:tgtEl>
                                        <p:attrNameLst>
                                          <p:attrName>ppt_x</p:attrName>
                                        </p:attrNameLst>
                                      </p:cBhvr>
                                      <p:tavLst>
                                        <p:tav tm="0">
                                          <p:val>
                                            <p:strVal val="#ppt_x"/>
                                          </p:val>
                                        </p:tav>
                                        <p:tav tm="100000">
                                          <p:val>
                                            <p:strVal val="#ppt_x"/>
                                          </p:val>
                                        </p:tav>
                                      </p:tavLst>
                                    </p:anim>
                                    <p:anim calcmode="lin" valueType="num">
                                      <p:cBhvr additive="base">
                                        <p:cTn id="102" dur="550" fill="hold"/>
                                        <p:tgtEl>
                                          <p:spTgt spid="24"/>
                                        </p:tgtEl>
                                        <p:attrNameLst>
                                          <p:attrName>ppt_y</p:attrName>
                                        </p:attrNameLst>
                                      </p:cBhvr>
                                      <p:tavLst>
                                        <p:tav tm="0">
                                          <p:val>
                                            <p:strVal val="#ppt_y+.08"/>
                                          </p:val>
                                        </p:tav>
                                        <p:tav tm="100000">
                                          <p:val>
                                            <p:strVal val="#ppt_y"/>
                                          </p:val>
                                        </p:tav>
                                      </p:tavLst>
                                    </p:anim>
                                  </p:childTnLst>
                                </p:cTn>
                              </p:par>
                            </p:childTnLst>
                          </p:cTn>
                        </p:par>
                        <p:par>
                          <p:cTn id="103" fill="hold">
                            <p:stCondLst>
                              <p:cond delay="1100"/>
                            </p:stCondLst>
                            <p:childTnLst>
                              <p:par>
                                <p:cTn id="104" presetID="42" presetClass="entr" presetSubtype="0" fill="hold" grpId="0" nodeType="afterEffect">
                                  <p:stCondLst>
                                    <p:cond delay="0"/>
                                  </p:stCondLst>
                                  <p:childTnLst>
                                    <p:set>
                                      <p:cBhvr>
                                        <p:cTn id="105" dur="1" fill="hold">
                                          <p:stCondLst>
                                            <p:cond delay="0"/>
                                          </p:stCondLst>
                                        </p:cTn>
                                        <p:tgtEl>
                                          <p:spTgt spid="25"/>
                                        </p:tgtEl>
                                        <p:attrNameLst>
                                          <p:attrName>style.visibility</p:attrName>
                                        </p:attrNameLst>
                                      </p:cBhvr>
                                      <p:to>
                                        <p:strVal val="visible"/>
                                      </p:to>
                                    </p:set>
                                    <p:animEffect transition="in" filter="fade">
                                      <p:cBhvr>
                                        <p:cTn id="106" dur="550"/>
                                        <p:tgtEl>
                                          <p:spTgt spid="25"/>
                                        </p:tgtEl>
                                      </p:cBhvr>
                                    </p:animEffect>
                                    <p:anim calcmode="lin" valueType="num">
                                      <p:cBhvr additive="base">
                                        <p:cTn id="107" dur="550" fill="hold"/>
                                        <p:tgtEl>
                                          <p:spTgt spid="25"/>
                                        </p:tgtEl>
                                        <p:attrNameLst>
                                          <p:attrName>ppt_x</p:attrName>
                                        </p:attrNameLst>
                                      </p:cBhvr>
                                      <p:tavLst>
                                        <p:tav tm="0">
                                          <p:val>
                                            <p:strVal val="#ppt_x"/>
                                          </p:val>
                                        </p:tav>
                                        <p:tav tm="100000">
                                          <p:val>
                                            <p:strVal val="#ppt_x"/>
                                          </p:val>
                                        </p:tav>
                                      </p:tavLst>
                                    </p:anim>
                                    <p:anim calcmode="lin" valueType="num">
                                      <p:cBhvr additive="base">
                                        <p:cTn id="108" dur="550" fill="hold"/>
                                        <p:tgtEl>
                                          <p:spTgt spid="25"/>
                                        </p:tgtEl>
                                        <p:attrNameLst>
                                          <p:attrName>ppt_y</p:attrName>
                                        </p:attrNameLst>
                                      </p:cBhvr>
                                      <p:tavLst>
                                        <p:tav tm="0">
                                          <p:val>
                                            <p:strVal val="#ppt_y+.08"/>
                                          </p:val>
                                        </p:tav>
                                        <p:tav tm="100000">
                                          <p:val>
                                            <p:strVal val="#ppt_y"/>
                                          </p:val>
                                        </p:tav>
                                      </p:tavLst>
                                    </p:anim>
                                  </p:childTnLst>
                                </p:cTn>
                              </p:par>
                            </p:childTnLst>
                          </p:cTn>
                        </p:par>
                        <p:par>
                          <p:cTn id="109" fill="hold">
                            <p:stCondLst>
                              <p:cond delay="1100"/>
                            </p:stCondLst>
                            <p:childTnLst>
                              <p:par>
                                <p:cTn id="110" presetID="42" presetClass="entr" presetSubtype="0" fill="hold" grpId="0" nodeType="afterEffect">
                                  <p:stCondLst>
                                    <p:cond delay="0"/>
                                  </p:stCondLst>
                                  <p:childTnLst>
                                    <p:set>
                                      <p:cBhvr>
                                        <p:cTn id="111" dur="1" fill="hold">
                                          <p:stCondLst>
                                            <p:cond delay="0"/>
                                          </p:stCondLst>
                                        </p:cTn>
                                        <p:tgtEl>
                                          <p:spTgt spid="26"/>
                                        </p:tgtEl>
                                        <p:attrNameLst>
                                          <p:attrName>style.visibility</p:attrName>
                                        </p:attrNameLst>
                                      </p:cBhvr>
                                      <p:to>
                                        <p:strVal val="visible"/>
                                      </p:to>
                                    </p:set>
                                    <p:animEffect transition="in" filter="fade">
                                      <p:cBhvr>
                                        <p:cTn id="112" dur="550"/>
                                        <p:tgtEl>
                                          <p:spTgt spid="26"/>
                                        </p:tgtEl>
                                      </p:cBhvr>
                                    </p:animEffect>
                                    <p:anim calcmode="lin" valueType="num">
                                      <p:cBhvr additive="base">
                                        <p:cTn id="113" dur="550" fill="hold"/>
                                        <p:tgtEl>
                                          <p:spTgt spid="26"/>
                                        </p:tgtEl>
                                        <p:attrNameLst>
                                          <p:attrName>ppt_x</p:attrName>
                                        </p:attrNameLst>
                                      </p:cBhvr>
                                      <p:tavLst>
                                        <p:tav tm="0">
                                          <p:val>
                                            <p:strVal val="#ppt_x"/>
                                          </p:val>
                                        </p:tav>
                                        <p:tav tm="100000">
                                          <p:val>
                                            <p:strVal val="#ppt_x"/>
                                          </p:val>
                                        </p:tav>
                                      </p:tavLst>
                                    </p:anim>
                                    <p:anim calcmode="lin" valueType="num">
                                      <p:cBhvr additive="base">
                                        <p:cTn id="114" dur="550" fill="hold"/>
                                        <p:tgtEl>
                                          <p:spTgt spid="26"/>
                                        </p:tgtEl>
                                        <p:attrNameLst>
                                          <p:attrName>ppt_y</p:attrName>
                                        </p:attrNameLst>
                                      </p:cBhvr>
                                      <p:tavLst>
                                        <p:tav tm="0">
                                          <p:val>
                                            <p:strVal val="#ppt_y+.08"/>
                                          </p:val>
                                        </p:tav>
                                        <p:tav tm="100000">
                                          <p:val>
                                            <p:strVal val="#ppt_y"/>
                                          </p:val>
                                        </p:tav>
                                      </p:tavLst>
                                    </p:anim>
                                  </p:childTnLst>
                                </p:cTn>
                              </p:par>
                            </p:childTnLst>
                          </p:cTn>
                        </p:par>
                        <p:par>
                          <p:cTn id="115" fill="hold">
                            <p:stCondLst>
                              <p:cond delay="1100"/>
                            </p:stCondLst>
                            <p:childTnLst>
                              <p:par>
                                <p:cTn id="116" presetID="53" presetClass="entr" presetSubtype="16" fill="hold" grpId="0" nodeType="afterEffect">
                                  <p:stCondLst>
                                    <p:cond delay="0"/>
                                  </p:stCondLst>
                                  <p:childTnLst>
                                    <p:set>
                                      <p:cBhvr>
                                        <p:cTn id="117" dur="1" fill="hold">
                                          <p:stCondLst>
                                            <p:cond delay="0"/>
                                          </p:stCondLst>
                                        </p:cTn>
                                        <p:tgtEl>
                                          <p:spTgt spid="27"/>
                                        </p:tgtEl>
                                        <p:attrNameLst>
                                          <p:attrName>style.visibility</p:attrName>
                                        </p:attrNameLst>
                                      </p:cBhvr>
                                      <p:to>
                                        <p:strVal val="visible"/>
                                      </p:to>
                                    </p:set>
                                    <p:animEffect transition="in" filter="fade">
                                      <p:cBhvr>
                                        <p:cTn id="118" dur="550"/>
                                        <p:tgtEl>
                                          <p:spTgt spid="27"/>
                                        </p:tgtEl>
                                      </p:cBhvr>
                                    </p:animEffect>
                                    <p:anim calcmode="lin" valueType="num">
                                      <p:cBhvr additive="base">
                                        <p:cTn id="119" dur="550" fill="hold"/>
                                        <p:tgtEl>
                                          <p:spTgt spid="27"/>
                                        </p:tgtEl>
                                        <p:attrNameLst>
                                          <p:attrName>ppt_w</p:attrName>
                                        </p:attrNameLst>
                                      </p:cBhvr>
                                      <p:tavLst>
                                        <p:tav tm="0">
                                          <p:val>
                                            <p:strVal val="0"/>
                                          </p:val>
                                        </p:tav>
                                        <p:tav tm="100000">
                                          <p:val>
                                            <p:strVal val="#ppt_w"/>
                                          </p:val>
                                        </p:tav>
                                      </p:tavLst>
                                    </p:anim>
                                    <p:anim calcmode="lin" valueType="num">
                                      <p:cBhvr additive="base">
                                        <p:cTn id="120" dur="550" fill="hold"/>
                                        <p:tgtEl>
                                          <p:spTgt spid="27"/>
                                        </p:tgtEl>
                                        <p:attrNameLst>
                                          <p:attrName>ppt_h</p:attrName>
                                        </p:attrNameLst>
                                      </p:cBhvr>
                                      <p:tavLst>
                                        <p:tav tm="0">
                                          <p:val>
                                            <p:strVal val="0"/>
                                          </p:val>
                                        </p:tav>
                                        <p:tav tm="100000">
                                          <p:val>
                                            <p:strVal val="#ppt_h"/>
                                          </p:val>
                                        </p:tav>
                                      </p:tavLst>
                                    </p:anim>
                                  </p:childTnLst>
                                </p:cTn>
                              </p:par>
                            </p:childTnLst>
                          </p:cTn>
                        </p:par>
                        <p:par>
                          <p:cTn id="121" fill="hold">
                            <p:stCondLst>
                              <p:cond delay="1100"/>
                            </p:stCondLst>
                            <p:childTnLst>
                              <p:par>
                                <p:cTn id="122" presetID="42" presetClass="entr" presetSubtype="0" fill="hold" grpId="0" nodeType="afterEffect">
                                  <p:stCondLst>
                                    <p:cond delay="0"/>
                                  </p:stCondLst>
                                  <p:childTnLst>
                                    <p:set>
                                      <p:cBhvr>
                                        <p:cTn id="123" dur="1" fill="hold">
                                          <p:stCondLst>
                                            <p:cond delay="0"/>
                                          </p:stCondLst>
                                        </p:cTn>
                                        <p:tgtEl>
                                          <p:spTgt spid="28"/>
                                        </p:tgtEl>
                                        <p:attrNameLst>
                                          <p:attrName>style.visibility</p:attrName>
                                        </p:attrNameLst>
                                      </p:cBhvr>
                                      <p:to>
                                        <p:strVal val="visible"/>
                                      </p:to>
                                    </p:set>
                                    <p:animEffect transition="in" filter="fade">
                                      <p:cBhvr>
                                        <p:cTn id="124" dur="550"/>
                                        <p:tgtEl>
                                          <p:spTgt spid="28"/>
                                        </p:tgtEl>
                                      </p:cBhvr>
                                    </p:animEffect>
                                    <p:anim calcmode="lin" valueType="num">
                                      <p:cBhvr additive="base">
                                        <p:cTn id="125" dur="550" fill="hold"/>
                                        <p:tgtEl>
                                          <p:spTgt spid="28"/>
                                        </p:tgtEl>
                                        <p:attrNameLst>
                                          <p:attrName>ppt_x</p:attrName>
                                        </p:attrNameLst>
                                      </p:cBhvr>
                                      <p:tavLst>
                                        <p:tav tm="0">
                                          <p:val>
                                            <p:strVal val="#ppt_x"/>
                                          </p:val>
                                        </p:tav>
                                        <p:tav tm="100000">
                                          <p:val>
                                            <p:strVal val="#ppt_x"/>
                                          </p:val>
                                        </p:tav>
                                      </p:tavLst>
                                    </p:anim>
                                    <p:anim calcmode="lin" valueType="num">
                                      <p:cBhvr additive="base">
                                        <p:cTn id="126" dur="550" fill="hold"/>
                                        <p:tgtEl>
                                          <p:spTgt spid="28"/>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P spid="25" grpId="0" animBg="1"/>
      <p:bldP spid="26" grpId="0" animBg="1"/>
      <p:bldP spid="27" grpId="0" animBg="1"/>
      <p:bldP spid="28" grpId="0" animBg="1"/>
    </p:bldLst>
  </p:timing>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200000"/>
            <a:ext cx="10400000" cy="650000"/>
          </a:xfrm>
          <a:prstGeom prst="rect">
            <a:avLst/>
          </a:prstGeom>
          <a:noFill/>
        </p:spPr>
        <p:txBody>
          <a:bodyPr wrap="square" anchor="ctr" lIns="50800" rIns="50800">
            <a:spAutoFit/>
          </a:bodyPr>
          <a:lstStyle/>
          <a:p>
            <a:pPr algn="l"/>
            <a:r>
              <a:rPr sz="2600" b="1">
                <a:solidFill>
                  <a:srgbClr val="FFFFFF"/>
                </a:solidFill>
                <a:latin typeface="Calibri"/>
              </a:rPr>
              <a:t>Mavzuning maqsadi va o'rganish natijalari (2)</a:t>
            </a:r>
          </a:p>
        </p:txBody>
      </p:sp>
      <p:sp>
        <p:nvSpPr>
          <p:cNvPr id="6" name="Rectangle 5"/>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A1 · Sun'iy intellektga asoslangan kompyuter tizimlari arxitekturasini tahlil qilish va loyihalash</a:t>
            </a:r>
          </a:p>
        </p:txBody>
      </p:sp>
      <p:sp>
        <p:nvSpPr>
          <p:cNvPr id="8" name="TextBox 7"/>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5</a:t>
            </a:r>
          </a:p>
        </p:txBody>
      </p:sp>
      <p:sp>
        <p:nvSpPr>
          <p:cNvPr id="9" name="Rounded Rectangle 8"/>
          <p:cNvSpPr/>
          <p:nvPr/>
        </p:nvSpPr>
        <p:spPr>
          <a:xfrm>
            <a:off x="550000" y="1620000"/>
            <a:ext cx="11100000" cy="1250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50000" y="1620000"/>
            <a:ext cx="70000" cy="1250000"/>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800000" y="2015000"/>
            <a:ext cx="460000" cy="460000"/>
          </a:xfrm>
          <a:prstGeom prst="ellipse">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6</a:t>
            </a:r>
          </a:p>
        </p:txBody>
      </p:sp>
      <p:sp>
        <p:nvSpPr>
          <p:cNvPr id="12" name="TextBox 11"/>
          <p:cNvSpPr txBox="1"/>
          <p:nvPr/>
        </p:nvSpPr>
        <p:spPr>
          <a:xfrm>
            <a:off x="1450000" y="1620000"/>
            <a:ext cx="10050000" cy="1250000"/>
          </a:xfrm>
          <a:prstGeom prst="rect">
            <a:avLst/>
          </a:prstGeom>
          <a:noFill/>
        </p:spPr>
        <p:txBody>
          <a:bodyPr wrap="square" anchor="ctr" lIns="50800" rIns="50800">
            <a:spAutoFit/>
          </a:bodyPr>
          <a:lstStyle/>
          <a:p>
            <a:pPr algn="l"/>
            <a:r>
              <a:rPr sz="1800" b="0">
                <a:solidFill>
                  <a:srgbClr val="1B2430"/>
                </a:solidFill>
                <a:latin typeface="Calibri"/>
              </a:rPr>
              <a:t>Hardware–Software Co-design tamoyillarini qo'llab, AI tizimining strukturaviy sxemasini matnli tavsif va interfeyslar ro'yxati ko'rinishida hujjatlashtiradi;</a:t>
            </a:r>
          </a:p>
        </p:txBody>
      </p:sp>
      <p:sp>
        <p:nvSpPr>
          <p:cNvPr id="13" name="Rounded Rectangle 12"/>
          <p:cNvSpPr/>
          <p:nvPr/>
        </p:nvSpPr>
        <p:spPr>
          <a:xfrm>
            <a:off x="550000" y="2990000"/>
            <a:ext cx="11100000" cy="1250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550000" y="2990000"/>
            <a:ext cx="70000" cy="1250000"/>
          </a:xfrm>
          <a:prstGeom prst="rect">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00000" y="3385000"/>
            <a:ext cx="460000" cy="460000"/>
          </a:xfrm>
          <a:prstGeom prst="ellipse">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7</a:t>
            </a:r>
          </a:p>
        </p:txBody>
      </p:sp>
      <p:sp>
        <p:nvSpPr>
          <p:cNvPr id="16" name="TextBox 15"/>
          <p:cNvSpPr txBox="1"/>
          <p:nvPr/>
        </p:nvSpPr>
        <p:spPr>
          <a:xfrm>
            <a:off x="1450000" y="2990000"/>
            <a:ext cx="10050000" cy="1250000"/>
          </a:xfrm>
          <a:prstGeom prst="rect">
            <a:avLst/>
          </a:prstGeom>
          <a:noFill/>
        </p:spPr>
        <p:txBody>
          <a:bodyPr wrap="square" anchor="ctr" lIns="50800" rIns="50800">
            <a:spAutoFit/>
          </a:bodyPr>
          <a:lstStyle/>
          <a:p>
            <a:pPr algn="l"/>
            <a:r>
              <a:rPr sz="1800" b="0">
                <a:solidFill>
                  <a:srgbClr val="1B2430"/>
                </a:solidFill>
                <a:latin typeface="Calibri"/>
              </a:rPr>
              <a:t>Python'da yuklama hisobi skriptini yozib, nazariy baholarni real o'lchovlar bilan solishtirish metodikasini qo'llaydi.</a:t>
            </a:r>
          </a:p>
        </p:txBody>
      </p:sp>
      <p:sp>
        <p:nvSpPr>
          <p:cNvPr id="17" name="Rounded Rectangle 16"/>
          <p:cNvSpPr/>
          <p:nvPr/>
        </p:nvSpPr>
        <p:spPr>
          <a:xfrm>
            <a:off x="550000" y="4360000"/>
            <a:ext cx="11100000" cy="1250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550000" y="4360000"/>
            <a:ext cx="70000" cy="1250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800000" y="4755000"/>
            <a:ext cx="460000" cy="46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8</a:t>
            </a:r>
          </a:p>
        </p:txBody>
      </p:sp>
      <p:sp>
        <p:nvSpPr>
          <p:cNvPr id="20" name="TextBox 19"/>
          <p:cNvSpPr txBox="1"/>
          <p:nvPr/>
        </p:nvSpPr>
        <p:spPr>
          <a:xfrm>
            <a:off x="1450000" y="4360000"/>
            <a:ext cx="10050000" cy="1250000"/>
          </a:xfrm>
          <a:prstGeom prst="rect">
            <a:avLst/>
          </a:prstGeom>
          <a:noFill/>
        </p:spPr>
        <p:txBody>
          <a:bodyPr wrap="square" anchor="ctr" lIns="50800" rIns="50800">
            <a:spAutoFit/>
          </a:bodyPr>
          <a:lstStyle/>
          <a:p>
            <a:pPr algn="l"/>
            <a:r>
              <a:rPr sz="1800" b="0">
                <a:solidFill>
                  <a:srgbClr val="1B2430"/>
                </a:solidFill>
                <a:latin typeface="Calibri"/>
              </a:rPr>
              <a:t>Mavzu fanning TN1 (AI tizimlari arxitekturasini tahlil qilish va loyihalash), TN2 (hisoblash platformalarini tanlash va baholash) hamda TN7 (muhandislik hujjatlarini tayyorlash va…</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79"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5"/>
                                        </p:tgtEl>
                                        <p:attrNameLst>
                                          <p:attrName>style.visibility</p:attrName>
                                        </p:attrNameLst>
                                      </p:cBhvr>
                                      <p:to>
                                        <p:strVal val="visible"/>
                                      </p:to>
                                    </p:set>
                                    <p:animEffect transition="in" filter="fade">
                                      <p:cBhvr>
                                        <p:cTn id="6" dur="550"/>
                                        <p:tgtEl>
                                          <p:spTgt spid="5"/>
                                        </p:tgtEl>
                                      </p:cBhvr>
                                    </p:animEffect>
                                  </p:childTnLst>
                                </p:cTn>
                              </p:par>
                            </p:childTnLst>
                          </p:cTn>
                        </p:par>
                        <p:par>
                          <p:cTn id="7" fill="hold">
                            <p:stCondLst>
                              <p:cond delay="220"/>
                            </p:stCondLst>
                            <p:childTnLst>
                              <p:par>
                                <p:cTn id="8" presetID="42" presetClass="entr" presetSubtype="0" fill="hold" grpId="0" nodeType="afterEffect">
                                  <p:stCondLst>
                                    <p:cond delay="0"/>
                                  </p:stCondLst>
                                  <p:childTnLst>
                                    <p:set>
                                      <p:cBhvr>
                                        <p:cTn id="9" dur="1" fill="hold">
                                          <p:stCondLst>
                                            <p:cond delay="0"/>
                                          </p:stCondLst>
                                        </p:cTn>
                                        <p:tgtEl>
                                          <p:spTgt spid="9"/>
                                        </p:tgtEl>
                                        <p:attrNameLst>
                                          <p:attrName>style.visibility</p:attrName>
                                        </p:attrNameLst>
                                      </p:cBhvr>
                                      <p:to>
                                        <p:strVal val="visible"/>
                                      </p:to>
                                    </p:set>
                                    <p:animEffect transition="in" filter="fade">
                                      <p:cBhvr>
                                        <p:cTn id="10" dur="550"/>
                                        <p:tgtEl>
                                          <p:spTgt spid="9"/>
                                        </p:tgtEl>
                                      </p:cBhvr>
                                    </p:animEffect>
                                    <p:anim calcmode="lin" valueType="num">
                                      <p:cBhvr additive="base">
                                        <p:cTn id="11" dur="550" fill="hold"/>
                                        <p:tgtEl>
                                          <p:spTgt spid="9"/>
                                        </p:tgtEl>
                                        <p:attrNameLst>
                                          <p:attrName>ppt_x</p:attrName>
                                        </p:attrNameLst>
                                      </p:cBhvr>
                                      <p:tavLst>
                                        <p:tav tm="0">
                                          <p:val>
                                            <p:strVal val="#ppt_x"/>
                                          </p:val>
                                        </p:tav>
                                        <p:tav tm="100000">
                                          <p:val>
                                            <p:strVal val="#ppt_x"/>
                                          </p:val>
                                        </p:tav>
                                      </p:tavLst>
                                    </p:anim>
                                    <p:anim calcmode="lin" valueType="num">
                                      <p:cBhvr additive="base">
                                        <p:cTn id="12" dur="550" fill="hold"/>
                                        <p:tgtEl>
                                          <p:spTgt spid="9"/>
                                        </p:tgtEl>
                                        <p:attrNameLst>
                                          <p:attrName>ppt_y</p:attrName>
                                        </p:attrNameLst>
                                      </p:cBhvr>
                                      <p:tavLst>
                                        <p:tav tm="0">
                                          <p:val>
                                            <p:strVal val="#ppt_y+.08"/>
                                          </p:val>
                                        </p:tav>
                                        <p:tav tm="100000">
                                          <p:val>
                                            <p:strVal val="#ppt_y"/>
                                          </p:val>
                                        </p:tav>
                                      </p:tavLst>
                                    </p:anim>
                                  </p:childTnLst>
                                </p:cTn>
                              </p:par>
                            </p:childTnLst>
                          </p:cTn>
                        </p:par>
                        <p:par>
                          <p:cTn id="13" fill="hold">
                            <p:stCondLst>
                              <p:cond delay="220"/>
                            </p:stCondLst>
                            <p:childTnLst>
                              <p:par>
                                <p:cTn id="14" presetID="42" presetClass="entr" presetSubtype="0" fill="hold" grpId="0" nodeType="afterEffect">
                                  <p:stCondLst>
                                    <p:cond delay="0"/>
                                  </p:stCondLst>
                                  <p:childTnLst>
                                    <p:set>
                                      <p:cBhvr>
                                        <p:cTn id="15" dur="1" fill="hold">
                                          <p:stCondLst>
                                            <p:cond delay="0"/>
                                          </p:stCondLst>
                                        </p:cTn>
                                        <p:tgtEl>
                                          <p:spTgt spid="10"/>
                                        </p:tgtEl>
                                        <p:attrNameLst>
                                          <p:attrName>style.visibility</p:attrName>
                                        </p:attrNameLst>
                                      </p:cBhvr>
                                      <p:to>
                                        <p:strVal val="visible"/>
                                      </p:to>
                                    </p:set>
                                    <p:animEffect transition="in" filter="fade">
                                      <p:cBhvr>
                                        <p:cTn id="16" dur="550"/>
                                        <p:tgtEl>
                                          <p:spTgt spid="10"/>
                                        </p:tgtEl>
                                      </p:cBhvr>
                                    </p:animEffect>
                                    <p:anim calcmode="lin" valueType="num">
                                      <p:cBhvr additive="base">
                                        <p:cTn id="17" dur="550" fill="hold"/>
                                        <p:tgtEl>
                                          <p:spTgt spid="10"/>
                                        </p:tgtEl>
                                        <p:attrNameLst>
                                          <p:attrName>ppt_x</p:attrName>
                                        </p:attrNameLst>
                                      </p:cBhvr>
                                      <p:tavLst>
                                        <p:tav tm="0">
                                          <p:val>
                                            <p:strVal val="#ppt_x"/>
                                          </p:val>
                                        </p:tav>
                                        <p:tav tm="100000">
                                          <p:val>
                                            <p:strVal val="#ppt_x"/>
                                          </p:val>
                                        </p:tav>
                                      </p:tavLst>
                                    </p:anim>
                                    <p:anim calcmode="lin" valueType="num">
                                      <p:cBhvr additive="base">
                                        <p:cTn id="18" dur="550" fill="hold"/>
                                        <p:tgtEl>
                                          <p:spTgt spid="10"/>
                                        </p:tgtEl>
                                        <p:attrNameLst>
                                          <p:attrName>ppt_y</p:attrName>
                                        </p:attrNameLst>
                                      </p:cBhvr>
                                      <p:tavLst>
                                        <p:tav tm="0">
                                          <p:val>
                                            <p:strVal val="#ppt_y+.08"/>
                                          </p:val>
                                        </p:tav>
                                        <p:tav tm="100000">
                                          <p:val>
                                            <p:strVal val="#ppt_y"/>
                                          </p:val>
                                        </p:tav>
                                      </p:tavLst>
                                    </p:anim>
                                  </p:childTnLst>
                                </p:cTn>
                              </p:par>
                            </p:childTnLst>
                          </p:cTn>
                        </p:par>
                        <p:par>
                          <p:cTn id="19" fill="hold">
                            <p:stCondLst>
                              <p:cond delay="220"/>
                            </p:stCondLst>
                            <p:childTnLst>
                              <p:par>
                                <p:cTn id="20" presetID="53" presetClass="entr" presetSubtype="16" fill="hold" grpId="0" nodeType="afterEffect">
                                  <p:stCondLst>
                                    <p:cond delay="0"/>
                                  </p:stCondLst>
                                  <p:childTnLst>
                                    <p:set>
                                      <p:cBhvr>
                                        <p:cTn id="21" dur="1" fill="hold">
                                          <p:stCondLst>
                                            <p:cond delay="0"/>
                                          </p:stCondLst>
                                        </p:cTn>
                                        <p:tgtEl>
                                          <p:spTgt spid="11"/>
                                        </p:tgtEl>
                                        <p:attrNameLst>
                                          <p:attrName>style.visibility</p:attrName>
                                        </p:attrNameLst>
                                      </p:cBhvr>
                                      <p:to>
                                        <p:strVal val="visible"/>
                                      </p:to>
                                    </p:set>
                                    <p:animEffect transition="in" filter="fade">
                                      <p:cBhvr>
                                        <p:cTn id="22" dur="550"/>
                                        <p:tgtEl>
                                          <p:spTgt spid="11"/>
                                        </p:tgtEl>
                                      </p:cBhvr>
                                    </p:animEffect>
                                    <p:anim calcmode="lin" valueType="num">
                                      <p:cBhvr additive="base">
                                        <p:cTn id="23" dur="550" fill="hold"/>
                                        <p:tgtEl>
                                          <p:spTgt spid="11"/>
                                        </p:tgtEl>
                                        <p:attrNameLst>
                                          <p:attrName>ppt_w</p:attrName>
                                        </p:attrNameLst>
                                      </p:cBhvr>
                                      <p:tavLst>
                                        <p:tav tm="0">
                                          <p:val>
                                            <p:strVal val="0"/>
                                          </p:val>
                                        </p:tav>
                                        <p:tav tm="100000">
                                          <p:val>
                                            <p:strVal val="#ppt_w"/>
                                          </p:val>
                                        </p:tav>
                                      </p:tavLst>
                                    </p:anim>
                                    <p:anim calcmode="lin" valueType="num">
                                      <p:cBhvr additive="base">
                                        <p:cTn id="24" dur="550" fill="hold"/>
                                        <p:tgtEl>
                                          <p:spTgt spid="11"/>
                                        </p:tgtEl>
                                        <p:attrNameLst>
                                          <p:attrName>ppt_h</p:attrName>
                                        </p:attrNameLst>
                                      </p:cBhvr>
                                      <p:tavLst>
                                        <p:tav tm="0">
                                          <p:val>
                                            <p:strVal val="0"/>
                                          </p:val>
                                        </p:tav>
                                        <p:tav tm="100000">
                                          <p:val>
                                            <p:strVal val="#ppt_h"/>
                                          </p:val>
                                        </p:tav>
                                      </p:tavLst>
                                    </p:anim>
                                  </p:childTnLst>
                                </p:cTn>
                              </p:par>
                            </p:childTnLst>
                          </p:cTn>
                        </p:par>
                        <p:par>
                          <p:cTn id="25" fill="hold">
                            <p:stCondLst>
                              <p:cond delay="220"/>
                            </p:stCondLst>
                            <p:childTnLst>
                              <p:par>
                                <p:cTn id="26" presetID="42" presetClass="entr" presetSubtype="0" fill="hold" grpId="0" nodeType="afterEffect">
                                  <p:stCondLst>
                                    <p:cond delay="0"/>
                                  </p:stCondLst>
                                  <p:childTnLst>
                                    <p:set>
                                      <p:cBhvr>
                                        <p:cTn id="27" dur="1" fill="hold">
                                          <p:stCondLst>
                                            <p:cond delay="0"/>
                                          </p:stCondLst>
                                        </p:cTn>
                                        <p:tgtEl>
                                          <p:spTgt spid="12"/>
                                        </p:tgtEl>
                                        <p:attrNameLst>
                                          <p:attrName>style.visibility</p:attrName>
                                        </p:attrNameLst>
                                      </p:cBhvr>
                                      <p:to>
                                        <p:strVal val="visible"/>
                                      </p:to>
                                    </p:set>
                                    <p:animEffect transition="in" filter="fade">
                                      <p:cBhvr>
                                        <p:cTn id="28" dur="550"/>
                                        <p:tgtEl>
                                          <p:spTgt spid="12"/>
                                        </p:tgtEl>
                                      </p:cBhvr>
                                    </p:animEffect>
                                    <p:anim calcmode="lin" valueType="num">
                                      <p:cBhvr additive="base">
                                        <p:cTn id="29" dur="550" fill="hold"/>
                                        <p:tgtEl>
                                          <p:spTgt spid="12"/>
                                        </p:tgtEl>
                                        <p:attrNameLst>
                                          <p:attrName>ppt_x</p:attrName>
                                        </p:attrNameLst>
                                      </p:cBhvr>
                                      <p:tavLst>
                                        <p:tav tm="0">
                                          <p:val>
                                            <p:strVal val="#ppt_x"/>
                                          </p:val>
                                        </p:tav>
                                        <p:tav tm="100000">
                                          <p:val>
                                            <p:strVal val="#ppt_x"/>
                                          </p:val>
                                        </p:tav>
                                      </p:tavLst>
                                    </p:anim>
                                    <p:anim calcmode="lin" valueType="num">
                                      <p:cBhvr additive="base">
                                        <p:cTn id="30" dur="550" fill="hold"/>
                                        <p:tgtEl>
                                          <p:spTgt spid="12"/>
                                        </p:tgtEl>
                                        <p:attrNameLst>
                                          <p:attrName>ppt_y</p:attrName>
                                        </p:attrNameLst>
                                      </p:cBhvr>
                                      <p:tavLst>
                                        <p:tav tm="0">
                                          <p:val>
                                            <p:strVal val="#ppt_y+.08"/>
                                          </p:val>
                                        </p:tav>
                                        <p:tav tm="100000">
                                          <p:val>
                                            <p:strVal val="#ppt_y"/>
                                          </p:val>
                                        </p:tav>
                                      </p:tavLst>
                                    </p:anim>
                                  </p:childTnLst>
                                </p:cTn>
                              </p:par>
                            </p:childTnLst>
                          </p:cTn>
                        </p:par>
                        <p:par>
                          <p:cTn id="31" fill="hold">
                            <p:stCondLst>
                              <p:cond delay="440"/>
                            </p:stCondLst>
                            <p:childTnLst>
                              <p:par>
                                <p:cTn id="32" presetID="42" presetClass="entr" presetSubtype="0" fill="hold" grpId="0" nodeType="afterEffect">
                                  <p:stCondLst>
                                    <p:cond delay="0"/>
                                  </p:stCondLst>
                                  <p:childTnLst>
                                    <p:set>
                                      <p:cBhvr>
                                        <p:cTn id="33" dur="1" fill="hold">
                                          <p:stCondLst>
                                            <p:cond delay="0"/>
                                          </p:stCondLst>
                                        </p:cTn>
                                        <p:tgtEl>
                                          <p:spTgt spid="13"/>
                                        </p:tgtEl>
                                        <p:attrNameLst>
                                          <p:attrName>style.visibility</p:attrName>
                                        </p:attrNameLst>
                                      </p:cBhvr>
                                      <p:to>
                                        <p:strVal val="visible"/>
                                      </p:to>
                                    </p:set>
                                    <p:animEffect transition="in" filter="fade">
                                      <p:cBhvr>
                                        <p:cTn id="34" dur="550"/>
                                        <p:tgtEl>
                                          <p:spTgt spid="13"/>
                                        </p:tgtEl>
                                      </p:cBhvr>
                                    </p:animEffect>
                                    <p:anim calcmode="lin" valueType="num">
                                      <p:cBhvr additive="base">
                                        <p:cTn id="35" dur="550" fill="hold"/>
                                        <p:tgtEl>
                                          <p:spTgt spid="13"/>
                                        </p:tgtEl>
                                        <p:attrNameLst>
                                          <p:attrName>ppt_x</p:attrName>
                                        </p:attrNameLst>
                                      </p:cBhvr>
                                      <p:tavLst>
                                        <p:tav tm="0">
                                          <p:val>
                                            <p:strVal val="#ppt_x"/>
                                          </p:val>
                                        </p:tav>
                                        <p:tav tm="100000">
                                          <p:val>
                                            <p:strVal val="#ppt_x"/>
                                          </p:val>
                                        </p:tav>
                                      </p:tavLst>
                                    </p:anim>
                                    <p:anim calcmode="lin" valueType="num">
                                      <p:cBhvr additive="base">
                                        <p:cTn id="36" dur="550" fill="hold"/>
                                        <p:tgtEl>
                                          <p:spTgt spid="13"/>
                                        </p:tgtEl>
                                        <p:attrNameLst>
                                          <p:attrName>ppt_y</p:attrName>
                                        </p:attrNameLst>
                                      </p:cBhvr>
                                      <p:tavLst>
                                        <p:tav tm="0">
                                          <p:val>
                                            <p:strVal val="#ppt_y+.08"/>
                                          </p:val>
                                        </p:tav>
                                        <p:tav tm="100000">
                                          <p:val>
                                            <p:strVal val="#ppt_y"/>
                                          </p:val>
                                        </p:tav>
                                      </p:tavLst>
                                    </p:anim>
                                  </p:childTnLst>
                                </p:cTn>
                              </p:par>
                            </p:childTnLst>
                          </p:cTn>
                        </p:par>
                        <p:par>
                          <p:cTn id="37" fill="hold">
                            <p:stCondLst>
                              <p:cond delay="440"/>
                            </p:stCondLst>
                            <p:childTnLst>
                              <p:par>
                                <p:cTn id="38" presetID="42" presetClass="entr" presetSubtype="0" fill="hold" grpId="0" nodeType="afterEffect">
                                  <p:stCondLst>
                                    <p:cond delay="0"/>
                                  </p:stCondLst>
                                  <p:childTnLst>
                                    <p:set>
                                      <p:cBhvr>
                                        <p:cTn id="39" dur="1" fill="hold">
                                          <p:stCondLst>
                                            <p:cond delay="0"/>
                                          </p:stCondLst>
                                        </p:cTn>
                                        <p:tgtEl>
                                          <p:spTgt spid="14"/>
                                        </p:tgtEl>
                                        <p:attrNameLst>
                                          <p:attrName>style.visibility</p:attrName>
                                        </p:attrNameLst>
                                      </p:cBhvr>
                                      <p:to>
                                        <p:strVal val="visible"/>
                                      </p:to>
                                    </p:set>
                                    <p:animEffect transition="in" filter="fade">
                                      <p:cBhvr>
                                        <p:cTn id="40" dur="550"/>
                                        <p:tgtEl>
                                          <p:spTgt spid="14"/>
                                        </p:tgtEl>
                                      </p:cBhvr>
                                    </p:animEffect>
                                    <p:anim calcmode="lin" valueType="num">
                                      <p:cBhvr additive="base">
                                        <p:cTn id="41" dur="550" fill="hold"/>
                                        <p:tgtEl>
                                          <p:spTgt spid="14"/>
                                        </p:tgtEl>
                                        <p:attrNameLst>
                                          <p:attrName>ppt_x</p:attrName>
                                        </p:attrNameLst>
                                      </p:cBhvr>
                                      <p:tavLst>
                                        <p:tav tm="0">
                                          <p:val>
                                            <p:strVal val="#ppt_x"/>
                                          </p:val>
                                        </p:tav>
                                        <p:tav tm="100000">
                                          <p:val>
                                            <p:strVal val="#ppt_x"/>
                                          </p:val>
                                        </p:tav>
                                      </p:tavLst>
                                    </p:anim>
                                    <p:anim calcmode="lin" valueType="num">
                                      <p:cBhvr additive="base">
                                        <p:cTn id="42" dur="550" fill="hold"/>
                                        <p:tgtEl>
                                          <p:spTgt spid="14"/>
                                        </p:tgtEl>
                                        <p:attrNameLst>
                                          <p:attrName>ppt_y</p:attrName>
                                        </p:attrNameLst>
                                      </p:cBhvr>
                                      <p:tavLst>
                                        <p:tav tm="0">
                                          <p:val>
                                            <p:strVal val="#ppt_y+.08"/>
                                          </p:val>
                                        </p:tav>
                                        <p:tav tm="100000">
                                          <p:val>
                                            <p:strVal val="#ppt_y"/>
                                          </p:val>
                                        </p:tav>
                                      </p:tavLst>
                                    </p:anim>
                                  </p:childTnLst>
                                </p:cTn>
                              </p:par>
                            </p:childTnLst>
                          </p:cTn>
                        </p:par>
                        <p:par>
                          <p:cTn id="43" fill="hold">
                            <p:stCondLst>
                              <p:cond delay="440"/>
                            </p:stCondLst>
                            <p:childTnLst>
                              <p:par>
                                <p:cTn id="44" presetID="53" presetClass="entr" presetSubtype="16" fill="hold" grpId="0" nodeType="afterEffect">
                                  <p:stCondLst>
                                    <p:cond delay="0"/>
                                  </p:stCondLst>
                                  <p:childTnLst>
                                    <p:set>
                                      <p:cBhvr>
                                        <p:cTn id="45" dur="1" fill="hold">
                                          <p:stCondLst>
                                            <p:cond delay="0"/>
                                          </p:stCondLst>
                                        </p:cTn>
                                        <p:tgtEl>
                                          <p:spTgt spid="15"/>
                                        </p:tgtEl>
                                        <p:attrNameLst>
                                          <p:attrName>style.visibility</p:attrName>
                                        </p:attrNameLst>
                                      </p:cBhvr>
                                      <p:to>
                                        <p:strVal val="visible"/>
                                      </p:to>
                                    </p:set>
                                    <p:animEffect transition="in" filter="fade">
                                      <p:cBhvr>
                                        <p:cTn id="46" dur="550"/>
                                        <p:tgtEl>
                                          <p:spTgt spid="15"/>
                                        </p:tgtEl>
                                      </p:cBhvr>
                                    </p:animEffect>
                                    <p:anim calcmode="lin" valueType="num">
                                      <p:cBhvr additive="base">
                                        <p:cTn id="47" dur="550" fill="hold"/>
                                        <p:tgtEl>
                                          <p:spTgt spid="15"/>
                                        </p:tgtEl>
                                        <p:attrNameLst>
                                          <p:attrName>ppt_w</p:attrName>
                                        </p:attrNameLst>
                                      </p:cBhvr>
                                      <p:tavLst>
                                        <p:tav tm="0">
                                          <p:val>
                                            <p:strVal val="0"/>
                                          </p:val>
                                        </p:tav>
                                        <p:tav tm="100000">
                                          <p:val>
                                            <p:strVal val="#ppt_w"/>
                                          </p:val>
                                        </p:tav>
                                      </p:tavLst>
                                    </p:anim>
                                    <p:anim calcmode="lin" valueType="num">
                                      <p:cBhvr additive="base">
                                        <p:cTn id="48" dur="550" fill="hold"/>
                                        <p:tgtEl>
                                          <p:spTgt spid="15"/>
                                        </p:tgtEl>
                                        <p:attrNameLst>
                                          <p:attrName>ppt_h</p:attrName>
                                        </p:attrNameLst>
                                      </p:cBhvr>
                                      <p:tavLst>
                                        <p:tav tm="0">
                                          <p:val>
                                            <p:strVal val="0"/>
                                          </p:val>
                                        </p:tav>
                                        <p:tav tm="100000">
                                          <p:val>
                                            <p:strVal val="#ppt_h"/>
                                          </p:val>
                                        </p:tav>
                                      </p:tavLst>
                                    </p:anim>
                                  </p:childTnLst>
                                </p:cTn>
                              </p:par>
                            </p:childTnLst>
                          </p:cTn>
                        </p:par>
                        <p:par>
                          <p:cTn id="49" fill="hold">
                            <p:stCondLst>
                              <p:cond delay="440"/>
                            </p:stCondLst>
                            <p:childTnLst>
                              <p:par>
                                <p:cTn id="50" presetID="42" presetClass="entr" presetSubtype="0" fill="hold" grpId="0" nodeType="afterEffect">
                                  <p:stCondLst>
                                    <p:cond delay="0"/>
                                  </p:stCondLst>
                                  <p:childTnLst>
                                    <p:set>
                                      <p:cBhvr>
                                        <p:cTn id="51" dur="1" fill="hold">
                                          <p:stCondLst>
                                            <p:cond delay="0"/>
                                          </p:stCondLst>
                                        </p:cTn>
                                        <p:tgtEl>
                                          <p:spTgt spid="16"/>
                                        </p:tgtEl>
                                        <p:attrNameLst>
                                          <p:attrName>style.visibility</p:attrName>
                                        </p:attrNameLst>
                                      </p:cBhvr>
                                      <p:to>
                                        <p:strVal val="visible"/>
                                      </p:to>
                                    </p:set>
                                    <p:animEffect transition="in" filter="fade">
                                      <p:cBhvr>
                                        <p:cTn id="52" dur="550"/>
                                        <p:tgtEl>
                                          <p:spTgt spid="16"/>
                                        </p:tgtEl>
                                      </p:cBhvr>
                                    </p:animEffect>
                                    <p:anim calcmode="lin" valueType="num">
                                      <p:cBhvr additive="base">
                                        <p:cTn id="53" dur="550" fill="hold"/>
                                        <p:tgtEl>
                                          <p:spTgt spid="16"/>
                                        </p:tgtEl>
                                        <p:attrNameLst>
                                          <p:attrName>ppt_x</p:attrName>
                                        </p:attrNameLst>
                                      </p:cBhvr>
                                      <p:tavLst>
                                        <p:tav tm="0">
                                          <p:val>
                                            <p:strVal val="#ppt_x"/>
                                          </p:val>
                                        </p:tav>
                                        <p:tav tm="100000">
                                          <p:val>
                                            <p:strVal val="#ppt_x"/>
                                          </p:val>
                                        </p:tav>
                                      </p:tavLst>
                                    </p:anim>
                                    <p:anim calcmode="lin" valueType="num">
                                      <p:cBhvr additive="base">
                                        <p:cTn id="54" dur="550" fill="hold"/>
                                        <p:tgtEl>
                                          <p:spTgt spid="16"/>
                                        </p:tgtEl>
                                        <p:attrNameLst>
                                          <p:attrName>ppt_y</p:attrName>
                                        </p:attrNameLst>
                                      </p:cBhvr>
                                      <p:tavLst>
                                        <p:tav tm="0">
                                          <p:val>
                                            <p:strVal val="#ppt_y+.08"/>
                                          </p:val>
                                        </p:tav>
                                        <p:tav tm="100000">
                                          <p:val>
                                            <p:strVal val="#ppt_y"/>
                                          </p:val>
                                        </p:tav>
                                      </p:tavLst>
                                    </p:anim>
                                  </p:childTnLst>
                                </p:cTn>
                              </p:par>
                            </p:childTnLst>
                          </p:cTn>
                        </p:par>
                        <p:par>
                          <p:cTn id="55" fill="hold">
                            <p:stCondLst>
                              <p:cond delay="660"/>
                            </p:stCondLst>
                            <p:childTnLst>
                              <p:par>
                                <p:cTn id="56" presetID="42" presetClass="entr" presetSubtype="0" fill="hold" grpId="0" nodeType="afterEffect">
                                  <p:stCondLst>
                                    <p:cond delay="0"/>
                                  </p:stCondLst>
                                  <p:childTnLst>
                                    <p:set>
                                      <p:cBhvr>
                                        <p:cTn id="57" dur="1" fill="hold">
                                          <p:stCondLst>
                                            <p:cond delay="0"/>
                                          </p:stCondLst>
                                        </p:cTn>
                                        <p:tgtEl>
                                          <p:spTgt spid="17"/>
                                        </p:tgtEl>
                                        <p:attrNameLst>
                                          <p:attrName>style.visibility</p:attrName>
                                        </p:attrNameLst>
                                      </p:cBhvr>
                                      <p:to>
                                        <p:strVal val="visible"/>
                                      </p:to>
                                    </p:set>
                                    <p:animEffect transition="in" filter="fade">
                                      <p:cBhvr>
                                        <p:cTn id="58" dur="550"/>
                                        <p:tgtEl>
                                          <p:spTgt spid="17"/>
                                        </p:tgtEl>
                                      </p:cBhvr>
                                    </p:animEffect>
                                    <p:anim calcmode="lin" valueType="num">
                                      <p:cBhvr additive="base">
                                        <p:cTn id="59" dur="550" fill="hold"/>
                                        <p:tgtEl>
                                          <p:spTgt spid="17"/>
                                        </p:tgtEl>
                                        <p:attrNameLst>
                                          <p:attrName>ppt_x</p:attrName>
                                        </p:attrNameLst>
                                      </p:cBhvr>
                                      <p:tavLst>
                                        <p:tav tm="0">
                                          <p:val>
                                            <p:strVal val="#ppt_x"/>
                                          </p:val>
                                        </p:tav>
                                        <p:tav tm="100000">
                                          <p:val>
                                            <p:strVal val="#ppt_x"/>
                                          </p:val>
                                        </p:tav>
                                      </p:tavLst>
                                    </p:anim>
                                    <p:anim calcmode="lin" valueType="num">
                                      <p:cBhvr additive="base">
                                        <p:cTn id="60" dur="550" fill="hold"/>
                                        <p:tgtEl>
                                          <p:spTgt spid="17"/>
                                        </p:tgtEl>
                                        <p:attrNameLst>
                                          <p:attrName>ppt_y</p:attrName>
                                        </p:attrNameLst>
                                      </p:cBhvr>
                                      <p:tavLst>
                                        <p:tav tm="0">
                                          <p:val>
                                            <p:strVal val="#ppt_y+.08"/>
                                          </p:val>
                                        </p:tav>
                                        <p:tav tm="100000">
                                          <p:val>
                                            <p:strVal val="#ppt_y"/>
                                          </p:val>
                                        </p:tav>
                                      </p:tavLst>
                                    </p:anim>
                                  </p:childTnLst>
                                </p:cTn>
                              </p:par>
                            </p:childTnLst>
                          </p:cTn>
                        </p:par>
                        <p:par>
                          <p:cTn id="61" fill="hold">
                            <p:stCondLst>
                              <p:cond delay="660"/>
                            </p:stCondLst>
                            <p:childTnLst>
                              <p:par>
                                <p:cTn id="62" presetID="42" presetClass="entr" presetSubtype="0" fill="hold" grpId="0" nodeType="afterEffect">
                                  <p:stCondLst>
                                    <p:cond delay="0"/>
                                  </p:stCondLst>
                                  <p:childTnLst>
                                    <p:set>
                                      <p:cBhvr>
                                        <p:cTn id="63" dur="1" fill="hold">
                                          <p:stCondLst>
                                            <p:cond delay="0"/>
                                          </p:stCondLst>
                                        </p:cTn>
                                        <p:tgtEl>
                                          <p:spTgt spid="18"/>
                                        </p:tgtEl>
                                        <p:attrNameLst>
                                          <p:attrName>style.visibility</p:attrName>
                                        </p:attrNameLst>
                                      </p:cBhvr>
                                      <p:to>
                                        <p:strVal val="visible"/>
                                      </p:to>
                                    </p:set>
                                    <p:animEffect transition="in" filter="fade">
                                      <p:cBhvr>
                                        <p:cTn id="64" dur="550"/>
                                        <p:tgtEl>
                                          <p:spTgt spid="18"/>
                                        </p:tgtEl>
                                      </p:cBhvr>
                                    </p:animEffect>
                                    <p:anim calcmode="lin" valueType="num">
                                      <p:cBhvr additive="base">
                                        <p:cTn id="65" dur="550" fill="hold"/>
                                        <p:tgtEl>
                                          <p:spTgt spid="18"/>
                                        </p:tgtEl>
                                        <p:attrNameLst>
                                          <p:attrName>ppt_x</p:attrName>
                                        </p:attrNameLst>
                                      </p:cBhvr>
                                      <p:tavLst>
                                        <p:tav tm="0">
                                          <p:val>
                                            <p:strVal val="#ppt_x"/>
                                          </p:val>
                                        </p:tav>
                                        <p:tav tm="100000">
                                          <p:val>
                                            <p:strVal val="#ppt_x"/>
                                          </p:val>
                                        </p:tav>
                                      </p:tavLst>
                                    </p:anim>
                                    <p:anim calcmode="lin" valueType="num">
                                      <p:cBhvr additive="base">
                                        <p:cTn id="66" dur="550" fill="hold"/>
                                        <p:tgtEl>
                                          <p:spTgt spid="18"/>
                                        </p:tgtEl>
                                        <p:attrNameLst>
                                          <p:attrName>ppt_y</p:attrName>
                                        </p:attrNameLst>
                                      </p:cBhvr>
                                      <p:tavLst>
                                        <p:tav tm="0">
                                          <p:val>
                                            <p:strVal val="#ppt_y+.08"/>
                                          </p:val>
                                        </p:tav>
                                        <p:tav tm="100000">
                                          <p:val>
                                            <p:strVal val="#ppt_y"/>
                                          </p:val>
                                        </p:tav>
                                      </p:tavLst>
                                    </p:anim>
                                  </p:childTnLst>
                                </p:cTn>
                              </p:par>
                            </p:childTnLst>
                          </p:cTn>
                        </p:par>
                        <p:par>
                          <p:cTn id="67" fill="hold">
                            <p:stCondLst>
                              <p:cond delay="660"/>
                            </p:stCondLst>
                            <p:childTnLst>
                              <p:par>
                                <p:cTn id="68" presetID="53" presetClass="entr" presetSubtype="16" fill="hold" grpId="0" nodeType="afterEffect">
                                  <p:stCondLst>
                                    <p:cond delay="0"/>
                                  </p:stCondLst>
                                  <p:childTnLst>
                                    <p:set>
                                      <p:cBhvr>
                                        <p:cTn id="69" dur="1" fill="hold">
                                          <p:stCondLst>
                                            <p:cond delay="0"/>
                                          </p:stCondLst>
                                        </p:cTn>
                                        <p:tgtEl>
                                          <p:spTgt spid="19"/>
                                        </p:tgtEl>
                                        <p:attrNameLst>
                                          <p:attrName>style.visibility</p:attrName>
                                        </p:attrNameLst>
                                      </p:cBhvr>
                                      <p:to>
                                        <p:strVal val="visible"/>
                                      </p:to>
                                    </p:set>
                                    <p:animEffect transition="in" filter="fade">
                                      <p:cBhvr>
                                        <p:cTn id="70" dur="550"/>
                                        <p:tgtEl>
                                          <p:spTgt spid="19"/>
                                        </p:tgtEl>
                                      </p:cBhvr>
                                    </p:animEffect>
                                    <p:anim calcmode="lin" valueType="num">
                                      <p:cBhvr additive="base">
                                        <p:cTn id="71" dur="550" fill="hold"/>
                                        <p:tgtEl>
                                          <p:spTgt spid="19"/>
                                        </p:tgtEl>
                                        <p:attrNameLst>
                                          <p:attrName>ppt_w</p:attrName>
                                        </p:attrNameLst>
                                      </p:cBhvr>
                                      <p:tavLst>
                                        <p:tav tm="0">
                                          <p:val>
                                            <p:strVal val="0"/>
                                          </p:val>
                                        </p:tav>
                                        <p:tav tm="100000">
                                          <p:val>
                                            <p:strVal val="#ppt_w"/>
                                          </p:val>
                                        </p:tav>
                                      </p:tavLst>
                                    </p:anim>
                                    <p:anim calcmode="lin" valueType="num">
                                      <p:cBhvr additive="base">
                                        <p:cTn id="72" dur="550" fill="hold"/>
                                        <p:tgtEl>
                                          <p:spTgt spid="19"/>
                                        </p:tgtEl>
                                        <p:attrNameLst>
                                          <p:attrName>ppt_h</p:attrName>
                                        </p:attrNameLst>
                                      </p:cBhvr>
                                      <p:tavLst>
                                        <p:tav tm="0">
                                          <p:val>
                                            <p:strVal val="0"/>
                                          </p:val>
                                        </p:tav>
                                        <p:tav tm="100000">
                                          <p:val>
                                            <p:strVal val="#ppt_h"/>
                                          </p:val>
                                        </p:tav>
                                      </p:tavLst>
                                    </p:anim>
                                  </p:childTnLst>
                                </p:cTn>
                              </p:par>
                            </p:childTnLst>
                          </p:cTn>
                        </p:par>
                        <p:par>
                          <p:cTn id="73" fill="hold">
                            <p:stCondLst>
                              <p:cond delay="660"/>
                            </p:stCondLst>
                            <p:childTnLst>
                              <p:par>
                                <p:cTn id="74" presetID="42" presetClass="entr" presetSubtype="0" fill="hold" grpId="0" nodeType="afterEffect">
                                  <p:stCondLst>
                                    <p:cond delay="0"/>
                                  </p:stCondLst>
                                  <p:childTnLst>
                                    <p:set>
                                      <p:cBhvr>
                                        <p:cTn id="75" dur="1" fill="hold">
                                          <p:stCondLst>
                                            <p:cond delay="0"/>
                                          </p:stCondLst>
                                        </p:cTn>
                                        <p:tgtEl>
                                          <p:spTgt spid="20"/>
                                        </p:tgtEl>
                                        <p:attrNameLst>
                                          <p:attrName>style.visibility</p:attrName>
                                        </p:attrNameLst>
                                      </p:cBhvr>
                                      <p:to>
                                        <p:strVal val="visible"/>
                                      </p:to>
                                    </p:set>
                                    <p:animEffect transition="in" filter="fade">
                                      <p:cBhvr>
                                        <p:cTn id="76" dur="550"/>
                                        <p:tgtEl>
                                          <p:spTgt spid="20"/>
                                        </p:tgtEl>
                                      </p:cBhvr>
                                    </p:animEffect>
                                    <p:anim calcmode="lin" valueType="num">
                                      <p:cBhvr additive="base">
                                        <p:cTn id="77" dur="550" fill="hold"/>
                                        <p:tgtEl>
                                          <p:spTgt spid="20"/>
                                        </p:tgtEl>
                                        <p:attrNameLst>
                                          <p:attrName>ppt_x</p:attrName>
                                        </p:attrNameLst>
                                      </p:cBhvr>
                                      <p:tavLst>
                                        <p:tav tm="0">
                                          <p:val>
                                            <p:strVal val="#ppt_x"/>
                                          </p:val>
                                        </p:tav>
                                        <p:tav tm="100000">
                                          <p:val>
                                            <p:strVal val="#ppt_x"/>
                                          </p:val>
                                        </p:tav>
                                      </p:tavLst>
                                    </p:anim>
                                    <p:anim calcmode="lin" valueType="num">
                                      <p:cBhvr additive="base">
                                        <p:cTn id="78" dur="550" fill="hold"/>
                                        <p:tgtEl>
                                          <p:spTgt spid="20"/>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Lst>
  </p:timing>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162E4D"/>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900000" y="1700000"/>
            <a:ext cx="3000000" cy="3000000"/>
          </a:xfrm>
          <a:prstGeom prst="ellipse">
            <a:avLst/>
          </a:prstGeom>
          <a:noFill/>
          <a:ln w="76200">
            <a:solidFill>
              <a:srgbClr val="7FD6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00000" y="2350000"/>
            <a:ext cx="3000000" cy="1700000"/>
          </a:xfrm>
          <a:prstGeom prst="rect">
            <a:avLst/>
          </a:prstGeom>
          <a:noFill/>
        </p:spPr>
        <p:txBody>
          <a:bodyPr wrap="square" anchor="ctr" lIns="50800" rIns="50800">
            <a:spAutoFit/>
          </a:bodyPr>
          <a:lstStyle/>
          <a:p>
            <a:pPr algn="ctr"/>
            <a:r>
              <a:rPr sz="7200" b="1">
                <a:solidFill>
                  <a:srgbClr val="FFFFFF"/>
                </a:solidFill>
                <a:latin typeface="Calibri"/>
              </a:rPr>
              <a:t>02</a:t>
            </a:r>
          </a:p>
        </p:txBody>
      </p:sp>
      <p:sp>
        <p:nvSpPr>
          <p:cNvPr id="5" name="TextBox 4"/>
          <p:cNvSpPr txBox="1"/>
          <p:nvPr/>
        </p:nvSpPr>
        <p:spPr>
          <a:xfrm>
            <a:off x="4500000" y="2400000"/>
            <a:ext cx="7000000" cy="1600000"/>
          </a:xfrm>
          <a:prstGeom prst="rect">
            <a:avLst/>
          </a:prstGeom>
          <a:noFill/>
        </p:spPr>
        <p:txBody>
          <a:bodyPr wrap="square" anchor="ctr" lIns="50800" rIns="50800">
            <a:spAutoFit/>
          </a:bodyPr>
          <a:lstStyle/>
          <a:p>
            <a:pPr algn="l"/>
            <a:r>
              <a:rPr sz="3600" b="1">
                <a:solidFill>
                  <a:srgbClr val="FFFFFF"/>
                </a:solidFill>
                <a:latin typeface="Calibri"/>
              </a:rPr>
              <a:t>Kirish</a:t>
            </a:r>
          </a:p>
        </p:txBody>
      </p:sp>
      <p:sp>
        <p:nvSpPr>
          <p:cNvPr id="6" name="Rectangle 5"/>
          <p:cNvSpPr/>
          <p:nvPr/>
        </p:nvSpPr>
        <p:spPr>
          <a:xfrm>
            <a:off x="4550000" y="4100000"/>
            <a:ext cx="2200000" cy="60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transition spd="med">
    <p:push dir="u"/>
  </p:transition>
  <p:timing>
    <p:tnLst>
      <p:par>
        <p:cTn id="1" dur="indefinite" restart="never" nodeType="tmRoot">
          <p:childTnLst>
            <p:seq concurrent="1" nextAc="seek">
              <p:cTn id="2" dur="indefinite" nodeType="mainSeq">
                <p:childTnLst>
                  <p:par>
                    <p:cTn id="26" fill="hold">
                      <p:stCondLst>
                        <p:cond delay="indefinite"/>
                        <p:cond evt="onBegin" delay="0">
                          <p:tn val="2"/>
                        </p:cond>
                      </p:stCondLst>
                      <p:childTnLst>
                        <p:par>
                          <p:cTn id="3" fill="hold">
                            <p:stCondLst>
                              <p:cond delay="0"/>
                            </p:stCondLst>
                            <p:childTnLst>
                              <p:par>
                                <p:cTn id="4" presetID="53" presetClass="entr" presetSubtype="16" fill="hold" grpId="0" nodeType="withEffect">
                                  <p:stCondLst>
                                    <p:cond delay="0"/>
                                  </p:stCondLst>
                                  <p:childTnLst>
                                    <p:set>
                                      <p:cBhvr>
                                        <p:cTn id="5" dur="1" fill="hold">
                                          <p:stCondLst>
                                            <p:cond delay="0"/>
                                          </p:stCondLst>
                                        </p:cTn>
                                        <p:tgtEl>
                                          <p:spTgt spid="3"/>
                                        </p:tgtEl>
                                        <p:attrNameLst>
                                          <p:attrName>style.visibility</p:attrName>
                                        </p:attrNameLst>
                                      </p:cBhvr>
                                      <p:to>
                                        <p:strVal val="visible"/>
                                      </p:to>
                                    </p:set>
                                    <p:animEffect transition="in" filter="fade">
                                      <p:cBhvr>
                                        <p:cTn id="6" dur="550"/>
                                        <p:tgtEl>
                                          <p:spTgt spid="3"/>
                                        </p:tgtEl>
                                      </p:cBhvr>
                                    </p:animEffect>
                                    <p:anim calcmode="lin" valueType="num">
                                      <p:cBhvr additive="base">
                                        <p:cTn id="7" dur="550" fill="hold"/>
                                        <p:tgtEl>
                                          <p:spTgt spid="3"/>
                                        </p:tgtEl>
                                        <p:attrNameLst>
                                          <p:attrName>ppt_w</p:attrName>
                                        </p:attrNameLst>
                                      </p:cBhvr>
                                      <p:tavLst>
                                        <p:tav tm="0">
                                          <p:val>
                                            <p:strVal val="0"/>
                                          </p:val>
                                        </p:tav>
                                        <p:tav tm="100000">
                                          <p:val>
                                            <p:strVal val="#ppt_w"/>
                                          </p:val>
                                        </p:tav>
                                      </p:tavLst>
                                    </p:anim>
                                    <p:anim calcmode="lin" valueType="num">
                                      <p:cBhvr additive="base">
                                        <p:cTn id="8" dur="550" fill="hold"/>
                                        <p:tgtEl>
                                          <p:spTgt spid="3"/>
                                        </p:tgtEl>
                                        <p:attrNameLst>
                                          <p:attrName>ppt_h</p:attrName>
                                        </p:attrNameLst>
                                      </p:cBhvr>
                                      <p:tavLst>
                                        <p:tav tm="0">
                                          <p:val>
                                            <p:strVal val="0"/>
                                          </p:val>
                                        </p:tav>
                                        <p:tav tm="100000">
                                          <p:val>
                                            <p:strVal val="#ppt_h"/>
                                          </p:val>
                                        </p:tav>
                                      </p:tavLst>
                                    </p:anim>
                                  </p:childTnLst>
                                </p:cTn>
                              </p:par>
                            </p:childTnLst>
                          </p:cTn>
                        </p:par>
                        <p:par>
                          <p:cTn id="9" fill="hold">
                            <p:stCondLst>
                              <p:cond delay="100"/>
                            </p:stCondLst>
                            <p:childTnLst>
                              <p:par>
                                <p:cTn id="10" presetID="53" presetClass="entr" presetSubtype="16" fill="hold" grpId="0" nodeType="afterEffect">
                                  <p:stCondLst>
                                    <p:cond delay="0"/>
                                  </p:stCondLst>
                                  <p:childTnLst>
                                    <p:set>
                                      <p:cBhvr>
                                        <p:cTn id="11" dur="1" fill="hold">
                                          <p:stCondLst>
                                            <p:cond delay="0"/>
                                          </p:stCondLst>
                                        </p:cTn>
                                        <p:tgtEl>
                                          <p:spTgt spid="4"/>
                                        </p:tgtEl>
                                        <p:attrNameLst>
                                          <p:attrName>style.visibility</p:attrName>
                                        </p:attrNameLst>
                                      </p:cBhvr>
                                      <p:to>
                                        <p:strVal val="visible"/>
                                      </p:to>
                                    </p:set>
                                    <p:animEffect transition="in" filter="fade">
                                      <p:cBhvr>
                                        <p:cTn id="12" dur="550"/>
                                        <p:tgtEl>
                                          <p:spTgt spid="4"/>
                                        </p:tgtEl>
                                      </p:cBhvr>
                                    </p:animEffect>
                                    <p:anim calcmode="lin" valueType="num">
                                      <p:cBhvr additive="base">
                                        <p:cTn id="13" dur="550" fill="hold"/>
                                        <p:tgtEl>
                                          <p:spTgt spid="4"/>
                                        </p:tgtEl>
                                        <p:attrNameLst>
                                          <p:attrName>ppt_w</p:attrName>
                                        </p:attrNameLst>
                                      </p:cBhvr>
                                      <p:tavLst>
                                        <p:tav tm="0">
                                          <p:val>
                                            <p:strVal val="0"/>
                                          </p:val>
                                        </p:tav>
                                        <p:tav tm="100000">
                                          <p:val>
                                            <p:strVal val="#ppt_w"/>
                                          </p:val>
                                        </p:tav>
                                      </p:tavLst>
                                    </p:anim>
                                    <p:anim calcmode="lin" valueType="num">
                                      <p:cBhvr additive="base">
                                        <p:cTn id="14" dur="550" fill="hold"/>
                                        <p:tgtEl>
                                          <p:spTgt spid="4"/>
                                        </p:tgtEl>
                                        <p:attrNameLst>
                                          <p:attrName>ppt_h</p:attrName>
                                        </p:attrNameLst>
                                      </p:cBhvr>
                                      <p:tavLst>
                                        <p:tav tm="0">
                                          <p:val>
                                            <p:strVal val="0"/>
                                          </p:val>
                                        </p:tav>
                                        <p:tav tm="100000">
                                          <p:val>
                                            <p:strVal val="#ppt_h"/>
                                          </p:val>
                                        </p:tav>
                                      </p:tavLst>
                                    </p:anim>
                                  </p:childTnLst>
                                </p:cTn>
                              </p:par>
                            </p:childTnLst>
                          </p:cTn>
                        </p:par>
                        <p:par>
                          <p:cTn id="15" fill="hold">
                            <p:stCondLst>
                              <p:cond delay="250"/>
                            </p:stCondLst>
                            <p:childTnLst>
                              <p:par>
                                <p:cTn id="16" presetID="2" presetClass="entr" presetSubtype="8" fill="hold" grpId="0" nodeType="afterEffect">
                                  <p:stCondLst>
                                    <p:cond delay="0"/>
                                  </p:stCondLst>
                                  <p:childTnLst>
                                    <p:set>
                                      <p:cBhvr>
                                        <p:cTn id="17" dur="1" fill="hold">
                                          <p:stCondLst>
                                            <p:cond delay="0"/>
                                          </p:stCondLst>
                                        </p:cTn>
                                        <p:tgtEl>
                                          <p:spTgt spid="5"/>
                                        </p:tgtEl>
                                        <p:attrNameLst>
                                          <p:attrName>style.visibility</p:attrName>
                                        </p:attrNameLst>
                                      </p:cBhvr>
                                      <p:to>
                                        <p:strVal val="visible"/>
                                      </p:to>
                                    </p:set>
                                    <p:anim calcmode="lin" valueType="num">
                                      <p:cBhvr additive="base">
                                        <p:cTn id="19" dur="550" fill="hold"/>
                                        <p:tgtEl>
                                          <p:spTgt spid="5"/>
                                        </p:tgtEl>
                                        <p:attrNameLst>
                                          <p:attrName>ppt_x</p:attrName>
                                        </p:attrNameLst>
                                      </p:cBhvr>
                                      <p:tavLst>
                                        <p:tav tm="0">
                                          <p:val>
                                            <p:strVal val="0-#ppt_w/2"/>
                                          </p:val>
                                        </p:tav>
                                        <p:tav tm="100000">
                                          <p:val>
                                            <p:strVal val="#ppt_x"/>
                                          </p:val>
                                        </p:tav>
                                      </p:tavLst>
                                    </p:anim>
                                    <p:anim calcmode="lin" valueType="num">
                                      <p:cBhvr additive="base">
                                        <p:cTn id="20" dur="550" fill="hold"/>
                                        <p:tgtEl>
                                          <p:spTgt spid="5"/>
                                        </p:tgtEl>
                                        <p:attrNameLst>
                                          <p:attrName>ppt_y</p:attrName>
                                        </p:attrNameLst>
                                      </p:cBhvr>
                                      <p:tavLst>
                                        <p:tav tm="0">
                                          <p:val>
                                            <p:strVal val="#ppt_y"/>
                                          </p:val>
                                        </p:tav>
                                        <p:tav tm="100000">
                                          <p:val>
                                            <p:strVal val="#ppt_y"/>
                                          </p:val>
                                        </p:tav>
                                      </p:tavLst>
                                    </p:anim>
                                  </p:childTnLst>
                                </p:cTn>
                              </p:par>
                            </p:childTnLst>
                          </p:cTn>
                        </p:par>
                        <p:par>
                          <p:cTn id="21" fill="hold">
                            <p:stCondLst>
                              <p:cond delay="350"/>
                            </p:stCondLst>
                            <p:childTnLst>
                              <p:par>
                                <p:cTn id="22" presetID="22" presetClass="entr" presetSubtype="8" fill="hold" grpId="0" nodeType="afterEffect">
                                  <p:stCondLst>
                                    <p:cond delay="0"/>
                                  </p:stCondLst>
                                  <p:childTnLst>
                                    <p:set>
                                      <p:cBhvr>
                                        <p:cTn id="23" dur="1" fill="hold">
                                          <p:stCondLst>
                                            <p:cond delay="0"/>
                                          </p:stCondLst>
                                        </p:cTn>
                                        <p:tgtEl>
                                          <p:spTgt spid="6"/>
                                        </p:tgtEl>
                                        <p:attrNameLst>
                                          <p:attrName>style.visibility</p:attrName>
                                        </p:attrNameLst>
                                      </p:cBhvr>
                                      <p:to>
                                        <p:strVal val="visible"/>
                                      </p:to>
                                    </p:set>
                                    <p:animEffect transition="in" filter="wipe(left)">
                                      <p:cBhvr>
                                        <p:cTn id="25" dur="8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4" grpId="0" animBg="1"/>
      <p:bldP spid="5" grpId="0" animBg="1"/>
      <p:bldP spid="6" grpId="0" animBg="1"/>
    </p:bldLst>
  </p:timing>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200000"/>
            <a:ext cx="10400000" cy="650000"/>
          </a:xfrm>
          <a:prstGeom prst="rect">
            <a:avLst/>
          </a:prstGeom>
          <a:noFill/>
        </p:spPr>
        <p:txBody>
          <a:bodyPr wrap="square" anchor="ctr" lIns="50800" rIns="50800">
            <a:spAutoFit/>
          </a:bodyPr>
          <a:lstStyle/>
          <a:p>
            <a:pPr algn="l"/>
            <a:r>
              <a:rPr sz="2600" b="1">
                <a:solidFill>
                  <a:srgbClr val="FFFFFF"/>
                </a:solidFill>
                <a:latin typeface="Calibri"/>
              </a:rPr>
              <a:t>Kirish</a:t>
            </a:r>
          </a:p>
        </p:txBody>
      </p:sp>
      <p:sp>
        <p:nvSpPr>
          <p:cNvPr id="6" name="Rectangle 5"/>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A1 · Sun'iy intellektga asoslangan kompyuter tizimlari arxitekturasini tahlil qilish va loyihalash</a:t>
            </a:r>
          </a:p>
        </p:txBody>
      </p:sp>
      <p:sp>
        <p:nvSpPr>
          <p:cNvPr id="8" name="TextBox 7"/>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7</a:t>
            </a:r>
          </a:p>
        </p:txBody>
      </p:sp>
      <p:sp>
        <p:nvSpPr>
          <p:cNvPr id="9" name="Rounded Rectangle 8"/>
          <p:cNvSpPr/>
          <p:nvPr/>
        </p:nvSpPr>
        <p:spPr>
          <a:xfrm>
            <a:off x="550000" y="1620000"/>
            <a:ext cx="11100000" cy="1250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50000" y="1620000"/>
            <a:ext cx="70000" cy="1250000"/>
          </a:xfrm>
          <a:prstGeom prst="rect">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800000" y="2015000"/>
            <a:ext cx="460000" cy="460000"/>
          </a:xfrm>
          <a:prstGeom prst="ellipse">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1</a:t>
            </a:r>
          </a:p>
        </p:txBody>
      </p:sp>
      <p:sp>
        <p:nvSpPr>
          <p:cNvPr id="12" name="TextBox 11"/>
          <p:cNvSpPr txBox="1"/>
          <p:nvPr/>
        </p:nvSpPr>
        <p:spPr>
          <a:xfrm>
            <a:off x="1450000" y="1620000"/>
            <a:ext cx="10050000" cy="1250000"/>
          </a:xfrm>
          <a:prstGeom prst="rect">
            <a:avLst/>
          </a:prstGeom>
          <a:noFill/>
        </p:spPr>
        <p:txBody>
          <a:bodyPr wrap="square" anchor="ctr" lIns="50800" rIns="50800">
            <a:spAutoFit/>
          </a:bodyPr>
          <a:lstStyle/>
          <a:p>
            <a:pPr algn="l"/>
            <a:r>
              <a:rPr sz="1600" b="0">
                <a:solidFill>
                  <a:srgbClr val="1B2430"/>
                </a:solidFill>
                <a:latin typeface="Calibri"/>
              </a:rPr>
              <a:t>Zamonaviy sun'iy intellekt tizimi — bu shunchaki o'qitilgan neyron tarmoq emas, balki ma'lumotlar oqimi, model, hisoblash platformasi, tarmoq, saqlash tizimi va ekspluatatsiya jarayonlarini o'z ichiga olgan murakkab muhandislik majmuasidir. Sanoat tajribasi…</a:t>
            </a:r>
          </a:p>
        </p:txBody>
      </p:sp>
      <p:sp>
        <p:nvSpPr>
          <p:cNvPr id="13" name="Rounded Rectangle 12"/>
          <p:cNvSpPr/>
          <p:nvPr/>
        </p:nvSpPr>
        <p:spPr>
          <a:xfrm>
            <a:off x="550000" y="2990000"/>
            <a:ext cx="11100000" cy="1250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550000" y="2990000"/>
            <a:ext cx="70000" cy="1250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00000" y="3385000"/>
            <a:ext cx="460000" cy="46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2</a:t>
            </a:r>
          </a:p>
        </p:txBody>
      </p:sp>
      <p:sp>
        <p:nvSpPr>
          <p:cNvPr id="16" name="TextBox 15"/>
          <p:cNvSpPr txBox="1"/>
          <p:nvPr/>
        </p:nvSpPr>
        <p:spPr>
          <a:xfrm>
            <a:off x="1450000" y="2990000"/>
            <a:ext cx="10050000" cy="1250000"/>
          </a:xfrm>
          <a:prstGeom prst="rect">
            <a:avLst/>
          </a:prstGeom>
          <a:noFill/>
        </p:spPr>
        <p:txBody>
          <a:bodyPr wrap="square" anchor="ctr" lIns="50800" rIns="50800">
            <a:spAutoFit/>
          </a:bodyPr>
          <a:lstStyle/>
          <a:p>
            <a:pPr algn="l"/>
            <a:r>
              <a:rPr sz="1600" b="0">
                <a:solidFill>
                  <a:srgbClr val="1B2430"/>
                </a:solidFill>
                <a:latin typeface="Calibri"/>
              </a:rPr>
              <a:t>Hardware–Software Co-design tushunchasi dastlab o'rnatilgan tizimlar (embedded systems) sohasida paydo bo'lgan: qaysi funksiyalarni apparatda (ASIC, FPGA), qaysilarini dasturda bajarish kerakligini loyihalashning dastlabki bosqichida birgalikda hal qilish.…</a:t>
            </a:r>
          </a:p>
        </p:txBody>
      </p:sp>
      <p:sp>
        <p:nvSpPr>
          <p:cNvPr id="17" name="Rounded Rectangle 16"/>
          <p:cNvSpPr/>
          <p:nvPr/>
        </p:nvSpPr>
        <p:spPr>
          <a:xfrm>
            <a:off x="550000" y="4360000"/>
            <a:ext cx="11100000" cy="1250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550000" y="4360000"/>
            <a:ext cx="70000" cy="1250000"/>
          </a:xfrm>
          <a:prstGeom prst="rect">
            <a:avLst/>
          </a:prstGeom>
          <a:solidFill>
            <a:srgbClr val="6A3F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800000" y="4755000"/>
            <a:ext cx="460000" cy="460000"/>
          </a:xfrm>
          <a:prstGeom prst="ellipse">
            <a:avLst/>
          </a:prstGeom>
          <a:solidFill>
            <a:srgbClr val="6A3FB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3</a:t>
            </a:r>
          </a:p>
        </p:txBody>
      </p:sp>
      <p:sp>
        <p:nvSpPr>
          <p:cNvPr id="20" name="TextBox 19"/>
          <p:cNvSpPr txBox="1"/>
          <p:nvPr/>
        </p:nvSpPr>
        <p:spPr>
          <a:xfrm>
            <a:off x="1450000" y="4360000"/>
            <a:ext cx="10050000" cy="1250000"/>
          </a:xfrm>
          <a:prstGeom prst="rect">
            <a:avLst/>
          </a:prstGeom>
          <a:noFill/>
        </p:spPr>
        <p:txBody>
          <a:bodyPr wrap="square" anchor="ctr" lIns="50800" rIns="50800">
            <a:spAutoFit/>
          </a:bodyPr>
          <a:lstStyle/>
          <a:p>
            <a:pPr algn="l"/>
            <a:r>
              <a:rPr sz="1600" b="0">
                <a:solidFill>
                  <a:srgbClr val="1B2430"/>
                </a:solidFill>
                <a:latin typeface="Calibri"/>
              </a:rPr>
              <a:t>Mashg'ulot davomida biz real sanoat vazifasiga yaqin ssenariy ustida ishlaymiz: korxona video-kuzatuv tizimida shaxsiy himoya vositalari (SHV) ni real vaqtda aniqlash uchun AI tizimi loyihalanmoqda. Talablar: 16 ta kamera, har biri 1080p va 10 kadr/sekund;…</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79"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5"/>
                                        </p:tgtEl>
                                        <p:attrNameLst>
                                          <p:attrName>style.visibility</p:attrName>
                                        </p:attrNameLst>
                                      </p:cBhvr>
                                      <p:to>
                                        <p:strVal val="visible"/>
                                      </p:to>
                                    </p:set>
                                    <p:animEffect transition="in" filter="fade">
                                      <p:cBhvr>
                                        <p:cTn id="6" dur="550"/>
                                        <p:tgtEl>
                                          <p:spTgt spid="5"/>
                                        </p:tgtEl>
                                      </p:cBhvr>
                                    </p:animEffect>
                                  </p:childTnLst>
                                </p:cTn>
                              </p:par>
                            </p:childTnLst>
                          </p:cTn>
                        </p:par>
                        <p:par>
                          <p:cTn id="7" fill="hold">
                            <p:stCondLst>
                              <p:cond delay="220"/>
                            </p:stCondLst>
                            <p:childTnLst>
                              <p:par>
                                <p:cTn id="8" presetID="42" presetClass="entr" presetSubtype="0" fill="hold" grpId="0" nodeType="afterEffect">
                                  <p:stCondLst>
                                    <p:cond delay="0"/>
                                  </p:stCondLst>
                                  <p:childTnLst>
                                    <p:set>
                                      <p:cBhvr>
                                        <p:cTn id="9" dur="1" fill="hold">
                                          <p:stCondLst>
                                            <p:cond delay="0"/>
                                          </p:stCondLst>
                                        </p:cTn>
                                        <p:tgtEl>
                                          <p:spTgt spid="9"/>
                                        </p:tgtEl>
                                        <p:attrNameLst>
                                          <p:attrName>style.visibility</p:attrName>
                                        </p:attrNameLst>
                                      </p:cBhvr>
                                      <p:to>
                                        <p:strVal val="visible"/>
                                      </p:to>
                                    </p:set>
                                    <p:animEffect transition="in" filter="fade">
                                      <p:cBhvr>
                                        <p:cTn id="10" dur="550"/>
                                        <p:tgtEl>
                                          <p:spTgt spid="9"/>
                                        </p:tgtEl>
                                      </p:cBhvr>
                                    </p:animEffect>
                                    <p:anim calcmode="lin" valueType="num">
                                      <p:cBhvr additive="base">
                                        <p:cTn id="11" dur="550" fill="hold"/>
                                        <p:tgtEl>
                                          <p:spTgt spid="9"/>
                                        </p:tgtEl>
                                        <p:attrNameLst>
                                          <p:attrName>ppt_x</p:attrName>
                                        </p:attrNameLst>
                                      </p:cBhvr>
                                      <p:tavLst>
                                        <p:tav tm="0">
                                          <p:val>
                                            <p:strVal val="#ppt_x"/>
                                          </p:val>
                                        </p:tav>
                                        <p:tav tm="100000">
                                          <p:val>
                                            <p:strVal val="#ppt_x"/>
                                          </p:val>
                                        </p:tav>
                                      </p:tavLst>
                                    </p:anim>
                                    <p:anim calcmode="lin" valueType="num">
                                      <p:cBhvr additive="base">
                                        <p:cTn id="12" dur="550" fill="hold"/>
                                        <p:tgtEl>
                                          <p:spTgt spid="9"/>
                                        </p:tgtEl>
                                        <p:attrNameLst>
                                          <p:attrName>ppt_y</p:attrName>
                                        </p:attrNameLst>
                                      </p:cBhvr>
                                      <p:tavLst>
                                        <p:tav tm="0">
                                          <p:val>
                                            <p:strVal val="#ppt_y+.08"/>
                                          </p:val>
                                        </p:tav>
                                        <p:tav tm="100000">
                                          <p:val>
                                            <p:strVal val="#ppt_y"/>
                                          </p:val>
                                        </p:tav>
                                      </p:tavLst>
                                    </p:anim>
                                  </p:childTnLst>
                                </p:cTn>
                              </p:par>
                            </p:childTnLst>
                          </p:cTn>
                        </p:par>
                        <p:par>
                          <p:cTn id="13" fill="hold">
                            <p:stCondLst>
                              <p:cond delay="220"/>
                            </p:stCondLst>
                            <p:childTnLst>
                              <p:par>
                                <p:cTn id="14" presetID="42" presetClass="entr" presetSubtype="0" fill="hold" grpId="0" nodeType="afterEffect">
                                  <p:stCondLst>
                                    <p:cond delay="0"/>
                                  </p:stCondLst>
                                  <p:childTnLst>
                                    <p:set>
                                      <p:cBhvr>
                                        <p:cTn id="15" dur="1" fill="hold">
                                          <p:stCondLst>
                                            <p:cond delay="0"/>
                                          </p:stCondLst>
                                        </p:cTn>
                                        <p:tgtEl>
                                          <p:spTgt spid="10"/>
                                        </p:tgtEl>
                                        <p:attrNameLst>
                                          <p:attrName>style.visibility</p:attrName>
                                        </p:attrNameLst>
                                      </p:cBhvr>
                                      <p:to>
                                        <p:strVal val="visible"/>
                                      </p:to>
                                    </p:set>
                                    <p:animEffect transition="in" filter="fade">
                                      <p:cBhvr>
                                        <p:cTn id="16" dur="550"/>
                                        <p:tgtEl>
                                          <p:spTgt spid="10"/>
                                        </p:tgtEl>
                                      </p:cBhvr>
                                    </p:animEffect>
                                    <p:anim calcmode="lin" valueType="num">
                                      <p:cBhvr additive="base">
                                        <p:cTn id="17" dur="550" fill="hold"/>
                                        <p:tgtEl>
                                          <p:spTgt spid="10"/>
                                        </p:tgtEl>
                                        <p:attrNameLst>
                                          <p:attrName>ppt_x</p:attrName>
                                        </p:attrNameLst>
                                      </p:cBhvr>
                                      <p:tavLst>
                                        <p:tav tm="0">
                                          <p:val>
                                            <p:strVal val="#ppt_x"/>
                                          </p:val>
                                        </p:tav>
                                        <p:tav tm="100000">
                                          <p:val>
                                            <p:strVal val="#ppt_x"/>
                                          </p:val>
                                        </p:tav>
                                      </p:tavLst>
                                    </p:anim>
                                    <p:anim calcmode="lin" valueType="num">
                                      <p:cBhvr additive="base">
                                        <p:cTn id="18" dur="550" fill="hold"/>
                                        <p:tgtEl>
                                          <p:spTgt spid="10"/>
                                        </p:tgtEl>
                                        <p:attrNameLst>
                                          <p:attrName>ppt_y</p:attrName>
                                        </p:attrNameLst>
                                      </p:cBhvr>
                                      <p:tavLst>
                                        <p:tav tm="0">
                                          <p:val>
                                            <p:strVal val="#ppt_y+.08"/>
                                          </p:val>
                                        </p:tav>
                                        <p:tav tm="100000">
                                          <p:val>
                                            <p:strVal val="#ppt_y"/>
                                          </p:val>
                                        </p:tav>
                                      </p:tavLst>
                                    </p:anim>
                                  </p:childTnLst>
                                </p:cTn>
                              </p:par>
                            </p:childTnLst>
                          </p:cTn>
                        </p:par>
                        <p:par>
                          <p:cTn id="19" fill="hold">
                            <p:stCondLst>
                              <p:cond delay="220"/>
                            </p:stCondLst>
                            <p:childTnLst>
                              <p:par>
                                <p:cTn id="20" presetID="53" presetClass="entr" presetSubtype="16" fill="hold" grpId="0" nodeType="afterEffect">
                                  <p:stCondLst>
                                    <p:cond delay="0"/>
                                  </p:stCondLst>
                                  <p:childTnLst>
                                    <p:set>
                                      <p:cBhvr>
                                        <p:cTn id="21" dur="1" fill="hold">
                                          <p:stCondLst>
                                            <p:cond delay="0"/>
                                          </p:stCondLst>
                                        </p:cTn>
                                        <p:tgtEl>
                                          <p:spTgt spid="11"/>
                                        </p:tgtEl>
                                        <p:attrNameLst>
                                          <p:attrName>style.visibility</p:attrName>
                                        </p:attrNameLst>
                                      </p:cBhvr>
                                      <p:to>
                                        <p:strVal val="visible"/>
                                      </p:to>
                                    </p:set>
                                    <p:animEffect transition="in" filter="fade">
                                      <p:cBhvr>
                                        <p:cTn id="22" dur="550"/>
                                        <p:tgtEl>
                                          <p:spTgt spid="11"/>
                                        </p:tgtEl>
                                      </p:cBhvr>
                                    </p:animEffect>
                                    <p:anim calcmode="lin" valueType="num">
                                      <p:cBhvr additive="base">
                                        <p:cTn id="23" dur="550" fill="hold"/>
                                        <p:tgtEl>
                                          <p:spTgt spid="11"/>
                                        </p:tgtEl>
                                        <p:attrNameLst>
                                          <p:attrName>ppt_w</p:attrName>
                                        </p:attrNameLst>
                                      </p:cBhvr>
                                      <p:tavLst>
                                        <p:tav tm="0">
                                          <p:val>
                                            <p:strVal val="0"/>
                                          </p:val>
                                        </p:tav>
                                        <p:tav tm="100000">
                                          <p:val>
                                            <p:strVal val="#ppt_w"/>
                                          </p:val>
                                        </p:tav>
                                      </p:tavLst>
                                    </p:anim>
                                    <p:anim calcmode="lin" valueType="num">
                                      <p:cBhvr additive="base">
                                        <p:cTn id="24" dur="550" fill="hold"/>
                                        <p:tgtEl>
                                          <p:spTgt spid="11"/>
                                        </p:tgtEl>
                                        <p:attrNameLst>
                                          <p:attrName>ppt_h</p:attrName>
                                        </p:attrNameLst>
                                      </p:cBhvr>
                                      <p:tavLst>
                                        <p:tav tm="0">
                                          <p:val>
                                            <p:strVal val="0"/>
                                          </p:val>
                                        </p:tav>
                                        <p:tav tm="100000">
                                          <p:val>
                                            <p:strVal val="#ppt_h"/>
                                          </p:val>
                                        </p:tav>
                                      </p:tavLst>
                                    </p:anim>
                                  </p:childTnLst>
                                </p:cTn>
                              </p:par>
                            </p:childTnLst>
                          </p:cTn>
                        </p:par>
                        <p:par>
                          <p:cTn id="25" fill="hold">
                            <p:stCondLst>
                              <p:cond delay="220"/>
                            </p:stCondLst>
                            <p:childTnLst>
                              <p:par>
                                <p:cTn id="26" presetID="42" presetClass="entr" presetSubtype="0" fill="hold" grpId="0" nodeType="afterEffect">
                                  <p:stCondLst>
                                    <p:cond delay="0"/>
                                  </p:stCondLst>
                                  <p:childTnLst>
                                    <p:set>
                                      <p:cBhvr>
                                        <p:cTn id="27" dur="1" fill="hold">
                                          <p:stCondLst>
                                            <p:cond delay="0"/>
                                          </p:stCondLst>
                                        </p:cTn>
                                        <p:tgtEl>
                                          <p:spTgt spid="12"/>
                                        </p:tgtEl>
                                        <p:attrNameLst>
                                          <p:attrName>style.visibility</p:attrName>
                                        </p:attrNameLst>
                                      </p:cBhvr>
                                      <p:to>
                                        <p:strVal val="visible"/>
                                      </p:to>
                                    </p:set>
                                    <p:animEffect transition="in" filter="fade">
                                      <p:cBhvr>
                                        <p:cTn id="28" dur="550"/>
                                        <p:tgtEl>
                                          <p:spTgt spid="12"/>
                                        </p:tgtEl>
                                      </p:cBhvr>
                                    </p:animEffect>
                                    <p:anim calcmode="lin" valueType="num">
                                      <p:cBhvr additive="base">
                                        <p:cTn id="29" dur="550" fill="hold"/>
                                        <p:tgtEl>
                                          <p:spTgt spid="12"/>
                                        </p:tgtEl>
                                        <p:attrNameLst>
                                          <p:attrName>ppt_x</p:attrName>
                                        </p:attrNameLst>
                                      </p:cBhvr>
                                      <p:tavLst>
                                        <p:tav tm="0">
                                          <p:val>
                                            <p:strVal val="#ppt_x"/>
                                          </p:val>
                                        </p:tav>
                                        <p:tav tm="100000">
                                          <p:val>
                                            <p:strVal val="#ppt_x"/>
                                          </p:val>
                                        </p:tav>
                                      </p:tavLst>
                                    </p:anim>
                                    <p:anim calcmode="lin" valueType="num">
                                      <p:cBhvr additive="base">
                                        <p:cTn id="30" dur="550" fill="hold"/>
                                        <p:tgtEl>
                                          <p:spTgt spid="12"/>
                                        </p:tgtEl>
                                        <p:attrNameLst>
                                          <p:attrName>ppt_y</p:attrName>
                                        </p:attrNameLst>
                                      </p:cBhvr>
                                      <p:tavLst>
                                        <p:tav tm="0">
                                          <p:val>
                                            <p:strVal val="#ppt_y+.08"/>
                                          </p:val>
                                        </p:tav>
                                        <p:tav tm="100000">
                                          <p:val>
                                            <p:strVal val="#ppt_y"/>
                                          </p:val>
                                        </p:tav>
                                      </p:tavLst>
                                    </p:anim>
                                  </p:childTnLst>
                                </p:cTn>
                              </p:par>
                            </p:childTnLst>
                          </p:cTn>
                        </p:par>
                        <p:par>
                          <p:cTn id="31" fill="hold">
                            <p:stCondLst>
                              <p:cond delay="440"/>
                            </p:stCondLst>
                            <p:childTnLst>
                              <p:par>
                                <p:cTn id="32" presetID="42" presetClass="entr" presetSubtype="0" fill="hold" grpId="0" nodeType="afterEffect">
                                  <p:stCondLst>
                                    <p:cond delay="0"/>
                                  </p:stCondLst>
                                  <p:childTnLst>
                                    <p:set>
                                      <p:cBhvr>
                                        <p:cTn id="33" dur="1" fill="hold">
                                          <p:stCondLst>
                                            <p:cond delay="0"/>
                                          </p:stCondLst>
                                        </p:cTn>
                                        <p:tgtEl>
                                          <p:spTgt spid="13"/>
                                        </p:tgtEl>
                                        <p:attrNameLst>
                                          <p:attrName>style.visibility</p:attrName>
                                        </p:attrNameLst>
                                      </p:cBhvr>
                                      <p:to>
                                        <p:strVal val="visible"/>
                                      </p:to>
                                    </p:set>
                                    <p:animEffect transition="in" filter="fade">
                                      <p:cBhvr>
                                        <p:cTn id="34" dur="550"/>
                                        <p:tgtEl>
                                          <p:spTgt spid="13"/>
                                        </p:tgtEl>
                                      </p:cBhvr>
                                    </p:animEffect>
                                    <p:anim calcmode="lin" valueType="num">
                                      <p:cBhvr additive="base">
                                        <p:cTn id="35" dur="550" fill="hold"/>
                                        <p:tgtEl>
                                          <p:spTgt spid="13"/>
                                        </p:tgtEl>
                                        <p:attrNameLst>
                                          <p:attrName>ppt_x</p:attrName>
                                        </p:attrNameLst>
                                      </p:cBhvr>
                                      <p:tavLst>
                                        <p:tav tm="0">
                                          <p:val>
                                            <p:strVal val="#ppt_x"/>
                                          </p:val>
                                        </p:tav>
                                        <p:tav tm="100000">
                                          <p:val>
                                            <p:strVal val="#ppt_x"/>
                                          </p:val>
                                        </p:tav>
                                      </p:tavLst>
                                    </p:anim>
                                    <p:anim calcmode="lin" valueType="num">
                                      <p:cBhvr additive="base">
                                        <p:cTn id="36" dur="550" fill="hold"/>
                                        <p:tgtEl>
                                          <p:spTgt spid="13"/>
                                        </p:tgtEl>
                                        <p:attrNameLst>
                                          <p:attrName>ppt_y</p:attrName>
                                        </p:attrNameLst>
                                      </p:cBhvr>
                                      <p:tavLst>
                                        <p:tav tm="0">
                                          <p:val>
                                            <p:strVal val="#ppt_y+.08"/>
                                          </p:val>
                                        </p:tav>
                                        <p:tav tm="100000">
                                          <p:val>
                                            <p:strVal val="#ppt_y"/>
                                          </p:val>
                                        </p:tav>
                                      </p:tavLst>
                                    </p:anim>
                                  </p:childTnLst>
                                </p:cTn>
                              </p:par>
                            </p:childTnLst>
                          </p:cTn>
                        </p:par>
                        <p:par>
                          <p:cTn id="37" fill="hold">
                            <p:stCondLst>
                              <p:cond delay="440"/>
                            </p:stCondLst>
                            <p:childTnLst>
                              <p:par>
                                <p:cTn id="38" presetID="42" presetClass="entr" presetSubtype="0" fill="hold" grpId="0" nodeType="afterEffect">
                                  <p:stCondLst>
                                    <p:cond delay="0"/>
                                  </p:stCondLst>
                                  <p:childTnLst>
                                    <p:set>
                                      <p:cBhvr>
                                        <p:cTn id="39" dur="1" fill="hold">
                                          <p:stCondLst>
                                            <p:cond delay="0"/>
                                          </p:stCondLst>
                                        </p:cTn>
                                        <p:tgtEl>
                                          <p:spTgt spid="14"/>
                                        </p:tgtEl>
                                        <p:attrNameLst>
                                          <p:attrName>style.visibility</p:attrName>
                                        </p:attrNameLst>
                                      </p:cBhvr>
                                      <p:to>
                                        <p:strVal val="visible"/>
                                      </p:to>
                                    </p:set>
                                    <p:animEffect transition="in" filter="fade">
                                      <p:cBhvr>
                                        <p:cTn id="40" dur="550"/>
                                        <p:tgtEl>
                                          <p:spTgt spid="14"/>
                                        </p:tgtEl>
                                      </p:cBhvr>
                                    </p:animEffect>
                                    <p:anim calcmode="lin" valueType="num">
                                      <p:cBhvr additive="base">
                                        <p:cTn id="41" dur="550" fill="hold"/>
                                        <p:tgtEl>
                                          <p:spTgt spid="14"/>
                                        </p:tgtEl>
                                        <p:attrNameLst>
                                          <p:attrName>ppt_x</p:attrName>
                                        </p:attrNameLst>
                                      </p:cBhvr>
                                      <p:tavLst>
                                        <p:tav tm="0">
                                          <p:val>
                                            <p:strVal val="#ppt_x"/>
                                          </p:val>
                                        </p:tav>
                                        <p:tav tm="100000">
                                          <p:val>
                                            <p:strVal val="#ppt_x"/>
                                          </p:val>
                                        </p:tav>
                                      </p:tavLst>
                                    </p:anim>
                                    <p:anim calcmode="lin" valueType="num">
                                      <p:cBhvr additive="base">
                                        <p:cTn id="42" dur="550" fill="hold"/>
                                        <p:tgtEl>
                                          <p:spTgt spid="14"/>
                                        </p:tgtEl>
                                        <p:attrNameLst>
                                          <p:attrName>ppt_y</p:attrName>
                                        </p:attrNameLst>
                                      </p:cBhvr>
                                      <p:tavLst>
                                        <p:tav tm="0">
                                          <p:val>
                                            <p:strVal val="#ppt_y+.08"/>
                                          </p:val>
                                        </p:tav>
                                        <p:tav tm="100000">
                                          <p:val>
                                            <p:strVal val="#ppt_y"/>
                                          </p:val>
                                        </p:tav>
                                      </p:tavLst>
                                    </p:anim>
                                  </p:childTnLst>
                                </p:cTn>
                              </p:par>
                            </p:childTnLst>
                          </p:cTn>
                        </p:par>
                        <p:par>
                          <p:cTn id="43" fill="hold">
                            <p:stCondLst>
                              <p:cond delay="440"/>
                            </p:stCondLst>
                            <p:childTnLst>
                              <p:par>
                                <p:cTn id="44" presetID="53" presetClass="entr" presetSubtype="16" fill="hold" grpId="0" nodeType="afterEffect">
                                  <p:stCondLst>
                                    <p:cond delay="0"/>
                                  </p:stCondLst>
                                  <p:childTnLst>
                                    <p:set>
                                      <p:cBhvr>
                                        <p:cTn id="45" dur="1" fill="hold">
                                          <p:stCondLst>
                                            <p:cond delay="0"/>
                                          </p:stCondLst>
                                        </p:cTn>
                                        <p:tgtEl>
                                          <p:spTgt spid="15"/>
                                        </p:tgtEl>
                                        <p:attrNameLst>
                                          <p:attrName>style.visibility</p:attrName>
                                        </p:attrNameLst>
                                      </p:cBhvr>
                                      <p:to>
                                        <p:strVal val="visible"/>
                                      </p:to>
                                    </p:set>
                                    <p:animEffect transition="in" filter="fade">
                                      <p:cBhvr>
                                        <p:cTn id="46" dur="550"/>
                                        <p:tgtEl>
                                          <p:spTgt spid="15"/>
                                        </p:tgtEl>
                                      </p:cBhvr>
                                    </p:animEffect>
                                    <p:anim calcmode="lin" valueType="num">
                                      <p:cBhvr additive="base">
                                        <p:cTn id="47" dur="550" fill="hold"/>
                                        <p:tgtEl>
                                          <p:spTgt spid="15"/>
                                        </p:tgtEl>
                                        <p:attrNameLst>
                                          <p:attrName>ppt_w</p:attrName>
                                        </p:attrNameLst>
                                      </p:cBhvr>
                                      <p:tavLst>
                                        <p:tav tm="0">
                                          <p:val>
                                            <p:strVal val="0"/>
                                          </p:val>
                                        </p:tav>
                                        <p:tav tm="100000">
                                          <p:val>
                                            <p:strVal val="#ppt_w"/>
                                          </p:val>
                                        </p:tav>
                                      </p:tavLst>
                                    </p:anim>
                                    <p:anim calcmode="lin" valueType="num">
                                      <p:cBhvr additive="base">
                                        <p:cTn id="48" dur="550" fill="hold"/>
                                        <p:tgtEl>
                                          <p:spTgt spid="15"/>
                                        </p:tgtEl>
                                        <p:attrNameLst>
                                          <p:attrName>ppt_h</p:attrName>
                                        </p:attrNameLst>
                                      </p:cBhvr>
                                      <p:tavLst>
                                        <p:tav tm="0">
                                          <p:val>
                                            <p:strVal val="0"/>
                                          </p:val>
                                        </p:tav>
                                        <p:tav tm="100000">
                                          <p:val>
                                            <p:strVal val="#ppt_h"/>
                                          </p:val>
                                        </p:tav>
                                      </p:tavLst>
                                    </p:anim>
                                  </p:childTnLst>
                                </p:cTn>
                              </p:par>
                            </p:childTnLst>
                          </p:cTn>
                        </p:par>
                        <p:par>
                          <p:cTn id="49" fill="hold">
                            <p:stCondLst>
                              <p:cond delay="440"/>
                            </p:stCondLst>
                            <p:childTnLst>
                              <p:par>
                                <p:cTn id="50" presetID="42" presetClass="entr" presetSubtype="0" fill="hold" grpId="0" nodeType="afterEffect">
                                  <p:stCondLst>
                                    <p:cond delay="0"/>
                                  </p:stCondLst>
                                  <p:childTnLst>
                                    <p:set>
                                      <p:cBhvr>
                                        <p:cTn id="51" dur="1" fill="hold">
                                          <p:stCondLst>
                                            <p:cond delay="0"/>
                                          </p:stCondLst>
                                        </p:cTn>
                                        <p:tgtEl>
                                          <p:spTgt spid="16"/>
                                        </p:tgtEl>
                                        <p:attrNameLst>
                                          <p:attrName>style.visibility</p:attrName>
                                        </p:attrNameLst>
                                      </p:cBhvr>
                                      <p:to>
                                        <p:strVal val="visible"/>
                                      </p:to>
                                    </p:set>
                                    <p:animEffect transition="in" filter="fade">
                                      <p:cBhvr>
                                        <p:cTn id="52" dur="550"/>
                                        <p:tgtEl>
                                          <p:spTgt spid="16"/>
                                        </p:tgtEl>
                                      </p:cBhvr>
                                    </p:animEffect>
                                    <p:anim calcmode="lin" valueType="num">
                                      <p:cBhvr additive="base">
                                        <p:cTn id="53" dur="550" fill="hold"/>
                                        <p:tgtEl>
                                          <p:spTgt spid="16"/>
                                        </p:tgtEl>
                                        <p:attrNameLst>
                                          <p:attrName>ppt_x</p:attrName>
                                        </p:attrNameLst>
                                      </p:cBhvr>
                                      <p:tavLst>
                                        <p:tav tm="0">
                                          <p:val>
                                            <p:strVal val="#ppt_x"/>
                                          </p:val>
                                        </p:tav>
                                        <p:tav tm="100000">
                                          <p:val>
                                            <p:strVal val="#ppt_x"/>
                                          </p:val>
                                        </p:tav>
                                      </p:tavLst>
                                    </p:anim>
                                    <p:anim calcmode="lin" valueType="num">
                                      <p:cBhvr additive="base">
                                        <p:cTn id="54" dur="550" fill="hold"/>
                                        <p:tgtEl>
                                          <p:spTgt spid="16"/>
                                        </p:tgtEl>
                                        <p:attrNameLst>
                                          <p:attrName>ppt_y</p:attrName>
                                        </p:attrNameLst>
                                      </p:cBhvr>
                                      <p:tavLst>
                                        <p:tav tm="0">
                                          <p:val>
                                            <p:strVal val="#ppt_y+.08"/>
                                          </p:val>
                                        </p:tav>
                                        <p:tav tm="100000">
                                          <p:val>
                                            <p:strVal val="#ppt_y"/>
                                          </p:val>
                                        </p:tav>
                                      </p:tavLst>
                                    </p:anim>
                                  </p:childTnLst>
                                </p:cTn>
                              </p:par>
                            </p:childTnLst>
                          </p:cTn>
                        </p:par>
                        <p:par>
                          <p:cTn id="55" fill="hold">
                            <p:stCondLst>
                              <p:cond delay="660"/>
                            </p:stCondLst>
                            <p:childTnLst>
                              <p:par>
                                <p:cTn id="56" presetID="42" presetClass="entr" presetSubtype="0" fill="hold" grpId="0" nodeType="afterEffect">
                                  <p:stCondLst>
                                    <p:cond delay="0"/>
                                  </p:stCondLst>
                                  <p:childTnLst>
                                    <p:set>
                                      <p:cBhvr>
                                        <p:cTn id="57" dur="1" fill="hold">
                                          <p:stCondLst>
                                            <p:cond delay="0"/>
                                          </p:stCondLst>
                                        </p:cTn>
                                        <p:tgtEl>
                                          <p:spTgt spid="17"/>
                                        </p:tgtEl>
                                        <p:attrNameLst>
                                          <p:attrName>style.visibility</p:attrName>
                                        </p:attrNameLst>
                                      </p:cBhvr>
                                      <p:to>
                                        <p:strVal val="visible"/>
                                      </p:to>
                                    </p:set>
                                    <p:animEffect transition="in" filter="fade">
                                      <p:cBhvr>
                                        <p:cTn id="58" dur="550"/>
                                        <p:tgtEl>
                                          <p:spTgt spid="17"/>
                                        </p:tgtEl>
                                      </p:cBhvr>
                                    </p:animEffect>
                                    <p:anim calcmode="lin" valueType="num">
                                      <p:cBhvr additive="base">
                                        <p:cTn id="59" dur="550" fill="hold"/>
                                        <p:tgtEl>
                                          <p:spTgt spid="17"/>
                                        </p:tgtEl>
                                        <p:attrNameLst>
                                          <p:attrName>ppt_x</p:attrName>
                                        </p:attrNameLst>
                                      </p:cBhvr>
                                      <p:tavLst>
                                        <p:tav tm="0">
                                          <p:val>
                                            <p:strVal val="#ppt_x"/>
                                          </p:val>
                                        </p:tav>
                                        <p:tav tm="100000">
                                          <p:val>
                                            <p:strVal val="#ppt_x"/>
                                          </p:val>
                                        </p:tav>
                                      </p:tavLst>
                                    </p:anim>
                                    <p:anim calcmode="lin" valueType="num">
                                      <p:cBhvr additive="base">
                                        <p:cTn id="60" dur="550" fill="hold"/>
                                        <p:tgtEl>
                                          <p:spTgt spid="17"/>
                                        </p:tgtEl>
                                        <p:attrNameLst>
                                          <p:attrName>ppt_y</p:attrName>
                                        </p:attrNameLst>
                                      </p:cBhvr>
                                      <p:tavLst>
                                        <p:tav tm="0">
                                          <p:val>
                                            <p:strVal val="#ppt_y+.08"/>
                                          </p:val>
                                        </p:tav>
                                        <p:tav tm="100000">
                                          <p:val>
                                            <p:strVal val="#ppt_y"/>
                                          </p:val>
                                        </p:tav>
                                      </p:tavLst>
                                    </p:anim>
                                  </p:childTnLst>
                                </p:cTn>
                              </p:par>
                            </p:childTnLst>
                          </p:cTn>
                        </p:par>
                        <p:par>
                          <p:cTn id="61" fill="hold">
                            <p:stCondLst>
                              <p:cond delay="660"/>
                            </p:stCondLst>
                            <p:childTnLst>
                              <p:par>
                                <p:cTn id="62" presetID="42" presetClass="entr" presetSubtype="0" fill="hold" grpId="0" nodeType="afterEffect">
                                  <p:stCondLst>
                                    <p:cond delay="0"/>
                                  </p:stCondLst>
                                  <p:childTnLst>
                                    <p:set>
                                      <p:cBhvr>
                                        <p:cTn id="63" dur="1" fill="hold">
                                          <p:stCondLst>
                                            <p:cond delay="0"/>
                                          </p:stCondLst>
                                        </p:cTn>
                                        <p:tgtEl>
                                          <p:spTgt spid="18"/>
                                        </p:tgtEl>
                                        <p:attrNameLst>
                                          <p:attrName>style.visibility</p:attrName>
                                        </p:attrNameLst>
                                      </p:cBhvr>
                                      <p:to>
                                        <p:strVal val="visible"/>
                                      </p:to>
                                    </p:set>
                                    <p:animEffect transition="in" filter="fade">
                                      <p:cBhvr>
                                        <p:cTn id="64" dur="550"/>
                                        <p:tgtEl>
                                          <p:spTgt spid="18"/>
                                        </p:tgtEl>
                                      </p:cBhvr>
                                    </p:animEffect>
                                    <p:anim calcmode="lin" valueType="num">
                                      <p:cBhvr additive="base">
                                        <p:cTn id="65" dur="550" fill="hold"/>
                                        <p:tgtEl>
                                          <p:spTgt spid="18"/>
                                        </p:tgtEl>
                                        <p:attrNameLst>
                                          <p:attrName>ppt_x</p:attrName>
                                        </p:attrNameLst>
                                      </p:cBhvr>
                                      <p:tavLst>
                                        <p:tav tm="0">
                                          <p:val>
                                            <p:strVal val="#ppt_x"/>
                                          </p:val>
                                        </p:tav>
                                        <p:tav tm="100000">
                                          <p:val>
                                            <p:strVal val="#ppt_x"/>
                                          </p:val>
                                        </p:tav>
                                      </p:tavLst>
                                    </p:anim>
                                    <p:anim calcmode="lin" valueType="num">
                                      <p:cBhvr additive="base">
                                        <p:cTn id="66" dur="550" fill="hold"/>
                                        <p:tgtEl>
                                          <p:spTgt spid="18"/>
                                        </p:tgtEl>
                                        <p:attrNameLst>
                                          <p:attrName>ppt_y</p:attrName>
                                        </p:attrNameLst>
                                      </p:cBhvr>
                                      <p:tavLst>
                                        <p:tav tm="0">
                                          <p:val>
                                            <p:strVal val="#ppt_y+.08"/>
                                          </p:val>
                                        </p:tav>
                                        <p:tav tm="100000">
                                          <p:val>
                                            <p:strVal val="#ppt_y"/>
                                          </p:val>
                                        </p:tav>
                                      </p:tavLst>
                                    </p:anim>
                                  </p:childTnLst>
                                </p:cTn>
                              </p:par>
                            </p:childTnLst>
                          </p:cTn>
                        </p:par>
                        <p:par>
                          <p:cTn id="67" fill="hold">
                            <p:stCondLst>
                              <p:cond delay="660"/>
                            </p:stCondLst>
                            <p:childTnLst>
                              <p:par>
                                <p:cTn id="68" presetID="53" presetClass="entr" presetSubtype="16" fill="hold" grpId="0" nodeType="afterEffect">
                                  <p:stCondLst>
                                    <p:cond delay="0"/>
                                  </p:stCondLst>
                                  <p:childTnLst>
                                    <p:set>
                                      <p:cBhvr>
                                        <p:cTn id="69" dur="1" fill="hold">
                                          <p:stCondLst>
                                            <p:cond delay="0"/>
                                          </p:stCondLst>
                                        </p:cTn>
                                        <p:tgtEl>
                                          <p:spTgt spid="19"/>
                                        </p:tgtEl>
                                        <p:attrNameLst>
                                          <p:attrName>style.visibility</p:attrName>
                                        </p:attrNameLst>
                                      </p:cBhvr>
                                      <p:to>
                                        <p:strVal val="visible"/>
                                      </p:to>
                                    </p:set>
                                    <p:animEffect transition="in" filter="fade">
                                      <p:cBhvr>
                                        <p:cTn id="70" dur="550"/>
                                        <p:tgtEl>
                                          <p:spTgt spid="19"/>
                                        </p:tgtEl>
                                      </p:cBhvr>
                                    </p:animEffect>
                                    <p:anim calcmode="lin" valueType="num">
                                      <p:cBhvr additive="base">
                                        <p:cTn id="71" dur="550" fill="hold"/>
                                        <p:tgtEl>
                                          <p:spTgt spid="19"/>
                                        </p:tgtEl>
                                        <p:attrNameLst>
                                          <p:attrName>ppt_w</p:attrName>
                                        </p:attrNameLst>
                                      </p:cBhvr>
                                      <p:tavLst>
                                        <p:tav tm="0">
                                          <p:val>
                                            <p:strVal val="0"/>
                                          </p:val>
                                        </p:tav>
                                        <p:tav tm="100000">
                                          <p:val>
                                            <p:strVal val="#ppt_w"/>
                                          </p:val>
                                        </p:tav>
                                      </p:tavLst>
                                    </p:anim>
                                    <p:anim calcmode="lin" valueType="num">
                                      <p:cBhvr additive="base">
                                        <p:cTn id="72" dur="550" fill="hold"/>
                                        <p:tgtEl>
                                          <p:spTgt spid="19"/>
                                        </p:tgtEl>
                                        <p:attrNameLst>
                                          <p:attrName>ppt_h</p:attrName>
                                        </p:attrNameLst>
                                      </p:cBhvr>
                                      <p:tavLst>
                                        <p:tav tm="0">
                                          <p:val>
                                            <p:strVal val="0"/>
                                          </p:val>
                                        </p:tav>
                                        <p:tav tm="100000">
                                          <p:val>
                                            <p:strVal val="#ppt_h"/>
                                          </p:val>
                                        </p:tav>
                                      </p:tavLst>
                                    </p:anim>
                                  </p:childTnLst>
                                </p:cTn>
                              </p:par>
                            </p:childTnLst>
                          </p:cTn>
                        </p:par>
                        <p:par>
                          <p:cTn id="73" fill="hold">
                            <p:stCondLst>
                              <p:cond delay="660"/>
                            </p:stCondLst>
                            <p:childTnLst>
                              <p:par>
                                <p:cTn id="74" presetID="42" presetClass="entr" presetSubtype="0" fill="hold" grpId="0" nodeType="afterEffect">
                                  <p:stCondLst>
                                    <p:cond delay="0"/>
                                  </p:stCondLst>
                                  <p:childTnLst>
                                    <p:set>
                                      <p:cBhvr>
                                        <p:cTn id="75" dur="1" fill="hold">
                                          <p:stCondLst>
                                            <p:cond delay="0"/>
                                          </p:stCondLst>
                                        </p:cTn>
                                        <p:tgtEl>
                                          <p:spTgt spid="20"/>
                                        </p:tgtEl>
                                        <p:attrNameLst>
                                          <p:attrName>style.visibility</p:attrName>
                                        </p:attrNameLst>
                                      </p:cBhvr>
                                      <p:to>
                                        <p:strVal val="visible"/>
                                      </p:to>
                                    </p:set>
                                    <p:animEffect transition="in" filter="fade">
                                      <p:cBhvr>
                                        <p:cTn id="76" dur="550"/>
                                        <p:tgtEl>
                                          <p:spTgt spid="20"/>
                                        </p:tgtEl>
                                      </p:cBhvr>
                                    </p:animEffect>
                                    <p:anim calcmode="lin" valueType="num">
                                      <p:cBhvr additive="base">
                                        <p:cTn id="77" dur="550" fill="hold"/>
                                        <p:tgtEl>
                                          <p:spTgt spid="20"/>
                                        </p:tgtEl>
                                        <p:attrNameLst>
                                          <p:attrName>ppt_x</p:attrName>
                                        </p:attrNameLst>
                                      </p:cBhvr>
                                      <p:tavLst>
                                        <p:tav tm="0">
                                          <p:val>
                                            <p:strVal val="#ppt_x"/>
                                          </p:val>
                                        </p:tav>
                                        <p:tav tm="100000">
                                          <p:val>
                                            <p:strVal val="#ppt_x"/>
                                          </p:val>
                                        </p:tav>
                                      </p:tavLst>
                                    </p:anim>
                                    <p:anim calcmode="lin" valueType="num">
                                      <p:cBhvr additive="base">
                                        <p:cTn id="78" dur="550" fill="hold"/>
                                        <p:tgtEl>
                                          <p:spTgt spid="20"/>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Lst>
  </p:timing>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162E4D"/>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900000" y="1700000"/>
            <a:ext cx="3000000" cy="3000000"/>
          </a:xfrm>
          <a:prstGeom prst="ellipse">
            <a:avLst/>
          </a:prstGeom>
          <a:noFill/>
          <a:ln w="76200">
            <a:solidFill>
              <a:srgbClr val="7FD6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00000" y="2350000"/>
            <a:ext cx="3000000" cy="1700000"/>
          </a:xfrm>
          <a:prstGeom prst="rect">
            <a:avLst/>
          </a:prstGeom>
          <a:noFill/>
        </p:spPr>
        <p:txBody>
          <a:bodyPr wrap="square" anchor="ctr" lIns="50800" rIns="50800">
            <a:spAutoFit/>
          </a:bodyPr>
          <a:lstStyle/>
          <a:p>
            <a:pPr algn="ctr"/>
            <a:r>
              <a:rPr sz="7200" b="1">
                <a:solidFill>
                  <a:srgbClr val="FFFFFF"/>
                </a:solidFill>
                <a:latin typeface="Calibri"/>
              </a:rPr>
              <a:t>03</a:t>
            </a:r>
          </a:p>
        </p:txBody>
      </p:sp>
      <p:sp>
        <p:nvSpPr>
          <p:cNvPr id="5" name="TextBox 4"/>
          <p:cNvSpPr txBox="1"/>
          <p:nvPr/>
        </p:nvSpPr>
        <p:spPr>
          <a:xfrm>
            <a:off x="4500000" y="2400000"/>
            <a:ext cx="7000000" cy="1600000"/>
          </a:xfrm>
          <a:prstGeom prst="rect">
            <a:avLst/>
          </a:prstGeom>
          <a:noFill/>
        </p:spPr>
        <p:txBody>
          <a:bodyPr wrap="square" anchor="ctr" lIns="50800" rIns="50800">
            <a:spAutoFit/>
          </a:bodyPr>
          <a:lstStyle/>
          <a:p>
            <a:pPr algn="l"/>
            <a:r>
              <a:rPr sz="3600" b="1">
                <a:solidFill>
                  <a:srgbClr val="FFFFFF"/>
                </a:solidFill>
                <a:latin typeface="Calibri"/>
              </a:rPr>
              <a:t>Nazariy asoslar</a:t>
            </a:r>
          </a:p>
        </p:txBody>
      </p:sp>
      <p:sp>
        <p:nvSpPr>
          <p:cNvPr id="6" name="Rectangle 5"/>
          <p:cNvSpPr/>
          <p:nvPr/>
        </p:nvSpPr>
        <p:spPr>
          <a:xfrm>
            <a:off x="4550000" y="4100000"/>
            <a:ext cx="2200000" cy="60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transition spd="med">
    <p:push dir="u"/>
  </p:transition>
  <p:timing>
    <p:tnLst>
      <p:par>
        <p:cTn id="1" dur="indefinite" restart="never" nodeType="tmRoot">
          <p:childTnLst>
            <p:seq concurrent="1" nextAc="seek">
              <p:cTn id="2" dur="indefinite" nodeType="mainSeq">
                <p:childTnLst>
                  <p:par>
                    <p:cTn id="26" fill="hold">
                      <p:stCondLst>
                        <p:cond delay="indefinite"/>
                        <p:cond evt="onBegin" delay="0">
                          <p:tn val="2"/>
                        </p:cond>
                      </p:stCondLst>
                      <p:childTnLst>
                        <p:par>
                          <p:cTn id="3" fill="hold">
                            <p:stCondLst>
                              <p:cond delay="0"/>
                            </p:stCondLst>
                            <p:childTnLst>
                              <p:par>
                                <p:cTn id="4" presetID="53" presetClass="entr" presetSubtype="16" fill="hold" grpId="0" nodeType="withEffect">
                                  <p:stCondLst>
                                    <p:cond delay="0"/>
                                  </p:stCondLst>
                                  <p:childTnLst>
                                    <p:set>
                                      <p:cBhvr>
                                        <p:cTn id="5" dur="1" fill="hold">
                                          <p:stCondLst>
                                            <p:cond delay="0"/>
                                          </p:stCondLst>
                                        </p:cTn>
                                        <p:tgtEl>
                                          <p:spTgt spid="3"/>
                                        </p:tgtEl>
                                        <p:attrNameLst>
                                          <p:attrName>style.visibility</p:attrName>
                                        </p:attrNameLst>
                                      </p:cBhvr>
                                      <p:to>
                                        <p:strVal val="visible"/>
                                      </p:to>
                                    </p:set>
                                    <p:animEffect transition="in" filter="fade">
                                      <p:cBhvr>
                                        <p:cTn id="6" dur="550"/>
                                        <p:tgtEl>
                                          <p:spTgt spid="3"/>
                                        </p:tgtEl>
                                      </p:cBhvr>
                                    </p:animEffect>
                                    <p:anim calcmode="lin" valueType="num">
                                      <p:cBhvr additive="base">
                                        <p:cTn id="7" dur="550" fill="hold"/>
                                        <p:tgtEl>
                                          <p:spTgt spid="3"/>
                                        </p:tgtEl>
                                        <p:attrNameLst>
                                          <p:attrName>ppt_w</p:attrName>
                                        </p:attrNameLst>
                                      </p:cBhvr>
                                      <p:tavLst>
                                        <p:tav tm="0">
                                          <p:val>
                                            <p:strVal val="0"/>
                                          </p:val>
                                        </p:tav>
                                        <p:tav tm="100000">
                                          <p:val>
                                            <p:strVal val="#ppt_w"/>
                                          </p:val>
                                        </p:tav>
                                      </p:tavLst>
                                    </p:anim>
                                    <p:anim calcmode="lin" valueType="num">
                                      <p:cBhvr additive="base">
                                        <p:cTn id="8" dur="550" fill="hold"/>
                                        <p:tgtEl>
                                          <p:spTgt spid="3"/>
                                        </p:tgtEl>
                                        <p:attrNameLst>
                                          <p:attrName>ppt_h</p:attrName>
                                        </p:attrNameLst>
                                      </p:cBhvr>
                                      <p:tavLst>
                                        <p:tav tm="0">
                                          <p:val>
                                            <p:strVal val="0"/>
                                          </p:val>
                                        </p:tav>
                                        <p:tav tm="100000">
                                          <p:val>
                                            <p:strVal val="#ppt_h"/>
                                          </p:val>
                                        </p:tav>
                                      </p:tavLst>
                                    </p:anim>
                                  </p:childTnLst>
                                </p:cTn>
                              </p:par>
                            </p:childTnLst>
                          </p:cTn>
                        </p:par>
                        <p:par>
                          <p:cTn id="9" fill="hold">
                            <p:stCondLst>
                              <p:cond delay="100"/>
                            </p:stCondLst>
                            <p:childTnLst>
                              <p:par>
                                <p:cTn id="10" presetID="53" presetClass="entr" presetSubtype="16" fill="hold" grpId="0" nodeType="afterEffect">
                                  <p:stCondLst>
                                    <p:cond delay="0"/>
                                  </p:stCondLst>
                                  <p:childTnLst>
                                    <p:set>
                                      <p:cBhvr>
                                        <p:cTn id="11" dur="1" fill="hold">
                                          <p:stCondLst>
                                            <p:cond delay="0"/>
                                          </p:stCondLst>
                                        </p:cTn>
                                        <p:tgtEl>
                                          <p:spTgt spid="4"/>
                                        </p:tgtEl>
                                        <p:attrNameLst>
                                          <p:attrName>style.visibility</p:attrName>
                                        </p:attrNameLst>
                                      </p:cBhvr>
                                      <p:to>
                                        <p:strVal val="visible"/>
                                      </p:to>
                                    </p:set>
                                    <p:animEffect transition="in" filter="fade">
                                      <p:cBhvr>
                                        <p:cTn id="12" dur="550"/>
                                        <p:tgtEl>
                                          <p:spTgt spid="4"/>
                                        </p:tgtEl>
                                      </p:cBhvr>
                                    </p:animEffect>
                                    <p:anim calcmode="lin" valueType="num">
                                      <p:cBhvr additive="base">
                                        <p:cTn id="13" dur="550" fill="hold"/>
                                        <p:tgtEl>
                                          <p:spTgt spid="4"/>
                                        </p:tgtEl>
                                        <p:attrNameLst>
                                          <p:attrName>ppt_w</p:attrName>
                                        </p:attrNameLst>
                                      </p:cBhvr>
                                      <p:tavLst>
                                        <p:tav tm="0">
                                          <p:val>
                                            <p:strVal val="0"/>
                                          </p:val>
                                        </p:tav>
                                        <p:tav tm="100000">
                                          <p:val>
                                            <p:strVal val="#ppt_w"/>
                                          </p:val>
                                        </p:tav>
                                      </p:tavLst>
                                    </p:anim>
                                    <p:anim calcmode="lin" valueType="num">
                                      <p:cBhvr additive="base">
                                        <p:cTn id="14" dur="550" fill="hold"/>
                                        <p:tgtEl>
                                          <p:spTgt spid="4"/>
                                        </p:tgtEl>
                                        <p:attrNameLst>
                                          <p:attrName>ppt_h</p:attrName>
                                        </p:attrNameLst>
                                      </p:cBhvr>
                                      <p:tavLst>
                                        <p:tav tm="0">
                                          <p:val>
                                            <p:strVal val="0"/>
                                          </p:val>
                                        </p:tav>
                                        <p:tav tm="100000">
                                          <p:val>
                                            <p:strVal val="#ppt_h"/>
                                          </p:val>
                                        </p:tav>
                                      </p:tavLst>
                                    </p:anim>
                                  </p:childTnLst>
                                </p:cTn>
                              </p:par>
                            </p:childTnLst>
                          </p:cTn>
                        </p:par>
                        <p:par>
                          <p:cTn id="15" fill="hold">
                            <p:stCondLst>
                              <p:cond delay="250"/>
                            </p:stCondLst>
                            <p:childTnLst>
                              <p:par>
                                <p:cTn id="16" presetID="2" presetClass="entr" presetSubtype="8" fill="hold" grpId="0" nodeType="afterEffect">
                                  <p:stCondLst>
                                    <p:cond delay="0"/>
                                  </p:stCondLst>
                                  <p:childTnLst>
                                    <p:set>
                                      <p:cBhvr>
                                        <p:cTn id="17" dur="1" fill="hold">
                                          <p:stCondLst>
                                            <p:cond delay="0"/>
                                          </p:stCondLst>
                                        </p:cTn>
                                        <p:tgtEl>
                                          <p:spTgt spid="5"/>
                                        </p:tgtEl>
                                        <p:attrNameLst>
                                          <p:attrName>style.visibility</p:attrName>
                                        </p:attrNameLst>
                                      </p:cBhvr>
                                      <p:to>
                                        <p:strVal val="visible"/>
                                      </p:to>
                                    </p:set>
                                    <p:anim calcmode="lin" valueType="num">
                                      <p:cBhvr additive="base">
                                        <p:cTn id="19" dur="550" fill="hold"/>
                                        <p:tgtEl>
                                          <p:spTgt spid="5"/>
                                        </p:tgtEl>
                                        <p:attrNameLst>
                                          <p:attrName>ppt_x</p:attrName>
                                        </p:attrNameLst>
                                      </p:cBhvr>
                                      <p:tavLst>
                                        <p:tav tm="0">
                                          <p:val>
                                            <p:strVal val="0-#ppt_w/2"/>
                                          </p:val>
                                        </p:tav>
                                        <p:tav tm="100000">
                                          <p:val>
                                            <p:strVal val="#ppt_x"/>
                                          </p:val>
                                        </p:tav>
                                      </p:tavLst>
                                    </p:anim>
                                    <p:anim calcmode="lin" valueType="num">
                                      <p:cBhvr additive="base">
                                        <p:cTn id="20" dur="550" fill="hold"/>
                                        <p:tgtEl>
                                          <p:spTgt spid="5"/>
                                        </p:tgtEl>
                                        <p:attrNameLst>
                                          <p:attrName>ppt_y</p:attrName>
                                        </p:attrNameLst>
                                      </p:cBhvr>
                                      <p:tavLst>
                                        <p:tav tm="0">
                                          <p:val>
                                            <p:strVal val="#ppt_y"/>
                                          </p:val>
                                        </p:tav>
                                        <p:tav tm="100000">
                                          <p:val>
                                            <p:strVal val="#ppt_y"/>
                                          </p:val>
                                        </p:tav>
                                      </p:tavLst>
                                    </p:anim>
                                  </p:childTnLst>
                                </p:cTn>
                              </p:par>
                            </p:childTnLst>
                          </p:cTn>
                        </p:par>
                        <p:par>
                          <p:cTn id="21" fill="hold">
                            <p:stCondLst>
                              <p:cond delay="350"/>
                            </p:stCondLst>
                            <p:childTnLst>
                              <p:par>
                                <p:cTn id="22" presetID="22" presetClass="entr" presetSubtype="8" fill="hold" grpId="0" nodeType="afterEffect">
                                  <p:stCondLst>
                                    <p:cond delay="0"/>
                                  </p:stCondLst>
                                  <p:childTnLst>
                                    <p:set>
                                      <p:cBhvr>
                                        <p:cTn id="23" dur="1" fill="hold">
                                          <p:stCondLst>
                                            <p:cond delay="0"/>
                                          </p:stCondLst>
                                        </p:cTn>
                                        <p:tgtEl>
                                          <p:spTgt spid="6"/>
                                        </p:tgtEl>
                                        <p:attrNameLst>
                                          <p:attrName>style.visibility</p:attrName>
                                        </p:attrNameLst>
                                      </p:cBhvr>
                                      <p:to>
                                        <p:strVal val="visible"/>
                                      </p:to>
                                    </p:set>
                                    <p:animEffect transition="in" filter="wipe(left)">
                                      <p:cBhvr>
                                        <p:cTn id="25" dur="8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4" grpId="0" animBg="1"/>
      <p:bldP spid="5" grpId="0" animBg="1"/>
      <p:bldP spid="6" grpId="0" animBg="1"/>
    </p:bldLst>
  </p:timing>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110000"/>
            <a:ext cx="10300000" cy="300000"/>
          </a:xfrm>
          <a:prstGeom prst="rect">
            <a:avLst/>
          </a:prstGeom>
          <a:noFill/>
        </p:spPr>
        <p:txBody>
          <a:bodyPr wrap="square" anchor="t" lIns="50800" rIns="50800">
            <a:spAutoFit/>
          </a:bodyPr>
          <a:lstStyle/>
          <a:p>
            <a:pPr algn="l"/>
            <a:r>
              <a:rPr sz="1200" b="1">
                <a:solidFill>
                  <a:srgbClr val="A9C4E6"/>
                </a:solidFill>
                <a:latin typeface="Calibri"/>
              </a:rPr>
              <a:t>NAZARIY ASOSLAR</a:t>
            </a:r>
          </a:p>
        </p:txBody>
      </p:sp>
      <p:sp>
        <p:nvSpPr>
          <p:cNvPr id="6" name="TextBox 5"/>
          <p:cNvSpPr txBox="1"/>
          <p:nvPr/>
        </p:nvSpPr>
        <p:spPr>
          <a:xfrm>
            <a:off x="500000" y="330000"/>
            <a:ext cx="10400000" cy="650000"/>
          </a:xfrm>
          <a:prstGeom prst="rect">
            <a:avLst/>
          </a:prstGeom>
          <a:noFill/>
        </p:spPr>
        <p:txBody>
          <a:bodyPr wrap="square" anchor="ctr" lIns="50800" rIns="50800">
            <a:spAutoFit/>
          </a:bodyPr>
          <a:lstStyle/>
          <a:p>
            <a:pPr algn="l"/>
            <a:r>
              <a:rPr sz="2600" b="1">
                <a:solidFill>
                  <a:srgbClr val="FFFFFF"/>
                </a:solidFill>
                <a:latin typeface="Calibri"/>
              </a:rPr>
              <a:t>AI tizimining qatlamli arxitekturasi</a:t>
            </a:r>
          </a:p>
        </p:txBody>
      </p:sp>
      <p:sp>
        <p:nvSpPr>
          <p:cNvPr id="7" name="Rectangle 6"/>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A1 · Sun'iy intellektga asoslangan kompyuter tizimlari arxitekturasini tahlil qilish va loyihalash</a:t>
            </a:r>
          </a:p>
        </p:txBody>
      </p:sp>
      <p:sp>
        <p:nvSpPr>
          <p:cNvPr id="9" name="TextBox 8"/>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9</a:t>
            </a:r>
          </a:p>
        </p:txBody>
      </p:sp>
      <p:sp>
        <p:nvSpPr>
          <p:cNvPr id="10" name="Rounded Rectangle 9"/>
          <p:cNvSpPr/>
          <p:nvPr/>
        </p:nvSpPr>
        <p:spPr>
          <a:xfrm>
            <a:off x="550000" y="2076666"/>
            <a:ext cx="11100000" cy="1250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50000" y="2076666"/>
            <a:ext cx="70000" cy="1250000"/>
          </a:xfrm>
          <a:prstGeom prst="rect">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800000" y="2471666"/>
            <a:ext cx="460000" cy="460000"/>
          </a:xfrm>
          <a:prstGeom prst="ellipse">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1</a:t>
            </a:r>
          </a:p>
        </p:txBody>
      </p:sp>
      <p:sp>
        <p:nvSpPr>
          <p:cNvPr id="13" name="TextBox 12"/>
          <p:cNvSpPr txBox="1"/>
          <p:nvPr/>
        </p:nvSpPr>
        <p:spPr>
          <a:xfrm>
            <a:off x="1450000" y="2076666"/>
            <a:ext cx="10050000" cy="1250000"/>
          </a:xfrm>
          <a:prstGeom prst="rect">
            <a:avLst/>
          </a:prstGeom>
          <a:noFill/>
        </p:spPr>
        <p:txBody>
          <a:bodyPr wrap="square" anchor="ctr" lIns="50800" rIns="50800">
            <a:spAutoFit/>
          </a:bodyPr>
          <a:lstStyle/>
          <a:p>
            <a:pPr algn="l"/>
            <a:r>
              <a:rPr sz="1600" b="0">
                <a:solidFill>
                  <a:srgbClr val="1B2430"/>
                </a:solidFill>
                <a:latin typeface="Calibri"/>
              </a:rPr>
              <a:t>Sun'iy intellektga asoslangan kompyuter tizimini (AI-enabled computer system) tahlil qilishda to'rt qatlamli model qulay: (1) ma'lumotlar qatlami — sensorlar, oqimlar, saqlash, oldindan ishlov berish; (2) model qatlami — neyron tarmoq arxitekturasi,…</a:t>
            </a:r>
          </a:p>
        </p:txBody>
      </p:sp>
      <p:sp>
        <p:nvSpPr>
          <p:cNvPr id="14" name="Rounded Rectangle 13"/>
          <p:cNvSpPr/>
          <p:nvPr/>
        </p:nvSpPr>
        <p:spPr>
          <a:xfrm>
            <a:off x="550000" y="3446666"/>
            <a:ext cx="11100000" cy="1250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50000" y="3446666"/>
            <a:ext cx="70000" cy="1250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00000" y="3841666"/>
            <a:ext cx="460000" cy="46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2</a:t>
            </a:r>
          </a:p>
        </p:txBody>
      </p:sp>
      <p:sp>
        <p:nvSpPr>
          <p:cNvPr id="17" name="TextBox 16"/>
          <p:cNvSpPr txBox="1"/>
          <p:nvPr/>
        </p:nvSpPr>
        <p:spPr>
          <a:xfrm>
            <a:off x="1450000" y="3446666"/>
            <a:ext cx="10050000" cy="1250000"/>
          </a:xfrm>
          <a:prstGeom prst="rect">
            <a:avLst/>
          </a:prstGeom>
          <a:noFill/>
        </p:spPr>
        <p:txBody>
          <a:bodyPr wrap="square" anchor="ctr" lIns="50800" rIns="50800">
            <a:spAutoFit/>
          </a:bodyPr>
          <a:lstStyle/>
          <a:p>
            <a:pPr algn="l"/>
            <a:r>
              <a:rPr sz="1600" b="0">
                <a:solidFill>
                  <a:srgbClr val="1B2430"/>
                </a:solidFill>
                <a:latin typeface="Calibri"/>
              </a:rPr>
              <a:t>Tahlilning asosiy ko'rsatkichlari quyidagilar: o'tkazuvchanlik (throughput) — birlik vaqtda ishlangan so'rovlar yoki kadrlar soni; kechikish (latency) — bitta so'rovning kirishdan…</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55"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6"/>
                                        </p:tgtEl>
                                        <p:attrNameLst>
                                          <p:attrName>style.visibility</p:attrName>
                                        </p:attrNameLst>
                                      </p:cBhvr>
                                      <p:to>
                                        <p:strVal val="visible"/>
                                      </p:to>
                                    </p:set>
                                    <p:animEffect transition="in" filter="fade">
                                      <p:cBhvr>
                                        <p:cTn id="6" dur="550"/>
                                        <p:tgtEl>
                                          <p:spTgt spid="6"/>
                                        </p:tgtEl>
                                      </p:cBhvr>
                                    </p:animEffect>
                                  </p:childTnLst>
                                </p:cTn>
                              </p:par>
                            </p:childTnLst>
                          </p:cTn>
                        </p:par>
                        <p:par>
                          <p:cTn id="7" fill="hold">
                            <p:stCondLst>
                              <p:cond delay="220"/>
                            </p:stCondLst>
                            <p:childTnLst>
                              <p:par>
                                <p:cTn id="8" presetID="42" presetClass="entr" presetSubtype="0" fill="hold" grpId="0" nodeType="after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fade">
                                      <p:cBhvr>
                                        <p:cTn id="10" dur="550"/>
                                        <p:tgtEl>
                                          <p:spTgt spid="10"/>
                                        </p:tgtEl>
                                      </p:cBhvr>
                                    </p:animEffect>
                                    <p:anim calcmode="lin" valueType="num">
                                      <p:cBhvr additive="base">
                                        <p:cTn id="11" dur="550" fill="hold"/>
                                        <p:tgtEl>
                                          <p:spTgt spid="10"/>
                                        </p:tgtEl>
                                        <p:attrNameLst>
                                          <p:attrName>ppt_x</p:attrName>
                                        </p:attrNameLst>
                                      </p:cBhvr>
                                      <p:tavLst>
                                        <p:tav tm="0">
                                          <p:val>
                                            <p:strVal val="#ppt_x"/>
                                          </p:val>
                                        </p:tav>
                                        <p:tav tm="100000">
                                          <p:val>
                                            <p:strVal val="#ppt_x"/>
                                          </p:val>
                                        </p:tav>
                                      </p:tavLst>
                                    </p:anim>
                                    <p:anim calcmode="lin" valueType="num">
                                      <p:cBhvr additive="base">
                                        <p:cTn id="12" dur="550" fill="hold"/>
                                        <p:tgtEl>
                                          <p:spTgt spid="10"/>
                                        </p:tgtEl>
                                        <p:attrNameLst>
                                          <p:attrName>ppt_y</p:attrName>
                                        </p:attrNameLst>
                                      </p:cBhvr>
                                      <p:tavLst>
                                        <p:tav tm="0">
                                          <p:val>
                                            <p:strVal val="#ppt_y+.08"/>
                                          </p:val>
                                        </p:tav>
                                        <p:tav tm="100000">
                                          <p:val>
                                            <p:strVal val="#ppt_y"/>
                                          </p:val>
                                        </p:tav>
                                      </p:tavLst>
                                    </p:anim>
                                  </p:childTnLst>
                                </p:cTn>
                              </p:par>
                            </p:childTnLst>
                          </p:cTn>
                        </p:par>
                        <p:par>
                          <p:cTn id="13" fill="hold">
                            <p:stCondLst>
                              <p:cond delay="220"/>
                            </p:stCondLst>
                            <p:childTnLst>
                              <p:par>
                                <p:cTn id="14" presetID="42" presetClass="entr" presetSubtype="0" fill="hold" grpId="0" nodeType="afterEffect">
                                  <p:stCondLst>
                                    <p:cond delay="0"/>
                                  </p:stCondLst>
                                  <p:childTnLst>
                                    <p:set>
                                      <p:cBhvr>
                                        <p:cTn id="15" dur="1" fill="hold">
                                          <p:stCondLst>
                                            <p:cond delay="0"/>
                                          </p:stCondLst>
                                        </p:cTn>
                                        <p:tgtEl>
                                          <p:spTgt spid="11"/>
                                        </p:tgtEl>
                                        <p:attrNameLst>
                                          <p:attrName>style.visibility</p:attrName>
                                        </p:attrNameLst>
                                      </p:cBhvr>
                                      <p:to>
                                        <p:strVal val="visible"/>
                                      </p:to>
                                    </p:set>
                                    <p:animEffect transition="in" filter="fade">
                                      <p:cBhvr>
                                        <p:cTn id="16" dur="550"/>
                                        <p:tgtEl>
                                          <p:spTgt spid="11"/>
                                        </p:tgtEl>
                                      </p:cBhvr>
                                    </p:animEffect>
                                    <p:anim calcmode="lin" valueType="num">
                                      <p:cBhvr additive="base">
                                        <p:cTn id="17" dur="550" fill="hold"/>
                                        <p:tgtEl>
                                          <p:spTgt spid="11"/>
                                        </p:tgtEl>
                                        <p:attrNameLst>
                                          <p:attrName>ppt_x</p:attrName>
                                        </p:attrNameLst>
                                      </p:cBhvr>
                                      <p:tavLst>
                                        <p:tav tm="0">
                                          <p:val>
                                            <p:strVal val="#ppt_x"/>
                                          </p:val>
                                        </p:tav>
                                        <p:tav tm="100000">
                                          <p:val>
                                            <p:strVal val="#ppt_x"/>
                                          </p:val>
                                        </p:tav>
                                      </p:tavLst>
                                    </p:anim>
                                    <p:anim calcmode="lin" valueType="num">
                                      <p:cBhvr additive="base">
                                        <p:cTn id="18" dur="550" fill="hold"/>
                                        <p:tgtEl>
                                          <p:spTgt spid="11"/>
                                        </p:tgtEl>
                                        <p:attrNameLst>
                                          <p:attrName>ppt_y</p:attrName>
                                        </p:attrNameLst>
                                      </p:cBhvr>
                                      <p:tavLst>
                                        <p:tav tm="0">
                                          <p:val>
                                            <p:strVal val="#ppt_y+.08"/>
                                          </p:val>
                                        </p:tav>
                                        <p:tav tm="100000">
                                          <p:val>
                                            <p:strVal val="#ppt_y"/>
                                          </p:val>
                                        </p:tav>
                                      </p:tavLst>
                                    </p:anim>
                                  </p:childTnLst>
                                </p:cTn>
                              </p:par>
                            </p:childTnLst>
                          </p:cTn>
                        </p:par>
                        <p:par>
                          <p:cTn id="19" fill="hold">
                            <p:stCondLst>
                              <p:cond delay="220"/>
                            </p:stCondLst>
                            <p:childTnLst>
                              <p:par>
                                <p:cTn id="20" presetID="53" presetClass="entr" presetSubtype="16" fill="hold" grpId="0" nodeType="afterEffect">
                                  <p:stCondLst>
                                    <p:cond delay="0"/>
                                  </p:stCondLst>
                                  <p:childTnLst>
                                    <p:set>
                                      <p:cBhvr>
                                        <p:cTn id="21" dur="1" fill="hold">
                                          <p:stCondLst>
                                            <p:cond delay="0"/>
                                          </p:stCondLst>
                                        </p:cTn>
                                        <p:tgtEl>
                                          <p:spTgt spid="12"/>
                                        </p:tgtEl>
                                        <p:attrNameLst>
                                          <p:attrName>style.visibility</p:attrName>
                                        </p:attrNameLst>
                                      </p:cBhvr>
                                      <p:to>
                                        <p:strVal val="visible"/>
                                      </p:to>
                                    </p:set>
                                    <p:animEffect transition="in" filter="fade">
                                      <p:cBhvr>
                                        <p:cTn id="22" dur="550"/>
                                        <p:tgtEl>
                                          <p:spTgt spid="12"/>
                                        </p:tgtEl>
                                      </p:cBhvr>
                                    </p:animEffect>
                                    <p:anim calcmode="lin" valueType="num">
                                      <p:cBhvr additive="base">
                                        <p:cTn id="23" dur="550" fill="hold"/>
                                        <p:tgtEl>
                                          <p:spTgt spid="12"/>
                                        </p:tgtEl>
                                        <p:attrNameLst>
                                          <p:attrName>ppt_w</p:attrName>
                                        </p:attrNameLst>
                                      </p:cBhvr>
                                      <p:tavLst>
                                        <p:tav tm="0">
                                          <p:val>
                                            <p:strVal val="0"/>
                                          </p:val>
                                        </p:tav>
                                        <p:tav tm="100000">
                                          <p:val>
                                            <p:strVal val="#ppt_w"/>
                                          </p:val>
                                        </p:tav>
                                      </p:tavLst>
                                    </p:anim>
                                    <p:anim calcmode="lin" valueType="num">
                                      <p:cBhvr additive="base">
                                        <p:cTn id="24" dur="550" fill="hold"/>
                                        <p:tgtEl>
                                          <p:spTgt spid="12"/>
                                        </p:tgtEl>
                                        <p:attrNameLst>
                                          <p:attrName>ppt_h</p:attrName>
                                        </p:attrNameLst>
                                      </p:cBhvr>
                                      <p:tavLst>
                                        <p:tav tm="0">
                                          <p:val>
                                            <p:strVal val="0"/>
                                          </p:val>
                                        </p:tav>
                                        <p:tav tm="100000">
                                          <p:val>
                                            <p:strVal val="#ppt_h"/>
                                          </p:val>
                                        </p:tav>
                                      </p:tavLst>
                                    </p:anim>
                                  </p:childTnLst>
                                </p:cTn>
                              </p:par>
                            </p:childTnLst>
                          </p:cTn>
                        </p:par>
                        <p:par>
                          <p:cTn id="25" fill="hold">
                            <p:stCondLst>
                              <p:cond delay="220"/>
                            </p:stCondLst>
                            <p:childTnLst>
                              <p:par>
                                <p:cTn id="26" presetID="42" presetClass="entr" presetSubtype="0" fill="hold" grpId="0" nodeType="afterEffect">
                                  <p:stCondLst>
                                    <p:cond delay="0"/>
                                  </p:stCondLst>
                                  <p:childTnLst>
                                    <p:set>
                                      <p:cBhvr>
                                        <p:cTn id="27" dur="1" fill="hold">
                                          <p:stCondLst>
                                            <p:cond delay="0"/>
                                          </p:stCondLst>
                                        </p:cTn>
                                        <p:tgtEl>
                                          <p:spTgt spid="13"/>
                                        </p:tgtEl>
                                        <p:attrNameLst>
                                          <p:attrName>style.visibility</p:attrName>
                                        </p:attrNameLst>
                                      </p:cBhvr>
                                      <p:to>
                                        <p:strVal val="visible"/>
                                      </p:to>
                                    </p:set>
                                    <p:animEffect transition="in" filter="fade">
                                      <p:cBhvr>
                                        <p:cTn id="28" dur="550"/>
                                        <p:tgtEl>
                                          <p:spTgt spid="13"/>
                                        </p:tgtEl>
                                      </p:cBhvr>
                                    </p:animEffect>
                                    <p:anim calcmode="lin" valueType="num">
                                      <p:cBhvr additive="base">
                                        <p:cTn id="29" dur="550" fill="hold"/>
                                        <p:tgtEl>
                                          <p:spTgt spid="13"/>
                                        </p:tgtEl>
                                        <p:attrNameLst>
                                          <p:attrName>ppt_x</p:attrName>
                                        </p:attrNameLst>
                                      </p:cBhvr>
                                      <p:tavLst>
                                        <p:tav tm="0">
                                          <p:val>
                                            <p:strVal val="#ppt_x"/>
                                          </p:val>
                                        </p:tav>
                                        <p:tav tm="100000">
                                          <p:val>
                                            <p:strVal val="#ppt_x"/>
                                          </p:val>
                                        </p:tav>
                                      </p:tavLst>
                                    </p:anim>
                                    <p:anim calcmode="lin" valueType="num">
                                      <p:cBhvr additive="base">
                                        <p:cTn id="30" dur="550" fill="hold"/>
                                        <p:tgtEl>
                                          <p:spTgt spid="13"/>
                                        </p:tgtEl>
                                        <p:attrNameLst>
                                          <p:attrName>ppt_y</p:attrName>
                                        </p:attrNameLst>
                                      </p:cBhvr>
                                      <p:tavLst>
                                        <p:tav tm="0">
                                          <p:val>
                                            <p:strVal val="#ppt_y+.08"/>
                                          </p:val>
                                        </p:tav>
                                        <p:tav tm="100000">
                                          <p:val>
                                            <p:strVal val="#ppt_y"/>
                                          </p:val>
                                        </p:tav>
                                      </p:tavLst>
                                    </p:anim>
                                  </p:childTnLst>
                                </p:cTn>
                              </p:par>
                            </p:childTnLst>
                          </p:cTn>
                        </p:par>
                        <p:par>
                          <p:cTn id="31" fill="hold">
                            <p:stCondLst>
                              <p:cond delay="440"/>
                            </p:stCondLst>
                            <p:childTnLst>
                              <p:par>
                                <p:cTn id="32" presetID="42" presetClass="entr" presetSubtype="0" fill="hold" grpId="0" nodeType="afterEffect">
                                  <p:stCondLst>
                                    <p:cond delay="0"/>
                                  </p:stCondLst>
                                  <p:childTnLst>
                                    <p:set>
                                      <p:cBhvr>
                                        <p:cTn id="33" dur="1" fill="hold">
                                          <p:stCondLst>
                                            <p:cond delay="0"/>
                                          </p:stCondLst>
                                        </p:cTn>
                                        <p:tgtEl>
                                          <p:spTgt spid="14"/>
                                        </p:tgtEl>
                                        <p:attrNameLst>
                                          <p:attrName>style.visibility</p:attrName>
                                        </p:attrNameLst>
                                      </p:cBhvr>
                                      <p:to>
                                        <p:strVal val="visible"/>
                                      </p:to>
                                    </p:set>
                                    <p:animEffect transition="in" filter="fade">
                                      <p:cBhvr>
                                        <p:cTn id="34" dur="550"/>
                                        <p:tgtEl>
                                          <p:spTgt spid="14"/>
                                        </p:tgtEl>
                                      </p:cBhvr>
                                    </p:animEffect>
                                    <p:anim calcmode="lin" valueType="num">
                                      <p:cBhvr additive="base">
                                        <p:cTn id="35" dur="550" fill="hold"/>
                                        <p:tgtEl>
                                          <p:spTgt spid="14"/>
                                        </p:tgtEl>
                                        <p:attrNameLst>
                                          <p:attrName>ppt_x</p:attrName>
                                        </p:attrNameLst>
                                      </p:cBhvr>
                                      <p:tavLst>
                                        <p:tav tm="0">
                                          <p:val>
                                            <p:strVal val="#ppt_x"/>
                                          </p:val>
                                        </p:tav>
                                        <p:tav tm="100000">
                                          <p:val>
                                            <p:strVal val="#ppt_x"/>
                                          </p:val>
                                        </p:tav>
                                      </p:tavLst>
                                    </p:anim>
                                    <p:anim calcmode="lin" valueType="num">
                                      <p:cBhvr additive="base">
                                        <p:cTn id="36" dur="550" fill="hold"/>
                                        <p:tgtEl>
                                          <p:spTgt spid="14"/>
                                        </p:tgtEl>
                                        <p:attrNameLst>
                                          <p:attrName>ppt_y</p:attrName>
                                        </p:attrNameLst>
                                      </p:cBhvr>
                                      <p:tavLst>
                                        <p:tav tm="0">
                                          <p:val>
                                            <p:strVal val="#ppt_y+.08"/>
                                          </p:val>
                                        </p:tav>
                                        <p:tav tm="100000">
                                          <p:val>
                                            <p:strVal val="#ppt_y"/>
                                          </p:val>
                                        </p:tav>
                                      </p:tavLst>
                                    </p:anim>
                                  </p:childTnLst>
                                </p:cTn>
                              </p:par>
                            </p:childTnLst>
                          </p:cTn>
                        </p:par>
                        <p:par>
                          <p:cTn id="37" fill="hold">
                            <p:stCondLst>
                              <p:cond delay="440"/>
                            </p:stCondLst>
                            <p:childTnLst>
                              <p:par>
                                <p:cTn id="38" presetID="42" presetClass="entr" presetSubtype="0" fill="hold" grpId="0" nodeType="afterEffect">
                                  <p:stCondLst>
                                    <p:cond delay="0"/>
                                  </p:stCondLst>
                                  <p:childTnLst>
                                    <p:set>
                                      <p:cBhvr>
                                        <p:cTn id="39" dur="1" fill="hold">
                                          <p:stCondLst>
                                            <p:cond delay="0"/>
                                          </p:stCondLst>
                                        </p:cTn>
                                        <p:tgtEl>
                                          <p:spTgt spid="15"/>
                                        </p:tgtEl>
                                        <p:attrNameLst>
                                          <p:attrName>style.visibility</p:attrName>
                                        </p:attrNameLst>
                                      </p:cBhvr>
                                      <p:to>
                                        <p:strVal val="visible"/>
                                      </p:to>
                                    </p:set>
                                    <p:animEffect transition="in" filter="fade">
                                      <p:cBhvr>
                                        <p:cTn id="40" dur="550"/>
                                        <p:tgtEl>
                                          <p:spTgt spid="15"/>
                                        </p:tgtEl>
                                      </p:cBhvr>
                                    </p:animEffect>
                                    <p:anim calcmode="lin" valueType="num">
                                      <p:cBhvr additive="base">
                                        <p:cTn id="41" dur="550" fill="hold"/>
                                        <p:tgtEl>
                                          <p:spTgt spid="15"/>
                                        </p:tgtEl>
                                        <p:attrNameLst>
                                          <p:attrName>ppt_x</p:attrName>
                                        </p:attrNameLst>
                                      </p:cBhvr>
                                      <p:tavLst>
                                        <p:tav tm="0">
                                          <p:val>
                                            <p:strVal val="#ppt_x"/>
                                          </p:val>
                                        </p:tav>
                                        <p:tav tm="100000">
                                          <p:val>
                                            <p:strVal val="#ppt_x"/>
                                          </p:val>
                                        </p:tav>
                                      </p:tavLst>
                                    </p:anim>
                                    <p:anim calcmode="lin" valueType="num">
                                      <p:cBhvr additive="base">
                                        <p:cTn id="42" dur="550" fill="hold"/>
                                        <p:tgtEl>
                                          <p:spTgt spid="15"/>
                                        </p:tgtEl>
                                        <p:attrNameLst>
                                          <p:attrName>ppt_y</p:attrName>
                                        </p:attrNameLst>
                                      </p:cBhvr>
                                      <p:tavLst>
                                        <p:tav tm="0">
                                          <p:val>
                                            <p:strVal val="#ppt_y+.08"/>
                                          </p:val>
                                        </p:tav>
                                        <p:tav tm="100000">
                                          <p:val>
                                            <p:strVal val="#ppt_y"/>
                                          </p:val>
                                        </p:tav>
                                      </p:tavLst>
                                    </p:anim>
                                  </p:childTnLst>
                                </p:cTn>
                              </p:par>
                            </p:childTnLst>
                          </p:cTn>
                        </p:par>
                        <p:par>
                          <p:cTn id="43" fill="hold">
                            <p:stCondLst>
                              <p:cond delay="440"/>
                            </p:stCondLst>
                            <p:childTnLst>
                              <p:par>
                                <p:cTn id="44" presetID="53" presetClass="entr" presetSubtype="16" fill="hold" grpId="0" nodeType="afterEffect">
                                  <p:stCondLst>
                                    <p:cond delay="0"/>
                                  </p:stCondLst>
                                  <p:childTnLst>
                                    <p:set>
                                      <p:cBhvr>
                                        <p:cTn id="45" dur="1" fill="hold">
                                          <p:stCondLst>
                                            <p:cond delay="0"/>
                                          </p:stCondLst>
                                        </p:cTn>
                                        <p:tgtEl>
                                          <p:spTgt spid="16"/>
                                        </p:tgtEl>
                                        <p:attrNameLst>
                                          <p:attrName>style.visibility</p:attrName>
                                        </p:attrNameLst>
                                      </p:cBhvr>
                                      <p:to>
                                        <p:strVal val="visible"/>
                                      </p:to>
                                    </p:set>
                                    <p:animEffect transition="in" filter="fade">
                                      <p:cBhvr>
                                        <p:cTn id="46" dur="550"/>
                                        <p:tgtEl>
                                          <p:spTgt spid="16"/>
                                        </p:tgtEl>
                                      </p:cBhvr>
                                    </p:animEffect>
                                    <p:anim calcmode="lin" valueType="num">
                                      <p:cBhvr additive="base">
                                        <p:cTn id="47" dur="550" fill="hold"/>
                                        <p:tgtEl>
                                          <p:spTgt spid="16"/>
                                        </p:tgtEl>
                                        <p:attrNameLst>
                                          <p:attrName>ppt_w</p:attrName>
                                        </p:attrNameLst>
                                      </p:cBhvr>
                                      <p:tavLst>
                                        <p:tav tm="0">
                                          <p:val>
                                            <p:strVal val="0"/>
                                          </p:val>
                                        </p:tav>
                                        <p:tav tm="100000">
                                          <p:val>
                                            <p:strVal val="#ppt_w"/>
                                          </p:val>
                                        </p:tav>
                                      </p:tavLst>
                                    </p:anim>
                                    <p:anim calcmode="lin" valueType="num">
                                      <p:cBhvr additive="base">
                                        <p:cTn id="48" dur="550" fill="hold"/>
                                        <p:tgtEl>
                                          <p:spTgt spid="16"/>
                                        </p:tgtEl>
                                        <p:attrNameLst>
                                          <p:attrName>ppt_h</p:attrName>
                                        </p:attrNameLst>
                                      </p:cBhvr>
                                      <p:tavLst>
                                        <p:tav tm="0">
                                          <p:val>
                                            <p:strVal val="0"/>
                                          </p:val>
                                        </p:tav>
                                        <p:tav tm="100000">
                                          <p:val>
                                            <p:strVal val="#ppt_h"/>
                                          </p:val>
                                        </p:tav>
                                      </p:tavLst>
                                    </p:anim>
                                  </p:childTnLst>
                                </p:cTn>
                              </p:par>
                            </p:childTnLst>
                          </p:cTn>
                        </p:par>
                        <p:par>
                          <p:cTn id="49" fill="hold">
                            <p:stCondLst>
                              <p:cond delay="440"/>
                            </p:stCondLst>
                            <p:childTnLst>
                              <p:par>
                                <p:cTn id="50" presetID="42" presetClass="entr" presetSubtype="0" fill="hold" grpId="0" nodeType="afterEffect">
                                  <p:stCondLst>
                                    <p:cond delay="0"/>
                                  </p:stCondLst>
                                  <p:childTnLst>
                                    <p:set>
                                      <p:cBhvr>
                                        <p:cTn id="51" dur="1" fill="hold">
                                          <p:stCondLst>
                                            <p:cond delay="0"/>
                                          </p:stCondLst>
                                        </p:cTn>
                                        <p:tgtEl>
                                          <p:spTgt spid="17"/>
                                        </p:tgtEl>
                                        <p:attrNameLst>
                                          <p:attrName>style.visibility</p:attrName>
                                        </p:attrNameLst>
                                      </p:cBhvr>
                                      <p:to>
                                        <p:strVal val="visible"/>
                                      </p:to>
                                    </p:set>
                                    <p:animEffect transition="in" filter="fade">
                                      <p:cBhvr>
                                        <p:cTn id="52" dur="550"/>
                                        <p:tgtEl>
                                          <p:spTgt spid="17"/>
                                        </p:tgtEl>
                                      </p:cBhvr>
                                    </p:animEffect>
                                    <p:anim calcmode="lin" valueType="num">
                                      <p:cBhvr additive="base">
                                        <p:cTn id="53" dur="550" fill="hold"/>
                                        <p:tgtEl>
                                          <p:spTgt spid="17"/>
                                        </p:tgtEl>
                                        <p:attrNameLst>
                                          <p:attrName>ppt_x</p:attrName>
                                        </p:attrNameLst>
                                      </p:cBhvr>
                                      <p:tavLst>
                                        <p:tav tm="0">
                                          <p:val>
                                            <p:strVal val="#ppt_x"/>
                                          </p:val>
                                        </p:tav>
                                        <p:tav tm="100000">
                                          <p:val>
                                            <p:strVal val="#ppt_x"/>
                                          </p:val>
                                        </p:tav>
                                      </p:tavLst>
                                    </p:anim>
                                    <p:anim calcmode="lin" valueType="num">
                                      <p:cBhvr additive="base">
                                        <p:cTn id="54" dur="550" fill="hold"/>
                                        <p:tgtEl>
                                          <p:spTgt spid="17"/>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10" grpId="0" animBg="1"/>
      <p:bldP spid="11" grpId="0" animBg="1"/>
      <p:bldP spid="12" grpId="0" animBg="1"/>
      <p:bldP spid="13" grpId="0" animBg="1"/>
      <p:bldP spid="14" grpId="0" animBg="1"/>
      <p:bldP spid="15" grpId="0" animBg="1"/>
      <p:bldP spid="16" grpId="0" animBg="1"/>
      <p:bldP spid="17" grpId="0" animBg="1"/>
    </p:bldLst>
  </p:timing>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110000"/>
            <a:ext cx="10300000" cy="300000"/>
          </a:xfrm>
          <a:prstGeom prst="rect">
            <a:avLst/>
          </a:prstGeom>
          <a:noFill/>
        </p:spPr>
        <p:txBody>
          <a:bodyPr wrap="square" anchor="t" lIns="50800" rIns="50800">
            <a:spAutoFit/>
          </a:bodyPr>
          <a:lstStyle/>
          <a:p>
            <a:pPr algn="l"/>
            <a:r>
              <a:rPr sz="1200" b="1">
                <a:solidFill>
                  <a:srgbClr val="A9C4E6"/>
                </a:solidFill>
                <a:latin typeface="Calibri"/>
              </a:rPr>
              <a:t>NAZARIY ASOSLAR</a:t>
            </a:r>
          </a:p>
        </p:txBody>
      </p:sp>
      <p:sp>
        <p:nvSpPr>
          <p:cNvPr id="6" name="TextBox 5"/>
          <p:cNvSpPr txBox="1"/>
          <p:nvPr/>
        </p:nvSpPr>
        <p:spPr>
          <a:xfrm>
            <a:off x="500000" y="330000"/>
            <a:ext cx="10400000" cy="650000"/>
          </a:xfrm>
          <a:prstGeom prst="rect">
            <a:avLst/>
          </a:prstGeom>
          <a:noFill/>
        </p:spPr>
        <p:txBody>
          <a:bodyPr wrap="square" anchor="ctr" lIns="50800" rIns="50800">
            <a:spAutoFit/>
          </a:bodyPr>
          <a:lstStyle/>
          <a:p>
            <a:pPr algn="l"/>
            <a:r>
              <a:rPr sz="2600" b="1">
                <a:solidFill>
                  <a:srgbClr val="FFFFFF"/>
                </a:solidFill>
                <a:latin typeface="Calibri"/>
              </a:rPr>
              <a:t>Ish yuklamasini xarakterlash: FLOP, bayt va arifmetik intensivlik</a:t>
            </a:r>
          </a:p>
        </p:txBody>
      </p:sp>
      <p:sp>
        <p:nvSpPr>
          <p:cNvPr id="7" name="Rectangle 6"/>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A1 · Sun'iy intellektga asoslangan kompyuter tizimlari arxitekturasini tahlil qilish va loyihalash</a:t>
            </a:r>
          </a:p>
        </p:txBody>
      </p:sp>
      <p:sp>
        <p:nvSpPr>
          <p:cNvPr id="9" name="TextBox 8"/>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10</a:t>
            </a:r>
          </a:p>
        </p:txBody>
      </p:sp>
      <p:sp>
        <p:nvSpPr>
          <p:cNvPr id="10" name="Rounded Rectangle 9"/>
          <p:cNvSpPr/>
          <p:nvPr/>
        </p:nvSpPr>
        <p:spPr>
          <a:xfrm>
            <a:off x="550000" y="2076666"/>
            <a:ext cx="11100000" cy="1250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50000" y="2076666"/>
            <a:ext cx="70000" cy="1250000"/>
          </a:xfrm>
          <a:prstGeom prst="rect">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800000" y="2471666"/>
            <a:ext cx="460000" cy="460000"/>
          </a:xfrm>
          <a:prstGeom prst="ellipse">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1</a:t>
            </a:r>
          </a:p>
        </p:txBody>
      </p:sp>
      <p:sp>
        <p:nvSpPr>
          <p:cNvPr id="13" name="TextBox 12"/>
          <p:cNvSpPr txBox="1"/>
          <p:nvPr/>
        </p:nvSpPr>
        <p:spPr>
          <a:xfrm>
            <a:off x="1450000" y="2076666"/>
            <a:ext cx="10050000" cy="1250000"/>
          </a:xfrm>
          <a:prstGeom prst="rect">
            <a:avLst/>
          </a:prstGeom>
          <a:noFill/>
        </p:spPr>
        <p:txBody>
          <a:bodyPr wrap="square" anchor="ctr" lIns="50800" rIns="50800">
            <a:spAutoFit/>
          </a:bodyPr>
          <a:lstStyle/>
          <a:p>
            <a:pPr algn="l"/>
            <a:r>
              <a:rPr sz="1600" b="0">
                <a:solidFill>
                  <a:srgbClr val="1B2430"/>
                </a:solidFill>
                <a:latin typeface="Calibri"/>
              </a:rPr>
              <a:t>Har qanday loyihalash yuklamani raqamlar bilan ifodalashdan boshlanadi. Chuqur o'rganish modelining bitta inferensi uchun zarur bo'lgan suzuvchi nuqtali amallar soni (FLOP) model arxitekturasidan aniq hisoblanadi: konvolyutsiya qatlami uchun FLOP = 2  K_h …</a:t>
            </a:r>
          </a:p>
        </p:txBody>
      </p:sp>
      <p:sp>
        <p:nvSpPr>
          <p:cNvPr id="14" name="Rounded Rectangle 13"/>
          <p:cNvSpPr/>
          <p:nvPr/>
        </p:nvSpPr>
        <p:spPr>
          <a:xfrm>
            <a:off x="550000" y="3446666"/>
            <a:ext cx="11100000" cy="1250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50000" y="3446666"/>
            <a:ext cx="70000" cy="1250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00000" y="3841666"/>
            <a:ext cx="460000" cy="46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2</a:t>
            </a:r>
          </a:p>
        </p:txBody>
      </p:sp>
      <p:sp>
        <p:nvSpPr>
          <p:cNvPr id="17" name="TextBox 16"/>
          <p:cNvSpPr txBox="1"/>
          <p:nvPr/>
        </p:nvSpPr>
        <p:spPr>
          <a:xfrm>
            <a:off x="1450000" y="3446666"/>
            <a:ext cx="10050000" cy="1250000"/>
          </a:xfrm>
          <a:prstGeom prst="rect">
            <a:avLst/>
          </a:prstGeom>
          <a:noFill/>
        </p:spPr>
        <p:txBody>
          <a:bodyPr wrap="square" anchor="ctr" lIns="50800" rIns="50800">
            <a:spAutoFit/>
          </a:bodyPr>
          <a:lstStyle/>
          <a:p>
            <a:pPr algn="l"/>
            <a:r>
              <a:rPr sz="1600" b="0">
                <a:solidFill>
                  <a:srgbClr val="1B2430"/>
                </a:solidFill>
                <a:latin typeface="Calibri"/>
              </a:rPr>
              <a:t>Xotira trafigi ham shunchalik muhim. Modelning har bir qatlami o'z vaznlarini (weights) va faollashuvlarini (activations) xotiradan o'qiydi va yozadi. Agar vaznlar FP16 formatida bo'lsa, YOLOv8s'ning 11,2 million parametri 22,4 MB joy egallaydi; paketlash…</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55"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6"/>
                                        </p:tgtEl>
                                        <p:attrNameLst>
                                          <p:attrName>style.visibility</p:attrName>
                                        </p:attrNameLst>
                                      </p:cBhvr>
                                      <p:to>
                                        <p:strVal val="visible"/>
                                      </p:to>
                                    </p:set>
                                    <p:animEffect transition="in" filter="fade">
                                      <p:cBhvr>
                                        <p:cTn id="6" dur="550"/>
                                        <p:tgtEl>
                                          <p:spTgt spid="6"/>
                                        </p:tgtEl>
                                      </p:cBhvr>
                                    </p:animEffect>
                                  </p:childTnLst>
                                </p:cTn>
                              </p:par>
                            </p:childTnLst>
                          </p:cTn>
                        </p:par>
                        <p:par>
                          <p:cTn id="7" fill="hold">
                            <p:stCondLst>
                              <p:cond delay="220"/>
                            </p:stCondLst>
                            <p:childTnLst>
                              <p:par>
                                <p:cTn id="8" presetID="42" presetClass="entr" presetSubtype="0" fill="hold" grpId="0" nodeType="after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fade">
                                      <p:cBhvr>
                                        <p:cTn id="10" dur="550"/>
                                        <p:tgtEl>
                                          <p:spTgt spid="10"/>
                                        </p:tgtEl>
                                      </p:cBhvr>
                                    </p:animEffect>
                                    <p:anim calcmode="lin" valueType="num">
                                      <p:cBhvr additive="base">
                                        <p:cTn id="11" dur="550" fill="hold"/>
                                        <p:tgtEl>
                                          <p:spTgt spid="10"/>
                                        </p:tgtEl>
                                        <p:attrNameLst>
                                          <p:attrName>ppt_x</p:attrName>
                                        </p:attrNameLst>
                                      </p:cBhvr>
                                      <p:tavLst>
                                        <p:tav tm="0">
                                          <p:val>
                                            <p:strVal val="#ppt_x"/>
                                          </p:val>
                                        </p:tav>
                                        <p:tav tm="100000">
                                          <p:val>
                                            <p:strVal val="#ppt_x"/>
                                          </p:val>
                                        </p:tav>
                                      </p:tavLst>
                                    </p:anim>
                                    <p:anim calcmode="lin" valueType="num">
                                      <p:cBhvr additive="base">
                                        <p:cTn id="12" dur="550" fill="hold"/>
                                        <p:tgtEl>
                                          <p:spTgt spid="10"/>
                                        </p:tgtEl>
                                        <p:attrNameLst>
                                          <p:attrName>ppt_y</p:attrName>
                                        </p:attrNameLst>
                                      </p:cBhvr>
                                      <p:tavLst>
                                        <p:tav tm="0">
                                          <p:val>
                                            <p:strVal val="#ppt_y+.08"/>
                                          </p:val>
                                        </p:tav>
                                        <p:tav tm="100000">
                                          <p:val>
                                            <p:strVal val="#ppt_y"/>
                                          </p:val>
                                        </p:tav>
                                      </p:tavLst>
                                    </p:anim>
                                  </p:childTnLst>
                                </p:cTn>
                              </p:par>
                            </p:childTnLst>
                          </p:cTn>
                        </p:par>
                        <p:par>
                          <p:cTn id="13" fill="hold">
                            <p:stCondLst>
                              <p:cond delay="220"/>
                            </p:stCondLst>
                            <p:childTnLst>
                              <p:par>
                                <p:cTn id="14" presetID="42" presetClass="entr" presetSubtype="0" fill="hold" grpId="0" nodeType="afterEffect">
                                  <p:stCondLst>
                                    <p:cond delay="0"/>
                                  </p:stCondLst>
                                  <p:childTnLst>
                                    <p:set>
                                      <p:cBhvr>
                                        <p:cTn id="15" dur="1" fill="hold">
                                          <p:stCondLst>
                                            <p:cond delay="0"/>
                                          </p:stCondLst>
                                        </p:cTn>
                                        <p:tgtEl>
                                          <p:spTgt spid="11"/>
                                        </p:tgtEl>
                                        <p:attrNameLst>
                                          <p:attrName>style.visibility</p:attrName>
                                        </p:attrNameLst>
                                      </p:cBhvr>
                                      <p:to>
                                        <p:strVal val="visible"/>
                                      </p:to>
                                    </p:set>
                                    <p:animEffect transition="in" filter="fade">
                                      <p:cBhvr>
                                        <p:cTn id="16" dur="550"/>
                                        <p:tgtEl>
                                          <p:spTgt spid="11"/>
                                        </p:tgtEl>
                                      </p:cBhvr>
                                    </p:animEffect>
                                    <p:anim calcmode="lin" valueType="num">
                                      <p:cBhvr additive="base">
                                        <p:cTn id="17" dur="550" fill="hold"/>
                                        <p:tgtEl>
                                          <p:spTgt spid="11"/>
                                        </p:tgtEl>
                                        <p:attrNameLst>
                                          <p:attrName>ppt_x</p:attrName>
                                        </p:attrNameLst>
                                      </p:cBhvr>
                                      <p:tavLst>
                                        <p:tav tm="0">
                                          <p:val>
                                            <p:strVal val="#ppt_x"/>
                                          </p:val>
                                        </p:tav>
                                        <p:tav tm="100000">
                                          <p:val>
                                            <p:strVal val="#ppt_x"/>
                                          </p:val>
                                        </p:tav>
                                      </p:tavLst>
                                    </p:anim>
                                    <p:anim calcmode="lin" valueType="num">
                                      <p:cBhvr additive="base">
                                        <p:cTn id="18" dur="550" fill="hold"/>
                                        <p:tgtEl>
                                          <p:spTgt spid="11"/>
                                        </p:tgtEl>
                                        <p:attrNameLst>
                                          <p:attrName>ppt_y</p:attrName>
                                        </p:attrNameLst>
                                      </p:cBhvr>
                                      <p:tavLst>
                                        <p:tav tm="0">
                                          <p:val>
                                            <p:strVal val="#ppt_y+.08"/>
                                          </p:val>
                                        </p:tav>
                                        <p:tav tm="100000">
                                          <p:val>
                                            <p:strVal val="#ppt_y"/>
                                          </p:val>
                                        </p:tav>
                                      </p:tavLst>
                                    </p:anim>
                                  </p:childTnLst>
                                </p:cTn>
                              </p:par>
                            </p:childTnLst>
                          </p:cTn>
                        </p:par>
                        <p:par>
                          <p:cTn id="19" fill="hold">
                            <p:stCondLst>
                              <p:cond delay="220"/>
                            </p:stCondLst>
                            <p:childTnLst>
                              <p:par>
                                <p:cTn id="20" presetID="53" presetClass="entr" presetSubtype="16" fill="hold" grpId="0" nodeType="afterEffect">
                                  <p:stCondLst>
                                    <p:cond delay="0"/>
                                  </p:stCondLst>
                                  <p:childTnLst>
                                    <p:set>
                                      <p:cBhvr>
                                        <p:cTn id="21" dur="1" fill="hold">
                                          <p:stCondLst>
                                            <p:cond delay="0"/>
                                          </p:stCondLst>
                                        </p:cTn>
                                        <p:tgtEl>
                                          <p:spTgt spid="12"/>
                                        </p:tgtEl>
                                        <p:attrNameLst>
                                          <p:attrName>style.visibility</p:attrName>
                                        </p:attrNameLst>
                                      </p:cBhvr>
                                      <p:to>
                                        <p:strVal val="visible"/>
                                      </p:to>
                                    </p:set>
                                    <p:animEffect transition="in" filter="fade">
                                      <p:cBhvr>
                                        <p:cTn id="22" dur="550"/>
                                        <p:tgtEl>
                                          <p:spTgt spid="12"/>
                                        </p:tgtEl>
                                      </p:cBhvr>
                                    </p:animEffect>
                                    <p:anim calcmode="lin" valueType="num">
                                      <p:cBhvr additive="base">
                                        <p:cTn id="23" dur="550" fill="hold"/>
                                        <p:tgtEl>
                                          <p:spTgt spid="12"/>
                                        </p:tgtEl>
                                        <p:attrNameLst>
                                          <p:attrName>ppt_w</p:attrName>
                                        </p:attrNameLst>
                                      </p:cBhvr>
                                      <p:tavLst>
                                        <p:tav tm="0">
                                          <p:val>
                                            <p:strVal val="0"/>
                                          </p:val>
                                        </p:tav>
                                        <p:tav tm="100000">
                                          <p:val>
                                            <p:strVal val="#ppt_w"/>
                                          </p:val>
                                        </p:tav>
                                      </p:tavLst>
                                    </p:anim>
                                    <p:anim calcmode="lin" valueType="num">
                                      <p:cBhvr additive="base">
                                        <p:cTn id="24" dur="550" fill="hold"/>
                                        <p:tgtEl>
                                          <p:spTgt spid="12"/>
                                        </p:tgtEl>
                                        <p:attrNameLst>
                                          <p:attrName>ppt_h</p:attrName>
                                        </p:attrNameLst>
                                      </p:cBhvr>
                                      <p:tavLst>
                                        <p:tav tm="0">
                                          <p:val>
                                            <p:strVal val="0"/>
                                          </p:val>
                                        </p:tav>
                                        <p:tav tm="100000">
                                          <p:val>
                                            <p:strVal val="#ppt_h"/>
                                          </p:val>
                                        </p:tav>
                                      </p:tavLst>
                                    </p:anim>
                                  </p:childTnLst>
                                </p:cTn>
                              </p:par>
                            </p:childTnLst>
                          </p:cTn>
                        </p:par>
                        <p:par>
                          <p:cTn id="25" fill="hold">
                            <p:stCondLst>
                              <p:cond delay="220"/>
                            </p:stCondLst>
                            <p:childTnLst>
                              <p:par>
                                <p:cTn id="26" presetID="42" presetClass="entr" presetSubtype="0" fill="hold" grpId="0" nodeType="afterEffect">
                                  <p:stCondLst>
                                    <p:cond delay="0"/>
                                  </p:stCondLst>
                                  <p:childTnLst>
                                    <p:set>
                                      <p:cBhvr>
                                        <p:cTn id="27" dur="1" fill="hold">
                                          <p:stCondLst>
                                            <p:cond delay="0"/>
                                          </p:stCondLst>
                                        </p:cTn>
                                        <p:tgtEl>
                                          <p:spTgt spid="13"/>
                                        </p:tgtEl>
                                        <p:attrNameLst>
                                          <p:attrName>style.visibility</p:attrName>
                                        </p:attrNameLst>
                                      </p:cBhvr>
                                      <p:to>
                                        <p:strVal val="visible"/>
                                      </p:to>
                                    </p:set>
                                    <p:animEffect transition="in" filter="fade">
                                      <p:cBhvr>
                                        <p:cTn id="28" dur="550"/>
                                        <p:tgtEl>
                                          <p:spTgt spid="13"/>
                                        </p:tgtEl>
                                      </p:cBhvr>
                                    </p:animEffect>
                                    <p:anim calcmode="lin" valueType="num">
                                      <p:cBhvr additive="base">
                                        <p:cTn id="29" dur="550" fill="hold"/>
                                        <p:tgtEl>
                                          <p:spTgt spid="13"/>
                                        </p:tgtEl>
                                        <p:attrNameLst>
                                          <p:attrName>ppt_x</p:attrName>
                                        </p:attrNameLst>
                                      </p:cBhvr>
                                      <p:tavLst>
                                        <p:tav tm="0">
                                          <p:val>
                                            <p:strVal val="#ppt_x"/>
                                          </p:val>
                                        </p:tav>
                                        <p:tav tm="100000">
                                          <p:val>
                                            <p:strVal val="#ppt_x"/>
                                          </p:val>
                                        </p:tav>
                                      </p:tavLst>
                                    </p:anim>
                                    <p:anim calcmode="lin" valueType="num">
                                      <p:cBhvr additive="base">
                                        <p:cTn id="30" dur="550" fill="hold"/>
                                        <p:tgtEl>
                                          <p:spTgt spid="13"/>
                                        </p:tgtEl>
                                        <p:attrNameLst>
                                          <p:attrName>ppt_y</p:attrName>
                                        </p:attrNameLst>
                                      </p:cBhvr>
                                      <p:tavLst>
                                        <p:tav tm="0">
                                          <p:val>
                                            <p:strVal val="#ppt_y+.08"/>
                                          </p:val>
                                        </p:tav>
                                        <p:tav tm="100000">
                                          <p:val>
                                            <p:strVal val="#ppt_y"/>
                                          </p:val>
                                        </p:tav>
                                      </p:tavLst>
                                    </p:anim>
                                  </p:childTnLst>
                                </p:cTn>
                              </p:par>
                            </p:childTnLst>
                          </p:cTn>
                        </p:par>
                        <p:par>
                          <p:cTn id="31" fill="hold">
                            <p:stCondLst>
                              <p:cond delay="440"/>
                            </p:stCondLst>
                            <p:childTnLst>
                              <p:par>
                                <p:cTn id="32" presetID="42" presetClass="entr" presetSubtype="0" fill="hold" grpId="0" nodeType="afterEffect">
                                  <p:stCondLst>
                                    <p:cond delay="0"/>
                                  </p:stCondLst>
                                  <p:childTnLst>
                                    <p:set>
                                      <p:cBhvr>
                                        <p:cTn id="33" dur="1" fill="hold">
                                          <p:stCondLst>
                                            <p:cond delay="0"/>
                                          </p:stCondLst>
                                        </p:cTn>
                                        <p:tgtEl>
                                          <p:spTgt spid="14"/>
                                        </p:tgtEl>
                                        <p:attrNameLst>
                                          <p:attrName>style.visibility</p:attrName>
                                        </p:attrNameLst>
                                      </p:cBhvr>
                                      <p:to>
                                        <p:strVal val="visible"/>
                                      </p:to>
                                    </p:set>
                                    <p:animEffect transition="in" filter="fade">
                                      <p:cBhvr>
                                        <p:cTn id="34" dur="550"/>
                                        <p:tgtEl>
                                          <p:spTgt spid="14"/>
                                        </p:tgtEl>
                                      </p:cBhvr>
                                    </p:animEffect>
                                    <p:anim calcmode="lin" valueType="num">
                                      <p:cBhvr additive="base">
                                        <p:cTn id="35" dur="550" fill="hold"/>
                                        <p:tgtEl>
                                          <p:spTgt spid="14"/>
                                        </p:tgtEl>
                                        <p:attrNameLst>
                                          <p:attrName>ppt_x</p:attrName>
                                        </p:attrNameLst>
                                      </p:cBhvr>
                                      <p:tavLst>
                                        <p:tav tm="0">
                                          <p:val>
                                            <p:strVal val="#ppt_x"/>
                                          </p:val>
                                        </p:tav>
                                        <p:tav tm="100000">
                                          <p:val>
                                            <p:strVal val="#ppt_x"/>
                                          </p:val>
                                        </p:tav>
                                      </p:tavLst>
                                    </p:anim>
                                    <p:anim calcmode="lin" valueType="num">
                                      <p:cBhvr additive="base">
                                        <p:cTn id="36" dur="550" fill="hold"/>
                                        <p:tgtEl>
                                          <p:spTgt spid="14"/>
                                        </p:tgtEl>
                                        <p:attrNameLst>
                                          <p:attrName>ppt_y</p:attrName>
                                        </p:attrNameLst>
                                      </p:cBhvr>
                                      <p:tavLst>
                                        <p:tav tm="0">
                                          <p:val>
                                            <p:strVal val="#ppt_y+.08"/>
                                          </p:val>
                                        </p:tav>
                                        <p:tav tm="100000">
                                          <p:val>
                                            <p:strVal val="#ppt_y"/>
                                          </p:val>
                                        </p:tav>
                                      </p:tavLst>
                                    </p:anim>
                                  </p:childTnLst>
                                </p:cTn>
                              </p:par>
                            </p:childTnLst>
                          </p:cTn>
                        </p:par>
                        <p:par>
                          <p:cTn id="37" fill="hold">
                            <p:stCondLst>
                              <p:cond delay="440"/>
                            </p:stCondLst>
                            <p:childTnLst>
                              <p:par>
                                <p:cTn id="38" presetID="42" presetClass="entr" presetSubtype="0" fill="hold" grpId="0" nodeType="afterEffect">
                                  <p:stCondLst>
                                    <p:cond delay="0"/>
                                  </p:stCondLst>
                                  <p:childTnLst>
                                    <p:set>
                                      <p:cBhvr>
                                        <p:cTn id="39" dur="1" fill="hold">
                                          <p:stCondLst>
                                            <p:cond delay="0"/>
                                          </p:stCondLst>
                                        </p:cTn>
                                        <p:tgtEl>
                                          <p:spTgt spid="15"/>
                                        </p:tgtEl>
                                        <p:attrNameLst>
                                          <p:attrName>style.visibility</p:attrName>
                                        </p:attrNameLst>
                                      </p:cBhvr>
                                      <p:to>
                                        <p:strVal val="visible"/>
                                      </p:to>
                                    </p:set>
                                    <p:animEffect transition="in" filter="fade">
                                      <p:cBhvr>
                                        <p:cTn id="40" dur="550"/>
                                        <p:tgtEl>
                                          <p:spTgt spid="15"/>
                                        </p:tgtEl>
                                      </p:cBhvr>
                                    </p:animEffect>
                                    <p:anim calcmode="lin" valueType="num">
                                      <p:cBhvr additive="base">
                                        <p:cTn id="41" dur="550" fill="hold"/>
                                        <p:tgtEl>
                                          <p:spTgt spid="15"/>
                                        </p:tgtEl>
                                        <p:attrNameLst>
                                          <p:attrName>ppt_x</p:attrName>
                                        </p:attrNameLst>
                                      </p:cBhvr>
                                      <p:tavLst>
                                        <p:tav tm="0">
                                          <p:val>
                                            <p:strVal val="#ppt_x"/>
                                          </p:val>
                                        </p:tav>
                                        <p:tav tm="100000">
                                          <p:val>
                                            <p:strVal val="#ppt_x"/>
                                          </p:val>
                                        </p:tav>
                                      </p:tavLst>
                                    </p:anim>
                                    <p:anim calcmode="lin" valueType="num">
                                      <p:cBhvr additive="base">
                                        <p:cTn id="42" dur="550" fill="hold"/>
                                        <p:tgtEl>
                                          <p:spTgt spid="15"/>
                                        </p:tgtEl>
                                        <p:attrNameLst>
                                          <p:attrName>ppt_y</p:attrName>
                                        </p:attrNameLst>
                                      </p:cBhvr>
                                      <p:tavLst>
                                        <p:tav tm="0">
                                          <p:val>
                                            <p:strVal val="#ppt_y+.08"/>
                                          </p:val>
                                        </p:tav>
                                        <p:tav tm="100000">
                                          <p:val>
                                            <p:strVal val="#ppt_y"/>
                                          </p:val>
                                        </p:tav>
                                      </p:tavLst>
                                    </p:anim>
                                  </p:childTnLst>
                                </p:cTn>
                              </p:par>
                            </p:childTnLst>
                          </p:cTn>
                        </p:par>
                        <p:par>
                          <p:cTn id="43" fill="hold">
                            <p:stCondLst>
                              <p:cond delay="440"/>
                            </p:stCondLst>
                            <p:childTnLst>
                              <p:par>
                                <p:cTn id="44" presetID="53" presetClass="entr" presetSubtype="16" fill="hold" grpId="0" nodeType="afterEffect">
                                  <p:stCondLst>
                                    <p:cond delay="0"/>
                                  </p:stCondLst>
                                  <p:childTnLst>
                                    <p:set>
                                      <p:cBhvr>
                                        <p:cTn id="45" dur="1" fill="hold">
                                          <p:stCondLst>
                                            <p:cond delay="0"/>
                                          </p:stCondLst>
                                        </p:cTn>
                                        <p:tgtEl>
                                          <p:spTgt spid="16"/>
                                        </p:tgtEl>
                                        <p:attrNameLst>
                                          <p:attrName>style.visibility</p:attrName>
                                        </p:attrNameLst>
                                      </p:cBhvr>
                                      <p:to>
                                        <p:strVal val="visible"/>
                                      </p:to>
                                    </p:set>
                                    <p:animEffect transition="in" filter="fade">
                                      <p:cBhvr>
                                        <p:cTn id="46" dur="550"/>
                                        <p:tgtEl>
                                          <p:spTgt spid="16"/>
                                        </p:tgtEl>
                                      </p:cBhvr>
                                    </p:animEffect>
                                    <p:anim calcmode="lin" valueType="num">
                                      <p:cBhvr additive="base">
                                        <p:cTn id="47" dur="550" fill="hold"/>
                                        <p:tgtEl>
                                          <p:spTgt spid="16"/>
                                        </p:tgtEl>
                                        <p:attrNameLst>
                                          <p:attrName>ppt_w</p:attrName>
                                        </p:attrNameLst>
                                      </p:cBhvr>
                                      <p:tavLst>
                                        <p:tav tm="0">
                                          <p:val>
                                            <p:strVal val="0"/>
                                          </p:val>
                                        </p:tav>
                                        <p:tav tm="100000">
                                          <p:val>
                                            <p:strVal val="#ppt_w"/>
                                          </p:val>
                                        </p:tav>
                                      </p:tavLst>
                                    </p:anim>
                                    <p:anim calcmode="lin" valueType="num">
                                      <p:cBhvr additive="base">
                                        <p:cTn id="48" dur="550" fill="hold"/>
                                        <p:tgtEl>
                                          <p:spTgt spid="16"/>
                                        </p:tgtEl>
                                        <p:attrNameLst>
                                          <p:attrName>ppt_h</p:attrName>
                                        </p:attrNameLst>
                                      </p:cBhvr>
                                      <p:tavLst>
                                        <p:tav tm="0">
                                          <p:val>
                                            <p:strVal val="0"/>
                                          </p:val>
                                        </p:tav>
                                        <p:tav tm="100000">
                                          <p:val>
                                            <p:strVal val="#ppt_h"/>
                                          </p:val>
                                        </p:tav>
                                      </p:tavLst>
                                    </p:anim>
                                  </p:childTnLst>
                                </p:cTn>
                              </p:par>
                            </p:childTnLst>
                          </p:cTn>
                        </p:par>
                        <p:par>
                          <p:cTn id="49" fill="hold">
                            <p:stCondLst>
                              <p:cond delay="440"/>
                            </p:stCondLst>
                            <p:childTnLst>
                              <p:par>
                                <p:cTn id="50" presetID="42" presetClass="entr" presetSubtype="0" fill="hold" grpId="0" nodeType="afterEffect">
                                  <p:stCondLst>
                                    <p:cond delay="0"/>
                                  </p:stCondLst>
                                  <p:childTnLst>
                                    <p:set>
                                      <p:cBhvr>
                                        <p:cTn id="51" dur="1" fill="hold">
                                          <p:stCondLst>
                                            <p:cond delay="0"/>
                                          </p:stCondLst>
                                        </p:cTn>
                                        <p:tgtEl>
                                          <p:spTgt spid="17"/>
                                        </p:tgtEl>
                                        <p:attrNameLst>
                                          <p:attrName>style.visibility</p:attrName>
                                        </p:attrNameLst>
                                      </p:cBhvr>
                                      <p:to>
                                        <p:strVal val="visible"/>
                                      </p:to>
                                    </p:set>
                                    <p:animEffect transition="in" filter="fade">
                                      <p:cBhvr>
                                        <p:cTn id="52" dur="550"/>
                                        <p:tgtEl>
                                          <p:spTgt spid="17"/>
                                        </p:tgtEl>
                                      </p:cBhvr>
                                    </p:animEffect>
                                    <p:anim calcmode="lin" valueType="num">
                                      <p:cBhvr additive="base">
                                        <p:cTn id="53" dur="550" fill="hold"/>
                                        <p:tgtEl>
                                          <p:spTgt spid="17"/>
                                        </p:tgtEl>
                                        <p:attrNameLst>
                                          <p:attrName>ppt_x</p:attrName>
                                        </p:attrNameLst>
                                      </p:cBhvr>
                                      <p:tavLst>
                                        <p:tav tm="0">
                                          <p:val>
                                            <p:strVal val="#ppt_x"/>
                                          </p:val>
                                        </p:tav>
                                        <p:tav tm="100000">
                                          <p:val>
                                            <p:strVal val="#ppt_x"/>
                                          </p:val>
                                        </p:tav>
                                      </p:tavLst>
                                    </p:anim>
                                    <p:anim calcmode="lin" valueType="num">
                                      <p:cBhvr additive="base">
                                        <p:cTn id="54" dur="550" fill="hold"/>
                                        <p:tgtEl>
                                          <p:spTgt spid="17"/>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10" grpId="0" animBg="1"/>
      <p:bldP spid="11" grpId="0" animBg="1"/>
      <p:bldP spid="12" grpId="0" animBg="1"/>
      <p:bldP spid="13" grpId="0" animBg="1"/>
      <p:bldP spid="14" grpId="0" animBg="1"/>
      <p:bldP spid="15" grpId="0" animBg="1"/>
      <p:bldP spid="16" grpId="0" animBg="1"/>
      <p:bldP spid="17" grpId="0" animBg="1"/>
    </p:bldLst>
  </p:timing>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110000"/>
            <a:ext cx="10300000" cy="300000"/>
          </a:xfrm>
          <a:prstGeom prst="rect">
            <a:avLst/>
          </a:prstGeom>
          <a:noFill/>
        </p:spPr>
        <p:txBody>
          <a:bodyPr wrap="square" anchor="t" lIns="50800" rIns="50800">
            <a:spAutoFit/>
          </a:bodyPr>
          <a:lstStyle/>
          <a:p>
            <a:pPr algn="l"/>
            <a:r>
              <a:rPr sz="1200" b="1">
                <a:solidFill>
                  <a:srgbClr val="A9C4E6"/>
                </a:solidFill>
                <a:latin typeface="Calibri"/>
              </a:rPr>
              <a:t>NAZARIY ASOSLAR</a:t>
            </a:r>
          </a:p>
        </p:txBody>
      </p:sp>
      <p:sp>
        <p:nvSpPr>
          <p:cNvPr id="6" name="TextBox 5"/>
          <p:cNvSpPr txBox="1"/>
          <p:nvPr/>
        </p:nvSpPr>
        <p:spPr>
          <a:xfrm>
            <a:off x="500000" y="330000"/>
            <a:ext cx="10400000" cy="650000"/>
          </a:xfrm>
          <a:prstGeom prst="rect">
            <a:avLst/>
          </a:prstGeom>
          <a:noFill/>
        </p:spPr>
        <p:txBody>
          <a:bodyPr wrap="square" anchor="ctr" lIns="50800" rIns="50800">
            <a:spAutoFit/>
          </a:bodyPr>
          <a:lstStyle/>
          <a:p>
            <a:pPr algn="l"/>
            <a:r>
              <a:rPr sz="2600" b="1">
                <a:solidFill>
                  <a:srgbClr val="FFFFFF"/>
                </a:solidFill>
                <a:latin typeface="Calibri"/>
              </a:rPr>
              <a:t>Hardware–Software Co-design tamoyillari (1)</a:t>
            </a:r>
          </a:p>
        </p:txBody>
      </p:sp>
      <p:sp>
        <p:nvSpPr>
          <p:cNvPr id="7" name="Rectangle 6"/>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A1 · Sun'iy intellektga asoslangan kompyuter tizimlari arxitekturasini tahlil qilish va loyihalash</a:t>
            </a:r>
          </a:p>
        </p:txBody>
      </p:sp>
      <p:sp>
        <p:nvSpPr>
          <p:cNvPr id="9" name="TextBox 8"/>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11</a:t>
            </a:r>
          </a:p>
        </p:txBody>
      </p:sp>
      <p:sp>
        <p:nvSpPr>
          <p:cNvPr id="10" name="Rounded Rectangle 9"/>
          <p:cNvSpPr/>
          <p:nvPr/>
        </p:nvSpPr>
        <p:spPr>
          <a:xfrm>
            <a:off x="550000" y="1300000"/>
            <a:ext cx="11100000" cy="894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50000" y="1300000"/>
            <a:ext cx="70000" cy="894000"/>
          </a:xfrm>
          <a:prstGeom prst="rect">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800000" y="1517000"/>
            <a:ext cx="460000" cy="460000"/>
          </a:xfrm>
          <a:prstGeom prst="ellipse">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1</a:t>
            </a:r>
          </a:p>
        </p:txBody>
      </p:sp>
      <p:sp>
        <p:nvSpPr>
          <p:cNvPr id="13" name="TextBox 12"/>
          <p:cNvSpPr txBox="1"/>
          <p:nvPr/>
        </p:nvSpPr>
        <p:spPr>
          <a:xfrm>
            <a:off x="1450000" y="1300000"/>
            <a:ext cx="10050000" cy="894000"/>
          </a:xfrm>
          <a:prstGeom prst="rect">
            <a:avLst/>
          </a:prstGeom>
          <a:noFill/>
        </p:spPr>
        <p:txBody>
          <a:bodyPr wrap="square" anchor="ctr" lIns="50800" rIns="50800">
            <a:spAutoFit/>
          </a:bodyPr>
          <a:lstStyle/>
          <a:p>
            <a:pPr algn="l"/>
            <a:r>
              <a:rPr sz="1400" b="0">
                <a:solidFill>
                  <a:srgbClr val="1B2430"/>
                </a:solidFill>
                <a:latin typeface="Calibri"/>
              </a:rPr>
              <a:t>Co-design — apparat va dasturiy qarorlarni ketma-ket emas, balki iterativ va birgalikda qabul qilish metodologiyasi.</a:t>
            </a:r>
          </a:p>
        </p:txBody>
      </p:sp>
      <p:sp>
        <p:nvSpPr>
          <p:cNvPr id="14" name="Rounded Rectangle 13"/>
          <p:cNvSpPr/>
          <p:nvPr/>
        </p:nvSpPr>
        <p:spPr>
          <a:xfrm>
            <a:off x="550000" y="2314000"/>
            <a:ext cx="11100000" cy="894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50000" y="2314000"/>
            <a:ext cx="70000" cy="894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00000" y="2531000"/>
            <a:ext cx="460000" cy="46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2</a:t>
            </a:r>
          </a:p>
        </p:txBody>
      </p:sp>
      <p:sp>
        <p:nvSpPr>
          <p:cNvPr id="17" name="TextBox 16"/>
          <p:cNvSpPr txBox="1"/>
          <p:nvPr/>
        </p:nvSpPr>
        <p:spPr>
          <a:xfrm>
            <a:off x="1450000" y="2314000"/>
            <a:ext cx="10050000" cy="894000"/>
          </a:xfrm>
          <a:prstGeom prst="rect">
            <a:avLst/>
          </a:prstGeom>
          <a:noFill/>
        </p:spPr>
        <p:txBody>
          <a:bodyPr wrap="square" anchor="ctr" lIns="50800" rIns="50800">
            <a:spAutoFit/>
          </a:bodyPr>
          <a:lstStyle/>
          <a:p>
            <a:pPr algn="l"/>
            <a:r>
              <a:rPr sz="1400" b="0">
                <a:solidFill>
                  <a:srgbClr val="1B2430"/>
                </a:solidFill>
                <a:latin typeface="Calibri"/>
              </a:rPr>
              <a:t>Yuklamadan boshlash (workload-first). Avval model operatorlari profili tuziladi: qaysi operatorlar vaqtning necha foizini oladi. Agar 85 % vaqt konvolyutsiya va matritsa ko'paytirishga…</a:t>
            </a:r>
          </a:p>
        </p:txBody>
      </p:sp>
      <p:sp>
        <p:nvSpPr>
          <p:cNvPr id="18" name="Rounded Rectangle 17"/>
          <p:cNvSpPr/>
          <p:nvPr/>
        </p:nvSpPr>
        <p:spPr>
          <a:xfrm>
            <a:off x="550000" y="3328000"/>
            <a:ext cx="11100000" cy="894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550000" y="3328000"/>
            <a:ext cx="70000" cy="894000"/>
          </a:xfrm>
          <a:prstGeom prst="rect">
            <a:avLst/>
          </a:prstGeom>
          <a:solidFill>
            <a:srgbClr val="6A3F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800000" y="3545000"/>
            <a:ext cx="460000" cy="460000"/>
          </a:xfrm>
          <a:prstGeom prst="ellipse">
            <a:avLst/>
          </a:prstGeom>
          <a:solidFill>
            <a:srgbClr val="6A3FB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3</a:t>
            </a:r>
          </a:p>
        </p:txBody>
      </p:sp>
      <p:sp>
        <p:nvSpPr>
          <p:cNvPr id="21" name="TextBox 20"/>
          <p:cNvSpPr txBox="1"/>
          <p:nvPr/>
        </p:nvSpPr>
        <p:spPr>
          <a:xfrm>
            <a:off x="1450000" y="3328000"/>
            <a:ext cx="10050000" cy="894000"/>
          </a:xfrm>
          <a:prstGeom prst="rect">
            <a:avLst/>
          </a:prstGeom>
          <a:noFill/>
        </p:spPr>
        <p:txBody>
          <a:bodyPr wrap="square" anchor="ctr" lIns="50800" rIns="50800">
            <a:spAutoFit/>
          </a:bodyPr>
          <a:lstStyle/>
          <a:p>
            <a:pPr algn="l"/>
            <a:r>
              <a:rPr sz="1400" b="0">
                <a:solidFill>
                  <a:srgbClr val="1B2430"/>
                </a:solidFill>
                <a:latin typeface="Calibri"/>
              </a:rPr>
              <a:t>Aniqlik formatini apparatga moslashtirish. INT8 kvantlash Tensor Core'larda 2 baravar, Edge TPU'da esa yagona qo'llab-quvvatlanadigan format. Model INT8'ga sifatni yo'qotmasdan…</a:t>
            </a:r>
          </a:p>
        </p:txBody>
      </p:sp>
      <p:sp>
        <p:nvSpPr>
          <p:cNvPr id="22" name="Rounded Rectangle 21"/>
          <p:cNvSpPr/>
          <p:nvPr/>
        </p:nvSpPr>
        <p:spPr>
          <a:xfrm>
            <a:off x="550000" y="4342000"/>
            <a:ext cx="11100000" cy="894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550000" y="4342000"/>
            <a:ext cx="70000" cy="894000"/>
          </a:xfrm>
          <a:prstGeom prst="rect">
            <a:avLst/>
          </a:prstGeom>
          <a:solidFill>
            <a:srgbClr val="B779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800000" y="4559000"/>
            <a:ext cx="460000" cy="460000"/>
          </a:xfrm>
          <a:prstGeom prst="ellipse">
            <a:avLst/>
          </a:prstGeom>
          <a:solidFill>
            <a:srgbClr val="B7791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4</a:t>
            </a:r>
          </a:p>
        </p:txBody>
      </p:sp>
      <p:sp>
        <p:nvSpPr>
          <p:cNvPr id="25" name="TextBox 24"/>
          <p:cNvSpPr txBox="1"/>
          <p:nvPr/>
        </p:nvSpPr>
        <p:spPr>
          <a:xfrm>
            <a:off x="1450000" y="4342000"/>
            <a:ext cx="10050000" cy="894000"/>
          </a:xfrm>
          <a:prstGeom prst="rect">
            <a:avLst/>
          </a:prstGeom>
          <a:noFill/>
        </p:spPr>
        <p:txBody>
          <a:bodyPr wrap="square" anchor="ctr" lIns="50800" rIns="50800">
            <a:spAutoFit/>
          </a:bodyPr>
          <a:lstStyle/>
          <a:p>
            <a:pPr algn="l"/>
            <a:r>
              <a:rPr sz="1400" b="0">
                <a:solidFill>
                  <a:srgbClr val="1B2430"/>
                </a:solidFill>
                <a:latin typeface="Calibri"/>
              </a:rPr>
              <a:t>Operatorlar qamrovi (operator coverage). Har bir tezlatkich cheklangan operatorlar to'plamini qo'llab-quvvatlaydi. Qo'llab-quvvatlanmagan operator CPU'ga «tushib» qoladi (fallback) va butun…</a:t>
            </a:r>
          </a:p>
        </p:txBody>
      </p:sp>
      <p:sp>
        <p:nvSpPr>
          <p:cNvPr id="26" name="Rounded Rectangle 25"/>
          <p:cNvSpPr/>
          <p:nvPr/>
        </p:nvSpPr>
        <p:spPr>
          <a:xfrm>
            <a:off x="550000" y="5356000"/>
            <a:ext cx="11100000" cy="894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550000" y="5356000"/>
            <a:ext cx="70000" cy="894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800000" y="5573000"/>
            <a:ext cx="460000" cy="4600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5</a:t>
            </a:r>
          </a:p>
        </p:txBody>
      </p:sp>
      <p:sp>
        <p:nvSpPr>
          <p:cNvPr id="29" name="TextBox 28"/>
          <p:cNvSpPr txBox="1"/>
          <p:nvPr/>
        </p:nvSpPr>
        <p:spPr>
          <a:xfrm>
            <a:off x="1450000" y="5356000"/>
            <a:ext cx="10050000" cy="894000"/>
          </a:xfrm>
          <a:prstGeom prst="rect">
            <a:avLst/>
          </a:prstGeom>
          <a:noFill/>
        </p:spPr>
        <p:txBody>
          <a:bodyPr wrap="square" anchor="ctr" lIns="50800" rIns="50800">
            <a:spAutoFit/>
          </a:bodyPr>
          <a:lstStyle/>
          <a:p>
            <a:pPr algn="l"/>
            <a:r>
              <a:rPr sz="1400" b="0">
                <a:solidFill>
                  <a:srgbClr val="1B2430"/>
                </a:solidFill>
                <a:latin typeface="Calibri"/>
              </a:rPr>
              <a:t>Xotira iyerarxiyasini hisobga olish. On-chip SRAM (masalan, Edge TPU'da 8 MB, Orin'da 4 MB L2 + yadro keshlari) ga sig'adigan model va faollashuvlar tashqi DRAM'ga murojaatni keskin…</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127"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6"/>
                                        </p:tgtEl>
                                        <p:attrNameLst>
                                          <p:attrName>style.visibility</p:attrName>
                                        </p:attrNameLst>
                                      </p:cBhvr>
                                      <p:to>
                                        <p:strVal val="visible"/>
                                      </p:to>
                                    </p:set>
                                    <p:animEffect transition="in" filter="fade">
                                      <p:cBhvr>
                                        <p:cTn id="6" dur="550"/>
                                        <p:tgtEl>
                                          <p:spTgt spid="6"/>
                                        </p:tgtEl>
                                      </p:cBhvr>
                                    </p:animEffect>
                                  </p:childTnLst>
                                </p:cTn>
                              </p:par>
                            </p:childTnLst>
                          </p:cTn>
                        </p:par>
                        <p:par>
                          <p:cTn id="7" fill="hold">
                            <p:stCondLst>
                              <p:cond delay="220"/>
                            </p:stCondLst>
                            <p:childTnLst>
                              <p:par>
                                <p:cTn id="8" presetID="42" presetClass="entr" presetSubtype="0" fill="hold" grpId="0" nodeType="after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fade">
                                      <p:cBhvr>
                                        <p:cTn id="10" dur="550"/>
                                        <p:tgtEl>
                                          <p:spTgt spid="10"/>
                                        </p:tgtEl>
                                      </p:cBhvr>
                                    </p:animEffect>
                                    <p:anim calcmode="lin" valueType="num">
                                      <p:cBhvr additive="base">
                                        <p:cTn id="11" dur="550" fill="hold"/>
                                        <p:tgtEl>
                                          <p:spTgt spid="10"/>
                                        </p:tgtEl>
                                        <p:attrNameLst>
                                          <p:attrName>ppt_x</p:attrName>
                                        </p:attrNameLst>
                                      </p:cBhvr>
                                      <p:tavLst>
                                        <p:tav tm="0">
                                          <p:val>
                                            <p:strVal val="#ppt_x"/>
                                          </p:val>
                                        </p:tav>
                                        <p:tav tm="100000">
                                          <p:val>
                                            <p:strVal val="#ppt_x"/>
                                          </p:val>
                                        </p:tav>
                                      </p:tavLst>
                                    </p:anim>
                                    <p:anim calcmode="lin" valueType="num">
                                      <p:cBhvr additive="base">
                                        <p:cTn id="12" dur="550" fill="hold"/>
                                        <p:tgtEl>
                                          <p:spTgt spid="10"/>
                                        </p:tgtEl>
                                        <p:attrNameLst>
                                          <p:attrName>ppt_y</p:attrName>
                                        </p:attrNameLst>
                                      </p:cBhvr>
                                      <p:tavLst>
                                        <p:tav tm="0">
                                          <p:val>
                                            <p:strVal val="#ppt_y+.08"/>
                                          </p:val>
                                        </p:tav>
                                        <p:tav tm="100000">
                                          <p:val>
                                            <p:strVal val="#ppt_y"/>
                                          </p:val>
                                        </p:tav>
                                      </p:tavLst>
                                    </p:anim>
                                  </p:childTnLst>
                                </p:cTn>
                              </p:par>
                            </p:childTnLst>
                          </p:cTn>
                        </p:par>
                        <p:par>
                          <p:cTn id="13" fill="hold">
                            <p:stCondLst>
                              <p:cond delay="220"/>
                            </p:stCondLst>
                            <p:childTnLst>
                              <p:par>
                                <p:cTn id="14" presetID="42" presetClass="entr" presetSubtype="0" fill="hold" grpId="0" nodeType="afterEffect">
                                  <p:stCondLst>
                                    <p:cond delay="0"/>
                                  </p:stCondLst>
                                  <p:childTnLst>
                                    <p:set>
                                      <p:cBhvr>
                                        <p:cTn id="15" dur="1" fill="hold">
                                          <p:stCondLst>
                                            <p:cond delay="0"/>
                                          </p:stCondLst>
                                        </p:cTn>
                                        <p:tgtEl>
                                          <p:spTgt spid="11"/>
                                        </p:tgtEl>
                                        <p:attrNameLst>
                                          <p:attrName>style.visibility</p:attrName>
                                        </p:attrNameLst>
                                      </p:cBhvr>
                                      <p:to>
                                        <p:strVal val="visible"/>
                                      </p:to>
                                    </p:set>
                                    <p:animEffect transition="in" filter="fade">
                                      <p:cBhvr>
                                        <p:cTn id="16" dur="550"/>
                                        <p:tgtEl>
                                          <p:spTgt spid="11"/>
                                        </p:tgtEl>
                                      </p:cBhvr>
                                    </p:animEffect>
                                    <p:anim calcmode="lin" valueType="num">
                                      <p:cBhvr additive="base">
                                        <p:cTn id="17" dur="550" fill="hold"/>
                                        <p:tgtEl>
                                          <p:spTgt spid="11"/>
                                        </p:tgtEl>
                                        <p:attrNameLst>
                                          <p:attrName>ppt_x</p:attrName>
                                        </p:attrNameLst>
                                      </p:cBhvr>
                                      <p:tavLst>
                                        <p:tav tm="0">
                                          <p:val>
                                            <p:strVal val="#ppt_x"/>
                                          </p:val>
                                        </p:tav>
                                        <p:tav tm="100000">
                                          <p:val>
                                            <p:strVal val="#ppt_x"/>
                                          </p:val>
                                        </p:tav>
                                      </p:tavLst>
                                    </p:anim>
                                    <p:anim calcmode="lin" valueType="num">
                                      <p:cBhvr additive="base">
                                        <p:cTn id="18" dur="550" fill="hold"/>
                                        <p:tgtEl>
                                          <p:spTgt spid="11"/>
                                        </p:tgtEl>
                                        <p:attrNameLst>
                                          <p:attrName>ppt_y</p:attrName>
                                        </p:attrNameLst>
                                      </p:cBhvr>
                                      <p:tavLst>
                                        <p:tav tm="0">
                                          <p:val>
                                            <p:strVal val="#ppt_y+.08"/>
                                          </p:val>
                                        </p:tav>
                                        <p:tav tm="100000">
                                          <p:val>
                                            <p:strVal val="#ppt_y"/>
                                          </p:val>
                                        </p:tav>
                                      </p:tavLst>
                                    </p:anim>
                                  </p:childTnLst>
                                </p:cTn>
                              </p:par>
                            </p:childTnLst>
                          </p:cTn>
                        </p:par>
                        <p:par>
                          <p:cTn id="19" fill="hold">
                            <p:stCondLst>
                              <p:cond delay="220"/>
                            </p:stCondLst>
                            <p:childTnLst>
                              <p:par>
                                <p:cTn id="20" presetID="53" presetClass="entr" presetSubtype="16" fill="hold" grpId="0" nodeType="afterEffect">
                                  <p:stCondLst>
                                    <p:cond delay="0"/>
                                  </p:stCondLst>
                                  <p:childTnLst>
                                    <p:set>
                                      <p:cBhvr>
                                        <p:cTn id="21" dur="1" fill="hold">
                                          <p:stCondLst>
                                            <p:cond delay="0"/>
                                          </p:stCondLst>
                                        </p:cTn>
                                        <p:tgtEl>
                                          <p:spTgt spid="12"/>
                                        </p:tgtEl>
                                        <p:attrNameLst>
                                          <p:attrName>style.visibility</p:attrName>
                                        </p:attrNameLst>
                                      </p:cBhvr>
                                      <p:to>
                                        <p:strVal val="visible"/>
                                      </p:to>
                                    </p:set>
                                    <p:animEffect transition="in" filter="fade">
                                      <p:cBhvr>
                                        <p:cTn id="22" dur="550"/>
                                        <p:tgtEl>
                                          <p:spTgt spid="12"/>
                                        </p:tgtEl>
                                      </p:cBhvr>
                                    </p:animEffect>
                                    <p:anim calcmode="lin" valueType="num">
                                      <p:cBhvr additive="base">
                                        <p:cTn id="23" dur="550" fill="hold"/>
                                        <p:tgtEl>
                                          <p:spTgt spid="12"/>
                                        </p:tgtEl>
                                        <p:attrNameLst>
                                          <p:attrName>ppt_w</p:attrName>
                                        </p:attrNameLst>
                                      </p:cBhvr>
                                      <p:tavLst>
                                        <p:tav tm="0">
                                          <p:val>
                                            <p:strVal val="0"/>
                                          </p:val>
                                        </p:tav>
                                        <p:tav tm="100000">
                                          <p:val>
                                            <p:strVal val="#ppt_w"/>
                                          </p:val>
                                        </p:tav>
                                      </p:tavLst>
                                    </p:anim>
                                    <p:anim calcmode="lin" valueType="num">
                                      <p:cBhvr additive="base">
                                        <p:cTn id="24" dur="550" fill="hold"/>
                                        <p:tgtEl>
                                          <p:spTgt spid="12"/>
                                        </p:tgtEl>
                                        <p:attrNameLst>
                                          <p:attrName>ppt_h</p:attrName>
                                        </p:attrNameLst>
                                      </p:cBhvr>
                                      <p:tavLst>
                                        <p:tav tm="0">
                                          <p:val>
                                            <p:strVal val="0"/>
                                          </p:val>
                                        </p:tav>
                                        <p:tav tm="100000">
                                          <p:val>
                                            <p:strVal val="#ppt_h"/>
                                          </p:val>
                                        </p:tav>
                                      </p:tavLst>
                                    </p:anim>
                                  </p:childTnLst>
                                </p:cTn>
                              </p:par>
                            </p:childTnLst>
                          </p:cTn>
                        </p:par>
                        <p:par>
                          <p:cTn id="25" fill="hold">
                            <p:stCondLst>
                              <p:cond delay="220"/>
                            </p:stCondLst>
                            <p:childTnLst>
                              <p:par>
                                <p:cTn id="26" presetID="42" presetClass="entr" presetSubtype="0" fill="hold" grpId="0" nodeType="afterEffect">
                                  <p:stCondLst>
                                    <p:cond delay="0"/>
                                  </p:stCondLst>
                                  <p:childTnLst>
                                    <p:set>
                                      <p:cBhvr>
                                        <p:cTn id="27" dur="1" fill="hold">
                                          <p:stCondLst>
                                            <p:cond delay="0"/>
                                          </p:stCondLst>
                                        </p:cTn>
                                        <p:tgtEl>
                                          <p:spTgt spid="13"/>
                                        </p:tgtEl>
                                        <p:attrNameLst>
                                          <p:attrName>style.visibility</p:attrName>
                                        </p:attrNameLst>
                                      </p:cBhvr>
                                      <p:to>
                                        <p:strVal val="visible"/>
                                      </p:to>
                                    </p:set>
                                    <p:animEffect transition="in" filter="fade">
                                      <p:cBhvr>
                                        <p:cTn id="28" dur="550"/>
                                        <p:tgtEl>
                                          <p:spTgt spid="13"/>
                                        </p:tgtEl>
                                      </p:cBhvr>
                                    </p:animEffect>
                                    <p:anim calcmode="lin" valueType="num">
                                      <p:cBhvr additive="base">
                                        <p:cTn id="29" dur="550" fill="hold"/>
                                        <p:tgtEl>
                                          <p:spTgt spid="13"/>
                                        </p:tgtEl>
                                        <p:attrNameLst>
                                          <p:attrName>ppt_x</p:attrName>
                                        </p:attrNameLst>
                                      </p:cBhvr>
                                      <p:tavLst>
                                        <p:tav tm="0">
                                          <p:val>
                                            <p:strVal val="#ppt_x"/>
                                          </p:val>
                                        </p:tav>
                                        <p:tav tm="100000">
                                          <p:val>
                                            <p:strVal val="#ppt_x"/>
                                          </p:val>
                                        </p:tav>
                                      </p:tavLst>
                                    </p:anim>
                                    <p:anim calcmode="lin" valueType="num">
                                      <p:cBhvr additive="base">
                                        <p:cTn id="30" dur="550" fill="hold"/>
                                        <p:tgtEl>
                                          <p:spTgt spid="13"/>
                                        </p:tgtEl>
                                        <p:attrNameLst>
                                          <p:attrName>ppt_y</p:attrName>
                                        </p:attrNameLst>
                                      </p:cBhvr>
                                      <p:tavLst>
                                        <p:tav tm="0">
                                          <p:val>
                                            <p:strVal val="#ppt_y+.08"/>
                                          </p:val>
                                        </p:tav>
                                        <p:tav tm="100000">
                                          <p:val>
                                            <p:strVal val="#ppt_y"/>
                                          </p:val>
                                        </p:tav>
                                      </p:tavLst>
                                    </p:anim>
                                  </p:childTnLst>
                                </p:cTn>
                              </p:par>
                            </p:childTnLst>
                          </p:cTn>
                        </p:par>
                        <p:par>
                          <p:cTn id="31" fill="hold">
                            <p:stCondLst>
                              <p:cond delay="440"/>
                            </p:stCondLst>
                            <p:childTnLst>
                              <p:par>
                                <p:cTn id="32" presetID="42" presetClass="entr" presetSubtype="0" fill="hold" grpId="0" nodeType="afterEffect">
                                  <p:stCondLst>
                                    <p:cond delay="0"/>
                                  </p:stCondLst>
                                  <p:childTnLst>
                                    <p:set>
                                      <p:cBhvr>
                                        <p:cTn id="33" dur="1" fill="hold">
                                          <p:stCondLst>
                                            <p:cond delay="0"/>
                                          </p:stCondLst>
                                        </p:cTn>
                                        <p:tgtEl>
                                          <p:spTgt spid="14"/>
                                        </p:tgtEl>
                                        <p:attrNameLst>
                                          <p:attrName>style.visibility</p:attrName>
                                        </p:attrNameLst>
                                      </p:cBhvr>
                                      <p:to>
                                        <p:strVal val="visible"/>
                                      </p:to>
                                    </p:set>
                                    <p:animEffect transition="in" filter="fade">
                                      <p:cBhvr>
                                        <p:cTn id="34" dur="550"/>
                                        <p:tgtEl>
                                          <p:spTgt spid="14"/>
                                        </p:tgtEl>
                                      </p:cBhvr>
                                    </p:animEffect>
                                    <p:anim calcmode="lin" valueType="num">
                                      <p:cBhvr additive="base">
                                        <p:cTn id="35" dur="550" fill="hold"/>
                                        <p:tgtEl>
                                          <p:spTgt spid="14"/>
                                        </p:tgtEl>
                                        <p:attrNameLst>
                                          <p:attrName>ppt_x</p:attrName>
                                        </p:attrNameLst>
                                      </p:cBhvr>
                                      <p:tavLst>
                                        <p:tav tm="0">
                                          <p:val>
                                            <p:strVal val="#ppt_x"/>
                                          </p:val>
                                        </p:tav>
                                        <p:tav tm="100000">
                                          <p:val>
                                            <p:strVal val="#ppt_x"/>
                                          </p:val>
                                        </p:tav>
                                      </p:tavLst>
                                    </p:anim>
                                    <p:anim calcmode="lin" valueType="num">
                                      <p:cBhvr additive="base">
                                        <p:cTn id="36" dur="550" fill="hold"/>
                                        <p:tgtEl>
                                          <p:spTgt spid="14"/>
                                        </p:tgtEl>
                                        <p:attrNameLst>
                                          <p:attrName>ppt_y</p:attrName>
                                        </p:attrNameLst>
                                      </p:cBhvr>
                                      <p:tavLst>
                                        <p:tav tm="0">
                                          <p:val>
                                            <p:strVal val="#ppt_y+.08"/>
                                          </p:val>
                                        </p:tav>
                                        <p:tav tm="100000">
                                          <p:val>
                                            <p:strVal val="#ppt_y"/>
                                          </p:val>
                                        </p:tav>
                                      </p:tavLst>
                                    </p:anim>
                                  </p:childTnLst>
                                </p:cTn>
                              </p:par>
                            </p:childTnLst>
                          </p:cTn>
                        </p:par>
                        <p:par>
                          <p:cTn id="37" fill="hold">
                            <p:stCondLst>
                              <p:cond delay="440"/>
                            </p:stCondLst>
                            <p:childTnLst>
                              <p:par>
                                <p:cTn id="38" presetID="42" presetClass="entr" presetSubtype="0" fill="hold" grpId="0" nodeType="afterEffect">
                                  <p:stCondLst>
                                    <p:cond delay="0"/>
                                  </p:stCondLst>
                                  <p:childTnLst>
                                    <p:set>
                                      <p:cBhvr>
                                        <p:cTn id="39" dur="1" fill="hold">
                                          <p:stCondLst>
                                            <p:cond delay="0"/>
                                          </p:stCondLst>
                                        </p:cTn>
                                        <p:tgtEl>
                                          <p:spTgt spid="15"/>
                                        </p:tgtEl>
                                        <p:attrNameLst>
                                          <p:attrName>style.visibility</p:attrName>
                                        </p:attrNameLst>
                                      </p:cBhvr>
                                      <p:to>
                                        <p:strVal val="visible"/>
                                      </p:to>
                                    </p:set>
                                    <p:animEffect transition="in" filter="fade">
                                      <p:cBhvr>
                                        <p:cTn id="40" dur="550"/>
                                        <p:tgtEl>
                                          <p:spTgt spid="15"/>
                                        </p:tgtEl>
                                      </p:cBhvr>
                                    </p:animEffect>
                                    <p:anim calcmode="lin" valueType="num">
                                      <p:cBhvr additive="base">
                                        <p:cTn id="41" dur="550" fill="hold"/>
                                        <p:tgtEl>
                                          <p:spTgt spid="15"/>
                                        </p:tgtEl>
                                        <p:attrNameLst>
                                          <p:attrName>ppt_x</p:attrName>
                                        </p:attrNameLst>
                                      </p:cBhvr>
                                      <p:tavLst>
                                        <p:tav tm="0">
                                          <p:val>
                                            <p:strVal val="#ppt_x"/>
                                          </p:val>
                                        </p:tav>
                                        <p:tav tm="100000">
                                          <p:val>
                                            <p:strVal val="#ppt_x"/>
                                          </p:val>
                                        </p:tav>
                                      </p:tavLst>
                                    </p:anim>
                                    <p:anim calcmode="lin" valueType="num">
                                      <p:cBhvr additive="base">
                                        <p:cTn id="42" dur="550" fill="hold"/>
                                        <p:tgtEl>
                                          <p:spTgt spid="15"/>
                                        </p:tgtEl>
                                        <p:attrNameLst>
                                          <p:attrName>ppt_y</p:attrName>
                                        </p:attrNameLst>
                                      </p:cBhvr>
                                      <p:tavLst>
                                        <p:tav tm="0">
                                          <p:val>
                                            <p:strVal val="#ppt_y+.08"/>
                                          </p:val>
                                        </p:tav>
                                        <p:tav tm="100000">
                                          <p:val>
                                            <p:strVal val="#ppt_y"/>
                                          </p:val>
                                        </p:tav>
                                      </p:tavLst>
                                    </p:anim>
                                  </p:childTnLst>
                                </p:cTn>
                              </p:par>
                            </p:childTnLst>
                          </p:cTn>
                        </p:par>
                        <p:par>
                          <p:cTn id="43" fill="hold">
                            <p:stCondLst>
                              <p:cond delay="440"/>
                            </p:stCondLst>
                            <p:childTnLst>
                              <p:par>
                                <p:cTn id="44" presetID="53" presetClass="entr" presetSubtype="16" fill="hold" grpId="0" nodeType="afterEffect">
                                  <p:stCondLst>
                                    <p:cond delay="0"/>
                                  </p:stCondLst>
                                  <p:childTnLst>
                                    <p:set>
                                      <p:cBhvr>
                                        <p:cTn id="45" dur="1" fill="hold">
                                          <p:stCondLst>
                                            <p:cond delay="0"/>
                                          </p:stCondLst>
                                        </p:cTn>
                                        <p:tgtEl>
                                          <p:spTgt spid="16"/>
                                        </p:tgtEl>
                                        <p:attrNameLst>
                                          <p:attrName>style.visibility</p:attrName>
                                        </p:attrNameLst>
                                      </p:cBhvr>
                                      <p:to>
                                        <p:strVal val="visible"/>
                                      </p:to>
                                    </p:set>
                                    <p:animEffect transition="in" filter="fade">
                                      <p:cBhvr>
                                        <p:cTn id="46" dur="550"/>
                                        <p:tgtEl>
                                          <p:spTgt spid="16"/>
                                        </p:tgtEl>
                                      </p:cBhvr>
                                    </p:animEffect>
                                    <p:anim calcmode="lin" valueType="num">
                                      <p:cBhvr additive="base">
                                        <p:cTn id="47" dur="550" fill="hold"/>
                                        <p:tgtEl>
                                          <p:spTgt spid="16"/>
                                        </p:tgtEl>
                                        <p:attrNameLst>
                                          <p:attrName>ppt_w</p:attrName>
                                        </p:attrNameLst>
                                      </p:cBhvr>
                                      <p:tavLst>
                                        <p:tav tm="0">
                                          <p:val>
                                            <p:strVal val="0"/>
                                          </p:val>
                                        </p:tav>
                                        <p:tav tm="100000">
                                          <p:val>
                                            <p:strVal val="#ppt_w"/>
                                          </p:val>
                                        </p:tav>
                                      </p:tavLst>
                                    </p:anim>
                                    <p:anim calcmode="lin" valueType="num">
                                      <p:cBhvr additive="base">
                                        <p:cTn id="48" dur="550" fill="hold"/>
                                        <p:tgtEl>
                                          <p:spTgt spid="16"/>
                                        </p:tgtEl>
                                        <p:attrNameLst>
                                          <p:attrName>ppt_h</p:attrName>
                                        </p:attrNameLst>
                                      </p:cBhvr>
                                      <p:tavLst>
                                        <p:tav tm="0">
                                          <p:val>
                                            <p:strVal val="0"/>
                                          </p:val>
                                        </p:tav>
                                        <p:tav tm="100000">
                                          <p:val>
                                            <p:strVal val="#ppt_h"/>
                                          </p:val>
                                        </p:tav>
                                      </p:tavLst>
                                    </p:anim>
                                  </p:childTnLst>
                                </p:cTn>
                              </p:par>
                            </p:childTnLst>
                          </p:cTn>
                        </p:par>
                        <p:par>
                          <p:cTn id="49" fill="hold">
                            <p:stCondLst>
                              <p:cond delay="440"/>
                            </p:stCondLst>
                            <p:childTnLst>
                              <p:par>
                                <p:cTn id="50" presetID="42" presetClass="entr" presetSubtype="0" fill="hold" grpId="0" nodeType="afterEffect">
                                  <p:stCondLst>
                                    <p:cond delay="0"/>
                                  </p:stCondLst>
                                  <p:childTnLst>
                                    <p:set>
                                      <p:cBhvr>
                                        <p:cTn id="51" dur="1" fill="hold">
                                          <p:stCondLst>
                                            <p:cond delay="0"/>
                                          </p:stCondLst>
                                        </p:cTn>
                                        <p:tgtEl>
                                          <p:spTgt spid="17"/>
                                        </p:tgtEl>
                                        <p:attrNameLst>
                                          <p:attrName>style.visibility</p:attrName>
                                        </p:attrNameLst>
                                      </p:cBhvr>
                                      <p:to>
                                        <p:strVal val="visible"/>
                                      </p:to>
                                    </p:set>
                                    <p:animEffect transition="in" filter="fade">
                                      <p:cBhvr>
                                        <p:cTn id="52" dur="550"/>
                                        <p:tgtEl>
                                          <p:spTgt spid="17"/>
                                        </p:tgtEl>
                                      </p:cBhvr>
                                    </p:animEffect>
                                    <p:anim calcmode="lin" valueType="num">
                                      <p:cBhvr additive="base">
                                        <p:cTn id="53" dur="550" fill="hold"/>
                                        <p:tgtEl>
                                          <p:spTgt spid="17"/>
                                        </p:tgtEl>
                                        <p:attrNameLst>
                                          <p:attrName>ppt_x</p:attrName>
                                        </p:attrNameLst>
                                      </p:cBhvr>
                                      <p:tavLst>
                                        <p:tav tm="0">
                                          <p:val>
                                            <p:strVal val="#ppt_x"/>
                                          </p:val>
                                        </p:tav>
                                        <p:tav tm="100000">
                                          <p:val>
                                            <p:strVal val="#ppt_x"/>
                                          </p:val>
                                        </p:tav>
                                      </p:tavLst>
                                    </p:anim>
                                    <p:anim calcmode="lin" valueType="num">
                                      <p:cBhvr additive="base">
                                        <p:cTn id="54" dur="550" fill="hold"/>
                                        <p:tgtEl>
                                          <p:spTgt spid="17"/>
                                        </p:tgtEl>
                                        <p:attrNameLst>
                                          <p:attrName>ppt_y</p:attrName>
                                        </p:attrNameLst>
                                      </p:cBhvr>
                                      <p:tavLst>
                                        <p:tav tm="0">
                                          <p:val>
                                            <p:strVal val="#ppt_y+.08"/>
                                          </p:val>
                                        </p:tav>
                                        <p:tav tm="100000">
                                          <p:val>
                                            <p:strVal val="#ppt_y"/>
                                          </p:val>
                                        </p:tav>
                                      </p:tavLst>
                                    </p:anim>
                                  </p:childTnLst>
                                </p:cTn>
                              </p:par>
                            </p:childTnLst>
                          </p:cTn>
                        </p:par>
                        <p:par>
                          <p:cTn id="55" fill="hold">
                            <p:stCondLst>
                              <p:cond delay="660"/>
                            </p:stCondLst>
                            <p:childTnLst>
                              <p:par>
                                <p:cTn id="56" presetID="42" presetClass="entr" presetSubtype="0" fill="hold" grpId="0" nodeType="afterEffect">
                                  <p:stCondLst>
                                    <p:cond delay="0"/>
                                  </p:stCondLst>
                                  <p:childTnLst>
                                    <p:set>
                                      <p:cBhvr>
                                        <p:cTn id="57" dur="1" fill="hold">
                                          <p:stCondLst>
                                            <p:cond delay="0"/>
                                          </p:stCondLst>
                                        </p:cTn>
                                        <p:tgtEl>
                                          <p:spTgt spid="18"/>
                                        </p:tgtEl>
                                        <p:attrNameLst>
                                          <p:attrName>style.visibility</p:attrName>
                                        </p:attrNameLst>
                                      </p:cBhvr>
                                      <p:to>
                                        <p:strVal val="visible"/>
                                      </p:to>
                                    </p:set>
                                    <p:animEffect transition="in" filter="fade">
                                      <p:cBhvr>
                                        <p:cTn id="58" dur="550"/>
                                        <p:tgtEl>
                                          <p:spTgt spid="18"/>
                                        </p:tgtEl>
                                      </p:cBhvr>
                                    </p:animEffect>
                                    <p:anim calcmode="lin" valueType="num">
                                      <p:cBhvr additive="base">
                                        <p:cTn id="59" dur="550" fill="hold"/>
                                        <p:tgtEl>
                                          <p:spTgt spid="18"/>
                                        </p:tgtEl>
                                        <p:attrNameLst>
                                          <p:attrName>ppt_x</p:attrName>
                                        </p:attrNameLst>
                                      </p:cBhvr>
                                      <p:tavLst>
                                        <p:tav tm="0">
                                          <p:val>
                                            <p:strVal val="#ppt_x"/>
                                          </p:val>
                                        </p:tav>
                                        <p:tav tm="100000">
                                          <p:val>
                                            <p:strVal val="#ppt_x"/>
                                          </p:val>
                                        </p:tav>
                                      </p:tavLst>
                                    </p:anim>
                                    <p:anim calcmode="lin" valueType="num">
                                      <p:cBhvr additive="base">
                                        <p:cTn id="60" dur="550" fill="hold"/>
                                        <p:tgtEl>
                                          <p:spTgt spid="18"/>
                                        </p:tgtEl>
                                        <p:attrNameLst>
                                          <p:attrName>ppt_y</p:attrName>
                                        </p:attrNameLst>
                                      </p:cBhvr>
                                      <p:tavLst>
                                        <p:tav tm="0">
                                          <p:val>
                                            <p:strVal val="#ppt_y+.08"/>
                                          </p:val>
                                        </p:tav>
                                        <p:tav tm="100000">
                                          <p:val>
                                            <p:strVal val="#ppt_y"/>
                                          </p:val>
                                        </p:tav>
                                      </p:tavLst>
                                    </p:anim>
                                  </p:childTnLst>
                                </p:cTn>
                              </p:par>
                            </p:childTnLst>
                          </p:cTn>
                        </p:par>
                        <p:par>
                          <p:cTn id="61" fill="hold">
                            <p:stCondLst>
                              <p:cond delay="660"/>
                            </p:stCondLst>
                            <p:childTnLst>
                              <p:par>
                                <p:cTn id="62" presetID="42" presetClass="entr" presetSubtype="0" fill="hold" grpId="0" nodeType="afterEffect">
                                  <p:stCondLst>
                                    <p:cond delay="0"/>
                                  </p:stCondLst>
                                  <p:childTnLst>
                                    <p:set>
                                      <p:cBhvr>
                                        <p:cTn id="63" dur="1" fill="hold">
                                          <p:stCondLst>
                                            <p:cond delay="0"/>
                                          </p:stCondLst>
                                        </p:cTn>
                                        <p:tgtEl>
                                          <p:spTgt spid="19"/>
                                        </p:tgtEl>
                                        <p:attrNameLst>
                                          <p:attrName>style.visibility</p:attrName>
                                        </p:attrNameLst>
                                      </p:cBhvr>
                                      <p:to>
                                        <p:strVal val="visible"/>
                                      </p:to>
                                    </p:set>
                                    <p:animEffect transition="in" filter="fade">
                                      <p:cBhvr>
                                        <p:cTn id="64" dur="550"/>
                                        <p:tgtEl>
                                          <p:spTgt spid="19"/>
                                        </p:tgtEl>
                                      </p:cBhvr>
                                    </p:animEffect>
                                    <p:anim calcmode="lin" valueType="num">
                                      <p:cBhvr additive="base">
                                        <p:cTn id="65" dur="550" fill="hold"/>
                                        <p:tgtEl>
                                          <p:spTgt spid="19"/>
                                        </p:tgtEl>
                                        <p:attrNameLst>
                                          <p:attrName>ppt_x</p:attrName>
                                        </p:attrNameLst>
                                      </p:cBhvr>
                                      <p:tavLst>
                                        <p:tav tm="0">
                                          <p:val>
                                            <p:strVal val="#ppt_x"/>
                                          </p:val>
                                        </p:tav>
                                        <p:tav tm="100000">
                                          <p:val>
                                            <p:strVal val="#ppt_x"/>
                                          </p:val>
                                        </p:tav>
                                      </p:tavLst>
                                    </p:anim>
                                    <p:anim calcmode="lin" valueType="num">
                                      <p:cBhvr additive="base">
                                        <p:cTn id="66" dur="550" fill="hold"/>
                                        <p:tgtEl>
                                          <p:spTgt spid="19"/>
                                        </p:tgtEl>
                                        <p:attrNameLst>
                                          <p:attrName>ppt_y</p:attrName>
                                        </p:attrNameLst>
                                      </p:cBhvr>
                                      <p:tavLst>
                                        <p:tav tm="0">
                                          <p:val>
                                            <p:strVal val="#ppt_y+.08"/>
                                          </p:val>
                                        </p:tav>
                                        <p:tav tm="100000">
                                          <p:val>
                                            <p:strVal val="#ppt_y"/>
                                          </p:val>
                                        </p:tav>
                                      </p:tavLst>
                                    </p:anim>
                                  </p:childTnLst>
                                </p:cTn>
                              </p:par>
                            </p:childTnLst>
                          </p:cTn>
                        </p:par>
                        <p:par>
                          <p:cTn id="67" fill="hold">
                            <p:stCondLst>
                              <p:cond delay="660"/>
                            </p:stCondLst>
                            <p:childTnLst>
                              <p:par>
                                <p:cTn id="68" presetID="53" presetClass="entr" presetSubtype="16" fill="hold" grpId="0" nodeType="afterEffect">
                                  <p:stCondLst>
                                    <p:cond delay="0"/>
                                  </p:stCondLst>
                                  <p:childTnLst>
                                    <p:set>
                                      <p:cBhvr>
                                        <p:cTn id="69" dur="1" fill="hold">
                                          <p:stCondLst>
                                            <p:cond delay="0"/>
                                          </p:stCondLst>
                                        </p:cTn>
                                        <p:tgtEl>
                                          <p:spTgt spid="20"/>
                                        </p:tgtEl>
                                        <p:attrNameLst>
                                          <p:attrName>style.visibility</p:attrName>
                                        </p:attrNameLst>
                                      </p:cBhvr>
                                      <p:to>
                                        <p:strVal val="visible"/>
                                      </p:to>
                                    </p:set>
                                    <p:animEffect transition="in" filter="fade">
                                      <p:cBhvr>
                                        <p:cTn id="70" dur="550"/>
                                        <p:tgtEl>
                                          <p:spTgt spid="20"/>
                                        </p:tgtEl>
                                      </p:cBhvr>
                                    </p:animEffect>
                                    <p:anim calcmode="lin" valueType="num">
                                      <p:cBhvr additive="base">
                                        <p:cTn id="71" dur="550" fill="hold"/>
                                        <p:tgtEl>
                                          <p:spTgt spid="20"/>
                                        </p:tgtEl>
                                        <p:attrNameLst>
                                          <p:attrName>ppt_w</p:attrName>
                                        </p:attrNameLst>
                                      </p:cBhvr>
                                      <p:tavLst>
                                        <p:tav tm="0">
                                          <p:val>
                                            <p:strVal val="0"/>
                                          </p:val>
                                        </p:tav>
                                        <p:tav tm="100000">
                                          <p:val>
                                            <p:strVal val="#ppt_w"/>
                                          </p:val>
                                        </p:tav>
                                      </p:tavLst>
                                    </p:anim>
                                    <p:anim calcmode="lin" valueType="num">
                                      <p:cBhvr additive="base">
                                        <p:cTn id="72" dur="550" fill="hold"/>
                                        <p:tgtEl>
                                          <p:spTgt spid="20"/>
                                        </p:tgtEl>
                                        <p:attrNameLst>
                                          <p:attrName>ppt_h</p:attrName>
                                        </p:attrNameLst>
                                      </p:cBhvr>
                                      <p:tavLst>
                                        <p:tav tm="0">
                                          <p:val>
                                            <p:strVal val="0"/>
                                          </p:val>
                                        </p:tav>
                                        <p:tav tm="100000">
                                          <p:val>
                                            <p:strVal val="#ppt_h"/>
                                          </p:val>
                                        </p:tav>
                                      </p:tavLst>
                                    </p:anim>
                                  </p:childTnLst>
                                </p:cTn>
                              </p:par>
                            </p:childTnLst>
                          </p:cTn>
                        </p:par>
                        <p:par>
                          <p:cTn id="73" fill="hold">
                            <p:stCondLst>
                              <p:cond delay="660"/>
                            </p:stCondLst>
                            <p:childTnLst>
                              <p:par>
                                <p:cTn id="74" presetID="42" presetClass="entr" presetSubtype="0" fill="hold" grpId="0" nodeType="afterEffect">
                                  <p:stCondLst>
                                    <p:cond delay="0"/>
                                  </p:stCondLst>
                                  <p:childTnLst>
                                    <p:set>
                                      <p:cBhvr>
                                        <p:cTn id="75" dur="1" fill="hold">
                                          <p:stCondLst>
                                            <p:cond delay="0"/>
                                          </p:stCondLst>
                                        </p:cTn>
                                        <p:tgtEl>
                                          <p:spTgt spid="21"/>
                                        </p:tgtEl>
                                        <p:attrNameLst>
                                          <p:attrName>style.visibility</p:attrName>
                                        </p:attrNameLst>
                                      </p:cBhvr>
                                      <p:to>
                                        <p:strVal val="visible"/>
                                      </p:to>
                                    </p:set>
                                    <p:animEffect transition="in" filter="fade">
                                      <p:cBhvr>
                                        <p:cTn id="76" dur="550"/>
                                        <p:tgtEl>
                                          <p:spTgt spid="21"/>
                                        </p:tgtEl>
                                      </p:cBhvr>
                                    </p:animEffect>
                                    <p:anim calcmode="lin" valueType="num">
                                      <p:cBhvr additive="base">
                                        <p:cTn id="77" dur="550" fill="hold"/>
                                        <p:tgtEl>
                                          <p:spTgt spid="21"/>
                                        </p:tgtEl>
                                        <p:attrNameLst>
                                          <p:attrName>ppt_x</p:attrName>
                                        </p:attrNameLst>
                                      </p:cBhvr>
                                      <p:tavLst>
                                        <p:tav tm="0">
                                          <p:val>
                                            <p:strVal val="#ppt_x"/>
                                          </p:val>
                                        </p:tav>
                                        <p:tav tm="100000">
                                          <p:val>
                                            <p:strVal val="#ppt_x"/>
                                          </p:val>
                                        </p:tav>
                                      </p:tavLst>
                                    </p:anim>
                                    <p:anim calcmode="lin" valueType="num">
                                      <p:cBhvr additive="base">
                                        <p:cTn id="78" dur="550" fill="hold"/>
                                        <p:tgtEl>
                                          <p:spTgt spid="21"/>
                                        </p:tgtEl>
                                        <p:attrNameLst>
                                          <p:attrName>ppt_y</p:attrName>
                                        </p:attrNameLst>
                                      </p:cBhvr>
                                      <p:tavLst>
                                        <p:tav tm="0">
                                          <p:val>
                                            <p:strVal val="#ppt_y+.08"/>
                                          </p:val>
                                        </p:tav>
                                        <p:tav tm="100000">
                                          <p:val>
                                            <p:strVal val="#ppt_y"/>
                                          </p:val>
                                        </p:tav>
                                      </p:tavLst>
                                    </p:anim>
                                  </p:childTnLst>
                                </p:cTn>
                              </p:par>
                            </p:childTnLst>
                          </p:cTn>
                        </p:par>
                        <p:par>
                          <p:cTn id="79" fill="hold">
                            <p:stCondLst>
                              <p:cond delay="880"/>
                            </p:stCondLst>
                            <p:childTnLst>
                              <p:par>
                                <p:cTn id="80" presetID="42" presetClass="entr" presetSubtype="0" fill="hold" grpId="0" nodeType="afterEffect">
                                  <p:stCondLst>
                                    <p:cond delay="0"/>
                                  </p:stCondLst>
                                  <p:childTnLst>
                                    <p:set>
                                      <p:cBhvr>
                                        <p:cTn id="81" dur="1" fill="hold">
                                          <p:stCondLst>
                                            <p:cond delay="0"/>
                                          </p:stCondLst>
                                        </p:cTn>
                                        <p:tgtEl>
                                          <p:spTgt spid="22"/>
                                        </p:tgtEl>
                                        <p:attrNameLst>
                                          <p:attrName>style.visibility</p:attrName>
                                        </p:attrNameLst>
                                      </p:cBhvr>
                                      <p:to>
                                        <p:strVal val="visible"/>
                                      </p:to>
                                    </p:set>
                                    <p:animEffect transition="in" filter="fade">
                                      <p:cBhvr>
                                        <p:cTn id="82" dur="550"/>
                                        <p:tgtEl>
                                          <p:spTgt spid="22"/>
                                        </p:tgtEl>
                                      </p:cBhvr>
                                    </p:animEffect>
                                    <p:anim calcmode="lin" valueType="num">
                                      <p:cBhvr additive="base">
                                        <p:cTn id="83" dur="550" fill="hold"/>
                                        <p:tgtEl>
                                          <p:spTgt spid="22"/>
                                        </p:tgtEl>
                                        <p:attrNameLst>
                                          <p:attrName>ppt_x</p:attrName>
                                        </p:attrNameLst>
                                      </p:cBhvr>
                                      <p:tavLst>
                                        <p:tav tm="0">
                                          <p:val>
                                            <p:strVal val="#ppt_x"/>
                                          </p:val>
                                        </p:tav>
                                        <p:tav tm="100000">
                                          <p:val>
                                            <p:strVal val="#ppt_x"/>
                                          </p:val>
                                        </p:tav>
                                      </p:tavLst>
                                    </p:anim>
                                    <p:anim calcmode="lin" valueType="num">
                                      <p:cBhvr additive="base">
                                        <p:cTn id="84" dur="550" fill="hold"/>
                                        <p:tgtEl>
                                          <p:spTgt spid="22"/>
                                        </p:tgtEl>
                                        <p:attrNameLst>
                                          <p:attrName>ppt_y</p:attrName>
                                        </p:attrNameLst>
                                      </p:cBhvr>
                                      <p:tavLst>
                                        <p:tav tm="0">
                                          <p:val>
                                            <p:strVal val="#ppt_y+.08"/>
                                          </p:val>
                                        </p:tav>
                                        <p:tav tm="100000">
                                          <p:val>
                                            <p:strVal val="#ppt_y"/>
                                          </p:val>
                                        </p:tav>
                                      </p:tavLst>
                                    </p:anim>
                                  </p:childTnLst>
                                </p:cTn>
                              </p:par>
                            </p:childTnLst>
                          </p:cTn>
                        </p:par>
                        <p:par>
                          <p:cTn id="85" fill="hold">
                            <p:stCondLst>
                              <p:cond delay="880"/>
                            </p:stCondLst>
                            <p:childTnLst>
                              <p:par>
                                <p:cTn id="86" presetID="42" presetClass="entr" presetSubtype="0" fill="hold" grpId="0" nodeType="afterEffect">
                                  <p:stCondLst>
                                    <p:cond delay="0"/>
                                  </p:stCondLst>
                                  <p:childTnLst>
                                    <p:set>
                                      <p:cBhvr>
                                        <p:cTn id="87" dur="1" fill="hold">
                                          <p:stCondLst>
                                            <p:cond delay="0"/>
                                          </p:stCondLst>
                                        </p:cTn>
                                        <p:tgtEl>
                                          <p:spTgt spid="23"/>
                                        </p:tgtEl>
                                        <p:attrNameLst>
                                          <p:attrName>style.visibility</p:attrName>
                                        </p:attrNameLst>
                                      </p:cBhvr>
                                      <p:to>
                                        <p:strVal val="visible"/>
                                      </p:to>
                                    </p:set>
                                    <p:animEffect transition="in" filter="fade">
                                      <p:cBhvr>
                                        <p:cTn id="88" dur="550"/>
                                        <p:tgtEl>
                                          <p:spTgt spid="23"/>
                                        </p:tgtEl>
                                      </p:cBhvr>
                                    </p:animEffect>
                                    <p:anim calcmode="lin" valueType="num">
                                      <p:cBhvr additive="base">
                                        <p:cTn id="89" dur="550" fill="hold"/>
                                        <p:tgtEl>
                                          <p:spTgt spid="23"/>
                                        </p:tgtEl>
                                        <p:attrNameLst>
                                          <p:attrName>ppt_x</p:attrName>
                                        </p:attrNameLst>
                                      </p:cBhvr>
                                      <p:tavLst>
                                        <p:tav tm="0">
                                          <p:val>
                                            <p:strVal val="#ppt_x"/>
                                          </p:val>
                                        </p:tav>
                                        <p:tav tm="100000">
                                          <p:val>
                                            <p:strVal val="#ppt_x"/>
                                          </p:val>
                                        </p:tav>
                                      </p:tavLst>
                                    </p:anim>
                                    <p:anim calcmode="lin" valueType="num">
                                      <p:cBhvr additive="base">
                                        <p:cTn id="90" dur="550" fill="hold"/>
                                        <p:tgtEl>
                                          <p:spTgt spid="23"/>
                                        </p:tgtEl>
                                        <p:attrNameLst>
                                          <p:attrName>ppt_y</p:attrName>
                                        </p:attrNameLst>
                                      </p:cBhvr>
                                      <p:tavLst>
                                        <p:tav tm="0">
                                          <p:val>
                                            <p:strVal val="#ppt_y+.08"/>
                                          </p:val>
                                        </p:tav>
                                        <p:tav tm="100000">
                                          <p:val>
                                            <p:strVal val="#ppt_y"/>
                                          </p:val>
                                        </p:tav>
                                      </p:tavLst>
                                    </p:anim>
                                  </p:childTnLst>
                                </p:cTn>
                              </p:par>
                            </p:childTnLst>
                          </p:cTn>
                        </p:par>
                        <p:par>
                          <p:cTn id="91" fill="hold">
                            <p:stCondLst>
                              <p:cond delay="880"/>
                            </p:stCondLst>
                            <p:childTnLst>
                              <p:par>
                                <p:cTn id="92" presetID="53" presetClass="entr" presetSubtype="16" fill="hold" grpId="0" nodeType="afterEffect">
                                  <p:stCondLst>
                                    <p:cond delay="0"/>
                                  </p:stCondLst>
                                  <p:childTnLst>
                                    <p:set>
                                      <p:cBhvr>
                                        <p:cTn id="93" dur="1" fill="hold">
                                          <p:stCondLst>
                                            <p:cond delay="0"/>
                                          </p:stCondLst>
                                        </p:cTn>
                                        <p:tgtEl>
                                          <p:spTgt spid="24"/>
                                        </p:tgtEl>
                                        <p:attrNameLst>
                                          <p:attrName>style.visibility</p:attrName>
                                        </p:attrNameLst>
                                      </p:cBhvr>
                                      <p:to>
                                        <p:strVal val="visible"/>
                                      </p:to>
                                    </p:set>
                                    <p:animEffect transition="in" filter="fade">
                                      <p:cBhvr>
                                        <p:cTn id="94" dur="550"/>
                                        <p:tgtEl>
                                          <p:spTgt spid="24"/>
                                        </p:tgtEl>
                                      </p:cBhvr>
                                    </p:animEffect>
                                    <p:anim calcmode="lin" valueType="num">
                                      <p:cBhvr additive="base">
                                        <p:cTn id="95" dur="550" fill="hold"/>
                                        <p:tgtEl>
                                          <p:spTgt spid="24"/>
                                        </p:tgtEl>
                                        <p:attrNameLst>
                                          <p:attrName>ppt_w</p:attrName>
                                        </p:attrNameLst>
                                      </p:cBhvr>
                                      <p:tavLst>
                                        <p:tav tm="0">
                                          <p:val>
                                            <p:strVal val="0"/>
                                          </p:val>
                                        </p:tav>
                                        <p:tav tm="100000">
                                          <p:val>
                                            <p:strVal val="#ppt_w"/>
                                          </p:val>
                                        </p:tav>
                                      </p:tavLst>
                                    </p:anim>
                                    <p:anim calcmode="lin" valueType="num">
                                      <p:cBhvr additive="base">
                                        <p:cTn id="96" dur="550" fill="hold"/>
                                        <p:tgtEl>
                                          <p:spTgt spid="24"/>
                                        </p:tgtEl>
                                        <p:attrNameLst>
                                          <p:attrName>ppt_h</p:attrName>
                                        </p:attrNameLst>
                                      </p:cBhvr>
                                      <p:tavLst>
                                        <p:tav tm="0">
                                          <p:val>
                                            <p:strVal val="0"/>
                                          </p:val>
                                        </p:tav>
                                        <p:tav tm="100000">
                                          <p:val>
                                            <p:strVal val="#ppt_h"/>
                                          </p:val>
                                        </p:tav>
                                      </p:tavLst>
                                    </p:anim>
                                  </p:childTnLst>
                                </p:cTn>
                              </p:par>
                            </p:childTnLst>
                          </p:cTn>
                        </p:par>
                        <p:par>
                          <p:cTn id="97" fill="hold">
                            <p:stCondLst>
                              <p:cond delay="880"/>
                            </p:stCondLst>
                            <p:childTnLst>
                              <p:par>
                                <p:cTn id="98" presetID="42" presetClass="entr" presetSubtype="0" fill="hold" grpId="0" nodeType="afterEffect">
                                  <p:stCondLst>
                                    <p:cond delay="0"/>
                                  </p:stCondLst>
                                  <p:childTnLst>
                                    <p:set>
                                      <p:cBhvr>
                                        <p:cTn id="99" dur="1" fill="hold">
                                          <p:stCondLst>
                                            <p:cond delay="0"/>
                                          </p:stCondLst>
                                        </p:cTn>
                                        <p:tgtEl>
                                          <p:spTgt spid="25"/>
                                        </p:tgtEl>
                                        <p:attrNameLst>
                                          <p:attrName>style.visibility</p:attrName>
                                        </p:attrNameLst>
                                      </p:cBhvr>
                                      <p:to>
                                        <p:strVal val="visible"/>
                                      </p:to>
                                    </p:set>
                                    <p:animEffect transition="in" filter="fade">
                                      <p:cBhvr>
                                        <p:cTn id="100" dur="550"/>
                                        <p:tgtEl>
                                          <p:spTgt spid="25"/>
                                        </p:tgtEl>
                                      </p:cBhvr>
                                    </p:animEffect>
                                    <p:anim calcmode="lin" valueType="num">
                                      <p:cBhvr additive="base">
                                        <p:cTn id="101" dur="550" fill="hold"/>
                                        <p:tgtEl>
                                          <p:spTgt spid="25"/>
                                        </p:tgtEl>
                                        <p:attrNameLst>
                                          <p:attrName>ppt_x</p:attrName>
                                        </p:attrNameLst>
                                      </p:cBhvr>
                                      <p:tavLst>
                                        <p:tav tm="0">
                                          <p:val>
                                            <p:strVal val="#ppt_x"/>
                                          </p:val>
                                        </p:tav>
                                        <p:tav tm="100000">
                                          <p:val>
                                            <p:strVal val="#ppt_x"/>
                                          </p:val>
                                        </p:tav>
                                      </p:tavLst>
                                    </p:anim>
                                    <p:anim calcmode="lin" valueType="num">
                                      <p:cBhvr additive="base">
                                        <p:cTn id="102" dur="550" fill="hold"/>
                                        <p:tgtEl>
                                          <p:spTgt spid="25"/>
                                        </p:tgtEl>
                                        <p:attrNameLst>
                                          <p:attrName>ppt_y</p:attrName>
                                        </p:attrNameLst>
                                      </p:cBhvr>
                                      <p:tavLst>
                                        <p:tav tm="0">
                                          <p:val>
                                            <p:strVal val="#ppt_y+.08"/>
                                          </p:val>
                                        </p:tav>
                                        <p:tav tm="100000">
                                          <p:val>
                                            <p:strVal val="#ppt_y"/>
                                          </p:val>
                                        </p:tav>
                                      </p:tavLst>
                                    </p:anim>
                                  </p:childTnLst>
                                </p:cTn>
                              </p:par>
                            </p:childTnLst>
                          </p:cTn>
                        </p:par>
                        <p:par>
                          <p:cTn id="103" fill="hold">
                            <p:stCondLst>
                              <p:cond delay="1100"/>
                            </p:stCondLst>
                            <p:childTnLst>
                              <p:par>
                                <p:cTn id="104" presetID="42" presetClass="entr" presetSubtype="0" fill="hold" grpId="0" nodeType="afterEffect">
                                  <p:stCondLst>
                                    <p:cond delay="0"/>
                                  </p:stCondLst>
                                  <p:childTnLst>
                                    <p:set>
                                      <p:cBhvr>
                                        <p:cTn id="105" dur="1" fill="hold">
                                          <p:stCondLst>
                                            <p:cond delay="0"/>
                                          </p:stCondLst>
                                        </p:cTn>
                                        <p:tgtEl>
                                          <p:spTgt spid="26"/>
                                        </p:tgtEl>
                                        <p:attrNameLst>
                                          <p:attrName>style.visibility</p:attrName>
                                        </p:attrNameLst>
                                      </p:cBhvr>
                                      <p:to>
                                        <p:strVal val="visible"/>
                                      </p:to>
                                    </p:set>
                                    <p:animEffect transition="in" filter="fade">
                                      <p:cBhvr>
                                        <p:cTn id="106" dur="550"/>
                                        <p:tgtEl>
                                          <p:spTgt spid="26"/>
                                        </p:tgtEl>
                                      </p:cBhvr>
                                    </p:animEffect>
                                    <p:anim calcmode="lin" valueType="num">
                                      <p:cBhvr additive="base">
                                        <p:cTn id="107" dur="550" fill="hold"/>
                                        <p:tgtEl>
                                          <p:spTgt spid="26"/>
                                        </p:tgtEl>
                                        <p:attrNameLst>
                                          <p:attrName>ppt_x</p:attrName>
                                        </p:attrNameLst>
                                      </p:cBhvr>
                                      <p:tavLst>
                                        <p:tav tm="0">
                                          <p:val>
                                            <p:strVal val="#ppt_x"/>
                                          </p:val>
                                        </p:tav>
                                        <p:tav tm="100000">
                                          <p:val>
                                            <p:strVal val="#ppt_x"/>
                                          </p:val>
                                        </p:tav>
                                      </p:tavLst>
                                    </p:anim>
                                    <p:anim calcmode="lin" valueType="num">
                                      <p:cBhvr additive="base">
                                        <p:cTn id="108" dur="550" fill="hold"/>
                                        <p:tgtEl>
                                          <p:spTgt spid="26"/>
                                        </p:tgtEl>
                                        <p:attrNameLst>
                                          <p:attrName>ppt_y</p:attrName>
                                        </p:attrNameLst>
                                      </p:cBhvr>
                                      <p:tavLst>
                                        <p:tav tm="0">
                                          <p:val>
                                            <p:strVal val="#ppt_y+.08"/>
                                          </p:val>
                                        </p:tav>
                                        <p:tav tm="100000">
                                          <p:val>
                                            <p:strVal val="#ppt_y"/>
                                          </p:val>
                                        </p:tav>
                                      </p:tavLst>
                                    </p:anim>
                                  </p:childTnLst>
                                </p:cTn>
                              </p:par>
                            </p:childTnLst>
                          </p:cTn>
                        </p:par>
                        <p:par>
                          <p:cTn id="109" fill="hold">
                            <p:stCondLst>
                              <p:cond delay="1100"/>
                            </p:stCondLst>
                            <p:childTnLst>
                              <p:par>
                                <p:cTn id="110" presetID="42" presetClass="entr" presetSubtype="0" fill="hold" grpId="0" nodeType="afterEffect">
                                  <p:stCondLst>
                                    <p:cond delay="0"/>
                                  </p:stCondLst>
                                  <p:childTnLst>
                                    <p:set>
                                      <p:cBhvr>
                                        <p:cTn id="111" dur="1" fill="hold">
                                          <p:stCondLst>
                                            <p:cond delay="0"/>
                                          </p:stCondLst>
                                        </p:cTn>
                                        <p:tgtEl>
                                          <p:spTgt spid="27"/>
                                        </p:tgtEl>
                                        <p:attrNameLst>
                                          <p:attrName>style.visibility</p:attrName>
                                        </p:attrNameLst>
                                      </p:cBhvr>
                                      <p:to>
                                        <p:strVal val="visible"/>
                                      </p:to>
                                    </p:set>
                                    <p:animEffect transition="in" filter="fade">
                                      <p:cBhvr>
                                        <p:cTn id="112" dur="550"/>
                                        <p:tgtEl>
                                          <p:spTgt spid="27"/>
                                        </p:tgtEl>
                                      </p:cBhvr>
                                    </p:animEffect>
                                    <p:anim calcmode="lin" valueType="num">
                                      <p:cBhvr additive="base">
                                        <p:cTn id="113" dur="550" fill="hold"/>
                                        <p:tgtEl>
                                          <p:spTgt spid="27"/>
                                        </p:tgtEl>
                                        <p:attrNameLst>
                                          <p:attrName>ppt_x</p:attrName>
                                        </p:attrNameLst>
                                      </p:cBhvr>
                                      <p:tavLst>
                                        <p:tav tm="0">
                                          <p:val>
                                            <p:strVal val="#ppt_x"/>
                                          </p:val>
                                        </p:tav>
                                        <p:tav tm="100000">
                                          <p:val>
                                            <p:strVal val="#ppt_x"/>
                                          </p:val>
                                        </p:tav>
                                      </p:tavLst>
                                    </p:anim>
                                    <p:anim calcmode="lin" valueType="num">
                                      <p:cBhvr additive="base">
                                        <p:cTn id="114" dur="550" fill="hold"/>
                                        <p:tgtEl>
                                          <p:spTgt spid="27"/>
                                        </p:tgtEl>
                                        <p:attrNameLst>
                                          <p:attrName>ppt_y</p:attrName>
                                        </p:attrNameLst>
                                      </p:cBhvr>
                                      <p:tavLst>
                                        <p:tav tm="0">
                                          <p:val>
                                            <p:strVal val="#ppt_y+.08"/>
                                          </p:val>
                                        </p:tav>
                                        <p:tav tm="100000">
                                          <p:val>
                                            <p:strVal val="#ppt_y"/>
                                          </p:val>
                                        </p:tav>
                                      </p:tavLst>
                                    </p:anim>
                                  </p:childTnLst>
                                </p:cTn>
                              </p:par>
                            </p:childTnLst>
                          </p:cTn>
                        </p:par>
                        <p:par>
                          <p:cTn id="115" fill="hold">
                            <p:stCondLst>
                              <p:cond delay="1100"/>
                            </p:stCondLst>
                            <p:childTnLst>
                              <p:par>
                                <p:cTn id="116" presetID="53" presetClass="entr" presetSubtype="16" fill="hold" grpId="0" nodeType="afterEffect">
                                  <p:stCondLst>
                                    <p:cond delay="0"/>
                                  </p:stCondLst>
                                  <p:childTnLst>
                                    <p:set>
                                      <p:cBhvr>
                                        <p:cTn id="117" dur="1" fill="hold">
                                          <p:stCondLst>
                                            <p:cond delay="0"/>
                                          </p:stCondLst>
                                        </p:cTn>
                                        <p:tgtEl>
                                          <p:spTgt spid="28"/>
                                        </p:tgtEl>
                                        <p:attrNameLst>
                                          <p:attrName>style.visibility</p:attrName>
                                        </p:attrNameLst>
                                      </p:cBhvr>
                                      <p:to>
                                        <p:strVal val="visible"/>
                                      </p:to>
                                    </p:set>
                                    <p:animEffect transition="in" filter="fade">
                                      <p:cBhvr>
                                        <p:cTn id="118" dur="550"/>
                                        <p:tgtEl>
                                          <p:spTgt spid="28"/>
                                        </p:tgtEl>
                                      </p:cBhvr>
                                    </p:animEffect>
                                    <p:anim calcmode="lin" valueType="num">
                                      <p:cBhvr additive="base">
                                        <p:cTn id="119" dur="550" fill="hold"/>
                                        <p:tgtEl>
                                          <p:spTgt spid="28"/>
                                        </p:tgtEl>
                                        <p:attrNameLst>
                                          <p:attrName>ppt_w</p:attrName>
                                        </p:attrNameLst>
                                      </p:cBhvr>
                                      <p:tavLst>
                                        <p:tav tm="0">
                                          <p:val>
                                            <p:strVal val="0"/>
                                          </p:val>
                                        </p:tav>
                                        <p:tav tm="100000">
                                          <p:val>
                                            <p:strVal val="#ppt_w"/>
                                          </p:val>
                                        </p:tav>
                                      </p:tavLst>
                                    </p:anim>
                                    <p:anim calcmode="lin" valueType="num">
                                      <p:cBhvr additive="base">
                                        <p:cTn id="120" dur="550" fill="hold"/>
                                        <p:tgtEl>
                                          <p:spTgt spid="28"/>
                                        </p:tgtEl>
                                        <p:attrNameLst>
                                          <p:attrName>ppt_h</p:attrName>
                                        </p:attrNameLst>
                                      </p:cBhvr>
                                      <p:tavLst>
                                        <p:tav tm="0">
                                          <p:val>
                                            <p:strVal val="0"/>
                                          </p:val>
                                        </p:tav>
                                        <p:tav tm="100000">
                                          <p:val>
                                            <p:strVal val="#ppt_h"/>
                                          </p:val>
                                        </p:tav>
                                      </p:tavLst>
                                    </p:anim>
                                  </p:childTnLst>
                                </p:cTn>
                              </p:par>
                            </p:childTnLst>
                          </p:cTn>
                        </p:par>
                        <p:par>
                          <p:cTn id="121" fill="hold">
                            <p:stCondLst>
                              <p:cond delay="1100"/>
                            </p:stCondLst>
                            <p:childTnLst>
                              <p:par>
                                <p:cTn id="122" presetID="42" presetClass="entr" presetSubtype="0" fill="hold" grpId="0" nodeType="afterEffect">
                                  <p:stCondLst>
                                    <p:cond delay="0"/>
                                  </p:stCondLst>
                                  <p:childTnLst>
                                    <p:set>
                                      <p:cBhvr>
                                        <p:cTn id="123" dur="1" fill="hold">
                                          <p:stCondLst>
                                            <p:cond delay="0"/>
                                          </p:stCondLst>
                                        </p:cTn>
                                        <p:tgtEl>
                                          <p:spTgt spid="29"/>
                                        </p:tgtEl>
                                        <p:attrNameLst>
                                          <p:attrName>style.visibility</p:attrName>
                                        </p:attrNameLst>
                                      </p:cBhvr>
                                      <p:to>
                                        <p:strVal val="visible"/>
                                      </p:to>
                                    </p:set>
                                    <p:animEffect transition="in" filter="fade">
                                      <p:cBhvr>
                                        <p:cTn id="124" dur="550"/>
                                        <p:tgtEl>
                                          <p:spTgt spid="29"/>
                                        </p:tgtEl>
                                      </p:cBhvr>
                                    </p:animEffect>
                                    <p:anim calcmode="lin" valueType="num">
                                      <p:cBhvr additive="base">
                                        <p:cTn id="125" dur="550" fill="hold"/>
                                        <p:tgtEl>
                                          <p:spTgt spid="29"/>
                                        </p:tgtEl>
                                        <p:attrNameLst>
                                          <p:attrName>ppt_x</p:attrName>
                                        </p:attrNameLst>
                                      </p:cBhvr>
                                      <p:tavLst>
                                        <p:tav tm="0">
                                          <p:val>
                                            <p:strVal val="#ppt_x"/>
                                          </p:val>
                                        </p:tav>
                                        <p:tav tm="100000">
                                          <p:val>
                                            <p:strVal val="#ppt_x"/>
                                          </p:val>
                                        </p:tav>
                                      </p:tavLst>
                                    </p:anim>
                                    <p:anim calcmode="lin" valueType="num">
                                      <p:cBhvr additive="base">
                                        <p:cTn id="126" dur="550" fill="hold"/>
                                        <p:tgtEl>
                                          <p:spTgt spid="29"/>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P spid="25" grpId="0" animBg="1"/>
      <p:bldP spid="26" grpId="0" animBg="1"/>
      <p:bldP spid="27" grpId="0" animBg="1"/>
      <p:bldP spid="28" grpId="0" animBg="1"/>
      <p:bldP spid="29" grpId="0" animBg="1"/>
    </p:bldLst>
  </p:timing>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110000"/>
            <a:ext cx="10300000" cy="300000"/>
          </a:xfrm>
          <a:prstGeom prst="rect">
            <a:avLst/>
          </a:prstGeom>
          <a:noFill/>
        </p:spPr>
        <p:txBody>
          <a:bodyPr wrap="square" anchor="t" lIns="50800" rIns="50800">
            <a:spAutoFit/>
          </a:bodyPr>
          <a:lstStyle/>
          <a:p>
            <a:pPr algn="l"/>
            <a:r>
              <a:rPr sz="1200" b="1">
                <a:solidFill>
                  <a:srgbClr val="A9C4E6"/>
                </a:solidFill>
                <a:latin typeface="Calibri"/>
              </a:rPr>
              <a:t>NAZARIY ASOSLAR</a:t>
            </a:r>
          </a:p>
        </p:txBody>
      </p:sp>
      <p:sp>
        <p:nvSpPr>
          <p:cNvPr id="6" name="TextBox 5"/>
          <p:cNvSpPr txBox="1"/>
          <p:nvPr/>
        </p:nvSpPr>
        <p:spPr>
          <a:xfrm>
            <a:off x="500000" y="330000"/>
            <a:ext cx="10400000" cy="650000"/>
          </a:xfrm>
          <a:prstGeom prst="rect">
            <a:avLst/>
          </a:prstGeom>
          <a:noFill/>
        </p:spPr>
        <p:txBody>
          <a:bodyPr wrap="square" anchor="ctr" lIns="50800" rIns="50800">
            <a:spAutoFit/>
          </a:bodyPr>
          <a:lstStyle/>
          <a:p>
            <a:pPr algn="l"/>
            <a:r>
              <a:rPr sz="2600" b="1">
                <a:solidFill>
                  <a:srgbClr val="FFFFFF"/>
                </a:solidFill>
                <a:latin typeface="Calibri"/>
              </a:rPr>
              <a:t>Hardware–Software Co-design tamoyillari (2)</a:t>
            </a:r>
          </a:p>
        </p:txBody>
      </p:sp>
      <p:sp>
        <p:nvSpPr>
          <p:cNvPr id="7" name="Rectangle 6"/>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A1 · Sun'iy intellektga asoslangan kompyuter tizimlari arxitekturasini tahlil qilish va loyihalash</a:t>
            </a:r>
          </a:p>
        </p:txBody>
      </p:sp>
      <p:sp>
        <p:nvSpPr>
          <p:cNvPr id="9" name="TextBox 8"/>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12</a:t>
            </a:r>
          </a:p>
        </p:txBody>
      </p:sp>
      <p:sp>
        <p:nvSpPr>
          <p:cNvPr id="10" name="Rounded Rectangle 9"/>
          <p:cNvSpPr/>
          <p:nvPr/>
        </p:nvSpPr>
        <p:spPr>
          <a:xfrm>
            <a:off x="550000" y="2076666"/>
            <a:ext cx="11100000" cy="1250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50000" y="2076666"/>
            <a:ext cx="70000" cy="1250000"/>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800000" y="2471666"/>
            <a:ext cx="460000" cy="460000"/>
          </a:xfrm>
          <a:prstGeom prst="ellipse">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6</a:t>
            </a:r>
          </a:p>
        </p:txBody>
      </p:sp>
      <p:sp>
        <p:nvSpPr>
          <p:cNvPr id="13" name="TextBox 12"/>
          <p:cNvSpPr txBox="1"/>
          <p:nvPr/>
        </p:nvSpPr>
        <p:spPr>
          <a:xfrm>
            <a:off x="1450000" y="2076666"/>
            <a:ext cx="10050000" cy="1250000"/>
          </a:xfrm>
          <a:prstGeom prst="rect">
            <a:avLst/>
          </a:prstGeom>
          <a:noFill/>
        </p:spPr>
        <p:txBody>
          <a:bodyPr wrap="square" anchor="ctr" lIns="50800" rIns="50800">
            <a:spAutoFit/>
          </a:bodyPr>
          <a:lstStyle/>
          <a:p>
            <a:pPr algn="l"/>
            <a:r>
              <a:rPr sz="1800" b="0">
                <a:solidFill>
                  <a:srgbClr val="1B2430"/>
                </a:solidFill>
                <a:latin typeface="Calibri"/>
              </a:rPr>
              <a:t>Butun tizim narxi va energiya byudjeti. Chekka qurilmada 15–25 Vt, serverda 300–700 Vt bir tezlatkich uchun. Sovutish, korpus, quvvat manbai ham loyihaning bir qismi.</a:t>
            </a:r>
          </a:p>
        </p:txBody>
      </p:sp>
      <p:sp>
        <p:nvSpPr>
          <p:cNvPr id="14" name="Rounded Rectangle 13"/>
          <p:cNvSpPr/>
          <p:nvPr/>
        </p:nvSpPr>
        <p:spPr>
          <a:xfrm>
            <a:off x="550000" y="3446666"/>
            <a:ext cx="11100000" cy="1250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50000" y="3446666"/>
            <a:ext cx="70000" cy="1250000"/>
          </a:xfrm>
          <a:prstGeom prst="rect">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00000" y="3841666"/>
            <a:ext cx="460000" cy="460000"/>
          </a:xfrm>
          <a:prstGeom prst="ellipse">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7</a:t>
            </a:r>
          </a:p>
        </p:txBody>
      </p:sp>
      <p:sp>
        <p:nvSpPr>
          <p:cNvPr id="17" name="TextBox 16"/>
          <p:cNvSpPr txBox="1"/>
          <p:nvPr/>
        </p:nvSpPr>
        <p:spPr>
          <a:xfrm>
            <a:off x="1450000" y="3446666"/>
            <a:ext cx="10050000" cy="1250000"/>
          </a:xfrm>
          <a:prstGeom prst="rect">
            <a:avLst/>
          </a:prstGeom>
          <a:noFill/>
        </p:spPr>
        <p:txBody>
          <a:bodyPr wrap="square" anchor="ctr" lIns="50800" rIns="50800">
            <a:spAutoFit/>
          </a:bodyPr>
          <a:lstStyle/>
          <a:p>
            <a:pPr algn="l"/>
            <a:r>
              <a:rPr sz="1800" b="0">
                <a:solidFill>
                  <a:srgbClr val="1B2430"/>
                </a:solidFill>
                <a:latin typeface="Calibri"/>
              </a:rPr>
              <a:t>Iteratsiya. Birinchi tanlov prototipda o'lchanadi, natija talabga javob bermasa — model (masalan, kirish o'lchamini 640 dan 512 ga tushirish) yoki apparat (Orin NX → Orin AGX)…</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55"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6"/>
                                        </p:tgtEl>
                                        <p:attrNameLst>
                                          <p:attrName>style.visibility</p:attrName>
                                        </p:attrNameLst>
                                      </p:cBhvr>
                                      <p:to>
                                        <p:strVal val="visible"/>
                                      </p:to>
                                    </p:set>
                                    <p:animEffect transition="in" filter="fade">
                                      <p:cBhvr>
                                        <p:cTn id="6" dur="550"/>
                                        <p:tgtEl>
                                          <p:spTgt spid="6"/>
                                        </p:tgtEl>
                                      </p:cBhvr>
                                    </p:animEffect>
                                  </p:childTnLst>
                                </p:cTn>
                              </p:par>
                            </p:childTnLst>
                          </p:cTn>
                        </p:par>
                        <p:par>
                          <p:cTn id="7" fill="hold">
                            <p:stCondLst>
                              <p:cond delay="220"/>
                            </p:stCondLst>
                            <p:childTnLst>
                              <p:par>
                                <p:cTn id="8" presetID="42" presetClass="entr" presetSubtype="0" fill="hold" grpId="0" nodeType="after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fade">
                                      <p:cBhvr>
                                        <p:cTn id="10" dur="550"/>
                                        <p:tgtEl>
                                          <p:spTgt spid="10"/>
                                        </p:tgtEl>
                                      </p:cBhvr>
                                    </p:animEffect>
                                    <p:anim calcmode="lin" valueType="num">
                                      <p:cBhvr additive="base">
                                        <p:cTn id="11" dur="550" fill="hold"/>
                                        <p:tgtEl>
                                          <p:spTgt spid="10"/>
                                        </p:tgtEl>
                                        <p:attrNameLst>
                                          <p:attrName>ppt_x</p:attrName>
                                        </p:attrNameLst>
                                      </p:cBhvr>
                                      <p:tavLst>
                                        <p:tav tm="0">
                                          <p:val>
                                            <p:strVal val="#ppt_x"/>
                                          </p:val>
                                        </p:tav>
                                        <p:tav tm="100000">
                                          <p:val>
                                            <p:strVal val="#ppt_x"/>
                                          </p:val>
                                        </p:tav>
                                      </p:tavLst>
                                    </p:anim>
                                    <p:anim calcmode="lin" valueType="num">
                                      <p:cBhvr additive="base">
                                        <p:cTn id="12" dur="550" fill="hold"/>
                                        <p:tgtEl>
                                          <p:spTgt spid="10"/>
                                        </p:tgtEl>
                                        <p:attrNameLst>
                                          <p:attrName>ppt_y</p:attrName>
                                        </p:attrNameLst>
                                      </p:cBhvr>
                                      <p:tavLst>
                                        <p:tav tm="0">
                                          <p:val>
                                            <p:strVal val="#ppt_y+.08"/>
                                          </p:val>
                                        </p:tav>
                                        <p:tav tm="100000">
                                          <p:val>
                                            <p:strVal val="#ppt_y"/>
                                          </p:val>
                                        </p:tav>
                                      </p:tavLst>
                                    </p:anim>
                                  </p:childTnLst>
                                </p:cTn>
                              </p:par>
                            </p:childTnLst>
                          </p:cTn>
                        </p:par>
                        <p:par>
                          <p:cTn id="13" fill="hold">
                            <p:stCondLst>
                              <p:cond delay="220"/>
                            </p:stCondLst>
                            <p:childTnLst>
                              <p:par>
                                <p:cTn id="14" presetID="42" presetClass="entr" presetSubtype="0" fill="hold" grpId="0" nodeType="afterEffect">
                                  <p:stCondLst>
                                    <p:cond delay="0"/>
                                  </p:stCondLst>
                                  <p:childTnLst>
                                    <p:set>
                                      <p:cBhvr>
                                        <p:cTn id="15" dur="1" fill="hold">
                                          <p:stCondLst>
                                            <p:cond delay="0"/>
                                          </p:stCondLst>
                                        </p:cTn>
                                        <p:tgtEl>
                                          <p:spTgt spid="11"/>
                                        </p:tgtEl>
                                        <p:attrNameLst>
                                          <p:attrName>style.visibility</p:attrName>
                                        </p:attrNameLst>
                                      </p:cBhvr>
                                      <p:to>
                                        <p:strVal val="visible"/>
                                      </p:to>
                                    </p:set>
                                    <p:animEffect transition="in" filter="fade">
                                      <p:cBhvr>
                                        <p:cTn id="16" dur="550"/>
                                        <p:tgtEl>
                                          <p:spTgt spid="11"/>
                                        </p:tgtEl>
                                      </p:cBhvr>
                                    </p:animEffect>
                                    <p:anim calcmode="lin" valueType="num">
                                      <p:cBhvr additive="base">
                                        <p:cTn id="17" dur="550" fill="hold"/>
                                        <p:tgtEl>
                                          <p:spTgt spid="11"/>
                                        </p:tgtEl>
                                        <p:attrNameLst>
                                          <p:attrName>ppt_x</p:attrName>
                                        </p:attrNameLst>
                                      </p:cBhvr>
                                      <p:tavLst>
                                        <p:tav tm="0">
                                          <p:val>
                                            <p:strVal val="#ppt_x"/>
                                          </p:val>
                                        </p:tav>
                                        <p:tav tm="100000">
                                          <p:val>
                                            <p:strVal val="#ppt_x"/>
                                          </p:val>
                                        </p:tav>
                                      </p:tavLst>
                                    </p:anim>
                                    <p:anim calcmode="lin" valueType="num">
                                      <p:cBhvr additive="base">
                                        <p:cTn id="18" dur="550" fill="hold"/>
                                        <p:tgtEl>
                                          <p:spTgt spid="11"/>
                                        </p:tgtEl>
                                        <p:attrNameLst>
                                          <p:attrName>ppt_y</p:attrName>
                                        </p:attrNameLst>
                                      </p:cBhvr>
                                      <p:tavLst>
                                        <p:tav tm="0">
                                          <p:val>
                                            <p:strVal val="#ppt_y+.08"/>
                                          </p:val>
                                        </p:tav>
                                        <p:tav tm="100000">
                                          <p:val>
                                            <p:strVal val="#ppt_y"/>
                                          </p:val>
                                        </p:tav>
                                      </p:tavLst>
                                    </p:anim>
                                  </p:childTnLst>
                                </p:cTn>
                              </p:par>
                            </p:childTnLst>
                          </p:cTn>
                        </p:par>
                        <p:par>
                          <p:cTn id="19" fill="hold">
                            <p:stCondLst>
                              <p:cond delay="220"/>
                            </p:stCondLst>
                            <p:childTnLst>
                              <p:par>
                                <p:cTn id="20" presetID="53" presetClass="entr" presetSubtype="16" fill="hold" grpId="0" nodeType="afterEffect">
                                  <p:stCondLst>
                                    <p:cond delay="0"/>
                                  </p:stCondLst>
                                  <p:childTnLst>
                                    <p:set>
                                      <p:cBhvr>
                                        <p:cTn id="21" dur="1" fill="hold">
                                          <p:stCondLst>
                                            <p:cond delay="0"/>
                                          </p:stCondLst>
                                        </p:cTn>
                                        <p:tgtEl>
                                          <p:spTgt spid="12"/>
                                        </p:tgtEl>
                                        <p:attrNameLst>
                                          <p:attrName>style.visibility</p:attrName>
                                        </p:attrNameLst>
                                      </p:cBhvr>
                                      <p:to>
                                        <p:strVal val="visible"/>
                                      </p:to>
                                    </p:set>
                                    <p:animEffect transition="in" filter="fade">
                                      <p:cBhvr>
                                        <p:cTn id="22" dur="550"/>
                                        <p:tgtEl>
                                          <p:spTgt spid="12"/>
                                        </p:tgtEl>
                                      </p:cBhvr>
                                    </p:animEffect>
                                    <p:anim calcmode="lin" valueType="num">
                                      <p:cBhvr additive="base">
                                        <p:cTn id="23" dur="550" fill="hold"/>
                                        <p:tgtEl>
                                          <p:spTgt spid="12"/>
                                        </p:tgtEl>
                                        <p:attrNameLst>
                                          <p:attrName>ppt_w</p:attrName>
                                        </p:attrNameLst>
                                      </p:cBhvr>
                                      <p:tavLst>
                                        <p:tav tm="0">
                                          <p:val>
                                            <p:strVal val="0"/>
                                          </p:val>
                                        </p:tav>
                                        <p:tav tm="100000">
                                          <p:val>
                                            <p:strVal val="#ppt_w"/>
                                          </p:val>
                                        </p:tav>
                                      </p:tavLst>
                                    </p:anim>
                                    <p:anim calcmode="lin" valueType="num">
                                      <p:cBhvr additive="base">
                                        <p:cTn id="24" dur="550" fill="hold"/>
                                        <p:tgtEl>
                                          <p:spTgt spid="12"/>
                                        </p:tgtEl>
                                        <p:attrNameLst>
                                          <p:attrName>ppt_h</p:attrName>
                                        </p:attrNameLst>
                                      </p:cBhvr>
                                      <p:tavLst>
                                        <p:tav tm="0">
                                          <p:val>
                                            <p:strVal val="0"/>
                                          </p:val>
                                        </p:tav>
                                        <p:tav tm="100000">
                                          <p:val>
                                            <p:strVal val="#ppt_h"/>
                                          </p:val>
                                        </p:tav>
                                      </p:tavLst>
                                    </p:anim>
                                  </p:childTnLst>
                                </p:cTn>
                              </p:par>
                            </p:childTnLst>
                          </p:cTn>
                        </p:par>
                        <p:par>
                          <p:cTn id="25" fill="hold">
                            <p:stCondLst>
                              <p:cond delay="220"/>
                            </p:stCondLst>
                            <p:childTnLst>
                              <p:par>
                                <p:cTn id="26" presetID="42" presetClass="entr" presetSubtype="0" fill="hold" grpId="0" nodeType="afterEffect">
                                  <p:stCondLst>
                                    <p:cond delay="0"/>
                                  </p:stCondLst>
                                  <p:childTnLst>
                                    <p:set>
                                      <p:cBhvr>
                                        <p:cTn id="27" dur="1" fill="hold">
                                          <p:stCondLst>
                                            <p:cond delay="0"/>
                                          </p:stCondLst>
                                        </p:cTn>
                                        <p:tgtEl>
                                          <p:spTgt spid="13"/>
                                        </p:tgtEl>
                                        <p:attrNameLst>
                                          <p:attrName>style.visibility</p:attrName>
                                        </p:attrNameLst>
                                      </p:cBhvr>
                                      <p:to>
                                        <p:strVal val="visible"/>
                                      </p:to>
                                    </p:set>
                                    <p:animEffect transition="in" filter="fade">
                                      <p:cBhvr>
                                        <p:cTn id="28" dur="550"/>
                                        <p:tgtEl>
                                          <p:spTgt spid="13"/>
                                        </p:tgtEl>
                                      </p:cBhvr>
                                    </p:animEffect>
                                    <p:anim calcmode="lin" valueType="num">
                                      <p:cBhvr additive="base">
                                        <p:cTn id="29" dur="550" fill="hold"/>
                                        <p:tgtEl>
                                          <p:spTgt spid="13"/>
                                        </p:tgtEl>
                                        <p:attrNameLst>
                                          <p:attrName>ppt_x</p:attrName>
                                        </p:attrNameLst>
                                      </p:cBhvr>
                                      <p:tavLst>
                                        <p:tav tm="0">
                                          <p:val>
                                            <p:strVal val="#ppt_x"/>
                                          </p:val>
                                        </p:tav>
                                        <p:tav tm="100000">
                                          <p:val>
                                            <p:strVal val="#ppt_x"/>
                                          </p:val>
                                        </p:tav>
                                      </p:tavLst>
                                    </p:anim>
                                    <p:anim calcmode="lin" valueType="num">
                                      <p:cBhvr additive="base">
                                        <p:cTn id="30" dur="550" fill="hold"/>
                                        <p:tgtEl>
                                          <p:spTgt spid="13"/>
                                        </p:tgtEl>
                                        <p:attrNameLst>
                                          <p:attrName>ppt_y</p:attrName>
                                        </p:attrNameLst>
                                      </p:cBhvr>
                                      <p:tavLst>
                                        <p:tav tm="0">
                                          <p:val>
                                            <p:strVal val="#ppt_y+.08"/>
                                          </p:val>
                                        </p:tav>
                                        <p:tav tm="100000">
                                          <p:val>
                                            <p:strVal val="#ppt_y"/>
                                          </p:val>
                                        </p:tav>
                                      </p:tavLst>
                                    </p:anim>
                                  </p:childTnLst>
                                </p:cTn>
                              </p:par>
                            </p:childTnLst>
                          </p:cTn>
                        </p:par>
                        <p:par>
                          <p:cTn id="31" fill="hold">
                            <p:stCondLst>
                              <p:cond delay="440"/>
                            </p:stCondLst>
                            <p:childTnLst>
                              <p:par>
                                <p:cTn id="32" presetID="42" presetClass="entr" presetSubtype="0" fill="hold" grpId="0" nodeType="afterEffect">
                                  <p:stCondLst>
                                    <p:cond delay="0"/>
                                  </p:stCondLst>
                                  <p:childTnLst>
                                    <p:set>
                                      <p:cBhvr>
                                        <p:cTn id="33" dur="1" fill="hold">
                                          <p:stCondLst>
                                            <p:cond delay="0"/>
                                          </p:stCondLst>
                                        </p:cTn>
                                        <p:tgtEl>
                                          <p:spTgt spid="14"/>
                                        </p:tgtEl>
                                        <p:attrNameLst>
                                          <p:attrName>style.visibility</p:attrName>
                                        </p:attrNameLst>
                                      </p:cBhvr>
                                      <p:to>
                                        <p:strVal val="visible"/>
                                      </p:to>
                                    </p:set>
                                    <p:animEffect transition="in" filter="fade">
                                      <p:cBhvr>
                                        <p:cTn id="34" dur="550"/>
                                        <p:tgtEl>
                                          <p:spTgt spid="14"/>
                                        </p:tgtEl>
                                      </p:cBhvr>
                                    </p:animEffect>
                                    <p:anim calcmode="lin" valueType="num">
                                      <p:cBhvr additive="base">
                                        <p:cTn id="35" dur="550" fill="hold"/>
                                        <p:tgtEl>
                                          <p:spTgt spid="14"/>
                                        </p:tgtEl>
                                        <p:attrNameLst>
                                          <p:attrName>ppt_x</p:attrName>
                                        </p:attrNameLst>
                                      </p:cBhvr>
                                      <p:tavLst>
                                        <p:tav tm="0">
                                          <p:val>
                                            <p:strVal val="#ppt_x"/>
                                          </p:val>
                                        </p:tav>
                                        <p:tav tm="100000">
                                          <p:val>
                                            <p:strVal val="#ppt_x"/>
                                          </p:val>
                                        </p:tav>
                                      </p:tavLst>
                                    </p:anim>
                                    <p:anim calcmode="lin" valueType="num">
                                      <p:cBhvr additive="base">
                                        <p:cTn id="36" dur="550" fill="hold"/>
                                        <p:tgtEl>
                                          <p:spTgt spid="14"/>
                                        </p:tgtEl>
                                        <p:attrNameLst>
                                          <p:attrName>ppt_y</p:attrName>
                                        </p:attrNameLst>
                                      </p:cBhvr>
                                      <p:tavLst>
                                        <p:tav tm="0">
                                          <p:val>
                                            <p:strVal val="#ppt_y+.08"/>
                                          </p:val>
                                        </p:tav>
                                        <p:tav tm="100000">
                                          <p:val>
                                            <p:strVal val="#ppt_y"/>
                                          </p:val>
                                        </p:tav>
                                      </p:tavLst>
                                    </p:anim>
                                  </p:childTnLst>
                                </p:cTn>
                              </p:par>
                            </p:childTnLst>
                          </p:cTn>
                        </p:par>
                        <p:par>
                          <p:cTn id="37" fill="hold">
                            <p:stCondLst>
                              <p:cond delay="440"/>
                            </p:stCondLst>
                            <p:childTnLst>
                              <p:par>
                                <p:cTn id="38" presetID="42" presetClass="entr" presetSubtype="0" fill="hold" grpId="0" nodeType="afterEffect">
                                  <p:stCondLst>
                                    <p:cond delay="0"/>
                                  </p:stCondLst>
                                  <p:childTnLst>
                                    <p:set>
                                      <p:cBhvr>
                                        <p:cTn id="39" dur="1" fill="hold">
                                          <p:stCondLst>
                                            <p:cond delay="0"/>
                                          </p:stCondLst>
                                        </p:cTn>
                                        <p:tgtEl>
                                          <p:spTgt spid="15"/>
                                        </p:tgtEl>
                                        <p:attrNameLst>
                                          <p:attrName>style.visibility</p:attrName>
                                        </p:attrNameLst>
                                      </p:cBhvr>
                                      <p:to>
                                        <p:strVal val="visible"/>
                                      </p:to>
                                    </p:set>
                                    <p:animEffect transition="in" filter="fade">
                                      <p:cBhvr>
                                        <p:cTn id="40" dur="550"/>
                                        <p:tgtEl>
                                          <p:spTgt spid="15"/>
                                        </p:tgtEl>
                                      </p:cBhvr>
                                    </p:animEffect>
                                    <p:anim calcmode="lin" valueType="num">
                                      <p:cBhvr additive="base">
                                        <p:cTn id="41" dur="550" fill="hold"/>
                                        <p:tgtEl>
                                          <p:spTgt spid="15"/>
                                        </p:tgtEl>
                                        <p:attrNameLst>
                                          <p:attrName>ppt_x</p:attrName>
                                        </p:attrNameLst>
                                      </p:cBhvr>
                                      <p:tavLst>
                                        <p:tav tm="0">
                                          <p:val>
                                            <p:strVal val="#ppt_x"/>
                                          </p:val>
                                        </p:tav>
                                        <p:tav tm="100000">
                                          <p:val>
                                            <p:strVal val="#ppt_x"/>
                                          </p:val>
                                        </p:tav>
                                      </p:tavLst>
                                    </p:anim>
                                    <p:anim calcmode="lin" valueType="num">
                                      <p:cBhvr additive="base">
                                        <p:cTn id="42" dur="550" fill="hold"/>
                                        <p:tgtEl>
                                          <p:spTgt spid="15"/>
                                        </p:tgtEl>
                                        <p:attrNameLst>
                                          <p:attrName>ppt_y</p:attrName>
                                        </p:attrNameLst>
                                      </p:cBhvr>
                                      <p:tavLst>
                                        <p:tav tm="0">
                                          <p:val>
                                            <p:strVal val="#ppt_y+.08"/>
                                          </p:val>
                                        </p:tav>
                                        <p:tav tm="100000">
                                          <p:val>
                                            <p:strVal val="#ppt_y"/>
                                          </p:val>
                                        </p:tav>
                                      </p:tavLst>
                                    </p:anim>
                                  </p:childTnLst>
                                </p:cTn>
                              </p:par>
                            </p:childTnLst>
                          </p:cTn>
                        </p:par>
                        <p:par>
                          <p:cTn id="43" fill="hold">
                            <p:stCondLst>
                              <p:cond delay="440"/>
                            </p:stCondLst>
                            <p:childTnLst>
                              <p:par>
                                <p:cTn id="44" presetID="53" presetClass="entr" presetSubtype="16" fill="hold" grpId="0" nodeType="afterEffect">
                                  <p:stCondLst>
                                    <p:cond delay="0"/>
                                  </p:stCondLst>
                                  <p:childTnLst>
                                    <p:set>
                                      <p:cBhvr>
                                        <p:cTn id="45" dur="1" fill="hold">
                                          <p:stCondLst>
                                            <p:cond delay="0"/>
                                          </p:stCondLst>
                                        </p:cTn>
                                        <p:tgtEl>
                                          <p:spTgt spid="16"/>
                                        </p:tgtEl>
                                        <p:attrNameLst>
                                          <p:attrName>style.visibility</p:attrName>
                                        </p:attrNameLst>
                                      </p:cBhvr>
                                      <p:to>
                                        <p:strVal val="visible"/>
                                      </p:to>
                                    </p:set>
                                    <p:animEffect transition="in" filter="fade">
                                      <p:cBhvr>
                                        <p:cTn id="46" dur="550"/>
                                        <p:tgtEl>
                                          <p:spTgt spid="16"/>
                                        </p:tgtEl>
                                      </p:cBhvr>
                                    </p:animEffect>
                                    <p:anim calcmode="lin" valueType="num">
                                      <p:cBhvr additive="base">
                                        <p:cTn id="47" dur="550" fill="hold"/>
                                        <p:tgtEl>
                                          <p:spTgt spid="16"/>
                                        </p:tgtEl>
                                        <p:attrNameLst>
                                          <p:attrName>ppt_w</p:attrName>
                                        </p:attrNameLst>
                                      </p:cBhvr>
                                      <p:tavLst>
                                        <p:tav tm="0">
                                          <p:val>
                                            <p:strVal val="0"/>
                                          </p:val>
                                        </p:tav>
                                        <p:tav tm="100000">
                                          <p:val>
                                            <p:strVal val="#ppt_w"/>
                                          </p:val>
                                        </p:tav>
                                      </p:tavLst>
                                    </p:anim>
                                    <p:anim calcmode="lin" valueType="num">
                                      <p:cBhvr additive="base">
                                        <p:cTn id="48" dur="550" fill="hold"/>
                                        <p:tgtEl>
                                          <p:spTgt spid="16"/>
                                        </p:tgtEl>
                                        <p:attrNameLst>
                                          <p:attrName>ppt_h</p:attrName>
                                        </p:attrNameLst>
                                      </p:cBhvr>
                                      <p:tavLst>
                                        <p:tav tm="0">
                                          <p:val>
                                            <p:strVal val="0"/>
                                          </p:val>
                                        </p:tav>
                                        <p:tav tm="100000">
                                          <p:val>
                                            <p:strVal val="#ppt_h"/>
                                          </p:val>
                                        </p:tav>
                                      </p:tavLst>
                                    </p:anim>
                                  </p:childTnLst>
                                </p:cTn>
                              </p:par>
                            </p:childTnLst>
                          </p:cTn>
                        </p:par>
                        <p:par>
                          <p:cTn id="49" fill="hold">
                            <p:stCondLst>
                              <p:cond delay="440"/>
                            </p:stCondLst>
                            <p:childTnLst>
                              <p:par>
                                <p:cTn id="50" presetID="42" presetClass="entr" presetSubtype="0" fill="hold" grpId="0" nodeType="afterEffect">
                                  <p:stCondLst>
                                    <p:cond delay="0"/>
                                  </p:stCondLst>
                                  <p:childTnLst>
                                    <p:set>
                                      <p:cBhvr>
                                        <p:cTn id="51" dur="1" fill="hold">
                                          <p:stCondLst>
                                            <p:cond delay="0"/>
                                          </p:stCondLst>
                                        </p:cTn>
                                        <p:tgtEl>
                                          <p:spTgt spid="17"/>
                                        </p:tgtEl>
                                        <p:attrNameLst>
                                          <p:attrName>style.visibility</p:attrName>
                                        </p:attrNameLst>
                                      </p:cBhvr>
                                      <p:to>
                                        <p:strVal val="visible"/>
                                      </p:to>
                                    </p:set>
                                    <p:animEffect transition="in" filter="fade">
                                      <p:cBhvr>
                                        <p:cTn id="52" dur="550"/>
                                        <p:tgtEl>
                                          <p:spTgt spid="17"/>
                                        </p:tgtEl>
                                      </p:cBhvr>
                                    </p:animEffect>
                                    <p:anim calcmode="lin" valueType="num">
                                      <p:cBhvr additive="base">
                                        <p:cTn id="53" dur="550" fill="hold"/>
                                        <p:tgtEl>
                                          <p:spTgt spid="17"/>
                                        </p:tgtEl>
                                        <p:attrNameLst>
                                          <p:attrName>ppt_x</p:attrName>
                                        </p:attrNameLst>
                                      </p:cBhvr>
                                      <p:tavLst>
                                        <p:tav tm="0">
                                          <p:val>
                                            <p:strVal val="#ppt_x"/>
                                          </p:val>
                                        </p:tav>
                                        <p:tav tm="100000">
                                          <p:val>
                                            <p:strVal val="#ppt_x"/>
                                          </p:val>
                                        </p:tav>
                                      </p:tavLst>
                                    </p:anim>
                                    <p:anim calcmode="lin" valueType="num">
                                      <p:cBhvr additive="base">
                                        <p:cTn id="54" dur="550" fill="hold"/>
                                        <p:tgtEl>
                                          <p:spTgt spid="17"/>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10" grpId="0" animBg="1"/>
      <p:bldP spid="11" grpId="0" animBg="1"/>
      <p:bldP spid="12" grpId="0" animBg="1"/>
      <p:bldP spid="13" grpId="0" animBg="1"/>
      <p:bldP spid="14" grpId="0" animBg="1"/>
      <p:bldP spid="15" grpId="0" animBg="1"/>
      <p:bldP spid="16" grpId="0" animBg="1"/>
      <p:bldP spid="17" grpId="0" animBg="1"/>
    </p:bldLst>
  </p:timing>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110000"/>
            <a:ext cx="10300000" cy="300000"/>
          </a:xfrm>
          <a:prstGeom prst="rect">
            <a:avLst/>
          </a:prstGeom>
          <a:noFill/>
        </p:spPr>
        <p:txBody>
          <a:bodyPr wrap="square" anchor="t" lIns="50800" rIns="50800">
            <a:spAutoFit/>
          </a:bodyPr>
          <a:lstStyle/>
          <a:p>
            <a:pPr algn="l"/>
            <a:r>
              <a:rPr sz="1200" b="1">
                <a:solidFill>
                  <a:srgbClr val="A9C4E6"/>
                </a:solidFill>
                <a:latin typeface="Calibri"/>
              </a:rPr>
              <a:t>NAZARIY ASOSLAR</a:t>
            </a:r>
          </a:p>
        </p:txBody>
      </p:sp>
      <p:sp>
        <p:nvSpPr>
          <p:cNvPr id="6" name="TextBox 5"/>
          <p:cNvSpPr txBox="1"/>
          <p:nvPr/>
        </p:nvSpPr>
        <p:spPr>
          <a:xfrm>
            <a:off x="500000" y="330000"/>
            <a:ext cx="10400000" cy="650000"/>
          </a:xfrm>
          <a:prstGeom prst="rect">
            <a:avLst/>
          </a:prstGeom>
          <a:noFill/>
        </p:spPr>
        <p:txBody>
          <a:bodyPr wrap="square" anchor="ctr" lIns="50800" rIns="50800">
            <a:spAutoFit/>
          </a:bodyPr>
          <a:lstStyle/>
          <a:p>
            <a:pPr algn="l"/>
            <a:r>
              <a:rPr sz="2600" b="1">
                <a:solidFill>
                  <a:srgbClr val="FFFFFF"/>
                </a:solidFill>
                <a:latin typeface="Calibri"/>
              </a:rPr>
              <a:t>Hisoblash platformalarining texnik tavsiflari</a:t>
            </a:r>
          </a:p>
        </p:txBody>
      </p:sp>
      <p:sp>
        <p:nvSpPr>
          <p:cNvPr id="7" name="Rectangle 6"/>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A1 · Sun'iy intellektga asoslangan kompyuter tizimlari arxitekturasini tahlil qilish va loyihalash</a:t>
            </a:r>
          </a:p>
        </p:txBody>
      </p:sp>
      <p:sp>
        <p:nvSpPr>
          <p:cNvPr id="9" name="TextBox 8"/>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13</a:t>
            </a:r>
          </a:p>
        </p:txBody>
      </p:sp>
      <p:sp>
        <p:nvSpPr>
          <p:cNvPr id="10" name="Rounded Rectangle 9"/>
          <p:cNvSpPr/>
          <p:nvPr/>
        </p:nvSpPr>
        <p:spPr>
          <a:xfrm>
            <a:off x="550000" y="2076666"/>
            <a:ext cx="11100000" cy="1250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50000" y="2076666"/>
            <a:ext cx="70000" cy="1250000"/>
          </a:xfrm>
          <a:prstGeom prst="rect">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800000" y="2471666"/>
            <a:ext cx="460000" cy="460000"/>
          </a:xfrm>
          <a:prstGeom prst="ellipse">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1</a:t>
            </a:r>
          </a:p>
        </p:txBody>
      </p:sp>
      <p:sp>
        <p:nvSpPr>
          <p:cNvPr id="13" name="TextBox 12"/>
          <p:cNvSpPr txBox="1"/>
          <p:nvPr/>
        </p:nvSpPr>
        <p:spPr>
          <a:xfrm>
            <a:off x="1450000" y="2076666"/>
            <a:ext cx="10050000" cy="1250000"/>
          </a:xfrm>
          <a:prstGeom prst="rect">
            <a:avLst/>
          </a:prstGeom>
          <a:noFill/>
        </p:spPr>
        <p:txBody>
          <a:bodyPr wrap="square" anchor="ctr" lIns="50800" rIns="50800">
            <a:spAutoFit/>
          </a:bodyPr>
          <a:lstStyle/>
          <a:p>
            <a:pPr algn="l"/>
            <a:r>
              <a:rPr sz="1600" b="0">
                <a:solidFill>
                  <a:srgbClr val="1B2430"/>
                </a:solidFill>
                <a:latin typeface="Calibri"/>
              </a:rPr>
              <a:t>Quyidagi jadvalda mashg'ulotda solishtiriladigan uchta platformaning ochiq texnik tavsiflari keltirilgan (qiymatlar ishlab chiqaruvchilarning rasmiy ma'lumotlariga asoslangan, taxminiy;…</a:t>
            </a:r>
          </a:p>
        </p:txBody>
      </p:sp>
      <p:sp>
        <p:nvSpPr>
          <p:cNvPr id="14" name="Rounded Rectangle 13"/>
          <p:cNvSpPr/>
          <p:nvPr/>
        </p:nvSpPr>
        <p:spPr>
          <a:xfrm>
            <a:off x="550000" y="3446666"/>
            <a:ext cx="11100000" cy="1250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50000" y="3446666"/>
            <a:ext cx="70000" cy="1250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00000" y="3841666"/>
            <a:ext cx="460000" cy="46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2</a:t>
            </a:r>
          </a:p>
        </p:txBody>
      </p:sp>
      <p:sp>
        <p:nvSpPr>
          <p:cNvPr id="17" name="TextBox 16"/>
          <p:cNvSpPr txBox="1"/>
          <p:nvPr/>
        </p:nvSpPr>
        <p:spPr>
          <a:xfrm>
            <a:off x="1450000" y="3446666"/>
            <a:ext cx="10050000" cy="1250000"/>
          </a:xfrm>
          <a:prstGeom prst="rect">
            <a:avLst/>
          </a:prstGeom>
          <a:noFill/>
        </p:spPr>
        <p:txBody>
          <a:bodyPr wrap="square" anchor="ctr" lIns="50800" rIns="50800">
            <a:spAutoFit/>
          </a:bodyPr>
          <a:lstStyle/>
          <a:p>
            <a:pPr algn="l"/>
            <a:r>
              <a:rPr sz="1600" b="0">
                <a:solidFill>
                  <a:srgbClr val="1B2430"/>
                </a:solidFill>
                <a:latin typeface="Calibri"/>
              </a:rPr>
              <a:t>Jadvaldan ko'rinadiki, «eng kuchli» platforma har doim ham eng mos emas. A100 unumdorlikda ustun, lekin sexda joylashtirish, sovutish va narx bo'yicha talabga mos kelmaydi; Edge TPU juda arzon va tejamkor, lekin 160 inferens/sekund YOLOv8s yuklamasini ko'tara…</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55"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6"/>
                                        </p:tgtEl>
                                        <p:attrNameLst>
                                          <p:attrName>style.visibility</p:attrName>
                                        </p:attrNameLst>
                                      </p:cBhvr>
                                      <p:to>
                                        <p:strVal val="visible"/>
                                      </p:to>
                                    </p:set>
                                    <p:animEffect transition="in" filter="fade">
                                      <p:cBhvr>
                                        <p:cTn id="6" dur="550"/>
                                        <p:tgtEl>
                                          <p:spTgt spid="6"/>
                                        </p:tgtEl>
                                      </p:cBhvr>
                                    </p:animEffect>
                                  </p:childTnLst>
                                </p:cTn>
                              </p:par>
                            </p:childTnLst>
                          </p:cTn>
                        </p:par>
                        <p:par>
                          <p:cTn id="7" fill="hold">
                            <p:stCondLst>
                              <p:cond delay="220"/>
                            </p:stCondLst>
                            <p:childTnLst>
                              <p:par>
                                <p:cTn id="8" presetID="42" presetClass="entr" presetSubtype="0" fill="hold" grpId="0" nodeType="after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fade">
                                      <p:cBhvr>
                                        <p:cTn id="10" dur="550"/>
                                        <p:tgtEl>
                                          <p:spTgt spid="10"/>
                                        </p:tgtEl>
                                      </p:cBhvr>
                                    </p:animEffect>
                                    <p:anim calcmode="lin" valueType="num">
                                      <p:cBhvr additive="base">
                                        <p:cTn id="11" dur="550" fill="hold"/>
                                        <p:tgtEl>
                                          <p:spTgt spid="10"/>
                                        </p:tgtEl>
                                        <p:attrNameLst>
                                          <p:attrName>ppt_x</p:attrName>
                                        </p:attrNameLst>
                                      </p:cBhvr>
                                      <p:tavLst>
                                        <p:tav tm="0">
                                          <p:val>
                                            <p:strVal val="#ppt_x"/>
                                          </p:val>
                                        </p:tav>
                                        <p:tav tm="100000">
                                          <p:val>
                                            <p:strVal val="#ppt_x"/>
                                          </p:val>
                                        </p:tav>
                                      </p:tavLst>
                                    </p:anim>
                                    <p:anim calcmode="lin" valueType="num">
                                      <p:cBhvr additive="base">
                                        <p:cTn id="12" dur="550" fill="hold"/>
                                        <p:tgtEl>
                                          <p:spTgt spid="10"/>
                                        </p:tgtEl>
                                        <p:attrNameLst>
                                          <p:attrName>ppt_y</p:attrName>
                                        </p:attrNameLst>
                                      </p:cBhvr>
                                      <p:tavLst>
                                        <p:tav tm="0">
                                          <p:val>
                                            <p:strVal val="#ppt_y+.08"/>
                                          </p:val>
                                        </p:tav>
                                        <p:tav tm="100000">
                                          <p:val>
                                            <p:strVal val="#ppt_y"/>
                                          </p:val>
                                        </p:tav>
                                      </p:tavLst>
                                    </p:anim>
                                  </p:childTnLst>
                                </p:cTn>
                              </p:par>
                            </p:childTnLst>
                          </p:cTn>
                        </p:par>
                        <p:par>
                          <p:cTn id="13" fill="hold">
                            <p:stCondLst>
                              <p:cond delay="220"/>
                            </p:stCondLst>
                            <p:childTnLst>
                              <p:par>
                                <p:cTn id="14" presetID="42" presetClass="entr" presetSubtype="0" fill="hold" grpId="0" nodeType="afterEffect">
                                  <p:stCondLst>
                                    <p:cond delay="0"/>
                                  </p:stCondLst>
                                  <p:childTnLst>
                                    <p:set>
                                      <p:cBhvr>
                                        <p:cTn id="15" dur="1" fill="hold">
                                          <p:stCondLst>
                                            <p:cond delay="0"/>
                                          </p:stCondLst>
                                        </p:cTn>
                                        <p:tgtEl>
                                          <p:spTgt spid="11"/>
                                        </p:tgtEl>
                                        <p:attrNameLst>
                                          <p:attrName>style.visibility</p:attrName>
                                        </p:attrNameLst>
                                      </p:cBhvr>
                                      <p:to>
                                        <p:strVal val="visible"/>
                                      </p:to>
                                    </p:set>
                                    <p:animEffect transition="in" filter="fade">
                                      <p:cBhvr>
                                        <p:cTn id="16" dur="550"/>
                                        <p:tgtEl>
                                          <p:spTgt spid="11"/>
                                        </p:tgtEl>
                                      </p:cBhvr>
                                    </p:animEffect>
                                    <p:anim calcmode="lin" valueType="num">
                                      <p:cBhvr additive="base">
                                        <p:cTn id="17" dur="550" fill="hold"/>
                                        <p:tgtEl>
                                          <p:spTgt spid="11"/>
                                        </p:tgtEl>
                                        <p:attrNameLst>
                                          <p:attrName>ppt_x</p:attrName>
                                        </p:attrNameLst>
                                      </p:cBhvr>
                                      <p:tavLst>
                                        <p:tav tm="0">
                                          <p:val>
                                            <p:strVal val="#ppt_x"/>
                                          </p:val>
                                        </p:tav>
                                        <p:tav tm="100000">
                                          <p:val>
                                            <p:strVal val="#ppt_x"/>
                                          </p:val>
                                        </p:tav>
                                      </p:tavLst>
                                    </p:anim>
                                    <p:anim calcmode="lin" valueType="num">
                                      <p:cBhvr additive="base">
                                        <p:cTn id="18" dur="550" fill="hold"/>
                                        <p:tgtEl>
                                          <p:spTgt spid="11"/>
                                        </p:tgtEl>
                                        <p:attrNameLst>
                                          <p:attrName>ppt_y</p:attrName>
                                        </p:attrNameLst>
                                      </p:cBhvr>
                                      <p:tavLst>
                                        <p:tav tm="0">
                                          <p:val>
                                            <p:strVal val="#ppt_y+.08"/>
                                          </p:val>
                                        </p:tav>
                                        <p:tav tm="100000">
                                          <p:val>
                                            <p:strVal val="#ppt_y"/>
                                          </p:val>
                                        </p:tav>
                                      </p:tavLst>
                                    </p:anim>
                                  </p:childTnLst>
                                </p:cTn>
                              </p:par>
                            </p:childTnLst>
                          </p:cTn>
                        </p:par>
                        <p:par>
                          <p:cTn id="19" fill="hold">
                            <p:stCondLst>
                              <p:cond delay="220"/>
                            </p:stCondLst>
                            <p:childTnLst>
                              <p:par>
                                <p:cTn id="20" presetID="53" presetClass="entr" presetSubtype="16" fill="hold" grpId="0" nodeType="afterEffect">
                                  <p:stCondLst>
                                    <p:cond delay="0"/>
                                  </p:stCondLst>
                                  <p:childTnLst>
                                    <p:set>
                                      <p:cBhvr>
                                        <p:cTn id="21" dur="1" fill="hold">
                                          <p:stCondLst>
                                            <p:cond delay="0"/>
                                          </p:stCondLst>
                                        </p:cTn>
                                        <p:tgtEl>
                                          <p:spTgt spid="12"/>
                                        </p:tgtEl>
                                        <p:attrNameLst>
                                          <p:attrName>style.visibility</p:attrName>
                                        </p:attrNameLst>
                                      </p:cBhvr>
                                      <p:to>
                                        <p:strVal val="visible"/>
                                      </p:to>
                                    </p:set>
                                    <p:animEffect transition="in" filter="fade">
                                      <p:cBhvr>
                                        <p:cTn id="22" dur="550"/>
                                        <p:tgtEl>
                                          <p:spTgt spid="12"/>
                                        </p:tgtEl>
                                      </p:cBhvr>
                                    </p:animEffect>
                                    <p:anim calcmode="lin" valueType="num">
                                      <p:cBhvr additive="base">
                                        <p:cTn id="23" dur="550" fill="hold"/>
                                        <p:tgtEl>
                                          <p:spTgt spid="12"/>
                                        </p:tgtEl>
                                        <p:attrNameLst>
                                          <p:attrName>ppt_w</p:attrName>
                                        </p:attrNameLst>
                                      </p:cBhvr>
                                      <p:tavLst>
                                        <p:tav tm="0">
                                          <p:val>
                                            <p:strVal val="0"/>
                                          </p:val>
                                        </p:tav>
                                        <p:tav tm="100000">
                                          <p:val>
                                            <p:strVal val="#ppt_w"/>
                                          </p:val>
                                        </p:tav>
                                      </p:tavLst>
                                    </p:anim>
                                    <p:anim calcmode="lin" valueType="num">
                                      <p:cBhvr additive="base">
                                        <p:cTn id="24" dur="550" fill="hold"/>
                                        <p:tgtEl>
                                          <p:spTgt spid="12"/>
                                        </p:tgtEl>
                                        <p:attrNameLst>
                                          <p:attrName>ppt_h</p:attrName>
                                        </p:attrNameLst>
                                      </p:cBhvr>
                                      <p:tavLst>
                                        <p:tav tm="0">
                                          <p:val>
                                            <p:strVal val="0"/>
                                          </p:val>
                                        </p:tav>
                                        <p:tav tm="100000">
                                          <p:val>
                                            <p:strVal val="#ppt_h"/>
                                          </p:val>
                                        </p:tav>
                                      </p:tavLst>
                                    </p:anim>
                                  </p:childTnLst>
                                </p:cTn>
                              </p:par>
                            </p:childTnLst>
                          </p:cTn>
                        </p:par>
                        <p:par>
                          <p:cTn id="25" fill="hold">
                            <p:stCondLst>
                              <p:cond delay="220"/>
                            </p:stCondLst>
                            <p:childTnLst>
                              <p:par>
                                <p:cTn id="26" presetID="42" presetClass="entr" presetSubtype="0" fill="hold" grpId="0" nodeType="afterEffect">
                                  <p:stCondLst>
                                    <p:cond delay="0"/>
                                  </p:stCondLst>
                                  <p:childTnLst>
                                    <p:set>
                                      <p:cBhvr>
                                        <p:cTn id="27" dur="1" fill="hold">
                                          <p:stCondLst>
                                            <p:cond delay="0"/>
                                          </p:stCondLst>
                                        </p:cTn>
                                        <p:tgtEl>
                                          <p:spTgt spid="13"/>
                                        </p:tgtEl>
                                        <p:attrNameLst>
                                          <p:attrName>style.visibility</p:attrName>
                                        </p:attrNameLst>
                                      </p:cBhvr>
                                      <p:to>
                                        <p:strVal val="visible"/>
                                      </p:to>
                                    </p:set>
                                    <p:animEffect transition="in" filter="fade">
                                      <p:cBhvr>
                                        <p:cTn id="28" dur="550"/>
                                        <p:tgtEl>
                                          <p:spTgt spid="13"/>
                                        </p:tgtEl>
                                      </p:cBhvr>
                                    </p:animEffect>
                                    <p:anim calcmode="lin" valueType="num">
                                      <p:cBhvr additive="base">
                                        <p:cTn id="29" dur="550" fill="hold"/>
                                        <p:tgtEl>
                                          <p:spTgt spid="13"/>
                                        </p:tgtEl>
                                        <p:attrNameLst>
                                          <p:attrName>ppt_x</p:attrName>
                                        </p:attrNameLst>
                                      </p:cBhvr>
                                      <p:tavLst>
                                        <p:tav tm="0">
                                          <p:val>
                                            <p:strVal val="#ppt_x"/>
                                          </p:val>
                                        </p:tav>
                                        <p:tav tm="100000">
                                          <p:val>
                                            <p:strVal val="#ppt_x"/>
                                          </p:val>
                                        </p:tav>
                                      </p:tavLst>
                                    </p:anim>
                                    <p:anim calcmode="lin" valueType="num">
                                      <p:cBhvr additive="base">
                                        <p:cTn id="30" dur="550" fill="hold"/>
                                        <p:tgtEl>
                                          <p:spTgt spid="13"/>
                                        </p:tgtEl>
                                        <p:attrNameLst>
                                          <p:attrName>ppt_y</p:attrName>
                                        </p:attrNameLst>
                                      </p:cBhvr>
                                      <p:tavLst>
                                        <p:tav tm="0">
                                          <p:val>
                                            <p:strVal val="#ppt_y+.08"/>
                                          </p:val>
                                        </p:tav>
                                        <p:tav tm="100000">
                                          <p:val>
                                            <p:strVal val="#ppt_y"/>
                                          </p:val>
                                        </p:tav>
                                      </p:tavLst>
                                    </p:anim>
                                  </p:childTnLst>
                                </p:cTn>
                              </p:par>
                            </p:childTnLst>
                          </p:cTn>
                        </p:par>
                        <p:par>
                          <p:cTn id="31" fill="hold">
                            <p:stCondLst>
                              <p:cond delay="440"/>
                            </p:stCondLst>
                            <p:childTnLst>
                              <p:par>
                                <p:cTn id="32" presetID="42" presetClass="entr" presetSubtype="0" fill="hold" grpId="0" nodeType="afterEffect">
                                  <p:stCondLst>
                                    <p:cond delay="0"/>
                                  </p:stCondLst>
                                  <p:childTnLst>
                                    <p:set>
                                      <p:cBhvr>
                                        <p:cTn id="33" dur="1" fill="hold">
                                          <p:stCondLst>
                                            <p:cond delay="0"/>
                                          </p:stCondLst>
                                        </p:cTn>
                                        <p:tgtEl>
                                          <p:spTgt spid="14"/>
                                        </p:tgtEl>
                                        <p:attrNameLst>
                                          <p:attrName>style.visibility</p:attrName>
                                        </p:attrNameLst>
                                      </p:cBhvr>
                                      <p:to>
                                        <p:strVal val="visible"/>
                                      </p:to>
                                    </p:set>
                                    <p:animEffect transition="in" filter="fade">
                                      <p:cBhvr>
                                        <p:cTn id="34" dur="550"/>
                                        <p:tgtEl>
                                          <p:spTgt spid="14"/>
                                        </p:tgtEl>
                                      </p:cBhvr>
                                    </p:animEffect>
                                    <p:anim calcmode="lin" valueType="num">
                                      <p:cBhvr additive="base">
                                        <p:cTn id="35" dur="550" fill="hold"/>
                                        <p:tgtEl>
                                          <p:spTgt spid="14"/>
                                        </p:tgtEl>
                                        <p:attrNameLst>
                                          <p:attrName>ppt_x</p:attrName>
                                        </p:attrNameLst>
                                      </p:cBhvr>
                                      <p:tavLst>
                                        <p:tav tm="0">
                                          <p:val>
                                            <p:strVal val="#ppt_x"/>
                                          </p:val>
                                        </p:tav>
                                        <p:tav tm="100000">
                                          <p:val>
                                            <p:strVal val="#ppt_x"/>
                                          </p:val>
                                        </p:tav>
                                      </p:tavLst>
                                    </p:anim>
                                    <p:anim calcmode="lin" valueType="num">
                                      <p:cBhvr additive="base">
                                        <p:cTn id="36" dur="550" fill="hold"/>
                                        <p:tgtEl>
                                          <p:spTgt spid="14"/>
                                        </p:tgtEl>
                                        <p:attrNameLst>
                                          <p:attrName>ppt_y</p:attrName>
                                        </p:attrNameLst>
                                      </p:cBhvr>
                                      <p:tavLst>
                                        <p:tav tm="0">
                                          <p:val>
                                            <p:strVal val="#ppt_y+.08"/>
                                          </p:val>
                                        </p:tav>
                                        <p:tav tm="100000">
                                          <p:val>
                                            <p:strVal val="#ppt_y"/>
                                          </p:val>
                                        </p:tav>
                                      </p:tavLst>
                                    </p:anim>
                                  </p:childTnLst>
                                </p:cTn>
                              </p:par>
                            </p:childTnLst>
                          </p:cTn>
                        </p:par>
                        <p:par>
                          <p:cTn id="37" fill="hold">
                            <p:stCondLst>
                              <p:cond delay="440"/>
                            </p:stCondLst>
                            <p:childTnLst>
                              <p:par>
                                <p:cTn id="38" presetID="42" presetClass="entr" presetSubtype="0" fill="hold" grpId="0" nodeType="afterEffect">
                                  <p:stCondLst>
                                    <p:cond delay="0"/>
                                  </p:stCondLst>
                                  <p:childTnLst>
                                    <p:set>
                                      <p:cBhvr>
                                        <p:cTn id="39" dur="1" fill="hold">
                                          <p:stCondLst>
                                            <p:cond delay="0"/>
                                          </p:stCondLst>
                                        </p:cTn>
                                        <p:tgtEl>
                                          <p:spTgt spid="15"/>
                                        </p:tgtEl>
                                        <p:attrNameLst>
                                          <p:attrName>style.visibility</p:attrName>
                                        </p:attrNameLst>
                                      </p:cBhvr>
                                      <p:to>
                                        <p:strVal val="visible"/>
                                      </p:to>
                                    </p:set>
                                    <p:animEffect transition="in" filter="fade">
                                      <p:cBhvr>
                                        <p:cTn id="40" dur="550"/>
                                        <p:tgtEl>
                                          <p:spTgt spid="15"/>
                                        </p:tgtEl>
                                      </p:cBhvr>
                                    </p:animEffect>
                                    <p:anim calcmode="lin" valueType="num">
                                      <p:cBhvr additive="base">
                                        <p:cTn id="41" dur="550" fill="hold"/>
                                        <p:tgtEl>
                                          <p:spTgt spid="15"/>
                                        </p:tgtEl>
                                        <p:attrNameLst>
                                          <p:attrName>ppt_x</p:attrName>
                                        </p:attrNameLst>
                                      </p:cBhvr>
                                      <p:tavLst>
                                        <p:tav tm="0">
                                          <p:val>
                                            <p:strVal val="#ppt_x"/>
                                          </p:val>
                                        </p:tav>
                                        <p:tav tm="100000">
                                          <p:val>
                                            <p:strVal val="#ppt_x"/>
                                          </p:val>
                                        </p:tav>
                                      </p:tavLst>
                                    </p:anim>
                                    <p:anim calcmode="lin" valueType="num">
                                      <p:cBhvr additive="base">
                                        <p:cTn id="42" dur="550" fill="hold"/>
                                        <p:tgtEl>
                                          <p:spTgt spid="15"/>
                                        </p:tgtEl>
                                        <p:attrNameLst>
                                          <p:attrName>ppt_y</p:attrName>
                                        </p:attrNameLst>
                                      </p:cBhvr>
                                      <p:tavLst>
                                        <p:tav tm="0">
                                          <p:val>
                                            <p:strVal val="#ppt_y+.08"/>
                                          </p:val>
                                        </p:tav>
                                        <p:tav tm="100000">
                                          <p:val>
                                            <p:strVal val="#ppt_y"/>
                                          </p:val>
                                        </p:tav>
                                      </p:tavLst>
                                    </p:anim>
                                  </p:childTnLst>
                                </p:cTn>
                              </p:par>
                            </p:childTnLst>
                          </p:cTn>
                        </p:par>
                        <p:par>
                          <p:cTn id="43" fill="hold">
                            <p:stCondLst>
                              <p:cond delay="440"/>
                            </p:stCondLst>
                            <p:childTnLst>
                              <p:par>
                                <p:cTn id="44" presetID="53" presetClass="entr" presetSubtype="16" fill="hold" grpId="0" nodeType="afterEffect">
                                  <p:stCondLst>
                                    <p:cond delay="0"/>
                                  </p:stCondLst>
                                  <p:childTnLst>
                                    <p:set>
                                      <p:cBhvr>
                                        <p:cTn id="45" dur="1" fill="hold">
                                          <p:stCondLst>
                                            <p:cond delay="0"/>
                                          </p:stCondLst>
                                        </p:cTn>
                                        <p:tgtEl>
                                          <p:spTgt spid="16"/>
                                        </p:tgtEl>
                                        <p:attrNameLst>
                                          <p:attrName>style.visibility</p:attrName>
                                        </p:attrNameLst>
                                      </p:cBhvr>
                                      <p:to>
                                        <p:strVal val="visible"/>
                                      </p:to>
                                    </p:set>
                                    <p:animEffect transition="in" filter="fade">
                                      <p:cBhvr>
                                        <p:cTn id="46" dur="550"/>
                                        <p:tgtEl>
                                          <p:spTgt spid="16"/>
                                        </p:tgtEl>
                                      </p:cBhvr>
                                    </p:animEffect>
                                    <p:anim calcmode="lin" valueType="num">
                                      <p:cBhvr additive="base">
                                        <p:cTn id="47" dur="550" fill="hold"/>
                                        <p:tgtEl>
                                          <p:spTgt spid="16"/>
                                        </p:tgtEl>
                                        <p:attrNameLst>
                                          <p:attrName>ppt_w</p:attrName>
                                        </p:attrNameLst>
                                      </p:cBhvr>
                                      <p:tavLst>
                                        <p:tav tm="0">
                                          <p:val>
                                            <p:strVal val="0"/>
                                          </p:val>
                                        </p:tav>
                                        <p:tav tm="100000">
                                          <p:val>
                                            <p:strVal val="#ppt_w"/>
                                          </p:val>
                                        </p:tav>
                                      </p:tavLst>
                                    </p:anim>
                                    <p:anim calcmode="lin" valueType="num">
                                      <p:cBhvr additive="base">
                                        <p:cTn id="48" dur="550" fill="hold"/>
                                        <p:tgtEl>
                                          <p:spTgt spid="16"/>
                                        </p:tgtEl>
                                        <p:attrNameLst>
                                          <p:attrName>ppt_h</p:attrName>
                                        </p:attrNameLst>
                                      </p:cBhvr>
                                      <p:tavLst>
                                        <p:tav tm="0">
                                          <p:val>
                                            <p:strVal val="0"/>
                                          </p:val>
                                        </p:tav>
                                        <p:tav tm="100000">
                                          <p:val>
                                            <p:strVal val="#ppt_h"/>
                                          </p:val>
                                        </p:tav>
                                      </p:tavLst>
                                    </p:anim>
                                  </p:childTnLst>
                                </p:cTn>
                              </p:par>
                            </p:childTnLst>
                          </p:cTn>
                        </p:par>
                        <p:par>
                          <p:cTn id="49" fill="hold">
                            <p:stCondLst>
                              <p:cond delay="440"/>
                            </p:stCondLst>
                            <p:childTnLst>
                              <p:par>
                                <p:cTn id="50" presetID="42" presetClass="entr" presetSubtype="0" fill="hold" grpId="0" nodeType="afterEffect">
                                  <p:stCondLst>
                                    <p:cond delay="0"/>
                                  </p:stCondLst>
                                  <p:childTnLst>
                                    <p:set>
                                      <p:cBhvr>
                                        <p:cTn id="51" dur="1" fill="hold">
                                          <p:stCondLst>
                                            <p:cond delay="0"/>
                                          </p:stCondLst>
                                        </p:cTn>
                                        <p:tgtEl>
                                          <p:spTgt spid="17"/>
                                        </p:tgtEl>
                                        <p:attrNameLst>
                                          <p:attrName>style.visibility</p:attrName>
                                        </p:attrNameLst>
                                      </p:cBhvr>
                                      <p:to>
                                        <p:strVal val="visible"/>
                                      </p:to>
                                    </p:set>
                                    <p:animEffect transition="in" filter="fade">
                                      <p:cBhvr>
                                        <p:cTn id="52" dur="550"/>
                                        <p:tgtEl>
                                          <p:spTgt spid="17"/>
                                        </p:tgtEl>
                                      </p:cBhvr>
                                    </p:animEffect>
                                    <p:anim calcmode="lin" valueType="num">
                                      <p:cBhvr additive="base">
                                        <p:cTn id="53" dur="550" fill="hold"/>
                                        <p:tgtEl>
                                          <p:spTgt spid="17"/>
                                        </p:tgtEl>
                                        <p:attrNameLst>
                                          <p:attrName>ppt_x</p:attrName>
                                        </p:attrNameLst>
                                      </p:cBhvr>
                                      <p:tavLst>
                                        <p:tav tm="0">
                                          <p:val>
                                            <p:strVal val="#ppt_x"/>
                                          </p:val>
                                        </p:tav>
                                        <p:tav tm="100000">
                                          <p:val>
                                            <p:strVal val="#ppt_x"/>
                                          </p:val>
                                        </p:tav>
                                      </p:tavLst>
                                    </p:anim>
                                    <p:anim calcmode="lin" valueType="num">
                                      <p:cBhvr additive="base">
                                        <p:cTn id="54" dur="550" fill="hold"/>
                                        <p:tgtEl>
                                          <p:spTgt spid="17"/>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10" grpId="0" animBg="1"/>
      <p:bldP spid="11" grpId="0" animBg="1"/>
      <p:bldP spid="12" grpId="0" animBg="1"/>
      <p:bldP spid="13" grpId="0" animBg="1"/>
      <p:bldP spid="14" grpId="0" animBg="1"/>
      <p:bldP spid="15" grpId="0" animBg="1"/>
      <p:bldP spid="16" grpId="0" animBg="1"/>
      <p:bldP spid="17" grpId="0" animBg="1"/>
    </p:bldLst>
  </p:timing>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110000"/>
            <a:ext cx="10300000" cy="300000"/>
          </a:xfrm>
          <a:prstGeom prst="rect">
            <a:avLst/>
          </a:prstGeom>
          <a:noFill/>
        </p:spPr>
        <p:txBody>
          <a:bodyPr wrap="square" anchor="t" lIns="50800" rIns="50800">
            <a:spAutoFit/>
          </a:bodyPr>
          <a:lstStyle/>
          <a:p>
            <a:pPr algn="l"/>
            <a:r>
              <a:rPr sz="1200" b="1">
                <a:solidFill>
                  <a:srgbClr val="A9C4E6"/>
                </a:solidFill>
                <a:latin typeface="Calibri"/>
              </a:rPr>
              <a:t>NAZARIY ASOSLAR</a:t>
            </a:r>
          </a:p>
        </p:txBody>
      </p:sp>
      <p:sp>
        <p:nvSpPr>
          <p:cNvPr id="6" name="TextBox 5"/>
          <p:cNvSpPr txBox="1"/>
          <p:nvPr/>
        </p:nvSpPr>
        <p:spPr>
          <a:xfrm>
            <a:off x="500000" y="330000"/>
            <a:ext cx="10400000" cy="650000"/>
          </a:xfrm>
          <a:prstGeom prst="rect">
            <a:avLst/>
          </a:prstGeom>
          <a:noFill/>
        </p:spPr>
        <p:txBody>
          <a:bodyPr wrap="square" anchor="ctr" lIns="50800" rIns="50800">
            <a:spAutoFit/>
          </a:bodyPr>
          <a:lstStyle/>
          <a:p>
            <a:pPr algn="l"/>
            <a:r>
              <a:rPr sz="2600" b="1">
                <a:solidFill>
                  <a:srgbClr val="FFFFFF"/>
                </a:solidFill>
                <a:latin typeface="Calibri"/>
              </a:rPr>
              <a:t>Hisoblash platformalarining texnik tavsiflari</a:t>
            </a:r>
          </a:p>
        </p:txBody>
      </p:sp>
      <p:sp>
        <p:nvSpPr>
          <p:cNvPr id="7" name="Rectangle 6"/>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A1 · Sun'iy intellektga asoslangan kompyuter tizimlari arxitekturasini tahlil qilish va loyihalash</a:t>
            </a:r>
          </a:p>
        </p:txBody>
      </p:sp>
      <p:sp>
        <p:nvSpPr>
          <p:cNvPr id="9" name="TextBox 8"/>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14</a:t>
            </a:r>
          </a:p>
        </p:txBody>
      </p:sp>
      <p:graphicFrame>
        <p:nvGraphicFramePr>
          <p:cNvPr id="10" name="Table 9"/>
          <p:cNvGraphicFramePr>
            <a:graphicFrameLocks noGrp="1"/>
          </p:cNvGraphicFramePr>
          <p:nvPr/>
        </p:nvGraphicFramePr>
        <p:xfrm>
          <a:off x="500000" y="1350000"/>
          <a:ext cx="11200000" cy="4680000"/>
        </p:xfrm>
        <a:graphic>
          <a:graphicData uri="http://schemas.openxmlformats.org/drawingml/2006/table">
            <a:tbl>
              <a:tblPr firstRow="1" bandRow="1">
                <a:tableStyleId>{5C22544A-7EE6-4342-B048-85BDC9FD1C3A}</a:tableStyleId>
              </a:tblPr>
              <a:tblGrid>
                <a:gridCol w="2800000"/>
                <a:gridCol w="2800000"/>
                <a:gridCol w="2800000"/>
                <a:gridCol w="2800000"/>
              </a:tblGrid>
              <a:tr h="520000">
                <a:tc>
                  <a:txBody>
                    <a:bodyPr/>
                    <a:lstStyle/>
                    <a:p>
                      <a:r>
                        <a:rPr sz="1200" b="1">
                          <a:solidFill>
                            <a:srgbClr val="FFFFFF"/>
                          </a:solidFill>
                          <a:latin typeface="Calibri"/>
                        </a:rPr>
                        <a:t>Ko'rsatkich</a:t>
                      </a:r>
                    </a:p>
                  </a:txBody>
                  <a:tcPr>
                    <a:solidFill>
                      <a:srgbClr val="2D5C8F"/>
                    </a:solidFill>
                  </a:tcPr>
                </a:tc>
                <a:tc>
                  <a:txBody>
                    <a:bodyPr/>
                    <a:lstStyle/>
                    <a:p>
                      <a:r>
                        <a:rPr sz="1200" b="1">
                          <a:solidFill>
                            <a:srgbClr val="FFFFFF"/>
                          </a:solidFill>
                          <a:latin typeface="Calibri"/>
                        </a:rPr>
                        <a:t>NVIDIA Jetson Orin NX 16 GB</a:t>
                      </a:r>
                    </a:p>
                  </a:txBody>
                  <a:tcPr>
                    <a:solidFill>
                      <a:srgbClr val="2D5C8F"/>
                    </a:solidFill>
                  </a:tcPr>
                </a:tc>
                <a:tc>
                  <a:txBody>
                    <a:bodyPr/>
                    <a:lstStyle/>
                    <a:p>
                      <a:r>
                        <a:rPr sz="1200" b="1">
                          <a:solidFill>
                            <a:srgbClr val="FFFFFF"/>
                          </a:solidFill>
                          <a:latin typeface="Calibri"/>
                        </a:rPr>
                        <a:t>NVIDIA A100 PCIe 80 GB</a:t>
                      </a:r>
                    </a:p>
                  </a:txBody>
                  <a:tcPr>
                    <a:solidFill>
                      <a:srgbClr val="2D5C8F"/>
                    </a:solidFill>
                  </a:tcPr>
                </a:tc>
                <a:tc>
                  <a:txBody>
                    <a:bodyPr/>
                    <a:lstStyle/>
                    <a:p>
                      <a:r>
                        <a:rPr sz="1200" b="1">
                          <a:solidFill>
                            <a:srgbClr val="FFFFFF"/>
                          </a:solidFill>
                          <a:latin typeface="Calibri"/>
                        </a:rPr>
                        <a:t>Google Coral Edge TPU (USB/M.2)</a:t>
                      </a:r>
                    </a:p>
                  </a:txBody>
                  <a:tcPr>
                    <a:solidFill>
                      <a:srgbClr val="2D5C8F"/>
                    </a:solidFill>
                  </a:tcPr>
                </a:tc>
              </a:tr>
              <a:tr h="520000">
                <a:tc>
                  <a:txBody>
                    <a:bodyPr/>
                    <a:lstStyle/>
                    <a:p>
                      <a:r>
                        <a:rPr sz="1200" b="0">
                          <a:solidFill>
                            <a:srgbClr val="1B2430"/>
                          </a:solidFill>
                          <a:latin typeface="Calibri"/>
                        </a:rPr>
                        <a:t>Sinf</a:t>
                      </a:r>
                    </a:p>
                  </a:txBody>
                  <a:tcPr>
                    <a:solidFill>
                      <a:srgbClr val="F1F4F8"/>
                    </a:solidFill>
                  </a:tcPr>
                </a:tc>
                <a:tc>
                  <a:txBody>
                    <a:bodyPr/>
                    <a:lstStyle/>
                    <a:p>
                      <a:r>
                        <a:rPr sz="1200" b="0">
                          <a:solidFill>
                            <a:srgbClr val="1B2430"/>
                          </a:solidFill>
                          <a:latin typeface="Calibri"/>
                        </a:rPr>
                        <a:t>Chekka modul (SoM)</a:t>
                      </a:r>
                    </a:p>
                  </a:txBody>
                  <a:tcPr>
                    <a:solidFill>
                      <a:srgbClr val="F1F4F8"/>
                    </a:solidFill>
                  </a:tcPr>
                </a:tc>
                <a:tc>
                  <a:txBody>
                    <a:bodyPr/>
                    <a:lstStyle/>
                    <a:p>
                      <a:r>
                        <a:rPr sz="1200" b="0">
                          <a:solidFill>
                            <a:srgbClr val="1B2430"/>
                          </a:solidFill>
                          <a:latin typeface="Calibri"/>
                        </a:rPr>
                        <a:t>Ma'lumotlar markazi GPU</a:t>
                      </a:r>
                    </a:p>
                  </a:txBody>
                  <a:tcPr>
                    <a:solidFill>
                      <a:srgbClr val="F1F4F8"/>
                    </a:solidFill>
                  </a:tcPr>
                </a:tc>
                <a:tc>
                  <a:txBody>
                    <a:bodyPr/>
                    <a:lstStyle/>
                    <a:p>
                      <a:r>
                        <a:rPr sz="1200" b="0">
                          <a:solidFill>
                            <a:srgbClr val="1B2430"/>
                          </a:solidFill>
                          <a:latin typeface="Calibri"/>
                        </a:rPr>
                        <a:t>Chekka ASIC</a:t>
                      </a:r>
                    </a:p>
                  </a:txBody>
                  <a:tcPr>
                    <a:solidFill>
                      <a:srgbClr val="F1F4F8"/>
                    </a:solidFill>
                  </a:tcPr>
                </a:tc>
              </a:tr>
              <a:tr h="520000">
                <a:tc>
                  <a:txBody>
                    <a:bodyPr/>
                    <a:lstStyle/>
                    <a:p>
                      <a:r>
                        <a:rPr sz="1200" b="0">
                          <a:solidFill>
                            <a:srgbClr val="1B2430"/>
                          </a:solidFill>
                          <a:latin typeface="Calibri"/>
                        </a:rPr>
                        <a:t>Cho'qqi unumdorlik</a:t>
                      </a:r>
                    </a:p>
                  </a:txBody>
                  <a:tcPr>
                    <a:solidFill>
                      <a:srgbClr val="FFFFFF"/>
                    </a:solidFill>
                  </a:tcPr>
                </a:tc>
                <a:tc>
                  <a:txBody>
                    <a:bodyPr/>
                    <a:lstStyle/>
                    <a:p>
                      <a:r>
                        <a:rPr sz="1200" b="0">
                          <a:solidFill>
                            <a:srgbClr val="1B2430"/>
                          </a:solidFill>
                          <a:latin typeface="Calibri"/>
                        </a:rPr>
                        <a:t>~100 TOPS INT8 (sparse), ~50 TOPS dense</a:t>
                      </a:r>
                    </a:p>
                  </a:txBody>
                  <a:tcPr>
                    <a:solidFill>
                      <a:srgbClr val="FFFFFF"/>
                    </a:solidFill>
                  </a:tcPr>
                </a:tc>
                <a:tc>
                  <a:txBody>
                    <a:bodyPr/>
                    <a:lstStyle/>
                    <a:p>
                      <a:r>
                        <a:rPr sz="1200" b="0">
                          <a:solidFill>
                            <a:srgbClr val="1B2430"/>
                          </a:solidFill>
                          <a:latin typeface="Calibri"/>
                        </a:rPr>
                        <a:t>312 TFLOP/s FP16 dense, 624 TOPS INT8 dense</a:t>
                      </a:r>
                    </a:p>
                  </a:txBody>
                  <a:tcPr>
                    <a:solidFill>
                      <a:srgbClr val="FFFFFF"/>
                    </a:solidFill>
                  </a:tcPr>
                </a:tc>
                <a:tc>
                  <a:txBody>
                    <a:bodyPr/>
                    <a:lstStyle/>
                    <a:p>
                      <a:r>
                        <a:rPr sz="1200" b="0">
                          <a:solidFill>
                            <a:srgbClr val="1B2430"/>
                          </a:solidFill>
                          <a:latin typeface="Calibri"/>
                        </a:rPr>
                        <a:t>4 TOPS INT8</a:t>
                      </a:r>
                    </a:p>
                  </a:txBody>
                  <a:tcPr>
                    <a:solidFill>
                      <a:srgbClr val="FFFFFF"/>
                    </a:solidFill>
                  </a:tcPr>
                </a:tc>
              </a:tr>
              <a:tr h="520000">
                <a:tc>
                  <a:txBody>
                    <a:bodyPr/>
                    <a:lstStyle/>
                    <a:p>
                      <a:r>
                        <a:rPr sz="1200" b="0">
                          <a:solidFill>
                            <a:srgbClr val="1B2430"/>
                          </a:solidFill>
                          <a:latin typeface="Calibri"/>
                        </a:rPr>
                        <a:t>Xotira</a:t>
                      </a:r>
                    </a:p>
                  </a:txBody>
                  <a:tcPr>
                    <a:solidFill>
                      <a:srgbClr val="F1F4F8"/>
                    </a:solidFill>
                  </a:tcPr>
                </a:tc>
                <a:tc>
                  <a:txBody>
                    <a:bodyPr/>
                    <a:lstStyle/>
                    <a:p>
                      <a:r>
                        <a:rPr sz="1200" b="0">
                          <a:solidFill>
                            <a:srgbClr val="1B2430"/>
                          </a:solidFill>
                          <a:latin typeface="Calibri"/>
                        </a:rPr>
                        <a:t>16 GB LPDDR5, 102 GB/s</a:t>
                      </a:r>
                    </a:p>
                  </a:txBody>
                  <a:tcPr>
                    <a:solidFill>
                      <a:srgbClr val="F1F4F8"/>
                    </a:solidFill>
                  </a:tcPr>
                </a:tc>
                <a:tc>
                  <a:txBody>
                    <a:bodyPr/>
                    <a:lstStyle/>
                    <a:p>
                      <a:r>
                        <a:rPr sz="1200" b="0">
                          <a:solidFill>
                            <a:srgbClr val="1B2430"/>
                          </a:solidFill>
                          <a:latin typeface="Calibri"/>
                        </a:rPr>
                        <a:t>80 GB HBM2e, ~1,9 TB/s</a:t>
                      </a:r>
                    </a:p>
                  </a:txBody>
                  <a:tcPr>
                    <a:solidFill>
                      <a:srgbClr val="F1F4F8"/>
                    </a:solidFill>
                  </a:tcPr>
                </a:tc>
                <a:tc>
                  <a:txBody>
                    <a:bodyPr/>
                    <a:lstStyle/>
                    <a:p>
                      <a:r>
                        <a:rPr sz="1200" b="0">
                          <a:solidFill>
                            <a:srgbClr val="1B2430"/>
                          </a:solidFill>
                          <a:latin typeface="Calibri"/>
                        </a:rPr>
                        <a:t>8 MB on-chip SRAM, host DRAM</a:t>
                      </a:r>
                    </a:p>
                  </a:txBody>
                  <a:tcPr>
                    <a:solidFill>
                      <a:srgbClr val="F1F4F8"/>
                    </a:solidFill>
                  </a:tcPr>
                </a:tc>
              </a:tr>
              <a:tr h="520000">
                <a:tc>
                  <a:txBody>
                    <a:bodyPr/>
                    <a:lstStyle/>
                    <a:p>
                      <a:r>
                        <a:rPr sz="1200" b="0">
                          <a:solidFill>
                            <a:srgbClr val="1B2430"/>
                          </a:solidFill>
                          <a:latin typeface="Calibri"/>
                        </a:rPr>
                        <a:t>Quvvat</a:t>
                      </a:r>
                    </a:p>
                  </a:txBody>
                  <a:tcPr>
                    <a:solidFill>
                      <a:srgbClr val="FFFFFF"/>
                    </a:solidFill>
                  </a:tcPr>
                </a:tc>
                <a:tc>
                  <a:txBody>
                    <a:bodyPr/>
                    <a:lstStyle/>
                    <a:p>
                      <a:r>
                        <a:rPr sz="1200" b="0">
                          <a:solidFill>
                            <a:srgbClr val="1B2430"/>
                          </a:solidFill>
                          <a:latin typeface="Calibri"/>
                        </a:rPr>
                        <a:t>10–25 Vt (sozlanadi)</a:t>
                      </a:r>
                    </a:p>
                  </a:txBody>
                  <a:tcPr>
                    <a:solidFill>
                      <a:srgbClr val="FFFFFF"/>
                    </a:solidFill>
                  </a:tcPr>
                </a:tc>
                <a:tc>
                  <a:txBody>
                    <a:bodyPr/>
                    <a:lstStyle/>
                    <a:p>
                      <a:r>
                        <a:rPr sz="1200" b="0">
                          <a:solidFill>
                            <a:srgbClr val="1B2430"/>
                          </a:solidFill>
                          <a:latin typeface="Calibri"/>
                        </a:rPr>
                        <a:t>300 Vt TDP</a:t>
                      </a:r>
                    </a:p>
                  </a:txBody>
                  <a:tcPr>
                    <a:solidFill>
                      <a:srgbClr val="FFFFFF"/>
                    </a:solidFill>
                  </a:tcPr>
                </a:tc>
                <a:tc>
                  <a:txBody>
                    <a:bodyPr/>
                    <a:lstStyle/>
                    <a:p>
                      <a:r>
                        <a:rPr sz="1200" b="0">
                          <a:solidFill>
                            <a:srgbClr val="1B2430"/>
                          </a:solidFill>
                          <a:latin typeface="Calibri"/>
                        </a:rPr>
                        <a:t>~2 Vt</a:t>
                      </a:r>
                    </a:p>
                  </a:txBody>
                  <a:tcPr>
                    <a:solidFill>
                      <a:srgbClr val="FFFFFF"/>
                    </a:solidFill>
                  </a:tcPr>
                </a:tc>
              </a:tr>
              <a:tr h="520000">
                <a:tc>
                  <a:txBody>
                    <a:bodyPr/>
                    <a:lstStyle/>
                    <a:p>
                      <a:r>
                        <a:rPr sz="1200" b="0">
                          <a:solidFill>
                            <a:srgbClr val="1B2430"/>
                          </a:solidFill>
                          <a:latin typeface="Calibri"/>
                        </a:rPr>
                        <a:t>Energiya samaradorligi</a:t>
                      </a:r>
                    </a:p>
                  </a:txBody>
                  <a:tcPr>
                    <a:solidFill>
                      <a:srgbClr val="F1F4F8"/>
                    </a:solidFill>
                  </a:tcPr>
                </a:tc>
                <a:tc>
                  <a:txBody>
                    <a:bodyPr/>
                    <a:lstStyle/>
                    <a:p>
                      <a:r>
                        <a:rPr sz="1200" b="0">
                          <a:solidFill>
                            <a:srgbClr val="1B2430"/>
                          </a:solidFill>
                          <a:latin typeface="Calibri"/>
                        </a:rPr>
                        <a:t>~4 TOPS/W (INT8 dense)</a:t>
                      </a:r>
                    </a:p>
                  </a:txBody>
                  <a:tcPr>
                    <a:solidFill>
                      <a:srgbClr val="F1F4F8"/>
                    </a:solidFill>
                  </a:tcPr>
                </a:tc>
                <a:tc>
                  <a:txBody>
                    <a:bodyPr/>
                    <a:lstStyle/>
                    <a:p>
                      <a:r>
                        <a:rPr sz="1200" b="0">
                          <a:solidFill>
                            <a:srgbClr val="1B2430"/>
                          </a:solidFill>
                          <a:latin typeface="Calibri"/>
                        </a:rPr>
                        <a:t>~2 TOPS/W (INT8 dense)</a:t>
                      </a:r>
                    </a:p>
                  </a:txBody>
                  <a:tcPr>
                    <a:solidFill>
                      <a:srgbClr val="F1F4F8"/>
                    </a:solidFill>
                  </a:tcPr>
                </a:tc>
                <a:tc>
                  <a:txBody>
                    <a:bodyPr/>
                    <a:lstStyle/>
                    <a:p>
                      <a:r>
                        <a:rPr sz="1200" b="0">
                          <a:solidFill>
                            <a:srgbClr val="1B2430"/>
                          </a:solidFill>
                          <a:latin typeface="Calibri"/>
                        </a:rPr>
                        <a:t>~2 TOPS/W</a:t>
                      </a:r>
                    </a:p>
                  </a:txBody>
                  <a:tcPr>
                    <a:solidFill>
                      <a:srgbClr val="F1F4F8"/>
                    </a:solidFill>
                  </a:tcPr>
                </a:tc>
              </a:tr>
              <a:tr h="520000">
                <a:tc>
                  <a:txBody>
                    <a:bodyPr/>
                    <a:lstStyle/>
                    <a:p>
                      <a:r>
                        <a:rPr sz="1200" b="0">
                          <a:solidFill>
                            <a:srgbClr val="1B2430"/>
                          </a:solidFill>
                          <a:latin typeface="Calibri"/>
                        </a:rPr>
                        <a:t>Qo'llab-quvvatlanadigan formatlar</a:t>
                      </a:r>
                    </a:p>
                  </a:txBody>
                  <a:tcPr>
                    <a:solidFill>
                      <a:srgbClr val="FFFFFF"/>
                    </a:solidFill>
                  </a:tcPr>
                </a:tc>
                <a:tc>
                  <a:txBody>
                    <a:bodyPr/>
                    <a:lstStyle/>
                    <a:p>
                      <a:r>
                        <a:rPr sz="1200" b="0">
                          <a:solidFill>
                            <a:srgbClr val="1B2430"/>
                          </a:solidFill>
                          <a:latin typeface="Calibri"/>
                        </a:rPr>
                        <a:t>FP32, FP16, INT8, (TF32 Ampere)</a:t>
                      </a:r>
                    </a:p>
                  </a:txBody>
                  <a:tcPr>
                    <a:solidFill>
                      <a:srgbClr val="FFFFFF"/>
                    </a:solidFill>
                  </a:tcPr>
                </a:tc>
                <a:tc>
                  <a:txBody>
                    <a:bodyPr/>
                    <a:lstStyle/>
                    <a:p>
                      <a:r>
                        <a:rPr sz="1200" b="0">
                          <a:solidFill>
                            <a:srgbClr val="1B2430"/>
                          </a:solidFill>
                          <a:latin typeface="Calibri"/>
                        </a:rPr>
                        <a:t>FP64, TF32, FP16, BF16, INT8</a:t>
                      </a:r>
                    </a:p>
                  </a:txBody>
                  <a:tcPr>
                    <a:solidFill>
                      <a:srgbClr val="FFFFFF"/>
                    </a:solidFill>
                  </a:tcPr>
                </a:tc>
                <a:tc>
                  <a:txBody>
                    <a:bodyPr/>
                    <a:lstStyle/>
                    <a:p>
                      <a:r>
                        <a:rPr sz="1200" b="0">
                          <a:solidFill>
                            <a:srgbClr val="1B2430"/>
                          </a:solidFill>
                          <a:latin typeface="Calibri"/>
                        </a:rPr>
                        <a:t>faqat INT8 (to'liq kvantlangan TFLite)</a:t>
                      </a:r>
                    </a:p>
                  </a:txBody>
                  <a:tcPr>
                    <a:solidFill>
                      <a:srgbClr val="FFFFFF"/>
                    </a:solidFill>
                  </a:tcPr>
                </a:tc>
              </a:tr>
              <a:tr h="520000">
                <a:tc>
                  <a:txBody>
                    <a:bodyPr/>
                    <a:lstStyle/>
                    <a:p>
                      <a:r>
                        <a:rPr sz="1200" b="0">
                          <a:solidFill>
                            <a:srgbClr val="1B2430"/>
                          </a:solidFill>
                          <a:latin typeface="Calibri"/>
                        </a:rPr>
                        <a:t>Dasturiy stek</a:t>
                      </a:r>
                    </a:p>
                  </a:txBody>
                  <a:tcPr>
                    <a:solidFill>
                      <a:srgbClr val="F1F4F8"/>
                    </a:solidFill>
                  </a:tcPr>
                </a:tc>
                <a:tc>
                  <a:txBody>
                    <a:bodyPr/>
                    <a:lstStyle/>
                    <a:p>
                      <a:r>
                        <a:rPr sz="1200" b="0">
                          <a:solidFill>
                            <a:srgbClr val="1B2430"/>
                          </a:solidFill>
                          <a:latin typeface="Calibri"/>
                        </a:rPr>
                        <a:t>JetPack, CUDA, TensorRT, DeepStream</a:t>
                      </a:r>
                    </a:p>
                  </a:txBody>
                  <a:tcPr>
                    <a:solidFill>
                      <a:srgbClr val="F1F4F8"/>
                    </a:solidFill>
                  </a:tcPr>
                </a:tc>
                <a:tc>
                  <a:txBody>
                    <a:bodyPr/>
                    <a:lstStyle/>
                    <a:p>
                      <a:r>
                        <a:rPr sz="1200" b="0">
                          <a:solidFill>
                            <a:srgbClr val="1B2430"/>
                          </a:solidFill>
                          <a:latin typeface="Calibri"/>
                        </a:rPr>
                        <a:t>CUDA, TensorRT, Triton</a:t>
                      </a:r>
                    </a:p>
                  </a:txBody>
                  <a:tcPr>
                    <a:solidFill>
                      <a:srgbClr val="F1F4F8"/>
                    </a:solidFill>
                  </a:tcPr>
                </a:tc>
                <a:tc>
                  <a:txBody>
                    <a:bodyPr/>
                    <a:lstStyle/>
                    <a:p>
                      <a:r>
                        <a:rPr sz="1200" b="0">
                          <a:solidFill>
                            <a:srgbClr val="1B2430"/>
                          </a:solidFill>
                          <a:latin typeface="Calibri"/>
                        </a:rPr>
                        <a:t>TFLite, libedgetpu, PyCoral</a:t>
                      </a:r>
                    </a:p>
                  </a:txBody>
                  <a:tcPr>
                    <a:solidFill>
                      <a:srgbClr val="F1F4F8"/>
                    </a:solidFill>
                  </a:tcPr>
                </a:tc>
              </a:tr>
              <a:tr h="520000">
                <a:tc>
                  <a:txBody>
                    <a:bodyPr/>
                    <a:lstStyle/>
                    <a:p>
                      <a:r>
                        <a:rPr sz="1200" b="0">
                          <a:solidFill>
                            <a:srgbClr val="1B2430"/>
                          </a:solidFill>
                          <a:latin typeface="Calibri"/>
                        </a:rPr>
                        <a:t>Video dekodlash</a:t>
                      </a:r>
                    </a:p>
                  </a:txBody>
                  <a:tcPr>
                    <a:solidFill>
                      <a:srgbClr val="FFFFFF"/>
                    </a:solidFill>
                  </a:tcPr>
                </a:tc>
                <a:tc>
                  <a:txBody>
                    <a:bodyPr/>
                    <a:lstStyle/>
                    <a:p>
                      <a:r>
                        <a:rPr sz="1200" b="0">
                          <a:solidFill>
                            <a:srgbClr val="1B2430"/>
                          </a:solidFill>
                          <a:latin typeface="Calibri"/>
                        </a:rPr>
                        <a:t>Apparat NVDEC (bir nechta 1080p30 oqim)</a:t>
                      </a:r>
                    </a:p>
                  </a:txBody>
                  <a:tcPr>
                    <a:solidFill>
                      <a:srgbClr val="FFFFFF"/>
                    </a:solidFill>
                  </a:tcPr>
                </a:tc>
                <a:tc>
                  <a:txBody>
                    <a:bodyPr/>
                    <a:lstStyle/>
                    <a:p>
                      <a:r>
                        <a:rPr sz="1200" b="0">
                          <a:solidFill>
                            <a:srgbClr val="1B2430"/>
                          </a:solidFill>
                          <a:latin typeface="Calibri"/>
                        </a:rPr>
                        <a:t>NVDEC (5 ta)</a:t>
                      </a:r>
                    </a:p>
                  </a:txBody>
                  <a:tcPr>
                    <a:solidFill>
                      <a:srgbClr val="FFFFFF"/>
                    </a:solidFill>
                  </a:tcPr>
                </a:tc>
                <a:tc>
                  <a:txBody>
                    <a:bodyPr/>
                    <a:lstStyle/>
                    <a:p>
                      <a:r>
                        <a:rPr sz="1200" b="0">
                          <a:solidFill>
                            <a:srgbClr val="1B2430"/>
                          </a:solidFill>
                          <a:latin typeface="Calibri"/>
                        </a:rPr>
                        <a:t>Yo'q (host CPU)</a:t>
                      </a:r>
                    </a:p>
                  </a:txBody>
                  <a:tcPr>
                    <a:solidFill>
                      <a:srgbClr val="FFFFFF"/>
                    </a:solidFill>
                  </a:tcPr>
                </a:tc>
              </a:tr>
            </a:tbl>
          </a:graphicData>
        </a:graphic>
      </p:graphicFrame>
    </p:spTree>
  </p:cSld>
  <p:clrMapOvr>
    <a:masterClrMapping/>
  </p:clrMapOvr>
  <p:transition spd="med">
    <p:fade/>
  </p:transition>
  <p:timing>
    <p:tnLst>
      <p:par>
        <p:cTn id="1" dur="indefinite" restart="never" nodeType="tmRoot">
          <p:childTnLst>
            <p:seq concurrent="1" nextAc="seek">
              <p:cTn id="2" dur="indefinite" nodeType="mainSeq">
                <p:childTnLst>
                  <p:par>
                    <p:cTn id="12"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6"/>
                                        </p:tgtEl>
                                        <p:attrNameLst>
                                          <p:attrName>style.visibility</p:attrName>
                                        </p:attrNameLst>
                                      </p:cBhvr>
                                      <p:to>
                                        <p:strVal val="visible"/>
                                      </p:to>
                                    </p:set>
                                    <p:animEffect transition="in" filter="fade">
                                      <p:cBhvr>
                                        <p:cTn id="6" dur="550"/>
                                        <p:tgtEl>
                                          <p:spTgt spid="6"/>
                                        </p:tgtEl>
                                      </p:cBhvr>
                                    </p:animEffect>
                                  </p:childTnLst>
                                </p:cTn>
                              </p:par>
                            </p:childTnLst>
                          </p:cTn>
                        </p:par>
                        <p:par>
                          <p:cTn id="7" fill="hold">
                            <p:stCondLst>
                              <p:cond delay="200"/>
                            </p:stCondLst>
                            <p:childTnLst>
                              <p:par>
                                <p:cTn id="8" presetID="22" presetClass="entr" presetSubtype="8" fill="hold" grpId="0" nodeType="after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wipe(left)">
                                      <p:cBhvr>
                                        <p:cTn id="11" dur="80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Lst>
  </p:timing>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110000"/>
            <a:ext cx="10300000" cy="300000"/>
          </a:xfrm>
          <a:prstGeom prst="rect">
            <a:avLst/>
          </a:prstGeom>
          <a:noFill/>
        </p:spPr>
        <p:txBody>
          <a:bodyPr wrap="square" anchor="t" lIns="50800" rIns="50800">
            <a:spAutoFit/>
          </a:bodyPr>
          <a:lstStyle/>
          <a:p>
            <a:pPr algn="l"/>
            <a:r>
              <a:rPr sz="1200" b="1">
                <a:solidFill>
                  <a:srgbClr val="A9C4E6"/>
                </a:solidFill>
                <a:latin typeface="Calibri"/>
              </a:rPr>
              <a:t>NAZARIY ASOSLAR</a:t>
            </a:r>
          </a:p>
        </p:txBody>
      </p:sp>
      <p:sp>
        <p:nvSpPr>
          <p:cNvPr id="6" name="TextBox 5"/>
          <p:cNvSpPr txBox="1"/>
          <p:nvPr/>
        </p:nvSpPr>
        <p:spPr>
          <a:xfrm>
            <a:off x="500000" y="330000"/>
            <a:ext cx="10400000" cy="650000"/>
          </a:xfrm>
          <a:prstGeom prst="rect">
            <a:avLst/>
          </a:prstGeom>
          <a:noFill/>
        </p:spPr>
        <p:txBody>
          <a:bodyPr wrap="square" anchor="ctr" lIns="50800" rIns="50800">
            <a:spAutoFit/>
          </a:bodyPr>
          <a:lstStyle/>
          <a:p>
            <a:pPr algn="l"/>
            <a:r>
              <a:rPr sz="2600" b="1">
                <a:solidFill>
                  <a:srgbClr val="FFFFFF"/>
                </a:solidFill>
                <a:latin typeface="Calibri"/>
              </a:rPr>
              <a:t>Hisoblash platformalarining texnik tavsiflari (davomi)</a:t>
            </a:r>
          </a:p>
        </p:txBody>
      </p:sp>
      <p:sp>
        <p:nvSpPr>
          <p:cNvPr id="7" name="Rectangle 6"/>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A1 · Sun'iy intellektga asoslangan kompyuter tizimlari arxitekturasini tahlil qilish va loyihalash</a:t>
            </a:r>
          </a:p>
        </p:txBody>
      </p:sp>
      <p:sp>
        <p:nvSpPr>
          <p:cNvPr id="9" name="TextBox 8"/>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15</a:t>
            </a:r>
          </a:p>
        </p:txBody>
      </p:sp>
      <p:graphicFrame>
        <p:nvGraphicFramePr>
          <p:cNvPr id="10" name="Table 9"/>
          <p:cNvGraphicFramePr>
            <a:graphicFrameLocks noGrp="1"/>
          </p:cNvGraphicFramePr>
          <p:nvPr/>
        </p:nvGraphicFramePr>
        <p:xfrm>
          <a:off x="500000" y="1350000"/>
          <a:ext cx="11200000" cy="1560000"/>
        </p:xfrm>
        <a:graphic>
          <a:graphicData uri="http://schemas.openxmlformats.org/drawingml/2006/table">
            <a:tbl>
              <a:tblPr firstRow="1" bandRow="1">
                <a:tableStyleId>{5C22544A-7EE6-4342-B048-85BDC9FD1C3A}</a:tableStyleId>
              </a:tblPr>
              <a:tblGrid>
                <a:gridCol w="2800000"/>
                <a:gridCol w="2800000"/>
                <a:gridCol w="2800000"/>
                <a:gridCol w="2800000"/>
              </a:tblGrid>
              <a:tr h="520000">
                <a:tc>
                  <a:txBody>
                    <a:bodyPr/>
                    <a:lstStyle/>
                    <a:p>
                      <a:r>
                        <a:rPr sz="1200" b="1">
                          <a:solidFill>
                            <a:srgbClr val="FFFFFF"/>
                          </a:solidFill>
                          <a:latin typeface="Calibri"/>
                        </a:rPr>
                        <a:t>Ko'rsatkich</a:t>
                      </a:r>
                    </a:p>
                  </a:txBody>
                  <a:tcPr>
                    <a:solidFill>
                      <a:srgbClr val="2D5C8F"/>
                    </a:solidFill>
                  </a:tcPr>
                </a:tc>
                <a:tc>
                  <a:txBody>
                    <a:bodyPr/>
                    <a:lstStyle/>
                    <a:p>
                      <a:r>
                        <a:rPr sz="1200" b="1">
                          <a:solidFill>
                            <a:srgbClr val="FFFFFF"/>
                          </a:solidFill>
                          <a:latin typeface="Calibri"/>
                        </a:rPr>
                        <a:t>NVIDIA Jetson Orin NX 16 GB</a:t>
                      </a:r>
                    </a:p>
                  </a:txBody>
                  <a:tcPr>
                    <a:solidFill>
                      <a:srgbClr val="2D5C8F"/>
                    </a:solidFill>
                  </a:tcPr>
                </a:tc>
                <a:tc>
                  <a:txBody>
                    <a:bodyPr/>
                    <a:lstStyle/>
                    <a:p>
                      <a:r>
                        <a:rPr sz="1200" b="1">
                          <a:solidFill>
                            <a:srgbClr val="FFFFFF"/>
                          </a:solidFill>
                          <a:latin typeface="Calibri"/>
                        </a:rPr>
                        <a:t>NVIDIA A100 PCIe 80 GB</a:t>
                      </a:r>
                    </a:p>
                  </a:txBody>
                  <a:tcPr>
                    <a:solidFill>
                      <a:srgbClr val="2D5C8F"/>
                    </a:solidFill>
                  </a:tcPr>
                </a:tc>
                <a:tc>
                  <a:txBody>
                    <a:bodyPr/>
                    <a:lstStyle/>
                    <a:p>
                      <a:r>
                        <a:rPr sz="1200" b="1">
                          <a:solidFill>
                            <a:srgbClr val="FFFFFF"/>
                          </a:solidFill>
                          <a:latin typeface="Calibri"/>
                        </a:rPr>
                        <a:t>Google Coral Edge TPU (USB/M.2)</a:t>
                      </a:r>
                    </a:p>
                  </a:txBody>
                  <a:tcPr>
                    <a:solidFill>
                      <a:srgbClr val="2D5C8F"/>
                    </a:solidFill>
                  </a:tcPr>
                </a:tc>
              </a:tr>
              <a:tr h="520000">
                <a:tc>
                  <a:txBody>
                    <a:bodyPr/>
                    <a:lstStyle/>
                    <a:p>
                      <a:r>
                        <a:rPr sz="1200" b="0">
                          <a:solidFill>
                            <a:srgbClr val="1B2430"/>
                          </a:solidFill>
                          <a:latin typeface="Calibri"/>
                        </a:rPr>
                        <a:t>Taxminiy narx</a:t>
                      </a:r>
                    </a:p>
                  </a:txBody>
                  <a:tcPr>
                    <a:solidFill>
                      <a:srgbClr val="F1F4F8"/>
                    </a:solidFill>
                  </a:tcPr>
                </a:tc>
                <a:tc>
                  <a:txBody>
                    <a:bodyPr/>
                    <a:lstStyle/>
                    <a:p>
                      <a:r>
                        <a:rPr sz="1200" b="0">
                          <a:solidFill>
                            <a:srgbClr val="1B2430"/>
                          </a:solidFill>
                          <a:latin typeface="Calibri"/>
                        </a:rPr>
                        <a:t>500–700 AQSh dollari (modul + plata)</a:t>
                      </a:r>
                    </a:p>
                  </a:txBody>
                  <a:tcPr>
                    <a:solidFill>
                      <a:srgbClr val="F1F4F8"/>
                    </a:solidFill>
                  </a:tcPr>
                </a:tc>
                <a:tc>
                  <a:txBody>
                    <a:bodyPr/>
                    <a:lstStyle/>
                    <a:p>
                      <a:r>
                        <a:rPr sz="1200" b="0">
                          <a:solidFill>
                            <a:srgbClr val="1B2430"/>
                          </a:solidFill>
                          <a:latin typeface="Calibri"/>
                        </a:rPr>
                        <a:t>10 000+ AQSh dollari</a:t>
                      </a:r>
                    </a:p>
                  </a:txBody>
                  <a:tcPr>
                    <a:solidFill>
                      <a:srgbClr val="F1F4F8"/>
                    </a:solidFill>
                  </a:tcPr>
                </a:tc>
                <a:tc>
                  <a:txBody>
                    <a:bodyPr/>
                    <a:lstStyle/>
                    <a:p>
                      <a:r>
                        <a:rPr sz="1200" b="0">
                          <a:solidFill>
                            <a:srgbClr val="1B2430"/>
                          </a:solidFill>
                          <a:latin typeface="Calibri"/>
                        </a:rPr>
                        <a:t>60–100 AQSh dollari</a:t>
                      </a:r>
                    </a:p>
                  </a:txBody>
                  <a:tcPr>
                    <a:solidFill>
                      <a:srgbClr val="F1F4F8"/>
                    </a:solidFill>
                  </a:tcPr>
                </a:tc>
              </a:tr>
              <a:tr h="520000">
                <a:tc>
                  <a:txBody>
                    <a:bodyPr/>
                    <a:lstStyle/>
                    <a:p>
                      <a:r>
                        <a:rPr sz="1200" b="0">
                          <a:solidFill>
                            <a:srgbClr val="1B2430"/>
                          </a:solidFill>
                          <a:latin typeface="Calibri"/>
                        </a:rPr>
                        <a:t>Ish harorati</a:t>
                      </a:r>
                    </a:p>
                  </a:txBody>
                  <a:tcPr>
                    <a:solidFill>
                      <a:srgbClr val="FFFFFF"/>
                    </a:solidFill>
                  </a:tcPr>
                </a:tc>
                <a:tc>
                  <a:txBody>
                    <a:bodyPr/>
                    <a:lstStyle/>
                    <a:p>
                      <a:r>
                        <a:rPr sz="1200" b="0">
                          <a:solidFill>
                            <a:srgbClr val="1B2430"/>
                          </a:solidFill>
                          <a:latin typeface="Calibri"/>
                        </a:rPr>
                        <a:t>−25…+80 °C (sanoat variantlari)</a:t>
                      </a:r>
                    </a:p>
                  </a:txBody>
                  <a:tcPr>
                    <a:solidFill>
                      <a:srgbClr val="FFFFFF"/>
                    </a:solidFill>
                  </a:tcPr>
                </a:tc>
                <a:tc>
                  <a:txBody>
                    <a:bodyPr/>
                    <a:lstStyle/>
                    <a:p>
                      <a:r>
                        <a:rPr sz="1200" b="0">
                          <a:solidFill>
                            <a:srgbClr val="1B2430"/>
                          </a:solidFill>
                          <a:latin typeface="Calibri"/>
                        </a:rPr>
                        <a:t>Ma'lumotlar markazi muhiti</a:t>
                      </a:r>
                    </a:p>
                  </a:txBody>
                  <a:tcPr>
                    <a:solidFill>
                      <a:srgbClr val="FFFFFF"/>
                    </a:solidFill>
                  </a:tcPr>
                </a:tc>
                <a:tc>
                  <a:txBody>
                    <a:bodyPr/>
                    <a:lstStyle/>
                    <a:p>
                      <a:r>
                        <a:rPr sz="1200" b="0">
                          <a:solidFill>
                            <a:srgbClr val="1B2430"/>
                          </a:solidFill>
                          <a:latin typeface="Calibri"/>
                        </a:rPr>
                        <a:t>0…+70 °C (sanoat: kengroq)</a:t>
                      </a:r>
                    </a:p>
                  </a:txBody>
                  <a:tcPr>
                    <a:solidFill>
                      <a:srgbClr val="FFFFFF"/>
                    </a:solidFill>
                  </a:tcPr>
                </a:tc>
              </a:tr>
            </a:tbl>
          </a:graphicData>
        </a:graphic>
      </p:graphicFrame>
    </p:spTree>
  </p:cSld>
  <p:clrMapOvr>
    <a:masterClrMapping/>
  </p:clrMapOvr>
  <p:transition spd="med">
    <p:fade/>
  </p:transition>
  <p:timing>
    <p:tnLst>
      <p:par>
        <p:cTn id="1" dur="indefinite" restart="never" nodeType="tmRoot">
          <p:childTnLst>
            <p:seq concurrent="1" nextAc="seek">
              <p:cTn id="2" dur="indefinite" nodeType="mainSeq">
                <p:childTnLst>
                  <p:par>
                    <p:cTn id="12"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6"/>
                                        </p:tgtEl>
                                        <p:attrNameLst>
                                          <p:attrName>style.visibility</p:attrName>
                                        </p:attrNameLst>
                                      </p:cBhvr>
                                      <p:to>
                                        <p:strVal val="visible"/>
                                      </p:to>
                                    </p:set>
                                    <p:animEffect transition="in" filter="fade">
                                      <p:cBhvr>
                                        <p:cTn id="6" dur="550"/>
                                        <p:tgtEl>
                                          <p:spTgt spid="6"/>
                                        </p:tgtEl>
                                      </p:cBhvr>
                                    </p:animEffect>
                                  </p:childTnLst>
                                </p:cTn>
                              </p:par>
                            </p:childTnLst>
                          </p:cTn>
                        </p:par>
                        <p:par>
                          <p:cTn id="7" fill="hold">
                            <p:stCondLst>
                              <p:cond delay="200"/>
                            </p:stCondLst>
                            <p:childTnLst>
                              <p:par>
                                <p:cTn id="8" presetID="22" presetClass="entr" presetSubtype="8" fill="hold" grpId="0" nodeType="after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wipe(left)">
                                      <p:cBhvr>
                                        <p:cTn id="11" dur="80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Lst>
  </p:timing>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110000"/>
            <a:ext cx="10300000" cy="300000"/>
          </a:xfrm>
          <a:prstGeom prst="rect">
            <a:avLst/>
          </a:prstGeom>
          <a:noFill/>
        </p:spPr>
        <p:txBody>
          <a:bodyPr wrap="square" anchor="t" lIns="50800" rIns="50800">
            <a:spAutoFit/>
          </a:bodyPr>
          <a:lstStyle/>
          <a:p>
            <a:pPr algn="l"/>
            <a:r>
              <a:rPr sz="1200" b="1">
                <a:solidFill>
                  <a:srgbClr val="A9C4E6"/>
                </a:solidFill>
                <a:latin typeface="Calibri"/>
              </a:rPr>
              <a:t>NAZARIY ASOSLAR</a:t>
            </a:r>
          </a:p>
        </p:txBody>
      </p:sp>
      <p:sp>
        <p:nvSpPr>
          <p:cNvPr id="6" name="TextBox 5"/>
          <p:cNvSpPr txBox="1"/>
          <p:nvPr/>
        </p:nvSpPr>
        <p:spPr>
          <a:xfrm>
            <a:off x="500000" y="330000"/>
            <a:ext cx="10400000" cy="650000"/>
          </a:xfrm>
          <a:prstGeom prst="rect">
            <a:avLst/>
          </a:prstGeom>
          <a:noFill/>
        </p:spPr>
        <p:txBody>
          <a:bodyPr wrap="square" anchor="ctr" lIns="50800" rIns="50800">
            <a:spAutoFit/>
          </a:bodyPr>
          <a:lstStyle/>
          <a:p>
            <a:pPr algn="l"/>
            <a:r>
              <a:rPr sz="2600" b="1">
                <a:solidFill>
                  <a:srgbClr val="FFFFFF"/>
                </a:solidFill>
                <a:latin typeface="Calibri"/>
              </a:rPr>
              <a:t>Strukturaviy sxema va interfeyslar</a:t>
            </a:r>
          </a:p>
        </p:txBody>
      </p:sp>
      <p:sp>
        <p:nvSpPr>
          <p:cNvPr id="7" name="Rectangle 6"/>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A1 · Sun'iy intellektga asoslangan kompyuter tizimlari arxitekturasini tahlil qilish va loyihalash</a:t>
            </a:r>
          </a:p>
        </p:txBody>
      </p:sp>
      <p:sp>
        <p:nvSpPr>
          <p:cNvPr id="9" name="TextBox 8"/>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16</a:t>
            </a:r>
          </a:p>
        </p:txBody>
      </p:sp>
      <p:sp>
        <p:nvSpPr>
          <p:cNvPr id="10" name="Rounded Rectangle 9"/>
          <p:cNvSpPr/>
          <p:nvPr/>
        </p:nvSpPr>
        <p:spPr>
          <a:xfrm>
            <a:off x="550000" y="2533333"/>
            <a:ext cx="11100000" cy="1250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50000" y="2533333"/>
            <a:ext cx="70000" cy="1250000"/>
          </a:xfrm>
          <a:prstGeom prst="rect">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800000" y="2928333"/>
            <a:ext cx="460000" cy="460000"/>
          </a:xfrm>
          <a:prstGeom prst="ellipse">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1</a:t>
            </a:r>
          </a:p>
        </p:txBody>
      </p:sp>
      <p:sp>
        <p:nvSpPr>
          <p:cNvPr id="13" name="TextBox 12"/>
          <p:cNvSpPr txBox="1"/>
          <p:nvPr/>
        </p:nvSpPr>
        <p:spPr>
          <a:xfrm>
            <a:off x="1450000" y="2533333"/>
            <a:ext cx="10050000" cy="1250000"/>
          </a:xfrm>
          <a:prstGeom prst="rect">
            <a:avLst/>
          </a:prstGeom>
          <a:noFill/>
        </p:spPr>
        <p:txBody>
          <a:bodyPr wrap="square" anchor="ctr" lIns="50800" rIns="50800">
            <a:spAutoFit/>
          </a:bodyPr>
          <a:lstStyle/>
          <a:p>
            <a:pPr algn="l"/>
            <a:r>
              <a:rPr sz="1600" b="0">
                <a:solidFill>
                  <a:srgbClr val="1B2430"/>
                </a:solidFill>
                <a:latin typeface="Calibri"/>
              </a:rPr>
              <a:t>Strukturaviy sxema — tizimning asosiy bloklari va ular orasidagi ma'lumot/boshqaruv oqimlarining tavsifi. AI tizimi uchun odatiy bloklar: kirish manbalari (IP-kameralar, RTSP), tarmoq kommutatori, ingest/dekodlash bloki, oldindan ishlov berish (resize,…</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1"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6"/>
                                        </p:tgtEl>
                                        <p:attrNameLst>
                                          <p:attrName>style.visibility</p:attrName>
                                        </p:attrNameLst>
                                      </p:cBhvr>
                                      <p:to>
                                        <p:strVal val="visible"/>
                                      </p:to>
                                    </p:set>
                                    <p:animEffect transition="in" filter="fade">
                                      <p:cBhvr>
                                        <p:cTn id="6" dur="550"/>
                                        <p:tgtEl>
                                          <p:spTgt spid="6"/>
                                        </p:tgtEl>
                                      </p:cBhvr>
                                    </p:animEffect>
                                  </p:childTnLst>
                                </p:cTn>
                              </p:par>
                            </p:childTnLst>
                          </p:cTn>
                        </p:par>
                        <p:par>
                          <p:cTn id="7" fill="hold">
                            <p:stCondLst>
                              <p:cond delay="220"/>
                            </p:stCondLst>
                            <p:childTnLst>
                              <p:par>
                                <p:cTn id="8" presetID="42" presetClass="entr" presetSubtype="0" fill="hold" grpId="0" nodeType="after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fade">
                                      <p:cBhvr>
                                        <p:cTn id="10" dur="550"/>
                                        <p:tgtEl>
                                          <p:spTgt spid="10"/>
                                        </p:tgtEl>
                                      </p:cBhvr>
                                    </p:animEffect>
                                    <p:anim calcmode="lin" valueType="num">
                                      <p:cBhvr additive="base">
                                        <p:cTn id="11" dur="550" fill="hold"/>
                                        <p:tgtEl>
                                          <p:spTgt spid="10"/>
                                        </p:tgtEl>
                                        <p:attrNameLst>
                                          <p:attrName>ppt_x</p:attrName>
                                        </p:attrNameLst>
                                      </p:cBhvr>
                                      <p:tavLst>
                                        <p:tav tm="0">
                                          <p:val>
                                            <p:strVal val="#ppt_x"/>
                                          </p:val>
                                        </p:tav>
                                        <p:tav tm="100000">
                                          <p:val>
                                            <p:strVal val="#ppt_x"/>
                                          </p:val>
                                        </p:tav>
                                      </p:tavLst>
                                    </p:anim>
                                    <p:anim calcmode="lin" valueType="num">
                                      <p:cBhvr additive="base">
                                        <p:cTn id="12" dur="550" fill="hold"/>
                                        <p:tgtEl>
                                          <p:spTgt spid="10"/>
                                        </p:tgtEl>
                                        <p:attrNameLst>
                                          <p:attrName>ppt_y</p:attrName>
                                        </p:attrNameLst>
                                      </p:cBhvr>
                                      <p:tavLst>
                                        <p:tav tm="0">
                                          <p:val>
                                            <p:strVal val="#ppt_y+.08"/>
                                          </p:val>
                                        </p:tav>
                                        <p:tav tm="100000">
                                          <p:val>
                                            <p:strVal val="#ppt_y"/>
                                          </p:val>
                                        </p:tav>
                                      </p:tavLst>
                                    </p:anim>
                                  </p:childTnLst>
                                </p:cTn>
                              </p:par>
                            </p:childTnLst>
                          </p:cTn>
                        </p:par>
                        <p:par>
                          <p:cTn id="13" fill="hold">
                            <p:stCondLst>
                              <p:cond delay="220"/>
                            </p:stCondLst>
                            <p:childTnLst>
                              <p:par>
                                <p:cTn id="14" presetID="42" presetClass="entr" presetSubtype="0" fill="hold" grpId="0" nodeType="afterEffect">
                                  <p:stCondLst>
                                    <p:cond delay="0"/>
                                  </p:stCondLst>
                                  <p:childTnLst>
                                    <p:set>
                                      <p:cBhvr>
                                        <p:cTn id="15" dur="1" fill="hold">
                                          <p:stCondLst>
                                            <p:cond delay="0"/>
                                          </p:stCondLst>
                                        </p:cTn>
                                        <p:tgtEl>
                                          <p:spTgt spid="11"/>
                                        </p:tgtEl>
                                        <p:attrNameLst>
                                          <p:attrName>style.visibility</p:attrName>
                                        </p:attrNameLst>
                                      </p:cBhvr>
                                      <p:to>
                                        <p:strVal val="visible"/>
                                      </p:to>
                                    </p:set>
                                    <p:animEffect transition="in" filter="fade">
                                      <p:cBhvr>
                                        <p:cTn id="16" dur="550"/>
                                        <p:tgtEl>
                                          <p:spTgt spid="11"/>
                                        </p:tgtEl>
                                      </p:cBhvr>
                                    </p:animEffect>
                                    <p:anim calcmode="lin" valueType="num">
                                      <p:cBhvr additive="base">
                                        <p:cTn id="17" dur="550" fill="hold"/>
                                        <p:tgtEl>
                                          <p:spTgt spid="11"/>
                                        </p:tgtEl>
                                        <p:attrNameLst>
                                          <p:attrName>ppt_x</p:attrName>
                                        </p:attrNameLst>
                                      </p:cBhvr>
                                      <p:tavLst>
                                        <p:tav tm="0">
                                          <p:val>
                                            <p:strVal val="#ppt_x"/>
                                          </p:val>
                                        </p:tav>
                                        <p:tav tm="100000">
                                          <p:val>
                                            <p:strVal val="#ppt_x"/>
                                          </p:val>
                                        </p:tav>
                                      </p:tavLst>
                                    </p:anim>
                                    <p:anim calcmode="lin" valueType="num">
                                      <p:cBhvr additive="base">
                                        <p:cTn id="18" dur="550" fill="hold"/>
                                        <p:tgtEl>
                                          <p:spTgt spid="11"/>
                                        </p:tgtEl>
                                        <p:attrNameLst>
                                          <p:attrName>ppt_y</p:attrName>
                                        </p:attrNameLst>
                                      </p:cBhvr>
                                      <p:tavLst>
                                        <p:tav tm="0">
                                          <p:val>
                                            <p:strVal val="#ppt_y+.08"/>
                                          </p:val>
                                        </p:tav>
                                        <p:tav tm="100000">
                                          <p:val>
                                            <p:strVal val="#ppt_y"/>
                                          </p:val>
                                        </p:tav>
                                      </p:tavLst>
                                    </p:anim>
                                  </p:childTnLst>
                                </p:cTn>
                              </p:par>
                            </p:childTnLst>
                          </p:cTn>
                        </p:par>
                        <p:par>
                          <p:cTn id="19" fill="hold">
                            <p:stCondLst>
                              <p:cond delay="220"/>
                            </p:stCondLst>
                            <p:childTnLst>
                              <p:par>
                                <p:cTn id="20" presetID="53" presetClass="entr" presetSubtype="16" fill="hold" grpId="0" nodeType="afterEffect">
                                  <p:stCondLst>
                                    <p:cond delay="0"/>
                                  </p:stCondLst>
                                  <p:childTnLst>
                                    <p:set>
                                      <p:cBhvr>
                                        <p:cTn id="21" dur="1" fill="hold">
                                          <p:stCondLst>
                                            <p:cond delay="0"/>
                                          </p:stCondLst>
                                        </p:cTn>
                                        <p:tgtEl>
                                          <p:spTgt spid="12"/>
                                        </p:tgtEl>
                                        <p:attrNameLst>
                                          <p:attrName>style.visibility</p:attrName>
                                        </p:attrNameLst>
                                      </p:cBhvr>
                                      <p:to>
                                        <p:strVal val="visible"/>
                                      </p:to>
                                    </p:set>
                                    <p:animEffect transition="in" filter="fade">
                                      <p:cBhvr>
                                        <p:cTn id="22" dur="550"/>
                                        <p:tgtEl>
                                          <p:spTgt spid="12"/>
                                        </p:tgtEl>
                                      </p:cBhvr>
                                    </p:animEffect>
                                    <p:anim calcmode="lin" valueType="num">
                                      <p:cBhvr additive="base">
                                        <p:cTn id="23" dur="550" fill="hold"/>
                                        <p:tgtEl>
                                          <p:spTgt spid="12"/>
                                        </p:tgtEl>
                                        <p:attrNameLst>
                                          <p:attrName>ppt_w</p:attrName>
                                        </p:attrNameLst>
                                      </p:cBhvr>
                                      <p:tavLst>
                                        <p:tav tm="0">
                                          <p:val>
                                            <p:strVal val="0"/>
                                          </p:val>
                                        </p:tav>
                                        <p:tav tm="100000">
                                          <p:val>
                                            <p:strVal val="#ppt_w"/>
                                          </p:val>
                                        </p:tav>
                                      </p:tavLst>
                                    </p:anim>
                                    <p:anim calcmode="lin" valueType="num">
                                      <p:cBhvr additive="base">
                                        <p:cTn id="24" dur="550" fill="hold"/>
                                        <p:tgtEl>
                                          <p:spTgt spid="12"/>
                                        </p:tgtEl>
                                        <p:attrNameLst>
                                          <p:attrName>ppt_h</p:attrName>
                                        </p:attrNameLst>
                                      </p:cBhvr>
                                      <p:tavLst>
                                        <p:tav tm="0">
                                          <p:val>
                                            <p:strVal val="0"/>
                                          </p:val>
                                        </p:tav>
                                        <p:tav tm="100000">
                                          <p:val>
                                            <p:strVal val="#ppt_h"/>
                                          </p:val>
                                        </p:tav>
                                      </p:tavLst>
                                    </p:anim>
                                  </p:childTnLst>
                                </p:cTn>
                              </p:par>
                            </p:childTnLst>
                          </p:cTn>
                        </p:par>
                        <p:par>
                          <p:cTn id="25" fill="hold">
                            <p:stCondLst>
                              <p:cond delay="220"/>
                            </p:stCondLst>
                            <p:childTnLst>
                              <p:par>
                                <p:cTn id="26" presetID="42" presetClass="entr" presetSubtype="0" fill="hold" grpId="0" nodeType="afterEffect">
                                  <p:stCondLst>
                                    <p:cond delay="0"/>
                                  </p:stCondLst>
                                  <p:childTnLst>
                                    <p:set>
                                      <p:cBhvr>
                                        <p:cTn id="27" dur="1" fill="hold">
                                          <p:stCondLst>
                                            <p:cond delay="0"/>
                                          </p:stCondLst>
                                        </p:cTn>
                                        <p:tgtEl>
                                          <p:spTgt spid="13"/>
                                        </p:tgtEl>
                                        <p:attrNameLst>
                                          <p:attrName>style.visibility</p:attrName>
                                        </p:attrNameLst>
                                      </p:cBhvr>
                                      <p:to>
                                        <p:strVal val="visible"/>
                                      </p:to>
                                    </p:set>
                                    <p:animEffect transition="in" filter="fade">
                                      <p:cBhvr>
                                        <p:cTn id="28" dur="550"/>
                                        <p:tgtEl>
                                          <p:spTgt spid="13"/>
                                        </p:tgtEl>
                                      </p:cBhvr>
                                    </p:animEffect>
                                    <p:anim calcmode="lin" valueType="num">
                                      <p:cBhvr additive="base">
                                        <p:cTn id="29" dur="550" fill="hold"/>
                                        <p:tgtEl>
                                          <p:spTgt spid="13"/>
                                        </p:tgtEl>
                                        <p:attrNameLst>
                                          <p:attrName>ppt_x</p:attrName>
                                        </p:attrNameLst>
                                      </p:cBhvr>
                                      <p:tavLst>
                                        <p:tav tm="0">
                                          <p:val>
                                            <p:strVal val="#ppt_x"/>
                                          </p:val>
                                        </p:tav>
                                        <p:tav tm="100000">
                                          <p:val>
                                            <p:strVal val="#ppt_x"/>
                                          </p:val>
                                        </p:tav>
                                      </p:tavLst>
                                    </p:anim>
                                    <p:anim calcmode="lin" valueType="num">
                                      <p:cBhvr additive="base">
                                        <p:cTn id="30" dur="550" fill="hold"/>
                                        <p:tgtEl>
                                          <p:spTgt spid="13"/>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10" grpId="0" animBg="1"/>
      <p:bldP spid="11" grpId="0" animBg="1"/>
      <p:bldP spid="12" grpId="0" animBg="1"/>
      <p:bldP spid="13" grpId="0" animBg="1"/>
    </p:bldLst>
  </p:timing>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162E4D"/>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900000" y="1700000"/>
            <a:ext cx="3000000" cy="3000000"/>
          </a:xfrm>
          <a:prstGeom prst="ellipse">
            <a:avLst/>
          </a:prstGeom>
          <a:noFill/>
          <a:ln w="76200">
            <a:solidFill>
              <a:srgbClr val="7FD6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00000" y="2350000"/>
            <a:ext cx="3000000" cy="1700000"/>
          </a:xfrm>
          <a:prstGeom prst="rect">
            <a:avLst/>
          </a:prstGeom>
          <a:noFill/>
        </p:spPr>
        <p:txBody>
          <a:bodyPr wrap="square" anchor="ctr" lIns="50800" rIns="50800">
            <a:spAutoFit/>
          </a:bodyPr>
          <a:lstStyle/>
          <a:p>
            <a:pPr algn="ctr"/>
            <a:r>
              <a:rPr sz="7200" b="1">
                <a:solidFill>
                  <a:srgbClr val="FFFFFF"/>
                </a:solidFill>
                <a:latin typeface="Calibri"/>
              </a:rPr>
              <a:t>04</a:t>
            </a:r>
          </a:p>
        </p:txBody>
      </p:sp>
      <p:sp>
        <p:nvSpPr>
          <p:cNvPr id="5" name="TextBox 4"/>
          <p:cNvSpPr txBox="1"/>
          <p:nvPr/>
        </p:nvSpPr>
        <p:spPr>
          <a:xfrm>
            <a:off x="4500000" y="2400000"/>
            <a:ext cx="7000000" cy="1600000"/>
          </a:xfrm>
          <a:prstGeom prst="rect">
            <a:avLst/>
          </a:prstGeom>
          <a:noFill/>
        </p:spPr>
        <p:txBody>
          <a:bodyPr wrap="square" anchor="ctr" lIns="50800" rIns="50800">
            <a:spAutoFit/>
          </a:bodyPr>
          <a:lstStyle/>
          <a:p>
            <a:pPr algn="l"/>
            <a:r>
              <a:rPr sz="3600" b="1">
                <a:solidFill>
                  <a:srgbClr val="FFFFFF"/>
                </a:solidFill>
                <a:latin typeface="Calibri"/>
              </a:rPr>
              <a:t>Amaliy misol</a:t>
            </a:r>
          </a:p>
        </p:txBody>
      </p:sp>
      <p:sp>
        <p:nvSpPr>
          <p:cNvPr id="6" name="Rectangle 5"/>
          <p:cNvSpPr/>
          <p:nvPr/>
        </p:nvSpPr>
        <p:spPr>
          <a:xfrm>
            <a:off x="4550000" y="4100000"/>
            <a:ext cx="2200000" cy="60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transition spd="med">
    <p:push dir="u"/>
  </p:transition>
  <p:timing>
    <p:tnLst>
      <p:par>
        <p:cTn id="1" dur="indefinite" restart="never" nodeType="tmRoot">
          <p:childTnLst>
            <p:seq concurrent="1" nextAc="seek">
              <p:cTn id="2" dur="indefinite" nodeType="mainSeq">
                <p:childTnLst>
                  <p:par>
                    <p:cTn id="26" fill="hold">
                      <p:stCondLst>
                        <p:cond delay="indefinite"/>
                        <p:cond evt="onBegin" delay="0">
                          <p:tn val="2"/>
                        </p:cond>
                      </p:stCondLst>
                      <p:childTnLst>
                        <p:par>
                          <p:cTn id="3" fill="hold">
                            <p:stCondLst>
                              <p:cond delay="0"/>
                            </p:stCondLst>
                            <p:childTnLst>
                              <p:par>
                                <p:cTn id="4" presetID="53" presetClass="entr" presetSubtype="16" fill="hold" grpId="0" nodeType="withEffect">
                                  <p:stCondLst>
                                    <p:cond delay="0"/>
                                  </p:stCondLst>
                                  <p:childTnLst>
                                    <p:set>
                                      <p:cBhvr>
                                        <p:cTn id="5" dur="1" fill="hold">
                                          <p:stCondLst>
                                            <p:cond delay="0"/>
                                          </p:stCondLst>
                                        </p:cTn>
                                        <p:tgtEl>
                                          <p:spTgt spid="3"/>
                                        </p:tgtEl>
                                        <p:attrNameLst>
                                          <p:attrName>style.visibility</p:attrName>
                                        </p:attrNameLst>
                                      </p:cBhvr>
                                      <p:to>
                                        <p:strVal val="visible"/>
                                      </p:to>
                                    </p:set>
                                    <p:animEffect transition="in" filter="fade">
                                      <p:cBhvr>
                                        <p:cTn id="6" dur="550"/>
                                        <p:tgtEl>
                                          <p:spTgt spid="3"/>
                                        </p:tgtEl>
                                      </p:cBhvr>
                                    </p:animEffect>
                                    <p:anim calcmode="lin" valueType="num">
                                      <p:cBhvr additive="base">
                                        <p:cTn id="7" dur="550" fill="hold"/>
                                        <p:tgtEl>
                                          <p:spTgt spid="3"/>
                                        </p:tgtEl>
                                        <p:attrNameLst>
                                          <p:attrName>ppt_w</p:attrName>
                                        </p:attrNameLst>
                                      </p:cBhvr>
                                      <p:tavLst>
                                        <p:tav tm="0">
                                          <p:val>
                                            <p:strVal val="0"/>
                                          </p:val>
                                        </p:tav>
                                        <p:tav tm="100000">
                                          <p:val>
                                            <p:strVal val="#ppt_w"/>
                                          </p:val>
                                        </p:tav>
                                      </p:tavLst>
                                    </p:anim>
                                    <p:anim calcmode="lin" valueType="num">
                                      <p:cBhvr additive="base">
                                        <p:cTn id="8" dur="550" fill="hold"/>
                                        <p:tgtEl>
                                          <p:spTgt spid="3"/>
                                        </p:tgtEl>
                                        <p:attrNameLst>
                                          <p:attrName>ppt_h</p:attrName>
                                        </p:attrNameLst>
                                      </p:cBhvr>
                                      <p:tavLst>
                                        <p:tav tm="0">
                                          <p:val>
                                            <p:strVal val="0"/>
                                          </p:val>
                                        </p:tav>
                                        <p:tav tm="100000">
                                          <p:val>
                                            <p:strVal val="#ppt_h"/>
                                          </p:val>
                                        </p:tav>
                                      </p:tavLst>
                                    </p:anim>
                                  </p:childTnLst>
                                </p:cTn>
                              </p:par>
                            </p:childTnLst>
                          </p:cTn>
                        </p:par>
                        <p:par>
                          <p:cTn id="9" fill="hold">
                            <p:stCondLst>
                              <p:cond delay="100"/>
                            </p:stCondLst>
                            <p:childTnLst>
                              <p:par>
                                <p:cTn id="10" presetID="53" presetClass="entr" presetSubtype="16" fill="hold" grpId="0" nodeType="afterEffect">
                                  <p:stCondLst>
                                    <p:cond delay="0"/>
                                  </p:stCondLst>
                                  <p:childTnLst>
                                    <p:set>
                                      <p:cBhvr>
                                        <p:cTn id="11" dur="1" fill="hold">
                                          <p:stCondLst>
                                            <p:cond delay="0"/>
                                          </p:stCondLst>
                                        </p:cTn>
                                        <p:tgtEl>
                                          <p:spTgt spid="4"/>
                                        </p:tgtEl>
                                        <p:attrNameLst>
                                          <p:attrName>style.visibility</p:attrName>
                                        </p:attrNameLst>
                                      </p:cBhvr>
                                      <p:to>
                                        <p:strVal val="visible"/>
                                      </p:to>
                                    </p:set>
                                    <p:animEffect transition="in" filter="fade">
                                      <p:cBhvr>
                                        <p:cTn id="12" dur="550"/>
                                        <p:tgtEl>
                                          <p:spTgt spid="4"/>
                                        </p:tgtEl>
                                      </p:cBhvr>
                                    </p:animEffect>
                                    <p:anim calcmode="lin" valueType="num">
                                      <p:cBhvr additive="base">
                                        <p:cTn id="13" dur="550" fill="hold"/>
                                        <p:tgtEl>
                                          <p:spTgt spid="4"/>
                                        </p:tgtEl>
                                        <p:attrNameLst>
                                          <p:attrName>ppt_w</p:attrName>
                                        </p:attrNameLst>
                                      </p:cBhvr>
                                      <p:tavLst>
                                        <p:tav tm="0">
                                          <p:val>
                                            <p:strVal val="0"/>
                                          </p:val>
                                        </p:tav>
                                        <p:tav tm="100000">
                                          <p:val>
                                            <p:strVal val="#ppt_w"/>
                                          </p:val>
                                        </p:tav>
                                      </p:tavLst>
                                    </p:anim>
                                    <p:anim calcmode="lin" valueType="num">
                                      <p:cBhvr additive="base">
                                        <p:cTn id="14" dur="550" fill="hold"/>
                                        <p:tgtEl>
                                          <p:spTgt spid="4"/>
                                        </p:tgtEl>
                                        <p:attrNameLst>
                                          <p:attrName>ppt_h</p:attrName>
                                        </p:attrNameLst>
                                      </p:cBhvr>
                                      <p:tavLst>
                                        <p:tav tm="0">
                                          <p:val>
                                            <p:strVal val="0"/>
                                          </p:val>
                                        </p:tav>
                                        <p:tav tm="100000">
                                          <p:val>
                                            <p:strVal val="#ppt_h"/>
                                          </p:val>
                                        </p:tav>
                                      </p:tavLst>
                                    </p:anim>
                                  </p:childTnLst>
                                </p:cTn>
                              </p:par>
                            </p:childTnLst>
                          </p:cTn>
                        </p:par>
                        <p:par>
                          <p:cTn id="15" fill="hold">
                            <p:stCondLst>
                              <p:cond delay="250"/>
                            </p:stCondLst>
                            <p:childTnLst>
                              <p:par>
                                <p:cTn id="16" presetID="2" presetClass="entr" presetSubtype="8" fill="hold" grpId="0" nodeType="afterEffect">
                                  <p:stCondLst>
                                    <p:cond delay="0"/>
                                  </p:stCondLst>
                                  <p:childTnLst>
                                    <p:set>
                                      <p:cBhvr>
                                        <p:cTn id="17" dur="1" fill="hold">
                                          <p:stCondLst>
                                            <p:cond delay="0"/>
                                          </p:stCondLst>
                                        </p:cTn>
                                        <p:tgtEl>
                                          <p:spTgt spid="5"/>
                                        </p:tgtEl>
                                        <p:attrNameLst>
                                          <p:attrName>style.visibility</p:attrName>
                                        </p:attrNameLst>
                                      </p:cBhvr>
                                      <p:to>
                                        <p:strVal val="visible"/>
                                      </p:to>
                                    </p:set>
                                    <p:anim calcmode="lin" valueType="num">
                                      <p:cBhvr additive="base">
                                        <p:cTn id="19" dur="550" fill="hold"/>
                                        <p:tgtEl>
                                          <p:spTgt spid="5"/>
                                        </p:tgtEl>
                                        <p:attrNameLst>
                                          <p:attrName>ppt_x</p:attrName>
                                        </p:attrNameLst>
                                      </p:cBhvr>
                                      <p:tavLst>
                                        <p:tav tm="0">
                                          <p:val>
                                            <p:strVal val="0-#ppt_w/2"/>
                                          </p:val>
                                        </p:tav>
                                        <p:tav tm="100000">
                                          <p:val>
                                            <p:strVal val="#ppt_x"/>
                                          </p:val>
                                        </p:tav>
                                      </p:tavLst>
                                    </p:anim>
                                    <p:anim calcmode="lin" valueType="num">
                                      <p:cBhvr additive="base">
                                        <p:cTn id="20" dur="550" fill="hold"/>
                                        <p:tgtEl>
                                          <p:spTgt spid="5"/>
                                        </p:tgtEl>
                                        <p:attrNameLst>
                                          <p:attrName>ppt_y</p:attrName>
                                        </p:attrNameLst>
                                      </p:cBhvr>
                                      <p:tavLst>
                                        <p:tav tm="0">
                                          <p:val>
                                            <p:strVal val="#ppt_y"/>
                                          </p:val>
                                        </p:tav>
                                        <p:tav tm="100000">
                                          <p:val>
                                            <p:strVal val="#ppt_y"/>
                                          </p:val>
                                        </p:tav>
                                      </p:tavLst>
                                    </p:anim>
                                  </p:childTnLst>
                                </p:cTn>
                              </p:par>
                            </p:childTnLst>
                          </p:cTn>
                        </p:par>
                        <p:par>
                          <p:cTn id="21" fill="hold">
                            <p:stCondLst>
                              <p:cond delay="350"/>
                            </p:stCondLst>
                            <p:childTnLst>
                              <p:par>
                                <p:cTn id="22" presetID="22" presetClass="entr" presetSubtype="8" fill="hold" grpId="0" nodeType="afterEffect">
                                  <p:stCondLst>
                                    <p:cond delay="0"/>
                                  </p:stCondLst>
                                  <p:childTnLst>
                                    <p:set>
                                      <p:cBhvr>
                                        <p:cTn id="23" dur="1" fill="hold">
                                          <p:stCondLst>
                                            <p:cond delay="0"/>
                                          </p:stCondLst>
                                        </p:cTn>
                                        <p:tgtEl>
                                          <p:spTgt spid="6"/>
                                        </p:tgtEl>
                                        <p:attrNameLst>
                                          <p:attrName>style.visibility</p:attrName>
                                        </p:attrNameLst>
                                      </p:cBhvr>
                                      <p:to>
                                        <p:strVal val="visible"/>
                                      </p:to>
                                    </p:set>
                                    <p:animEffect transition="in" filter="wipe(left)">
                                      <p:cBhvr>
                                        <p:cTn id="25" dur="8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4" grpId="0" animBg="1"/>
      <p:bldP spid="5" grpId="0" animBg="1"/>
      <p:bldP spid="6" grpId="0" animBg="1"/>
    </p:bldLst>
  </p:timing>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200000"/>
            <a:ext cx="10400000" cy="650000"/>
          </a:xfrm>
          <a:prstGeom prst="rect">
            <a:avLst/>
          </a:prstGeom>
          <a:noFill/>
        </p:spPr>
        <p:txBody>
          <a:bodyPr wrap="square" anchor="ctr" lIns="50800" rIns="50800">
            <a:spAutoFit/>
          </a:bodyPr>
          <a:lstStyle/>
          <a:p>
            <a:pPr algn="l"/>
            <a:r>
              <a:rPr sz="2600" b="1">
                <a:solidFill>
                  <a:srgbClr val="FFFFFF"/>
                </a:solidFill>
                <a:latin typeface="Calibri"/>
              </a:rPr>
              <a:t>Amaliy misol</a:t>
            </a:r>
          </a:p>
        </p:txBody>
      </p:sp>
      <p:sp>
        <p:nvSpPr>
          <p:cNvPr id="6" name="Rectangle 5"/>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A1 · Sun'iy intellektga asoslangan kompyuter tizimlari arxitekturasini tahlil qilish va loyihalash</a:t>
            </a:r>
          </a:p>
        </p:txBody>
      </p:sp>
      <p:sp>
        <p:nvSpPr>
          <p:cNvPr id="8" name="TextBox 7"/>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18</a:t>
            </a:r>
          </a:p>
        </p:txBody>
      </p:sp>
      <p:sp>
        <p:nvSpPr>
          <p:cNvPr id="9" name="Rounded Rectangle 8"/>
          <p:cNvSpPr/>
          <p:nvPr/>
        </p:nvSpPr>
        <p:spPr>
          <a:xfrm>
            <a:off x="550000" y="2076666"/>
            <a:ext cx="11100000" cy="1250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50000" y="2076666"/>
            <a:ext cx="70000" cy="1250000"/>
          </a:xfrm>
          <a:prstGeom prst="rect">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800000" y="2471666"/>
            <a:ext cx="460000" cy="460000"/>
          </a:xfrm>
          <a:prstGeom prst="ellipse">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1</a:t>
            </a:r>
          </a:p>
        </p:txBody>
      </p:sp>
      <p:sp>
        <p:nvSpPr>
          <p:cNvPr id="12" name="TextBox 11"/>
          <p:cNvSpPr txBox="1"/>
          <p:nvPr/>
        </p:nvSpPr>
        <p:spPr>
          <a:xfrm>
            <a:off x="1450000" y="2076666"/>
            <a:ext cx="10050000" cy="1250000"/>
          </a:xfrm>
          <a:prstGeom prst="rect">
            <a:avLst/>
          </a:prstGeom>
          <a:noFill/>
        </p:spPr>
        <p:txBody>
          <a:bodyPr wrap="square" anchor="ctr" lIns="50800" rIns="50800">
            <a:spAutoFit/>
          </a:bodyPr>
          <a:lstStyle/>
          <a:p>
            <a:pPr algn="l"/>
            <a:r>
              <a:rPr sz="1800" b="0">
                <a:solidFill>
                  <a:srgbClr val="1B2430"/>
                </a:solidFill>
                <a:latin typeface="Calibri"/>
              </a:rPr>
              <a:t>Laboratoriya topshirig'i: «SHV aniqlash tizimi uchun hisoblash platformasini tanlash va strukturaviy sxema ishlab chiqish».</a:t>
            </a:r>
          </a:p>
        </p:txBody>
      </p:sp>
      <p:sp>
        <p:nvSpPr>
          <p:cNvPr id="13" name="Rounded Rectangle 12"/>
          <p:cNvSpPr/>
          <p:nvPr/>
        </p:nvSpPr>
        <p:spPr>
          <a:xfrm>
            <a:off x="550000" y="3446666"/>
            <a:ext cx="11100000" cy="1250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550000" y="3446666"/>
            <a:ext cx="70000" cy="1250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00000" y="3841666"/>
            <a:ext cx="460000" cy="46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2</a:t>
            </a:r>
          </a:p>
        </p:txBody>
      </p:sp>
      <p:sp>
        <p:nvSpPr>
          <p:cNvPr id="16" name="TextBox 15"/>
          <p:cNvSpPr txBox="1"/>
          <p:nvPr/>
        </p:nvSpPr>
        <p:spPr>
          <a:xfrm>
            <a:off x="1450000" y="3446666"/>
            <a:ext cx="10050000" cy="1250000"/>
          </a:xfrm>
          <a:prstGeom prst="rect">
            <a:avLst/>
          </a:prstGeom>
          <a:noFill/>
        </p:spPr>
        <p:txBody>
          <a:bodyPr wrap="square" anchor="ctr" lIns="50800" rIns="50800">
            <a:spAutoFit/>
          </a:bodyPr>
          <a:lstStyle/>
          <a:p>
            <a:pPr algn="l"/>
            <a:r>
              <a:rPr sz="1800" b="0">
                <a:solidFill>
                  <a:srgbClr val="1B2430"/>
                </a:solidFill>
                <a:latin typeface="Calibri"/>
              </a:rPr>
              <a:t>Talab qilinadigan muhit. Apparat: oddiy noutbuk yoki ish stantsiyasi (GPU shart emas). Dasturiy ta'minot: Python 3.10 yoki undan yuqori; kutubxonalar torch&gt;=2.1, ultralytics&gt;=8.1 (model FLOP hisobi uchun), pandas, tabulate.</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55"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5"/>
                                        </p:tgtEl>
                                        <p:attrNameLst>
                                          <p:attrName>style.visibility</p:attrName>
                                        </p:attrNameLst>
                                      </p:cBhvr>
                                      <p:to>
                                        <p:strVal val="visible"/>
                                      </p:to>
                                    </p:set>
                                    <p:animEffect transition="in" filter="fade">
                                      <p:cBhvr>
                                        <p:cTn id="6" dur="550"/>
                                        <p:tgtEl>
                                          <p:spTgt spid="5"/>
                                        </p:tgtEl>
                                      </p:cBhvr>
                                    </p:animEffect>
                                  </p:childTnLst>
                                </p:cTn>
                              </p:par>
                            </p:childTnLst>
                          </p:cTn>
                        </p:par>
                        <p:par>
                          <p:cTn id="7" fill="hold">
                            <p:stCondLst>
                              <p:cond delay="220"/>
                            </p:stCondLst>
                            <p:childTnLst>
                              <p:par>
                                <p:cTn id="8" presetID="42" presetClass="entr" presetSubtype="0" fill="hold" grpId="0" nodeType="afterEffect">
                                  <p:stCondLst>
                                    <p:cond delay="0"/>
                                  </p:stCondLst>
                                  <p:childTnLst>
                                    <p:set>
                                      <p:cBhvr>
                                        <p:cTn id="9" dur="1" fill="hold">
                                          <p:stCondLst>
                                            <p:cond delay="0"/>
                                          </p:stCondLst>
                                        </p:cTn>
                                        <p:tgtEl>
                                          <p:spTgt spid="9"/>
                                        </p:tgtEl>
                                        <p:attrNameLst>
                                          <p:attrName>style.visibility</p:attrName>
                                        </p:attrNameLst>
                                      </p:cBhvr>
                                      <p:to>
                                        <p:strVal val="visible"/>
                                      </p:to>
                                    </p:set>
                                    <p:animEffect transition="in" filter="fade">
                                      <p:cBhvr>
                                        <p:cTn id="10" dur="550"/>
                                        <p:tgtEl>
                                          <p:spTgt spid="9"/>
                                        </p:tgtEl>
                                      </p:cBhvr>
                                    </p:animEffect>
                                    <p:anim calcmode="lin" valueType="num">
                                      <p:cBhvr additive="base">
                                        <p:cTn id="11" dur="550" fill="hold"/>
                                        <p:tgtEl>
                                          <p:spTgt spid="9"/>
                                        </p:tgtEl>
                                        <p:attrNameLst>
                                          <p:attrName>ppt_x</p:attrName>
                                        </p:attrNameLst>
                                      </p:cBhvr>
                                      <p:tavLst>
                                        <p:tav tm="0">
                                          <p:val>
                                            <p:strVal val="#ppt_x"/>
                                          </p:val>
                                        </p:tav>
                                        <p:tav tm="100000">
                                          <p:val>
                                            <p:strVal val="#ppt_x"/>
                                          </p:val>
                                        </p:tav>
                                      </p:tavLst>
                                    </p:anim>
                                    <p:anim calcmode="lin" valueType="num">
                                      <p:cBhvr additive="base">
                                        <p:cTn id="12" dur="550" fill="hold"/>
                                        <p:tgtEl>
                                          <p:spTgt spid="9"/>
                                        </p:tgtEl>
                                        <p:attrNameLst>
                                          <p:attrName>ppt_y</p:attrName>
                                        </p:attrNameLst>
                                      </p:cBhvr>
                                      <p:tavLst>
                                        <p:tav tm="0">
                                          <p:val>
                                            <p:strVal val="#ppt_y+.08"/>
                                          </p:val>
                                        </p:tav>
                                        <p:tav tm="100000">
                                          <p:val>
                                            <p:strVal val="#ppt_y"/>
                                          </p:val>
                                        </p:tav>
                                      </p:tavLst>
                                    </p:anim>
                                  </p:childTnLst>
                                </p:cTn>
                              </p:par>
                            </p:childTnLst>
                          </p:cTn>
                        </p:par>
                        <p:par>
                          <p:cTn id="13" fill="hold">
                            <p:stCondLst>
                              <p:cond delay="220"/>
                            </p:stCondLst>
                            <p:childTnLst>
                              <p:par>
                                <p:cTn id="14" presetID="42" presetClass="entr" presetSubtype="0" fill="hold" grpId="0" nodeType="afterEffect">
                                  <p:stCondLst>
                                    <p:cond delay="0"/>
                                  </p:stCondLst>
                                  <p:childTnLst>
                                    <p:set>
                                      <p:cBhvr>
                                        <p:cTn id="15" dur="1" fill="hold">
                                          <p:stCondLst>
                                            <p:cond delay="0"/>
                                          </p:stCondLst>
                                        </p:cTn>
                                        <p:tgtEl>
                                          <p:spTgt spid="10"/>
                                        </p:tgtEl>
                                        <p:attrNameLst>
                                          <p:attrName>style.visibility</p:attrName>
                                        </p:attrNameLst>
                                      </p:cBhvr>
                                      <p:to>
                                        <p:strVal val="visible"/>
                                      </p:to>
                                    </p:set>
                                    <p:animEffect transition="in" filter="fade">
                                      <p:cBhvr>
                                        <p:cTn id="16" dur="550"/>
                                        <p:tgtEl>
                                          <p:spTgt spid="10"/>
                                        </p:tgtEl>
                                      </p:cBhvr>
                                    </p:animEffect>
                                    <p:anim calcmode="lin" valueType="num">
                                      <p:cBhvr additive="base">
                                        <p:cTn id="17" dur="550" fill="hold"/>
                                        <p:tgtEl>
                                          <p:spTgt spid="10"/>
                                        </p:tgtEl>
                                        <p:attrNameLst>
                                          <p:attrName>ppt_x</p:attrName>
                                        </p:attrNameLst>
                                      </p:cBhvr>
                                      <p:tavLst>
                                        <p:tav tm="0">
                                          <p:val>
                                            <p:strVal val="#ppt_x"/>
                                          </p:val>
                                        </p:tav>
                                        <p:tav tm="100000">
                                          <p:val>
                                            <p:strVal val="#ppt_x"/>
                                          </p:val>
                                        </p:tav>
                                      </p:tavLst>
                                    </p:anim>
                                    <p:anim calcmode="lin" valueType="num">
                                      <p:cBhvr additive="base">
                                        <p:cTn id="18" dur="550" fill="hold"/>
                                        <p:tgtEl>
                                          <p:spTgt spid="10"/>
                                        </p:tgtEl>
                                        <p:attrNameLst>
                                          <p:attrName>ppt_y</p:attrName>
                                        </p:attrNameLst>
                                      </p:cBhvr>
                                      <p:tavLst>
                                        <p:tav tm="0">
                                          <p:val>
                                            <p:strVal val="#ppt_y+.08"/>
                                          </p:val>
                                        </p:tav>
                                        <p:tav tm="100000">
                                          <p:val>
                                            <p:strVal val="#ppt_y"/>
                                          </p:val>
                                        </p:tav>
                                      </p:tavLst>
                                    </p:anim>
                                  </p:childTnLst>
                                </p:cTn>
                              </p:par>
                            </p:childTnLst>
                          </p:cTn>
                        </p:par>
                        <p:par>
                          <p:cTn id="19" fill="hold">
                            <p:stCondLst>
                              <p:cond delay="220"/>
                            </p:stCondLst>
                            <p:childTnLst>
                              <p:par>
                                <p:cTn id="20" presetID="53" presetClass="entr" presetSubtype="16" fill="hold" grpId="0" nodeType="afterEffect">
                                  <p:stCondLst>
                                    <p:cond delay="0"/>
                                  </p:stCondLst>
                                  <p:childTnLst>
                                    <p:set>
                                      <p:cBhvr>
                                        <p:cTn id="21" dur="1" fill="hold">
                                          <p:stCondLst>
                                            <p:cond delay="0"/>
                                          </p:stCondLst>
                                        </p:cTn>
                                        <p:tgtEl>
                                          <p:spTgt spid="11"/>
                                        </p:tgtEl>
                                        <p:attrNameLst>
                                          <p:attrName>style.visibility</p:attrName>
                                        </p:attrNameLst>
                                      </p:cBhvr>
                                      <p:to>
                                        <p:strVal val="visible"/>
                                      </p:to>
                                    </p:set>
                                    <p:animEffect transition="in" filter="fade">
                                      <p:cBhvr>
                                        <p:cTn id="22" dur="550"/>
                                        <p:tgtEl>
                                          <p:spTgt spid="11"/>
                                        </p:tgtEl>
                                      </p:cBhvr>
                                    </p:animEffect>
                                    <p:anim calcmode="lin" valueType="num">
                                      <p:cBhvr additive="base">
                                        <p:cTn id="23" dur="550" fill="hold"/>
                                        <p:tgtEl>
                                          <p:spTgt spid="11"/>
                                        </p:tgtEl>
                                        <p:attrNameLst>
                                          <p:attrName>ppt_w</p:attrName>
                                        </p:attrNameLst>
                                      </p:cBhvr>
                                      <p:tavLst>
                                        <p:tav tm="0">
                                          <p:val>
                                            <p:strVal val="0"/>
                                          </p:val>
                                        </p:tav>
                                        <p:tav tm="100000">
                                          <p:val>
                                            <p:strVal val="#ppt_w"/>
                                          </p:val>
                                        </p:tav>
                                      </p:tavLst>
                                    </p:anim>
                                    <p:anim calcmode="lin" valueType="num">
                                      <p:cBhvr additive="base">
                                        <p:cTn id="24" dur="550" fill="hold"/>
                                        <p:tgtEl>
                                          <p:spTgt spid="11"/>
                                        </p:tgtEl>
                                        <p:attrNameLst>
                                          <p:attrName>ppt_h</p:attrName>
                                        </p:attrNameLst>
                                      </p:cBhvr>
                                      <p:tavLst>
                                        <p:tav tm="0">
                                          <p:val>
                                            <p:strVal val="0"/>
                                          </p:val>
                                        </p:tav>
                                        <p:tav tm="100000">
                                          <p:val>
                                            <p:strVal val="#ppt_h"/>
                                          </p:val>
                                        </p:tav>
                                      </p:tavLst>
                                    </p:anim>
                                  </p:childTnLst>
                                </p:cTn>
                              </p:par>
                            </p:childTnLst>
                          </p:cTn>
                        </p:par>
                        <p:par>
                          <p:cTn id="25" fill="hold">
                            <p:stCondLst>
                              <p:cond delay="220"/>
                            </p:stCondLst>
                            <p:childTnLst>
                              <p:par>
                                <p:cTn id="26" presetID="42" presetClass="entr" presetSubtype="0" fill="hold" grpId="0" nodeType="afterEffect">
                                  <p:stCondLst>
                                    <p:cond delay="0"/>
                                  </p:stCondLst>
                                  <p:childTnLst>
                                    <p:set>
                                      <p:cBhvr>
                                        <p:cTn id="27" dur="1" fill="hold">
                                          <p:stCondLst>
                                            <p:cond delay="0"/>
                                          </p:stCondLst>
                                        </p:cTn>
                                        <p:tgtEl>
                                          <p:spTgt spid="12"/>
                                        </p:tgtEl>
                                        <p:attrNameLst>
                                          <p:attrName>style.visibility</p:attrName>
                                        </p:attrNameLst>
                                      </p:cBhvr>
                                      <p:to>
                                        <p:strVal val="visible"/>
                                      </p:to>
                                    </p:set>
                                    <p:animEffect transition="in" filter="fade">
                                      <p:cBhvr>
                                        <p:cTn id="28" dur="550"/>
                                        <p:tgtEl>
                                          <p:spTgt spid="12"/>
                                        </p:tgtEl>
                                      </p:cBhvr>
                                    </p:animEffect>
                                    <p:anim calcmode="lin" valueType="num">
                                      <p:cBhvr additive="base">
                                        <p:cTn id="29" dur="550" fill="hold"/>
                                        <p:tgtEl>
                                          <p:spTgt spid="12"/>
                                        </p:tgtEl>
                                        <p:attrNameLst>
                                          <p:attrName>ppt_x</p:attrName>
                                        </p:attrNameLst>
                                      </p:cBhvr>
                                      <p:tavLst>
                                        <p:tav tm="0">
                                          <p:val>
                                            <p:strVal val="#ppt_x"/>
                                          </p:val>
                                        </p:tav>
                                        <p:tav tm="100000">
                                          <p:val>
                                            <p:strVal val="#ppt_x"/>
                                          </p:val>
                                        </p:tav>
                                      </p:tavLst>
                                    </p:anim>
                                    <p:anim calcmode="lin" valueType="num">
                                      <p:cBhvr additive="base">
                                        <p:cTn id="30" dur="550" fill="hold"/>
                                        <p:tgtEl>
                                          <p:spTgt spid="12"/>
                                        </p:tgtEl>
                                        <p:attrNameLst>
                                          <p:attrName>ppt_y</p:attrName>
                                        </p:attrNameLst>
                                      </p:cBhvr>
                                      <p:tavLst>
                                        <p:tav tm="0">
                                          <p:val>
                                            <p:strVal val="#ppt_y+.08"/>
                                          </p:val>
                                        </p:tav>
                                        <p:tav tm="100000">
                                          <p:val>
                                            <p:strVal val="#ppt_y"/>
                                          </p:val>
                                        </p:tav>
                                      </p:tavLst>
                                    </p:anim>
                                  </p:childTnLst>
                                </p:cTn>
                              </p:par>
                            </p:childTnLst>
                          </p:cTn>
                        </p:par>
                        <p:par>
                          <p:cTn id="31" fill="hold">
                            <p:stCondLst>
                              <p:cond delay="440"/>
                            </p:stCondLst>
                            <p:childTnLst>
                              <p:par>
                                <p:cTn id="32" presetID="42" presetClass="entr" presetSubtype="0" fill="hold" grpId="0" nodeType="afterEffect">
                                  <p:stCondLst>
                                    <p:cond delay="0"/>
                                  </p:stCondLst>
                                  <p:childTnLst>
                                    <p:set>
                                      <p:cBhvr>
                                        <p:cTn id="33" dur="1" fill="hold">
                                          <p:stCondLst>
                                            <p:cond delay="0"/>
                                          </p:stCondLst>
                                        </p:cTn>
                                        <p:tgtEl>
                                          <p:spTgt spid="13"/>
                                        </p:tgtEl>
                                        <p:attrNameLst>
                                          <p:attrName>style.visibility</p:attrName>
                                        </p:attrNameLst>
                                      </p:cBhvr>
                                      <p:to>
                                        <p:strVal val="visible"/>
                                      </p:to>
                                    </p:set>
                                    <p:animEffect transition="in" filter="fade">
                                      <p:cBhvr>
                                        <p:cTn id="34" dur="550"/>
                                        <p:tgtEl>
                                          <p:spTgt spid="13"/>
                                        </p:tgtEl>
                                      </p:cBhvr>
                                    </p:animEffect>
                                    <p:anim calcmode="lin" valueType="num">
                                      <p:cBhvr additive="base">
                                        <p:cTn id="35" dur="550" fill="hold"/>
                                        <p:tgtEl>
                                          <p:spTgt spid="13"/>
                                        </p:tgtEl>
                                        <p:attrNameLst>
                                          <p:attrName>ppt_x</p:attrName>
                                        </p:attrNameLst>
                                      </p:cBhvr>
                                      <p:tavLst>
                                        <p:tav tm="0">
                                          <p:val>
                                            <p:strVal val="#ppt_x"/>
                                          </p:val>
                                        </p:tav>
                                        <p:tav tm="100000">
                                          <p:val>
                                            <p:strVal val="#ppt_x"/>
                                          </p:val>
                                        </p:tav>
                                      </p:tavLst>
                                    </p:anim>
                                    <p:anim calcmode="lin" valueType="num">
                                      <p:cBhvr additive="base">
                                        <p:cTn id="36" dur="550" fill="hold"/>
                                        <p:tgtEl>
                                          <p:spTgt spid="13"/>
                                        </p:tgtEl>
                                        <p:attrNameLst>
                                          <p:attrName>ppt_y</p:attrName>
                                        </p:attrNameLst>
                                      </p:cBhvr>
                                      <p:tavLst>
                                        <p:tav tm="0">
                                          <p:val>
                                            <p:strVal val="#ppt_y+.08"/>
                                          </p:val>
                                        </p:tav>
                                        <p:tav tm="100000">
                                          <p:val>
                                            <p:strVal val="#ppt_y"/>
                                          </p:val>
                                        </p:tav>
                                      </p:tavLst>
                                    </p:anim>
                                  </p:childTnLst>
                                </p:cTn>
                              </p:par>
                            </p:childTnLst>
                          </p:cTn>
                        </p:par>
                        <p:par>
                          <p:cTn id="37" fill="hold">
                            <p:stCondLst>
                              <p:cond delay="440"/>
                            </p:stCondLst>
                            <p:childTnLst>
                              <p:par>
                                <p:cTn id="38" presetID="42" presetClass="entr" presetSubtype="0" fill="hold" grpId="0" nodeType="afterEffect">
                                  <p:stCondLst>
                                    <p:cond delay="0"/>
                                  </p:stCondLst>
                                  <p:childTnLst>
                                    <p:set>
                                      <p:cBhvr>
                                        <p:cTn id="39" dur="1" fill="hold">
                                          <p:stCondLst>
                                            <p:cond delay="0"/>
                                          </p:stCondLst>
                                        </p:cTn>
                                        <p:tgtEl>
                                          <p:spTgt spid="14"/>
                                        </p:tgtEl>
                                        <p:attrNameLst>
                                          <p:attrName>style.visibility</p:attrName>
                                        </p:attrNameLst>
                                      </p:cBhvr>
                                      <p:to>
                                        <p:strVal val="visible"/>
                                      </p:to>
                                    </p:set>
                                    <p:animEffect transition="in" filter="fade">
                                      <p:cBhvr>
                                        <p:cTn id="40" dur="550"/>
                                        <p:tgtEl>
                                          <p:spTgt spid="14"/>
                                        </p:tgtEl>
                                      </p:cBhvr>
                                    </p:animEffect>
                                    <p:anim calcmode="lin" valueType="num">
                                      <p:cBhvr additive="base">
                                        <p:cTn id="41" dur="550" fill="hold"/>
                                        <p:tgtEl>
                                          <p:spTgt spid="14"/>
                                        </p:tgtEl>
                                        <p:attrNameLst>
                                          <p:attrName>ppt_x</p:attrName>
                                        </p:attrNameLst>
                                      </p:cBhvr>
                                      <p:tavLst>
                                        <p:tav tm="0">
                                          <p:val>
                                            <p:strVal val="#ppt_x"/>
                                          </p:val>
                                        </p:tav>
                                        <p:tav tm="100000">
                                          <p:val>
                                            <p:strVal val="#ppt_x"/>
                                          </p:val>
                                        </p:tav>
                                      </p:tavLst>
                                    </p:anim>
                                    <p:anim calcmode="lin" valueType="num">
                                      <p:cBhvr additive="base">
                                        <p:cTn id="42" dur="550" fill="hold"/>
                                        <p:tgtEl>
                                          <p:spTgt spid="14"/>
                                        </p:tgtEl>
                                        <p:attrNameLst>
                                          <p:attrName>ppt_y</p:attrName>
                                        </p:attrNameLst>
                                      </p:cBhvr>
                                      <p:tavLst>
                                        <p:tav tm="0">
                                          <p:val>
                                            <p:strVal val="#ppt_y+.08"/>
                                          </p:val>
                                        </p:tav>
                                        <p:tav tm="100000">
                                          <p:val>
                                            <p:strVal val="#ppt_y"/>
                                          </p:val>
                                        </p:tav>
                                      </p:tavLst>
                                    </p:anim>
                                  </p:childTnLst>
                                </p:cTn>
                              </p:par>
                            </p:childTnLst>
                          </p:cTn>
                        </p:par>
                        <p:par>
                          <p:cTn id="43" fill="hold">
                            <p:stCondLst>
                              <p:cond delay="440"/>
                            </p:stCondLst>
                            <p:childTnLst>
                              <p:par>
                                <p:cTn id="44" presetID="53" presetClass="entr" presetSubtype="16" fill="hold" grpId="0" nodeType="afterEffect">
                                  <p:stCondLst>
                                    <p:cond delay="0"/>
                                  </p:stCondLst>
                                  <p:childTnLst>
                                    <p:set>
                                      <p:cBhvr>
                                        <p:cTn id="45" dur="1" fill="hold">
                                          <p:stCondLst>
                                            <p:cond delay="0"/>
                                          </p:stCondLst>
                                        </p:cTn>
                                        <p:tgtEl>
                                          <p:spTgt spid="15"/>
                                        </p:tgtEl>
                                        <p:attrNameLst>
                                          <p:attrName>style.visibility</p:attrName>
                                        </p:attrNameLst>
                                      </p:cBhvr>
                                      <p:to>
                                        <p:strVal val="visible"/>
                                      </p:to>
                                    </p:set>
                                    <p:animEffect transition="in" filter="fade">
                                      <p:cBhvr>
                                        <p:cTn id="46" dur="550"/>
                                        <p:tgtEl>
                                          <p:spTgt spid="15"/>
                                        </p:tgtEl>
                                      </p:cBhvr>
                                    </p:animEffect>
                                    <p:anim calcmode="lin" valueType="num">
                                      <p:cBhvr additive="base">
                                        <p:cTn id="47" dur="550" fill="hold"/>
                                        <p:tgtEl>
                                          <p:spTgt spid="15"/>
                                        </p:tgtEl>
                                        <p:attrNameLst>
                                          <p:attrName>ppt_w</p:attrName>
                                        </p:attrNameLst>
                                      </p:cBhvr>
                                      <p:tavLst>
                                        <p:tav tm="0">
                                          <p:val>
                                            <p:strVal val="0"/>
                                          </p:val>
                                        </p:tav>
                                        <p:tav tm="100000">
                                          <p:val>
                                            <p:strVal val="#ppt_w"/>
                                          </p:val>
                                        </p:tav>
                                      </p:tavLst>
                                    </p:anim>
                                    <p:anim calcmode="lin" valueType="num">
                                      <p:cBhvr additive="base">
                                        <p:cTn id="48" dur="550" fill="hold"/>
                                        <p:tgtEl>
                                          <p:spTgt spid="15"/>
                                        </p:tgtEl>
                                        <p:attrNameLst>
                                          <p:attrName>ppt_h</p:attrName>
                                        </p:attrNameLst>
                                      </p:cBhvr>
                                      <p:tavLst>
                                        <p:tav tm="0">
                                          <p:val>
                                            <p:strVal val="0"/>
                                          </p:val>
                                        </p:tav>
                                        <p:tav tm="100000">
                                          <p:val>
                                            <p:strVal val="#ppt_h"/>
                                          </p:val>
                                        </p:tav>
                                      </p:tavLst>
                                    </p:anim>
                                  </p:childTnLst>
                                </p:cTn>
                              </p:par>
                            </p:childTnLst>
                          </p:cTn>
                        </p:par>
                        <p:par>
                          <p:cTn id="49" fill="hold">
                            <p:stCondLst>
                              <p:cond delay="440"/>
                            </p:stCondLst>
                            <p:childTnLst>
                              <p:par>
                                <p:cTn id="50" presetID="42" presetClass="entr" presetSubtype="0" fill="hold" grpId="0" nodeType="afterEffect">
                                  <p:stCondLst>
                                    <p:cond delay="0"/>
                                  </p:stCondLst>
                                  <p:childTnLst>
                                    <p:set>
                                      <p:cBhvr>
                                        <p:cTn id="51" dur="1" fill="hold">
                                          <p:stCondLst>
                                            <p:cond delay="0"/>
                                          </p:stCondLst>
                                        </p:cTn>
                                        <p:tgtEl>
                                          <p:spTgt spid="16"/>
                                        </p:tgtEl>
                                        <p:attrNameLst>
                                          <p:attrName>style.visibility</p:attrName>
                                        </p:attrNameLst>
                                      </p:cBhvr>
                                      <p:to>
                                        <p:strVal val="visible"/>
                                      </p:to>
                                    </p:set>
                                    <p:animEffect transition="in" filter="fade">
                                      <p:cBhvr>
                                        <p:cTn id="52" dur="550"/>
                                        <p:tgtEl>
                                          <p:spTgt spid="16"/>
                                        </p:tgtEl>
                                      </p:cBhvr>
                                    </p:animEffect>
                                    <p:anim calcmode="lin" valueType="num">
                                      <p:cBhvr additive="base">
                                        <p:cTn id="53" dur="550" fill="hold"/>
                                        <p:tgtEl>
                                          <p:spTgt spid="16"/>
                                        </p:tgtEl>
                                        <p:attrNameLst>
                                          <p:attrName>ppt_x</p:attrName>
                                        </p:attrNameLst>
                                      </p:cBhvr>
                                      <p:tavLst>
                                        <p:tav tm="0">
                                          <p:val>
                                            <p:strVal val="#ppt_x"/>
                                          </p:val>
                                        </p:tav>
                                        <p:tav tm="100000">
                                          <p:val>
                                            <p:strVal val="#ppt_x"/>
                                          </p:val>
                                        </p:tav>
                                      </p:tavLst>
                                    </p:anim>
                                    <p:anim calcmode="lin" valueType="num">
                                      <p:cBhvr additive="base">
                                        <p:cTn id="54" dur="550" fill="hold"/>
                                        <p:tgtEl>
                                          <p:spTgt spid="16"/>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9" grpId="0" animBg="1"/>
      <p:bldP spid="10" grpId="0" animBg="1"/>
      <p:bldP spid="11" grpId="0" animBg="1"/>
      <p:bldP spid="12" grpId="0" animBg="1"/>
      <p:bldP spid="13" grpId="0" animBg="1"/>
      <p:bldP spid="14" grpId="0" animBg="1"/>
      <p:bldP spid="15" grpId="0" animBg="1"/>
      <p:bldP spid="16" grpId="0" animBg="1"/>
    </p:bldLst>
  </p:timing>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110000"/>
            <a:ext cx="10300000" cy="300000"/>
          </a:xfrm>
          <a:prstGeom prst="rect">
            <a:avLst/>
          </a:prstGeom>
          <a:noFill/>
        </p:spPr>
        <p:txBody>
          <a:bodyPr wrap="square" anchor="t" lIns="50800" rIns="50800">
            <a:spAutoFit/>
          </a:bodyPr>
          <a:lstStyle/>
          <a:p>
            <a:pPr algn="l"/>
            <a:r>
              <a:rPr sz="1200" b="1">
                <a:solidFill>
                  <a:srgbClr val="A9C4E6"/>
                </a:solidFill>
                <a:latin typeface="Calibri"/>
              </a:rPr>
              <a:t>AMALIY MISOL</a:t>
            </a:r>
          </a:p>
        </p:txBody>
      </p:sp>
      <p:sp>
        <p:nvSpPr>
          <p:cNvPr id="6" name="TextBox 5"/>
          <p:cNvSpPr txBox="1"/>
          <p:nvPr/>
        </p:nvSpPr>
        <p:spPr>
          <a:xfrm>
            <a:off x="500000" y="330000"/>
            <a:ext cx="10400000" cy="650000"/>
          </a:xfrm>
          <a:prstGeom prst="rect">
            <a:avLst/>
          </a:prstGeom>
          <a:noFill/>
        </p:spPr>
        <p:txBody>
          <a:bodyPr wrap="square" anchor="ctr" lIns="50800" rIns="50800">
            <a:spAutoFit/>
          </a:bodyPr>
          <a:lstStyle/>
          <a:p>
            <a:pPr algn="l"/>
            <a:r>
              <a:rPr sz="2600" b="1">
                <a:solidFill>
                  <a:srgbClr val="FFFFFF"/>
                </a:solidFill>
                <a:latin typeface="Calibri"/>
              </a:rPr>
              <a:t>1-qadam. Talablar matritsasini tuzish</a:t>
            </a:r>
          </a:p>
        </p:txBody>
      </p:sp>
      <p:sp>
        <p:nvSpPr>
          <p:cNvPr id="7" name="Rectangle 6"/>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A1 · Sun'iy intellektga asoslangan kompyuter tizimlari arxitekturasini tahlil qilish va loyihalash</a:t>
            </a:r>
          </a:p>
        </p:txBody>
      </p:sp>
      <p:sp>
        <p:nvSpPr>
          <p:cNvPr id="9" name="TextBox 8"/>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19</a:t>
            </a:r>
          </a:p>
        </p:txBody>
      </p:sp>
      <p:sp>
        <p:nvSpPr>
          <p:cNvPr id="10" name="Rounded Rectangle 9"/>
          <p:cNvSpPr/>
          <p:nvPr/>
        </p:nvSpPr>
        <p:spPr>
          <a:xfrm>
            <a:off x="550000" y="2076666"/>
            <a:ext cx="11100000" cy="1250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50000" y="2076666"/>
            <a:ext cx="70000" cy="1250000"/>
          </a:xfrm>
          <a:prstGeom prst="rect">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800000" y="2471666"/>
            <a:ext cx="460000" cy="460000"/>
          </a:xfrm>
          <a:prstGeom prst="ellipse">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1</a:t>
            </a:r>
          </a:p>
        </p:txBody>
      </p:sp>
      <p:sp>
        <p:nvSpPr>
          <p:cNvPr id="13" name="TextBox 12"/>
          <p:cNvSpPr txBox="1"/>
          <p:nvPr/>
        </p:nvSpPr>
        <p:spPr>
          <a:xfrm>
            <a:off x="1450000" y="2076666"/>
            <a:ext cx="10050000" cy="1250000"/>
          </a:xfrm>
          <a:prstGeom prst="rect">
            <a:avLst/>
          </a:prstGeom>
          <a:noFill/>
        </p:spPr>
        <p:txBody>
          <a:bodyPr wrap="square" anchor="ctr" lIns="50800" rIns="50800">
            <a:spAutoFit/>
          </a:bodyPr>
          <a:lstStyle/>
          <a:p>
            <a:pPr algn="l"/>
            <a:r>
              <a:rPr sz="1600" b="0">
                <a:solidFill>
                  <a:srgbClr val="1B2430"/>
                </a:solidFill>
                <a:latin typeface="Calibri"/>
              </a:rPr>
              <a:t>Avval ssenariy talablarini o'lchanadigan ko'rsatkichlarga aylantiring va har biriga og'irlik (1–5) bering. Quyidagi matritsa namuna; talaba o'z asoslashi bilan og'irliklarni o'zgartirishi mumkin.</a:t>
            </a:r>
          </a:p>
        </p:txBody>
      </p:sp>
      <p:sp>
        <p:nvSpPr>
          <p:cNvPr id="14" name="Rounded Rectangle 13"/>
          <p:cNvSpPr/>
          <p:nvPr/>
        </p:nvSpPr>
        <p:spPr>
          <a:xfrm>
            <a:off x="550000" y="3446666"/>
            <a:ext cx="11100000" cy="1250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50000" y="3446666"/>
            <a:ext cx="70000" cy="1250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00000" y="3841666"/>
            <a:ext cx="460000" cy="46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2</a:t>
            </a:r>
          </a:p>
        </p:txBody>
      </p:sp>
      <p:sp>
        <p:nvSpPr>
          <p:cNvPr id="17" name="TextBox 16"/>
          <p:cNvSpPr txBox="1"/>
          <p:nvPr/>
        </p:nvSpPr>
        <p:spPr>
          <a:xfrm>
            <a:off x="1450000" y="3446666"/>
            <a:ext cx="10050000" cy="1250000"/>
          </a:xfrm>
          <a:prstGeom prst="rect">
            <a:avLst/>
          </a:prstGeom>
          <a:noFill/>
        </p:spPr>
        <p:txBody>
          <a:bodyPr wrap="square" anchor="ctr" lIns="50800" rIns="50800">
            <a:spAutoFit/>
          </a:bodyPr>
          <a:lstStyle/>
          <a:p>
            <a:pPr algn="l"/>
            <a:r>
              <a:rPr sz="1600" b="0">
                <a:solidFill>
                  <a:srgbClr val="1B2430"/>
                </a:solidFill>
                <a:latin typeface="Calibri"/>
              </a:rPr>
              <a:t>Nima bo'ldi va nega. Talablar matritsasi loyihalashni sub'ektiv bahsdan ob'ektiv taqqoslashga o'tkazadi. Og'irliklar buyurtmachi ustuvorliklarini aks ettiradi: kechikish va o'tkazuvchanlik — funksional talab (bajarilmasa tizim ishlamaydi), narx — iqtisodiy…</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55"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6"/>
                                        </p:tgtEl>
                                        <p:attrNameLst>
                                          <p:attrName>style.visibility</p:attrName>
                                        </p:attrNameLst>
                                      </p:cBhvr>
                                      <p:to>
                                        <p:strVal val="visible"/>
                                      </p:to>
                                    </p:set>
                                    <p:animEffect transition="in" filter="fade">
                                      <p:cBhvr>
                                        <p:cTn id="6" dur="550"/>
                                        <p:tgtEl>
                                          <p:spTgt spid="6"/>
                                        </p:tgtEl>
                                      </p:cBhvr>
                                    </p:animEffect>
                                  </p:childTnLst>
                                </p:cTn>
                              </p:par>
                            </p:childTnLst>
                          </p:cTn>
                        </p:par>
                        <p:par>
                          <p:cTn id="7" fill="hold">
                            <p:stCondLst>
                              <p:cond delay="220"/>
                            </p:stCondLst>
                            <p:childTnLst>
                              <p:par>
                                <p:cTn id="8" presetID="42" presetClass="entr" presetSubtype="0" fill="hold" grpId="0" nodeType="after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fade">
                                      <p:cBhvr>
                                        <p:cTn id="10" dur="550"/>
                                        <p:tgtEl>
                                          <p:spTgt spid="10"/>
                                        </p:tgtEl>
                                      </p:cBhvr>
                                    </p:animEffect>
                                    <p:anim calcmode="lin" valueType="num">
                                      <p:cBhvr additive="base">
                                        <p:cTn id="11" dur="550" fill="hold"/>
                                        <p:tgtEl>
                                          <p:spTgt spid="10"/>
                                        </p:tgtEl>
                                        <p:attrNameLst>
                                          <p:attrName>ppt_x</p:attrName>
                                        </p:attrNameLst>
                                      </p:cBhvr>
                                      <p:tavLst>
                                        <p:tav tm="0">
                                          <p:val>
                                            <p:strVal val="#ppt_x"/>
                                          </p:val>
                                        </p:tav>
                                        <p:tav tm="100000">
                                          <p:val>
                                            <p:strVal val="#ppt_x"/>
                                          </p:val>
                                        </p:tav>
                                      </p:tavLst>
                                    </p:anim>
                                    <p:anim calcmode="lin" valueType="num">
                                      <p:cBhvr additive="base">
                                        <p:cTn id="12" dur="550" fill="hold"/>
                                        <p:tgtEl>
                                          <p:spTgt spid="10"/>
                                        </p:tgtEl>
                                        <p:attrNameLst>
                                          <p:attrName>ppt_y</p:attrName>
                                        </p:attrNameLst>
                                      </p:cBhvr>
                                      <p:tavLst>
                                        <p:tav tm="0">
                                          <p:val>
                                            <p:strVal val="#ppt_y+.08"/>
                                          </p:val>
                                        </p:tav>
                                        <p:tav tm="100000">
                                          <p:val>
                                            <p:strVal val="#ppt_y"/>
                                          </p:val>
                                        </p:tav>
                                      </p:tavLst>
                                    </p:anim>
                                  </p:childTnLst>
                                </p:cTn>
                              </p:par>
                            </p:childTnLst>
                          </p:cTn>
                        </p:par>
                        <p:par>
                          <p:cTn id="13" fill="hold">
                            <p:stCondLst>
                              <p:cond delay="220"/>
                            </p:stCondLst>
                            <p:childTnLst>
                              <p:par>
                                <p:cTn id="14" presetID="42" presetClass="entr" presetSubtype="0" fill="hold" grpId="0" nodeType="afterEffect">
                                  <p:stCondLst>
                                    <p:cond delay="0"/>
                                  </p:stCondLst>
                                  <p:childTnLst>
                                    <p:set>
                                      <p:cBhvr>
                                        <p:cTn id="15" dur="1" fill="hold">
                                          <p:stCondLst>
                                            <p:cond delay="0"/>
                                          </p:stCondLst>
                                        </p:cTn>
                                        <p:tgtEl>
                                          <p:spTgt spid="11"/>
                                        </p:tgtEl>
                                        <p:attrNameLst>
                                          <p:attrName>style.visibility</p:attrName>
                                        </p:attrNameLst>
                                      </p:cBhvr>
                                      <p:to>
                                        <p:strVal val="visible"/>
                                      </p:to>
                                    </p:set>
                                    <p:animEffect transition="in" filter="fade">
                                      <p:cBhvr>
                                        <p:cTn id="16" dur="550"/>
                                        <p:tgtEl>
                                          <p:spTgt spid="11"/>
                                        </p:tgtEl>
                                      </p:cBhvr>
                                    </p:animEffect>
                                    <p:anim calcmode="lin" valueType="num">
                                      <p:cBhvr additive="base">
                                        <p:cTn id="17" dur="550" fill="hold"/>
                                        <p:tgtEl>
                                          <p:spTgt spid="11"/>
                                        </p:tgtEl>
                                        <p:attrNameLst>
                                          <p:attrName>ppt_x</p:attrName>
                                        </p:attrNameLst>
                                      </p:cBhvr>
                                      <p:tavLst>
                                        <p:tav tm="0">
                                          <p:val>
                                            <p:strVal val="#ppt_x"/>
                                          </p:val>
                                        </p:tav>
                                        <p:tav tm="100000">
                                          <p:val>
                                            <p:strVal val="#ppt_x"/>
                                          </p:val>
                                        </p:tav>
                                      </p:tavLst>
                                    </p:anim>
                                    <p:anim calcmode="lin" valueType="num">
                                      <p:cBhvr additive="base">
                                        <p:cTn id="18" dur="550" fill="hold"/>
                                        <p:tgtEl>
                                          <p:spTgt spid="11"/>
                                        </p:tgtEl>
                                        <p:attrNameLst>
                                          <p:attrName>ppt_y</p:attrName>
                                        </p:attrNameLst>
                                      </p:cBhvr>
                                      <p:tavLst>
                                        <p:tav tm="0">
                                          <p:val>
                                            <p:strVal val="#ppt_y+.08"/>
                                          </p:val>
                                        </p:tav>
                                        <p:tav tm="100000">
                                          <p:val>
                                            <p:strVal val="#ppt_y"/>
                                          </p:val>
                                        </p:tav>
                                      </p:tavLst>
                                    </p:anim>
                                  </p:childTnLst>
                                </p:cTn>
                              </p:par>
                            </p:childTnLst>
                          </p:cTn>
                        </p:par>
                        <p:par>
                          <p:cTn id="19" fill="hold">
                            <p:stCondLst>
                              <p:cond delay="220"/>
                            </p:stCondLst>
                            <p:childTnLst>
                              <p:par>
                                <p:cTn id="20" presetID="53" presetClass="entr" presetSubtype="16" fill="hold" grpId="0" nodeType="afterEffect">
                                  <p:stCondLst>
                                    <p:cond delay="0"/>
                                  </p:stCondLst>
                                  <p:childTnLst>
                                    <p:set>
                                      <p:cBhvr>
                                        <p:cTn id="21" dur="1" fill="hold">
                                          <p:stCondLst>
                                            <p:cond delay="0"/>
                                          </p:stCondLst>
                                        </p:cTn>
                                        <p:tgtEl>
                                          <p:spTgt spid="12"/>
                                        </p:tgtEl>
                                        <p:attrNameLst>
                                          <p:attrName>style.visibility</p:attrName>
                                        </p:attrNameLst>
                                      </p:cBhvr>
                                      <p:to>
                                        <p:strVal val="visible"/>
                                      </p:to>
                                    </p:set>
                                    <p:animEffect transition="in" filter="fade">
                                      <p:cBhvr>
                                        <p:cTn id="22" dur="550"/>
                                        <p:tgtEl>
                                          <p:spTgt spid="12"/>
                                        </p:tgtEl>
                                      </p:cBhvr>
                                    </p:animEffect>
                                    <p:anim calcmode="lin" valueType="num">
                                      <p:cBhvr additive="base">
                                        <p:cTn id="23" dur="550" fill="hold"/>
                                        <p:tgtEl>
                                          <p:spTgt spid="12"/>
                                        </p:tgtEl>
                                        <p:attrNameLst>
                                          <p:attrName>ppt_w</p:attrName>
                                        </p:attrNameLst>
                                      </p:cBhvr>
                                      <p:tavLst>
                                        <p:tav tm="0">
                                          <p:val>
                                            <p:strVal val="0"/>
                                          </p:val>
                                        </p:tav>
                                        <p:tav tm="100000">
                                          <p:val>
                                            <p:strVal val="#ppt_w"/>
                                          </p:val>
                                        </p:tav>
                                      </p:tavLst>
                                    </p:anim>
                                    <p:anim calcmode="lin" valueType="num">
                                      <p:cBhvr additive="base">
                                        <p:cTn id="24" dur="550" fill="hold"/>
                                        <p:tgtEl>
                                          <p:spTgt spid="12"/>
                                        </p:tgtEl>
                                        <p:attrNameLst>
                                          <p:attrName>ppt_h</p:attrName>
                                        </p:attrNameLst>
                                      </p:cBhvr>
                                      <p:tavLst>
                                        <p:tav tm="0">
                                          <p:val>
                                            <p:strVal val="0"/>
                                          </p:val>
                                        </p:tav>
                                        <p:tav tm="100000">
                                          <p:val>
                                            <p:strVal val="#ppt_h"/>
                                          </p:val>
                                        </p:tav>
                                      </p:tavLst>
                                    </p:anim>
                                  </p:childTnLst>
                                </p:cTn>
                              </p:par>
                            </p:childTnLst>
                          </p:cTn>
                        </p:par>
                        <p:par>
                          <p:cTn id="25" fill="hold">
                            <p:stCondLst>
                              <p:cond delay="220"/>
                            </p:stCondLst>
                            <p:childTnLst>
                              <p:par>
                                <p:cTn id="26" presetID="42" presetClass="entr" presetSubtype="0" fill="hold" grpId="0" nodeType="afterEffect">
                                  <p:stCondLst>
                                    <p:cond delay="0"/>
                                  </p:stCondLst>
                                  <p:childTnLst>
                                    <p:set>
                                      <p:cBhvr>
                                        <p:cTn id="27" dur="1" fill="hold">
                                          <p:stCondLst>
                                            <p:cond delay="0"/>
                                          </p:stCondLst>
                                        </p:cTn>
                                        <p:tgtEl>
                                          <p:spTgt spid="13"/>
                                        </p:tgtEl>
                                        <p:attrNameLst>
                                          <p:attrName>style.visibility</p:attrName>
                                        </p:attrNameLst>
                                      </p:cBhvr>
                                      <p:to>
                                        <p:strVal val="visible"/>
                                      </p:to>
                                    </p:set>
                                    <p:animEffect transition="in" filter="fade">
                                      <p:cBhvr>
                                        <p:cTn id="28" dur="550"/>
                                        <p:tgtEl>
                                          <p:spTgt spid="13"/>
                                        </p:tgtEl>
                                      </p:cBhvr>
                                    </p:animEffect>
                                    <p:anim calcmode="lin" valueType="num">
                                      <p:cBhvr additive="base">
                                        <p:cTn id="29" dur="550" fill="hold"/>
                                        <p:tgtEl>
                                          <p:spTgt spid="13"/>
                                        </p:tgtEl>
                                        <p:attrNameLst>
                                          <p:attrName>ppt_x</p:attrName>
                                        </p:attrNameLst>
                                      </p:cBhvr>
                                      <p:tavLst>
                                        <p:tav tm="0">
                                          <p:val>
                                            <p:strVal val="#ppt_x"/>
                                          </p:val>
                                        </p:tav>
                                        <p:tav tm="100000">
                                          <p:val>
                                            <p:strVal val="#ppt_x"/>
                                          </p:val>
                                        </p:tav>
                                      </p:tavLst>
                                    </p:anim>
                                    <p:anim calcmode="lin" valueType="num">
                                      <p:cBhvr additive="base">
                                        <p:cTn id="30" dur="550" fill="hold"/>
                                        <p:tgtEl>
                                          <p:spTgt spid="13"/>
                                        </p:tgtEl>
                                        <p:attrNameLst>
                                          <p:attrName>ppt_y</p:attrName>
                                        </p:attrNameLst>
                                      </p:cBhvr>
                                      <p:tavLst>
                                        <p:tav tm="0">
                                          <p:val>
                                            <p:strVal val="#ppt_y+.08"/>
                                          </p:val>
                                        </p:tav>
                                        <p:tav tm="100000">
                                          <p:val>
                                            <p:strVal val="#ppt_y"/>
                                          </p:val>
                                        </p:tav>
                                      </p:tavLst>
                                    </p:anim>
                                  </p:childTnLst>
                                </p:cTn>
                              </p:par>
                            </p:childTnLst>
                          </p:cTn>
                        </p:par>
                        <p:par>
                          <p:cTn id="31" fill="hold">
                            <p:stCondLst>
                              <p:cond delay="440"/>
                            </p:stCondLst>
                            <p:childTnLst>
                              <p:par>
                                <p:cTn id="32" presetID="42" presetClass="entr" presetSubtype="0" fill="hold" grpId="0" nodeType="afterEffect">
                                  <p:stCondLst>
                                    <p:cond delay="0"/>
                                  </p:stCondLst>
                                  <p:childTnLst>
                                    <p:set>
                                      <p:cBhvr>
                                        <p:cTn id="33" dur="1" fill="hold">
                                          <p:stCondLst>
                                            <p:cond delay="0"/>
                                          </p:stCondLst>
                                        </p:cTn>
                                        <p:tgtEl>
                                          <p:spTgt spid="14"/>
                                        </p:tgtEl>
                                        <p:attrNameLst>
                                          <p:attrName>style.visibility</p:attrName>
                                        </p:attrNameLst>
                                      </p:cBhvr>
                                      <p:to>
                                        <p:strVal val="visible"/>
                                      </p:to>
                                    </p:set>
                                    <p:animEffect transition="in" filter="fade">
                                      <p:cBhvr>
                                        <p:cTn id="34" dur="550"/>
                                        <p:tgtEl>
                                          <p:spTgt spid="14"/>
                                        </p:tgtEl>
                                      </p:cBhvr>
                                    </p:animEffect>
                                    <p:anim calcmode="lin" valueType="num">
                                      <p:cBhvr additive="base">
                                        <p:cTn id="35" dur="550" fill="hold"/>
                                        <p:tgtEl>
                                          <p:spTgt spid="14"/>
                                        </p:tgtEl>
                                        <p:attrNameLst>
                                          <p:attrName>ppt_x</p:attrName>
                                        </p:attrNameLst>
                                      </p:cBhvr>
                                      <p:tavLst>
                                        <p:tav tm="0">
                                          <p:val>
                                            <p:strVal val="#ppt_x"/>
                                          </p:val>
                                        </p:tav>
                                        <p:tav tm="100000">
                                          <p:val>
                                            <p:strVal val="#ppt_x"/>
                                          </p:val>
                                        </p:tav>
                                      </p:tavLst>
                                    </p:anim>
                                    <p:anim calcmode="lin" valueType="num">
                                      <p:cBhvr additive="base">
                                        <p:cTn id="36" dur="550" fill="hold"/>
                                        <p:tgtEl>
                                          <p:spTgt spid="14"/>
                                        </p:tgtEl>
                                        <p:attrNameLst>
                                          <p:attrName>ppt_y</p:attrName>
                                        </p:attrNameLst>
                                      </p:cBhvr>
                                      <p:tavLst>
                                        <p:tav tm="0">
                                          <p:val>
                                            <p:strVal val="#ppt_y+.08"/>
                                          </p:val>
                                        </p:tav>
                                        <p:tav tm="100000">
                                          <p:val>
                                            <p:strVal val="#ppt_y"/>
                                          </p:val>
                                        </p:tav>
                                      </p:tavLst>
                                    </p:anim>
                                  </p:childTnLst>
                                </p:cTn>
                              </p:par>
                            </p:childTnLst>
                          </p:cTn>
                        </p:par>
                        <p:par>
                          <p:cTn id="37" fill="hold">
                            <p:stCondLst>
                              <p:cond delay="440"/>
                            </p:stCondLst>
                            <p:childTnLst>
                              <p:par>
                                <p:cTn id="38" presetID="42" presetClass="entr" presetSubtype="0" fill="hold" grpId="0" nodeType="afterEffect">
                                  <p:stCondLst>
                                    <p:cond delay="0"/>
                                  </p:stCondLst>
                                  <p:childTnLst>
                                    <p:set>
                                      <p:cBhvr>
                                        <p:cTn id="39" dur="1" fill="hold">
                                          <p:stCondLst>
                                            <p:cond delay="0"/>
                                          </p:stCondLst>
                                        </p:cTn>
                                        <p:tgtEl>
                                          <p:spTgt spid="15"/>
                                        </p:tgtEl>
                                        <p:attrNameLst>
                                          <p:attrName>style.visibility</p:attrName>
                                        </p:attrNameLst>
                                      </p:cBhvr>
                                      <p:to>
                                        <p:strVal val="visible"/>
                                      </p:to>
                                    </p:set>
                                    <p:animEffect transition="in" filter="fade">
                                      <p:cBhvr>
                                        <p:cTn id="40" dur="550"/>
                                        <p:tgtEl>
                                          <p:spTgt spid="15"/>
                                        </p:tgtEl>
                                      </p:cBhvr>
                                    </p:animEffect>
                                    <p:anim calcmode="lin" valueType="num">
                                      <p:cBhvr additive="base">
                                        <p:cTn id="41" dur="550" fill="hold"/>
                                        <p:tgtEl>
                                          <p:spTgt spid="15"/>
                                        </p:tgtEl>
                                        <p:attrNameLst>
                                          <p:attrName>ppt_x</p:attrName>
                                        </p:attrNameLst>
                                      </p:cBhvr>
                                      <p:tavLst>
                                        <p:tav tm="0">
                                          <p:val>
                                            <p:strVal val="#ppt_x"/>
                                          </p:val>
                                        </p:tav>
                                        <p:tav tm="100000">
                                          <p:val>
                                            <p:strVal val="#ppt_x"/>
                                          </p:val>
                                        </p:tav>
                                      </p:tavLst>
                                    </p:anim>
                                    <p:anim calcmode="lin" valueType="num">
                                      <p:cBhvr additive="base">
                                        <p:cTn id="42" dur="550" fill="hold"/>
                                        <p:tgtEl>
                                          <p:spTgt spid="15"/>
                                        </p:tgtEl>
                                        <p:attrNameLst>
                                          <p:attrName>ppt_y</p:attrName>
                                        </p:attrNameLst>
                                      </p:cBhvr>
                                      <p:tavLst>
                                        <p:tav tm="0">
                                          <p:val>
                                            <p:strVal val="#ppt_y+.08"/>
                                          </p:val>
                                        </p:tav>
                                        <p:tav tm="100000">
                                          <p:val>
                                            <p:strVal val="#ppt_y"/>
                                          </p:val>
                                        </p:tav>
                                      </p:tavLst>
                                    </p:anim>
                                  </p:childTnLst>
                                </p:cTn>
                              </p:par>
                            </p:childTnLst>
                          </p:cTn>
                        </p:par>
                        <p:par>
                          <p:cTn id="43" fill="hold">
                            <p:stCondLst>
                              <p:cond delay="440"/>
                            </p:stCondLst>
                            <p:childTnLst>
                              <p:par>
                                <p:cTn id="44" presetID="53" presetClass="entr" presetSubtype="16" fill="hold" grpId="0" nodeType="afterEffect">
                                  <p:stCondLst>
                                    <p:cond delay="0"/>
                                  </p:stCondLst>
                                  <p:childTnLst>
                                    <p:set>
                                      <p:cBhvr>
                                        <p:cTn id="45" dur="1" fill="hold">
                                          <p:stCondLst>
                                            <p:cond delay="0"/>
                                          </p:stCondLst>
                                        </p:cTn>
                                        <p:tgtEl>
                                          <p:spTgt spid="16"/>
                                        </p:tgtEl>
                                        <p:attrNameLst>
                                          <p:attrName>style.visibility</p:attrName>
                                        </p:attrNameLst>
                                      </p:cBhvr>
                                      <p:to>
                                        <p:strVal val="visible"/>
                                      </p:to>
                                    </p:set>
                                    <p:animEffect transition="in" filter="fade">
                                      <p:cBhvr>
                                        <p:cTn id="46" dur="550"/>
                                        <p:tgtEl>
                                          <p:spTgt spid="16"/>
                                        </p:tgtEl>
                                      </p:cBhvr>
                                    </p:animEffect>
                                    <p:anim calcmode="lin" valueType="num">
                                      <p:cBhvr additive="base">
                                        <p:cTn id="47" dur="550" fill="hold"/>
                                        <p:tgtEl>
                                          <p:spTgt spid="16"/>
                                        </p:tgtEl>
                                        <p:attrNameLst>
                                          <p:attrName>ppt_w</p:attrName>
                                        </p:attrNameLst>
                                      </p:cBhvr>
                                      <p:tavLst>
                                        <p:tav tm="0">
                                          <p:val>
                                            <p:strVal val="0"/>
                                          </p:val>
                                        </p:tav>
                                        <p:tav tm="100000">
                                          <p:val>
                                            <p:strVal val="#ppt_w"/>
                                          </p:val>
                                        </p:tav>
                                      </p:tavLst>
                                    </p:anim>
                                    <p:anim calcmode="lin" valueType="num">
                                      <p:cBhvr additive="base">
                                        <p:cTn id="48" dur="550" fill="hold"/>
                                        <p:tgtEl>
                                          <p:spTgt spid="16"/>
                                        </p:tgtEl>
                                        <p:attrNameLst>
                                          <p:attrName>ppt_h</p:attrName>
                                        </p:attrNameLst>
                                      </p:cBhvr>
                                      <p:tavLst>
                                        <p:tav tm="0">
                                          <p:val>
                                            <p:strVal val="0"/>
                                          </p:val>
                                        </p:tav>
                                        <p:tav tm="100000">
                                          <p:val>
                                            <p:strVal val="#ppt_h"/>
                                          </p:val>
                                        </p:tav>
                                      </p:tavLst>
                                    </p:anim>
                                  </p:childTnLst>
                                </p:cTn>
                              </p:par>
                            </p:childTnLst>
                          </p:cTn>
                        </p:par>
                        <p:par>
                          <p:cTn id="49" fill="hold">
                            <p:stCondLst>
                              <p:cond delay="440"/>
                            </p:stCondLst>
                            <p:childTnLst>
                              <p:par>
                                <p:cTn id="50" presetID="42" presetClass="entr" presetSubtype="0" fill="hold" grpId="0" nodeType="afterEffect">
                                  <p:stCondLst>
                                    <p:cond delay="0"/>
                                  </p:stCondLst>
                                  <p:childTnLst>
                                    <p:set>
                                      <p:cBhvr>
                                        <p:cTn id="51" dur="1" fill="hold">
                                          <p:stCondLst>
                                            <p:cond delay="0"/>
                                          </p:stCondLst>
                                        </p:cTn>
                                        <p:tgtEl>
                                          <p:spTgt spid="17"/>
                                        </p:tgtEl>
                                        <p:attrNameLst>
                                          <p:attrName>style.visibility</p:attrName>
                                        </p:attrNameLst>
                                      </p:cBhvr>
                                      <p:to>
                                        <p:strVal val="visible"/>
                                      </p:to>
                                    </p:set>
                                    <p:animEffect transition="in" filter="fade">
                                      <p:cBhvr>
                                        <p:cTn id="52" dur="550"/>
                                        <p:tgtEl>
                                          <p:spTgt spid="17"/>
                                        </p:tgtEl>
                                      </p:cBhvr>
                                    </p:animEffect>
                                    <p:anim calcmode="lin" valueType="num">
                                      <p:cBhvr additive="base">
                                        <p:cTn id="53" dur="550" fill="hold"/>
                                        <p:tgtEl>
                                          <p:spTgt spid="17"/>
                                        </p:tgtEl>
                                        <p:attrNameLst>
                                          <p:attrName>ppt_x</p:attrName>
                                        </p:attrNameLst>
                                      </p:cBhvr>
                                      <p:tavLst>
                                        <p:tav tm="0">
                                          <p:val>
                                            <p:strVal val="#ppt_x"/>
                                          </p:val>
                                        </p:tav>
                                        <p:tav tm="100000">
                                          <p:val>
                                            <p:strVal val="#ppt_x"/>
                                          </p:val>
                                        </p:tav>
                                      </p:tavLst>
                                    </p:anim>
                                    <p:anim calcmode="lin" valueType="num">
                                      <p:cBhvr additive="base">
                                        <p:cTn id="54" dur="550" fill="hold"/>
                                        <p:tgtEl>
                                          <p:spTgt spid="17"/>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10" grpId="0" animBg="1"/>
      <p:bldP spid="11" grpId="0" animBg="1"/>
      <p:bldP spid="12" grpId="0" animBg="1"/>
      <p:bldP spid="13" grpId="0" animBg="1"/>
      <p:bldP spid="14" grpId="0" animBg="1"/>
      <p:bldP spid="15" grpId="0" animBg="1"/>
      <p:bldP spid="16" grpId="0" animBg="1"/>
      <p:bldP spid="17" grpId="0" animBg="1"/>
    </p:bldLst>
  </p:timing>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110000"/>
            <a:ext cx="10300000" cy="300000"/>
          </a:xfrm>
          <a:prstGeom prst="rect">
            <a:avLst/>
          </a:prstGeom>
          <a:noFill/>
        </p:spPr>
        <p:txBody>
          <a:bodyPr wrap="square" anchor="t" lIns="50800" rIns="50800">
            <a:spAutoFit/>
          </a:bodyPr>
          <a:lstStyle/>
          <a:p>
            <a:pPr algn="l"/>
            <a:r>
              <a:rPr sz="1200" b="1">
                <a:solidFill>
                  <a:srgbClr val="A9C4E6"/>
                </a:solidFill>
                <a:latin typeface="Calibri"/>
              </a:rPr>
              <a:t>AMALIY MISOL</a:t>
            </a:r>
          </a:p>
        </p:txBody>
      </p:sp>
      <p:sp>
        <p:nvSpPr>
          <p:cNvPr id="6" name="TextBox 5"/>
          <p:cNvSpPr txBox="1"/>
          <p:nvPr/>
        </p:nvSpPr>
        <p:spPr>
          <a:xfrm>
            <a:off x="500000" y="330000"/>
            <a:ext cx="10400000" cy="650000"/>
          </a:xfrm>
          <a:prstGeom prst="rect">
            <a:avLst/>
          </a:prstGeom>
          <a:noFill/>
        </p:spPr>
        <p:txBody>
          <a:bodyPr wrap="square" anchor="ctr" lIns="50800" rIns="50800">
            <a:spAutoFit/>
          </a:bodyPr>
          <a:lstStyle/>
          <a:p>
            <a:pPr algn="l"/>
            <a:r>
              <a:rPr sz="2600" b="1">
                <a:solidFill>
                  <a:srgbClr val="FFFFFF"/>
                </a:solidFill>
                <a:latin typeface="Calibri"/>
              </a:rPr>
              <a:t>1-qadam. Talablar matritsasini tuzish</a:t>
            </a:r>
          </a:p>
        </p:txBody>
      </p:sp>
      <p:sp>
        <p:nvSpPr>
          <p:cNvPr id="7" name="Rectangle 6"/>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A1 · Sun'iy intellektga asoslangan kompyuter tizimlari arxitekturasini tahlil qilish va loyihalash</a:t>
            </a:r>
          </a:p>
        </p:txBody>
      </p:sp>
      <p:sp>
        <p:nvSpPr>
          <p:cNvPr id="9" name="TextBox 8"/>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20</a:t>
            </a:r>
          </a:p>
        </p:txBody>
      </p:sp>
      <p:graphicFrame>
        <p:nvGraphicFramePr>
          <p:cNvPr id="10" name="Table 9"/>
          <p:cNvGraphicFramePr>
            <a:graphicFrameLocks noGrp="1"/>
          </p:cNvGraphicFramePr>
          <p:nvPr/>
        </p:nvGraphicFramePr>
        <p:xfrm>
          <a:off x="500000" y="1350000"/>
          <a:ext cx="11200000" cy="4160000"/>
        </p:xfrm>
        <a:graphic>
          <a:graphicData uri="http://schemas.openxmlformats.org/drawingml/2006/table">
            <a:tbl>
              <a:tblPr firstRow="1" bandRow="1">
                <a:tableStyleId>{5C22544A-7EE6-4342-B048-85BDC9FD1C3A}</a:tableStyleId>
              </a:tblPr>
              <a:tblGrid>
                <a:gridCol w="2800000"/>
                <a:gridCol w="2800000"/>
                <a:gridCol w="2800000"/>
                <a:gridCol w="2800000"/>
              </a:tblGrid>
              <a:tr h="520000">
                <a:tc>
                  <a:txBody>
                    <a:bodyPr/>
                    <a:lstStyle/>
                    <a:p>
                      <a:r>
                        <a:rPr sz="1400" b="1">
                          <a:solidFill>
                            <a:srgbClr val="FFFFFF"/>
                          </a:solidFill>
                          <a:latin typeface="Calibri"/>
                        </a:rPr>
                        <a:t>Talab</a:t>
                      </a:r>
                    </a:p>
                  </a:txBody>
                  <a:tcPr>
                    <a:solidFill>
                      <a:srgbClr val="2D5C8F"/>
                    </a:solidFill>
                  </a:tcPr>
                </a:tc>
                <a:tc>
                  <a:txBody>
                    <a:bodyPr/>
                    <a:lstStyle/>
                    <a:p>
                      <a:r>
                        <a:rPr sz="1400" b="1">
                          <a:solidFill>
                            <a:srgbClr val="FFFFFF"/>
                          </a:solidFill>
                          <a:latin typeface="Calibri"/>
                        </a:rPr>
                        <a:t>O'lchov</a:t>
                      </a:r>
                    </a:p>
                  </a:txBody>
                  <a:tcPr>
                    <a:solidFill>
                      <a:srgbClr val="2D5C8F"/>
                    </a:solidFill>
                  </a:tcPr>
                </a:tc>
                <a:tc>
                  <a:txBody>
                    <a:bodyPr/>
                    <a:lstStyle/>
                    <a:p>
                      <a:r>
                        <a:rPr sz="1400" b="1">
                          <a:solidFill>
                            <a:srgbClr val="FFFFFF"/>
                          </a:solidFill>
                          <a:latin typeface="Calibri"/>
                        </a:rPr>
                        <a:t>Chegaraviy qiymat</a:t>
                      </a:r>
                    </a:p>
                  </a:txBody>
                  <a:tcPr>
                    <a:solidFill>
                      <a:srgbClr val="2D5C8F"/>
                    </a:solidFill>
                  </a:tcPr>
                </a:tc>
                <a:tc>
                  <a:txBody>
                    <a:bodyPr/>
                    <a:lstStyle/>
                    <a:p>
                      <a:r>
                        <a:rPr sz="1400" b="1">
                          <a:solidFill>
                            <a:srgbClr val="FFFFFF"/>
                          </a:solidFill>
                          <a:latin typeface="Calibri"/>
                        </a:rPr>
                        <a:t>Og'irlik</a:t>
                      </a:r>
                    </a:p>
                  </a:txBody>
                  <a:tcPr>
                    <a:solidFill>
                      <a:srgbClr val="2D5C8F"/>
                    </a:solidFill>
                  </a:tcPr>
                </a:tc>
              </a:tr>
              <a:tr h="520000">
                <a:tc>
                  <a:txBody>
                    <a:bodyPr/>
                    <a:lstStyle/>
                    <a:p>
                      <a:r>
                        <a:rPr sz="1400" b="0">
                          <a:solidFill>
                            <a:srgbClr val="1B2430"/>
                          </a:solidFill>
                          <a:latin typeface="Calibri"/>
                        </a:rPr>
                        <a:t>O'tkazuvchanlik</a:t>
                      </a:r>
                    </a:p>
                  </a:txBody>
                  <a:tcPr>
                    <a:solidFill>
                      <a:srgbClr val="F1F4F8"/>
                    </a:solidFill>
                  </a:tcPr>
                </a:tc>
                <a:tc>
                  <a:txBody>
                    <a:bodyPr/>
                    <a:lstStyle/>
                    <a:p>
                      <a:r>
                        <a:rPr sz="1400" b="0">
                          <a:solidFill>
                            <a:srgbClr val="1B2430"/>
                          </a:solidFill>
                          <a:latin typeface="Calibri"/>
                        </a:rPr>
                        <a:t>inferens/s</a:t>
                      </a:r>
                    </a:p>
                  </a:txBody>
                  <a:tcPr>
                    <a:solidFill>
                      <a:srgbClr val="F1F4F8"/>
                    </a:solidFill>
                  </a:tcPr>
                </a:tc>
                <a:tc>
                  <a:txBody>
                    <a:bodyPr/>
                    <a:lstStyle/>
                    <a:p>
                      <a:r>
                        <a:rPr sz="1400" b="0">
                          <a:solidFill>
                            <a:srgbClr val="1B2430"/>
                          </a:solidFill>
                          <a:latin typeface="Calibri"/>
                        </a:rPr>
                        <a:t>≥ 160 (YOLOv8s, 640)</a:t>
                      </a:r>
                    </a:p>
                  </a:txBody>
                  <a:tcPr>
                    <a:solidFill>
                      <a:srgbClr val="F1F4F8"/>
                    </a:solidFill>
                  </a:tcPr>
                </a:tc>
                <a:tc>
                  <a:txBody>
                    <a:bodyPr/>
                    <a:lstStyle/>
                    <a:p>
                      <a:r>
                        <a:rPr sz="1400" b="0">
                          <a:solidFill>
                            <a:srgbClr val="1B2430"/>
                          </a:solidFill>
                          <a:latin typeface="Calibri"/>
                        </a:rPr>
                        <a:t>5</a:t>
                      </a:r>
                    </a:p>
                  </a:txBody>
                  <a:tcPr>
                    <a:solidFill>
                      <a:srgbClr val="F1F4F8"/>
                    </a:solidFill>
                  </a:tcPr>
                </a:tc>
              </a:tr>
              <a:tr h="520000">
                <a:tc>
                  <a:txBody>
                    <a:bodyPr/>
                    <a:lstStyle/>
                    <a:p>
                      <a:r>
                        <a:rPr sz="1400" b="0">
                          <a:solidFill>
                            <a:srgbClr val="1B2430"/>
                          </a:solidFill>
                          <a:latin typeface="Calibri"/>
                        </a:rPr>
                        <a:t>Uchdan-uchga kechikish</a:t>
                      </a:r>
                    </a:p>
                  </a:txBody>
                  <a:tcPr>
                    <a:solidFill>
                      <a:srgbClr val="FFFFFF"/>
                    </a:solidFill>
                  </a:tcPr>
                </a:tc>
                <a:tc>
                  <a:txBody>
                    <a:bodyPr/>
                    <a:lstStyle/>
                    <a:p>
                      <a:r>
                        <a:rPr sz="1400" b="0">
                          <a:solidFill>
                            <a:srgbClr val="1B2430"/>
                          </a:solidFill>
                          <a:latin typeface="Calibri"/>
                        </a:rPr>
                        <a:t>ms (p95)</a:t>
                      </a:r>
                    </a:p>
                  </a:txBody>
                  <a:tcPr>
                    <a:solidFill>
                      <a:srgbClr val="FFFFFF"/>
                    </a:solidFill>
                  </a:tcPr>
                </a:tc>
                <a:tc>
                  <a:txBody>
                    <a:bodyPr/>
                    <a:lstStyle/>
                    <a:p>
                      <a:r>
                        <a:rPr sz="1400" b="0">
                          <a:solidFill>
                            <a:srgbClr val="1B2430"/>
                          </a:solidFill>
                          <a:latin typeface="Calibri"/>
                        </a:rPr>
                        <a:t>≤ 200</a:t>
                      </a:r>
                    </a:p>
                  </a:txBody>
                  <a:tcPr>
                    <a:solidFill>
                      <a:srgbClr val="FFFFFF"/>
                    </a:solidFill>
                  </a:tcPr>
                </a:tc>
                <a:tc>
                  <a:txBody>
                    <a:bodyPr/>
                    <a:lstStyle/>
                    <a:p>
                      <a:r>
                        <a:rPr sz="1400" b="0">
                          <a:solidFill>
                            <a:srgbClr val="1B2430"/>
                          </a:solidFill>
                          <a:latin typeface="Calibri"/>
                        </a:rPr>
                        <a:t>5</a:t>
                      </a:r>
                    </a:p>
                  </a:txBody>
                  <a:tcPr>
                    <a:solidFill>
                      <a:srgbClr val="FFFFFF"/>
                    </a:solidFill>
                  </a:tcPr>
                </a:tc>
              </a:tr>
              <a:tr h="520000">
                <a:tc>
                  <a:txBody>
                    <a:bodyPr/>
                    <a:lstStyle/>
                    <a:p>
                      <a:r>
                        <a:rPr sz="1400" b="0">
                          <a:solidFill>
                            <a:srgbClr val="1B2430"/>
                          </a:solidFill>
                          <a:latin typeface="Calibri"/>
                        </a:rPr>
                        <a:t>Ish harorati</a:t>
                      </a:r>
                    </a:p>
                  </a:txBody>
                  <a:tcPr>
                    <a:solidFill>
                      <a:srgbClr val="F1F4F8"/>
                    </a:solidFill>
                  </a:tcPr>
                </a:tc>
                <a:tc>
                  <a:txBody>
                    <a:bodyPr/>
                    <a:lstStyle/>
                    <a:p>
                      <a:r>
                        <a:rPr sz="1400" b="0">
                          <a:solidFill>
                            <a:srgbClr val="1B2430"/>
                          </a:solidFill>
                          <a:latin typeface="Calibri"/>
                        </a:rPr>
                        <a:t>°C</a:t>
                      </a:r>
                    </a:p>
                  </a:txBody>
                  <a:tcPr>
                    <a:solidFill>
                      <a:srgbClr val="F1F4F8"/>
                    </a:solidFill>
                  </a:tcPr>
                </a:tc>
                <a:tc>
                  <a:txBody>
                    <a:bodyPr/>
                    <a:lstStyle/>
                    <a:p>
                      <a:r>
                        <a:rPr sz="1400" b="0">
                          <a:solidFill>
                            <a:srgbClr val="1B2430"/>
                          </a:solidFill>
                          <a:latin typeface="Calibri"/>
                        </a:rPr>
                        <a:t>+40 muhitda barqaror</a:t>
                      </a:r>
                    </a:p>
                  </a:txBody>
                  <a:tcPr>
                    <a:solidFill>
                      <a:srgbClr val="F1F4F8"/>
                    </a:solidFill>
                  </a:tcPr>
                </a:tc>
                <a:tc>
                  <a:txBody>
                    <a:bodyPr/>
                    <a:lstStyle/>
                    <a:p>
                      <a:r>
                        <a:rPr sz="1400" b="0">
                          <a:solidFill>
                            <a:srgbClr val="1B2430"/>
                          </a:solidFill>
                          <a:latin typeface="Calibri"/>
                        </a:rPr>
                        <a:t>4</a:t>
                      </a:r>
                    </a:p>
                  </a:txBody>
                  <a:tcPr>
                    <a:solidFill>
                      <a:srgbClr val="F1F4F8"/>
                    </a:solidFill>
                  </a:tcPr>
                </a:tc>
              </a:tr>
              <a:tr h="520000">
                <a:tc>
                  <a:txBody>
                    <a:bodyPr/>
                    <a:lstStyle/>
                    <a:p>
                      <a:r>
                        <a:rPr sz="1400" b="0">
                          <a:solidFill>
                            <a:srgbClr val="1B2430"/>
                          </a:solidFill>
                          <a:latin typeface="Calibri"/>
                        </a:rPr>
                        <a:t>Quvvat</a:t>
                      </a:r>
                    </a:p>
                  </a:txBody>
                  <a:tcPr>
                    <a:solidFill>
                      <a:srgbClr val="FFFFFF"/>
                    </a:solidFill>
                  </a:tcPr>
                </a:tc>
                <a:tc>
                  <a:txBody>
                    <a:bodyPr/>
                    <a:lstStyle/>
                    <a:p>
                      <a:r>
                        <a:rPr sz="1400" b="0">
                          <a:solidFill>
                            <a:srgbClr val="1B2430"/>
                          </a:solidFill>
                          <a:latin typeface="Calibri"/>
                        </a:rPr>
                        <a:t>Vt</a:t>
                      </a:r>
                    </a:p>
                  </a:txBody>
                  <a:tcPr>
                    <a:solidFill>
                      <a:srgbClr val="FFFFFF"/>
                    </a:solidFill>
                  </a:tcPr>
                </a:tc>
                <a:tc>
                  <a:txBody>
                    <a:bodyPr/>
                    <a:lstStyle/>
                    <a:p>
                      <a:r>
                        <a:rPr sz="1400" b="0">
                          <a:solidFill>
                            <a:srgbClr val="1B2430"/>
                          </a:solidFill>
                          <a:latin typeface="Calibri"/>
                        </a:rPr>
                        <a:t>≤ 60 (butun quti)</a:t>
                      </a:r>
                    </a:p>
                  </a:txBody>
                  <a:tcPr>
                    <a:solidFill>
                      <a:srgbClr val="FFFFFF"/>
                    </a:solidFill>
                  </a:tcPr>
                </a:tc>
                <a:tc>
                  <a:txBody>
                    <a:bodyPr/>
                    <a:lstStyle/>
                    <a:p>
                      <a:r>
                        <a:rPr sz="1400" b="0">
                          <a:solidFill>
                            <a:srgbClr val="1B2430"/>
                          </a:solidFill>
                          <a:latin typeface="Calibri"/>
                        </a:rPr>
                        <a:t>3</a:t>
                      </a:r>
                    </a:p>
                  </a:txBody>
                  <a:tcPr>
                    <a:solidFill>
                      <a:srgbClr val="FFFFFF"/>
                    </a:solidFill>
                  </a:tcPr>
                </a:tc>
              </a:tr>
              <a:tr h="520000">
                <a:tc>
                  <a:txBody>
                    <a:bodyPr/>
                    <a:lstStyle/>
                    <a:p>
                      <a:r>
                        <a:rPr sz="1400" b="0">
                          <a:solidFill>
                            <a:srgbClr val="1B2430"/>
                          </a:solidFill>
                          <a:latin typeface="Calibri"/>
                        </a:rPr>
                        <a:t>Video dekodlash</a:t>
                      </a:r>
                    </a:p>
                  </a:txBody>
                  <a:tcPr>
                    <a:solidFill>
                      <a:srgbClr val="F1F4F8"/>
                    </a:solidFill>
                  </a:tcPr>
                </a:tc>
                <a:tc>
                  <a:txBody>
                    <a:bodyPr/>
                    <a:lstStyle/>
                    <a:p>
                      <a:r>
                        <a:rPr sz="1400" b="0">
                          <a:solidFill>
                            <a:srgbClr val="1B2430"/>
                          </a:solidFill>
                          <a:latin typeface="Calibri"/>
                        </a:rPr>
                        <a:t>oqimlar soni</a:t>
                      </a:r>
                    </a:p>
                  </a:txBody>
                  <a:tcPr>
                    <a:solidFill>
                      <a:srgbClr val="F1F4F8"/>
                    </a:solidFill>
                  </a:tcPr>
                </a:tc>
                <a:tc>
                  <a:txBody>
                    <a:bodyPr/>
                    <a:lstStyle/>
                    <a:p>
                      <a:r>
                        <a:rPr sz="1400" b="0">
                          <a:solidFill>
                            <a:srgbClr val="1B2430"/>
                          </a:solidFill>
                          <a:latin typeface="Calibri"/>
                        </a:rPr>
                        <a:t>16 × 1080p10</a:t>
                      </a:r>
                    </a:p>
                  </a:txBody>
                  <a:tcPr>
                    <a:solidFill>
                      <a:srgbClr val="F1F4F8"/>
                    </a:solidFill>
                  </a:tcPr>
                </a:tc>
                <a:tc>
                  <a:txBody>
                    <a:bodyPr/>
                    <a:lstStyle/>
                    <a:p>
                      <a:r>
                        <a:rPr sz="1400" b="0">
                          <a:solidFill>
                            <a:srgbClr val="1B2430"/>
                          </a:solidFill>
                          <a:latin typeface="Calibri"/>
                        </a:rPr>
                        <a:t>4</a:t>
                      </a:r>
                    </a:p>
                  </a:txBody>
                  <a:tcPr>
                    <a:solidFill>
                      <a:srgbClr val="F1F4F8"/>
                    </a:solidFill>
                  </a:tcPr>
                </a:tc>
              </a:tr>
              <a:tr h="520000">
                <a:tc>
                  <a:txBody>
                    <a:bodyPr/>
                    <a:lstStyle/>
                    <a:p>
                      <a:r>
                        <a:rPr sz="1400" b="0">
                          <a:solidFill>
                            <a:srgbClr val="1B2430"/>
                          </a:solidFill>
                          <a:latin typeface="Calibri"/>
                        </a:rPr>
                        <a:t>Narx</a:t>
                      </a:r>
                    </a:p>
                  </a:txBody>
                  <a:tcPr>
                    <a:solidFill>
                      <a:srgbClr val="FFFFFF"/>
                    </a:solidFill>
                  </a:tcPr>
                </a:tc>
                <a:tc>
                  <a:txBody>
                    <a:bodyPr/>
                    <a:lstStyle/>
                    <a:p>
                      <a:r>
                        <a:rPr sz="1400" b="0">
                          <a:solidFill>
                            <a:srgbClr val="1B2430"/>
                          </a:solidFill>
                          <a:latin typeface="Calibri"/>
                        </a:rPr>
                        <a:t>AQSh dollari</a:t>
                      </a:r>
                    </a:p>
                  </a:txBody>
                  <a:tcPr>
                    <a:solidFill>
                      <a:srgbClr val="FFFFFF"/>
                    </a:solidFill>
                  </a:tcPr>
                </a:tc>
                <a:tc>
                  <a:txBody>
                    <a:bodyPr/>
                    <a:lstStyle/>
                    <a:p>
                      <a:r>
                        <a:rPr sz="1400" b="0">
                          <a:solidFill>
                            <a:srgbClr val="1B2430"/>
                          </a:solidFill>
                          <a:latin typeface="Calibri"/>
                        </a:rPr>
                        <a:t>≤ 2000 (hisoblash qismi)</a:t>
                      </a:r>
                    </a:p>
                  </a:txBody>
                  <a:tcPr>
                    <a:solidFill>
                      <a:srgbClr val="FFFFFF"/>
                    </a:solidFill>
                  </a:tcPr>
                </a:tc>
                <a:tc>
                  <a:txBody>
                    <a:bodyPr/>
                    <a:lstStyle/>
                    <a:p>
                      <a:r>
                        <a:rPr sz="1400" b="0">
                          <a:solidFill>
                            <a:srgbClr val="1B2430"/>
                          </a:solidFill>
                          <a:latin typeface="Calibri"/>
                        </a:rPr>
                        <a:t>3</a:t>
                      </a:r>
                    </a:p>
                  </a:txBody>
                  <a:tcPr>
                    <a:solidFill>
                      <a:srgbClr val="FFFFFF"/>
                    </a:solidFill>
                  </a:tcPr>
                </a:tc>
              </a:tr>
              <a:tr h="520000">
                <a:tc>
                  <a:txBody>
                    <a:bodyPr/>
                    <a:lstStyle/>
                    <a:p>
                      <a:r>
                        <a:rPr sz="1400" b="0">
                          <a:solidFill>
                            <a:srgbClr val="1B2430"/>
                          </a:solidFill>
                          <a:latin typeface="Calibri"/>
                        </a:rPr>
                        <a:t>Dasturiy ekotizim</a:t>
                      </a:r>
                    </a:p>
                  </a:txBody>
                  <a:tcPr>
                    <a:solidFill>
                      <a:srgbClr val="F1F4F8"/>
                    </a:solidFill>
                  </a:tcPr>
                </a:tc>
                <a:tc>
                  <a:txBody>
                    <a:bodyPr/>
                    <a:lstStyle/>
                    <a:p>
                      <a:r>
                        <a:rPr sz="1400" b="0">
                          <a:solidFill>
                            <a:srgbClr val="1B2430"/>
                          </a:solidFill>
                          <a:latin typeface="Calibri"/>
                        </a:rPr>
                        <a:t>sifat bahosi</a:t>
                      </a:r>
                    </a:p>
                  </a:txBody>
                  <a:tcPr>
                    <a:solidFill>
                      <a:srgbClr val="F1F4F8"/>
                    </a:solidFill>
                  </a:tcPr>
                </a:tc>
                <a:tc>
                  <a:txBody>
                    <a:bodyPr/>
                    <a:lstStyle/>
                    <a:p>
                      <a:r>
                        <a:rPr sz="1400" b="0">
                          <a:solidFill>
                            <a:srgbClr val="1B2430"/>
                          </a:solidFill>
                          <a:latin typeface="Calibri"/>
                        </a:rPr>
                        <a:t>TensorRT/ONNX qo'llab-quvvatlash</a:t>
                      </a:r>
                    </a:p>
                  </a:txBody>
                  <a:tcPr>
                    <a:solidFill>
                      <a:srgbClr val="F1F4F8"/>
                    </a:solidFill>
                  </a:tcPr>
                </a:tc>
                <a:tc>
                  <a:txBody>
                    <a:bodyPr/>
                    <a:lstStyle/>
                    <a:p>
                      <a:r>
                        <a:rPr sz="1400" b="0">
                          <a:solidFill>
                            <a:srgbClr val="1B2430"/>
                          </a:solidFill>
                          <a:latin typeface="Calibri"/>
                        </a:rPr>
                        <a:t>3</a:t>
                      </a:r>
                    </a:p>
                  </a:txBody>
                  <a:tcPr>
                    <a:solidFill>
                      <a:srgbClr val="F1F4F8"/>
                    </a:solidFill>
                  </a:tcPr>
                </a:tc>
              </a:tr>
            </a:tbl>
          </a:graphicData>
        </a:graphic>
      </p:graphicFrame>
    </p:spTree>
  </p:cSld>
  <p:clrMapOvr>
    <a:masterClrMapping/>
  </p:clrMapOvr>
  <p:transition spd="med">
    <p:fade/>
  </p:transition>
  <p:timing>
    <p:tnLst>
      <p:par>
        <p:cTn id="1" dur="indefinite" restart="never" nodeType="tmRoot">
          <p:childTnLst>
            <p:seq concurrent="1" nextAc="seek">
              <p:cTn id="2" dur="indefinite" nodeType="mainSeq">
                <p:childTnLst>
                  <p:par>
                    <p:cTn id="12"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6"/>
                                        </p:tgtEl>
                                        <p:attrNameLst>
                                          <p:attrName>style.visibility</p:attrName>
                                        </p:attrNameLst>
                                      </p:cBhvr>
                                      <p:to>
                                        <p:strVal val="visible"/>
                                      </p:to>
                                    </p:set>
                                    <p:animEffect transition="in" filter="fade">
                                      <p:cBhvr>
                                        <p:cTn id="6" dur="550"/>
                                        <p:tgtEl>
                                          <p:spTgt spid="6"/>
                                        </p:tgtEl>
                                      </p:cBhvr>
                                    </p:animEffect>
                                  </p:childTnLst>
                                </p:cTn>
                              </p:par>
                            </p:childTnLst>
                          </p:cTn>
                        </p:par>
                        <p:par>
                          <p:cTn id="7" fill="hold">
                            <p:stCondLst>
                              <p:cond delay="200"/>
                            </p:stCondLst>
                            <p:childTnLst>
                              <p:par>
                                <p:cTn id="8" presetID="22" presetClass="entr" presetSubtype="8" fill="hold" grpId="0" nodeType="after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wipe(left)">
                                      <p:cBhvr>
                                        <p:cTn id="11" dur="80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Lst>
  </p:timing>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110000"/>
            <a:ext cx="10300000" cy="300000"/>
          </a:xfrm>
          <a:prstGeom prst="rect">
            <a:avLst/>
          </a:prstGeom>
          <a:noFill/>
        </p:spPr>
        <p:txBody>
          <a:bodyPr wrap="square" anchor="t" lIns="50800" rIns="50800">
            <a:spAutoFit/>
          </a:bodyPr>
          <a:lstStyle/>
          <a:p>
            <a:pPr algn="l"/>
            <a:r>
              <a:rPr sz="1200" b="1">
                <a:solidFill>
                  <a:srgbClr val="A9C4E6"/>
                </a:solidFill>
                <a:latin typeface="Calibri"/>
              </a:rPr>
              <a:t>AMALIY MISOL</a:t>
            </a:r>
          </a:p>
        </p:txBody>
      </p:sp>
      <p:sp>
        <p:nvSpPr>
          <p:cNvPr id="6" name="TextBox 5"/>
          <p:cNvSpPr txBox="1"/>
          <p:nvPr/>
        </p:nvSpPr>
        <p:spPr>
          <a:xfrm>
            <a:off x="500000" y="330000"/>
            <a:ext cx="10400000" cy="650000"/>
          </a:xfrm>
          <a:prstGeom prst="rect">
            <a:avLst/>
          </a:prstGeom>
          <a:noFill/>
        </p:spPr>
        <p:txBody>
          <a:bodyPr wrap="square" anchor="ctr" lIns="50800" rIns="50800">
            <a:spAutoFit/>
          </a:bodyPr>
          <a:lstStyle/>
          <a:p>
            <a:pPr algn="l"/>
            <a:r>
              <a:rPr sz="2600" b="1">
                <a:solidFill>
                  <a:srgbClr val="FFFFFF"/>
                </a:solidFill>
                <a:latin typeface="Calibri"/>
              </a:rPr>
              <a:t>2-qadam. Model yuklamasini Python'da hisoblash</a:t>
            </a:r>
          </a:p>
        </p:txBody>
      </p:sp>
      <p:sp>
        <p:nvSpPr>
          <p:cNvPr id="7" name="Rectangle 6"/>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A1 · Sun'iy intellektga asoslangan kompyuter tizimlari arxitekturasini tahlil qilish va loyihalash</a:t>
            </a:r>
          </a:p>
        </p:txBody>
      </p:sp>
      <p:sp>
        <p:nvSpPr>
          <p:cNvPr id="9" name="TextBox 8"/>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21</a:t>
            </a:r>
          </a:p>
        </p:txBody>
      </p:sp>
      <p:sp>
        <p:nvSpPr>
          <p:cNvPr id="10" name="Rounded Rectangle 9"/>
          <p:cNvSpPr/>
          <p:nvPr/>
        </p:nvSpPr>
        <p:spPr>
          <a:xfrm>
            <a:off x="550000" y="1620000"/>
            <a:ext cx="11100000" cy="1250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50000" y="1620000"/>
            <a:ext cx="70000" cy="1250000"/>
          </a:xfrm>
          <a:prstGeom prst="rect">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800000" y="2015000"/>
            <a:ext cx="460000" cy="460000"/>
          </a:xfrm>
          <a:prstGeom prst="ellipse">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1</a:t>
            </a:r>
          </a:p>
        </p:txBody>
      </p:sp>
      <p:sp>
        <p:nvSpPr>
          <p:cNvPr id="13" name="TextBox 12"/>
          <p:cNvSpPr txBox="1"/>
          <p:nvPr/>
        </p:nvSpPr>
        <p:spPr>
          <a:xfrm>
            <a:off x="1450000" y="1620000"/>
            <a:ext cx="10050000" cy="1250000"/>
          </a:xfrm>
          <a:prstGeom prst="rect">
            <a:avLst/>
          </a:prstGeom>
          <a:noFill/>
        </p:spPr>
        <p:txBody>
          <a:bodyPr wrap="square" anchor="ctr" lIns="50800" rIns="50800">
            <a:spAutoFit/>
          </a:bodyPr>
          <a:lstStyle/>
          <a:p>
            <a:pPr algn="l"/>
            <a:r>
              <a:rPr sz="1600" b="0">
                <a:solidFill>
                  <a:srgbClr val="1B2430"/>
                </a:solidFill>
                <a:latin typeface="Calibri"/>
              </a:rPr>
              <a:t>Quyidagi skript tanlangan YOLO variantlari uchun FLOP, parametrlar soni, vaznlar hajmi va talab qilinadigan jami unumdorlikni hisoblaydi.</a:t>
            </a:r>
          </a:p>
        </p:txBody>
      </p:sp>
      <p:sp>
        <p:nvSpPr>
          <p:cNvPr id="14" name="Rounded Rectangle 13"/>
          <p:cNvSpPr/>
          <p:nvPr/>
        </p:nvSpPr>
        <p:spPr>
          <a:xfrm>
            <a:off x="550000" y="2990000"/>
            <a:ext cx="11100000" cy="1250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50000" y="2990000"/>
            <a:ext cx="70000" cy="1250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00000" y="3385000"/>
            <a:ext cx="460000" cy="46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2</a:t>
            </a:r>
          </a:p>
        </p:txBody>
      </p:sp>
      <p:sp>
        <p:nvSpPr>
          <p:cNvPr id="17" name="TextBox 16"/>
          <p:cNvSpPr txBox="1"/>
          <p:nvPr/>
        </p:nvSpPr>
        <p:spPr>
          <a:xfrm>
            <a:off x="1450000" y="2990000"/>
            <a:ext cx="10050000" cy="1250000"/>
          </a:xfrm>
          <a:prstGeom prst="rect">
            <a:avLst/>
          </a:prstGeom>
          <a:noFill/>
        </p:spPr>
        <p:txBody>
          <a:bodyPr wrap="square" anchor="ctr" lIns="50800" rIns="50800">
            <a:spAutoFit/>
          </a:bodyPr>
          <a:lstStyle/>
          <a:p>
            <a:pPr algn="l"/>
            <a:r>
              <a:rPr sz="1600" b="0">
                <a:solidFill>
                  <a:srgbClr val="1B2430"/>
                </a:solidFill>
                <a:latin typeface="Calibri"/>
              </a:rPr>
              <a:t>Kutilgan natija (taxminiy, ultralytics versiyasiga qarab ±5 %):</a:t>
            </a:r>
          </a:p>
        </p:txBody>
      </p:sp>
      <p:sp>
        <p:nvSpPr>
          <p:cNvPr id="18" name="Rounded Rectangle 17"/>
          <p:cNvSpPr/>
          <p:nvPr/>
        </p:nvSpPr>
        <p:spPr>
          <a:xfrm>
            <a:off x="550000" y="4360000"/>
            <a:ext cx="11100000" cy="1250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550000" y="4360000"/>
            <a:ext cx="70000" cy="1250000"/>
          </a:xfrm>
          <a:prstGeom prst="rect">
            <a:avLst/>
          </a:prstGeom>
          <a:solidFill>
            <a:srgbClr val="6A3F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800000" y="4755000"/>
            <a:ext cx="460000" cy="460000"/>
          </a:xfrm>
          <a:prstGeom prst="ellipse">
            <a:avLst/>
          </a:prstGeom>
          <a:solidFill>
            <a:srgbClr val="6A3FB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3</a:t>
            </a:r>
          </a:p>
        </p:txBody>
      </p:sp>
      <p:sp>
        <p:nvSpPr>
          <p:cNvPr id="21" name="TextBox 20"/>
          <p:cNvSpPr txBox="1"/>
          <p:nvPr/>
        </p:nvSpPr>
        <p:spPr>
          <a:xfrm>
            <a:off x="1450000" y="4360000"/>
            <a:ext cx="10050000" cy="1250000"/>
          </a:xfrm>
          <a:prstGeom prst="rect">
            <a:avLst/>
          </a:prstGeom>
          <a:noFill/>
        </p:spPr>
        <p:txBody>
          <a:bodyPr wrap="square" anchor="ctr" lIns="50800" rIns="50800">
            <a:spAutoFit/>
          </a:bodyPr>
          <a:lstStyle/>
          <a:p>
            <a:pPr algn="l"/>
            <a:r>
              <a:rPr sz="1600" b="0">
                <a:solidFill>
                  <a:srgbClr val="1B2430"/>
                </a:solidFill>
                <a:latin typeface="Calibri"/>
              </a:rPr>
              <a:t>Nima bo'ldi va nega. Skript modelning statik xususiyatlaridan kelib chiqib «nazariy» talabni beradi. Bu — yuqori chegaradan ancha past baho emas, aksincha, quyi chegara: real platformada dekodlash, xotira ko'chirish va operatorlar samaradorligi (odatda…</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79"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6"/>
                                        </p:tgtEl>
                                        <p:attrNameLst>
                                          <p:attrName>style.visibility</p:attrName>
                                        </p:attrNameLst>
                                      </p:cBhvr>
                                      <p:to>
                                        <p:strVal val="visible"/>
                                      </p:to>
                                    </p:set>
                                    <p:animEffect transition="in" filter="fade">
                                      <p:cBhvr>
                                        <p:cTn id="6" dur="550"/>
                                        <p:tgtEl>
                                          <p:spTgt spid="6"/>
                                        </p:tgtEl>
                                      </p:cBhvr>
                                    </p:animEffect>
                                  </p:childTnLst>
                                </p:cTn>
                              </p:par>
                            </p:childTnLst>
                          </p:cTn>
                        </p:par>
                        <p:par>
                          <p:cTn id="7" fill="hold">
                            <p:stCondLst>
                              <p:cond delay="220"/>
                            </p:stCondLst>
                            <p:childTnLst>
                              <p:par>
                                <p:cTn id="8" presetID="42" presetClass="entr" presetSubtype="0" fill="hold" grpId="0" nodeType="after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fade">
                                      <p:cBhvr>
                                        <p:cTn id="10" dur="550"/>
                                        <p:tgtEl>
                                          <p:spTgt spid="10"/>
                                        </p:tgtEl>
                                      </p:cBhvr>
                                    </p:animEffect>
                                    <p:anim calcmode="lin" valueType="num">
                                      <p:cBhvr additive="base">
                                        <p:cTn id="11" dur="550" fill="hold"/>
                                        <p:tgtEl>
                                          <p:spTgt spid="10"/>
                                        </p:tgtEl>
                                        <p:attrNameLst>
                                          <p:attrName>ppt_x</p:attrName>
                                        </p:attrNameLst>
                                      </p:cBhvr>
                                      <p:tavLst>
                                        <p:tav tm="0">
                                          <p:val>
                                            <p:strVal val="#ppt_x"/>
                                          </p:val>
                                        </p:tav>
                                        <p:tav tm="100000">
                                          <p:val>
                                            <p:strVal val="#ppt_x"/>
                                          </p:val>
                                        </p:tav>
                                      </p:tavLst>
                                    </p:anim>
                                    <p:anim calcmode="lin" valueType="num">
                                      <p:cBhvr additive="base">
                                        <p:cTn id="12" dur="550" fill="hold"/>
                                        <p:tgtEl>
                                          <p:spTgt spid="10"/>
                                        </p:tgtEl>
                                        <p:attrNameLst>
                                          <p:attrName>ppt_y</p:attrName>
                                        </p:attrNameLst>
                                      </p:cBhvr>
                                      <p:tavLst>
                                        <p:tav tm="0">
                                          <p:val>
                                            <p:strVal val="#ppt_y+.08"/>
                                          </p:val>
                                        </p:tav>
                                        <p:tav tm="100000">
                                          <p:val>
                                            <p:strVal val="#ppt_y"/>
                                          </p:val>
                                        </p:tav>
                                      </p:tavLst>
                                    </p:anim>
                                  </p:childTnLst>
                                </p:cTn>
                              </p:par>
                            </p:childTnLst>
                          </p:cTn>
                        </p:par>
                        <p:par>
                          <p:cTn id="13" fill="hold">
                            <p:stCondLst>
                              <p:cond delay="220"/>
                            </p:stCondLst>
                            <p:childTnLst>
                              <p:par>
                                <p:cTn id="14" presetID="42" presetClass="entr" presetSubtype="0" fill="hold" grpId="0" nodeType="afterEffect">
                                  <p:stCondLst>
                                    <p:cond delay="0"/>
                                  </p:stCondLst>
                                  <p:childTnLst>
                                    <p:set>
                                      <p:cBhvr>
                                        <p:cTn id="15" dur="1" fill="hold">
                                          <p:stCondLst>
                                            <p:cond delay="0"/>
                                          </p:stCondLst>
                                        </p:cTn>
                                        <p:tgtEl>
                                          <p:spTgt spid="11"/>
                                        </p:tgtEl>
                                        <p:attrNameLst>
                                          <p:attrName>style.visibility</p:attrName>
                                        </p:attrNameLst>
                                      </p:cBhvr>
                                      <p:to>
                                        <p:strVal val="visible"/>
                                      </p:to>
                                    </p:set>
                                    <p:animEffect transition="in" filter="fade">
                                      <p:cBhvr>
                                        <p:cTn id="16" dur="550"/>
                                        <p:tgtEl>
                                          <p:spTgt spid="11"/>
                                        </p:tgtEl>
                                      </p:cBhvr>
                                    </p:animEffect>
                                    <p:anim calcmode="lin" valueType="num">
                                      <p:cBhvr additive="base">
                                        <p:cTn id="17" dur="550" fill="hold"/>
                                        <p:tgtEl>
                                          <p:spTgt spid="11"/>
                                        </p:tgtEl>
                                        <p:attrNameLst>
                                          <p:attrName>ppt_x</p:attrName>
                                        </p:attrNameLst>
                                      </p:cBhvr>
                                      <p:tavLst>
                                        <p:tav tm="0">
                                          <p:val>
                                            <p:strVal val="#ppt_x"/>
                                          </p:val>
                                        </p:tav>
                                        <p:tav tm="100000">
                                          <p:val>
                                            <p:strVal val="#ppt_x"/>
                                          </p:val>
                                        </p:tav>
                                      </p:tavLst>
                                    </p:anim>
                                    <p:anim calcmode="lin" valueType="num">
                                      <p:cBhvr additive="base">
                                        <p:cTn id="18" dur="550" fill="hold"/>
                                        <p:tgtEl>
                                          <p:spTgt spid="11"/>
                                        </p:tgtEl>
                                        <p:attrNameLst>
                                          <p:attrName>ppt_y</p:attrName>
                                        </p:attrNameLst>
                                      </p:cBhvr>
                                      <p:tavLst>
                                        <p:tav tm="0">
                                          <p:val>
                                            <p:strVal val="#ppt_y+.08"/>
                                          </p:val>
                                        </p:tav>
                                        <p:tav tm="100000">
                                          <p:val>
                                            <p:strVal val="#ppt_y"/>
                                          </p:val>
                                        </p:tav>
                                      </p:tavLst>
                                    </p:anim>
                                  </p:childTnLst>
                                </p:cTn>
                              </p:par>
                            </p:childTnLst>
                          </p:cTn>
                        </p:par>
                        <p:par>
                          <p:cTn id="19" fill="hold">
                            <p:stCondLst>
                              <p:cond delay="220"/>
                            </p:stCondLst>
                            <p:childTnLst>
                              <p:par>
                                <p:cTn id="20" presetID="53" presetClass="entr" presetSubtype="16" fill="hold" grpId="0" nodeType="afterEffect">
                                  <p:stCondLst>
                                    <p:cond delay="0"/>
                                  </p:stCondLst>
                                  <p:childTnLst>
                                    <p:set>
                                      <p:cBhvr>
                                        <p:cTn id="21" dur="1" fill="hold">
                                          <p:stCondLst>
                                            <p:cond delay="0"/>
                                          </p:stCondLst>
                                        </p:cTn>
                                        <p:tgtEl>
                                          <p:spTgt spid="12"/>
                                        </p:tgtEl>
                                        <p:attrNameLst>
                                          <p:attrName>style.visibility</p:attrName>
                                        </p:attrNameLst>
                                      </p:cBhvr>
                                      <p:to>
                                        <p:strVal val="visible"/>
                                      </p:to>
                                    </p:set>
                                    <p:animEffect transition="in" filter="fade">
                                      <p:cBhvr>
                                        <p:cTn id="22" dur="550"/>
                                        <p:tgtEl>
                                          <p:spTgt spid="12"/>
                                        </p:tgtEl>
                                      </p:cBhvr>
                                    </p:animEffect>
                                    <p:anim calcmode="lin" valueType="num">
                                      <p:cBhvr additive="base">
                                        <p:cTn id="23" dur="550" fill="hold"/>
                                        <p:tgtEl>
                                          <p:spTgt spid="12"/>
                                        </p:tgtEl>
                                        <p:attrNameLst>
                                          <p:attrName>ppt_w</p:attrName>
                                        </p:attrNameLst>
                                      </p:cBhvr>
                                      <p:tavLst>
                                        <p:tav tm="0">
                                          <p:val>
                                            <p:strVal val="0"/>
                                          </p:val>
                                        </p:tav>
                                        <p:tav tm="100000">
                                          <p:val>
                                            <p:strVal val="#ppt_w"/>
                                          </p:val>
                                        </p:tav>
                                      </p:tavLst>
                                    </p:anim>
                                    <p:anim calcmode="lin" valueType="num">
                                      <p:cBhvr additive="base">
                                        <p:cTn id="24" dur="550" fill="hold"/>
                                        <p:tgtEl>
                                          <p:spTgt spid="12"/>
                                        </p:tgtEl>
                                        <p:attrNameLst>
                                          <p:attrName>ppt_h</p:attrName>
                                        </p:attrNameLst>
                                      </p:cBhvr>
                                      <p:tavLst>
                                        <p:tav tm="0">
                                          <p:val>
                                            <p:strVal val="0"/>
                                          </p:val>
                                        </p:tav>
                                        <p:tav tm="100000">
                                          <p:val>
                                            <p:strVal val="#ppt_h"/>
                                          </p:val>
                                        </p:tav>
                                      </p:tavLst>
                                    </p:anim>
                                  </p:childTnLst>
                                </p:cTn>
                              </p:par>
                            </p:childTnLst>
                          </p:cTn>
                        </p:par>
                        <p:par>
                          <p:cTn id="25" fill="hold">
                            <p:stCondLst>
                              <p:cond delay="220"/>
                            </p:stCondLst>
                            <p:childTnLst>
                              <p:par>
                                <p:cTn id="26" presetID="42" presetClass="entr" presetSubtype="0" fill="hold" grpId="0" nodeType="afterEffect">
                                  <p:stCondLst>
                                    <p:cond delay="0"/>
                                  </p:stCondLst>
                                  <p:childTnLst>
                                    <p:set>
                                      <p:cBhvr>
                                        <p:cTn id="27" dur="1" fill="hold">
                                          <p:stCondLst>
                                            <p:cond delay="0"/>
                                          </p:stCondLst>
                                        </p:cTn>
                                        <p:tgtEl>
                                          <p:spTgt spid="13"/>
                                        </p:tgtEl>
                                        <p:attrNameLst>
                                          <p:attrName>style.visibility</p:attrName>
                                        </p:attrNameLst>
                                      </p:cBhvr>
                                      <p:to>
                                        <p:strVal val="visible"/>
                                      </p:to>
                                    </p:set>
                                    <p:animEffect transition="in" filter="fade">
                                      <p:cBhvr>
                                        <p:cTn id="28" dur="550"/>
                                        <p:tgtEl>
                                          <p:spTgt spid="13"/>
                                        </p:tgtEl>
                                      </p:cBhvr>
                                    </p:animEffect>
                                    <p:anim calcmode="lin" valueType="num">
                                      <p:cBhvr additive="base">
                                        <p:cTn id="29" dur="550" fill="hold"/>
                                        <p:tgtEl>
                                          <p:spTgt spid="13"/>
                                        </p:tgtEl>
                                        <p:attrNameLst>
                                          <p:attrName>ppt_x</p:attrName>
                                        </p:attrNameLst>
                                      </p:cBhvr>
                                      <p:tavLst>
                                        <p:tav tm="0">
                                          <p:val>
                                            <p:strVal val="#ppt_x"/>
                                          </p:val>
                                        </p:tav>
                                        <p:tav tm="100000">
                                          <p:val>
                                            <p:strVal val="#ppt_x"/>
                                          </p:val>
                                        </p:tav>
                                      </p:tavLst>
                                    </p:anim>
                                    <p:anim calcmode="lin" valueType="num">
                                      <p:cBhvr additive="base">
                                        <p:cTn id="30" dur="550" fill="hold"/>
                                        <p:tgtEl>
                                          <p:spTgt spid="13"/>
                                        </p:tgtEl>
                                        <p:attrNameLst>
                                          <p:attrName>ppt_y</p:attrName>
                                        </p:attrNameLst>
                                      </p:cBhvr>
                                      <p:tavLst>
                                        <p:tav tm="0">
                                          <p:val>
                                            <p:strVal val="#ppt_y+.08"/>
                                          </p:val>
                                        </p:tav>
                                        <p:tav tm="100000">
                                          <p:val>
                                            <p:strVal val="#ppt_y"/>
                                          </p:val>
                                        </p:tav>
                                      </p:tavLst>
                                    </p:anim>
                                  </p:childTnLst>
                                </p:cTn>
                              </p:par>
                            </p:childTnLst>
                          </p:cTn>
                        </p:par>
                        <p:par>
                          <p:cTn id="31" fill="hold">
                            <p:stCondLst>
                              <p:cond delay="440"/>
                            </p:stCondLst>
                            <p:childTnLst>
                              <p:par>
                                <p:cTn id="32" presetID="42" presetClass="entr" presetSubtype="0" fill="hold" grpId="0" nodeType="afterEffect">
                                  <p:stCondLst>
                                    <p:cond delay="0"/>
                                  </p:stCondLst>
                                  <p:childTnLst>
                                    <p:set>
                                      <p:cBhvr>
                                        <p:cTn id="33" dur="1" fill="hold">
                                          <p:stCondLst>
                                            <p:cond delay="0"/>
                                          </p:stCondLst>
                                        </p:cTn>
                                        <p:tgtEl>
                                          <p:spTgt spid="14"/>
                                        </p:tgtEl>
                                        <p:attrNameLst>
                                          <p:attrName>style.visibility</p:attrName>
                                        </p:attrNameLst>
                                      </p:cBhvr>
                                      <p:to>
                                        <p:strVal val="visible"/>
                                      </p:to>
                                    </p:set>
                                    <p:animEffect transition="in" filter="fade">
                                      <p:cBhvr>
                                        <p:cTn id="34" dur="550"/>
                                        <p:tgtEl>
                                          <p:spTgt spid="14"/>
                                        </p:tgtEl>
                                      </p:cBhvr>
                                    </p:animEffect>
                                    <p:anim calcmode="lin" valueType="num">
                                      <p:cBhvr additive="base">
                                        <p:cTn id="35" dur="550" fill="hold"/>
                                        <p:tgtEl>
                                          <p:spTgt spid="14"/>
                                        </p:tgtEl>
                                        <p:attrNameLst>
                                          <p:attrName>ppt_x</p:attrName>
                                        </p:attrNameLst>
                                      </p:cBhvr>
                                      <p:tavLst>
                                        <p:tav tm="0">
                                          <p:val>
                                            <p:strVal val="#ppt_x"/>
                                          </p:val>
                                        </p:tav>
                                        <p:tav tm="100000">
                                          <p:val>
                                            <p:strVal val="#ppt_x"/>
                                          </p:val>
                                        </p:tav>
                                      </p:tavLst>
                                    </p:anim>
                                    <p:anim calcmode="lin" valueType="num">
                                      <p:cBhvr additive="base">
                                        <p:cTn id="36" dur="550" fill="hold"/>
                                        <p:tgtEl>
                                          <p:spTgt spid="14"/>
                                        </p:tgtEl>
                                        <p:attrNameLst>
                                          <p:attrName>ppt_y</p:attrName>
                                        </p:attrNameLst>
                                      </p:cBhvr>
                                      <p:tavLst>
                                        <p:tav tm="0">
                                          <p:val>
                                            <p:strVal val="#ppt_y+.08"/>
                                          </p:val>
                                        </p:tav>
                                        <p:tav tm="100000">
                                          <p:val>
                                            <p:strVal val="#ppt_y"/>
                                          </p:val>
                                        </p:tav>
                                      </p:tavLst>
                                    </p:anim>
                                  </p:childTnLst>
                                </p:cTn>
                              </p:par>
                            </p:childTnLst>
                          </p:cTn>
                        </p:par>
                        <p:par>
                          <p:cTn id="37" fill="hold">
                            <p:stCondLst>
                              <p:cond delay="440"/>
                            </p:stCondLst>
                            <p:childTnLst>
                              <p:par>
                                <p:cTn id="38" presetID="42" presetClass="entr" presetSubtype="0" fill="hold" grpId="0" nodeType="afterEffect">
                                  <p:stCondLst>
                                    <p:cond delay="0"/>
                                  </p:stCondLst>
                                  <p:childTnLst>
                                    <p:set>
                                      <p:cBhvr>
                                        <p:cTn id="39" dur="1" fill="hold">
                                          <p:stCondLst>
                                            <p:cond delay="0"/>
                                          </p:stCondLst>
                                        </p:cTn>
                                        <p:tgtEl>
                                          <p:spTgt spid="15"/>
                                        </p:tgtEl>
                                        <p:attrNameLst>
                                          <p:attrName>style.visibility</p:attrName>
                                        </p:attrNameLst>
                                      </p:cBhvr>
                                      <p:to>
                                        <p:strVal val="visible"/>
                                      </p:to>
                                    </p:set>
                                    <p:animEffect transition="in" filter="fade">
                                      <p:cBhvr>
                                        <p:cTn id="40" dur="550"/>
                                        <p:tgtEl>
                                          <p:spTgt spid="15"/>
                                        </p:tgtEl>
                                      </p:cBhvr>
                                    </p:animEffect>
                                    <p:anim calcmode="lin" valueType="num">
                                      <p:cBhvr additive="base">
                                        <p:cTn id="41" dur="550" fill="hold"/>
                                        <p:tgtEl>
                                          <p:spTgt spid="15"/>
                                        </p:tgtEl>
                                        <p:attrNameLst>
                                          <p:attrName>ppt_x</p:attrName>
                                        </p:attrNameLst>
                                      </p:cBhvr>
                                      <p:tavLst>
                                        <p:tav tm="0">
                                          <p:val>
                                            <p:strVal val="#ppt_x"/>
                                          </p:val>
                                        </p:tav>
                                        <p:tav tm="100000">
                                          <p:val>
                                            <p:strVal val="#ppt_x"/>
                                          </p:val>
                                        </p:tav>
                                      </p:tavLst>
                                    </p:anim>
                                    <p:anim calcmode="lin" valueType="num">
                                      <p:cBhvr additive="base">
                                        <p:cTn id="42" dur="550" fill="hold"/>
                                        <p:tgtEl>
                                          <p:spTgt spid="15"/>
                                        </p:tgtEl>
                                        <p:attrNameLst>
                                          <p:attrName>ppt_y</p:attrName>
                                        </p:attrNameLst>
                                      </p:cBhvr>
                                      <p:tavLst>
                                        <p:tav tm="0">
                                          <p:val>
                                            <p:strVal val="#ppt_y+.08"/>
                                          </p:val>
                                        </p:tav>
                                        <p:tav tm="100000">
                                          <p:val>
                                            <p:strVal val="#ppt_y"/>
                                          </p:val>
                                        </p:tav>
                                      </p:tavLst>
                                    </p:anim>
                                  </p:childTnLst>
                                </p:cTn>
                              </p:par>
                            </p:childTnLst>
                          </p:cTn>
                        </p:par>
                        <p:par>
                          <p:cTn id="43" fill="hold">
                            <p:stCondLst>
                              <p:cond delay="440"/>
                            </p:stCondLst>
                            <p:childTnLst>
                              <p:par>
                                <p:cTn id="44" presetID="53" presetClass="entr" presetSubtype="16" fill="hold" grpId="0" nodeType="afterEffect">
                                  <p:stCondLst>
                                    <p:cond delay="0"/>
                                  </p:stCondLst>
                                  <p:childTnLst>
                                    <p:set>
                                      <p:cBhvr>
                                        <p:cTn id="45" dur="1" fill="hold">
                                          <p:stCondLst>
                                            <p:cond delay="0"/>
                                          </p:stCondLst>
                                        </p:cTn>
                                        <p:tgtEl>
                                          <p:spTgt spid="16"/>
                                        </p:tgtEl>
                                        <p:attrNameLst>
                                          <p:attrName>style.visibility</p:attrName>
                                        </p:attrNameLst>
                                      </p:cBhvr>
                                      <p:to>
                                        <p:strVal val="visible"/>
                                      </p:to>
                                    </p:set>
                                    <p:animEffect transition="in" filter="fade">
                                      <p:cBhvr>
                                        <p:cTn id="46" dur="550"/>
                                        <p:tgtEl>
                                          <p:spTgt spid="16"/>
                                        </p:tgtEl>
                                      </p:cBhvr>
                                    </p:animEffect>
                                    <p:anim calcmode="lin" valueType="num">
                                      <p:cBhvr additive="base">
                                        <p:cTn id="47" dur="550" fill="hold"/>
                                        <p:tgtEl>
                                          <p:spTgt spid="16"/>
                                        </p:tgtEl>
                                        <p:attrNameLst>
                                          <p:attrName>ppt_w</p:attrName>
                                        </p:attrNameLst>
                                      </p:cBhvr>
                                      <p:tavLst>
                                        <p:tav tm="0">
                                          <p:val>
                                            <p:strVal val="0"/>
                                          </p:val>
                                        </p:tav>
                                        <p:tav tm="100000">
                                          <p:val>
                                            <p:strVal val="#ppt_w"/>
                                          </p:val>
                                        </p:tav>
                                      </p:tavLst>
                                    </p:anim>
                                    <p:anim calcmode="lin" valueType="num">
                                      <p:cBhvr additive="base">
                                        <p:cTn id="48" dur="550" fill="hold"/>
                                        <p:tgtEl>
                                          <p:spTgt spid="16"/>
                                        </p:tgtEl>
                                        <p:attrNameLst>
                                          <p:attrName>ppt_h</p:attrName>
                                        </p:attrNameLst>
                                      </p:cBhvr>
                                      <p:tavLst>
                                        <p:tav tm="0">
                                          <p:val>
                                            <p:strVal val="0"/>
                                          </p:val>
                                        </p:tav>
                                        <p:tav tm="100000">
                                          <p:val>
                                            <p:strVal val="#ppt_h"/>
                                          </p:val>
                                        </p:tav>
                                      </p:tavLst>
                                    </p:anim>
                                  </p:childTnLst>
                                </p:cTn>
                              </p:par>
                            </p:childTnLst>
                          </p:cTn>
                        </p:par>
                        <p:par>
                          <p:cTn id="49" fill="hold">
                            <p:stCondLst>
                              <p:cond delay="440"/>
                            </p:stCondLst>
                            <p:childTnLst>
                              <p:par>
                                <p:cTn id="50" presetID="42" presetClass="entr" presetSubtype="0" fill="hold" grpId="0" nodeType="afterEffect">
                                  <p:stCondLst>
                                    <p:cond delay="0"/>
                                  </p:stCondLst>
                                  <p:childTnLst>
                                    <p:set>
                                      <p:cBhvr>
                                        <p:cTn id="51" dur="1" fill="hold">
                                          <p:stCondLst>
                                            <p:cond delay="0"/>
                                          </p:stCondLst>
                                        </p:cTn>
                                        <p:tgtEl>
                                          <p:spTgt spid="17"/>
                                        </p:tgtEl>
                                        <p:attrNameLst>
                                          <p:attrName>style.visibility</p:attrName>
                                        </p:attrNameLst>
                                      </p:cBhvr>
                                      <p:to>
                                        <p:strVal val="visible"/>
                                      </p:to>
                                    </p:set>
                                    <p:animEffect transition="in" filter="fade">
                                      <p:cBhvr>
                                        <p:cTn id="52" dur="550"/>
                                        <p:tgtEl>
                                          <p:spTgt spid="17"/>
                                        </p:tgtEl>
                                      </p:cBhvr>
                                    </p:animEffect>
                                    <p:anim calcmode="lin" valueType="num">
                                      <p:cBhvr additive="base">
                                        <p:cTn id="53" dur="550" fill="hold"/>
                                        <p:tgtEl>
                                          <p:spTgt spid="17"/>
                                        </p:tgtEl>
                                        <p:attrNameLst>
                                          <p:attrName>ppt_x</p:attrName>
                                        </p:attrNameLst>
                                      </p:cBhvr>
                                      <p:tavLst>
                                        <p:tav tm="0">
                                          <p:val>
                                            <p:strVal val="#ppt_x"/>
                                          </p:val>
                                        </p:tav>
                                        <p:tav tm="100000">
                                          <p:val>
                                            <p:strVal val="#ppt_x"/>
                                          </p:val>
                                        </p:tav>
                                      </p:tavLst>
                                    </p:anim>
                                    <p:anim calcmode="lin" valueType="num">
                                      <p:cBhvr additive="base">
                                        <p:cTn id="54" dur="550" fill="hold"/>
                                        <p:tgtEl>
                                          <p:spTgt spid="17"/>
                                        </p:tgtEl>
                                        <p:attrNameLst>
                                          <p:attrName>ppt_y</p:attrName>
                                        </p:attrNameLst>
                                      </p:cBhvr>
                                      <p:tavLst>
                                        <p:tav tm="0">
                                          <p:val>
                                            <p:strVal val="#ppt_y+.08"/>
                                          </p:val>
                                        </p:tav>
                                        <p:tav tm="100000">
                                          <p:val>
                                            <p:strVal val="#ppt_y"/>
                                          </p:val>
                                        </p:tav>
                                      </p:tavLst>
                                    </p:anim>
                                  </p:childTnLst>
                                </p:cTn>
                              </p:par>
                            </p:childTnLst>
                          </p:cTn>
                        </p:par>
                        <p:par>
                          <p:cTn id="55" fill="hold">
                            <p:stCondLst>
                              <p:cond delay="660"/>
                            </p:stCondLst>
                            <p:childTnLst>
                              <p:par>
                                <p:cTn id="56" presetID="42" presetClass="entr" presetSubtype="0" fill="hold" grpId="0" nodeType="afterEffect">
                                  <p:stCondLst>
                                    <p:cond delay="0"/>
                                  </p:stCondLst>
                                  <p:childTnLst>
                                    <p:set>
                                      <p:cBhvr>
                                        <p:cTn id="57" dur="1" fill="hold">
                                          <p:stCondLst>
                                            <p:cond delay="0"/>
                                          </p:stCondLst>
                                        </p:cTn>
                                        <p:tgtEl>
                                          <p:spTgt spid="18"/>
                                        </p:tgtEl>
                                        <p:attrNameLst>
                                          <p:attrName>style.visibility</p:attrName>
                                        </p:attrNameLst>
                                      </p:cBhvr>
                                      <p:to>
                                        <p:strVal val="visible"/>
                                      </p:to>
                                    </p:set>
                                    <p:animEffect transition="in" filter="fade">
                                      <p:cBhvr>
                                        <p:cTn id="58" dur="550"/>
                                        <p:tgtEl>
                                          <p:spTgt spid="18"/>
                                        </p:tgtEl>
                                      </p:cBhvr>
                                    </p:animEffect>
                                    <p:anim calcmode="lin" valueType="num">
                                      <p:cBhvr additive="base">
                                        <p:cTn id="59" dur="550" fill="hold"/>
                                        <p:tgtEl>
                                          <p:spTgt spid="18"/>
                                        </p:tgtEl>
                                        <p:attrNameLst>
                                          <p:attrName>ppt_x</p:attrName>
                                        </p:attrNameLst>
                                      </p:cBhvr>
                                      <p:tavLst>
                                        <p:tav tm="0">
                                          <p:val>
                                            <p:strVal val="#ppt_x"/>
                                          </p:val>
                                        </p:tav>
                                        <p:tav tm="100000">
                                          <p:val>
                                            <p:strVal val="#ppt_x"/>
                                          </p:val>
                                        </p:tav>
                                      </p:tavLst>
                                    </p:anim>
                                    <p:anim calcmode="lin" valueType="num">
                                      <p:cBhvr additive="base">
                                        <p:cTn id="60" dur="550" fill="hold"/>
                                        <p:tgtEl>
                                          <p:spTgt spid="18"/>
                                        </p:tgtEl>
                                        <p:attrNameLst>
                                          <p:attrName>ppt_y</p:attrName>
                                        </p:attrNameLst>
                                      </p:cBhvr>
                                      <p:tavLst>
                                        <p:tav tm="0">
                                          <p:val>
                                            <p:strVal val="#ppt_y+.08"/>
                                          </p:val>
                                        </p:tav>
                                        <p:tav tm="100000">
                                          <p:val>
                                            <p:strVal val="#ppt_y"/>
                                          </p:val>
                                        </p:tav>
                                      </p:tavLst>
                                    </p:anim>
                                  </p:childTnLst>
                                </p:cTn>
                              </p:par>
                            </p:childTnLst>
                          </p:cTn>
                        </p:par>
                        <p:par>
                          <p:cTn id="61" fill="hold">
                            <p:stCondLst>
                              <p:cond delay="660"/>
                            </p:stCondLst>
                            <p:childTnLst>
                              <p:par>
                                <p:cTn id="62" presetID="42" presetClass="entr" presetSubtype="0" fill="hold" grpId="0" nodeType="afterEffect">
                                  <p:stCondLst>
                                    <p:cond delay="0"/>
                                  </p:stCondLst>
                                  <p:childTnLst>
                                    <p:set>
                                      <p:cBhvr>
                                        <p:cTn id="63" dur="1" fill="hold">
                                          <p:stCondLst>
                                            <p:cond delay="0"/>
                                          </p:stCondLst>
                                        </p:cTn>
                                        <p:tgtEl>
                                          <p:spTgt spid="19"/>
                                        </p:tgtEl>
                                        <p:attrNameLst>
                                          <p:attrName>style.visibility</p:attrName>
                                        </p:attrNameLst>
                                      </p:cBhvr>
                                      <p:to>
                                        <p:strVal val="visible"/>
                                      </p:to>
                                    </p:set>
                                    <p:animEffect transition="in" filter="fade">
                                      <p:cBhvr>
                                        <p:cTn id="64" dur="550"/>
                                        <p:tgtEl>
                                          <p:spTgt spid="19"/>
                                        </p:tgtEl>
                                      </p:cBhvr>
                                    </p:animEffect>
                                    <p:anim calcmode="lin" valueType="num">
                                      <p:cBhvr additive="base">
                                        <p:cTn id="65" dur="550" fill="hold"/>
                                        <p:tgtEl>
                                          <p:spTgt spid="19"/>
                                        </p:tgtEl>
                                        <p:attrNameLst>
                                          <p:attrName>ppt_x</p:attrName>
                                        </p:attrNameLst>
                                      </p:cBhvr>
                                      <p:tavLst>
                                        <p:tav tm="0">
                                          <p:val>
                                            <p:strVal val="#ppt_x"/>
                                          </p:val>
                                        </p:tav>
                                        <p:tav tm="100000">
                                          <p:val>
                                            <p:strVal val="#ppt_x"/>
                                          </p:val>
                                        </p:tav>
                                      </p:tavLst>
                                    </p:anim>
                                    <p:anim calcmode="lin" valueType="num">
                                      <p:cBhvr additive="base">
                                        <p:cTn id="66" dur="550" fill="hold"/>
                                        <p:tgtEl>
                                          <p:spTgt spid="19"/>
                                        </p:tgtEl>
                                        <p:attrNameLst>
                                          <p:attrName>ppt_y</p:attrName>
                                        </p:attrNameLst>
                                      </p:cBhvr>
                                      <p:tavLst>
                                        <p:tav tm="0">
                                          <p:val>
                                            <p:strVal val="#ppt_y+.08"/>
                                          </p:val>
                                        </p:tav>
                                        <p:tav tm="100000">
                                          <p:val>
                                            <p:strVal val="#ppt_y"/>
                                          </p:val>
                                        </p:tav>
                                      </p:tavLst>
                                    </p:anim>
                                  </p:childTnLst>
                                </p:cTn>
                              </p:par>
                            </p:childTnLst>
                          </p:cTn>
                        </p:par>
                        <p:par>
                          <p:cTn id="67" fill="hold">
                            <p:stCondLst>
                              <p:cond delay="660"/>
                            </p:stCondLst>
                            <p:childTnLst>
                              <p:par>
                                <p:cTn id="68" presetID="53" presetClass="entr" presetSubtype="16" fill="hold" grpId="0" nodeType="afterEffect">
                                  <p:stCondLst>
                                    <p:cond delay="0"/>
                                  </p:stCondLst>
                                  <p:childTnLst>
                                    <p:set>
                                      <p:cBhvr>
                                        <p:cTn id="69" dur="1" fill="hold">
                                          <p:stCondLst>
                                            <p:cond delay="0"/>
                                          </p:stCondLst>
                                        </p:cTn>
                                        <p:tgtEl>
                                          <p:spTgt spid="20"/>
                                        </p:tgtEl>
                                        <p:attrNameLst>
                                          <p:attrName>style.visibility</p:attrName>
                                        </p:attrNameLst>
                                      </p:cBhvr>
                                      <p:to>
                                        <p:strVal val="visible"/>
                                      </p:to>
                                    </p:set>
                                    <p:animEffect transition="in" filter="fade">
                                      <p:cBhvr>
                                        <p:cTn id="70" dur="550"/>
                                        <p:tgtEl>
                                          <p:spTgt spid="20"/>
                                        </p:tgtEl>
                                      </p:cBhvr>
                                    </p:animEffect>
                                    <p:anim calcmode="lin" valueType="num">
                                      <p:cBhvr additive="base">
                                        <p:cTn id="71" dur="550" fill="hold"/>
                                        <p:tgtEl>
                                          <p:spTgt spid="20"/>
                                        </p:tgtEl>
                                        <p:attrNameLst>
                                          <p:attrName>ppt_w</p:attrName>
                                        </p:attrNameLst>
                                      </p:cBhvr>
                                      <p:tavLst>
                                        <p:tav tm="0">
                                          <p:val>
                                            <p:strVal val="0"/>
                                          </p:val>
                                        </p:tav>
                                        <p:tav tm="100000">
                                          <p:val>
                                            <p:strVal val="#ppt_w"/>
                                          </p:val>
                                        </p:tav>
                                      </p:tavLst>
                                    </p:anim>
                                    <p:anim calcmode="lin" valueType="num">
                                      <p:cBhvr additive="base">
                                        <p:cTn id="72" dur="550" fill="hold"/>
                                        <p:tgtEl>
                                          <p:spTgt spid="20"/>
                                        </p:tgtEl>
                                        <p:attrNameLst>
                                          <p:attrName>ppt_h</p:attrName>
                                        </p:attrNameLst>
                                      </p:cBhvr>
                                      <p:tavLst>
                                        <p:tav tm="0">
                                          <p:val>
                                            <p:strVal val="0"/>
                                          </p:val>
                                        </p:tav>
                                        <p:tav tm="100000">
                                          <p:val>
                                            <p:strVal val="#ppt_h"/>
                                          </p:val>
                                        </p:tav>
                                      </p:tavLst>
                                    </p:anim>
                                  </p:childTnLst>
                                </p:cTn>
                              </p:par>
                            </p:childTnLst>
                          </p:cTn>
                        </p:par>
                        <p:par>
                          <p:cTn id="73" fill="hold">
                            <p:stCondLst>
                              <p:cond delay="660"/>
                            </p:stCondLst>
                            <p:childTnLst>
                              <p:par>
                                <p:cTn id="74" presetID="42" presetClass="entr" presetSubtype="0" fill="hold" grpId="0" nodeType="afterEffect">
                                  <p:stCondLst>
                                    <p:cond delay="0"/>
                                  </p:stCondLst>
                                  <p:childTnLst>
                                    <p:set>
                                      <p:cBhvr>
                                        <p:cTn id="75" dur="1" fill="hold">
                                          <p:stCondLst>
                                            <p:cond delay="0"/>
                                          </p:stCondLst>
                                        </p:cTn>
                                        <p:tgtEl>
                                          <p:spTgt spid="21"/>
                                        </p:tgtEl>
                                        <p:attrNameLst>
                                          <p:attrName>style.visibility</p:attrName>
                                        </p:attrNameLst>
                                      </p:cBhvr>
                                      <p:to>
                                        <p:strVal val="visible"/>
                                      </p:to>
                                    </p:set>
                                    <p:animEffect transition="in" filter="fade">
                                      <p:cBhvr>
                                        <p:cTn id="76" dur="550"/>
                                        <p:tgtEl>
                                          <p:spTgt spid="21"/>
                                        </p:tgtEl>
                                      </p:cBhvr>
                                    </p:animEffect>
                                    <p:anim calcmode="lin" valueType="num">
                                      <p:cBhvr additive="base">
                                        <p:cTn id="77" dur="550" fill="hold"/>
                                        <p:tgtEl>
                                          <p:spTgt spid="21"/>
                                        </p:tgtEl>
                                        <p:attrNameLst>
                                          <p:attrName>ppt_x</p:attrName>
                                        </p:attrNameLst>
                                      </p:cBhvr>
                                      <p:tavLst>
                                        <p:tav tm="0">
                                          <p:val>
                                            <p:strVal val="#ppt_x"/>
                                          </p:val>
                                        </p:tav>
                                        <p:tav tm="100000">
                                          <p:val>
                                            <p:strVal val="#ppt_x"/>
                                          </p:val>
                                        </p:tav>
                                      </p:tavLst>
                                    </p:anim>
                                    <p:anim calcmode="lin" valueType="num">
                                      <p:cBhvr additive="base">
                                        <p:cTn id="78" dur="550" fill="hold"/>
                                        <p:tgtEl>
                                          <p:spTgt spid="21"/>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Lst>
  </p:timing>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110000"/>
            <a:ext cx="10300000" cy="300000"/>
          </a:xfrm>
          <a:prstGeom prst="rect">
            <a:avLst/>
          </a:prstGeom>
          <a:noFill/>
        </p:spPr>
        <p:txBody>
          <a:bodyPr wrap="square" anchor="t" lIns="50800" rIns="50800">
            <a:spAutoFit/>
          </a:bodyPr>
          <a:lstStyle/>
          <a:p>
            <a:pPr algn="l"/>
            <a:r>
              <a:rPr sz="1200" b="1">
                <a:solidFill>
                  <a:srgbClr val="A9C4E6"/>
                </a:solidFill>
                <a:latin typeface="Calibri"/>
              </a:rPr>
              <a:t>AMALIY MISOL</a:t>
            </a:r>
          </a:p>
        </p:txBody>
      </p:sp>
      <p:sp>
        <p:nvSpPr>
          <p:cNvPr id="6" name="TextBox 5"/>
          <p:cNvSpPr txBox="1"/>
          <p:nvPr/>
        </p:nvSpPr>
        <p:spPr>
          <a:xfrm>
            <a:off x="500000" y="330000"/>
            <a:ext cx="10400000" cy="650000"/>
          </a:xfrm>
          <a:prstGeom prst="rect">
            <a:avLst/>
          </a:prstGeom>
          <a:noFill/>
        </p:spPr>
        <p:txBody>
          <a:bodyPr wrap="square" anchor="ctr" lIns="50800" rIns="50800">
            <a:spAutoFit/>
          </a:bodyPr>
          <a:lstStyle/>
          <a:p>
            <a:pPr algn="l"/>
            <a:r>
              <a:rPr sz="2600" b="1">
                <a:solidFill>
                  <a:srgbClr val="FFFFFF"/>
                </a:solidFill>
                <a:latin typeface="Calibri"/>
              </a:rPr>
              <a:t>2-qadam. Model yuklamasini Python'da hisoblash</a:t>
            </a:r>
          </a:p>
        </p:txBody>
      </p:sp>
      <p:sp>
        <p:nvSpPr>
          <p:cNvPr id="7" name="Rectangle 6"/>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A1 · Sun'iy intellektga asoslangan kompyuter tizimlari arxitekturasini tahlil qilish va loyihalash</a:t>
            </a:r>
          </a:p>
        </p:txBody>
      </p:sp>
      <p:sp>
        <p:nvSpPr>
          <p:cNvPr id="9" name="TextBox 8"/>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22</a:t>
            </a:r>
          </a:p>
        </p:txBody>
      </p:sp>
      <p:graphicFrame>
        <p:nvGraphicFramePr>
          <p:cNvPr id="10" name="Table 9"/>
          <p:cNvGraphicFramePr>
            <a:graphicFrameLocks noGrp="1"/>
          </p:cNvGraphicFramePr>
          <p:nvPr/>
        </p:nvGraphicFramePr>
        <p:xfrm>
          <a:off x="500000" y="1350000"/>
          <a:ext cx="11200000" cy="3640000"/>
        </p:xfrm>
        <a:graphic>
          <a:graphicData uri="http://schemas.openxmlformats.org/drawingml/2006/table">
            <a:tbl>
              <a:tblPr firstRow="1" bandRow="1">
                <a:tableStyleId>{5C22544A-7EE6-4342-B048-85BDC9FD1C3A}</a:tableStyleId>
              </a:tblPr>
              <a:tblGrid>
                <a:gridCol w="1866666"/>
                <a:gridCol w="1866666"/>
                <a:gridCol w="1866666"/>
                <a:gridCol w="1866666"/>
                <a:gridCol w="1866666"/>
                <a:gridCol w="1866670"/>
              </a:tblGrid>
              <a:tr h="520000">
                <a:tc>
                  <a:txBody>
                    <a:bodyPr/>
                    <a:lstStyle/>
                    <a:p>
                      <a:r>
                        <a:rPr sz="1400" b="1">
                          <a:solidFill>
                            <a:srgbClr val="FFFFFF"/>
                          </a:solidFill>
                          <a:latin typeface="Calibri"/>
                        </a:rPr>
                        <a:t>model</a:t>
                      </a:r>
                    </a:p>
                  </a:txBody>
                  <a:tcPr>
                    <a:solidFill>
                      <a:srgbClr val="2D5C8F"/>
                    </a:solidFill>
                  </a:tcPr>
                </a:tc>
                <a:tc>
                  <a:txBody>
                    <a:bodyPr/>
                    <a:lstStyle/>
                    <a:p>
                      <a:r>
                        <a:rPr sz="1400" b="1">
                          <a:solidFill>
                            <a:srgbClr val="FFFFFF"/>
                          </a:solidFill>
                          <a:latin typeface="Calibri"/>
                        </a:rPr>
                        <a:t>imgsz</a:t>
                      </a:r>
                    </a:p>
                  </a:txBody>
                  <a:tcPr>
                    <a:solidFill>
                      <a:srgbClr val="2D5C8F"/>
                    </a:solidFill>
                  </a:tcPr>
                </a:tc>
                <a:tc>
                  <a:txBody>
                    <a:bodyPr/>
                    <a:lstStyle/>
                    <a:p>
                      <a:r>
                        <a:rPr sz="1400" b="1">
                          <a:solidFill>
                            <a:srgbClr val="FFFFFF"/>
                          </a:solidFill>
                          <a:latin typeface="Calibri"/>
                        </a:rPr>
                        <a:t>params_M</a:t>
                      </a:r>
                    </a:p>
                  </a:txBody>
                  <a:tcPr>
                    <a:solidFill>
                      <a:srgbClr val="2D5C8F"/>
                    </a:solidFill>
                  </a:tcPr>
                </a:tc>
                <a:tc>
                  <a:txBody>
                    <a:bodyPr/>
                    <a:lstStyle/>
                    <a:p>
                      <a:r>
                        <a:rPr sz="1400" b="1">
                          <a:solidFill>
                            <a:srgbClr val="FFFFFF"/>
                          </a:solidFill>
                          <a:latin typeface="Calibri"/>
                        </a:rPr>
                        <a:t>vazn_FP16_MB</a:t>
                      </a:r>
                    </a:p>
                  </a:txBody>
                  <a:tcPr>
                    <a:solidFill>
                      <a:srgbClr val="2D5C8F"/>
                    </a:solidFill>
                  </a:tcPr>
                </a:tc>
                <a:tc>
                  <a:txBody>
                    <a:bodyPr/>
                    <a:lstStyle/>
                    <a:p>
                      <a:r>
                        <a:rPr sz="1400" b="1">
                          <a:solidFill>
                            <a:srgbClr val="FFFFFF"/>
                          </a:solidFill>
                          <a:latin typeface="Calibri"/>
                        </a:rPr>
                        <a:t>GFLOP_inferens</a:t>
                      </a:r>
                    </a:p>
                  </a:txBody>
                  <a:tcPr>
                    <a:solidFill>
                      <a:srgbClr val="2D5C8F"/>
                    </a:solidFill>
                  </a:tcPr>
                </a:tc>
                <a:tc>
                  <a:txBody>
                    <a:bodyPr/>
                    <a:lstStyle/>
                    <a:p>
                      <a:r>
                        <a:rPr sz="1400" b="1">
                          <a:solidFill>
                            <a:srgbClr val="FFFFFF"/>
                          </a:solidFill>
                          <a:latin typeface="Calibri"/>
                        </a:rPr>
                        <a:t>TFLOP_s_talab</a:t>
                      </a:r>
                    </a:p>
                  </a:txBody>
                  <a:tcPr>
                    <a:solidFill>
                      <a:srgbClr val="2D5C8F"/>
                    </a:solidFill>
                  </a:tcPr>
                </a:tc>
              </a:tr>
              <a:tr h="520000">
                <a:tc>
                  <a:txBody>
                    <a:bodyPr/>
                    <a:lstStyle/>
                    <a:p>
                      <a:r>
                        <a:rPr sz="1400" b="0">
                          <a:solidFill>
                            <a:srgbClr val="1B2430"/>
                          </a:solidFill>
                          <a:latin typeface="Calibri"/>
                        </a:rPr>
                        <a:t>yolov8n</a:t>
                      </a:r>
                    </a:p>
                  </a:txBody>
                  <a:tcPr>
                    <a:solidFill>
                      <a:srgbClr val="F1F4F8"/>
                    </a:solidFill>
                  </a:tcPr>
                </a:tc>
                <a:tc>
                  <a:txBody>
                    <a:bodyPr/>
                    <a:lstStyle/>
                    <a:p>
                      <a:r>
                        <a:rPr sz="1400" b="0">
                          <a:solidFill>
                            <a:srgbClr val="1B2430"/>
                          </a:solidFill>
                          <a:latin typeface="Calibri"/>
                        </a:rPr>
                        <a:t>512</a:t>
                      </a:r>
                    </a:p>
                  </a:txBody>
                  <a:tcPr>
                    <a:solidFill>
                      <a:srgbClr val="F1F4F8"/>
                    </a:solidFill>
                  </a:tcPr>
                </a:tc>
                <a:tc>
                  <a:txBody>
                    <a:bodyPr/>
                    <a:lstStyle/>
                    <a:p>
                      <a:r>
                        <a:rPr sz="1400" b="0">
                          <a:solidFill>
                            <a:srgbClr val="1B2430"/>
                          </a:solidFill>
                          <a:latin typeface="Calibri"/>
                        </a:rPr>
                        <a:t>3,15</a:t>
                      </a:r>
                    </a:p>
                  </a:txBody>
                  <a:tcPr>
                    <a:solidFill>
                      <a:srgbClr val="F1F4F8"/>
                    </a:solidFill>
                  </a:tcPr>
                </a:tc>
                <a:tc>
                  <a:txBody>
                    <a:bodyPr/>
                    <a:lstStyle/>
                    <a:p>
                      <a:r>
                        <a:rPr sz="1400" b="0">
                          <a:solidFill>
                            <a:srgbClr val="1B2430"/>
                          </a:solidFill>
                          <a:latin typeface="Calibri"/>
                        </a:rPr>
                        <a:t>6,3</a:t>
                      </a:r>
                    </a:p>
                  </a:txBody>
                  <a:tcPr>
                    <a:solidFill>
                      <a:srgbClr val="F1F4F8"/>
                    </a:solidFill>
                  </a:tcPr>
                </a:tc>
                <a:tc>
                  <a:txBody>
                    <a:bodyPr/>
                    <a:lstStyle/>
                    <a:p>
                      <a:r>
                        <a:rPr sz="1400" b="0">
                          <a:solidFill>
                            <a:srgbClr val="1B2430"/>
                          </a:solidFill>
                          <a:latin typeface="Calibri"/>
                        </a:rPr>
                        <a:t>5,6</a:t>
                      </a:r>
                    </a:p>
                  </a:txBody>
                  <a:tcPr>
                    <a:solidFill>
                      <a:srgbClr val="F1F4F8"/>
                    </a:solidFill>
                  </a:tcPr>
                </a:tc>
                <a:tc>
                  <a:txBody>
                    <a:bodyPr/>
                    <a:lstStyle/>
                    <a:p>
                      <a:r>
                        <a:rPr sz="1400" b="0">
                          <a:solidFill>
                            <a:srgbClr val="1B2430"/>
                          </a:solidFill>
                          <a:latin typeface="Calibri"/>
                        </a:rPr>
                        <a:t>0,89</a:t>
                      </a:r>
                    </a:p>
                  </a:txBody>
                  <a:tcPr>
                    <a:solidFill>
                      <a:srgbClr val="F1F4F8"/>
                    </a:solidFill>
                  </a:tcPr>
                </a:tc>
              </a:tr>
              <a:tr h="520000">
                <a:tc>
                  <a:txBody>
                    <a:bodyPr/>
                    <a:lstStyle/>
                    <a:p>
                      <a:r>
                        <a:rPr sz="1400" b="0">
                          <a:solidFill>
                            <a:srgbClr val="1B2430"/>
                          </a:solidFill>
                          <a:latin typeface="Calibri"/>
                        </a:rPr>
                        <a:t>yolov8n</a:t>
                      </a:r>
                    </a:p>
                  </a:txBody>
                  <a:tcPr>
                    <a:solidFill>
                      <a:srgbClr val="FFFFFF"/>
                    </a:solidFill>
                  </a:tcPr>
                </a:tc>
                <a:tc>
                  <a:txBody>
                    <a:bodyPr/>
                    <a:lstStyle/>
                    <a:p>
                      <a:r>
                        <a:rPr sz="1400" b="0">
                          <a:solidFill>
                            <a:srgbClr val="1B2430"/>
                          </a:solidFill>
                          <a:latin typeface="Calibri"/>
                        </a:rPr>
                        <a:t>640</a:t>
                      </a:r>
                    </a:p>
                  </a:txBody>
                  <a:tcPr>
                    <a:solidFill>
                      <a:srgbClr val="FFFFFF"/>
                    </a:solidFill>
                  </a:tcPr>
                </a:tc>
                <a:tc>
                  <a:txBody>
                    <a:bodyPr/>
                    <a:lstStyle/>
                    <a:p>
                      <a:r>
                        <a:rPr sz="1400" b="0">
                          <a:solidFill>
                            <a:srgbClr val="1B2430"/>
                          </a:solidFill>
                          <a:latin typeface="Calibri"/>
                        </a:rPr>
                        <a:t>3,15</a:t>
                      </a:r>
                    </a:p>
                  </a:txBody>
                  <a:tcPr>
                    <a:solidFill>
                      <a:srgbClr val="FFFFFF"/>
                    </a:solidFill>
                  </a:tcPr>
                </a:tc>
                <a:tc>
                  <a:txBody>
                    <a:bodyPr/>
                    <a:lstStyle/>
                    <a:p>
                      <a:r>
                        <a:rPr sz="1400" b="0">
                          <a:solidFill>
                            <a:srgbClr val="1B2430"/>
                          </a:solidFill>
                          <a:latin typeface="Calibri"/>
                        </a:rPr>
                        <a:t>6,3</a:t>
                      </a:r>
                    </a:p>
                  </a:txBody>
                  <a:tcPr>
                    <a:solidFill>
                      <a:srgbClr val="FFFFFF"/>
                    </a:solidFill>
                  </a:tcPr>
                </a:tc>
                <a:tc>
                  <a:txBody>
                    <a:bodyPr/>
                    <a:lstStyle/>
                    <a:p>
                      <a:r>
                        <a:rPr sz="1400" b="0">
                          <a:solidFill>
                            <a:srgbClr val="1B2430"/>
                          </a:solidFill>
                          <a:latin typeface="Calibri"/>
                        </a:rPr>
                        <a:t>8,7</a:t>
                      </a:r>
                    </a:p>
                  </a:txBody>
                  <a:tcPr>
                    <a:solidFill>
                      <a:srgbClr val="FFFFFF"/>
                    </a:solidFill>
                  </a:tcPr>
                </a:tc>
                <a:tc>
                  <a:txBody>
                    <a:bodyPr/>
                    <a:lstStyle/>
                    <a:p>
                      <a:r>
                        <a:rPr sz="1400" b="0">
                          <a:solidFill>
                            <a:srgbClr val="1B2430"/>
                          </a:solidFill>
                          <a:latin typeface="Calibri"/>
                        </a:rPr>
                        <a:t>1,39</a:t>
                      </a:r>
                    </a:p>
                  </a:txBody>
                  <a:tcPr>
                    <a:solidFill>
                      <a:srgbClr val="FFFFFF"/>
                    </a:solidFill>
                  </a:tcPr>
                </a:tc>
              </a:tr>
              <a:tr h="520000">
                <a:tc>
                  <a:txBody>
                    <a:bodyPr/>
                    <a:lstStyle/>
                    <a:p>
                      <a:r>
                        <a:rPr sz="1400" b="0">
                          <a:solidFill>
                            <a:srgbClr val="1B2430"/>
                          </a:solidFill>
                          <a:latin typeface="Calibri"/>
                        </a:rPr>
                        <a:t>yolov8s</a:t>
                      </a:r>
                    </a:p>
                  </a:txBody>
                  <a:tcPr>
                    <a:solidFill>
                      <a:srgbClr val="F1F4F8"/>
                    </a:solidFill>
                  </a:tcPr>
                </a:tc>
                <a:tc>
                  <a:txBody>
                    <a:bodyPr/>
                    <a:lstStyle/>
                    <a:p>
                      <a:r>
                        <a:rPr sz="1400" b="0">
                          <a:solidFill>
                            <a:srgbClr val="1B2430"/>
                          </a:solidFill>
                          <a:latin typeface="Calibri"/>
                        </a:rPr>
                        <a:t>512</a:t>
                      </a:r>
                    </a:p>
                  </a:txBody>
                  <a:tcPr>
                    <a:solidFill>
                      <a:srgbClr val="F1F4F8"/>
                    </a:solidFill>
                  </a:tcPr>
                </a:tc>
                <a:tc>
                  <a:txBody>
                    <a:bodyPr/>
                    <a:lstStyle/>
                    <a:p>
                      <a:r>
                        <a:rPr sz="1400" b="0">
                          <a:solidFill>
                            <a:srgbClr val="1B2430"/>
                          </a:solidFill>
                          <a:latin typeface="Calibri"/>
                        </a:rPr>
                        <a:t>11,17</a:t>
                      </a:r>
                    </a:p>
                  </a:txBody>
                  <a:tcPr>
                    <a:solidFill>
                      <a:srgbClr val="F1F4F8"/>
                    </a:solidFill>
                  </a:tcPr>
                </a:tc>
                <a:tc>
                  <a:txBody>
                    <a:bodyPr/>
                    <a:lstStyle/>
                    <a:p>
                      <a:r>
                        <a:rPr sz="1400" b="0">
                          <a:solidFill>
                            <a:srgbClr val="1B2430"/>
                          </a:solidFill>
                          <a:latin typeface="Calibri"/>
                        </a:rPr>
                        <a:t>22,3</a:t>
                      </a:r>
                    </a:p>
                  </a:txBody>
                  <a:tcPr>
                    <a:solidFill>
                      <a:srgbClr val="F1F4F8"/>
                    </a:solidFill>
                  </a:tcPr>
                </a:tc>
                <a:tc>
                  <a:txBody>
                    <a:bodyPr/>
                    <a:lstStyle/>
                    <a:p>
                      <a:r>
                        <a:rPr sz="1400" b="0">
                          <a:solidFill>
                            <a:srgbClr val="1B2430"/>
                          </a:solidFill>
                          <a:latin typeface="Calibri"/>
                        </a:rPr>
                        <a:t>18,3</a:t>
                      </a:r>
                    </a:p>
                  </a:txBody>
                  <a:tcPr>
                    <a:solidFill>
                      <a:srgbClr val="F1F4F8"/>
                    </a:solidFill>
                  </a:tcPr>
                </a:tc>
                <a:tc>
                  <a:txBody>
                    <a:bodyPr/>
                    <a:lstStyle/>
                    <a:p>
                      <a:r>
                        <a:rPr sz="1400" b="0">
                          <a:solidFill>
                            <a:srgbClr val="1B2430"/>
                          </a:solidFill>
                          <a:latin typeface="Calibri"/>
                        </a:rPr>
                        <a:t>2,93</a:t>
                      </a:r>
                    </a:p>
                  </a:txBody>
                  <a:tcPr>
                    <a:solidFill>
                      <a:srgbClr val="F1F4F8"/>
                    </a:solidFill>
                  </a:tcPr>
                </a:tc>
              </a:tr>
              <a:tr h="520000">
                <a:tc>
                  <a:txBody>
                    <a:bodyPr/>
                    <a:lstStyle/>
                    <a:p>
                      <a:r>
                        <a:rPr sz="1400" b="0">
                          <a:solidFill>
                            <a:srgbClr val="1B2430"/>
                          </a:solidFill>
                          <a:latin typeface="Calibri"/>
                        </a:rPr>
                        <a:t>yolov8s</a:t>
                      </a:r>
                    </a:p>
                  </a:txBody>
                  <a:tcPr>
                    <a:solidFill>
                      <a:srgbClr val="FFFFFF"/>
                    </a:solidFill>
                  </a:tcPr>
                </a:tc>
                <a:tc>
                  <a:txBody>
                    <a:bodyPr/>
                    <a:lstStyle/>
                    <a:p>
                      <a:r>
                        <a:rPr sz="1400" b="0">
                          <a:solidFill>
                            <a:srgbClr val="1B2430"/>
                          </a:solidFill>
                          <a:latin typeface="Calibri"/>
                        </a:rPr>
                        <a:t>640</a:t>
                      </a:r>
                    </a:p>
                  </a:txBody>
                  <a:tcPr>
                    <a:solidFill>
                      <a:srgbClr val="FFFFFF"/>
                    </a:solidFill>
                  </a:tcPr>
                </a:tc>
                <a:tc>
                  <a:txBody>
                    <a:bodyPr/>
                    <a:lstStyle/>
                    <a:p>
                      <a:r>
                        <a:rPr sz="1400" b="0">
                          <a:solidFill>
                            <a:srgbClr val="1B2430"/>
                          </a:solidFill>
                          <a:latin typeface="Calibri"/>
                        </a:rPr>
                        <a:t>11,17</a:t>
                      </a:r>
                    </a:p>
                  </a:txBody>
                  <a:tcPr>
                    <a:solidFill>
                      <a:srgbClr val="FFFFFF"/>
                    </a:solidFill>
                  </a:tcPr>
                </a:tc>
                <a:tc>
                  <a:txBody>
                    <a:bodyPr/>
                    <a:lstStyle/>
                    <a:p>
                      <a:r>
                        <a:rPr sz="1400" b="0">
                          <a:solidFill>
                            <a:srgbClr val="1B2430"/>
                          </a:solidFill>
                          <a:latin typeface="Calibri"/>
                        </a:rPr>
                        <a:t>22,3</a:t>
                      </a:r>
                    </a:p>
                  </a:txBody>
                  <a:tcPr>
                    <a:solidFill>
                      <a:srgbClr val="FFFFFF"/>
                    </a:solidFill>
                  </a:tcPr>
                </a:tc>
                <a:tc>
                  <a:txBody>
                    <a:bodyPr/>
                    <a:lstStyle/>
                    <a:p>
                      <a:r>
                        <a:rPr sz="1400" b="0">
                          <a:solidFill>
                            <a:srgbClr val="1B2430"/>
                          </a:solidFill>
                          <a:latin typeface="Calibri"/>
                        </a:rPr>
                        <a:t>28,6</a:t>
                      </a:r>
                    </a:p>
                  </a:txBody>
                  <a:tcPr>
                    <a:solidFill>
                      <a:srgbClr val="FFFFFF"/>
                    </a:solidFill>
                  </a:tcPr>
                </a:tc>
                <a:tc>
                  <a:txBody>
                    <a:bodyPr/>
                    <a:lstStyle/>
                    <a:p>
                      <a:r>
                        <a:rPr sz="1400" b="0">
                          <a:solidFill>
                            <a:srgbClr val="1B2430"/>
                          </a:solidFill>
                          <a:latin typeface="Calibri"/>
                        </a:rPr>
                        <a:t>4,58</a:t>
                      </a:r>
                    </a:p>
                  </a:txBody>
                  <a:tcPr>
                    <a:solidFill>
                      <a:srgbClr val="FFFFFF"/>
                    </a:solidFill>
                  </a:tcPr>
                </a:tc>
              </a:tr>
              <a:tr h="520000">
                <a:tc>
                  <a:txBody>
                    <a:bodyPr/>
                    <a:lstStyle/>
                    <a:p>
                      <a:r>
                        <a:rPr sz="1400" b="0">
                          <a:solidFill>
                            <a:srgbClr val="1B2430"/>
                          </a:solidFill>
                          <a:latin typeface="Calibri"/>
                        </a:rPr>
                        <a:t>yolov8m</a:t>
                      </a:r>
                    </a:p>
                  </a:txBody>
                  <a:tcPr>
                    <a:solidFill>
                      <a:srgbClr val="F1F4F8"/>
                    </a:solidFill>
                  </a:tcPr>
                </a:tc>
                <a:tc>
                  <a:txBody>
                    <a:bodyPr/>
                    <a:lstStyle/>
                    <a:p>
                      <a:r>
                        <a:rPr sz="1400" b="0">
                          <a:solidFill>
                            <a:srgbClr val="1B2430"/>
                          </a:solidFill>
                          <a:latin typeface="Calibri"/>
                        </a:rPr>
                        <a:t>512</a:t>
                      </a:r>
                    </a:p>
                  </a:txBody>
                  <a:tcPr>
                    <a:solidFill>
                      <a:srgbClr val="F1F4F8"/>
                    </a:solidFill>
                  </a:tcPr>
                </a:tc>
                <a:tc>
                  <a:txBody>
                    <a:bodyPr/>
                    <a:lstStyle/>
                    <a:p>
                      <a:r>
                        <a:rPr sz="1400" b="0">
                          <a:solidFill>
                            <a:srgbClr val="1B2430"/>
                          </a:solidFill>
                          <a:latin typeface="Calibri"/>
                        </a:rPr>
                        <a:t>25,9</a:t>
                      </a:r>
                    </a:p>
                  </a:txBody>
                  <a:tcPr>
                    <a:solidFill>
                      <a:srgbClr val="F1F4F8"/>
                    </a:solidFill>
                  </a:tcPr>
                </a:tc>
                <a:tc>
                  <a:txBody>
                    <a:bodyPr/>
                    <a:lstStyle/>
                    <a:p>
                      <a:r>
                        <a:rPr sz="1400" b="0">
                          <a:solidFill>
                            <a:srgbClr val="1B2430"/>
                          </a:solidFill>
                          <a:latin typeface="Calibri"/>
                        </a:rPr>
                        <a:t>51,8</a:t>
                      </a:r>
                    </a:p>
                  </a:txBody>
                  <a:tcPr>
                    <a:solidFill>
                      <a:srgbClr val="F1F4F8"/>
                    </a:solidFill>
                  </a:tcPr>
                </a:tc>
                <a:tc>
                  <a:txBody>
                    <a:bodyPr/>
                    <a:lstStyle/>
                    <a:p>
                      <a:r>
                        <a:rPr sz="1400" b="0">
                          <a:solidFill>
                            <a:srgbClr val="1B2430"/>
                          </a:solidFill>
                          <a:latin typeface="Calibri"/>
                        </a:rPr>
                        <a:t>50,5</a:t>
                      </a:r>
                    </a:p>
                  </a:txBody>
                  <a:tcPr>
                    <a:solidFill>
                      <a:srgbClr val="F1F4F8"/>
                    </a:solidFill>
                  </a:tcPr>
                </a:tc>
                <a:tc>
                  <a:txBody>
                    <a:bodyPr/>
                    <a:lstStyle/>
                    <a:p>
                      <a:r>
                        <a:rPr sz="1400" b="0">
                          <a:solidFill>
                            <a:srgbClr val="1B2430"/>
                          </a:solidFill>
                          <a:latin typeface="Calibri"/>
                        </a:rPr>
                        <a:t>8,08</a:t>
                      </a:r>
                    </a:p>
                  </a:txBody>
                  <a:tcPr>
                    <a:solidFill>
                      <a:srgbClr val="F1F4F8"/>
                    </a:solidFill>
                  </a:tcPr>
                </a:tc>
              </a:tr>
              <a:tr h="520000">
                <a:tc>
                  <a:txBody>
                    <a:bodyPr/>
                    <a:lstStyle/>
                    <a:p>
                      <a:r>
                        <a:rPr sz="1400" b="0">
                          <a:solidFill>
                            <a:srgbClr val="1B2430"/>
                          </a:solidFill>
                          <a:latin typeface="Calibri"/>
                        </a:rPr>
                        <a:t>yolov8m</a:t>
                      </a:r>
                    </a:p>
                  </a:txBody>
                  <a:tcPr>
                    <a:solidFill>
                      <a:srgbClr val="FFFFFF"/>
                    </a:solidFill>
                  </a:tcPr>
                </a:tc>
                <a:tc>
                  <a:txBody>
                    <a:bodyPr/>
                    <a:lstStyle/>
                    <a:p>
                      <a:r>
                        <a:rPr sz="1400" b="0">
                          <a:solidFill>
                            <a:srgbClr val="1B2430"/>
                          </a:solidFill>
                          <a:latin typeface="Calibri"/>
                        </a:rPr>
                        <a:t>640</a:t>
                      </a:r>
                    </a:p>
                  </a:txBody>
                  <a:tcPr>
                    <a:solidFill>
                      <a:srgbClr val="FFFFFF"/>
                    </a:solidFill>
                  </a:tcPr>
                </a:tc>
                <a:tc>
                  <a:txBody>
                    <a:bodyPr/>
                    <a:lstStyle/>
                    <a:p>
                      <a:r>
                        <a:rPr sz="1400" b="0">
                          <a:solidFill>
                            <a:srgbClr val="1B2430"/>
                          </a:solidFill>
                          <a:latin typeface="Calibri"/>
                        </a:rPr>
                        <a:t>25,9</a:t>
                      </a:r>
                    </a:p>
                  </a:txBody>
                  <a:tcPr>
                    <a:solidFill>
                      <a:srgbClr val="FFFFFF"/>
                    </a:solidFill>
                  </a:tcPr>
                </a:tc>
                <a:tc>
                  <a:txBody>
                    <a:bodyPr/>
                    <a:lstStyle/>
                    <a:p>
                      <a:r>
                        <a:rPr sz="1400" b="0">
                          <a:solidFill>
                            <a:srgbClr val="1B2430"/>
                          </a:solidFill>
                          <a:latin typeface="Calibri"/>
                        </a:rPr>
                        <a:t>51,8</a:t>
                      </a:r>
                    </a:p>
                  </a:txBody>
                  <a:tcPr>
                    <a:solidFill>
                      <a:srgbClr val="FFFFFF"/>
                    </a:solidFill>
                  </a:tcPr>
                </a:tc>
                <a:tc>
                  <a:txBody>
                    <a:bodyPr/>
                    <a:lstStyle/>
                    <a:p>
                      <a:r>
                        <a:rPr sz="1400" b="0">
                          <a:solidFill>
                            <a:srgbClr val="1B2430"/>
                          </a:solidFill>
                          <a:latin typeface="Calibri"/>
                        </a:rPr>
                        <a:t>78,9</a:t>
                      </a:r>
                    </a:p>
                  </a:txBody>
                  <a:tcPr>
                    <a:solidFill>
                      <a:srgbClr val="FFFFFF"/>
                    </a:solidFill>
                  </a:tcPr>
                </a:tc>
                <a:tc>
                  <a:txBody>
                    <a:bodyPr/>
                    <a:lstStyle/>
                    <a:p>
                      <a:r>
                        <a:rPr sz="1400" b="0">
                          <a:solidFill>
                            <a:srgbClr val="1B2430"/>
                          </a:solidFill>
                          <a:latin typeface="Calibri"/>
                        </a:rPr>
                        <a:t>12,6</a:t>
                      </a:r>
                    </a:p>
                  </a:txBody>
                  <a:tcPr>
                    <a:solidFill>
                      <a:srgbClr val="FFFFFF"/>
                    </a:solidFill>
                  </a:tcPr>
                </a:tc>
              </a:tr>
            </a:tbl>
          </a:graphicData>
        </a:graphic>
      </p:graphicFrame>
    </p:spTree>
  </p:cSld>
  <p:clrMapOvr>
    <a:masterClrMapping/>
  </p:clrMapOvr>
  <p:transition spd="med">
    <p:fade/>
  </p:transition>
  <p:timing>
    <p:tnLst>
      <p:par>
        <p:cTn id="1" dur="indefinite" restart="never" nodeType="tmRoot">
          <p:childTnLst>
            <p:seq concurrent="1" nextAc="seek">
              <p:cTn id="2" dur="indefinite" nodeType="mainSeq">
                <p:childTnLst>
                  <p:par>
                    <p:cTn id="12"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6"/>
                                        </p:tgtEl>
                                        <p:attrNameLst>
                                          <p:attrName>style.visibility</p:attrName>
                                        </p:attrNameLst>
                                      </p:cBhvr>
                                      <p:to>
                                        <p:strVal val="visible"/>
                                      </p:to>
                                    </p:set>
                                    <p:animEffect transition="in" filter="fade">
                                      <p:cBhvr>
                                        <p:cTn id="6" dur="550"/>
                                        <p:tgtEl>
                                          <p:spTgt spid="6"/>
                                        </p:tgtEl>
                                      </p:cBhvr>
                                    </p:animEffect>
                                  </p:childTnLst>
                                </p:cTn>
                              </p:par>
                            </p:childTnLst>
                          </p:cTn>
                        </p:par>
                        <p:par>
                          <p:cTn id="7" fill="hold">
                            <p:stCondLst>
                              <p:cond delay="200"/>
                            </p:stCondLst>
                            <p:childTnLst>
                              <p:par>
                                <p:cTn id="8" presetID="22" presetClass="entr" presetSubtype="8" fill="hold" grpId="0" nodeType="after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wipe(left)">
                                      <p:cBhvr>
                                        <p:cTn id="11" dur="80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Lst>
  </p:timing>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110000"/>
            <a:ext cx="10300000" cy="300000"/>
          </a:xfrm>
          <a:prstGeom prst="rect">
            <a:avLst/>
          </a:prstGeom>
          <a:noFill/>
        </p:spPr>
        <p:txBody>
          <a:bodyPr wrap="square" anchor="t" lIns="50800" rIns="50800">
            <a:spAutoFit/>
          </a:bodyPr>
          <a:lstStyle/>
          <a:p>
            <a:pPr algn="l"/>
            <a:r>
              <a:rPr sz="1200" b="1">
                <a:solidFill>
                  <a:srgbClr val="A9C4E6"/>
                </a:solidFill>
                <a:latin typeface="Calibri"/>
              </a:rPr>
              <a:t>AMALIY MISOL</a:t>
            </a:r>
          </a:p>
        </p:txBody>
      </p:sp>
      <p:sp>
        <p:nvSpPr>
          <p:cNvPr id="6" name="TextBox 5"/>
          <p:cNvSpPr txBox="1"/>
          <p:nvPr/>
        </p:nvSpPr>
        <p:spPr>
          <a:xfrm>
            <a:off x="500000" y="330000"/>
            <a:ext cx="10400000" cy="650000"/>
          </a:xfrm>
          <a:prstGeom prst="rect">
            <a:avLst/>
          </a:prstGeom>
          <a:noFill/>
        </p:spPr>
        <p:txBody>
          <a:bodyPr wrap="square" anchor="ctr" lIns="50800" rIns="50800">
            <a:spAutoFit/>
          </a:bodyPr>
          <a:lstStyle/>
          <a:p>
            <a:pPr algn="l"/>
            <a:r>
              <a:rPr sz="2600" b="1">
                <a:solidFill>
                  <a:srgbClr val="FFFFFF"/>
                </a:solidFill>
                <a:latin typeface="Calibri"/>
              </a:rPr>
              <a:t>2-qadam. Model yuklamasini Python'da hisoblash — kod</a:t>
            </a:r>
          </a:p>
        </p:txBody>
      </p:sp>
      <p:sp>
        <p:nvSpPr>
          <p:cNvPr id="7" name="Rectangle 6"/>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A1 · Sun'iy intellektga asoslangan kompyuter tizimlari arxitekturasini tahlil qilish va loyihalash</a:t>
            </a:r>
          </a:p>
        </p:txBody>
      </p:sp>
      <p:sp>
        <p:nvSpPr>
          <p:cNvPr id="9" name="TextBox 8"/>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23</a:t>
            </a:r>
          </a:p>
        </p:txBody>
      </p:sp>
      <p:sp>
        <p:nvSpPr>
          <p:cNvPr id="10" name="Rounded Rectangle 9"/>
          <p:cNvSpPr/>
          <p:nvPr/>
        </p:nvSpPr>
        <p:spPr>
          <a:xfrm>
            <a:off x="500000" y="1280000"/>
            <a:ext cx="11200000" cy="5000000"/>
          </a:xfrm>
          <a:prstGeom prst="roundRect">
            <a:avLst>
              <a:gd name="adj" fmla="val 3000"/>
            </a:avLst>
          </a:prstGeom>
          <a:solidFill>
            <a:srgbClr val="0F17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700000" y="1400000"/>
            <a:ext cx="150000" cy="150000"/>
          </a:xfrm>
          <a:prstGeom prst="ellipse">
            <a:avLst/>
          </a:prstGeom>
          <a:solidFill>
            <a:srgbClr val="FF5F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930000" y="1400000"/>
            <a:ext cx="150000" cy="150000"/>
          </a:xfrm>
          <a:prstGeom prst="ellipse">
            <a:avLst/>
          </a:prstGeom>
          <a:solidFill>
            <a:srgbClr val="FFBD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1160000" y="1400000"/>
            <a:ext cx="150000" cy="150000"/>
          </a:xfrm>
          <a:prstGeom prst="ellipse">
            <a:avLst/>
          </a:prstGeom>
          <a:solidFill>
            <a:srgbClr val="27C9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0000" y="1650000"/>
            <a:ext cx="10800000" cy="4550000"/>
          </a:xfrm>
          <a:prstGeom prst="rect">
            <a:avLst/>
          </a:prstGeom>
          <a:noFill/>
        </p:spPr>
        <p:txBody>
          <a:bodyPr wrap="square">
            <a:spAutoFit/>
          </a:bodyPr>
          <a:lstStyle/>
          <a:p>
            <a:r>
              <a:rPr sz="1200">
                <a:solidFill>
                  <a:srgbClr val="7FD6D7"/>
                </a:solidFill>
                <a:latin typeface="Consolas"/>
              </a:rPr>
              <a:t># yuklama_hisobi.py</a:t>
            </a:r>
          </a:p>
          <a:p>
            <a:r>
              <a:rPr sz="1200">
                <a:solidFill>
                  <a:srgbClr val="7FD6D7"/>
                </a:solidFill>
                <a:latin typeface="Consolas"/>
              </a:rPr>
              <a:t># Maqsad: model varianti va kamera konfiguratsiyasi uchun hisoblash talabini baholash</a:t>
            </a:r>
          </a:p>
          <a:p>
            <a:r>
              <a:rPr sz="1200">
                <a:solidFill>
                  <a:srgbClr val="E2E8F0"/>
                </a:solidFill>
                <a:latin typeface="Consolas"/>
              </a:rPr>
              <a:t>from ultralytics import YOLO</a:t>
            </a:r>
          </a:p>
          <a:p>
            <a:r>
              <a:rPr sz="1200">
                <a:solidFill>
                  <a:srgbClr val="E2E8F0"/>
                </a:solidFill>
                <a:latin typeface="Consolas"/>
              </a:rPr>
              <a:t>import pandas as pd</a:t>
            </a:r>
          </a:p>
          <a:p>
            <a:r>
              <a:rPr sz="1200">
                <a:solidFill>
                  <a:srgbClr val="E2E8F0"/>
                </a:solidFill>
                <a:latin typeface="Consolas"/>
              </a:rPr>
              <a:t> </a:t>
            </a:r>
          </a:p>
          <a:p>
            <a:r>
              <a:rPr sz="1200">
                <a:solidFill>
                  <a:srgbClr val="E2E8F0"/>
                </a:solidFill>
                <a:latin typeface="Consolas"/>
              </a:rPr>
              <a:t>KAMERALAR = 16</a:t>
            </a:r>
          </a:p>
          <a:p>
            <a:r>
              <a:rPr sz="1200">
                <a:solidFill>
                  <a:srgbClr val="E2E8F0"/>
                </a:solidFill>
                <a:latin typeface="Consolas"/>
              </a:rPr>
              <a:t>FPS = 10</a:t>
            </a:r>
          </a:p>
          <a:p>
            <a:r>
              <a:rPr sz="1200">
                <a:solidFill>
                  <a:srgbClr val="E2E8F0"/>
                </a:solidFill>
                <a:latin typeface="Consolas"/>
              </a:rPr>
              <a:t>INFERENS_S = KAMERALAR * FPS          # 160 inferens/sekund</a:t>
            </a:r>
          </a:p>
          <a:p>
            <a:r>
              <a:rPr sz="1200">
                <a:solidFill>
                  <a:srgbClr val="E2E8F0"/>
                </a:solidFill>
                <a:latin typeface="Consolas"/>
              </a:rPr>
              <a:t> </a:t>
            </a:r>
          </a:p>
          <a:p>
            <a:r>
              <a:rPr sz="1200">
                <a:solidFill>
                  <a:srgbClr val="E2E8F0"/>
                </a:solidFill>
                <a:latin typeface="Consolas"/>
              </a:rPr>
              <a:t>def model_profili(nomi, imgsz=640):</a:t>
            </a:r>
          </a:p>
          <a:p>
            <a:r>
              <a:rPr sz="1200">
                <a:solidFill>
                  <a:srgbClr val="E2E8F0"/>
                </a:solidFill>
                <a:latin typeface="Consolas"/>
              </a:rPr>
              <a:t>    m = YOLO(nomi)                     # vaznlar birinchi marta yuklab olinadi</a:t>
            </a:r>
          </a:p>
          <a:p>
            <a:r>
              <a:rPr sz="1200">
                <a:solidFill>
                  <a:srgbClr val="7FD6D7"/>
                </a:solidFill>
                <a:latin typeface="Consolas"/>
              </a:rPr>
              <a:t>    # ultralytics 'info' usuli (qatlamlar, parametrlar, gradientlar, GFLOP) qaytaradi</a:t>
            </a:r>
          </a:p>
          <a:p>
            <a:r>
              <a:rPr sz="1200">
                <a:solidFill>
                  <a:srgbClr val="E2E8F0"/>
                </a:solidFill>
                <a:latin typeface="Consolas"/>
              </a:rPr>
              <a:t>    qatlam, params, grad, gflops = m.info(verbose=False, imgsz=imgsz)</a:t>
            </a:r>
          </a:p>
          <a:p>
            <a:r>
              <a:rPr sz="1200">
                <a:solidFill>
                  <a:srgbClr val="E2E8F0"/>
                </a:solidFill>
                <a:latin typeface="Consolas"/>
              </a:rPr>
              <a:t>    return {</a:t>
            </a:r>
          </a:p>
          <a:p>
            <a:r>
              <a:rPr sz="1200">
                <a:solidFill>
                  <a:srgbClr val="E2E8F0"/>
                </a:solidFill>
                <a:latin typeface="Consolas"/>
              </a:rPr>
              <a:t>        "model": nomi,</a:t>
            </a:r>
          </a:p>
          <a:p>
            <a:r>
              <a:rPr sz="1200">
                <a:solidFill>
                  <a:srgbClr val="E2E8F0"/>
                </a:solidFill>
                <a:latin typeface="Consolas"/>
              </a:rPr>
              <a:t>        "imgsz": imgsz,</a:t>
            </a:r>
          </a:p>
          <a:p>
            <a:r>
              <a:rPr sz="1200">
                <a:solidFill>
                  <a:srgbClr val="E2E8F0"/>
                </a:solidFill>
                <a:latin typeface="Consolas"/>
              </a:rPr>
              <a:t>        "params_M": round(params / 1e6, 2),</a:t>
            </a:r>
          </a:p>
          <a:p>
            <a:r>
              <a:rPr sz="1200">
                <a:solidFill>
                  <a:srgbClr val="E2E8F0"/>
                </a:solidFill>
                <a:latin typeface="Consolas"/>
              </a:rPr>
              <a:t>        "vazn_FP16_MB": round(params * 2 / 1e6, 1),</a:t>
            </a:r>
          </a:p>
          <a:p>
            <a:r>
              <a:rPr sz="1200">
                <a:solidFill>
                  <a:srgbClr val="E2E8F0"/>
                </a:solidFill>
                <a:latin typeface="Consolas"/>
              </a:rPr>
              <a:t>        "vazn_INT8_MB": round(params * 1 / 1e6, 1),</a:t>
            </a:r>
          </a:p>
          <a:p>
            <a:r>
              <a:rPr sz="1200">
                <a:solidFill>
                  <a:srgbClr val="E2E8F0"/>
                </a:solidFill>
                <a:latin typeface="Consolas"/>
              </a:rPr>
              <a:t>        "GFLOP_inferens": round(gflops, 1),</a:t>
            </a:r>
          </a:p>
          <a:p>
            <a:r>
              <a:rPr sz="1200">
                <a:solidFill>
                  <a:srgbClr val="7FD6D7"/>
                </a:solidFill>
                <a:latin typeface="Consolas"/>
              </a:rPr>
              <a:t># … (to‘liq kod — mavzu matnida / GitHub’da)</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0"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6"/>
                                        </p:tgtEl>
                                        <p:attrNameLst>
                                          <p:attrName>style.visibility</p:attrName>
                                        </p:attrNameLst>
                                      </p:cBhvr>
                                      <p:to>
                                        <p:strVal val="visible"/>
                                      </p:to>
                                    </p:set>
                                    <p:animEffect transition="in" filter="fade">
                                      <p:cBhvr>
                                        <p:cTn id="6" dur="550"/>
                                        <p:tgtEl>
                                          <p:spTgt spid="6"/>
                                        </p:tgtEl>
                                      </p:cBhvr>
                                    </p:animEffect>
                                  </p:childTnLst>
                                </p:cTn>
                              </p:par>
                            </p:childTnLst>
                          </p:cTn>
                        </p:par>
                        <p:par>
                          <p:cTn id="7" fill="hold">
                            <p:stCondLst>
                              <p:cond delay="200"/>
                            </p:stCondLst>
                            <p:childTnLst>
                              <p:par>
                                <p:cTn id="8" presetID="53" presetClass="entr" presetSubtype="16" fill="hold" grpId="0" nodeType="after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fade">
                                      <p:cBhvr>
                                        <p:cTn id="10" dur="550"/>
                                        <p:tgtEl>
                                          <p:spTgt spid="10"/>
                                        </p:tgtEl>
                                      </p:cBhvr>
                                    </p:animEffect>
                                    <p:anim calcmode="lin" valueType="num">
                                      <p:cBhvr additive="base">
                                        <p:cTn id="11" dur="550" fill="hold"/>
                                        <p:tgtEl>
                                          <p:spTgt spid="10"/>
                                        </p:tgtEl>
                                        <p:attrNameLst>
                                          <p:attrName>ppt_w</p:attrName>
                                        </p:attrNameLst>
                                      </p:cBhvr>
                                      <p:tavLst>
                                        <p:tav tm="0">
                                          <p:val>
                                            <p:strVal val="0"/>
                                          </p:val>
                                        </p:tav>
                                        <p:tav tm="100000">
                                          <p:val>
                                            <p:strVal val="#ppt_w"/>
                                          </p:val>
                                        </p:tav>
                                      </p:tavLst>
                                    </p:anim>
                                    <p:anim calcmode="lin" valueType="num">
                                      <p:cBhvr additive="base">
                                        <p:cTn id="12" dur="550" fill="hold"/>
                                        <p:tgtEl>
                                          <p:spTgt spid="10"/>
                                        </p:tgtEl>
                                        <p:attrNameLst>
                                          <p:attrName>ppt_h</p:attrName>
                                        </p:attrNameLst>
                                      </p:cBhvr>
                                      <p:tavLst>
                                        <p:tav tm="0">
                                          <p:val>
                                            <p:strVal val="0"/>
                                          </p:val>
                                        </p:tav>
                                        <p:tav tm="100000">
                                          <p:val>
                                            <p:strVal val="#ppt_h"/>
                                          </p:val>
                                        </p:tav>
                                      </p:tavLst>
                                    </p:anim>
                                  </p:childTnLst>
                                </p:cTn>
                              </p:par>
                            </p:childTnLst>
                          </p:cTn>
                        </p:par>
                        <p:par>
                          <p:cTn id="13" fill="hold">
                            <p:stCondLst>
                              <p:cond delay="200"/>
                            </p:stCondLst>
                            <p:childTnLst>
                              <p:par>
                                <p:cTn id="14" presetID="10" presetClass="entr" presetSubtype="0" fill="hold" grpId="0" nodeType="afterEffect">
                                  <p:stCondLst>
                                    <p:cond delay="0"/>
                                  </p:stCondLst>
                                  <p:childTnLst>
                                    <p:set>
                                      <p:cBhvr>
                                        <p:cTn id="15" dur="1" fill="hold">
                                          <p:stCondLst>
                                            <p:cond delay="0"/>
                                          </p:stCondLst>
                                        </p:cTn>
                                        <p:tgtEl>
                                          <p:spTgt spid="11"/>
                                        </p:tgtEl>
                                        <p:attrNameLst>
                                          <p:attrName>style.visibility</p:attrName>
                                        </p:attrNameLst>
                                      </p:cBhvr>
                                      <p:to>
                                        <p:strVal val="visible"/>
                                      </p:to>
                                    </p:set>
                                    <p:animEffect transition="in" filter="fade">
                                      <p:cBhvr>
                                        <p:cTn id="16" dur="550"/>
                                        <p:tgtEl>
                                          <p:spTgt spid="11"/>
                                        </p:tgtEl>
                                      </p:cBhvr>
                                    </p:animEffect>
                                  </p:childTnLst>
                                </p:cTn>
                              </p:par>
                            </p:childTnLst>
                          </p:cTn>
                        </p:par>
                        <p:par>
                          <p:cTn id="17" fill="hold">
                            <p:stCondLst>
                              <p:cond delay="200"/>
                            </p:stCondLst>
                            <p:childTnLst>
                              <p:par>
                                <p:cTn id="18" presetID="10" presetClass="entr" presetSubtype="0" fill="hold" grpId="0" nodeType="afterEffect">
                                  <p:stCondLst>
                                    <p:cond delay="0"/>
                                  </p:stCondLst>
                                  <p:childTnLst>
                                    <p:set>
                                      <p:cBhvr>
                                        <p:cTn id="19" dur="1" fill="hold">
                                          <p:stCondLst>
                                            <p:cond delay="0"/>
                                          </p:stCondLst>
                                        </p:cTn>
                                        <p:tgtEl>
                                          <p:spTgt spid="12"/>
                                        </p:tgtEl>
                                        <p:attrNameLst>
                                          <p:attrName>style.visibility</p:attrName>
                                        </p:attrNameLst>
                                      </p:cBhvr>
                                      <p:to>
                                        <p:strVal val="visible"/>
                                      </p:to>
                                    </p:set>
                                    <p:animEffect transition="in" filter="fade">
                                      <p:cBhvr>
                                        <p:cTn id="20" dur="550"/>
                                        <p:tgtEl>
                                          <p:spTgt spid="12"/>
                                        </p:tgtEl>
                                      </p:cBhvr>
                                    </p:animEffect>
                                  </p:childTnLst>
                                </p:cTn>
                              </p:par>
                            </p:childTnLst>
                          </p:cTn>
                        </p:par>
                        <p:par>
                          <p:cTn id="21" fill="hold">
                            <p:stCondLst>
                              <p:cond delay="200"/>
                            </p:stCondLst>
                            <p:childTnLst>
                              <p:par>
                                <p:cTn id="22" presetID="10" presetClass="entr" presetSubtype="0" fill="hold" grpId="0" nodeType="afterEffect">
                                  <p:stCondLst>
                                    <p:cond delay="0"/>
                                  </p:stCondLst>
                                  <p:childTnLst>
                                    <p:set>
                                      <p:cBhvr>
                                        <p:cTn id="23" dur="1" fill="hold">
                                          <p:stCondLst>
                                            <p:cond delay="0"/>
                                          </p:stCondLst>
                                        </p:cTn>
                                        <p:tgtEl>
                                          <p:spTgt spid="13"/>
                                        </p:tgtEl>
                                        <p:attrNameLst>
                                          <p:attrName>style.visibility</p:attrName>
                                        </p:attrNameLst>
                                      </p:cBhvr>
                                      <p:to>
                                        <p:strVal val="visible"/>
                                      </p:to>
                                    </p:set>
                                    <p:animEffect transition="in" filter="fade">
                                      <p:cBhvr>
                                        <p:cTn id="24" dur="550"/>
                                        <p:tgtEl>
                                          <p:spTgt spid="13"/>
                                        </p:tgtEl>
                                      </p:cBhvr>
                                    </p:animEffect>
                                  </p:childTnLst>
                                </p:cTn>
                              </p:par>
                            </p:childTnLst>
                          </p:cTn>
                        </p:par>
                        <p:par>
                          <p:cTn id="25" fill="hold">
                            <p:stCondLst>
                              <p:cond delay="350"/>
                            </p:stCondLst>
                            <p:childTnLst>
                              <p:par>
                                <p:cTn id="26" presetID="22" presetClass="entr" presetSubtype="8" fill="hold" grpId="0" nodeType="afterEffect">
                                  <p:stCondLst>
                                    <p:cond delay="0"/>
                                  </p:stCondLst>
                                  <p:childTnLst>
                                    <p:set>
                                      <p:cBhvr>
                                        <p:cTn id="27" dur="1" fill="hold">
                                          <p:stCondLst>
                                            <p:cond delay="0"/>
                                          </p:stCondLst>
                                        </p:cTn>
                                        <p:tgtEl>
                                          <p:spTgt spid="14"/>
                                        </p:tgtEl>
                                        <p:attrNameLst>
                                          <p:attrName>style.visibility</p:attrName>
                                        </p:attrNameLst>
                                      </p:cBhvr>
                                      <p:to>
                                        <p:strVal val="visible"/>
                                      </p:to>
                                    </p:set>
                                    <p:animEffect transition="in" filter="wipe(left)">
                                      <p:cBhvr>
                                        <p:cTn id="29" dur="800"/>
                                        <p:tgtEl>
                                          <p:spTgt spid="1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10" grpId="0" animBg="1"/>
      <p:bldP spid="11" grpId="0" animBg="1"/>
      <p:bldP spid="12" grpId="0" animBg="1"/>
      <p:bldP spid="13" grpId="0" animBg="1"/>
      <p:bldP spid="14" grpId="0" animBg="1"/>
    </p:bldLst>
  </p:timing>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110000"/>
            <a:ext cx="10300000" cy="300000"/>
          </a:xfrm>
          <a:prstGeom prst="rect">
            <a:avLst/>
          </a:prstGeom>
          <a:noFill/>
        </p:spPr>
        <p:txBody>
          <a:bodyPr wrap="square" anchor="t" lIns="50800" rIns="50800">
            <a:spAutoFit/>
          </a:bodyPr>
          <a:lstStyle/>
          <a:p>
            <a:pPr algn="l"/>
            <a:r>
              <a:rPr sz="1200" b="1">
                <a:solidFill>
                  <a:srgbClr val="A9C4E6"/>
                </a:solidFill>
                <a:latin typeface="Calibri"/>
              </a:rPr>
              <a:t>AMALIY MISOL</a:t>
            </a:r>
          </a:p>
        </p:txBody>
      </p:sp>
      <p:sp>
        <p:nvSpPr>
          <p:cNvPr id="6" name="TextBox 5"/>
          <p:cNvSpPr txBox="1"/>
          <p:nvPr/>
        </p:nvSpPr>
        <p:spPr>
          <a:xfrm>
            <a:off x="500000" y="330000"/>
            <a:ext cx="10400000" cy="650000"/>
          </a:xfrm>
          <a:prstGeom prst="rect">
            <a:avLst/>
          </a:prstGeom>
          <a:noFill/>
        </p:spPr>
        <p:txBody>
          <a:bodyPr wrap="square" anchor="ctr" lIns="50800" rIns="50800">
            <a:spAutoFit/>
          </a:bodyPr>
          <a:lstStyle/>
          <a:p>
            <a:pPr algn="l"/>
            <a:r>
              <a:rPr sz="2600" b="1">
                <a:solidFill>
                  <a:srgbClr val="FFFFFF"/>
                </a:solidFill>
                <a:latin typeface="Calibri"/>
              </a:rPr>
              <a:t>3-qadam. Platformalarni samaradorlik koeffitsiyenti bilan baholash</a:t>
            </a:r>
          </a:p>
        </p:txBody>
      </p:sp>
      <p:sp>
        <p:nvSpPr>
          <p:cNvPr id="7" name="Rectangle 6"/>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A1 · Sun'iy intellektga asoslangan kompyuter tizimlari arxitekturasini tahlil qilish va loyihalash</a:t>
            </a:r>
          </a:p>
        </p:txBody>
      </p:sp>
      <p:sp>
        <p:nvSpPr>
          <p:cNvPr id="9" name="TextBox 8"/>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24</a:t>
            </a:r>
          </a:p>
        </p:txBody>
      </p:sp>
      <p:sp>
        <p:nvSpPr>
          <p:cNvPr id="10" name="Rounded Rectangle 9"/>
          <p:cNvSpPr/>
          <p:nvPr/>
        </p:nvSpPr>
        <p:spPr>
          <a:xfrm>
            <a:off x="550000" y="2076666"/>
            <a:ext cx="11100000" cy="1250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50000" y="2076666"/>
            <a:ext cx="70000" cy="1250000"/>
          </a:xfrm>
          <a:prstGeom prst="rect">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800000" y="2471666"/>
            <a:ext cx="460000" cy="460000"/>
          </a:xfrm>
          <a:prstGeom prst="ellipse">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1</a:t>
            </a:r>
          </a:p>
        </p:txBody>
      </p:sp>
      <p:sp>
        <p:nvSpPr>
          <p:cNvPr id="13" name="TextBox 12"/>
          <p:cNvSpPr txBox="1"/>
          <p:nvPr/>
        </p:nvSpPr>
        <p:spPr>
          <a:xfrm>
            <a:off x="1450000" y="2076666"/>
            <a:ext cx="10050000" cy="1250000"/>
          </a:xfrm>
          <a:prstGeom prst="rect">
            <a:avLst/>
          </a:prstGeom>
          <a:noFill/>
        </p:spPr>
        <p:txBody>
          <a:bodyPr wrap="square" anchor="ctr" lIns="50800" rIns="50800">
            <a:spAutoFit/>
          </a:bodyPr>
          <a:lstStyle/>
          <a:p>
            <a:pPr algn="l"/>
            <a:r>
              <a:rPr sz="1600" b="0">
                <a:solidFill>
                  <a:srgbClr val="1B2430"/>
                </a:solidFill>
                <a:latin typeface="Calibri"/>
              </a:rPr>
              <a:t>Kutilgan natija (taxminiy):</a:t>
            </a:r>
          </a:p>
        </p:txBody>
      </p:sp>
      <p:sp>
        <p:nvSpPr>
          <p:cNvPr id="14" name="Rounded Rectangle 13"/>
          <p:cNvSpPr/>
          <p:nvPr/>
        </p:nvSpPr>
        <p:spPr>
          <a:xfrm>
            <a:off x="550000" y="3446666"/>
            <a:ext cx="11100000" cy="1250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50000" y="3446666"/>
            <a:ext cx="70000" cy="1250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00000" y="3841666"/>
            <a:ext cx="460000" cy="46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2</a:t>
            </a:r>
          </a:p>
        </p:txBody>
      </p:sp>
      <p:sp>
        <p:nvSpPr>
          <p:cNvPr id="17" name="TextBox 16"/>
          <p:cNvSpPr txBox="1"/>
          <p:nvPr/>
        </p:nvSpPr>
        <p:spPr>
          <a:xfrm>
            <a:off x="1450000" y="3446666"/>
            <a:ext cx="10050000" cy="1250000"/>
          </a:xfrm>
          <a:prstGeom prst="rect">
            <a:avLst/>
          </a:prstGeom>
          <a:noFill/>
        </p:spPr>
        <p:txBody>
          <a:bodyPr wrap="square" anchor="ctr" lIns="50800" rIns="50800">
            <a:spAutoFit/>
          </a:bodyPr>
          <a:lstStyle/>
          <a:p>
            <a:pPr algn="l"/>
            <a:r>
              <a:rPr sz="1600" b="0">
                <a:solidFill>
                  <a:srgbClr val="1B2430"/>
                </a:solidFill>
                <a:latin typeface="Calibri"/>
              </a:rPr>
              <a:t>Nima bo'ldi va nega. zaxira_koef — platformaning haqiqiy unumdorligi talabdan necha marta oshishi. 1 dan kichik qiymat (Edge TPU, CPU) — platforma yetarli emas; 3–5 oralig'i — sog'lom zaxira (pik yuklama, model yangilanishi, qo'shimcha kuzatuv algoritmi…</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55"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6"/>
                                        </p:tgtEl>
                                        <p:attrNameLst>
                                          <p:attrName>style.visibility</p:attrName>
                                        </p:attrNameLst>
                                      </p:cBhvr>
                                      <p:to>
                                        <p:strVal val="visible"/>
                                      </p:to>
                                    </p:set>
                                    <p:animEffect transition="in" filter="fade">
                                      <p:cBhvr>
                                        <p:cTn id="6" dur="550"/>
                                        <p:tgtEl>
                                          <p:spTgt spid="6"/>
                                        </p:tgtEl>
                                      </p:cBhvr>
                                    </p:animEffect>
                                  </p:childTnLst>
                                </p:cTn>
                              </p:par>
                            </p:childTnLst>
                          </p:cTn>
                        </p:par>
                        <p:par>
                          <p:cTn id="7" fill="hold">
                            <p:stCondLst>
                              <p:cond delay="220"/>
                            </p:stCondLst>
                            <p:childTnLst>
                              <p:par>
                                <p:cTn id="8" presetID="42" presetClass="entr" presetSubtype="0" fill="hold" grpId="0" nodeType="after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fade">
                                      <p:cBhvr>
                                        <p:cTn id="10" dur="550"/>
                                        <p:tgtEl>
                                          <p:spTgt spid="10"/>
                                        </p:tgtEl>
                                      </p:cBhvr>
                                    </p:animEffect>
                                    <p:anim calcmode="lin" valueType="num">
                                      <p:cBhvr additive="base">
                                        <p:cTn id="11" dur="550" fill="hold"/>
                                        <p:tgtEl>
                                          <p:spTgt spid="10"/>
                                        </p:tgtEl>
                                        <p:attrNameLst>
                                          <p:attrName>ppt_x</p:attrName>
                                        </p:attrNameLst>
                                      </p:cBhvr>
                                      <p:tavLst>
                                        <p:tav tm="0">
                                          <p:val>
                                            <p:strVal val="#ppt_x"/>
                                          </p:val>
                                        </p:tav>
                                        <p:tav tm="100000">
                                          <p:val>
                                            <p:strVal val="#ppt_x"/>
                                          </p:val>
                                        </p:tav>
                                      </p:tavLst>
                                    </p:anim>
                                    <p:anim calcmode="lin" valueType="num">
                                      <p:cBhvr additive="base">
                                        <p:cTn id="12" dur="550" fill="hold"/>
                                        <p:tgtEl>
                                          <p:spTgt spid="10"/>
                                        </p:tgtEl>
                                        <p:attrNameLst>
                                          <p:attrName>ppt_y</p:attrName>
                                        </p:attrNameLst>
                                      </p:cBhvr>
                                      <p:tavLst>
                                        <p:tav tm="0">
                                          <p:val>
                                            <p:strVal val="#ppt_y+.08"/>
                                          </p:val>
                                        </p:tav>
                                        <p:tav tm="100000">
                                          <p:val>
                                            <p:strVal val="#ppt_y"/>
                                          </p:val>
                                        </p:tav>
                                      </p:tavLst>
                                    </p:anim>
                                  </p:childTnLst>
                                </p:cTn>
                              </p:par>
                            </p:childTnLst>
                          </p:cTn>
                        </p:par>
                        <p:par>
                          <p:cTn id="13" fill="hold">
                            <p:stCondLst>
                              <p:cond delay="220"/>
                            </p:stCondLst>
                            <p:childTnLst>
                              <p:par>
                                <p:cTn id="14" presetID="42" presetClass="entr" presetSubtype="0" fill="hold" grpId="0" nodeType="afterEffect">
                                  <p:stCondLst>
                                    <p:cond delay="0"/>
                                  </p:stCondLst>
                                  <p:childTnLst>
                                    <p:set>
                                      <p:cBhvr>
                                        <p:cTn id="15" dur="1" fill="hold">
                                          <p:stCondLst>
                                            <p:cond delay="0"/>
                                          </p:stCondLst>
                                        </p:cTn>
                                        <p:tgtEl>
                                          <p:spTgt spid="11"/>
                                        </p:tgtEl>
                                        <p:attrNameLst>
                                          <p:attrName>style.visibility</p:attrName>
                                        </p:attrNameLst>
                                      </p:cBhvr>
                                      <p:to>
                                        <p:strVal val="visible"/>
                                      </p:to>
                                    </p:set>
                                    <p:animEffect transition="in" filter="fade">
                                      <p:cBhvr>
                                        <p:cTn id="16" dur="550"/>
                                        <p:tgtEl>
                                          <p:spTgt spid="11"/>
                                        </p:tgtEl>
                                      </p:cBhvr>
                                    </p:animEffect>
                                    <p:anim calcmode="lin" valueType="num">
                                      <p:cBhvr additive="base">
                                        <p:cTn id="17" dur="550" fill="hold"/>
                                        <p:tgtEl>
                                          <p:spTgt spid="11"/>
                                        </p:tgtEl>
                                        <p:attrNameLst>
                                          <p:attrName>ppt_x</p:attrName>
                                        </p:attrNameLst>
                                      </p:cBhvr>
                                      <p:tavLst>
                                        <p:tav tm="0">
                                          <p:val>
                                            <p:strVal val="#ppt_x"/>
                                          </p:val>
                                        </p:tav>
                                        <p:tav tm="100000">
                                          <p:val>
                                            <p:strVal val="#ppt_x"/>
                                          </p:val>
                                        </p:tav>
                                      </p:tavLst>
                                    </p:anim>
                                    <p:anim calcmode="lin" valueType="num">
                                      <p:cBhvr additive="base">
                                        <p:cTn id="18" dur="550" fill="hold"/>
                                        <p:tgtEl>
                                          <p:spTgt spid="11"/>
                                        </p:tgtEl>
                                        <p:attrNameLst>
                                          <p:attrName>ppt_y</p:attrName>
                                        </p:attrNameLst>
                                      </p:cBhvr>
                                      <p:tavLst>
                                        <p:tav tm="0">
                                          <p:val>
                                            <p:strVal val="#ppt_y+.08"/>
                                          </p:val>
                                        </p:tav>
                                        <p:tav tm="100000">
                                          <p:val>
                                            <p:strVal val="#ppt_y"/>
                                          </p:val>
                                        </p:tav>
                                      </p:tavLst>
                                    </p:anim>
                                  </p:childTnLst>
                                </p:cTn>
                              </p:par>
                            </p:childTnLst>
                          </p:cTn>
                        </p:par>
                        <p:par>
                          <p:cTn id="19" fill="hold">
                            <p:stCondLst>
                              <p:cond delay="220"/>
                            </p:stCondLst>
                            <p:childTnLst>
                              <p:par>
                                <p:cTn id="20" presetID="53" presetClass="entr" presetSubtype="16" fill="hold" grpId="0" nodeType="afterEffect">
                                  <p:stCondLst>
                                    <p:cond delay="0"/>
                                  </p:stCondLst>
                                  <p:childTnLst>
                                    <p:set>
                                      <p:cBhvr>
                                        <p:cTn id="21" dur="1" fill="hold">
                                          <p:stCondLst>
                                            <p:cond delay="0"/>
                                          </p:stCondLst>
                                        </p:cTn>
                                        <p:tgtEl>
                                          <p:spTgt spid="12"/>
                                        </p:tgtEl>
                                        <p:attrNameLst>
                                          <p:attrName>style.visibility</p:attrName>
                                        </p:attrNameLst>
                                      </p:cBhvr>
                                      <p:to>
                                        <p:strVal val="visible"/>
                                      </p:to>
                                    </p:set>
                                    <p:animEffect transition="in" filter="fade">
                                      <p:cBhvr>
                                        <p:cTn id="22" dur="550"/>
                                        <p:tgtEl>
                                          <p:spTgt spid="12"/>
                                        </p:tgtEl>
                                      </p:cBhvr>
                                    </p:animEffect>
                                    <p:anim calcmode="lin" valueType="num">
                                      <p:cBhvr additive="base">
                                        <p:cTn id="23" dur="550" fill="hold"/>
                                        <p:tgtEl>
                                          <p:spTgt spid="12"/>
                                        </p:tgtEl>
                                        <p:attrNameLst>
                                          <p:attrName>ppt_w</p:attrName>
                                        </p:attrNameLst>
                                      </p:cBhvr>
                                      <p:tavLst>
                                        <p:tav tm="0">
                                          <p:val>
                                            <p:strVal val="0"/>
                                          </p:val>
                                        </p:tav>
                                        <p:tav tm="100000">
                                          <p:val>
                                            <p:strVal val="#ppt_w"/>
                                          </p:val>
                                        </p:tav>
                                      </p:tavLst>
                                    </p:anim>
                                    <p:anim calcmode="lin" valueType="num">
                                      <p:cBhvr additive="base">
                                        <p:cTn id="24" dur="550" fill="hold"/>
                                        <p:tgtEl>
                                          <p:spTgt spid="12"/>
                                        </p:tgtEl>
                                        <p:attrNameLst>
                                          <p:attrName>ppt_h</p:attrName>
                                        </p:attrNameLst>
                                      </p:cBhvr>
                                      <p:tavLst>
                                        <p:tav tm="0">
                                          <p:val>
                                            <p:strVal val="0"/>
                                          </p:val>
                                        </p:tav>
                                        <p:tav tm="100000">
                                          <p:val>
                                            <p:strVal val="#ppt_h"/>
                                          </p:val>
                                        </p:tav>
                                      </p:tavLst>
                                    </p:anim>
                                  </p:childTnLst>
                                </p:cTn>
                              </p:par>
                            </p:childTnLst>
                          </p:cTn>
                        </p:par>
                        <p:par>
                          <p:cTn id="25" fill="hold">
                            <p:stCondLst>
                              <p:cond delay="220"/>
                            </p:stCondLst>
                            <p:childTnLst>
                              <p:par>
                                <p:cTn id="26" presetID="42" presetClass="entr" presetSubtype="0" fill="hold" grpId="0" nodeType="afterEffect">
                                  <p:stCondLst>
                                    <p:cond delay="0"/>
                                  </p:stCondLst>
                                  <p:childTnLst>
                                    <p:set>
                                      <p:cBhvr>
                                        <p:cTn id="27" dur="1" fill="hold">
                                          <p:stCondLst>
                                            <p:cond delay="0"/>
                                          </p:stCondLst>
                                        </p:cTn>
                                        <p:tgtEl>
                                          <p:spTgt spid="13"/>
                                        </p:tgtEl>
                                        <p:attrNameLst>
                                          <p:attrName>style.visibility</p:attrName>
                                        </p:attrNameLst>
                                      </p:cBhvr>
                                      <p:to>
                                        <p:strVal val="visible"/>
                                      </p:to>
                                    </p:set>
                                    <p:animEffect transition="in" filter="fade">
                                      <p:cBhvr>
                                        <p:cTn id="28" dur="550"/>
                                        <p:tgtEl>
                                          <p:spTgt spid="13"/>
                                        </p:tgtEl>
                                      </p:cBhvr>
                                    </p:animEffect>
                                    <p:anim calcmode="lin" valueType="num">
                                      <p:cBhvr additive="base">
                                        <p:cTn id="29" dur="550" fill="hold"/>
                                        <p:tgtEl>
                                          <p:spTgt spid="13"/>
                                        </p:tgtEl>
                                        <p:attrNameLst>
                                          <p:attrName>ppt_x</p:attrName>
                                        </p:attrNameLst>
                                      </p:cBhvr>
                                      <p:tavLst>
                                        <p:tav tm="0">
                                          <p:val>
                                            <p:strVal val="#ppt_x"/>
                                          </p:val>
                                        </p:tav>
                                        <p:tav tm="100000">
                                          <p:val>
                                            <p:strVal val="#ppt_x"/>
                                          </p:val>
                                        </p:tav>
                                      </p:tavLst>
                                    </p:anim>
                                    <p:anim calcmode="lin" valueType="num">
                                      <p:cBhvr additive="base">
                                        <p:cTn id="30" dur="550" fill="hold"/>
                                        <p:tgtEl>
                                          <p:spTgt spid="13"/>
                                        </p:tgtEl>
                                        <p:attrNameLst>
                                          <p:attrName>ppt_y</p:attrName>
                                        </p:attrNameLst>
                                      </p:cBhvr>
                                      <p:tavLst>
                                        <p:tav tm="0">
                                          <p:val>
                                            <p:strVal val="#ppt_y+.08"/>
                                          </p:val>
                                        </p:tav>
                                        <p:tav tm="100000">
                                          <p:val>
                                            <p:strVal val="#ppt_y"/>
                                          </p:val>
                                        </p:tav>
                                      </p:tavLst>
                                    </p:anim>
                                  </p:childTnLst>
                                </p:cTn>
                              </p:par>
                            </p:childTnLst>
                          </p:cTn>
                        </p:par>
                        <p:par>
                          <p:cTn id="31" fill="hold">
                            <p:stCondLst>
                              <p:cond delay="440"/>
                            </p:stCondLst>
                            <p:childTnLst>
                              <p:par>
                                <p:cTn id="32" presetID="42" presetClass="entr" presetSubtype="0" fill="hold" grpId="0" nodeType="afterEffect">
                                  <p:stCondLst>
                                    <p:cond delay="0"/>
                                  </p:stCondLst>
                                  <p:childTnLst>
                                    <p:set>
                                      <p:cBhvr>
                                        <p:cTn id="33" dur="1" fill="hold">
                                          <p:stCondLst>
                                            <p:cond delay="0"/>
                                          </p:stCondLst>
                                        </p:cTn>
                                        <p:tgtEl>
                                          <p:spTgt spid="14"/>
                                        </p:tgtEl>
                                        <p:attrNameLst>
                                          <p:attrName>style.visibility</p:attrName>
                                        </p:attrNameLst>
                                      </p:cBhvr>
                                      <p:to>
                                        <p:strVal val="visible"/>
                                      </p:to>
                                    </p:set>
                                    <p:animEffect transition="in" filter="fade">
                                      <p:cBhvr>
                                        <p:cTn id="34" dur="550"/>
                                        <p:tgtEl>
                                          <p:spTgt spid="14"/>
                                        </p:tgtEl>
                                      </p:cBhvr>
                                    </p:animEffect>
                                    <p:anim calcmode="lin" valueType="num">
                                      <p:cBhvr additive="base">
                                        <p:cTn id="35" dur="550" fill="hold"/>
                                        <p:tgtEl>
                                          <p:spTgt spid="14"/>
                                        </p:tgtEl>
                                        <p:attrNameLst>
                                          <p:attrName>ppt_x</p:attrName>
                                        </p:attrNameLst>
                                      </p:cBhvr>
                                      <p:tavLst>
                                        <p:tav tm="0">
                                          <p:val>
                                            <p:strVal val="#ppt_x"/>
                                          </p:val>
                                        </p:tav>
                                        <p:tav tm="100000">
                                          <p:val>
                                            <p:strVal val="#ppt_x"/>
                                          </p:val>
                                        </p:tav>
                                      </p:tavLst>
                                    </p:anim>
                                    <p:anim calcmode="lin" valueType="num">
                                      <p:cBhvr additive="base">
                                        <p:cTn id="36" dur="550" fill="hold"/>
                                        <p:tgtEl>
                                          <p:spTgt spid="14"/>
                                        </p:tgtEl>
                                        <p:attrNameLst>
                                          <p:attrName>ppt_y</p:attrName>
                                        </p:attrNameLst>
                                      </p:cBhvr>
                                      <p:tavLst>
                                        <p:tav tm="0">
                                          <p:val>
                                            <p:strVal val="#ppt_y+.08"/>
                                          </p:val>
                                        </p:tav>
                                        <p:tav tm="100000">
                                          <p:val>
                                            <p:strVal val="#ppt_y"/>
                                          </p:val>
                                        </p:tav>
                                      </p:tavLst>
                                    </p:anim>
                                  </p:childTnLst>
                                </p:cTn>
                              </p:par>
                            </p:childTnLst>
                          </p:cTn>
                        </p:par>
                        <p:par>
                          <p:cTn id="37" fill="hold">
                            <p:stCondLst>
                              <p:cond delay="440"/>
                            </p:stCondLst>
                            <p:childTnLst>
                              <p:par>
                                <p:cTn id="38" presetID="42" presetClass="entr" presetSubtype="0" fill="hold" grpId="0" nodeType="afterEffect">
                                  <p:stCondLst>
                                    <p:cond delay="0"/>
                                  </p:stCondLst>
                                  <p:childTnLst>
                                    <p:set>
                                      <p:cBhvr>
                                        <p:cTn id="39" dur="1" fill="hold">
                                          <p:stCondLst>
                                            <p:cond delay="0"/>
                                          </p:stCondLst>
                                        </p:cTn>
                                        <p:tgtEl>
                                          <p:spTgt spid="15"/>
                                        </p:tgtEl>
                                        <p:attrNameLst>
                                          <p:attrName>style.visibility</p:attrName>
                                        </p:attrNameLst>
                                      </p:cBhvr>
                                      <p:to>
                                        <p:strVal val="visible"/>
                                      </p:to>
                                    </p:set>
                                    <p:animEffect transition="in" filter="fade">
                                      <p:cBhvr>
                                        <p:cTn id="40" dur="550"/>
                                        <p:tgtEl>
                                          <p:spTgt spid="15"/>
                                        </p:tgtEl>
                                      </p:cBhvr>
                                    </p:animEffect>
                                    <p:anim calcmode="lin" valueType="num">
                                      <p:cBhvr additive="base">
                                        <p:cTn id="41" dur="550" fill="hold"/>
                                        <p:tgtEl>
                                          <p:spTgt spid="15"/>
                                        </p:tgtEl>
                                        <p:attrNameLst>
                                          <p:attrName>ppt_x</p:attrName>
                                        </p:attrNameLst>
                                      </p:cBhvr>
                                      <p:tavLst>
                                        <p:tav tm="0">
                                          <p:val>
                                            <p:strVal val="#ppt_x"/>
                                          </p:val>
                                        </p:tav>
                                        <p:tav tm="100000">
                                          <p:val>
                                            <p:strVal val="#ppt_x"/>
                                          </p:val>
                                        </p:tav>
                                      </p:tavLst>
                                    </p:anim>
                                    <p:anim calcmode="lin" valueType="num">
                                      <p:cBhvr additive="base">
                                        <p:cTn id="42" dur="550" fill="hold"/>
                                        <p:tgtEl>
                                          <p:spTgt spid="15"/>
                                        </p:tgtEl>
                                        <p:attrNameLst>
                                          <p:attrName>ppt_y</p:attrName>
                                        </p:attrNameLst>
                                      </p:cBhvr>
                                      <p:tavLst>
                                        <p:tav tm="0">
                                          <p:val>
                                            <p:strVal val="#ppt_y+.08"/>
                                          </p:val>
                                        </p:tav>
                                        <p:tav tm="100000">
                                          <p:val>
                                            <p:strVal val="#ppt_y"/>
                                          </p:val>
                                        </p:tav>
                                      </p:tavLst>
                                    </p:anim>
                                  </p:childTnLst>
                                </p:cTn>
                              </p:par>
                            </p:childTnLst>
                          </p:cTn>
                        </p:par>
                        <p:par>
                          <p:cTn id="43" fill="hold">
                            <p:stCondLst>
                              <p:cond delay="440"/>
                            </p:stCondLst>
                            <p:childTnLst>
                              <p:par>
                                <p:cTn id="44" presetID="53" presetClass="entr" presetSubtype="16" fill="hold" grpId="0" nodeType="afterEffect">
                                  <p:stCondLst>
                                    <p:cond delay="0"/>
                                  </p:stCondLst>
                                  <p:childTnLst>
                                    <p:set>
                                      <p:cBhvr>
                                        <p:cTn id="45" dur="1" fill="hold">
                                          <p:stCondLst>
                                            <p:cond delay="0"/>
                                          </p:stCondLst>
                                        </p:cTn>
                                        <p:tgtEl>
                                          <p:spTgt spid="16"/>
                                        </p:tgtEl>
                                        <p:attrNameLst>
                                          <p:attrName>style.visibility</p:attrName>
                                        </p:attrNameLst>
                                      </p:cBhvr>
                                      <p:to>
                                        <p:strVal val="visible"/>
                                      </p:to>
                                    </p:set>
                                    <p:animEffect transition="in" filter="fade">
                                      <p:cBhvr>
                                        <p:cTn id="46" dur="550"/>
                                        <p:tgtEl>
                                          <p:spTgt spid="16"/>
                                        </p:tgtEl>
                                      </p:cBhvr>
                                    </p:animEffect>
                                    <p:anim calcmode="lin" valueType="num">
                                      <p:cBhvr additive="base">
                                        <p:cTn id="47" dur="550" fill="hold"/>
                                        <p:tgtEl>
                                          <p:spTgt spid="16"/>
                                        </p:tgtEl>
                                        <p:attrNameLst>
                                          <p:attrName>ppt_w</p:attrName>
                                        </p:attrNameLst>
                                      </p:cBhvr>
                                      <p:tavLst>
                                        <p:tav tm="0">
                                          <p:val>
                                            <p:strVal val="0"/>
                                          </p:val>
                                        </p:tav>
                                        <p:tav tm="100000">
                                          <p:val>
                                            <p:strVal val="#ppt_w"/>
                                          </p:val>
                                        </p:tav>
                                      </p:tavLst>
                                    </p:anim>
                                    <p:anim calcmode="lin" valueType="num">
                                      <p:cBhvr additive="base">
                                        <p:cTn id="48" dur="550" fill="hold"/>
                                        <p:tgtEl>
                                          <p:spTgt spid="16"/>
                                        </p:tgtEl>
                                        <p:attrNameLst>
                                          <p:attrName>ppt_h</p:attrName>
                                        </p:attrNameLst>
                                      </p:cBhvr>
                                      <p:tavLst>
                                        <p:tav tm="0">
                                          <p:val>
                                            <p:strVal val="0"/>
                                          </p:val>
                                        </p:tav>
                                        <p:tav tm="100000">
                                          <p:val>
                                            <p:strVal val="#ppt_h"/>
                                          </p:val>
                                        </p:tav>
                                      </p:tavLst>
                                    </p:anim>
                                  </p:childTnLst>
                                </p:cTn>
                              </p:par>
                            </p:childTnLst>
                          </p:cTn>
                        </p:par>
                        <p:par>
                          <p:cTn id="49" fill="hold">
                            <p:stCondLst>
                              <p:cond delay="440"/>
                            </p:stCondLst>
                            <p:childTnLst>
                              <p:par>
                                <p:cTn id="50" presetID="42" presetClass="entr" presetSubtype="0" fill="hold" grpId="0" nodeType="afterEffect">
                                  <p:stCondLst>
                                    <p:cond delay="0"/>
                                  </p:stCondLst>
                                  <p:childTnLst>
                                    <p:set>
                                      <p:cBhvr>
                                        <p:cTn id="51" dur="1" fill="hold">
                                          <p:stCondLst>
                                            <p:cond delay="0"/>
                                          </p:stCondLst>
                                        </p:cTn>
                                        <p:tgtEl>
                                          <p:spTgt spid="17"/>
                                        </p:tgtEl>
                                        <p:attrNameLst>
                                          <p:attrName>style.visibility</p:attrName>
                                        </p:attrNameLst>
                                      </p:cBhvr>
                                      <p:to>
                                        <p:strVal val="visible"/>
                                      </p:to>
                                    </p:set>
                                    <p:animEffect transition="in" filter="fade">
                                      <p:cBhvr>
                                        <p:cTn id="52" dur="550"/>
                                        <p:tgtEl>
                                          <p:spTgt spid="17"/>
                                        </p:tgtEl>
                                      </p:cBhvr>
                                    </p:animEffect>
                                    <p:anim calcmode="lin" valueType="num">
                                      <p:cBhvr additive="base">
                                        <p:cTn id="53" dur="550" fill="hold"/>
                                        <p:tgtEl>
                                          <p:spTgt spid="17"/>
                                        </p:tgtEl>
                                        <p:attrNameLst>
                                          <p:attrName>ppt_x</p:attrName>
                                        </p:attrNameLst>
                                      </p:cBhvr>
                                      <p:tavLst>
                                        <p:tav tm="0">
                                          <p:val>
                                            <p:strVal val="#ppt_x"/>
                                          </p:val>
                                        </p:tav>
                                        <p:tav tm="100000">
                                          <p:val>
                                            <p:strVal val="#ppt_x"/>
                                          </p:val>
                                        </p:tav>
                                      </p:tavLst>
                                    </p:anim>
                                    <p:anim calcmode="lin" valueType="num">
                                      <p:cBhvr additive="base">
                                        <p:cTn id="54" dur="550" fill="hold"/>
                                        <p:tgtEl>
                                          <p:spTgt spid="17"/>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10" grpId="0" animBg="1"/>
      <p:bldP spid="11" grpId="0" animBg="1"/>
      <p:bldP spid="12" grpId="0" animBg="1"/>
      <p:bldP spid="13" grpId="0" animBg="1"/>
      <p:bldP spid="14" grpId="0" animBg="1"/>
      <p:bldP spid="15" grpId="0" animBg="1"/>
      <p:bldP spid="16" grpId="0" animBg="1"/>
      <p:bldP spid="17" grpId="0" animBg="1"/>
    </p:bldLst>
  </p:timing>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110000"/>
            <a:ext cx="10300000" cy="300000"/>
          </a:xfrm>
          <a:prstGeom prst="rect">
            <a:avLst/>
          </a:prstGeom>
          <a:noFill/>
        </p:spPr>
        <p:txBody>
          <a:bodyPr wrap="square" anchor="t" lIns="50800" rIns="50800">
            <a:spAutoFit/>
          </a:bodyPr>
          <a:lstStyle/>
          <a:p>
            <a:pPr algn="l"/>
            <a:r>
              <a:rPr sz="1200" b="1">
                <a:solidFill>
                  <a:srgbClr val="A9C4E6"/>
                </a:solidFill>
                <a:latin typeface="Calibri"/>
              </a:rPr>
              <a:t>AMALIY MISOL</a:t>
            </a:r>
          </a:p>
        </p:txBody>
      </p:sp>
      <p:sp>
        <p:nvSpPr>
          <p:cNvPr id="6" name="TextBox 5"/>
          <p:cNvSpPr txBox="1"/>
          <p:nvPr/>
        </p:nvSpPr>
        <p:spPr>
          <a:xfrm>
            <a:off x="500000" y="330000"/>
            <a:ext cx="10400000" cy="650000"/>
          </a:xfrm>
          <a:prstGeom prst="rect">
            <a:avLst/>
          </a:prstGeom>
          <a:noFill/>
        </p:spPr>
        <p:txBody>
          <a:bodyPr wrap="square" anchor="ctr" lIns="50800" rIns="50800">
            <a:spAutoFit/>
          </a:bodyPr>
          <a:lstStyle/>
          <a:p>
            <a:pPr algn="l"/>
            <a:r>
              <a:rPr sz="2600" b="1">
                <a:solidFill>
                  <a:srgbClr val="FFFFFF"/>
                </a:solidFill>
                <a:latin typeface="Calibri"/>
              </a:rPr>
              <a:t>3-qadam. Platformalarni samaradorlik koeffitsiyenti bilan baholash</a:t>
            </a:r>
          </a:p>
        </p:txBody>
      </p:sp>
      <p:sp>
        <p:nvSpPr>
          <p:cNvPr id="7" name="Rectangle 6"/>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A1 · Sun'iy intellektga asoslangan kompyuter tizimlari arxitekturasini tahlil qilish va loyihalash</a:t>
            </a:r>
          </a:p>
        </p:txBody>
      </p:sp>
      <p:sp>
        <p:nvSpPr>
          <p:cNvPr id="9" name="TextBox 8"/>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25</a:t>
            </a:r>
          </a:p>
        </p:txBody>
      </p:sp>
      <p:graphicFrame>
        <p:nvGraphicFramePr>
          <p:cNvPr id="10" name="Table 9"/>
          <p:cNvGraphicFramePr>
            <a:graphicFrameLocks noGrp="1"/>
          </p:cNvGraphicFramePr>
          <p:nvPr/>
        </p:nvGraphicFramePr>
        <p:xfrm>
          <a:off x="500000" y="1350000"/>
          <a:ext cx="11200000" cy="3120000"/>
        </p:xfrm>
        <a:graphic>
          <a:graphicData uri="http://schemas.openxmlformats.org/drawingml/2006/table">
            <a:tbl>
              <a:tblPr firstRow="1" bandRow="1">
                <a:tableStyleId>{5C22544A-7EE6-4342-B048-85BDC9FD1C3A}</a:tableStyleId>
              </a:tblPr>
              <a:tblGrid>
                <a:gridCol w="2240000"/>
                <a:gridCol w="2240000"/>
                <a:gridCol w="2240000"/>
                <a:gridCol w="2240000"/>
                <a:gridCol w="2240000"/>
              </a:tblGrid>
              <a:tr h="520000">
                <a:tc>
                  <a:txBody>
                    <a:bodyPr/>
                    <a:lstStyle/>
                    <a:p>
                      <a:r>
                        <a:rPr sz="1400" b="1">
                          <a:solidFill>
                            <a:srgbClr val="FFFFFF"/>
                          </a:solidFill>
                          <a:latin typeface="Calibri"/>
                        </a:rPr>
                        <a:t>nom</a:t>
                      </a:r>
                    </a:p>
                  </a:txBody>
                  <a:tcPr>
                    <a:solidFill>
                      <a:srgbClr val="2D5C8F"/>
                    </a:solidFill>
                  </a:tcPr>
                </a:tc>
                <a:tc>
                  <a:txBody>
                    <a:bodyPr/>
                    <a:lstStyle/>
                    <a:p>
                      <a:r>
                        <a:rPr sz="1400" b="1">
                          <a:solidFill>
                            <a:srgbClr val="FFFFFF"/>
                          </a:solidFill>
                          <a:latin typeface="Calibri"/>
                        </a:rPr>
                        <a:t>tops_real</a:t>
                      </a:r>
                    </a:p>
                  </a:txBody>
                  <a:tcPr>
                    <a:solidFill>
                      <a:srgbClr val="2D5C8F"/>
                    </a:solidFill>
                  </a:tcPr>
                </a:tc>
                <a:tc>
                  <a:txBody>
                    <a:bodyPr/>
                    <a:lstStyle/>
                    <a:p>
                      <a:r>
                        <a:rPr sz="1400" b="1">
                          <a:solidFill>
                            <a:srgbClr val="FFFFFF"/>
                          </a:solidFill>
                          <a:latin typeface="Calibri"/>
                        </a:rPr>
                        <a:t>zaxira_koef</a:t>
                      </a:r>
                    </a:p>
                  </a:txBody>
                  <a:tcPr>
                    <a:solidFill>
                      <a:srgbClr val="2D5C8F"/>
                    </a:solidFill>
                  </a:tcPr>
                </a:tc>
                <a:tc>
                  <a:txBody>
                    <a:bodyPr/>
                    <a:lstStyle/>
                    <a:p>
                      <a:r>
                        <a:rPr sz="1400" b="1">
                          <a:solidFill>
                            <a:srgbClr val="FFFFFF"/>
                          </a:solidFill>
                          <a:latin typeface="Calibri"/>
                        </a:rPr>
                        <a:t>dekod_yetarli</a:t>
                      </a:r>
                    </a:p>
                  </a:txBody>
                  <a:tcPr>
                    <a:solidFill>
                      <a:srgbClr val="2D5C8F"/>
                    </a:solidFill>
                  </a:tcPr>
                </a:tc>
                <a:tc>
                  <a:txBody>
                    <a:bodyPr/>
                    <a:lstStyle/>
                    <a:p>
                      <a:r>
                        <a:rPr sz="1400" b="1">
                          <a:solidFill>
                            <a:srgbClr val="FFFFFF"/>
                          </a:solidFill>
                          <a:latin typeface="Calibri"/>
                        </a:rPr>
                        <a:t>inferens_Vt</a:t>
                      </a:r>
                    </a:p>
                  </a:txBody>
                  <a:tcPr>
                    <a:solidFill>
                      <a:srgbClr val="2D5C8F"/>
                    </a:solidFill>
                  </a:tcPr>
                </a:tc>
              </a:tr>
              <a:tr h="520000">
                <a:tc>
                  <a:txBody>
                    <a:bodyPr/>
                    <a:lstStyle/>
                    <a:p>
                      <a:r>
                        <a:rPr sz="1400" b="0">
                          <a:solidFill>
                            <a:srgbClr val="1B2430"/>
                          </a:solidFill>
                          <a:latin typeface="Calibri"/>
                        </a:rPr>
                        <a:t>Jetson Orin NX 16GB</a:t>
                      </a:r>
                    </a:p>
                  </a:txBody>
                  <a:tcPr>
                    <a:solidFill>
                      <a:srgbClr val="F1F4F8"/>
                    </a:solidFill>
                  </a:tcPr>
                </a:tc>
                <a:tc>
                  <a:txBody>
                    <a:bodyPr/>
                    <a:lstStyle/>
                    <a:p>
                      <a:r>
                        <a:rPr sz="1400" b="0">
                          <a:solidFill>
                            <a:srgbClr val="1B2430"/>
                          </a:solidFill>
                          <a:latin typeface="Calibri"/>
                        </a:rPr>
                        <a:t>22,5</a:t>
                      </a:r>
                    </a:p>
                  </a:txBody>
                  <a:tcPr>
                    <a:solidFill>
                      <a:srgbClr val="F1F4F8"/>
                    </a:solidFill>
                  </a:tcPr>
                </a:tc>
                <a:tc>
                  <a:txBody>
                    <a:bodyPr/>
                    <a:lstStyle/>
                    <a:p>
                      <a:r>
                        <a:rPr sz="1400" b="0">
                          <a:solidFill>
                            <a:srgbClr val="1B2430"/>
                          </a:solidFill>
                          <a:latin typeface="Calibri"/>
                        </a:rPr>
                        <a:t>4,9</a:t>
                      </a:r>
                    </a:p>
                  </a:txBody>
                  <a:tcPr>
                    <a:solidFill>
                      <a:srgbClr val="F1F4F8"/>
                    </a:solidFill>
                  </a:tcPr>
                </a:tc>
                <a:tc>
                  <a:txBody>
                    <a:bodyPr/>
                    <a:lstStyle/>
                    <a:p>
                      <a:r>
                        <a:rPr sz="1400" b="0">
                          <a:solidFill>
                            <a:srgbClr val="1B2430"/>
                          </a:solidFill>
                          <a:latin typeface="Calibri"/>
                        </a:rPr>
                        <a:t>True</a:t>
                      </a:r>
                    </a:p>
                  </a:txBody>
                  <a:tcPr>
                    <a:solidFill>
                      <a:srgbClr val="F1F4F8"/>
                    </a:solidFill>
                  </a:tcPr>
                </a:tc>
                <a:tc>
                  <a:txBody>
                    <a:bodyPr/>
                    <a:lstStyle/>
                    <a:p>
                      <a:r>
                        <a:rPr sz="1400" b="0">
                          <a:solidFill>
                            <a:srgbClr val="1B2430"/>
                          </a:solidFill>
                          <a:latin typeface="Calibri"/>
                        </a:rPr>
                        <a:t>0,032</a:t>
                      </a:r>
                    </a:p>
                  </a:txBody>
                  <a:tcPr>
                    <a:solidFill>
                      <a:srgbClr val="F1F4F8"/>
                    </a:solidFill>
                  </a:tcPr>
                </a:tc>
              </a:tr>
              <a:tr h="520000">
                <a:tc>
                  <a:txBody>
                    <a:bodyPr/>
                    <a:lstStyle/>
                    <a:p>
                      <a:r>
                        <a:rPr sz="1400" b="0">
                          <a:solidFill>
                            <a:srgbClr val="1B2430"/>
                          </a:solidFill>
                          <a:latin typeface="Calibri"/>
                        </a:rPr>
                        <a:t>Jetson AGX Orin 64GB</a:t>
                      </a:r>
                    </a:p>
                  </a:txBody>
                  <a:tcPr>
                    <a:solidFill>
                      <a:srgbClr val="FFFFFF"/>
                    </a:solidFill>
                  </a:tcPr>
                </a:tc>
                <a:tc>
                  <a:txBody>
                    <a:bodyPr/>
                    <a:lstStyle/>
                    <a:p>
                      <a:r>
                        <a:rPr sz="1400" b="0">
                          <a:solidFill>
                            <a:srgbClr val="1B2430"/>
                          </a:solidFill>
                          <a:latin typeface="Calibri"/>
                        </a:rPr>
                        <a:t>62,1</a:t>
                      </a:r>
                    </a:p>
                  </a:txBody>
                  <a:tcPr>
                    <a:solidFill>
                      <a:srgbClr val="FFFFFF"/>
                    </a:solidFill>
                  </a:tcPr>
                </a:tc>
                <a:tc>
                  <a:txBody>
                    <a:bodyPr/>
                    <a:lstStyle/>
                    <a:p>
                      <a:r>
                        <a:rPr sz="1400" b="0">
                          <a:solidFill>
                            <a:srgbClr val="1B2430"/>
                          </a:solidFill>
                          <a:latin typeface="Calibri"/>
                        </a:rPr>
                        <a:t>13,6</a:t>
                      </a:r>
                    </a:p>
                  </a:txBody>
                  <a:tcPr>
                    <a:solidFill>
                      <a:srgbClr val="FFFFFF"/>
                    </a:solidFill>
                  </a:tcPr>
                </a:tc>
                <a:tc>
                  <a:txBody>
                    <a:bodyPr/>
                    <a:lstStyle/>
                    <a:p>
                      <a:r>
                        <a:rPr sz="1400" b="0">
                          <a:solidFill>
                            <a:srgbClr val="1B2430"/>
                          </a:solidFill>
                          <a:latin typeface="Calibri"/>
                        </a:rPr>
                        <a:t>True</a:t>
                      </a:r>
                    </a:p>
                  </a:txBody>
                  <a:tcPr>
                    <a:solidFill>
                      <a:srgbClr val="FFFFFF"/>
                    </a:solidFill>
                  </a:tcPr>
                </a:tc>
                <a:tc>
                  <a:txBody>
                    <a:bodyPr/>
                    <a:lstStyle/>
                    <a:p>
                      <a:r>
                        <a:rPr sz="1400" b="0">
                          <a:solidFill>
                            <a:srgbClr val="1B2430"/>
                          </a:solidFill>
                          <a:latin typeface="Calibri"/>
                        </a:rPr>
                        <a:t>0,028</a:t>
                      </a:r>
                    </a:p>
                  </a:txBody>
                  <a:tcPr>
                    <a:solidFill>
                      <a:srgbClr val="FFFFFF"/>
                    </a:solidFill>
                  </a:tcPr>
                </a:tc>
              </a:tr>
              <a:tr h="520000">
                <a:tc>
                  <a:txBody>
                    <a:bodyPr/>
                    <a:lstStyle/>
                    <a:p>
                      <a:r>
                        <a:rPr sz="1400" b="0">
                          <a:solidFill>
                            <a:srgbClr val="1B2430"/>
                          </a:solidFill>
                          <a:latin typeface="Calibri"/>
                        </a:rPr>
                        <a:t>A100 PCIe 80GB</a:t>
                      </a:r>
                    </a:p>
                  </a:txBody>
                  <a:tcPr>
                    <a:solidFill>
                      <a:srgbClr val="F1F4F8"/>
                    </a:solidFill>
                  </a:tcPr>
                </a:tc>
                <a:tc>
                  <a:txBody>
                    <a:bodyPr/>
                    <a:lstStyle/>
                    <a:p>
                      <a:r>
                        <a:rPr sz="1400" b="0">
                          <a:solidFill>
                            <a:srgbClr val="1B2430"/>
                          </a:solidFill>
                          <a:latin typeface="Calibri"/>
                        </a:rPr>
                        <a:t>312</a:t>
                      </a:r>
                    </a:p>
                  </a:txBody>
                  <a:tcPr>
                    <a:solidFill>
                      <a:srgbClr val="F1F4F8"/>
                    </a:solidFill>
                  </a:tcPr>
                </a:tc>
                <a:tc>
                  <a:txBody>
                    <a:bodyPr/>
                    <a:lstStyle/>
                    <a:p>
                      <a:r>
                        <a:rPr sz="1400" b="0">
                          <a:solidFill>
                            <a:srgbClr val="1B2430"/>
                          </a:solidFill>
                          <a:latin typeface="Calibri"/>
                        </a:rPr>
                        <a:t>68</a:t>
                      </a:r>
                    </a:p>
                  </a:txBody>
                  <a:tcPr>
                    <a:solidFill>
                      <a:srgbClr val="F1F4F8"/>
                    </a:solidFill>
                  </a:tcPr>
                </a:tc>
                <a:tc>
                  <a:txBody>
                    <a:bodyPr/>
                    <a:lstStyle/>
                    <a:p>
                      <a:r>
                        <a:rPr sz="1400" b="0">
                          <a:solidFill>
                            <a:srgbClr val="1B2430"/>
                          </a:solidFill>
                          <a:latin typeface="Calibri"/>
                        </a:rPr>
                        <a:t>True</a:t>
                      </a:r>
                    </a:p>
                  </a:txBody>
                  <a:tcPr>
                    <a:solidFill>
                      <a:srgbClr val="F1F4F8"/>
                    </a:solidFill>
                  </a:tcPr>
                </a:tc>
                <a:tc>
                  <a:txBody>
                    <a:bodyPr/>
                    <a:lstStyle/>
                    <a:p>
                      <a:r>
                        <a:rPr sz="1400" b="0">
                          <a:solidFill>
                            <a:srgbClr val="1B2430"/>
                          </a:solidFill>
                          <a:latin typeface="Calibri"/>
                        </a:rPr>
                        <a:t>0,027</a:t>
                      </a:r>
                    </a:p>
                  </a:txBody>
                  <a:tcPr>
                    <a:solidFill>
                      <a:srgbClr val="F1F4F8"/>
                    </a:solidFill>
                  </a:tcPr>
                </a:tc>
              </a:tr>
              <a:tr h="520000">
                <a:tc>
                  <a:txBody>
                    <a:bodyPr/>
                    <a:lstStyle/>
                    <a:p>
                      <a:r>
                        <a:rPr sz="1400" b="0">
                          <a:solidFill>
                            <a:srgbClr val="1B2430"/>
                          </a:solidFill>
                          <a:latin typeface="Calibri"/>
                        </a:rPr>
                        <a:t>Coral Edge TPU M.2</a:t>
                      </a:r>
                    </a:p>
                  </a:txBody>
                  <a:tcPr>
                    <a:solidFill>
                      <a:srgbClr val="FFFFFF"/>
                    </a:solidFill>
                  </a:tcPr>
                </a:tc>
                <a:tc>
                  <a:txBody>
                    <a:bodyPr/>
                    <a:lstStyle/>
                    <a:p>
                      <a:r>
                        <a:rPr sz="1400" b="0">
                          <a:solidFill>
                            <a:srgbClr val="1B2430"/>
                          </a:solidFill>
                          <a:latin typeface="Calibri"/>
                        </a:rPr>
                        <a:t>2,0</a:t>
                      </a:r>
                    </a:p>
                  </a:txBody>
                  <a:tcPr>
                    <a:solidFill>
                      <a:srgbClr val="FFFFFF"/>
                    </a:solidFill>
                  </a:tcPr>
                </a:tc>
                <a:tc>
                  <a:txBody>
                    <a:bodyPr/>
                    <a:lstStyle/>
                    <a:p>
                      <a:r>
                        <a:rPr sz="1400" b="0">
                          <a:solidFill>
                            <a:srgbClr val="1B2430"/>
                          </a:solidFill>
                          <a:latin typeface="Calibri"/>
                        </a:rPr>
                        <a:t>0,44</a:t>
                      </a:r>
                    </a:p>
                  </a:txBody>
                  <a:tcPr>
                    <a:solidFill>
                      <a:srgbClr val="FFFFFF"/>
                    </a:solidFill>
                  </a:tcPr>
                </a:tc>
                <a:tc>
                  <a:txBody>
                    <a:bodyPr/>
                    <a:lstStyle/>
                    <a:p>
                      <a:r>
                        <a:rPr sz="1400" b="0">
                          <a:solidFill>
                            <a:srgbClr val="1B2430"/>
                          </a:solidFill>
                          <a:latin typeface="Calibri"/>
                        </a:rPr>
                        <a:t>False</a:t>
                      </a:r>
                    </a:p>
                  </a:txBody>
                  <a:tcPr>
                    <a:solidFill>
                      <a:srgbClr val="FFFFFF"/>
                    </a:solidFill>
                  </a:tcPr>
                </a:tc>
                <a:tc>
                  <a:txBody>
                    <a:bodyPr/>
                    <a:lstStyle/>
                    <a:p>
                      <a:r>
                        <a:rPr sz="1400" b="0">
                          <a:solidFill>
                            <a:srgbClr val="1B2430"/>
                          </a:solidFill>
                          <a:latin typeface="Calibri"/>
                        </a:rPr>
                        <a:t>0,029</a:t>
                      </a:r>
                    </a:p>
                  </a:txBody>
                  <a:tcPr>
                    <a:solidFill>
                      <a:srgbClr val="FFFFFF"/>
                    </a:solidFill>
                  </a:tcPr>
                </a:tc>
              </a:tr>
              <a:tr h="520000">
                <a:tc>
                  <a:txBody>
                    <a:bodyPr/>
                    <a:lstStyle/>
                    <a:p>
                      <a:r>
                        <a:rPr sz="1400" b="0">
                          <a:solidFill>
                            <a:srgbClr val="1B2430"/>
                          </a:solidFill>
                          <a:latin typeface="Calibri"/>
                        </a:rPr>
                        <a:t>x86 CPU 8 yadro</a:t>
                      </a:r>
                    </a:p>
                  </a:txBody>
                  <a:tcPr>
                    <a:solidFill>
                      <a:srgbClr val="F1F4F8"/>
                    </a:solidFill>
                  </a:tcPr>
                </a:tc>
                <a:tc>
                  <a:txBody>
                    <a:bodyPr/>
                    <a:lstStyle/>
                    <a:p>
                      <a:r>
                        <a:rPr sz="1400" b="0">
                          <a:solidFill>
                            <a:srgbClr val="1B2430"/>
                          </a:solidFill>
                          <a:latin typeface="Calibri"/>
                        </a:rPr>
                        <a:t>1,5</a:t>
                      </a:r>
                    </a:p>
                  </a:txBody>
                  <a:tcPr>
                    <a:solidFill>
                      <a:srgbClr val="F1F4F8"/>
                    </a:solidFill>
                  </a:tcPr>
                </a:tc>
                <a:tc>
                  <a:txBody>
                    <a:bodyPr/>
                    <a:lstStyle/>
                    <a:p>
                      <a:r>
                        <a:rPr sz="1400" b="0">
                          <a:solidFill>
                            <a:srgbClr val="1B2430"/>
                          </a:solidFill>
                          <a:latin typeface="Calibri"/>
                        </a:rPr>
                        <a:t>0,33</a:t>
                      </a:r>
                    </a:p>
                  </a:txBody>
                  <a:tcPr>
                    <a:solidFill>
                      <a:srgbClr val="F1F4F8"/>
                    </a:solidFill>
                  </a:tcPr>
                </a:tc>
                <a:tc>
                  <a:txBody>
                    <a:bodyPr/>
                    <a:lstStyle/>
                    <a:p>
                      <a:r>
                        <a:rPr sz="1400" b="0">
                          <a:solidFill>
                            <a:srgbClr val="1B2430"/>
                          </a:solidFill>
                          <a:latin typeface="Calibri"/>
                        </a:rPr>
                        <a:t>False</a:t>
                      </a:r>
                    </a:p>
                  </a:txBody>
                  <a:tcPr>
                    <a:solidFill>
                      <a:srgbClr val="F1F4F8"/>
                    </a:solidFill>
                  </a:tcPr>
                </a:tc>
                <a:tc>
                  <a:txBody>
                    <a:bodyPr/>
                    <a:lstStyle/>
                    <a:p>
                      <a:r>
                        <a:rPr sz="1400" b="0">
                          <a:solidFill>
                            <a:srgbClr val="1B2430"/>
                          </a:solidFill>
                          <a:latin typeface="Calibri"/>
                        </a:rPr>
                        <a:t>1,24</a:t>
                      </a:r>
                    </a:p>
                  </a:txBody>
                  <a:tcPr>
                    <a:solidFill>
                      <a:srgbClr val="F1F4F8"/>
                    </a:solidFill>
                  </a:tcPr>
                </a:tc>
              </a:tr>
            </a:tbl>
          </a:graphicData>
        </a:graphic>
      </p:graphicFrame>
    </p:spTree>
  </p:cSld>
  <p:clrMapOvr>
    <a:masterClrMapping/>
  </p:clrMapOvr>
  <p:transition spd="med">
    <p:fade/>
  </p:transition>
  <p:timing>
    <p:tnLst>
      <p:par>
        <p:cTn id="1" dur="indefinite" restart="never" nodeType="tmRoot">
          <p:childTnLst>
            <p:seq concurrent="1" nextAc="seek">
              <p:cTn id="2" dur="indefinite" nodeType="mainSeq">
                <p:childTnLst>
                  <p:par>
                    <p:cTn id="12"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6"/>
                                        </p:tgtEl>
                                        <p:attrNameLst>
                                          <p:attrName>style.visibility</p:attrName>
                                        </p:attrNameLst>
                                      </p:cBhvr>
                                      <p:to>
                                        <p:strVal val="visible"/>
                                      </p:to>
                                    </p:set>
                                    <p:animEffect transition="in" filter="fade">
                                      <p:cBhvr>
                                        <p:cTn id="6" dur="550"/>
                                        <p:tgtEl>
                                          <p:spTgt spid="6"/>
                                        </p:tgtEl>
                                      </p:cBhvr>
                                    </p:animEffect>
                                  </p:childTnLst>
                                </p:cTn>
                              </p:par>
                            </p:childTnLst>
                          </p:cTn>
                        </p:par>
                        <p:par>
                          <p:cTn id="7" fill="hold">
                            <p:stCondLst>
                              <p:cond delay="200"/>
                            </p:stCondLst>
                            <p:childTnLst>
                              <p:par>
                                <p:cTn id="8" presetID="22" presetClass="entr" presetSubtype="8" fill="hold" grpId="0" nodeType="after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wipe(left)">
                                      <p:cBhvr>
                                        <p:cTn id="11" dur="80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Lst>
  </p:timing>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110000"/>
            <a:ext cx="10300000" cy="300000"/>
          </a:xfrm>
          <a:prstGeom prst="rect">
            <a:avLst/>
          </a:prstGeom>
          <a:noFill/>
        </p:spPr>
        <p:txBody>
          <a:bodyPr wrap="square" anchor="t" lIns="50800" rIns="50800">
            <a:spAutoFit/>
          </a:bodyPr>
          <a:lstStyle/>
          <a:p>
            <a:pPr algn="l"/>
            <a:r>
              <a:rPr sz="1200" b="1">
                <a:solidFill>
                  <a:srgbClr val="A9C4E6"/>
                </a:solidFill>
                <a:latin typeface="Calibri"/>
              </a:rPr>
              <a:t>AMALIY MISOL</a:t>
            </a:r>
          </a:p>
        </p:txBody>
      </p:sp>
      <p:sp>
        <p:nvSpPr>
          <p:cNvPr id="6" name="TextBox 5"/>
          <p:cNvSpPr txBox="1"/>
          <p:nvPr/>
        </p:nvSpPr>
        <p:spPr>
          <a:xfrm>
            <a:off x="500000" y="330000"/>
            <a:ext cx="10400000" cy="650000"/>
          </a:xfrm>
          <a:prstGeom prst="rect">
            <a:avLst/>
          </a:prstGeom>
          <a:noFill/>
        </p:spPr>
        <p:txBody>
          <a:bodyPr wrap="square" anchor="ctr" lIns="50800" rIns="50800">
            <a:spAutoFit/>
          </a:bodyPr>
          <a:lstStyle/>
          <a:p>
            <a:pPr algn="l"/>
            <a:r>
              <a:rPr sz="2100" b="1">
                <a:solidFill>
                  <a:srgbClr val="FFFFFF"/>
                </a:solidFill>
                <a:latin typeface="Calibri"/>
              </a:rPr>
              <a:t>3-qadam. Platformalarni samaradorlik koeffitsiyenti bilan baholash — kod</a:t>
            </a:r>
          </a:p>
        </p:txBody>
      </p:sp>
      <p:sp>
        <p:nvSpPr>
          <p:cNvPr id="7" name="Rectangle 6"/>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A1 · Sun'iy intellektga asoslangan kompyuter tizimlari arxitekturasini tahlil qilish va loyihalash</a:t>
            </a:r>
          </a:p>
        </p:txBody>
      </p:sp>
      <p:sp>
        <p:nvSpPr>
          <p:cNvPr id="9" name="TextBox 8"/>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26</a:t>
            </a:r>
          </a:p>
        </p:txBody>
      </p:sp>
      <p:sp>
        <p:nvSpPr>
          <p:cNvPr id="10" name="Rounded Rectangle 9"/>
          <p:cNvSpPr/>
          <p:nvPr/>
        </p:nvSpPr>
        <p:spPr>
          <a:xfrm>
            <a:off x="500000" y="1280000"/>
            <a:ext cx="11200000" cy="5000000"/>
          </a:xfrm>
          <a:prstGeom prst="roundRect">
            <a:avLst>
              <a:gd name="adj" fmla="val 3000"/>
            </a:avLst>
          </a:prstGeom>
          <a:solidFill>
            <a:srgbClr val="0F17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700000" y="1400000"/>
            <a:ext cx="150000" cy="150000"/>
          </a:xfrm>
          <a:prstGeom prst="ellipse">
            <a:avLst/>
          </a:prstGeom>
          <a:solidFill>
            <a:srgbClr val="FF5F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930000" y="1400000"/>
            <a:ext cx="150000" cy="150000"/>
          </a:xfrm>
          <a:prstGeom prst="ellipse">
            <a:avLst/>
          </a:prstGeom>
          <a:solidFill>
            <a:srgbClr val="FFBD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1160000" y="1400000"/>
            <a:ext cx="150000" cy="150000"/>
          </a:xfrm>
          <a:prstGeom prst="ellipse">
            <a:avLst/>
          </a:prstGeom>
          <a:solidFill>
            <a:srgbClr val="27C9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0000" y="1650000"/>
            <a:ext cx="10800000" cy="4550000"/>
          </a:xfrm>
          <a:prstGeom prst="rect">
            <a:avLst/>
          </a:prstGeom>
          <a:noFill/>
        </p:spPr>
        <p:txBody>
          <a:bodyPr wrap="square">
            <a:spAutoFit/>
          </a:bodyPr>
          <a:lstStyle/>
          <a:p>
            <a:r>
              <a:rPr sz="1000">
                <a:solidFill>
                  <a:srgbClr val="7FD6D7"/>
                </a:solidFill>
                <a:latin typeface="Consolas"/>
              </a:rPr>
              <a:t># platforma_tanlash.py</a:t>
            </a:r>
          </a:p>
          <a:p>
            <a:r>
              <a:rPr sz="1000">
                <a:solidFill>
                  <a:srgbClr val="E2E8F0"/>
                </a:solidFill>
                <a:latin typeface="Consolas"/>
              </a:rPr>
              <a:t>import pandas as pd</a:t>
            </a:r>
          </a:p>
          <a:p>
            <a:r>
              <a:rPr sz="1000">
                <a:solidFill>
                  <a:srgbClr val="E2E8F0"/>
                </a:solidFill>
                <a:latin typeface="Consolas"/>
              </a:rPr>
              <a:t> </a:t>
            </a:r>
          </a:p>
          <a:p>
            <a:r>
              <a:rPr sz="1000">
                <a:solidFill>
                  <a:srgbClr val="E2E8F0"/>
                </a:solidFill>
                <a:latin typeface="Consolas"/>
              </a:rPr>
              <a:t>platformalar = pd.DataFrame([</a:t>
            </a:r>
          </a:p>
          <a:p>
            <a:r>
              <a:rPr sz="1000">
                <a:solidFill>
                  <a:srgbClr val="7FD6D7"/>
                </a:solidFill>
                <a:latin typeface="Consolas"/>
              </a:rPr>
              <a:t>    # nom, cho'qqi INT8 dense TOPS, taxminiy samaradorlik, quvvat Vt, narx $, NVDEC oqim 1080p30</a:t>
            </a:r>
          </a:p>
          <a:p>
            <a:r>
              <a:rPr sz="1000">
                <a:solidFill>
                  <a:srgbClr val="E2E8F0"/>
                </a:solidFill>
                <a:latin typeface="Consolas"/>
              </a:rPr>
              <a:t>    ("Jetson Orin NX 16GB", 50,  0.45, 25,  650,  7),</a:t>
            </a:r>
          </a:p>
          <a:p>
            <a:r>
              <a:rPr sz="1000">
                <a:solidFill>
                  <a:srgbClr val="E2E8F0"/>
                </a:solidFill>
                <a:latin typeface="Consolas"/>
              </a:rPr>
              <a:t>    ("Jetson AGX Orin 64GB", 138, 0.45, 60,  2000, 14),</a:t>
            </a:r>
          </a:p>
          <a:p>
            <a:r>
              <a:rPr sz="1000">
                <a:solidFill>
                  <a:srgbClr val="E2E8F0"/>
                </a:solidFill>
                <a:latin typeface="Consolas"/>
              </a:rPr>
              <a:t>    ("A100 PCIe 80GB",      624, 0.50, 300, 10000, 10),</a:t>
            </a:r>
          </a:p>
          <a:p>
            <a:r>
              <a:rPr sz="1000">
                <a:solidFill>
                  <a:srgbClr val="E2E8F0"/>
                </a:solidFill>
                <a:latin typeface="Consolas"/>
              </a:rPr>
              <a:t>    ("Coral Edge TPU M.2",  4,   0.50, 2,   80,   0),</a:t>
            </a:r>
          </a:p>
          <a:p>
            <a:r>
              <a:rPr sz="1000">
                <a:solidFill>
                  <a:srgbClr val="E2E8F0"/>
                </a:solidFill>
                <a:latin typeface="Consolas"/>
              </a:rPr>
              <a:t>    ("x86 CPU 8 yadro (AVX-512)", 2.5, 0.60, 65, 400, 0),</a:t>
            </a:r>
          </a:p>
          <a:p>
            <a:r>
              <a:rPr sz="1000">
                <a:solidFill>
                  <a:srgbClr val="E2E8F0"/>
                </a:solidFill>
                <a:latin typeface="Consolas"/>
              </a:rPr>
              <a:t>], columns=["nom", "tops_peak", "eff", "vt", "narx", "nvdec_1080p30"])</a:t>
            </a:r>
          </a:p>
          <a:p>
            <a:r>
              <a:rPr sz="1000">
                <a:solidFill>
                  <a:srgbClr val="E2E8F0"/>
                </a:solidFill>
                <a:latin typeface="Consolas"/>
              </a:rPr>
              <a:t> </a:t>
            </a:r>
          </a:p>
          <a:p>
            <a:r>
              <a:rPr sz="1000">
                <a:solidFill>
                  <a:srgbClr val="E2E8F0"/>
                </a:solidFill>
                <a:latin typeface="Consolas"/>
              </a:rPr>
              <a:t>platformalar["tops_real"] = platformalar.tops_peak * platformalar.eff</a:t>
            </a:r>
          </a:p>
          <a:p>
            <a:r>
              <a:rPr sz="1000">
                <a:solidFill>
                  <a:srgbClr val="E2E8F0"/>
                </a:solidFill>
                <a:latin typeface="Consolas"/>
              </a:rPr>
              <a:t> </a:t>
            </a:r>
          </a:p>
          <a:p>
            <a:r>
              <a:rPr sz="1000">
                <a:solidFill>
                  <a:srgbClr val="E2E8F0"/>
                </a:solidFill>
                <a:latin typeface="Consolas"/>
              </a:rPr>
              <a:t>yuklama = pd.read_csv("yuklama.csv")</a:t>
            </a:r>
          </a:p>
          <a:p>
            <a:r>
              <a:rPr sz="1000">
                <a:solidFill>
                  <a:srgbClr val="E2E8F0"/>
                </a:solidFill>
                <a:latin typeface="Consolas"/>
              </a:rPr>
              <a:t>talab = yuklama[(yuklama.model == "yolov8s.pt") &amp; (yuklama.imgsz == 640)].TFLOP_s_talab.iloc[0]</a:t>
            </a:r>
          </a:p>
          <a:p>
            <a:r>
              <a:rPr sz="1000">
                <a:solidFill>
                  <a:srgbClr val="7FD6D7"/>
                </a:solidFill>
                <a:latin typeface="Consolas"/>
              </a:rPr>
              <a:t># INT8 TOPS ≈ FLOP/s ekvivalenti sifatida qabul qilamiz (soddalashtirish)</a:t>
            </a:r>
          </a:p>
          <a:p>
            <a:r>
              <a:rPr sz="1000">
                <a:solidFill>
                  <a:srgbClr val="E2E8F0"/>
                </a:solidFill>
                <a:latin typeface="Consolas"/>
              </a:rPr>
              <a:t>platformalar["zaxira_koef"] = (platformalar.tops_real / talab).round(2)</a:t>
            </a:r>
          </a:p>
          <a:p>
            <a:r>
              <a:rPr sz="1000">
                <a:solidFill>
                  <a:srgbClr val="E2E8F0"/>
                </a:solidFill>
                <a:latin typeface="Consolas"/>
              </a:rPr>
              <a:t>platformalar["dekod_yetarli"] = platformalar.nvdec_1080p30 * 3 &gt;= 16  # 1080p10 =&gt; 3 oqim 1080p30 o'rniga</a:t>
            </a:r>
          </a:p>
          <a:p>
            <a:r>
              <a:rPr sz="1000">
                <a:solidFill>
                  <a:srgbClr val="E2E8F0"/>
                </a:solidFill>
                <a:latin typeface="Consolas"/>
              </a:rPr>
              <a:t>platformalar["inferens_Vt"] = (platformalar.vt / (platformalar.tops_real * 1e3 / 28.6)).round(3)</a:t>
            </a:r>
          </a:p>
          <a:p>
            <a:r>
              <a:rPr sz="1000">
                <a:solidFill>
                  <a:srgbClr val="7FD6D7"/>
                </a:solidFill>
                <a:latin typeface="Consolas"/>
              </a:rPr>
              <a:t># … (to‘liq kod — mavzu matnida / GitHub’da)</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0"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6"/>
                                        </p:tgtEl>
                                        <p:attrNameLst>
                                          <p:attrName>style.visibility</p:attrName>
                                        </p:attrNameLst>
                                      </p:cBhvr>
                                      <p:to>
                                        <p:strVal val="visible"/>
                                      </p:to>
                                    </p:set>
                                    <p:animEffect transition="in" filter="fade">
                                      <p:cBhvr>
                                        <p:cTn id="6" dur="550"/>
                                        <p:tgtEl>
                                          <p:spTgt spid="6"/>
                                        </p:tgtEl>
                                      </p:cBhvr>
                                    </p:animEffect>
                                  </p:childTnLst>
                                </p:cTn>
                              </p:par>
                            </p:childTnLst>
                          </p:cTn>
                        </p:par>
                        <p:par>
                          <p:cTn id="7" fill="hold">
                            <p:stCondLst>
                              <p:cond delay="200"/>
                            </p:stCondLst>
                            <p:childTnLst>
                              <p:par>
                                <p:cTn id="8" presetID="53" presetClass="entr" presetSubtype="16" fill="hold" grpId="0" nodeType="after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fade">
                                      <p:cBhvr>
                                        <p:cTn id="10" dur="550"/>
                                        <p:tgtEl>
                                          <p:spTgt spid="10"/>
                                        </p:tgtEl>
                                      </p:cBhvr>
                                    </p:animEffect>
                                    <p:anim calcmode="lin" valueType="num">
                                      <p:cBhvr additive="base">
                                        <p:cTn id="11" dur="550" fill="hold"/>
                                        <p:tgtEl>
                                          <p:spTgt spid="10"/>
                                        </p:tgtEl>
                                        <p:attrNameLst>
                                          <p:attrName>ppt_w</p:attrName>
                                        </p:attrNameLst>
                                      </p:cBhvr>
                                      <p:tavLst>
                                        <p:tav tm="0">
                                          <p:val>
                                            <p:strVal val="0"/>
                                          </p:val>
                                        </p:tav>
                                        <p:tav tm="100000">
                                          <p:val>
                                            <p:strVal val="#ppt_w"/>
                                          </p:val>
                                        </p:tav>
                                      </p:tavLst>
                                    </p:anim>
                                    <p:anim calcmode="lin" valueType="num">
                                      <p:cBhvr additive="base">
                                        <p:cTn id="12" dur="550" fill="hold"/>
                                        <p:tgtEl>
                                          <p:spTgt spid="10"/>
                                        </p:tgtEl>
                                        <p:attrNameLst>
                                          <p:attrName>ppt_h</p:attrName>
                                        </p:attrNameLst>
                                      </p:cBhvr>
                                      <p:tavLst>
                                        <p:tav tm="0">
                                          <p:val>
                                            <p:strVal val="0"/>
                                          </p:val>
                                        </p:tav>
                                        <p:tav tm="100000">
                                          <p:val>
                                            <p:strVal val="#ppt_h"/>
                                          </p:val>
                                        </p:tav>
                                      </p:tavLst>
                                    </p:anim>
                                  </p:childTnLst>
                                </p:cTn>
                              </p:par>
                            </p:childTnLst>
                          </p:cTn>
                        </p:par>
                        <p:par>
                          <p:cTn id="13" fill="hold">
                            <p:stCondLst>
                              <p:cond delay="200"/>
                            </p:stCondLst>
                            <p:childTnLst>
                              <p:par>
                                <p:cTn id="14" presetID="10" presetClass="entr" presetSubtype="0" fill="hold" grpId="0" nodeType="afterEffect">
                                  <p:stCondLst>
                                    <p:cond delay="0"/>
                                  </p:stCondLst>
                                  <p:childTnLst>
                                    <p:set>
                                      <p:cBhvr>
                                        <p:cTn id="15" dur="1" fill="hold">
                                          <p:stCondLst>
                                            <p:cond delay="0"/>
                                          </p:stCondLst>
                                        </p:cTn>
                                        <p:tgtEl>
                                          <p:spTgt spid="11"/>
                                        </p:tgtEl>
                                        <p:attrNameLst>
                                          <p:attrName>style.visibility</p:attrName>
                                        </p:attrNameLst>
                                      </p:cBhvr>
                                      <p:to>
                                        <p:strVal val="visible"/>
                                      </p:to>
                                    </p:set>
                                    <p:animEffect transition="in" filter="fade">
                                      <p:cBhvr>
                                        <p:cTn id="16" dur="550"/>
                                        <p:tgtEl>
                                          <p:spTgt spid="11"/>
                                        </p:tgtEl>
                                      </p:cBhvr>
                                    </p:animEffect>
                                  </p:childTnLst>
                                </p:cTn>
                              </p:par>
                            </p:childTnLst>
                          </p:cTn>
                        </p:par>
                        <p:par>
                          <p:cTn id="17" fill="hold">
                            <p:stCondLst>
                              <p:cond delay="200"/>
                            </p:stCondLst>
                            <p:childTnLst>
                              <p:par>
                                <p:cTn id="18" presetID="10" presetClass="entr" presetSubtype="0" fill="hold" grpId="0" nodeType="afterEffect">
                                  <p:stCondLst>
                                    <p:cond delay="0"/>
                                  </p:stCondLst>
                                  <p:childTnLst>
                                    <p:set>
                                      <p:cBhvr>
                                        <p:cTn id="19" dur="1" fill="hold">
                                          <p:stCondLst>
                                            <p:cond delay="0"/>
                                          </p:stCondLst>
                                        </p:cTn>
                                        <p:tgtEl>
                                          <p:spTgt spid="12"/>
                                        </p:tgtEl>
                                        <p:attrNameLst>
                                          <p:attrName>style.visibility</p:attrName>
                                        </p:attrNameLst>
                                      </p:cBhvr>
                                      <p:to>
                                        <p:strVal val="visible"/>
                                      </p:to>
                                    </p:set>
                                    <p:animEffect transition="in" filter="fade">
                                      <p:cBhvr>
                                        <p:cTn id="20" dur="550"/>
                                        <p:tgtEl>
                                          <p:spTgt spid="12"/>
                                        </p:tgtEl>
                                      </p:cBhvr>
                                    </p:animEffect>
                                  </p:childTnLst>
                                </p:cTn>
                              </p:par>
                            </p:childTnLst>
                          </p:cTn>
                        </p:par>
                        <p:par>
                          <p:cTn id="21" fill="hold">
                            <p:stCondLst>
                              <p:cond delay="200"/>
                            </p:stCondLst>
                            <p:childTnLst>
                              <p:par>
                                <p:cTn id="22" presetID="10" presetClass="entr" presetSubtype="0" fill="hold" grpId="0" nodeType="afterEffect">
                                  <p:stCondLst>
                                    <p:cond delay="0"/>
                                  </p:stCondLst>
                                  <p:childTnLst>
                                    <p:set>
                                      <p:cBhvr>
                                        <p:cTn id="23" dur="1" fill="hold">
                                          <p:stCondLst>
                                            <p:cond delay="0"/>
                                          </p:stCondLst>
                                        </p:cTn>
                                        <p:tgtEl>
                                          <p:spTgt spid="13"/>
                                        </p:tgtEl>
                                        <p:attrNameLst>
                                          <p:attrName>style.visibility</p:attrName>
                                        </p:attrNameLst>
                                      </p:cBhvr>
                                      <p:to>
                                        <p:strVal val="visible"/>
                                      </p:to>
                                    </p:set>
                                    <p:animEffect transition="in" filter="fade">
                                      <p:cBhvr>
                                        <p:cTn id="24" dur="550"/>
                                        <p:tgtEl>
                                          <p:spTgt spid="13"/>
                                        </p:tgtEl>
                                      </p:cBhvr>
                                    </p:animEffect>
                                  </p:childTnLst>
                                </p:cTn>
                              </p:par>
                            </p:childTnLst>
                          </p:cTn>
                        </p:par>
                        <p:par>
                          <p:cTn id="25" fill="hold">
                            <p:stCondLst>
                              <p:cond delay="350"/>
                            </p:stCondLst>
                            <p:childTnLst>
                              <p:par>
                                <p:cTn id="26" presetID="22" presetClass="entr" presetSubtype="8" fill="hold" grpId="0" nodeType="afterEffect">
                                  <p:stCondLst>
                                    <p:cond delay="0"/>
                                  </p:stCondLst>
                                  <p:childTnLst>
                                    <p:set>
                                      <p:cBhvr>
                                        <p:cTn id="27" dur="1" fill="hold">
                                          <p:stCondLst>
                                            <p:cond delay="0"/>
                                          </p:stCondLst>
                                        </p:cTn>
                                        <p:tgtEl>
                                          <p:spTgt spid="14"/>
                                        </p:tgtEl>
                                        <p:attrNameLst>
                                          <p:attrName>style.visibility</p:attrName>
                                        </p:attrNameLst>
                                      </p:cBhvr>
                                      <p:to>
                                        <p:strVal val="visible"/>
                                      </p:to>
                                    </p:set>
                                    <p:animEffect transition="in" filter="wipe(left)">
                                      <p:cBhvr>
                                        <p:cTn id="29" dur="800"/>
                                        <p:tgtEl>
                                          <p:spTgt spid="1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10" grpId="0" animBg="1"/>
      <p:bldP spid="11" grpId="0" animBg="1"/>
      <p:bldP spid="12" grpId="0" animBg="1"/>
      <p:bldP spid="13" grpId="0" animBg="1"/>
      <p:bldP spid="14" grpId="0" animBg="1"/>
    </p:bldLst>
  </p:timing>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110000"/>
            <a:ext cx="10300000" cy="300000"/>
          </a:xfrm>
          <a:prstGeom prst="rect">
            <a:avLst/>
          </a:prstGeom>
          <a:noFill/>
        </p:spPr>
        <p:txBody>
          <a:bodyPr wrap="square" anchor="t" lIns="50800" rIns="50800">
            <a:spAutoFit/>
          </a:bodyPr>
          <a:lstStyle/>
          <a:p>
            <a:pPr algn="l"/>
            <a:r>
              <a:rPr sz="1200" b="1">
                <a:solidFill>
                  <a:srgbClr val="A9C4E6"/>
                </a:solidFill>
                <a:latin typeface="Calibri"/>
              </a:rPr>
              <a:t>AMALIY MISOL</a:t>
            </a:r>
          </a:p>
        </p:txBody>
      </p:sp>
      <p:sp>
        <p:nvSpPr>
          <p:cNvPr id="6" name="TextBox 5"/>
          <p:cNvSpPr txBox="1"/>
          <p:nvPr/>
        </p:nvSpPr>
        <p:spPr>
          <a:xfrm>
            <a:off x="500000" y="330000"/>
            <a:ext cx="10400000" cy="650000"/>
          </a:xfrm>
          <a:prstGeom prst="rect">
            <a:avLst/>
          </a:prstGeom>
          <a:noFill/>
        </p:spPr>
        <p:txBody>
          <a:bodyPr wrap="square" anchor="ctr" lIns="50800" rIns="50800">
            <a:spAutoFit/>
          </a:bodyPr>
          <a:lstStyle/>
          <a:p>
            <a:pPr algn="l"/>
            <a:r>
              <a:rPr sz="2600" b="1">
                <a:solidFill>
                  <a:srgbClr val="FFFFFF"/>
                </a:solidFill>
                <a:latin typeface="Calibri"/>
              </a:rPr>
              <a:t>4-qadam. Strukturaviy sxemani matnda tavsiflash</a:t>
            </a:r>
          </a:p>
        </p:txBody>
      </p:sp>
      <p:sp>
        <p:nvSpPr>
          <p:cNvPr id="7" name="Rectangle 6"/>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A1 · Sun'iy intellektga asoslangan kompyuter tizimlari arxitekturasini tahlil qilish va loyihalash</a:t>
            </a:r>
          </a:p>
        </p:txBody>
      </p:sp>
      <p:sp>
        <p:nvSpPr>
          <p:cNvPr id="9" name="TextBox 8"/>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27</a:t>
            </a:r>
          </a:p>
        </p:txBody>
      </p:sp>
      <p:sp>
        <p:nvSpPr>
          <p:cNvPr id="10" name="Rounded Rectangle 9"/>
          <p:cNvSpPr/>
          <p:nvPr/>
        </p:nvSpPr>
        <p:spPr>
          <a:xfrm>
            <a:off x="550000" y="1620000"/>
            <a:ext cx="11100000" cy="1250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50000" y="1620000"/>
            <a:ext cx="70000" cy="1250000"/>
          </a:xfrm>
          <a:prstGeom prst="rect">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800000" y="2015000"/>
            <a:ext cx="460000" cy="460000"/>
          </a:xfrm>
          <a:prstGeom prst="ellipse">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1</a:t>
            </a:r>
          </a:p>
        </p:txBody>
      </p:sp>
      <p:sp>
        <p:nvSpPr>
          <p:cNvPr id="13" name="TextBox 12"/>
          <p:cNvSpPr txBox="1"/>
          <p:nvPr/>
        </p:nvSpPr>
        <p:spPr>
          <a:xfrm>
            <a:off x="1450000" y="1620000"/>
            <a:ext cx="10050000" cy="1250000"/>
          </a:xfrm>
          <a:prstGeom prst="rect">
            <a:avLst/>
          </a:prstGeom>
          <a:noFill/>
        </p:spPr>
        <p:txBody>
          <a:bodyPr wrap="square" anchor="ctr" lIns="50800" rIns="50800">
            <a:spAutoFit/>
          </a:bodyPr>
          <a:lstStyle/>
          <a:p>
            <a:pPr algn="l"/>
            <a:r>
              <a:rPr sz="1600" b="0">
                <a:solidFill>
                  <a:srgbClr val="1B2430"/>
                </a:solidFill>
                <a:latin typeface="Calibri"/>
              </a:rPr>
              <a:t>Talaba quyidagi shaklda strukturaviy sxemani yozadi (rasm shart emas; blok ro'yxati va interfeyslar jadvali yetarli):</a:t>
            </a:r>
          </a:p>
        </p:txBody>
      </p:sp>
      <p:sp>
        <p:nvSpPr>
          <p:cNvPr id="14" name="Rounded Rectangle 13"/>
          <p:cNvSpPr/>
          <p:nvPr/>
        </p:nvSpPr>
        <p:spPr>
          <a:xfrm>
            <a:off x="550000" y="2990000"/>
            <a:ext cx="11100000" cy="1250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50000" y="2990000"/>
            <a:ext cx="70000" cy="1250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00000" y="3385000"/>
            <a:ext cx="460000" cy="46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2</a:t>
            </a:r>
          </a:p>
        </p:txBody>
      </p:sp>
      <p:sp>
        <p:nvSpPr>
          <p:cNvPr id="17" name="TextBox 16"/>
          <p:cNvSpPr txBox="1"/>
          <p:nvPr/>
        </p:nvSpPr>
        <p:spPr>
          <a:xfrm>
            <a:off x="1450000" y="2990000"/>
            <a:ext cx="10050000" cy="1250000"/>
          </a:xfrm>
          <a:prstGeom prst="rect">
            <a:avLst/>
          </a:prstGeom>
          <a:noFill/>
        </p:spPr>
        <p:txBody>
          <a:bodyPr wrap="square" anchor="ctr" lIns="50800" rIns="50800">
            <a:spAutoFit/>
          </a:bodyPr>
          <a:lstStyle/>
          <a:p>
            <a:pPr algn="l"/>
            <a:r>
              <a:rPr sz="1600" b="0">
                <a:solidFill>
                  <a:srgbClr val="1B2430"/>
                </a:solidFill>
                <a:latin typeface="Calibri"/>
              </a:rPr>
              <a:t>Interfeyslar jadvali:</a:t>
            </a:r>
          </a:p>
        </p:txBody>
      </p:sp>
      <p:sp>
        <p:nvSpPr>
          <p:cNvPr id="18" name="Rounded Rectangle 17"/>
          <p:cNvSpPr/>
          <p:nvPr/>
        </p:nvSpPr>
        <p:spPr>
          <a:xfrm>
            <a:off x="550000" y="4360000"/>
            <a:ext cx="11100000" cy="1250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550000" y="4360000"/>
            <a:ext cx="70000" cy="1250000"/>
          </a:xfrm>
          <a:prstGeom prst="rect">
            <a:avLst/>
          </a:prstGeom>
          <a:solidFill>
            <a:srgbClr val="6A3F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800000" y="4755000"/>
            <a:ext cx="460000" cy="460000"/>
          </a:xfrm>
          <a:prstGeom prst="ellipse">
            <a:avLst/>
          </a:prstGeom>
          <a:solidFill>
            <a:srgbClr val="6A3FB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3</a:t>
            </a:r>
          </a:p>
        </p:txBody>
      </p:sp>
      <p:sp>
        <p:nvSpPr>
          <p:cNvPr id="21" name="TextBox 20"/>
          <p:cNvSpPr txBox="1"/>
          <p:nvPr/>
        </p:nvSpPr>
        <p:spPr>
          <a:xfrm>
            <a:off x="1450000" y="4360000"/>
            <a:ext cx="10050000" cy="1250000"/>
          </a:xfrm>
          <a:prstGeom prst="rect">
            <a:avLst/>
          </a:prstGeom>
          <a:noFill/>
        </p:spPr>
        <p:txBody>
          <a:bodyPr wrap="square" anchor="ctr" lIns="50800" rIns="50800">
            <a:spAutoFit/>
          </a:bodyPr>
          <a:lstStyle/>
          <a:p>
            <a:pPr algn="l"/>
            <a:r>
              <a:rPr sz="1600" b="0">
                <a:solidFill>
                  <a:srgbClr val="1B2430"/>
                </a:solidFill>
                <a:latin typeface="Calibri"/>
              </a:rPr>
              <a:t>Nima bo'ldi va nega. Sxema har bir qadamda «ma'lumot qayerda yotadi» savoliga javob beradi. Jetson'da NVDEC chiqishi to'g'ridan-to'g'ri GPU xotirasida qolishi (nol nusxalash, zero-copy) CPU–GPU ko'chirishlarini olib tashlaydi — bu Co-design'ning amaliy…</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79"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6"/>
                                        </p:tgtEl>
                                        <p:attrNameLst>
                                          <p:attrName>style.visibility</p:attrName>
                                        </p:attrNameLst>
                                      </p:cBhvr>
                                      <p:to>
                                        <p:strVal val="visible"/>
                                      </p:to>
                                    </p:set>
                                    <p:animEffect transition="in" filter="fade">
                                      <p:cBhvr>
                                        <p:cTn id="6" dur="550"/>
                                        <p:tgtEl>
                                          <p:spTgt spid="6"/>
                                        </p:tgtEl>
                                      </p:cBhvr>
                                    </p:animEffect>
                                  </p:childTnLst>
                                </p:cTn>
                              </p:par>
                            </p:childTnLst>
                          </p:cTn>
                        </p:par>
                        <p:par>
                          <p:cTn id="7" fill="hold">
                            <p:stCondLst>
                              <p:cond delay="220"/>
                            </p:stCondLst>
                            <p:childTnLst>
                              <p:par>
                                <p:cTn id="8" presetID="42" presetClass="entr" presetSubtype="0" fill="hold" grpId="0" nodeType="after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fade">
                                      <p:cBhvr>
                                        <p:cTn id="10" dur="550"/>
                                        <p:tgtEl>
                                          <p:spTgt spid="10"/>
                                        </p:tgtEl>
                                      </p:cBhvr>
                                    </p:animEffect>
                                    <p:anim calcmode="lin" valueType="num">
                                      <p:cBhvr additive="base">
                                        <p:cTn id="11" dur="550" fill="hold"/>
                                        <p:tgtEl>
                                          <p:spTgt spid="10"/>
                                        </p:tgtEl>
                                        <p:attrNameLst>
                                          <p:attrName>ppt_x</p:attrName>
                                        </p:attrNameLst>
                                      </p:cBhvr>
                                      <p:tavLst>
                                        <p:tav tm="0">
                                          <p:val>
                                            <p:strVal val="#ppt_x"/>
                                          </p:val>
                                        </p:tav>
                                        <p:tav tm="100000">
                                          <p:val>
                                            <p:strVal val="#ppt_x"/>
                                          </p:val>
                                        </p:tav>
                                      </p:tavLst>
                                    </p:anim>
                                    <p:anim calcmode="lin" valueType="num">
                                      <p:cBhvr additive="base">
                                        <p:cTn id="12" dur="550" fill="hold"/>
                                        <p:tgtEl>
                                          <p:spTgt spid="10"/>
                                        </p:tgtEl>
                                        <p:attrNameLst>
                                          <p:attrName>ppt_y</p:attrName>
                                        </p:attrNameLst>
                                      </p:cBhvr>
                                      <p:tavLst>
                                        <p:tav tm="0">
                                          <p:val>
                                            <p:strVal val="#ppt_y+.08"/>
                                          </p:val>
                                        </p:tav>
                                        <p:tav tm="100000">
                                          <p:val>
                                            <p:strVal val="#ppt_y"/>
                                          </p:val>
                                        </p:tav>
                                      </p:tavLst>
                                    </p:anim>
                                  </p:childTnLst>
                                </p:cTn>
                              </p:par>
                            </p:childTnLst>
                          </p:cTn>
                        </p:par>
                        <p:par>
                          <p:cTn id="13" fill="hold">
                            <p:stCondLst>
                              <p:cond delay="220"/>
                            </p:stCondLst>
                            <p:childTnLst>
                              <p:par>
                                <p:cTn id="14" presetID="42" presetClass="entr" presetSubtype="0" fill="hold" grpId="0" nodeType="afterEffect">
                                  <p:stCondLst>
                                    <p:cond delay="0"/>
                                  </p:stCondLst>
                                  <p:childTnLst>
                                    <p:set>
                                      <p:cBhvr>
                                        <p:cTn id="15" dur="1" fill="hold">
                                          <p:stCondLst>
                                            <p:cond delay="0"/>
                                          </p:stCondLst>
                                        </p:cTn>
                                        <p:tgtEl>
                                          <p:spTgt spid="11"/>
                                        </p:tgtEl>
                                        <p:attrNameLst>
                                          <p:attrName>style.visibility</p:attrName>
                                        </p:attrNameLst>
                                      </p:cBhvr>
                                      <p:to>
                                        <p:strVal val="visible"/>
                                      </p:to>
                                    </p:set>
                                    <p:animEffect transition="in" filter="fade">
                                      <p:cBhvr>
                                        <p:cTn id="16" dur="550"/>
                                        <p:tgtEl>
                                          <p:spTgt spid="11"/>
                                        </p:tgtEl>
                                      </p:cBhvr>
                                    </p:animEffect>
                                    <p:anim calcmode="lin" valueType="num">
                                      <p:cBhvr additive="base">
                                        <p:cTn id="17" dur="550" fill="hold"/>
                                        <p:tgtEl>
                                          <p:spTgt spid="11"/>
                                        </p:tgtEl>
                                        <p:attrNameLst>
                                          <p:attrName>ppt_x</p:attrName>
                                        </p:attrNameLst>
                                      </p:cBhvr>
                                      <p:tavLst>
                                        <p:tav tm="0">
                                          <p:val>
                                            <p:strVal val="#ppt_x"/>
                                          </p:val>
                                        </p:tav>
                                        <p:tav tm="100000">
                                          <p:val>
                                            <p:strVal val="#ppt_x"/>
                                          </p:val>
                                        </p:tav>
                                      </p:tavLst>
                                    </p:anim>
                                    <p:anim calcmode="lin" valueType="num">
                                      <p:cBhvr additive="base">
                                        <p:cTn id="18" dur="550" fill="hold"/>
                                        <p:tgtEl>
                                          <p:spTgt spid="11"/>
                                        </p:tgtEl>
                                        <p:attrNameLst>
                                          <p:attrName>ppt_y</p:attrName>
                                        </p:attrNameLst>
                                      </p:cBhvr>
                                      <p:tavLst>
                                        <p:tav tm="0">
                                          <p:val>
                                            <p:strVal val="#ppt_y+.08"/>
                                          </p:val>
                                        </p:tav>
                                        <p:tav tm="100000">
                                          <p:val>
                                            <p:strVal val="#ppt_y"/>
                                          </p:val>
                                        </p:tav>
                                      </p:tavLst>
                                    </p:anim>
                                  </p:childTnLst>
                                </p:cTn>
                              </p:par>
                            </p:childTnLst>
                          </p:cTn>
                        </p:par>
                        <p:par>
                          <p:cTn id="19" fill="hold">
                            <p:stCondLst>
                              <p:cond delay="220"/>
                            </p:stCondLst>
                            <p:childTnLst>
                              <p:par>
                                <p:cTn id="20" presetID="53" presetClass="entr" presetSubtype="16" fill="hold" grpId="0" nodeType="afterEffect">
                                  <p:stCondLst>
                                    <p:cond delay="0"/>
                                  </p:stCondLst>
                                  <p:childTnLst>
                                    <p:set>
                                      <p:cBhvr>
                                        <p:cTn id="21" dur="1" fill="hold">
                                          <p:stCondLst>
                                            <p:cond delay="0"/>
                                          </p:stCondLst>
                                        </p:cTn>
                                        <p:tgtEl>
                                          <p:spTgt spid="12"/>
                                        </p:tgtEl>
                                        <p:attrNameLst>
                                          <p:attrName>style.visibility</p:attrName>
                                        </p:attrNameLst>
                                      </p:cBhvr>
                                      <p:to>
                                        <p:strVal val="visible"/>
                                      </p:to>
                                    </p:set>
                                    <p:animEffect transition="in" filter="fade">
                                      <p:cBhvr>
                                        <p:cTn id="22" dur="550"/>
                                        <p:tgtEl>
                                          <p:spTgt spid="12"/>
                                        </p:tgtEl>
                                      </p:cBhvr>
                                    </p:animEffect>
                                    <p:anim calcmode="lin" valueType="num">
                                      <p:cBhvr additive="base">
                                        <p:cTn id="23" dur="550" fill="hold"/>
                                        <p:tgtEl>
                                          <p:spTgt spid="12"/>
                                        </p:tgtEl>
                                        <p:attrNameLst>
                                          <p:attrName>ppt_w</p:attrName>
                                        </p:attrNameLst>
                                      </p:cBhvr>
                                      <p:tavLst>
                                        <p:tav tm="0">
                                          <p:val>
                                            <p:strVal val="0"/>
                                          </p:val>
                                        </p:tav>
                                        <p:tav tm="100000">
                                          <p:val>
                                            <p:strVal val="#ppt_w"/>
                                          </p:val>
                                        </p:tav>
                                      </p:tavLst>
                                    </p:anim>
                                    <p:anim calcmode="lin" valueType="num">
                                      <p:cBhvr additive="base">
                                        <p:cTn id="24" dur="550" fill="hold"/>
                                        <p:tgtEl>
                                          <p:spTgt spid="12"/>
                                        </p:tgtEl>
                                        <p:attrNameLst>
                                          <p:attrName>ppt_h</p:attrName>
                                        </p:attrNameLst>
                                      </p:cBhvr>
                                      <p:tavLst>
                                        <p:tav tm="0">
                                          <p:val>
                                            <p:strVal val="0"/>
                                          </p:val>
                                        </p:tav>
                                        <p:tav tm="100000">
                                          <p:val>
                                            <p:strVal val="#ppt_h"/>
                                          </p:val>
                                        </p:tav>
                                      </p:tavLst>
                                    </p:anim>
                                  </p:childTnLst>
                                </p:cTn>
                              </p:par>
                            </p:childTnLst>
                          </p:cTn>
                        </p:par>
                        <p:par>
                          <p:cTn id="25" fill="hold">
                            <p:stCondLst>
                              <p:cond delay="220"/>
                            </p:stCondLst>
                            <p:childTnLst>
                              <p:par>
                                <p:cTn id="26" presetID="42" presetClass="entr" presetSubtype="0" fill="hold" grpId="0" nodeType="afterEffect">
                                  <p:stCondLst>
                                    <p:cond delay="0"/>
                                  </p:stCondLst>
                                  <p:childTnLst>
                                    <p:set>
                                      <p:cBhvr>
                                        <p:cTn id="27" dur="1" fill="hold">
                                          <p:stCondLst>
                                            <p:cond delay="0"/>
                                          </p:stCondLst>
                                        </p:cTn>
                                        <p:tgtEl>
                                          <p:spTgt spid="13"/>
                                        </p:tgtEl>
                                        <p:attrNameLst>
                                          <p:attrName>style.visibility</p:attrName>
                                        </p:attrNameLst>
                                      </p:cBhvr>
                                      <p:to>
                                        <p:strVal val="visible"/>
                                      </p:to>
                                    </p:set>
                                    <p:animEffect transition="in" filter="fade">
                                      <p:cBhvr>
                                        <p:cTn id="28" dur="550"/>
                                        <p:tgtEl>
                                          <p:spTgt spid="13"/>
                                        </p:tgtEl>
                                      </p:cBhvr>
                                    </p:animEffect>
                                    <p:anim calcmode="lin" valueType="num">
                                      <p:cBhvr additive="base">
                                        <p:cTn id="29" dur="550" fill="hold"/>
                                        <p:tgtEl>
                                          <p:spTgt spid="13"/>
                                        </p:tgtEl>
                                        <p:attrNameLst>
                                          <p:attrName>ppt_x</p:attrName>
                                        </p:attrNameLst>
                                      </p:cBhvr>
                                      <p:tavLst>
                                        <p:tav tm="0">
                                          <p:val>
                                            <p:strVal val="#ppt_x"/>
                                          </p:val>
                                        </p:tav>
                                        <p:tav tm="100000">
                                          <p:val>
                                            <p:strVal val="#ppt_x"/>
                                          </p:val>
                                        </p:tav>
                                      </p:tavLst>
                                    </p:anim>
                                    <p:anim calcmode="lin" valueType="num">
                                      <p:cBhvr additive="base">
                                        <p:cTn id="30" dur="550" fill="hold"/>
                                        <p:tgtEl>
                                          <p:spTgt spid="13"/>
                                        </p:tgtEl>
                                        <p:attrNameLst>
                                          <p:attrName>ppt_y</p:attrName>
                                        </p:attrNameLst>
                                      </p:cBhvr>
                                      <p:tavLst>
                                        <p:tav tm="0">
                                          <p:val>
                                            <p:strVal val="#ppt_y+.08"/>
                                          </p:val>
                                        </p:tav>
                                        <p:tav tm="100000">
                                          <p:val>
                                            <p:strVal val="#ppt_y"/>
                                          </p:val>
                                        </p:tav>
                                      </p:tavLst>
                                    </p:anim>
                                  </p:childTnLst>
                                </p:cTn>
                              </p:par>
                            </p:childTnLst>
                          </p:cTn>
                        </p:par>
                        <p:par>
                          <p:cTn id="31" fill="hold">
                            <p:stCondLst>
                              <p:cond delay="440"/>
                            </p:stCondLst>
                            <p:childTnLst>
                              <p:par>
                                <p:cTn id="32" presetID="42" presetClass="entr" presetSubtype="0" fill="hold" grpId="0" nodeType="afterEffect">
                                  <p:stCondLst>
                                    <p:cond delay="0"/>
                                  </p:stCondLst>
                                  <p:childTnLst>
                                    <p:set>
                                      <p:cBhvr>
                                        <p:cTn id="33" dur="1" fill="hold">
                                          <p:stCondLst>
                                            <p:cond delay="0"/>
                                          </p:stCondLst>
                                        </p:cTn>
                                        <p:tgtEl>
                                          <p:spTgt spid="14"/>
                                        </p:tgtEl>
                                        <p:attrNameLst>
                                          <p:attrName>style.visibility</p:attrName>
                                        </p:attrNameLst>
                                      </p:cBhvr>
                                      <p:to>
                                        <p:strVal val="visible"/>
                                      </p:to>
                                    </p:set>
                                    <p:animEffect transition="in" filter="fade">
                                      <p:cBhvr>
                                        <p:cTn id="34" dur="550"/>
                                        <p:tgtEl>
                                          <p:spTgt spid="14"/>
                                        </p:tgtEl>
                                      </p:cBhvr>
                                    </p:animEffect>
                                    <p:anim calcmode="lin" valueType="num">
                                      <p:cBhvr additive="base">
                                        <p:cTn id="35" dur="550" fill="hold"/>
                                        <p:tgtEl>
                                          <p:spTgt spid="14"/>
                                        </p:tgtEl>
                                        <p:attrNameLst>
                                          <p:attrName>ppt_x</p:attrName>
                                        </p:attrNameLst>
                                      </p:cBhvr>
                                      <p:tavLst>
                                        <p:tav tm="0">
                                          <p:val>
                                            <p:strVal val="#ppt_x"/>
                                          </p:val>
                                        </p:tav>
                                        <p:tav tm="100000">
                                          <p:val>
                                            <p:strVal val="#ppt_x"/>
                                          </p:val>
                                        </p:tav>
                                      </p:tavLst>
                                    </p:anim>
                                    <p:anim calcmode="lin" valueType="num">
                                      <p:cBhvr additive="base">
                                        <p:cTn id="36" dur="550" fill="hold"/>
                                        <p:tgtEl>
                                          <p:spTgt spid="14"/>
                                        </p:tgtEl>
                                        <p:attrNameLst>
                                          <p:attrName>ppt_y</p:attrName>
                                        </p:attrNameLst>
                                      </p:cBhvr>
                                      <p:tavLst>
                                        <p:tav tm="0">
                                          <p:val>
                                            <p:strVal val="#ppt_y+.08"/>
                                          </p:val>
                                        </p:tav>
                                        <p:tav tm="100000">
                                          <p:val>
                                            <p:strVal val="#ppt_y"/>
                                          </p:val>
                                        </p:tav>
                                      </p:tavLst>
                                    </p:anim>
                                  </p:childTnLst>
                                </p:cTn>
                              </p:par>
                            </p:childTnLst>
                          </p:cTn>
                        </p:par>
                        <p:par>
                          <p:cTn id="37" fill="hold">
                            <p:stCondLst>
                              <p:cond delay="440"/>
                            </p:stCondLst>
                            <p:childTnLst>
                              <p:par>
                                <p:cTn id="38" presetID="42" presetClass="entr" presetSubtype="0" fill="hold" grpId="0" nodeType="afterEffect">
                                  <p:stCondLst>
                                    <p:cond delay="0"/>
                                  </p:stCondLst>
                                  <p:childTnLst>
                                    <p:set>
                                      <p:cBhvr>
                                        <p:cTn id="39" dur="1" fill="hold">
                                          <p:stCondLst>
                                            <p:cond delay="0"/>
                                          </p:stCondLst>
                                        </p:cTn>
                                        <p:tgtEl>
                                          <p:spTgt spid="15"/>
                                        </p:tgtEl>
                                        <p:attrNameLst>
                                          <p:attrName>style.visibility</p:attrName>
                                        </p:attrNameLst>
                                      </p:cBhvr>
                                      <p:to>
                                        <p:strVal val="visible"/>
                                      </p:to>
                                    </p:set>
                                    <p:animEffect transition="in" filter="fade">
                                      <p:cBhvr>
                                        <p:cTn id="40" dur="550"/>
                                        <p:tgtEl>
                                          <p:spTgt spid="15"/>
                                        </p:tgtEl>
                                      </p:cBhvr>
                                    </p:animEffect>
                                    <p:anim calcmode="lin" valueType="num">
                                      <p:cBhvr additive="base">
                                        <p:cTn id="41" dur="550" fill="hold"/>
                                        <p:tgtEl>
                                          <p:spTgt spid="15"/>
                                        </p:tgtEl>
                                        <p:attrNameLst>
                                          <p:attrName>ppt_x</p:attrName>
                                        </p:attrNameLst>
                                      </p:cBhvr>
                                      <p:tavLst>
                                        <p:tav tm="0">
                                          <p:val>
                                            <p:strVal val="#ppt_x"/>
                                          </p:val>
                                        </p:tav>
                                        <p:tav tm="100000">
                                          <p:val>
                                            <p:strVal val="#ppt_x"/>
                                          </p:val>
                                        </p:tav>
                                      </p:tavLst>
                                    </p:anim>
                                    <p:anim calcmode="lin" valueType="num">
                                      <p:cBhvr additive="base">
                                        <p:cTn id="42" dur="550" fill="hold"/>
                                        <p:tgtEl>
                                          <p:spTgt spid="15"/>
                                        </p:tgtEl>
                                        <p:attrNameLst>
                                          <p:attrName>ppt_y</p:attrName>
                                        </p:attrNameLst>
                                      </p:cBhvr>
                                      <p:tavLst>
                                        <p:tav tm="0">
                                          <p:val>
                                            <p:strVal val="#ppt_y+.08"/>
                                          </p:val>
                                        </p:tav>
                                        <p:tav tm="100000">
                                          <p:val>
                                            <p:strVal val="#ppt_y"/>
                                          </p:val>
                                        </p:tav>
                                      </p:tavLst>
                                    </p:anim>
                                  </p:childTnLst>
                                </p:cTn>
                              </p:par>
                            </p:childTnLst>
                          </p:cTn>
                        </p:par>
                        <p:par>
                          <p:cTn id="43" fill="hold">
                            <p:stCondLst>
                              <p:cond delay="440"/>
                            </p:stCondLst>
                            <p:childTnLst>
                              <p:par>
                                <p:cTn id="44" presetID="53" presetClass="entr" presetSubtype="16" fill="hold" grpId="0" nodeType="afterEffect">
                                  <p:stCondLst>
                                    <p:cond delay="0"/>
                                  </p:stCondLst>
                                  <p:childTnLst>
                                    <p:set>
                                      <p:cBhvr>
                                        <p:cTn id="45" dur="1" fill="hold">
                                          <p:stCondLst>
                                            <p:cond delay="0"/>
                                          </p:stCondLst>
                                        </p:cTn>
                                        <p:tgtEl>
                                          <p:spTgt spid="16"/>
                                        </p:tgtEl>
                                        <p:attrNameLst>
                                          <p:attrName>style.visibility</p:attrName>
                                        </p:attrNameLst>
                                      </p:cBhvr>
                                      <p:to>
                                        <p:strVal val="visible"/>
                                      </p:to>
                                    </p:set>
                                    <p:animEffect transition="in" filter="fade">
                                      <p:cBhvr>
                                        <p:cTn id="46" dur="550"/>
                                        <p:tgtEl>
                                          <p:spTgt spid="16"/>
                                        </p:tgtEl>
                                      </p:cBhvr>
                                    </p:animEffect>
                                    <p:anim calcmode="lin" valueType="num">
                                      <p:cBhvr additive="base">
                                        <p:cTn id="47" dur="550" fill="hold"/>
                                        <p:tgtEl>
                                          <p:spTgt spid="16"/>
                                        </p:tgtEl>
                                        <p:attrNameLst>
                                          <p:attrName>ppt_w</p:attrName>
                                        </p:attrNameLst>
                                      </p:cBhvr>
                                      <p:tavLst>
                                        <p:tav tm="0">
                                          <p:val>
                                            <p:strVal val="0"/>
                                          </p:val>
                                        </p:tav>
                                        <p:tav tm="100000">
                                          <p:val>
                                            <p:strVal val="#ppt_w"/>
                                          </p:val>
                                        </p:tav>
                                      </p:tavLst>
                                    </p:anim>
                                    <p:anim calcmode="lin" valueType="num">
                                      <p:cBhvr additive="base">
                                        <p:cTn id="48" dur="550" fill="hold"/>
                                        <p:tgtEl>
                                          <p:spTgt spid="16"/>
                                        </p:tgtEl>
                                        <p:attrNameLst>
                                          <p:attrName>ppt_h</p:attrName>
                                        </p:attrNameLst>
                                      </p:cBhvr>
                                      <p:tavLst>
                                        <p:tav tm="0">
                                          <p:val>
                                            <p:strVal val="0"/>
                                          </p:val>
                                        </p:tav>
                                        <p:tav tm="100000">
                                          <p:val>
                                            <p:strVal val="#ppt_h"/>
                                          </p:val>
                                        </p:tav>
                                      </p:tavLst>
                                    </p:anim>
                                  </p:childTnLst>
                                </p:cTn>
                              </p:par>
                            </p:childTnLst>
                          </p:cTn>
                        </p:par>
                        <p:par>
                          <p:cTn id="49" fill="hold">
                            <p:stCondLst>
                              <p:cond delay="440"/>
                            </p:stCondLst>
                            <p:childTnLst>
                              <p:par>
                                <p:cTn id="50" presetID="42" presetClass="entr" presetSubtype="0" fill="hold" grpId="0" nodeType="afterEffect">
                                  <p:stCondLst>
                                    <p:cond delay="0"/>
                                  </p:stCondLst>
                                  <p:childTnLst>
                                    <p:set>
                                      <p:cBhvr>
                                        <p:cTn id="51" dur="1" fill="hold">
                                          <p:stCondLst>
                                            <p:cond delay="0"/>
                                          </p:stCondLst>
                                        </p:cTn>
                                        <p:tgtEl>
                                          <p:spTgt spid="17"/>
                                        </p:tgtEl>
                                        <p:attrNameLst>
                                          <p:attrName>style.visibility</p:attrName>
                                        </p:attrNameLst>
                                      </p:cBhvr>
                                      <p:to>
                                        <p:strVal val="visible"/>
                                      </p:to>
                                    </p:set>
                                    <p:animEffect transition="in" filter="fade">
                                      <p:cBhvr>
                                        <p:cTn id="52" dur="550"/>
                                        <p:tgtEl>
                                          <p:spTgt spid="17"/>
                                        </p:tgtEl>
                                      </p:cBhvr>
                                    </p:animEffect>
                                    <p:anim calcmode="lin" valueType="num">
                                      <p:cBhvr additive="base">
                                        <p:cTn id="53" dur="550" fill="hold"/>
                                        <p:tgtEl>
                                          <p:spTgt spid="17"/>
                                        </p:tgtEl>
                                        <p:attrNameLst>
                                          <p:attrName>ppt_x</p:attrName>
                                        </p:attrNameLst>
                                      </p:cBhvr>
                                      <p:tavLst>
                                        <p:tav tm="0">
                                          <p:val>
                                            <p:strVal val="#ppt_x"/>
                                          </p:val>
                                        </p:tav>
                                        <p:tav tm="100000">
                                          <p:val>
                                            <p:strVal val="#ppt_x"/>
                                          </p:val>
                                        </p:tav>
                                      </p:tavLst>
                                    </p:anim>
                                    <p:anim calcmode="lin" valueType="num">
                                      <p:cBhvr additive="base">
                                        <p:cTn id="54" dur="550" fill="hold"/>
                                        <p:tgtEl>
                                          <p:spTgt spid="17"/>
                                        </p:tgtEl>
                                        <p:attrNameLst>
                                          <p:attrName>ppt_y</p:attrName>
                                        </p:attrNameLst>
                                      </p:cBhvr>
                                      <p:tavLst>
                                        <p:tav tm="0">
                                          <p:val>
                                            <p:strVal val="#ppt_y+.08"/>
                                          </p:val>
                                        </p:tav>
                                        <p:tav tm="100000">
                                          <p:val>
                                            <p:strVal val="#ppt_y"/>
                                          </p:val>
                                        </p:tav>
                                      </p:tavLst>
                                    </p:anim>
                                  </p:childTnLst>
                                </p:cTn>
                              </p:par>
                            </p:childTnLst>
                          </p:cTn>
                        </p:par>
                        <p:par>
                          <p:cTn id="55" fill="hold">
                            <p:stCondLst>
                              <p:cond delay="660"/>
                            </p:stCondLst>
                            <p:childTnLst>
                              <p:par>
                                <p:cTn id="56" presetID="42" presetClass="entr" presetSubtype="0" fill="hold" grpId="0" nodeType="afterEffect">
                                  <p:stCondLst>
                                    <p:cond delay="0"/>
                                  </p:stCondLst>
                                  <p:childTnLst>
                                    <p:set>
                                      <p:cBhvr>
                                        <p:cTn id="57" dur="1" fill="hold">
                                          <p:stCondLst>
                                            <p:cond delay="0"/>
                                          </p:stCondLst>
                                        </p:cTn>
                                        <p:tgtEl>
                                          <p:spTgt spid="18"/>
                                        </p:tgtEl>
                                        <p:attrNameLst>
                                          <p:attrName>style.visibility</p:attrName>
                                        </p:attrNameLst>
                                      </p:cBhvr>
                                      <p:to>
                                        <p:strVal val="visible"/>
                                      </p:to>
                                    </p:set>
                                    <p:animEffect transition="in" filter="fade">
                                      <p:cBhvr>
                                        <p:cTn id="58" dur="550"/>
                                        <p:tgtEl>
                                          <p:spTgt spid="18"/>
                                        </p:tgtEl>
                                      </p:cBhvr>
                                    </p:animEffect>
                                    <p:anim calcmode="lin" valueType="num">
                                      <p:cBhvr additive="base">
                                        <p:cTn id="59" dur="550" fill="hold"/>
                                        <p:tgtEl>
                                          <p:spTgt spid="18"/>
                                        </p:tgtEl>
                                        <p:attrNameLst>
                                          <p:attrName>ppt_x</p:attrName>
                                        </p:attrNameLst>
                                      </p:cBhvr>
                                      <p:tavLst>
                                        <p:tav tm="0">
                                          <p:val>
                                            <p:strVal val="#ppt_x"/>
                                          </p:val>
                                        </p:tav>
                                        <p:tav tm="100000">
                                          <p:val>
                                            <p:strVal val="#ppt_x"/>
                                          </p:val>
                                        </p:tav>
                                      </p:tavLst>
                                    </p:anim>
                                    <p:anim calcmode="lin" valueType="num">
                                      <p:cBhvr additive="base">
                                        <p:cTn id="60" dur="550" fill="hold"/>
                                        <p:tgtEl>
                                          <p:spTgt spid="18"/>
                                        </p:tgtEl>
                                        <p:attrNameLst>
                                          <p:attrName>ppt_y</p:attrName>
                                        </p:attrNameLst>
                                      </p:cBhvr>
                                      <p:tavLst>
                                        <p:tav tm="0">
                                          <p:val>
                                            <p:strVal val="#ppt_y+.08"/>
                                          </p:val>
                                        </p:tav>
                                        <p:tav tm="100000">
                                          <p:val>
                                            <p:strVal val="#ppt_y"/>
                                          </p:val>
                                        </p:tav>
                                      </p:tavLst>
                                    </p:anim>
                                  </p:childTnLst>
                                </p:cTn>
                              </p:par>
                            </p:childTnLst>
                          </p:cTn>
                        </p:par>
                        <p:par>
                          <p:cTn id="61" fill="hold">
                            <p:stCondLst>
                              <p:cond delay="660"/>
                            </p:stCondLst>
                            <p:childTnLst>
                              <p:par>
                                <p:cTn id="62" presetID="42" presetClass="entr" presetSubtype="0" fill="hold" grpId="0" nodeType="afterEffect">
                                  <p:stCondLst>
                                    <p:cond delay="0"/>
                                  </p:stCondLst>
                                  <p:childTnLst>
                                    <p:set>
                                      <p:cBhvr>
                                        <p:cTn id="63" dur="1" fill="hold">
                                          <p:stCondLst>
                                            <p:cond delay="0"/>
                                          </p:stCondLst>
                                        </p:cTn>
                                        <p:tgtEl>
                                          <p:spTgt spid="19"/>
                                        </p:tgtEl>
                                        <p:attrNameLst>
                                          <p:attrName>style.visibility</p:attrName>
                                        </p:attrNameLst>
                                      </p:cBhvr>
                                      <p:to>
                                        <p:strVal val="visible"/>
                                      </p:to>
                                    </p:set>
                                    <p:animEffect transition="in" filter="fade">
                                      <p:cBhvr>
                                        <p:cTn id="64" dur="550"/>
                                        <p:tgtEl>
                                          <p:spTgt spid="19"/>
                                        </p:tgtEl>
                                      </p:cBhvr>
                                    </p:animEffect>
                                    <p:anim calcmode="lin" valueType="num">
                                      <p:cBhvr additive="base">
                                        <p:cTn id="65" dur="550" fill="hold"/>
                                        <p:tgtEl>
                                          <p:spTgt spid="19"/>
                                        </p:tgtEl>
                                        <p:attrNameLst>
                                          <p:attrName>ppt_x</p:attrName>
                                        </p:attrNameLst>
                                      </p:cBhvr>
                                      <p:tavLst>
                                        <p:tav tm="0">
                                          <p:val>
                                            <p:strVal val="#ppt_x"/>
                                          </p:val>
                                        </p:tav>
                                        <p:tav tm="100000">
                                          <p:val>
                                            <p:strVal val="#ppt_x"/>
                                          </p:val>
                                        </p:tav>
                                      </p:tavLst>
                                    </p:anim>
                                    <p:anim calcmode="lin" valueType="num">
                                      <p:cBhvr additive="base">
                                        <p:cTn id="66" dur="550" fill="hold"/>
                                        <p:tgtEl>
                                          <p:spTgt spid="19"/>
                                        </p:tgtEl>
                                        <p:attrNameLst>
                                          <p:attrName>ppt_y</p:attrName>
                                        </p:attrNameLst>
                                      </p:cBhvr>
                                      <p:tavLst>
                                        <p:tav tm="0">
                                          <p:val>
                                            <p:strVal val="#ppt_y+.08"/>
                                          </p:val>
                                        </p:tav>
                                        <p:tav tm="100000">
                                          <p:val>
                                            <p:strVal val="#ppt_y"/>
                                          </p:val>
                                        </p:tav>
                                      </p:tavLst>
                                    </p:anim>
                                  </p:childTnLst>
                                </p:cTn>
                              </p:par>
                            </p:childTnLst>
                          </p:cTn>
                        </p:par>
                        <p:par>
                          <p:cTn id="67" fill="hold">
                            <p:stCondLst>
                              <p:cond delay="660"/>
                            </p:stCondLst>
                            <p:childTnLst>
                              <p:par>
                                <p:cTn id="68" presetID="53" presetClass="entr" presetSubtype="16" fill="hold" grpId="0" nodeType="afterEffect">
                                  <p:stCondLst>
                                    <p:cond delay="0"/>
                                  </p:stCondLst>
                                  <p:childTnLst>
                                    <p:set>
                                      <p:cBhvr>
                                        <p:cTn id="69" dur="1" fill="hold">
                                          <p:stCondLst>
                                            <p:cond delay="0"/>
                                          </p:stCondLst>
                                        </p:cTn>
                                        <p:tgtEl>
                                          <p:spTgt spid="20"/>
                                        </p:tgtEl>
                                        <p:attrNameLst>
                                          <p:attrName>style.visibility</p:attrName>
                                        </p:attrNameLst>
                                      </p:cBhvr>
                                      <p:to>
                                        <p:strVal val="visible"/>
                                      </p:to>
                                    </p:set>
                                    <p:animEffect transition="in" filter="fade">
                                      <p:cBhvr>
                                        <p:cTn id="70" dur="550"/>
                                        <p:tgtEl>
                                          <p:spTgt spid="20"/>
                                        </p:tgtEl>
                                      </p:cBhvr>
                                    </p:animEffect>
                                    <p:anim calcmode="lin" valueType="num">
                                      <p:cBhvr additive="base">
                                        <p:cTn id="71" dur="550" fill="hold"/>
                                        <p:tgtEl>
                                          <p:spTgt spid="20"/>
                                        </p:tgtEl>
                                        <p:attrNameLst>
                                          <p:attrName>ppt_w</p:attrName>
                                        </p:attrNameLst>
                                      </p:cBhvr>
                                      <p:tavLst>
                                        <p:tav tm="0">
                                          <p:val>
                                            <p:strVal val="0"/>
                                          </p:val>
                                        </p:tav>
                                        <p:tav tm="100000">
                                          <p:val>
                                            <p:strVal val="#ppt_w"/>
                                          </p:val>
                                        </p:tav>
                                      </p:tavLst>
                                    </p:anim>
                                    <p:anim calcmode="lin" valueType="num">
                                      <p:cBhvr additive="base">
                                        <p:cTn id="72" dur="550" fill="hold"/>
                                        <p:tgtEl>
                                          <p:spTgt spid="20"/>
                                        </p:tgtEl>
                                        <p:attrNameLst>
                                          <p:attrName>ppt_h</p:attrName>
                                        </p:attrNameLst>
                                      </p:cBhvr>
                                      <p:tavLst>
                                        <p:tav tm="0">
                                          <p:val>
                                            <p:strVal val="0"/>
                                          </p:val>
                                        </p:tav>
                                        <p:tav tm="100000">
                                          <p:val>
                                            <p:strVal val="#ppt_h"/>
                                          </p:val>
                                        </p:tav>
                                      </p:tavLst>
                                    </p:anim>
                                  </p:childTnLst>
                                </p:cTn>
                              </p:par>
                            </p:childTnLst>
                          </p:cTn>
                        </p:par>
                        <p:par>
                          <p:cTn id="73" fill="hold">
                            <p:stCondLst>
                              <p:cond delay="660"/>
                            </p:stCondLst>
                            <p:childTnLst>
                              <p:par>
                                <p:cTn id="74" presetID="42" presetClass="entr" presetSubtype="0" fill="hold" grpId="0" nodeType="afterEffect">
                                  <p:stCondLst>
                                    <p:cond delay="0"/>
                                  </p:stCondLst>
                                  <p:childTnLst>
                                    <p:set>
                                      <p:cBhvr>
                                        <p:cTn id="75" dur="1" fill="hold">
                                          <p:stCondLst>
                                            <p:cond delay="0"/>
                                          </p:stCondLst>
                                        </p:cTn>
                                        <p:tgtEl>
                                          <p:spTgt spid="21"/>
                                        </p:tgtEl>
                                        <p:attrNameLst>
                                          <p:attrName>style.visibility</p:attrName>
                                        </p:attrNameLst>
                                      </p:cBhvr>
                                      <p:to>
                                        <p:strVal val="visible"/>
                                      </p:to>
                                    </p:set>
                                    <p:animEffect transition="in" filter="fade">
                                      <p:cBhvr>
                                        <p:cTn id="76" dur="550"/>
                                        <p:tgtEl>
                                          <p:spTgt spid="21"/>
                                        </p:tgtEl>
                                      </p:cBhvr>
                                    </p:animEffect>
                                    <p:anim calcmode="lin" valueType="num">
                                      <p:cBhvr additive="base">
                                        <p:cTn id="77" dur="550" fill="hold"/>
                                        <p:tgtEl>
                                          <p:spTgt spid="21"/>
                                        </p:tgtEl>
                                        <p:attrNameLst>
                                          <p:attrName>ppt_x</p:attrName>
                                        </p:attrNameLst>
                                      </p:cBhvr>
                                      <p:tavLst>
                                        <p:tav tm="0">
                                          <p:val>
                                            <p:strVal val="#ppt_x"/>
                                          </p:val>
                                        </p:tav>
                                        <p:tav tm="100000">
                                          <p:val>
                                            <p:strVal val="#ppt_x"/>
                                          </p:val>
                                        </p:tav>
                                      </p:tavLst>
                                    </p:anim>
                                    <p:anim calcmode="lin" valueType="num">
                                      <p:cBhvr additive="base">
                                        <p:cTn id="78" dur="550" fill="hold"/>
                                        <p:tgtEl>
                                          <p:spTgt spid="21"/>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Lst>
  </p:timing>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110000"/>
            <a:ext cx="10300000" cy="300000"/>
          </a:xfrm>
          <a:prstGeom prst="rect">
            <a:avLst/>
          </a:prstGeom>
          <a:noFill/>
        </p:spPr>
        <p:txBody>
          <a:bodyPr wrap="square" anchor="t" lIns="50800" rIns="50800">
            <a:spAutoFit/>
          </a:bodyPr>
          <a:lstStyle/>
          <a:p>
            <a:pPr algn="l"/>
            <a:r>
              <a:rPr sz="1200" b="1">
                <a:solidFill>
                  <a:srgbClr val="A9C4E6"/>
                </a:solidFill>
                <a:latin typeface="Calibri"/>
              </a:rPr>
              <a:t>AMALIY MISOL</a:t>
            </a:r>
          </a:p>
        </p:txBody>
      </p:sp>
      <p:sp>
        <p:nvSpPr>
          <p:cNvPr id="6" name="TextBox 5"/>
          <p:cNvSpPr txBox="1"/>
          <p:nvPr/>
        </p:nvSpPr>
        <p:spPr>
          <a:xfrm>
            <a:off x="500000" y="330000"/>
            <a:ext cx="10400000" cy="650000"/>
          </a:xfrm>
          <a:prstGeom prst="rect">
            <a:avLst/>
          </a:prstGeom>
          <a:noFill/>
        </p:spPr>
        <p:txBody>
          <a:bodyPr wrap="square" anchor="ctr" lIns="50800" rIns="50800">
            <a:spAutoFit/>
          </a:bodyPr>
          <a:lstStyle/>
          <a:p>
            <a:pPr algn="l"/>
            <a:r>
              <a:rPr sz="2600" b="1">
                <a:solidFill>
                  <a:srgbClr val="FFFFFF"/>
                </a:solidFill>
                <a:latin typeface="Calibri"/>
              </a:rPr>
              <a:t>4-qadam. Strukturaviy sxemani matnda tavsiflash</a:t>
            </a:r>
          </a:p>
        </p:txBody>
      </p:sp>
      <p:sp>
        <p:nvSpPr>
          <p:cNvPr id="7" name="Rectangle 6"/>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A1 · Sun'iy intellektga asoslangan kompyuter tizimlari arxitekturasini tahlil qilish va loyihalash</a:t>
            </a:r>
          </a:p>
        </p:txBody>
      </p:sp>
      <p:sp>
        <p:nvSpPr>
          <p:cNvPr id="9" name="TextBox 8"/>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28</a:t>
            </a:r>
          </a:p>
        </p:txBody>
      </p:sp>
      <p:graphicFrame>
        <p:nvGraphicFramePr>
          <p:cNvPr id="10" name="Table 9"/>
          <p:cNvGraphicFramePr>
            <a:graphicFrameLocks noGrp="1"/>
          </p:cNvGraphicFramePr>
          <p:nvPr/>
        </p:nvGraphicFramePr>
        <p:xfrm>
          <a:off x="500000" y="1350000"/>
          <a:ext cx="11200000" cy="3640000"/>
        </p:xfrm>
        <a:graphic>
          <a:graphicData uri="http://schemas.openxmlformats.org/drawingml/2006/table">
            <a:tbl>
              <a:tblPr firstRow="1" bandRow="1">
                <a:tableStyleId>{5C22544A-7EE6-4342-B048-85BDC9FD1C3A}</a:tableStyleId>
              </a:tblPr>
              <a:tblGrid>
                <a:gridCol w="2800000"/>
                <a:gridCol w="2800000"/>
                <a:gridCol w="2800000"/>
                <a:gridCol w="2800000"/>
              </a:tblGrid>
              <a:tr h="520000">
                <a:tc>
                  <a:txBody>
                    <a:bodyPr/>
                    <a:lstStyle/>
                    <a:p>
                      <a:r>
                        <a:rPr sz="1400" b="1">
                          <a:solidFill>
                            <a:srgbClr val="FFFFFF"/>
                          </a:solidFill>
                          <a:latin typeface="Calibri"/>
                        </a:rPr>
                        <a:t>Interfeys</a:t>
                      </a:r>
                    </a:p>
                  </a:txBody>
                  <a:tcPr>
                    <a:solidFill>
                      <a:srgbClr val="2D5C8F"/>
                    </a:solidFill>
                  </a:tcPr>
                </a:tc>
                <a:tc>
                  <a:txBody>
                    <a:bodyPr/>
                    <a:lstStyle/>
                    <a:p>
                      <a:r>
                        <a:rPr sz="1400" b="1">
                          <a:solidFill>
                            <a:srgbClr val="FFFFFF"/>
                          </a:solidFill>
                          <a:latin typeface="Calibri"/>
                        </a:rPr>
                        <a:t>Protokol/vosita</a:t>
                      </a:r>
                    </a:p>
                  </a:txBody>
                  <a:tcPr>
                    <a:solidFill>
                      <a:srgbClr val="2D5C8F"/>
                    </a:solidFill>
                  </a:tcPr>
                </a:tc>
                <a:tc>
                  <a:txBody>
                    <a:bodyPr/>
                    <a:lstStyle/>
                    <a:p>
                      <a:r>
                        <a:rPr sz="1400" b="1">
                          <a:solidFill>
                            <a:srgbClr val="FFFFFF"/>
                          </a:solidFill>
                          <a:latin typeface="Calibri"/>
                        </a:rPr>
                        <a:t>O'tkazuvchanlik</a:t>
                      </a:r>
                    </a:p>
                  </a:txBody>
                  <a:tcPr>
                    <a:solidFill>
                      <a:srgbClr val="2D5C8F"/>
                    </a:solidFill>
                  </a:tcPr>
                </a:tc>
                <a:tc>
                  <a:txBody>
                    <a:bodyPr/>
                    <a:lstStyle/>
                    <a:p>
                      <a:r>
                        <a:rPr sz="1400" b="1">
                          <a:solidFill>
                            <a:srgbClr val="FFFFFF"/>
                          </a:solidFill>
                          <a:latin typeface="Calibri"/>
                        </a:rPr>
                        <a:t>Kechikish byudjeti</a:t>
                      </a:r>
                    </a:p>
                  </a:txBody>
                  <a:tcPr>
                    <a:solidFill>
                      <a:srgbClr val="2D5C8F"/>
                    </a:solidFill>
                  </a:tcPr>
                </a:tc>
              </a:tr>
              <a:tr h="520000">
                <a:tc>
                  <a:txBody>
                    <a:bodyPr/>
                    <a:lstStyle/>
                    <a:p>
                      <a:r>
                        <a:rPr sz="1400" b="0">
                          <a:solidFill>
                            <a:srgbClr val="1B2430"/>
                          </a:solidFill>
                          <a:latin typeface="Calibri"/>
                        </a:rPr>
                        <a:t>Kamera → Jetson</a:t>
                      </a:r>
                    </a:p>
                  </a:txBody>
                  <a:tcPr>
                    <a:solidFill>
                      <a:srgbClr val="F1F4F8"/>
                    </a:solidFill>
                  </a:tcPr>
                </a:tc>
                <a:tc>
                  <a:txBody>
                    <a:bodyPr/>
                    <a:lstStyle/>
                    <a:p>
                      <a:r>
                        <a:rPr sz="1400" b="0">
                          <a:solidFill>
                            <a:srgbClr val="1B2430"/>
                          </a:solidFill>
                          <a:latin typeface="Calibri"/>
                        </a:rPr>
                        <a:t>RTSP/H.264</a:t>
                      </a:r>
                    </a:p>
                  </a:txBody>
                  <a:tcPr>
                    <a:solidFill>
                      <a:srgbClr val="F1F4F8"/>
                    </a:solidFill>
                  </a:tcPr>
                </a:tc>
                <a:tc>
                  <a:txBody>
                    <a:bodyPr/>
                    <a:lstStyle/>
                    <a:p>
                      <a:r>
                        <a:rPr sz="1400" b="0">
                          <a:solidFill>
                            <a:srgbClr val="1B2430"/>
                          </a:solidFill>
                          <a:latin typeface="Calibri"/>
                        </a:rPr>
                        <a:t>16 × ~4 Mbit/s = 64 Mbit/s</a:t>
                      </a:r>
                    </a:p>
                  </a:txBody>
                  <a:tcPr>
                    <a:solidFill>
                      <a:srgbClr val="F1F4F8"/>
                    </a:solidFill>
                  </a:tcPr>
                </a:tc>
                <a:tc>
                  <a:txBody>
                    <a:bodyPr/>
                    <a:lstStyle/>
                    <a:p>
                      <a:r>
                        <a:rPr sz="1400" b="0">
                          <a:solidFill>
                            <a:srgbClr val="1B2430"/>
                          </a:solidFill>
                          <a:latin typeface="Calibri"/>
                        </a:rPr>
                        <a:t>30 ms</a:t>
                      </a:r>
                    </a:p>
                  </a:txBody>
                  <a:tcPr>
                    <a:solidFill>
                      <a:srgbClr val="F1F4F8"/>
                    </a:solidFill>
                  </a:tcPr>
                </a:tc>
              </a:tr>
              <a:tr h="520000">
                <a:tc>
                  <a:txBody>
                    <a:bodyPr/>
                    <a:lstStyle/>
                    <a:p>
                      <a:r>
                        <a:rPr sz="1400" b="0">
                          <a:solidFill>
                            <a:srgbClr val="1B2430"/>
                          </a:solidFill>
                          <a:latin typeface="Calibri"/>
                        </a:rPr>
                        <a:t>Dekoder → oldindan ishlov</a:t>
                      </a:r>
                    </a:p>
                  </a:txBody>
                  <a:tcPr>
                    <a:solidFill>
                      <a:srgbClr val="FFFFFF"/>
                    </a:solidFill>
                  </a:tcPr>
                </a:tc>
                <a:tc>
                  <a:txBody>
                    <a:bodyPr/>
                    <a:lstStyle/>
                    <a:p>
                      <a:r>
                        <a:rPr sz="1400" b="0">
                          <a:solidFill>
                            <a:srgbClr val="1B2430"/>
                          </a:solidFill>
                          <a:latin typeface="Calibri"/>
                        </a:rPr>
                        <a:t>NVMM (GPU xotira)</a:t>
                      </a:r>
                    </a:p>
                  </a:txBody>
                  <a:tcPr>
                    <a:solidFill>
                      <a:srgbClr val="FFFFFF"/>
                    </a:solidFill>
                  </a:tcPr>
                </a:tc>
                <a:tc>
                  <a:txBody>
                    <a:bodyPr/>
                    <a:lstStyle/>
                    <a:p>
                      <a:r>
                        <a:rPr sz="1400" b="0">
                          <a:solidFill>
                            <a:srgbClr val="1B2430"/>
                          </a:solidFill>
                          <a:latin typeface="Calibri"/>
                        </a:rPr>
                        <a:t>16 × 10 kadr × 6 MB</a:t>
                      </a:r>
                    </a:p>
                  </a:txBody>
                  <a:tcPr>
                    <a:solidFill>
                      <a:srgbClr val="FFFFFF"/>
                    </a:solidFill>
                  </a:tcPr>
                </a:tc>
                <a:tc>
                  <a:txBody>
                    <a:bodyPr/>
                    <a:lstStyle/>
                    <a:p>
                      <a:r>
                        <a:rPr sz="1400" b="0">
                          <a:solidFill>
                            <a:srgbClr val="1B2430"/>
                          </a:solidFill>
                          <a:latin typeface="Calibri"/>
                        </a:rPr>
                        <a:t>5 ms</a:t>
                      </a:r>
                    </a:p>
                  </a:txBody>
                  <a:tcPr>
                    <a:solidFill>
                      <a:srgbClr val="FFFFFF"/>
                    </a:solidFill>
                  </a:tcPr>
                </a:tc>
              </a:tr>
              <a:tr h="520000">
                <a:tc>
                  <a:txBody>
                    <a:bodyPr/>
                    <a:lstStyle/>
                    <a:p>
                      <a:r>
                        <a:rPr sz="1400" b="0">
                          <a:solidFill>
                            <a:srgbClr val="1B2430"/>
                          </a:solidFill>
                          <a:latin typeface="Calibri"/>
                        </a:rPr>
                        <a:t>Oldindan ishlov → TensorRT</a:t>
                      </a:r>
                    </a:p>
                  </a:txBody>
                  <a:tcPr>
                    <a:solidFill>
                      <a:srgbClr val="F1F4F8"/>
                    </a:solidFill>
                  </a:tcPr>
                </a:tc>
                <a:tc>
                  <a:txBody>
                    <a:bodyPr/>
                    <a:lstStyle/>
                    <a:p>
                      <a:r>
                        <a:rPr sz="1400" b="0">
                          <a:solidFill>
                            <a:srgbClr val="1B2430"/>
                          </a:solidFill>
                          <a:latin typeface="Calibri"/>
                        </a:rPr>
                        <a:t>CUDA tensor</a:t>
                      </a:r>
                    </a:p>
                  </a:txBody>
                  <a:tcPr>
                    <a:solidFill>
                      <a:srgbClr val="F1F4F8"/>
                    </a:solidFill>
                  </a:tcPr>
                </a:tc>
                <a:tc>
                  <a:txBody>
                    <a:bodyPr/>
                    <a:lstStyle/>
                    <a:p>
                      <a:r>
                        <a:rPr sz="1400" b="0">
                          <a:solidFill>
                            <a:srgbClr val="1B2430"/>
                          </a:solidFill>
                          <a:latin typeface="Calibri"/>
                        </a:rPr>
                        <a:t>160 × 2,4 MB/s</a:t>
                      </a:r>
                    </a:p>
                  </a:txBody>
                  <a:tcPr>
                    <a:solidFill>
                      <a:srgbClr val="F1F4F8"/>
                    </a:solidFill>
                  </a:tcPr>
                </a:tc>
                <a:tc>
                  <a:txBody>
                    <a:bodyPr/>
                    <a:lstStyle/>
                    <a:p>
                      <a:r>
                        <a:rPr sz="1400" b="0">
                          <a:solidFill>
                            <a:srgbClr val="1B2430"/>
                          </a:solidFill>
                          <a:latin typeface="Calibri"/>
                        </a:rPr>
                        <a:t>5 ms</a:t>
                      </a:r>
                    </a:p>
                  </a:txBody>
                  <a:tcPr>
                    <a:solidFill>
                      <a:srgbClr val="F1F4F8"/>
                    </a:solidFill>
                  </a:tcPr>
                </a:tc>
              </a:tr>
              <a:tr h="520000">
                <a:tc>
                  <a:txBody>
                    <a:bodyPr/>
                    <a:lstStyle/>
                    <a:p>
                      <a:r>
                        <a:rPr sz="1400" b="0">
                          <a:solidFill>
                            <a:srgbClr val="1B2430"/>
                          </a:solidFill>
                          <a:latin typeface="Calibri"/>
                        </a:rPr>
                        <a:t>TensorRT inferens</a:t>
                      </a:r>
                    </a:p>
                  </a:txBody>
                  <a:tcPr>
                    <a:solidFill>
                      <a:srgbClr val="FFFFFF"/>
                    </a:solidFill>
                  </a:tcPr>
                </a:tc>
                <a:tc>
                  <a:txBody>
                    <a:bodyPr/>
                    <a:lstStyle/>
                    <a:p>
                      <a:r>
                        <a:rPr sz="1400" b="0">
                          <a:solidFill>
                            <a:srgbClr val="1B2430"/>
                          </a:solidFill>
                          <a:latin typeface="Calibri"/>
                        </a:rPr>
                        <a:t>batch 4, INT8</a:t>
                      </a:r>
                    </a:p>
                  </a:txBody>
                  <a:tcPr>
                    <a:solidFill>
                      <a:srgbClr val="FFFFFF"/>
                    </a:solidFill>
                  </a:tcPr>
                </a:tc>
                <a:tc>
                  <a:txBody>
                    <a:bodyPr/>
                    <a:lstStyle/>
                    <a:p>
                      <a:r>
                        <a:rPr sz="1400" b="0">
                          <a:solidFill>
                            <a:srgbClr val="1B2430"/>
                          </a:solidFill>
                          <a:latin typeface="Calibri"/>
                        </a:rPr>
                        <a:t>160 inferens/s</a:t>
                      </a:r>
                    </a:p>
                  </a:txBody>
                  <a:tcPr>
                    <a:solidFill>
                      <a:srgbClr val="FFFFFF"/>
                    </a:solidFill>
                  </a:tcPr>
                </a:tc>
                <a:tc>
                  <a:txBody>
                    <a:bodyPr/>
                    <a:lstStyle/>
                    <a:p>
                      <a:r>
                        <a:rPr sz="1400" b="0">
                          <a:solidFill>
                            <a:srgbClr val="1B2430"/>
                          </a:solidFill>
                          <a:latin typeface="Calibri"/>
                        </a:rPr>
                        <a:t>60 ms (p95)</a:t>
                      </a:r>
                    </a:p>
                  </a:txBody>
                  <a:tcPr>
                    <a:solidFill>
                      <a:srgbClr val="FFFFFF"/>
                    </a:solidFill>
                  </a:tcPr>
                </a:tc>
              </a:tr>
              <a:tr h="520000">
                <a:tc>
                  <a:txBody>
                    <a:bodyPr/>
                    <a:lstStyle/>
                    <a:p>
                      <a:r>
                        <a:rPr sz="1400" b="0">
                          <a:solidFill>
                            <a:srgbClr val="1B2430"/>
                          </a:solidFill>
                          <a:latin typeface="Calibri"/>
                        </a:rPr>
                        <a:t>Keyingi ishlov</a:t>
                      </a:r>
                    </a:p>
                  </a:txBody>
                  <a:tcPr>
                    <a:solidFill>
                      <a:srgbClr val="F1F4F8"/>
                    </a:solidFill>
                  </a:tcPr>
                </a:tc>
                <a:tc>
                  <a:txBody>
                    <a:bodyPr/>
                    <a:lstStyle/>
                    <a:p>
                      <a:r>
                        <a:rPr sz="1400" b="0">
                          <a:solidFill>
                            <a:srgbClr val="1B2430"/>
                          </a:solidFill>
                          <a:latin typeface="Calibri"/>
                        </a:rPr>
                        <a:t>CPU</a:t>
                      </a:r>
                    </a:p>
                  </a:txBody>
                  <a:tcPr>
                    <a:solidFill>
                      <a:srgbClr val="F1F4F8"/>
                    </a:solidFill>
                  </a:tcPr>
                </a:tc>
                <a:tc>
                  <a:txBody>
                    <a:bodyPr/>
                    <a:lstStyle/>
                    <a:p>
                      <a:r>
                        <a:rPr sz="1400" b="0">
                          <a:solidFill>
                            <a:srgbClr val="1B2430"/>
                          </a:solidFill>
                          <a:latin typeface="Calibri"/>
                        </a:rPr>
                        <a:t>—</a:t>
                      </a:r>
                    </a:p>
                  </a:txBody>
                  <a:tcPr>
                    <a:solidFill>
                      <a:srgbClr val="F1F4F8"/>
                    </a:solidFill>
                  </a:tcPr>
                </a:tc>
                <a:tc>
                  <a:txBody>
                    <a:bodyPr/>
                    <a:lstStyle/>
                    <a:p>
                      <a:r>
                        <a:rPr sz="1400" b="0">
                          <a:solidFill>
                            <a:srgbClr val="1B2430"/>
                          </a:solidFill>
                          <a:latin typeface="Calibri"/>
                        </a:rPr>
                        <a:t>20 ms</a:t>
                      </a:r>
                    </a:p>
                  </a:txBody>
                  <a:tcPr>
                    <a:solidFill>
                      <a:srgbClr val="F1F4F8"/>
                    </a:solidFill>
                  </a:tcPr>
                </a:tc>
              </a:tr>
              <a:tr h="520000">
                <a:tc>
                  <a:txBody>
                    <a:bodyPr/>
                    <a:lstStyle/>
                    <a:p>
                      <a:r>
                        <a:rPr sz="1400" b="0">
                          <a:solidFill>
                            <a:srgbClr val="1B2430"/>
                          </a:solidFill>
                          <a:latin typeface="Calibri"/>
                        </a:rPr>
                        <a:t>Jetson → server</a:t>
                      </a:r>
                    </a:p>
                  </a:txBody>
                  <a:tcPr>
                    <a:solidFill>
                      <a:srgbClr val="FFFFFF"/>
                    </a:solidFill>
                  </a:tcPr>
                </a:tc>
                <a:tc>
                  <a:txBody>
                    <a:bodyPr/>
                    <a:lstStyle/>
                    <a:p>
                      <a:r>
                        <a:rPr sz="1400" b="0">
                          <a:solidFill>
                            <a:srgbClr val="1B2430"/>
                          </a:solidFill>
                          <a:latin typeface="Calibri"/>
                        </a:rPr>
                        <a:t>MQTT/TLS</a:t>
                      </a:r>
                    </a:p>
                  </a:txBody>
                  <a:tcPr>
                    <a:solidFill>
                      <a:srgbClr val="FFFFFF"/>
                    </a:solidFill>
                  </a:tcPr>
                </a:tc>
                <a:tc>
                  <a:txBody>
                    <a:bodyPr/>
                    <a:lstStyle/>
                    <a:p>
                      <a:r>
                        <a:rPr sz="1400" b="0">
                          <a:solidFill>
                            <a:srgbClr val="1B2430"/>
                          </a:solidFill>
                          <a:latin typeface="Calibri"/>
                        </a:rPr>
                        <a:t>hodisa boshiga ~2 KB</a:t>
                      </a:r>
                    </a:p>
                  </a:txBody>
                  <a:tcPr>
                    <a:solidFill>
                      <a:srgbClr val="FFFFFF"/>
                    </a:solidFill>
                  </a:tcPr>
                </a:tc>
                <a:tc>
                  <a:txBody>
                    <a:bodyPr/>
                    <a:lstStyle/>
                    <a:p>
                      <a:r>
                        <a:rPr sz="1400" b="0">
                          <a:solidFill>
                            <a:srgbClr val="1B2430"/>
                          </a:solidFill>
                          <a:latin typeface="Calibri"/>
                        </a:rPr>
                        <a:t>50 ms (tanqidiy emas)</a:t>
                      </a:r>
                    </a:p>
                  </a:txBody>
                  <a:tcPr>
                    <a:solidFill>
                      <a:srgbClr val="FFFFFF"/>
                    </a:solidFill>
                  </a:tcPr>
                </a:tc>
              </a:tr>
            </a:tbl>
          </a:graphicData>
        </a:graphic>
      </p:graphicFrame>
    </p:spTree>
  </p:cSld>
  <p:clrMapOvr>
    <a:masterClrMapping/>
  </p:clrMapOvr>
  <p:transition spd="med">
    <p:fade/>
  </p:transition>
  <p:timing>
    <p:tnLst>
      <p:par>
        <p:cTn id="1" dur="indefinite" restart="never" nodeType="tmRoot">
          <p:childTnLst>
            <p:seq concurrent="1" nextAc="seek">
              <p:cTn id="2" dur="indefinite" nodeType="mainSeq">
                <p:childTnLst>
                  <p:par>
                    <p:cTn id="12"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6"/>
                                        </p:tgtEl>
                                        <p:attrNameLst>
                                          <p:attrName>style.visibility</p:attrName>
                                        </p:attrNameLst>
                                      </p:cBhvr>
                                      <p:to>
                                        <p:strVal val="visible"/>
                                      </p:to>
                                    </p:set>
                                    <p:animEffect transition="in" filter="fade">
                                      <p:cBhvr>
                                        <p:cTn id="6" dur="550"/>
                                        <p:tgtEl>
                                          <p:spTgt spid="6"/>
                                        </p:tgtEl>
                                      </p:cBhvr>
                                    </p:animEffect>
                                  </p:childTnLst>
                                </p:cTn>
                              </p:par>
                            </p:childTnLst>
                          </p:cTn>
                        </p:par>
                        <p:par>
                          <p:cTn id="7" fill="hold">
                            <p:stCondLst>
                              <p:cond delay="200"/>
                            </p:stCondLst>
                            <p:childTnLst>
                              <p:par>
                                <p:cTn id="8" presetID="22" presetClass="entr" presetSubtype="8" fill="hold" grpId="0" nodeType="after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wipe(left)">
                                      <p:cBhvr>
                                        <p:cTn id="11" dur="80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Lst>
  </p:timing>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110000"/>
            <a:ext cx="10300000" cy="300000"/>
          </a:xfrm>
          <a:prstGeom prst="rect">
            <a:avLst/>
          </a:prstGeom>
          <a:noFill/>
        </p:spPr>
        <p:txBody>
          <a:bodyPr wrap="square" anchor="t" lIns="50800" rIns="50800">
            <a:spAutoFit/>
          </a:bodyPr>
          <a:lstStyle/>
          <a:p>
            <a:pPr algn="l"/>
            <a:r>
              <a:rPr sz="1200" b="1">
                <a:solidFill>
                  <a:srgbClr val="A9C4E6"/>
                </a:solidFill>
                <a:latin typeface="Calibri"/>
              </a:rPr>
              <a:t>AMALIY MISOL</a:t>
            </a:r>
          </a:p>
        </p:txBody>
      </p:sp>
      <p:sp>
        <p:nvSpPr>
          <p:cNvPr id="6" name="TextBox 5"/>
          <p:cNvSpPr txBox="1"/>
          <p:nvPr/>
        </p:nvSpPr>
        <p:spPr>
          <a:xfrm>
            <a:off x="500000" y="330000"/>
            <a:ext cx="10400000" cy="650000"/>
          </a:xfrm>
          <a:prstGeom prst="rect">
            <a:avLst/>
          </a:prstGeom>
          <a:noFill/>
        </p:spPr>
        <p:txBody>
          <a:bodyPr wrap="square" anchor="ctr" lIns="50800" rIns="50800">
            <a:spAutoFit/>
          </a:bodyPr>
          <a:lstStyle/>
          <a:p>
            <a:pPr algn="l"/>
            <a:r>
              <a:rPr sz="2600" b="1">
                <a:solidFill>
                  <a:srgbClr val="FFFFFF"/>
                </a:solidFill>
                <a:latin typeface="Calibri"/>
              </a:rPr>
              <a:t>4-qadam. Strukturaviy sxemani matnda tavsiflash — kod</a:t>
            </a:r>
          </a:p>
        </p:txBody>
      </p:sp>
      <p:sp>
        <p:nvSpPr>
          <p:cNvPr id="7" name="Rectangle 6"/>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A1 · Sun'iy intellektga asoslangan kompyuter tizimlari arxitekturasini tahlil qilish va loyihalash</a:t>
            </a:r>
          </a:p>
        </p:txBody>
      </p:sp>
      <p:sp>
        <p:nvSpPr>
          <p:cNvPr id="9" name="TextBox 8"/>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29</a:t>
            </a:r>
          </a:p>
        </p:txBody>
      </p:sp>
      <p:sp>
        <p:nvSpPr>
          <p:cNvPr id="10" name="Rounded Rectangle 9"/>
          <p:cNvSpPr/>
          <p:nvPr/>
        </p:nvSpPr>
        <p:spPr>
          <a:xfrm>
            <a:off x="500000" y="1280000"/>
            <a:ext cx="11200000" cy="5000000"/>
          </a:xfrm>
          <a:prstGeom prst="roundRect">
            <a:avLst>
              <a:gd name="adj" fmla="val 3000"/>
            </a:avLst>
          </a:prstGeom>
          <a:solidFill>
            <a:srgbClr val="0F17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700000" y="1400000"/>
            <a:ext cx="150000" cy="150000"/>
          </a:xfrm>
          <a:prstGeom prst="ellipse">
            <a:avLst/>
          </a:prstGeom>
          <a:solidFill>
            <a:srgbClr val="FF5F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930000" y="1400000"/>
            <a:ext cx="150000" cy="150000"/>
          </a:xfrm>
          <a:prstGeom prst="ellipse">
            <a:avLst/>
          </a:prstGeom>
          <a:solidFill>
            <a:srgbClr val="FFBD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1160000" y="1400000"/>
            <a:ext cx="150000" cy="150000"/>
          </a:xfrm>
          <a:prstGeom prst="ellipse">
            <a:avLst/>
          </a:prstGeom>
          <a:solidFill>
            <a:srgbClr val="27C9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0000" y="1650000"/>
            <a:ext cx="10800000" cy="4550000"/>
          </a:xfrm>
          <a:prstGeom prst="rect">
            <a:avLst/>
          </a:prstGeom>
          <a:noFill/>
        </p:spPr>
        <p:txBody>
          <a:bodyPr wrap="square">
            <a:spAutoFit/>
          </a:bodyPr>
          <a:lstStyle/>
          <a:p>
            <a:r>
              <a:rPr sz="1000">
                <a:solidFill>
                  <a:srgbClr val="E2E8F0"/>
                </a:solidFill>
                <a:latin typeface="Consolas"/>
              </a:rPr>
              <a:t>[16 × IP-kamera, RTSP/H.264 1080p10] --(Ethernet 1 Gbit/s, PoE kommutator)--&gt;</a:t>
            </a:r>
          </a:p>
          <a:p>
            <a:r>
              <a:rPr sz="1000">
                <a:solidFill>
                  <a:srgbClr val="E2E8F0"/>
                </a:solidFill>
                <a:latin typeface="Consolas"/>
              </a:rPr>
              <a:t>[Jetson Orin NX: NVDEC dekoder 16 oqim] --(NVMM xotira, nol nusxalash)--&gt;</a:t>
            </a:r>
          </a:p>
          <a:p>
            <a:r>
              <a:rPr sz="1000">
                <a:solidFill>
                  <a:srgbClr val="E2E8F0"/>
                </a:solidFill>
                <a:latin typeface="Consolas"/>
              </a:rPr>
              <a:t>[Oldindan ishlov: resize 640x640, FP16 normalizatsiya, VPI/CUDA] --&gt;</a:t>
            </a:r>
          </a:p>
          <a:p>
            <a:r>
              <a:rPr sz="1000">
                <a:solidFill>
                  <a:srgbClr val="E2E8F0"/>
                </a:solidFill>
                <a:latin typeface="Consolas"/>
              </a:rPr>
              <a:t>[TensorRT engine: YOLOv8s INT8, batch 4, 2 ta CUDA stream] --&gt;</a:t>
            </a:r>
          </a:p>
          <a:p>
            <a:r>
              <a:rPr sz="1000">
                <a:solidFill>
                  <a:srgbClr val="E2E8F0"/>
                </a:solidFill>
                <a:latin typeface="Consolas"/>
              </a:rPr>
              <a:t>[Keyingi ishlov: NMS (GPU), ByteTrack kuzatuv (CPU, 2 yadro)] --&gt;</a:t>
            </a:r>
          </a:p>
          <a:p>
            <a:r>
              <a:rPr sz="1000">
                <a:solidFill>
                  <a:srgbClr val="E2E8F0"/>
                </a:solidFill>
                <a:latin typeface="Consolas"/>
              </a:rPr>
              <a:t>[Biznes-mantiq: SHV qoidalari, hodisa generatori] --(MQTT/TLS)--&gt; [Markaziy server]</a:t>
            </a:r>
          </a:p>
          <a:p>
            <a:r>
              <a:rPr sz="1000">
                <a:solidFill>
                  <a:srgbClr val="E2E8F0"/>
                </a:solidFill>
                <a:latin typeface="Consolas"/>
              </a:rPr>
              <a:t>                                              \--(SQLite + klip)--&gt; [Mahalliy saqlash 256 GB NVMe]</a:t>
            </a:r>
          </a:p>
          <a:p>
            <a:r>
              <a:rPr sz="1000">
                <a:solidFill>
                  <a:srgbClr val="E2E8F0"/>
                </a:solidFill>
                <a:latin typeface="Consolas"/>
              </a:rPr>
              <a:t>[Monitoring: Prometheus eksporter (FPS, p95 latency, harorat, quvvat)]</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0"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6"/>
                                        </p:tgtEl>
                                        <p:attrNameLst>
                                          <p:attrName>style.visibility</p:attrName>
                                        </p:attrNameLst>
                                      </p:cBhvr>
                                      <p:to>
                                        <p:strVal val="visible"/>
                                      </p:to>
                                    </p:set>
                                    <p:animEffect transition="in" filter="fade">
                                      <p:cBhvr>
                                        <p:cTn id="6" dur="550"/>
                                        <p:tgtEl>
                                          <p:spTgt spid="6"/>
                                        </p:tgtEl>
                                      </p:cBhvr>
                                    </p:animEffect>
                                  </p:childTnLst>
                                </p:cTn>
                              </p:par>
                            </p:childTnLst>
                          </p:cTn>
                        </p:par>
                        <p:par>
                          <p:cTn id="7" fill="hold">
                            <p:stCondLst>
                              <p:cond delay="200"/>
                            </p:stCondLst>
                            <p:childTnLst>
                              <p:par>
                                <p:cTn id="8" presetID="53" presetClass="entr" presetSubtype="16" fill="hold" grpId="0" nodeType="after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fade">
                                      <p:cBhvr>
                                        <p:cTn id="10" dur="550"/>
                                        <p:tgtEl>
                                          <p:spTgt spid="10"/>
                                        </p:tgtEl>
                                      </p:cBhvr>
                                    </p:animEffect>
                                    <p:anim calcmode="lin" valueType="num">
                                      <p:cBhvr additive="base">
                                        <p:cTn id="11" dur="550" fill="hold"/>
                                        <p:tgtEl>
                                          <p:spTgt spid="10"/>
                                        </p:tgtEl>
                                        <p:attrNameLst>
                                          <p:attrName>ppt_w</p:attrName>
                                        </p:attrNameLst>
                                      </p:cBhvr>
                                      <p:tavLst>
                                        <p:tav tm="0">
                                          <p:val>
                                            <p:strVal val="0"/>
                                          </p:val>
                                        </p:tav>
                                        <p:tav tm="100000">
                                          <p:val>
                                            <p:strVal val="#ppt_w"/>
                                          </p:val>
                                        </p:tav>
                                      </p:tavLst>
                                    </p:anim>
                                    <p:anim calcmode="lin" valueType="num">
                                      <p:cBhvr additive="base">
                                        <p:cTn id="12" dur="550" fill="hold"/>
                                        <p:tgtEl>
                                          <p:spTgt spid="10"/>
                                        </p:tgtEl>
                                        <p:attrNameLst>
                                          <p:attrName>ppt_h</p:attrName>
                                        </p:attrNameLst>
                                      </p:cBhvr>
                                      <p:tavLst>
                                        <p:tav tm="0">
                                          <p:val>
                                            <p:strVal val="0"/>
                                          </p:val>
                                        </p:tav>
                                        <p:tav tm="100000">
                                          <p:val>
                                            <p:strVal val="#ppt_h"/>
                                          </p:val>
                                        </p:tav>
                                      </p:tavLst>
                                    </p:anim>
                                  </p:childTnLst>
                                </p:cTn>
                              </p:par>
                            </p:childTnLst>
                          </p:cTn>
                        </p:par>
                        <p:par>
                          <p:cTn id="13" fill="hold">
                            <p:stCondLst>
                              <p:cond delay="200"/>
                            </p:stCondLst>
                            <p:childTnLst>
                              <p:par>
                                <p:cTn id="14" presetID="10" presetClass="entr" presetSubtype="0" fill="hold" grpId="0" nodeType="afterEffect">
                                  <p:stCondLst>
                                    <p:cond delay="0"/>
                                  </p:stCondLst>
                                  <p:childTnLst>
                                    <p:set>
                                      <p:cBhvr>
                                        <p:cTn id="15" dur="1" fill="hold">
                                          <p:stCondLst>
                                            <p:cond delay="0"/>
                                          </p:stCondLst>
                                        </p:cTn>
                                        <p:tgtEl>
                                          <p:spTgt spid="11"/>
                                        </p:tgtEl>
                                        <p:attrNameLst>
                                          <p:attrName>style.visibility</p:attrName>
                                        </p:attrNameLst>
                                      </p:cBhvr>
                                      <p:to>
                                        <p:strVal val="visible"/>
                                      </p:to>
                                    </p:set>
                                    <p:animEffect transition="in" filter="fade">
                                      <p:cBhvr>
                                        <p:cTn id="16" dur="550"/>
                                        <p:tgtEl>
                                          <p:spTgt spid="11"/>
                                        </p:tgtEl>
                                      </p:cBhvr>
                                    </p:animEffect>
                                  </p:childTnLst>
                                </p:cTn>
                              </p:par>
                            </p:childTnLst>
                          </p:cTn>
                        </p:par>
                        <p:par>
                          <p:cTn id="17" fill="hold">
                            <p:stCondLst>
                              <p:cond delay="200"/>
                            </p:stCondLst>
                            <p:childTnLst>
                              <p:par>
                                <p:cTn id="18" presetID="10" presetClass="entr" presetSubtype="0" fill="hold" grpId="0" nodeType="afterEffect">
                                  <p:stCondLst>
                                    <p:cond delay="0"/>
                                  </p:stCondLst>
                                  <p:childTnLst>
                                    <p:set>
                                      <p:cBhvr>
                                        <p:cTn id="19" dur="1" fill="hold">
                                          <p:stCondLst>
                                            <p:cond delay="0"/>
                                          </p:stCondLst>
                                        </p:cTn>
                                        <p:tgtEl>
                                          <p:spTgt spid="12"/>
                                        </p:tgtEl>
                                        <p:attrNameLst>
                                          <p:attrName>style.visibility</p:attrName>
                                        </p:attrNameLst>
                                      </p:cBhvr>
                                      <p:to>
                                        <p:strVal val="visible"/>
                                      </p:to>
                                    </p:set>
                                    <p:animEffect transition="in" filter="fade">
                                      <p:cBhvr>
                                        <p:cTn id="20" dur="550"/>
                                        <p:tgtEl>
                                          <p:spTgt spid="12"/>
                                        </p:tgtEl>
                                      </p:cBhvr>
                                    </p:animEffect>
                                  </p:childTnLst>
                                </p:cTn>
                              </p:par>
                            </p:childTnLst>
                          </p:cTn>
                        </p:par>
                        <p:par>
                          <p:cTn id="21" fill="hold">
                            <p:stCondLst>
                              <p:cond delay="200"/>
                            </p:stCondLst>
                            <p:childTnLst>
                              <p:par>
                                <p:cTn id="22" presetID="10" presetClass="entr" presetSubtype="0" fill="hold" grpId="0" nodeType="afterEffect">
                                  <p:stCondLst>
                                    <p:cond delay="0"/>
                                  </p:stCondLst>
                                  <p:childTnLst>
                                    <p:set>
                                      <p:cBhvr>
                                        <p:cTn id="23" dur="1" fill="hold">
                                          <p:stCondLst>
                                            <p:cond delay="0"/>
                                          </p:stCondLst>
                                        </p:cTn>
                                        <p:tgtEl>
                                          <p:spTgt spid="13"/>
                                        </p:tgtEl>
                                        <p:attrNameLst>
                                          <p:attrName>style.visibility</p:attrName>
                                        </p:attrNameLst>
                                      </p:cBhvr>
                                      <p:to>
                                        <p:strVal val="visible"/>
                                      </p:to>
                                    </p:set>
                                    <p:animEffect transition="in" filter="fade">
                                      <p:cBhvr>
                                        <p:cTn id="24" dur="550"/>
                                        <p:tgtEl>
                                          <p:spTgt spid="13"/>
                                        </p:tgtEl>
                                      </p:cBhvr>
                                    </p:animEffect>
                                  </p:childTnLst>
                                </p:cTn>
                              </p:par>
                            </p:childTnLst>
                          </p:cTn>
                        </p:par>
                        <p:par>
                          <p:cTn id="25" fill="hold">
                            <p:stCondLst>
                              <p:cond delay="350"/>
                            </p:stCondLst>
                            <p:childTnLst>
                              <p:par>
                                <p:cTn id="26" presetID="22" presetClass="entr" presetSubtype="8" fill="hold" grpId="0" nodeType="afterEffect">
                                  <p:stCondLst>
                                    <p:cond delay="0"/>
                                  </p:stCondLst>
                                  <p:childTnLst>
                                    <p:set>
                                      <p:cBhvr>
                                        <p:cTn id="27" dur="1" fill="hold">
                                          <p:stCondLst>
                                            <p:cond delay="0"/>
                                          </p:stCondLst>
                                        </p:cTn>
                                        <p:tgtEl>
                                          <p:spTgt spid="14"/>
                                        </p:tgtEl>
                                        <p:attrNameLst>
                                          <p:attrName>style.visibility</p:attrName>
                                        </p:attrNameLst>
                                      </p:cBhvr>
                                      <p:to>
                                        <p:strVal val="visible"/>
                                      </p:to>
                                    </p:set>
                                    <p:animEffect transition="in" filter="wipe(left)">
                                      <p:cBhvr>
                                        <p:cTn id="29" dur="800"/>
                                        <p:tgtEl>
                                          <p:spTgt spid="1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10" grpId="0" animBg="1"/>
      <p:bldP spid="11" grpId="0" animBg="1"/>
      <p:bldP spid="12" grpId="0" animBg="1"/>
      <p:bldP spid="13" grpId="0" animBg="1"/>
      <p:bldP spid="14" grpId="0" animBg="1"/>
    </p:bldLst>
  </p:timing>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110000"/>
            <a:ext cx="10300000" cy="300000"/>
          </a:xfrm>
          <a:prstGeom prst="rect">
            <a:avLst/>
          </a:prstGeom>
          <a:noFill/>
        </p:spPr>
        <p:txBody>
          <a:bodyPr wrap="square" anchor="t" lIns="50800" rIns="50800">
            <a:spAutoFit/>
          </a:bodyPr>
          <a:lstStyle/>
          <a:p>
            <a:pPr algn="l"/>
            <a:r>
              <a:rPr sz="1200" b="1">
                <a:solidFill>
                  <a:srgbClr val="A9C4E6"/>
                </a:solidFill>
                <a:latin typeface="Calibri"/>
              </a:rPr>
              <a:t>AMALIY MISOL</a:t>
            </a:r>
          </a:p>
        </p:txBody>
      </p:sp>
      <p:sp>
        <p:nvSpPr>
          <p:cNvPr id="6" name="TextBox 5"/>
          <p:cNvSpPr txBox="1"/>
          <p:nvPr/>
        </p:nvSpPr>
        <p:spPr>
          <a:xfrm>
            <a:off x="500000" y="330000"/>
            <a:ext cx="10400000" cy="650000"/>
          </a:xfrm>
          <a:prstGeom prst="rect">
            <a:avLst/>
          </a:prstGeom>
          <a:noFill/>
        </p:spPr>
        <p:txBody>
          <a:bodyPr wrap="square" anchor="ctr" lIns="50800" rIns="50800">
            <a:spAutoFit/>
          </a:bodyPr>
          <a:lstStyle/>
          <a:p>
            <a:pPr algn="l"/>
            <a:r>
              <a:rPr sz="2600" b="1">
                <a:solidFill>
                  <a:srgbClr val="FFFFFF"/>
                </a:solidFill>
                <a:latin typeface="Calibri"/>
              </a:rPr>
              <a:t>5-qadam. Qarorni hujjatlashtirish va xavflarni ko'rsatish</a:t>
            </a:r>
          </a:p>
        </p:txBody>
      </p:sp>
      <p:sp>
        <p:nvSpPr>
          <p:cNvPr id="7" name="Rectangle 6"/>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A1 · Sun'iy intellektga asoslangan kompyuter tizimlari arxitekturasini tahlil qilish va loyihalash</a:t>
            </a:r>
          </a:p>
        </p:txBody>
      </p:sp>
      <p:sp>
        <p:nvSpPr>
          <p:cNvPr id="9" name="TextBox 8"/>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30</a:t>
            </a:r>
          </a:p>
        </p:txBody>
      </p:sp>
      <p:sp>
        <p:nvSpPr>
          <p:cNvPr id="10" name="Rounded Rectangle 9"/>
          <p:cNvSpPr/>
          <p:nvPr/>
        </p:nvSpPr>
        <p:spPr>
          <a:xfrm>
            <a:off x="550000" y="2533333"/>
            <a:ext cx="11100000" cy="1250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50000" y="2533333"/>
            <a:ext cx="70000" cy="1250000"/>
          </a:xfrm>
          <a:prstGeom prst="rect">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800000" y="2928333"/>
            <a:ext cx="460000" cy="460000"/>
          </a:xfrm>
          <a:prstGeom prst="ellipse">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1</a:t>
            </a:r>
          </a:p>
        </p:txBody>
      </p:sp>
      <p:sp>
        <p:nvSpPr>
          <p:cNvPr id="13" name="TextBox 12"/>
          <p:cNvSpPr txBox="1"/>
          <p:nvPr/>
        </p:nvSpPr>
        <p:spPr>
          <a:xfrm>
            <a:off x="1450000" y="2533333"/>
            <a:ext cx="10050000" cy="1250000"/>
          </a:xfrm>
          <a:prstGeom prst="rect">
            <a:avLst/>
          </a:prstGeom>
          <a:noFill/>
        </p:spPr>
        <p:txBody>
          <a:bodyPr wrap="square" anchor="ctr" lIns="50800" rIns="50800">
            <a:spAutoFit/>
          </a:bodyPr>
          <a:lstStyle/>
          <a:p>
            <a:pPr algn="l"/>
            <a:r>
              <a:rPr sz="1600" b="0">
                <a:solidFill>
                  <a:srgbClr val="1B2430"/>
                </a:solidFill>
                <a:latin typeface="Calibri"/>
              </a:rPr>
              <a:t>Hisobotda tanlangan platforma, rad etilgan muqobillar sabablari va xavflar ro'yxati yoziladi. Namuna xavflar: INT8 kvantlashda mAP 1–2 foiz punkt pasayishi (A3 mashg'ulotida tekshiriladi); +40 °C muhitda Orin NX termal cheklov (throttling) tufayli 25 Vt…</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1"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6"/>
                                        </p:tgtEl>
                                        <p:attrNameLst>
                                          <p:attrName>style.visibility</p:attrName>
                                        </p:attrNameLst>
                                      </p:cBhvr>
                                      <p:to>
                                        <p:strVal val="visible"/>
                                      </p:to>
                                    </p:set>
                                    <p:animEffect transition="in" filter="fade">
                                      <p:cBhvr>
                                        <p:cTn id="6" dur="550"/>
                                        <p:tgtEl>
                                          <p:spTgt spid="6"/>
                                        </p:tgtEl>
                                      </p:cBhvr>
                                    </p:animEffect>
                                  </p:childTnLst>
                                </p:cTn>
                              </p:par>
                            </p:childTnLst>
                          </p:cTn>
                        </p:par>
                        <p:par>
                          <p:cTn id="7" fill="hold">
                            <p:stCondLst>
                              <p:cond delay="220"/>
                            </p:stCondLst>
                            <p:childTnLst>
                              <p:par>
                                <p:cTn id="8" presetID="42" presetClass="entr" presetSubtype="0" fill="hold" grpId="0" nodeType="after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fade">
                                      <p:cBhvr>
                                        <p:cTn id="10" dur="550"/>
                                        <p:tgtEl>
                                          <p:spTgt spid="10"/>
                                        </p:tgtEl>
                                      </p:cBhvr>
                                    </p:animEffect>
                                    <p:anim calcmode="lin" valueType="num">
                                      <p:cBhvr additive="base">
                                        <p:cTn id="11" dur="550" fill="hold"/>
                                        <p:tgtEl>
                                          <p:spTgt spid="10"/>
                                        </p:tgtEl>
                                        <p:attrNameLst>
                                          <p:attrName>ppt_x</p:attrName>
                                        </p:attrNameLst>
                                      </p:cBhvr>
                                      <p:tavLst>
                                        <p:tav tm="0">
                                          <p:val>
                                            <p:strVal val="#ppt_x"/>
                                          </p:val>
                                        </p:tav>
                                        <p:tav tm="100000">
                                          <p:val>
                                            <p:strVal val="#ppt_x"/>
                                          </p:val>
                                        </p:tav>
                                      </p:tavLst>
                                    </p:anim>
                                    <p:anim calcmode="lin" valueType="num">
                                      <p:cBhvr additive="base">
                                        <p:cTn id="12" dur="550" fill="hold"/>
                                        <p:tgtEl>
                                          <p:spTgt spid="10"/>
                                        </p:tgtEl>
                                        <p:attrNameLst>
                                          <p:attrName>ppt_y</p:attrName>
                                        </p:attrNameLst>
                                      </p:cBhvr>
                                      <p:tavLst>
                                        <p:tav tm="0">
                                          <p:val>
                                            <p:strVal val="#ppt_y+.08"/>
                                          </p:val>
                                        </p:tav>
                                        <p:tav tm="100000">
                                          <p:val>
                                            <p:strVal val="#ppt_y"/>
                                          </p:val>
                                        </p:tav>
                                      </p:tavLst>
                                    </p:anim>
                                  </p:childTnLst>
                                </p:cTn>
                              </p:par>
                            </p:childTnLst>
                          </p:cTn>
                        </p:par>
                        <p:par>
                          <p:cTn id="13" fill="hold">
                            <p:stCondLst>
                              <p:cond delay="220"/>
                            </p:stCondLst>
                            <p:childTnLst>
                              <p:par>
                                <p:cTn id="14" presetID="42" presetClass="entr" presetSubtype="0" fill="hold" grpId="0" nodeType="afterEffect">
                                  <p:stCondLst>
                                    <p:cond delay="0"/>
                                  </p:stCondLst>
                                  <p:childTnLst>
                                    <p:set>
                                      <p:cBhvr>
                                        <p:cTn id="15" dur="1" fill="hold">
                                          <p:stCondLst>
                                            <p:cond delay="0"/>
                                          </p:stCondLst>
                                        </p:cTn>
                                        <p:tgtEl>
                                          <p:spTgt spid="11"/>
                                        </p:tgtEl>
                                        <p:attrNameLst>
                                          <p:attrName>style.visibility</p:attrName>
                                        </p:attrNameLst>
                                      </p:cBhvr>
                                      <p:to>
                                        <p:strVal val="visible"/>
                                      </p:to>
                                    </p:set>
                                    <p:animEffect transition="in" filter="fade">
                                      <p:cBhvr>
                                        <p:cTn id="16" dur="550"/>
                                        <p:tgtEl>
                                          <p:spTgt spid="11"/>
                                        </p:tgtEl>
                                      </p:cBhvr>
                                    </p:animEffect>
                                    <p:anim calcmode="lin" valueType="num">
                                      <p:cBhvr additive="base">
                                        <p:cTn id="17" dur="550" fill="hold"/>
                                        <p:tgtEl>
                                          <p:spTgt spid="11"/>
                                        </p:tgtEl>
                                        <p:attrNameLst>
                                          <p:attrName>ppt_x</p:attrName>
                                        </p:attrNameLst>
                                      </p:cBhvr>
                                      <p:tavLst>
                                        <p:tav tm="0">
                                          <p:val>
                                            <p:strVal val="#ppt_x"/>
                                          </p:val>
                                        </p:tav>
                                        <p:tav tm="100000">
                                          <p:val>
                                            <p:strVal val="#ppt_x"/>
                                          </p:val>
                                        </p:tav>
                                      </p:tavLst>
                                    </p:anim>
                                    <p:anim calcmode="lin" valueType="num">
                                      <p:cBhvr additive="base">
                                        <p:cTn id="18" dur="550" fill="hold"/>
                                        <p:tgtEl>
                                          <p:spTgt spid="11"/>
                                        </p:tgtEl>
                                        <p:attrNameLst>
                                          <p:attrName>ppt_y</p:attrName>
                                        </p:attrNameLst>
                                      </p:cBhvr>
                                      <p:tavLst>
                                        <p:tav tm="0">
                                          <p:val>
                                            <p:strVal val="#ppt_y+.08"/>
                                          </p:val>
                                        </p:tav>
                                        <p:tav tm="100000">
                                          <p:val>
                                            <p:strVal val="#ppt_y"/>
                                          </p:val>
                                        </p:tav>
                                      </p:tavLst>
                                    </p:anim>
                                  </p:childTnLst>
                                </p:cTn>
                              </p:par>
                            </p:childTnLst>
                          </p:cTn>
                        </p:par>
                        <p:par>
                          <p:cTn id="19" fill="hold">
                            <p:stCondLst>
                              <p:cond delay="220"/>
                            </p:stCondLst>
                            <p:childTnLst>
                              <p:par>
                                <p:cTn id="20" presetID="53" presetClass="entr" presetSubtype="16" fill="hold" grpId="0" nodeType="afterEffect">
                                  <p:stCondLst>
                                    <p:cond delay="0"/>
                                  </p:stCondLst>
                                  <p:childTnLst>
                                    <p:set>
                                      <p:cBhvr>
                                        <p:cTn id="21" dur="1" fill="hold">
                                          <p:stCondLst>
                                            <p:cond delay="0"/>
                                          </p:stCondLst>
                                        </p:cTn>
                                        <p:tgtEl>
                                          <p:spTgt spid="12"/>
                                        </p:tgtEl>
                                        <p:attrNameLst>
                                          <p:attrName>style.visibility</p:attrName>
                                        </p:attrNameLst>
                                      </p:cBhvr>
                                      <p:to>
                                        <p:strVal val="visible"/>
                                      </p:to>
                                    </p:set>
                                    <p:animEffect transition="in" filter="fade">
                                      <p:cBhvr>
                                        <p:cTn id="22" dur="550"/>
                                        <p:tgtEl>
                                          <p:spTgt spid="12"/>
                                        </p:tgtEl>
                                      </p:cBhvr>
                                    </p:animEffect>
                                    <p:anim calcmode="lin" valueType="num">
                                      <p:cBhvr additive="base">
                                        <p:cTn id="23" dur="550" fill="hold"/>
                                        <p:tgtEl>
                                          <p:spTgt spid="12"/>
                                        </p:tgtEl>
                                        <p:attrNameLst>
                                          <p:attrName>ppt_w</p:attrName>
                                        </p:attrNameLst>
                                      </p:cBhvr>
                                      <p:tavLst>
                                        <p:tav tm="0">
                                          <p:val>
                                            <p:strVal val="0"/>
                                          </p:val>
                                        </p:tav>
                                        <p:tav tm="100000">
                                          <p:val>
                                            <p:strVal val="#ppt_w"/>
                                          </p:val>
                                        </p:tav>
                                      </p:tavLst>
                                    </p:anim>
                                    <p:anim calcmode="lin" valueType="num">
                                      <p:cBhvr additive="base">
                                        <p:cTn id="24" dur="550" fill="hold"/>
                                        <p:tgtEl>
                                          <p:spTgt spid="12"/>
                                        </p:tgtEl>
                                        <p:attrNameLst>
                                          <p:attrName>ppt_h</p:attrName>
                                        </p:attrNameLst>
                                      </p:cBhvr>
                                      <p:tavLst>
                                        <p:tav tm="0">
                                          <p:val>
                                            <p:strVal val="0"/>
                                          </p:val>
                                        </p:tav>
                                        <p:tav tm="100000">
                                          <p:val>
                                            <p:strVal val="#ppt_h"/>
                                          </p:val>
                                        </p:tav>
                                      </p:tavLst>
                                    </p:anim>
                                  </p:childTnLst>
                                </p:cTn>
                              </p:par>
                            </p:childTnLst>
                          </p:cTn>
                        </p:par>
                        <p:par>
                          <p:cTn id="25" fill="hold">
                            <p:stCondLst>
                              <p:cond delay="220"/>
                            </p:stCondLst>
                            <p:childTnLst>
                              <p:par>
                                <p:cTn id="26" presetID="42" presetClass="entr" presetSubtype="0" fill="hold" grpId="0" nodeType="afterEffect">
                                  <p:stCondLst>
                                    <p:cond delay="0"/>
                                  </p:stCondLst>
                                  <p:childTnLst>
                                    <p:set>
                                      <p:cBhvr>
                                        <p:cTn id="27" dur="1" fill="hold">
                                          <p:stCondLst>
                                            <p:cond delay="0"/>
                                          </p:stCondLst>
                                        </p:cTn>
                                        <p:tgtEl>
                                          <p:spTgt spid="13"/>
                                        </p:tgtEl>
                                        <p:attrNameLst>
                                          <p:attrName>style.visibility</p:attrName>
                                        </p:attrNameLst>
                                      </p:cBhvr>
                                      <p:to>
                                        <p:strVal val="visible"/>
                                      </p:to>
                                    </p:set>
                                    <p:animEffect transition="in" filter="fade">
                                      <p:cBhvr>
                                        <p:cTn id="28" dur="550"/>
                                        <p:tgtEl>
                                          <p:spTgt spid="13"/>
                                        </p:tgtEl>
                                      </p:cBhvr>
                                    </p:animEffect>
                                    <p:anim calcmode="lin" valueType="num">
                                      <p:cBhvr additive="base">
                                        <p:cTn id="29" dur="550" fill="hold"/>
                                        <p:tgtEl>
                                          <p:spTgt spid="13"/>
                                        </p:tgtEl>
                                        <p:attrNameLst>
                                          <p:attrName>ppt_x</p:attrName>
                                        </p:attrNameLst>
                                      </p:cBhvr>
                                      <p:tavLst>
                                        <p:tav tm="0">
                                          <p:val>
                                            <p:strVal val="#ppt_x"/>
                                          </p:val>
                                        </p:tav>
                                        <p:tav tm="100000">
                                          <p:val>
                                            <p:strVal val="#ppt_x"/>
                                          </p:val>
                                        </p:tav>
                                      </p:tavLst>
                                    </p:anim>
                                    <p:anim calcmode="lin" valueType="num">
                                      <p:cBhvr additive="base">
                                        <p:cTn id="30" dur="550" fill="hold"/>
                                        <p:tgtEl>
                                          <p:spTgt spid="13"/>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10" grpId="0" animBg="1"/>
      <p:bldP spid="11" grpId="0" animBg="1"/>
      <p:bldP spid="12" grpId="0" animBg="1"/>
      <p:bldP spid="13" grpId="0" animBg="1"/>
    </p:bldLst>
  </p:timing>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110000"/>
            <a:ext cx="10300000" cy="300000"/>
          </a:xfrm>
          <a:prstGeom prst="rect">
            <a:avLst/>
          </a:prstGeom>
          <a:noFill/>
        </p:spPr>
        <p:txBody>
          <a:bodyPr wrap="square" anchor="t" lIns="50800" rIns="50800">
            <a:spAutoFit/>
          </a:bodyPr>
          <a:lstStyle/>
          <a:p>
            <a:pPr algn="l"/>
            <a:r>
              <a:rPr sz="1200" b="1">
                <a:solidFill>
                  <a:srgbClr val="A9C4E6"/>
                </a:solidFill>
                <a:latin typeface="Calibri"/>
              </a:rPr>
              <a:t>AMALIY MISOL</a:t>
            </a:r>
          </a:p>
        </p:txBody>
      </p:sp>
      <p:sp>
        <p:nvSpPr>
          <p:cNvPr id="6" name="TextBox 5"/>
          <p:cNvSpPr txBox="1"/>
          <p:nvPr/>
        </p:nvSpPr>
        <p:spPr>
          <a:xfrm>
            <a:off x="500000" y="330000"/>
            <a:ext cx="10400000" cy="650000"/>
          </a:xfrm>
          <a:prstGeom prst="rect">
            <a:avLst/>
          </a:prstGeom>
          <a:noFill/>
        </p:spPr>
        <p:txBody>
          <a:bodyPr wrap="square" anchor="ctr" lIns="50800" rIns="50800">
            <a:spAutoFit/>
          </a:bodyPr>
          <a:lstStyle/>
          <a:p>
            <a:pPr algn="l"/>
            <a:r>
              <a:rPr sz="2600" b="1">
                <a:solidFill>
                  <a:srgbClr val="FFFFFF"/>
                </a:solidFill>
                <a:latin typeface="Calibri"/>
              </a:rPr>
              <a:t>Hisobot shakli</a:t>
            </a:r>
          </a:p>
        </p:txBody>
      </p:sp>
      <p:sp>
        <p:nvSpPr>
          <p:cNvPr id="7" name="Rectangle 6"/>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A1 · Sun'iy intellektga asoslangan kompyuter tizimlari arxitekturasini tahlil qilish va loyihalash</a:t>
            </a:r>
          </a:p>
        </p:txBody>
      </p:sp>
      <p:sp>
        <p:nvSpPr>
          <p:cNvPr id="9" name="TextBox 8"/>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31</a:t>
            </a:r>
          </a:p>
        </p:txBody>
      </p:sp>
      <p:sp>
        <p:nvSpPr>
          <p:cNvPr id="10" name="Rounded Rectangle 9"/>
          <p:cNvSpPr/>
          <p:nvPr/>
        </p:nvSpPr>
        <p:spPr>
          <a:xfrm>
            <a:off x="550000" y="2533333"/>
            <a:ext cx="11100000" cy="1250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50000" y="2533333"/>
            <a:ext cx="70000" cy="1250000"/>
          </a:xfrm>
          <a:prstGeom prst="rect">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800000" y="2928333"/>
            <a:ext cx="460000" cy="460000"/>
          </a:xfrm>
          <a:prstGeom prst="ellipse">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1</a:t>
            </a:r>
          </a:p>
        </p:txBody>
      </p:sp>
      <p:sp>
        <p:nvSpPr>
          <p:cNvPr id="13" name="TextBox 12"/>
          <p:cNvSpPr txBox="1"/>
          <p:nvPr/>
        </p:nvSpPr>
        <p:spPr>
          <a:xfrm>
            <a:off x="1450000" y="2533333"/>
            <a:ext cx="10050000" cy="1250000"/>
          </a:xfrm>
          <a:prstGeom prst="rect">
            <a:avLst/>
          </a:prstGeom>
          <a:noFill/>
        </p:spPr>
        <p:txBody>
          <a:bodyPr wrap="square" anchor="ctr" lIns="50800" rIns="50800">
            <a:spAutoFit/>
          </a:bodyPr>
          <a:lstStyle/>
          <a:p>
            <a:pPr algn="l"/>
            <a:r>
              <a:rPr sz="1800" b="0">
                <a:solidFill>
                  <a:srgbClr val="1B2430"/>
                </a:solidFill>
                <a:latin typeface="Calibri"/>
              </a:rPr>
              <a:t>Hisobot (PDF yoki Markdown, 4–6 bet) quyidagilarni o'z ichiga oladi: (1) talablar matritsasi; (2) yuklama.csv jadvali va skript natijasi ekran tasviri; (3) platformalar taqqoslash jadvali…</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1"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6"/>
                                        </p:tgtEl>
                                        <p:attrNameLst>
                                          <p:attrName>style.visibility</p:attrName>
                                        </p:attrNameLst>
                                      </p:cBhvr>
                                      <p:to>
                                        <p:strVal val="visible"/>
                                      </p:to>
                                    </p:set>
                                    <p:animEffect transition="in" filter="fade">
                                      <p:cBhvr>
                                        <p:cTn id="6" dur="550"/>
                                        <p:tgtEl>
                                          <p:spTgt spid="6"/>
                                        </p:tgtEl>
                                      </p:cBhvr>
                                    </p:animEffect>
                                  </p:childTnLst>
                                </p:cTn>
                              </p:par>
                            </p:childTnLst>
                          </p:cTn>
                        </p:par>
                        <p:par>
                          <p:cTn id="7" fill="hold">
                            <p:stCondLst>
                              <p:cond delay="220"/>
                            </p:stCondLst>
                            <p:childTnLst>
                              <p:par>
                                <p:cTn id="8" presetID="42" presetClass="entr" presetSubtype="0" fill="hold" grpId="0" nodeType="after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fade">
                                      <p:cBhvr>
                                        <p:cTn id="10" dur="550"/>
                                        <p:tgtEl>
                                          <p:spTgt spid="10"/>
                                        </p:tgtEl>
                                      </p:cBhvr>
                                    </p:animEffect>
                                    <p:anim calcmode="lin" valueType="num">
                                      <p:cBhvr additive="base">
                                        <p:cTn id="11" dur="550" fill="hold"/>
                                        <p:tgtEl>
                                          <p:spTgt spid="10"/>
                                        </p:tgtEl>
                                        <p:attrNameLst>
                                          <p:attrName>ppt_x</p:attrName>
                                        </p:attrNameLst>
                                      </p:cBhvr>
                                      <p:tavLst>
                                        <p:tav tm="0">
                                          <p:val>
                                            <p:strVal val="#ppt_x"/>
                                          </p:val>
                                        </p:tav>
                                        <p:tav tm="100000">
                                          <p:val>
                                            <p:strVal val="#ppt_x"/>
                                          </p:val>
                                        </p:tav>
                                      </p:tavLst>
                                    </p:anim>
                                    <p:anim calcmode="lin" valueType="num">
                                      <p:cBhvr additive="base">
                                        <p:cTn id="12" dur="550" fill="hold"/>
                                        <p:tgtEl>
                                          <p:spTgt spid="10"/>
                                        </p:tgtEl>
                                        <p:attrNameLst>
                                          <p:attrName>ppt_y</p:attrName>
                                        </p:attrNameLst>
                                      </p:cBhvr>
                                      <p:tavLst>
                                        <p:tav tm="0">
                                          <p:val>
                                            <p:strVal val="#ppt_y+.08"/>
                                          </p:val>
                                        </p:tav>
                                        <p:tav tm="100000">
                                          <p:val>
                                            <p:strVal val="#ppt_y"/>
                                          </p:val>
                                        </p:tav>
                                      </p:tavLst>
                                    </p:anim>
                                  </p:childTnLst>
                                </p:cTn>
                              </p:par>
                            </p:childTnLst>
                          </p:cTn>
                        </p:par>
                        <p:par>
                          <p:cTn id="13" fill="hold">
                            <p:stCondLst>
                              <p:cond delay="220"/>
                            </p:stCondLst>
                            <p:childTnLst>
                              <p:par>
                                <p:cTn id="14" presetID="42" presetClass="entr" presetSubtype="0" fill="hold" grpId="0" nodeType="afterEffect">
                                  <p:stCondLst>
                                    <p:cond delay="0"/>
                                  </p:stCondLst>
                                  <p:childTnLst>
                                    <p:set>
                                      <p:cBhvr>
                                        <p:cTn id="15" dur="1" fill="hold">
                                          <p:stCondLst>
                                            <p:cond delay="0"/>
                                          </p:stCondLst>
                                        </p:cTn>
                                        <p:tgtEl>
                                          <p:spTgt spid="11"/>
                                        </p:tgtEl>
                                        <p:attrNameLst>
                                          <p:attrName>style.visibility</p:attrName>
                                        </p:attrNameLst>
                                      </p:cBhvr>
                                      <p:to>
                                        <p:strVal val="visible"/>
                                      </p:to>
                                    </p:set>
                                    <p:animEffect transition="in" filter="fade">
                                      <p:cBhvr>
                                        <p:cTn id="16" dur="550"/>
                                        <p:tgtEl>
                                          <p:spTgt spid="11"/>
                                        </p:tgtEl>
                                      </p:cBhvr>
                                    </p:animEffect>
                                    <p:anim calcmode="lin" valueType="num">
                                      <p:cBhvr additive="base">
                                        <p:cTn id="17" dur="550" fill="hold"/>
                                        <p:tgtEl>
                                          <p:spTgt spid="11"/>
                                        </p:tgtEl>
                                        <p:attrNameLst>
                                          <p:attrName>ppt_x</p:attrName>
                                        </p:attrNameLst>
                                      </p:cBhvr>
                                      <p:tavLst>
                                        <p:tav tm="0">
                                          <p:val>
                                            <p:strVal val="#ppt_x"/>
                                          </p:val>
                                        </p:tav>
                                        <p:tav tm="100000">
                                          <p:val>
                                            <p:strVal val="#ppt_x"/>
                                          </p:val>
                                        </p:tav>
                                      </p:tavLst>
                                    </p:anim>
                                    <p:anim calcmode="lin" valueType="num">
                                      <p:cBhvr additive="base">
                                        <p:cTn id="18" dur="550" fill="hold"/>
                                        <p:tgtEl>
                                          <p:spTgt spid="11"/>
                                        </p:tgtEl>
                                        <p:attrNameLst>
                                          <p:attrName>ppt_y</p:attrName>
                                        </p:attrNameLst>
                                      </p:cBhvr>
                                      <p:tavLst>
                                        <p:tav tm="0">
                                          <p:val>
                                            <p:strVal val="#ppt_y+.08"/>
                                          </p:val>
                                        </p:tav>
                                        <p:tav tm="100000">
                                          <p:val>
                                            <p:strVal val="#ppt_y"/>
                                          </p:val>
                                        </p:tav>
                                      </p:tavLst>
                                    </p:anim>
                                  </p:childTnLst>
                                </p:cTn>
                              </p:par>
                            </p:childTnLst>
                          </p:cTn>
                        </p:par>
                        <p:par>
                          <p:cTn id="19" fill="hold">
                            <p:stCondLst>
                              <p:cond delay="220"/>
                            </p:stCondLst>
                            <p:childTnLst>
                              <p:par>
                                <p:cTn id="20" presetID="53" presetClass="entr" presetSubtype="16" fill="hold" grpId="0" nodeType="afterEffect">
                                  <p:stCondLst>
                                    <p:cond delay="0"/>
                                  </p:stCondLst>
                                  <p:childTnLst>
                                    <p:set>
                                      <p:cBhvr>
                                        <p:cTn id="21" dur="1" fill="hold">
                                          <p:stCondLst>
                                            <p:cond delay="0"/>
                                          </p:stCondLst>
                                        </p:cTn>
                                        <p:tgtEl>
                                          <p:spTgt spid="12"/>
                                        </p:tgtEl>
                                        <p:attrNameLst>
                                          <p:attrName>style.visibility</p:attrName>
                                        </p:attrNameLst>
                                      </p:cBhvr>
                                      <p:to>
                                        <p:strVal val="visible"/>
                                      </p:to>
                                    </p:set>
                                    <p:animEffect transition="in" filter="fade">
                                      <p:cBhvr>
                                        <p:cTn id="22" dur="550"/>
                                        <p:tgtEl>
                                          <p:spTgt spid="12"/>
                                        </p:tgtEl>
                                      </p:cBhvr>
                                    </p:animEffect>
                                    <p:anim calcmode="lin" valueType="num">
                                      <p:cBhvr additive="base">
                                        <p:cTn id="23" dur="550" fill="hold"/>
                                        <p:tgtEl>
                                          <p:spTgt spid="12"/>
                                        </p:tgtEl>
                                        <p:attrNameLst>
                                          <p:attrName>ppt_w</p:attrName>
                                        </p:attrNameLst>
                                      </p:cBhvr>
                                      <p:tavLst>
                                        <p:tav tm="0">
                                          <p:val>
                                            <p:strVal val="0"/>
                                          </p:val>
                                        </p:tav>
                                        <p:tav tm="100000">
                                          <p:val>
                                            <p:strVal val="#ppt_w"/>
                                          </p:val>
                                        </p:tav>
                                      </p:tavLst>
                                    </p:anim>
                                    <p:anim calcmode="lin" valueType="num">
                                      <p:cBhvr additive="base">
                                        <p:cTn id="24" dur="550" fill="hold"/>
                                        <p:tgtEl>
                                          <p:spTgt spid="12"/>
                                        </p:tgtEl>
                                        <p:attrNameLst>
                                          <p:attrName>ppt_h</p:attrName>
                                        </p:attrNameLst>
                                      </p:cBhvr>
                                      <p:tavLst>
                                        <p:tav tm="0">
                                          <p:val>
                                            <p:strVal val="0"/>
                                          </p:val>
                                        </p:tav>
                                        <p:tav tm="100000">
                                          <p:val>
                                            <p:strVal val="#ppt_h"/>
                                          </p:val>
                                        </p:tav>
                                      </p:tavLst>
                                    </p:anim>
                                  </p:childTnLst>
                                </p:cTn>
                              </p:par>
                            </p:childTnLst>
                          </p:cTn>
                        </p:par>
                        <p:par>
                          <p:cTn id="25" fill="hold">
                            <p:stCondLst>
                              <p:cond delay="220"/>
                            </p:stCondLst>
                            <p:childTnLst>
                              <p:par>
                                <p:cTn id="26" presetID="42" presetClass="entr" presetSubtype="0" fill="hold" grpId="0" nodeType="afterEffect">
                                  <p:stCondLst>
                                    <p:cond delay="0"/>
                                  </p:stCondLst>
                                  <p:childTnLst>
                                    <p:set>
                                      <p:cBhvr>
                                        <p:cTn id="27" dur="1" fill="hold">
                                          <p:stCondLst>
                                            <p:cond delay="0"/>
                                          </p:stCondLst>
                                        </p:cTn>
                                        <p:tgtEl>
                                          <p:spTgt spid="13"/>
                                        </p:tgtEl>
                                        <p:attrNameLst>
                                          <p:attrName>style.visibility</p:attrName>
                                        </p:attrNameLst>
                                      </p:cBhvr>
                                      <p:to>
                                        <p:strVal val="visible"/>
                                      </p:to>
                                    </p:set>
                                    <p:animEffect transition="in" filter="fade">
                                      <p:cBhvr>
                                        <p:cTn id="28" dur="550"/>
                                        <p:tgtEl>
                                          <p:spTgt spid="13"/>
                                        </p:tgtEl>
                                      </p:cBhvr>
                                    </p:animEffect>
                                    <p:anim calcmode="lin" valueType="num">
                                      <p:cBhvr additive="base">
                                        <p:cTn id="29" dur="550" fill="hold"/>
                                        <p:tgtEl>
                                          <p:spTgt spid="13"/>
                                        </p:tgtEl>
                                        <p:attrNameLst>
                                          <p:attrName>ppt_x</p:attrName>
                                        </p:attrNameLst>
                                      </p:cBhvr>
                                      <p:tavLst>
                                        <p:tav tm="0">
                                          <p:val>
                                            <p:strVal val="#ppt_x"/>
                                          </p:val>
                                        </p:tav>
                                        <p:tav tm="100000">
                                          <p:val>
                                            <p:strVal val="#ppt_x"/>
                                          </p:val>
                                        </p:tav>
                                      </p:tavLst>
                                    </p:anim>
                                    <p:anim calcmode="lin" valueType="num">
                                      <p:cBhvr additive="base">
                                        <p:cTn id="30" dur="550" fill="hold"/>
                                        <p:tgtEl>
                                          <p:spTgt spid="13"/>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10" grpId="0" animBg="1"/>
      <p:bldP spid="11" grpId="0" animBg="1"/>
      <p:bldP spid="12" grpId="0" animBg="1"/>
      <p:bldP spid="13" grpId="0" animBg="1"/>
    </p:bldLst>
  </p:timing>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110000"/>
            <a:ext cx="10300000" cy="300000"/>
          </a:xfrm>
          <a:prstGeom prst="rect">
            <a:avLst/>
          </a:prstGeom>
          <a:noFill/>
        </p:spPr>
        <p:txBody>
          <a:bodyPr wrap="square" anchor="t" lIns="50800" rIns="50800">
            <a:spAutoFit/>
          </a:bodyPr>
          <a:lstStyle/>
          <a:p>
            <a:pPr algn="l"/>
            <a:r>
              <a:rPr sz="1200" b="1">
                <a:solidFill>
                  <a:srgbClr val="A9C4E6"/>
                </a:solidFill>
                <a:latin typeface="Calibri"/>
              </a:rPr>
              <a:t>AMALIY MISOL</a:t>
            </a:r>
          </a:p>
        </p:txBody>
      </p:sp>
      <p:sp>
        <p:nvSpPr>
          <p:cNvPr id="6" name="TextBox 5"/>
          <p:cNvSpPr txBox="1"/>
          <p:nvPr/>
        </p:nvSpPr>
        <p:spPr>
          <a:xfrm>
            <a:off x="500000" y="330000"/>
            <a:ext cx="10400000" cy="650000"/>
          </a:xfrm>
          <a:prstGeom prst="rect">
            <a:avLst/>
          </a:prstGeom>
          <a:noFill/>
        </p:spPr>
        <p:txBody>
          <a:bodyPr wrap="square" anchor="ctr" lIns="50800" rIns="50800">
            <a:spAutoFit/>
          </a:bodyPr>
          <a:lstStyle/>
          <a:p>
            <a:pPr algn="l"/>
            <a:r>
              <a:rPr sz="2600" b="1">
                <a:solidFill>
                  <a:srgbClr val="FFFFFF"/>
                </a:solidFill>
                <a:latin typeface="Calibri"/>
              </a:rPr>
              <a:t>Baholash mezoni (jami 100 ball)</a:t>
            </a:r>
          </a:p>
        </p:txBody>
      </p:sp>
      <p:sp>
        <p:nvSpPr>
          <p:cNvPr id="7" name="Rectangle 6"/>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A1 · Sun'iy intellektga asoslangan kompyuter tizimlari arxitekturasini tahlil qilish va loyihalash</a:t>
            </a:r>
          </a:p>
        </p:txBody>
      </p:sp>
      <p:sp>
        <p:nvSpPr>
          <p:cNvPr id="9" name="TextBox 8"/>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32</a:t>
            </a:r>
          </a:p>
        </p:txBody>
      </p:sp>
      <p:sp>
        <p:nvSpPr>
          <p:cNvPr id="10" name="Rounded Rectangle 9"/>
          <p:cNvSpPr/>
          <p:nvPr/>
        </p:nvSpPr>
        <p:spPr>
          <a:xfrm>
            <a:off x="550000" y="2533333"/>
            <a:ext cx="11100000" cy="1250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50000" y="2533333"/>
            <a:ext cx="70000" cy="1250000"/>
          </a:xfrm>
          <a:prstGeom prst="rect">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800000" y="2928333"/>
            <a:ext cx="460000" cy="460000"/>
          </a:xfrm>
          <a:prstGeom prst="ellipse">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1</a:t>
            </a:r>
          </a:p>
        </p:txBody>
      </p:sp>
      <p:sp>
        <p:nvSpPr>
          <p:cNvPr id="13" name="TextBox 12"/>
          <p:cNvSpPr txBox="1"/>
          <p:nvPr/>
        </p:nvSpPr>
        <p:spPr>
          <a:xfrm>
            <a:off x="1450000" y="2533333"/>
            <a:ext cx="10050000" cy="1250000"/>
          </a:xfrm>
          <a:prstGeom prst="rect">
            <a:avLst/>
          </a:prstGeom>
          <a:noFill/>
        </p:spPr>
        <p:txBody>
          <a:bodyPr wrap="square" anchor="ctr" lIns="50800" rIns="50800">
            <a:spAutoFit/>
          </a:bodyPr>
          <a:lstStyle/>
          <a:p>
            <a:pPr algn="l"/>
            <a:r>
              <a:rPr sz="1800" b="0">
                <a:solidFill>
                  <a:srgbClr val="1B2430"/>
                </a:solidFill>
                <a:latin typeface="Calibri"/>
              </a:rPr>
              <a:t>Qo'shimcha 10 ball: talaba ikkinchi ssenariy (masalan, 64 kamera, markaziy serverda ishlov) uchun ham tahlil o'tkazib, Edge va markazlashgan variantlarning TCO'sini 3 yilga solishtirsa.</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1"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6"/>
                                        </p:tgtEl>
                                        <p:attrNameLst>
                                          <p:attrName>style.visibility</p:attrName>
                                        </p:attrNameLst>
                                      </p:cBhvr>
                                      <p:to>
                                        <p:strVal val="visible"/>
                                      </p:to>
                                    </p:set>
                                    <p:animEffect transition="in" filter="fade">
                                      <p:cBhvr>
                                        <p:cTn id="6" dur="550"/>
                                        <p:tgtEl>
                                          <p:spTgt spid="6"/>
                                        </p:tgtEl>
                                      </p:cBhvr>
                                    </p:animEffect>
                                  </p:childTnLst>
                                </p:cTn>
                              </p:par>
                            </p:childTnLst>
                          </p:cTn>
                        </p:par>
                        <p:par>
                          <p:cTn id="7" fill="hold">
                            <p:stCondLst>
                              <p:cond delay="220"/>
                            </p:stCondLst>
                            <p:childTnLst>
                              <p:par>
                                <p:cTn id="8" presetID="42" presetClass="entr" presetSubtype="0" fill="hold" grpId="0" nodeType="after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fade">
                                      <p:cBhvr>
                                        <p:cTn id="10" dur="550"/>
                                        <p:tgtEl>
                                          <p:spTgt spid="10"/>
                                        </p:tgtEl>
                                      </p:cBhvr>
                                    </p:animEffect>
                                    <p:anim calcmode="lin" valueType="num">
                                      <p:cBhvr additive="base">
                                        <p:cTn id="11" dur="550" fill="hold"/>
                                        <p:tgtEl>
                                          <p:spTgt spid="10"/>
                                        </p:tgtEl>
                                        <p:attrNameLst>
                                          <p:attrName>ppt_x</p:attrName>
                                        </p:attrNameLst>
                                      </p:cBhvr>
                                      <p:tavLst>
                                        <p:tav tm="0">
                                          <p:val>
                                            <p:strVal val="#ppt_x"/>
                                          </p:val>
                                        </p:tav>
                                        <p:tav tm="100000">
                                          <p:val>
                                            <p:strVal val="#ppt_x"/>
                                          </p:val>
                                        </p:tav>
                                      </p:tavLst>
                                    </p:anim>
                                    <p:anim calcmode="lin" valueType="num">
                                      <p:cBhvr additive="base">
                                        <p:cTn id="12" dur="550" fill="hold"/>
                                        <p:tgtEl>
                                          <p:spTgt spid="10"/>
                                        </p:tgtEl>
                                        <p:attrNameLst>
                                          <p:attrName>ppt_y</p:attrName>
                                        </p:attrNameLst>
                                      </p:cBhvr>
                                      <p:tavLst>
                                        <p:tav tm="0">
                                          <p:val>
                                            <p:strVal val="#ppt_y+.08"/>
                                          </p:val>
                                        </p:tav>
                                        <p:tav tm="100000">
                                          <p:val>
                                            <p:strVal val="#ppt_y"/>
                                          </p:val>
                                        </p:tav>
                                      </p:tavLst>
                                    </p:anim>
                                  </p:childTnLst>
                                </p:cTn>
                              </p:par>
                            </p:childTnLst>
                          </p:cTn>
                        </p:par>
                        <p:par>
                          <p:cTn id="13" fill="hold">
                            <p:stCondLst>
                              <p:cond delay="220"/>
                            </p:stCondLst>
                            <p:childTnLst>
                              <p:par>
                                <p:cTn id="14" presetID="42" presetClass="entr" presetSubtype="0" fill="hold" grpId="0" nodeType="afterEffect">
                                  <p:stCondLst>
                                    <p:cond delay="0"/>
                                  </p:stCondLst>
                                  <p:childTnLst>
                                    <p:set>
                                      <p:cBhvr>
                                        <p:cTn id="15" dur="1" fill="hold">
                                          <p:stCondLst>
                                            <p:cond delay="0"/>
                                          </p:stCondLst>
                                        </p:cTn>
                                        <p:tgtEl>
                                          <p:spTgt spid="11"/>
                                        </p:tgtEl>
                                        <p:attrNameLst>
                                          <p:attrName>style.visibility</p:attrName>
                                        </p:attrNameLst>
                                      </p:cBhvr>
                                      <p:to>
                                        <p:strVal val="visible"/>
                                      </p:to>
                                    </p:set>
                                    <p:animEffect transition="in" filter="fade">
                                      <p:cBhvr>
                                        <p:cTn id="16" dur="550"/>
                                        <p:tgtEl>
                                          <p:spTgt spid="11"/>
                                        </p:tgtEl>
                                      </p:cBhvr>
                                    </p:animEffect>
                                    <p:anim calcmode="lin" valueType="num">
                                      <p:cBhvr additive="base">
                                        <p:cTn id="17" dur="550" fill="hold"/>
                                        <p:tgtEl>
                                          <p:spTgt spid="11"/>
                                        </p:tgtEl>
                                        <p:attrNameLst>
                                          <p:attrName>ppt_x</p:attrName>
                                        </p:attrNameLst>
                                      </p:cBhvr>
                                      <p:tavLst>
                                        <p:tav tm="0">
                                          <p:val>
                                            <p:strVal val="#ppt_x"/>
                                          </p:val>
                                        </p:tav>
                                        <p:tav tm="100000">
                                          <p:val>
                                            <p:strVal val="#ppt_x"/>
                                          </p:val>
                                        </p:tav>
                                      </p:tavLst>
                                    </p:anim>
                                    <p:anim calcmode="lin" valueType="num">
                                      <p:cBhvr additive="base">
                                        <p:cTn id="18" dur="550" fill="hold"/>
                                        <p:tgtEl>
                                          <p:spTgt spid="11"/>
                                        </p:tgtEl>
                                        <p:attrNameLst>
                                          <p:attrName>ppt_y</p:attrName>
                                        </p:attrNameLst>
                                      </p:cBhvr>
                                      <p:tavLst>
                                        <p:tav tm="0">
                                          <p:val>
                                            <p:strVal val="#ppt_y+.08"/>
                                          </p:val>
                                        </p:tav>
                                        <p:tav tm="100000">
                                          <p:val>
                                            <p:strVal val="#ppt_y"/>
                                          </p:val>
                                        </p:tav>
                                      </p:tavLst>
                                    </p:anim>
                                  </p:childTnLst>
                                </p:cTn>
                              </p:par>
                            </p:childTnLst>
                          </p:cTn>
                        </p:par>
                        <p:par>
                          <p:cTn id="19" fill="hold">
                            <p:stCondLst>
                              <p:cond delay="220"/>
                            </p:stCondLst>
                            <p:childTnLst>
                              <p:par>
                                <p:cTn id="20" presetID="53" presetClass="entr" presetSubtype="16" fill="hold" grpId="0" nodeType="afterEffect">
                                  <p:stCondLst>
                                    <p:cond delay="0"/>
                                  </p:stCondLst>
                                  <p:childTnLst>
                                    <p:set>
                                      <p:cBhvr>
                                        <p:cTn id="21" dur="1" fill="hold">
                                          <p:stCondLst>
                                            <p:cond delay="0"/>
                                          </p:stCondLst>
                                        </p:cTn>
                                        <p:tgtEl>
                                          <p:spTgt spid="12"/>
                                        </p:tgtEl>
                                        <p:attrNameLst>
                                          <p:attrName>style.visibility</p:attrName>
                                        </p:attrNameLst>
                                      </p:cBhvr>
                                      <p:to>
                                        <p:strVal val="visible"/>
                                      </p:to>
                                    </p:set>
                                    <p:animEffect transition="in" filter="fade">
                                      <p:cBhvr>
                                        <p:cTn id="22" dur="550"/>
                                        <p:tgtEl>
                                          <p:spTgt spid="12"/>
                                        </p:tgtEl>
                                      </p:cBhvr>
                                    </p:animEffect>
                                    <p:anim calcmode="lin" valueType="num">
                                      <p:cBhvr additive="base">
                                        <p:cTn id="23" dur="550" fill="hold"/>
                                        <p:tgtEl>
                                          <p:spTgt spid="12"/>
                                        </p:tgtEl>
                                        <p:attrNameLst>
                                          <p:attrName>ppt_w</p:attrName>
                                        </p:attrNameLst>
                                      </p:cBhvr>
                                      <p:tavLst>
                                        <p:tav tm="0">
                                          <p:val>
                                            <p:strVal val="0"/>
                                          </p:val>
                                        </p:tav>
                                        <p:tav tm="100000">
                                          <p:val>
                                            <p:strVal val="#ppt_w"/>
                                          </p:val>
                                        </p:tav>
                                      </p:tavLst>
                                    </p:anim>
                                    <p:anim calcmode="lin" valueType="num">
                                      <p:cBhvr additive="base">
                                        <p:cTn id="24" dur="550" fill="hold"/>
                                        <p:tgtEl>
                                          <p:spTgt spid="12"/>
                                        </p:tgtEl>
                                        <p:attrNameLst>
                                          <p:attrName>ppt_h</p:attrName>
                                        </p:attrNameLst>
                                      </p:cBhvr>
                                      <p:tavLst>
                                        <p:tav tm="0">
                                          <p:val>
                                            <p:strVal val="0"/>
                                          </p:val>
                                        </p:tav>
                                        <p:tav tm="100000">
                                          <p:val>
                                            <p:strVal val="#ppt_h"/>
                                          </p:val>
                                        </p:tav>
                                      </p:tavLst>
                                    </p:anim>
                                  </p:childTnLst>
                                </p:cTn>
                              </p:par>
                            </p:childTnLst>
                          </p:cTn>
                        </p:par>
                        <p:par>
                          <p:cTn id="25" fill="hold">
                            <p:stCondLst>
                              <p:cond delay="220"/>
                            </p:stCondLst>
                            <p:childTnLst>
                              <p:par>
                                <p:cTn id="26" presetID="42" presetClass="entr" presetSubtype="0" fill="hold" grpId="0" nodeType="afterEffect">
                                  <p:stCondLst>
                                    <p:cond delay="0"/>
                                  </p:stCondLst>
                                  <p:childTnLst>
                                    <p:set>
                                      <p:cBhvr>
                                        <p:cTn id="27" dur="1" fill="hold">
                                          <p:stCondLst>
                                            <p:cond delay="0"/>
                                          </p:stCondLst>
                                        </p:cTn>
                                        <p:tgtEl>
                                          <p:spTgt spid="13"/>
                                        </p:tgtEl>
                                        <p:attrNameLst>
                                          <p:attrName>style.visibility</p:attrName>
                                        </p:attrNameLst>
                                      </p:cBhvr>
                                      <p:to>
                                        <p:strVal val="visible"/>
                                      </p:to>
                                    </p:set>
                                    <p:animEffect transition="in" filter="fade">
                                      <p:cBhvr>
                                        <p:cTn id="28" dur="550"/>
                                        <p:tgtEl>
                                          <p:spTgt spid="13"/>
                                        </p:tgtEl>
                                      </p:cBhvr>
                                    </p:animEffect>
                                    <p:anim calcmode="lin" valueType="num">
                                      <p:cBhvr additive="base">
                                        <p:cTn id="29" dur="550" fill="hold"/>
                                        <p:tgtEl>
                                          <p:spTgt spid="13"/>
                                        </p:tgtEl>
                                        <p:attrNameLst>
                                          <p:attrName>ppt_x</p:attrName>
                                        </p:attrNameLst>
                                      </p:cBhvr>
                                      <p:tavLst>
                                        <p:tav tm="0">
                                          <p:val>
                                            <p:strVal val="#ppt_x"/>
                                          </p:val>
                                        </p:tav>
                                        <p:tav tm="100000">
                                          <p:val>
                                            <p:strVal val="#ppt_x"/>
                                          </p:val>
                                        </p:tav>
                                      </p:tavLst>
                                    </p:anim>
                                    <p:anim calcmode="lin" valueType="num">
                                      <p:cBhvr additive="base">
                                        <p:cTn id="30" dur="550" fill="hold"/>
                                        <p:tgtEl>
                                          <p:spTgt spid="13"/>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10" grpId="0" animBg="1"/>
      <p:bldP spid="11" grpId="0" animBg="1"/>
      <p:bldP spid="12" grpId="0" animBg="1"/>
      <p:bldP spid="13" grpId="0" animBg="1"/>
    </p:bldLst>
  </p:timing>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110000"/>
            <a:ext cx="10300000" cy="300000"/>
          </a:xfrm>
          <a:prstGeom prst="rect">
            <a:avLst/>
          </a:prstGeom>
          <a:noFill/>
        </p:spPr>
        <p:txBody>
          <a:bodyPr wrap="square" anchor="t" lIns="50800" rIns="50800">
            <a:spAutoFit/>
          </a:bodyPr>
          <a:lstStyle/>
          <a:p>
            <a:pPr algn="l"/>
            <a:r>
              <a:rPr sz="1200" b="1">
                <a:solidFill>
                  <a:srgbClr val="A9C4E6"/>
                </a:solidFill>
                <a:latin typeface="Calibri"/>
              </a:rPr>
              <a:t>AMALIY MISOL</a:t>
            </a:r>
          </a:p>
        </p:txBody>
      </p:sp>
      <p:sp>
        <p:nvSpPr>
          <p:cNvPr id="6" name="TextBox 5"/>
          <p:cNvSpPr txBox="1"/>
          <p:nvPr/>
        </p:nvSpPr>
        <p:spPr>
          <a:xfrm>
            <a:off x="500000" y="330000"/>
            <a:ext cx="10400000" cy="650000"/>
          </a:xfrm>
          <a:prstGeom prst="rect">
            <a:avLst/>
          </a:prstGeom>
          <a:noFill/>
        </p:spPr>
        <p:txBody>
          <a:bodyPr wrap="square" anchor="ctr" lIns="50800" rIns="50800">
            <a:spAutoFit/>
          </a:bodyPr>
          <a:lstStyle/>
          <a:p>
            <a:pPr algn="l"/>
            <a:r>
              <a:rPr sz="2600" b="1">
                <a:solidFill>
                  <a:srgbClr val="FFFFFF"/>
                </a:solidFill>
                <a:latin typeface="Calibri"/>
              </a:rPr>
              <a:t>Baholash mezoni (jami 100 ball)</a:t>
            </a:r>
          </a:p>
        </p:txBody>
      </p:sp>
      <p:sp>
        <p:nvSpPr>
          <p:cNvPr id="7" name="Rectangle 6"/>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A1 · Sun'iy intellektga asoslangan kompyuter tizimlari arxitekturasini tahlil qilish va loyihalash</a:t>
            </a:r>
          </a:p>
        </p:txBody>
      </p:sp>
      <p:sp>
        <p:nvSpPr>
          <p:cNvPr id="9" name="TextBox 8"/>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33</a:t>
            </a:r>
          </a:p>
        </p:txBody>
      </p:sp>
      <p:graphicFrame>
        <p:nvGraphicFramePr>
          <p:cNvPr id="10" name="Table 9"/>
          <p:cNvGraphicFramePr>
            <a:graphicFrameLocks noGrp="1"/>
          </p:cNvGraphicFramePr>
          <p:nvPr/>
        </p:nvGraphicFramePr>
        <p:xfrm>
          <a:off x="500000" y="1350000"/>
          <a:ext cx="11200000" cy="3640000"/>
        </p:xfrm>
        <a:graphic>
          <a:graphicData uri="http://schemas.openxmlformats.org/drawingml/2006/table">
            <a:tbl>
              <a:tblPr firstRow="1" bandRow="1">
                <a:tableStyleId>{5C22544A-7EE6-4342-B048-85BDC9FD1C3A}</a:tableStyleId>
              </a:tblPr>
              <a:tblGrid>
                <a:gridCol w="5600000"/>
                <a:gridCol w="5600000"/>
              </a:tblGrid>
              <a:tr h="520000">
                <a:tc>
                  <a:txBody>
                    <a:bodyPr/>
                    <a:lstStyle/>
                    <a:p>
                      <a:r>
                        <a:rPr sz="1000" b="1">
                          <a:solidFill>
                            <a:srgbClr val="FFFFFF"/>
                          </a:solidFill>
                          <a:latin typeface="Calibri"/>
                        </a:rPr>
                        <a:t>Mezon</a:t>
                      </a:r>
                    </a:p>
                  </a:txBody>
                  <a:tcPr>
                    <a:solidFill>
                      <a:srgbClr val="2D5C8F"/>
                    </a:solidFill>
                  </a:tcPr>
                </a:tc>
                <a:tc>
                  <a:txBody>
                    <a:bodyPr/>
                    <a:lstStyle/>
                    <a:p>
                      <a:r>
                        <a:rPr sz="1000" b="1">
                          <a:solidFill>
                            <a:srgbClr val="FFFFFF"/>
                          </a:solidFill>
                          <a:latin typeface="Calibri"/>
                        </a:rPr>
                        <a:t>Ball</a:t>
                      </a:r>
                    </a:p>
                  </a:txBody>
                  <a:tcPr>
                    <a:solidFill>
                      <a:srgbClr val="2D5C8F"/>
                    </a:solidFill>
                  </a:tcPr>
                </a:tc>
              </a:tr>
              <a:tr h="520000">
                <a:tc>
                  <a:txBody>
                    <a:bodyPr/>
                    <a:lstStyle/>
                    <a:p>
                      <a:r>
                        <a:rPr sz="1000" b="0">
                          <a:solidFill>
                            <a:srgbClr val="1B2430"/>
                          </a:solidFill>
                          <a:latin typeface="Calibri"/>
                        </a:rPr>
                        <a:t>Talablar matritsasi to'liq va og'irliklar asoslangan</a:t>
                      </a:r>
                    </a:p>
                  </a:txBody>
                  <a:tcPr>
                    <a:solidFill>
                      <a:srgbClr val="F1F4F8"/>
                    </a:solidFill>
                  </a:tcPr>
                </a:tc>
                <a:tc>
                  <a:txBody>
                    <a:bodyPr/>
                    <a:lstStyle/>
                    <a:p>
                      <a:r>
                        <a:rPr sz="1000" b="0">
                          <a:solidFill>
                            <a:srgbClr val="1B2430"/>
                          </a:solidFill>
                          <a:latin typeface="Calibri"/>
                        </a:rPr>
                        <a:t>15</a:t>
                      </a:r>
                    </a:p>
                  </a:txBody>
                  <a:tcPr>
                    <a:solidFill>
                      <a:srgbClr val="F1F4F8"/>
                    </a:solidFill>
                  </a:tcPr>
                </a:tc>
              </a:tr>
              <a:tr h="520000">
                <a:tc>
                  <a:txBody>
                    <a:bodyPr/>
                    <a:lstStyle/>
                    <a:p>
                      <a:r>
                        <a:rPr sz="1000" b="0">
                          <a:solidFill>
                            <a:srgbClr val="1B2430"/>
                          </a:solidFill>
                          <a:latin typeface="Calibri"/>
                        </a:rPr>
                        <a:t>Yuklama hisobi skripti ishlaydi, natijalar to'g'ri talqin qilingan</a:t>
                      </a:r>
                    </a:p>
                  </a:txBody>
                  <a:tcPr>
                    <a:solidFill>
                      <a:srgbClr val="FFFFFF"/>
                    </a:solidFill>
                  </a:tcPr>
                </a:tc>
                <a:tc>
                  <a:txBody>
                    <a:bodyPr/>
                    <a:lstStyle/>
                    <a:p>
                      <a:r>
                        <a:rPr sz="1000" b="0">
                          <a:solidFill>
                            <a:srgbClr val="1B2430"/>
                          </a:solidFill>
                          <a:latin typeface="Calibri"/>
                        </a:rPr>
                        <a:t>20</a:t>
                      </a:r>
                    </a:p>
                  </a:txBody>
                  <a:tcPr>
                    <a:solidFill>
                      <a:srgbClr val="FFFFFF"/>
                    </a:solidFill>
                  </a:tcPr>
                </a:tc>
              </a:tr>
              <a:tr h="520000">
                <a:tc>
                  <a:txBody>
                    <a:bodyPr/>
                    <a:lstStyle/>
                    <a:p>
                      <a:r>
                        <a:rPr sz="1000" b="0">
                          <a:solidFill>
                            <a:srgbClr val="1B2430"/>
                          </a:solidFill>
                          <a:latin typeface="Calibri"/>
                        </a:rPr>
                        <a:t>Kamida 3 platforma rasmiy tavsiflar bilan solishtirilgan, manbalar ko'rsatilgan</a:t>
                      </a:r>
                    </a:p>
                  </a:txBody>
                  <a:tcPr>
                    <a:solidFill>
                      <a:srgbClr val="F1F4F8"/>
                    </a:solidFill>
                  </a:tcPr>
                </a:tc>
                <a:tc>
                  <a:txBody>
                    <a:bodyPr/>
                    <a:lstStyle/>
                    <a:p>
                      <a:r>
                        <a:rPr sz="1000" b="0">
                          <a:solidFill>
                            <a:srgbClr val="1B2430"/>
                          </a:solidFill>
                          <a:latin typeface="Calibri"/>
                        </a:rPr>
                        <a:t>20</a:t>
                      </a:r>
                    </a:p>
                  </a:txBody>
                  <a:tcPr>
                    <a:solidFill>
                      <a:srgbClr val="F1F4F8"/>
                    </a:solidFill>
                  </a:tcPr>
                </a:tc>
              </a:tr>
              <a:tr h="520000">
                <a:tc>
                  <a:txBody>
                    <a:bodyPr/>
                    <a:lstStyle/>
                    <a:p>
                      <a:r>
                        <a:rPr sz="1000" b="0">
                          <a:solidFill>
                            <a:srgbClr val="1B2430"/>
                          </a:solidFill>
                          <a:latin typeface="Calibri"/>
                        </a:rPr>
                        <a:t>Strukturaviy sxema barcha bloklar va interfeyslarni qamrab olgan, kechikish byudjeti taqsimlangan</a:t>
                      </a:r>
                    </a:p>
                  </a:txBody>
                  <a:tcPr>
                    <a:solidFill>
                      <a:srgbClr val="FFFFFF"/>
                    </a:solidFill>
                  </a:tcPr>
                </a:tc>
                <a:tc>
                  <a:txBody>
                    <a:bodyPr/>
                    <a:lstStyle/>
                    <a:p>
                      <a:r>
                        <a:rPr sz="1000" b="0">
                          <a:solidFill>
                            <a:srgbClr val="1B2430"/>
                          </a:solidFill>
                          <a:latin typeface="Calibri"/>
                        </a:rPr>
                        <a:t>20</a:t>
                      </a:r>
                    </a:p>
                  </a:txBody>
                  <a:tcPr>
                    <a:solidFill>
                      <a:srgbClr val="FFFFFF"/>
                    </a:solidFill>
                  </a:tcPr>
                </a:tc>
              </a:tr>
              <a:tr h="520000">
                <a:tc>
                  <a:txBody>
                    <a:bodyPr/>
                    <a:lstStyle/>
                    <a:p>
                      <a:r>
                        <a:rPr sz="1000" b="0">
                          <a:solidFill>
                            <a:srgbClr val="1B2430"/>
                          </a:solidFill>
                          <a:latin typeface="Calibri"/>
                        </a:rPr>
                        <a:t>Co-design tamoyillari (format, operator qamrovi, xotira, energiya) qarorda aks etgan</a:t>
                      </a:r>
                    </a:p>
                  </a:txBody>
                  <a:tcPr>
                    <a:solidFill>
                      <a:srgbClr val="F1F4F8"/>
                    </a:solidFill>
                  </a:tcPr>
                </a:tc>
                <a:tc>
                  <a:txBody>
                    <a:bodyPr/>
                    <a:lstStyle/>
                    <a:p>
                      <a:r>
                        <a:rPr sz="1000" b="0">
                          <a:solidFill>
                            <a:srgbClr val="1B2430"/>
                          </a:solidFill>
                          <a:latin typeface="Calibri"/>
                        </a:rPr>
                        <a:t>15</a:t>
                      </a:r>
                    </a:p>
                  </a:txBody>
                  <a:tcPr>
                    <a:solidFill>
                      <a:srgbClr val="F1F4F8"/>
                    </a:solidFill>
                  </a:tcPr>
                </a:tc>
              </a:tr>
              <a:tr h="520000">
                <a:tc>
                  <a:txBody>
                    <a:bodyPr/>
                    <a:lstStyle/>
                    <a:p>
                      <a:r>
                        <a:rPr sz="1000" b="0">
                          <a:solidFill>
                            <a:srgbClr val="1B2430"/>
                          </a:solidFill>
                          <a:latin typeface="Calibri"/>
                        </a:rPr>
                        <a:t>Hisobot rasmiylashtirilishi va himoya paytidagi javoblar</a:t>
                      </a:r>
                    </a:p>
                  </a:txBody>
                  <a:tcPr>
                    <a:solidFill>
                      <a:srgbClr val="FFFFFF"/>
                    </a:solidFill>
                  </a:tcPr>
                </a:tc>
                <a:tc>
                  <a:txBody>
                    <a:bodyPr/>
                    <a:lstStyle/>
                    <a:p>
                      <a:r>
                        <a:rPr sz="1000" b="0">
                          <a:solidFill>
                            <a:srgbClr val="1B2430"/>
                          </a:solidFill>
                          <a:latin typeface="Calibri"/>
                        </a:rPr>
                        <a:t>10</a:t>
                      </a:r>
                    </a:p>
                  </a:txBody>
                  <a:tcPr>
                    <a:solidFill>
                      <a:srgbClr val="FFFFFF"/>
                    </a:solidFill>
                  </a:tcPr>
                </a:tc>
              </a:tr>
            </a:tbl>
          </a:graphicData>
        </a:graphic>
      </p:graphicFrame>
    </p:spTree>
  </p:cSld>
  <p:clrMapOvr>
    <a:masterClrMapping/>
  </p:clrMapOvr>
  <p:transition spd="med">
    <p:fade/>
  </p:transition>
  <p:timing>
    <p:tnLst>
      <p:par>
        <p:cTn id="1" dur="indefinite" restart="never" nodeType="tmRoot">
          <p:childTnLst>
            <p:seq concurrent="1" nextAc="seek">
              <p:cTn id="2" dur="indefinite" nodeType="mainSeq">
                <p:childTnLst>
                  <p:par>
                    <p:cTn id="12"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6"/>
                                        </p:tgtEl>
                                        <p:attrNameLst>
                                          <p:attrName>style.visibility</p:attrName>
                                        </p:attrNameLst>
                                      </p:cBhvr>
                                      <p:to>
                                        <p:strVal val="visible"/>
                                      </p:to>
                                    </p:set>
                                    <p:animEffect transition="in" filter="fade">
                                      <p:cBhvr>
                                        <p:cTn id="6" dur="550"/>
                                        <p:tgtEl>
                                          <p:spTgt spid="6"/>
                                        </p:tgtEl>
                                      </p:cBhvr>
                                    </p:animEffect>
                                  </p:childTnLst>
                                </p:cTn>
                              </p:par>
                            </p:childTnLst>
                          </p:cTn>
                        </p:par>
                        <p:par>
                          <p:cTn id="7" fill="hold">
                            <p:stCondLst>
                              <p:cond delay="200"/>
                            </p:stCondLst>
                            <p:childTnLst>
                              <p:par>
                                <p:cTn id="8" presetID="22" presetClass="entr" presetSubtype="8" fill="hold" grpId="0" nodeType="after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wipe(left)">
                                      <p:cBhvr>
                                        <p:cTn id="11" dur="80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Lst>
  </p:timing>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162E4D"/>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900000" y="1700000"/>
            <a:ext cx="3000000" cy="3000000"/>
          </a:xfrm>
          <a:prstGeom prst="ellipse">
            <a:avLst/>
          </a:prstGeom>
          <a:noFill/>
          <a:ln w="76200">
            <a:solidFill>
              <a:srgbClr val="7FD6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00000" y="2350000"/>
            <a:ext cx="3000000" cy="1700000"/>
          </a:xfrm>
          <a:prstGeom prst="rect">
            <a:avLst/>
          </a:prstGeom>
          <a:noFill/>
        </p:spPr>
        <p:txBody>
          <a:bodyPr wrap="square" anchor="ctr" lIns="50800" rIns="50800">
            <a:spAutoFit/>
          </a:bodyPr>
          <a:lstStyle/>
          <a:p>
            <a:pPr algn="ctr"/>
            <a:r>
              <a:rPr sz="7200" b="1">
                <a:solidFill>
                  <a:srgbClr val="FFFFFF"/>
                </a:solidFill>
                <a:latin typeface="Calibri"/>
              </a:rPr>
              <a:t>05</a:t>
            </a:r>
          </a:p>
        </p:txBody>
      </p:sp>
      <p:sp>
        <p:nvSpPr>
          <p:cNvPr id="5" name="TextBox 4"/>
          <p:cNvSpPr txBox="1"/>
          <p:nvPr/>
        </p:nvSpPr>
        <p:spPr>
          <a:xfrm>
            <a:off x="4500000" y="2400000"/>
            <a:ext cx="7000000" cy="1600000"/>
          </a:xfrm>
          <a:prstGeom prst="rect">
            <a:avLst/>
          </a:prstGeom>
          <a:noFill/>
        </p:spPr>
        <p:txBody>
          <a:bodyPr wrap="square" anchor="ctr" lIns="50800" rIns="50800">
            <a:spAutoFit/>
          </a:bodyPr>
          <a:lstStyle/>
          <a:p>
            <a:pPr algn="l"/>
            <a:r>
              <a:rPr sz="3600" b="1">
                <a:solidFill>
                  <a:srgbClr val="FFFFFF"/>
                </a:solidFill>
                <a:latin typeface="Calibri"/>
              </a:rPr>
              <a:t>Natijalarni tahlil qilish</a:t>
            </a:r>
          </a:p>
        </p:txBody>
      </p:sp>
      <p:sp>
        <p:nvSpPr>
          <p:cNvPr id="6" name="Rectangle 5"/>
          <p:cNvSpPr/>
          <p:nvPr/>
        </p:nvSpPr>
        <p:spPr>
          <a:xfrm>
            <a:off x="4550000" y="4100000"/>
            <a:ext cx="2200000" cy="60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transition spd="med">
    <p:push dir="u"/>
  </p:transition>
  <p:timing>
    <p:tnLst>
      <p:par>
        <p:cTn id="1" dur="indefinite" restart="never" nodeType="tmRoot">
          <p:childTnLst>
            <p:seq concurrent="1" nextAc="seek">
              <p:cTn id="2" dur="indefinite" nodeType="mainSeq">
                <p:childTnLst>
                  <p:par>
                    <p:cTn id="26" fill="hold">
                      <p:stCondLst>
                        <p:cond delay="indefinite"/>
                        <p:cond evt="onBegin" delay="0">
                          <p:tn val="2"/>
                        </p:cond>
                      </p:stCondLst>
                      <p:childTnLst>
                        <p:par>
                          <p:cTn id="3" fill="hold">
                            <p:stCondLst>
                              <p:cond delay="0"/>
                            </p:stCondLst>
                            <p:childTnLst>
                              <p:par>
                                <p:cTn id="4" presetID="53" presetClass="entr" presetSubtype="16" fill="hold" grpId="0" nodeType="withEffect">
                                  <p:stCondLst>
                                    <p:cond delay="0"/>
                                  </p:stCondLst>
                                  <p:childTnLst>
                                    <p:set>
                                      <p:cBhvr>
                                        <p:cTn id="5" dur="1" fill="hold">
                                          <p:stCondLst>
                                            <p:cond delay="0"/>
                                          </p:stCondLst>
                                        </p:cTn>
                                        <p:tgtEl>
                                          <p:spTgt spid="3"/>
                                        </p:tgtEl>
                                        <p:attrNameLst>
                                          <p:attrName>style.visibility</p:attrName>
                                        </p:attrNameLst>
                                      </p:cBhvr>
                                      <p:to>
                                        <p:strVal val="visible"/>
                                      </p:to>
                                    </p:set>
                                    <p:animEffect transition="in" filter="fade">
                                      <p:cBhvr>
                                        <p:cTn id="6" dur="550"/>
                                        <p:tgtEl>
                                          <p:spTgt spid="3"/>
                                        </p:tgtEl>
                                      </p:cBhvr>
                                    </p:animEffect>
                                    <p:anim calcmode="lin" valueType="num">
                                      <p:cBhvr additive="base">
                                        <p:cTn id="7" dur="550" fill="hold"/>
                                        <p:tgtEl>
                                          <p:spTgt spid="3"/>
                                        </p:tgtEl>
                                        <p:attrNameLst>
                                          <p:attrName>ppt_w</p:attrName>
                                        </p:attrNameLst>
                                      </p:cBhvr>
                                      <p:tavLst>
                                        <p:tav tm="0">
                                          <p:val>
                                            <p:strVal val="0"/>
                                          </p:val>
                                        </p:tav>
                                        <p:tav tm="100000">
                                          <p:val>
                                            <p:strVal val="#ppt_w"/>
                                          </p:val>
                                        </p:tav>
                                      </p:tavLst>
                                    </p:anim>
                                    <p:anim calcmode="lin" valueType="num">
                                      <p:cBhvr additive="base">
                                        <p:cTn id="8" dur="550" fill="hold"/>
                                        <p:tgtEl>
                                          <p:spTgt spid="3"/>
                                        </p:tgtEl>
                                        <p:attrNameLst>
                                          <p:attrName>ppt_h</p:attrName>
                                        </p:attrNameLst>
                                      </p:cBhvr>
                                      <p:tavLst>
                                        <p:tav tm="0">
                                          <p:val>
                                            <p:strVal val="0"/>
                                          </p:val>
                                        </p:tav>
                                        <p:tav tm="100000">
                                          <p:val>
                                            <p:strVal val="#ppt_h"/>
                                          </p:val>
                                        </p:tav>
                                      </p:tavLst>
                                    </p:anim>
                                  </p:childTnLst>
                                </p:cTn>
                              </p:par>
                            </p:childTnLst>
                          </p:cTn>
                        </p:par>
                        <p:par>
                          <p:cTn id="9" fill="hold">
                            <p:stCondLst>
                              <p:cond delay="100"/>
                            </p:stCondLst>
                            <p:childTnLst>
                              <p:par>
                                <p:cTn id="10" presetID="53" presetClass="entr" presetSubtype="16" fill="hold" grpId="0" nodeType="afterEffect">
                                  <p:stCondLst>
                                    <p:cond delay="0"/>
                                  </p:stCondLst>
                                  <p:childTnLst>
                                    <p:set>
                                      <p:cBhvr>
                                        <p:cTn id="11" dur="1" fill="hold">
                                          <p:stCondLst>
                                            <p:cond delay="0"/>
                                          </p:stCondLst>
                                        </p:cTn>
                                        <p:tgtEl>
                                          <p:spTgt spid="4"/>
                                        </p:tgtEl>
                                        <p:attrNameLst>
                                          <p:attrName>style.visibility</p:attrName>
                                        </p:attrNameLst>
                                      </p:cBhvr>
                                      <p:to>
                                        <p:strVal val="visible"/>
                                      </p:to>
                                    </p:set>
                                    <p:animEffect transition="in" filter="fade">
                                      <p:cBhvr>
                                        <p:cTn id="12" dur="550"/>
                                        <p:tgtEl>
                                          <p:spTgt spid="4"/>
                                        </p:tgtEl>
                                      </p:cBhvr>
                                    </p:animEffect>
                                    <p:anim calcmode="lin" valueType="num">
                                      <p:cBhvr additive="base">
                                        <p:cTn id="13" dur="550" fill="hold"/>
                                        <p:tgtEl>
                                          <p:spTgt spid="4"/>
                                        </p:tgtEl>
                                        <p:attrNameLst>
                                          <p:attrName>ppt_w</p:attrName>
                                        </p:attrNameLst>
                                      </p:cBhvr>
                                      <p:tavLst>
                                        <p:tav tm="0">
                                          <p:val>
                                            <p:strVal val="0"/>
                                          </p:val>
                                        </p:tav>
                                        <p:tav tm="100000">
                                          <p:val>
                                            <p:strVal val="#ppt_w"/>
                                          </p:val>
                                        </p:tav>
                                      </p:tavLst>
                                    </p:anim>
                                    <p:anim calcmode="lin" valueType="num">
                                      <p:cBhvr additive="base">
                                        <p:cTn id="14" dur="550" fill="hold"/>
                                        <p:tgtEl>
                                          <p:spTgt spid="4"/>
                                        </p:tgtEl>
                                        <p:attrNameLst>
                                          <p:attrName>ppt_h</p:attrName>
                                        </p:attrNameLst>
                                      </p:cBhvr>
                                      <p:tavLst>
                                        <p:tav tm="0">
                                          <p:val>
                                            <p:strVal val="0"/>
                                          </p:val>
                                        </p:tav>
                                        <p:tav tm="100000">
                                          <p:val>
                                            <p:strVal val="#ppt_h"/>
                                          </p:val>
                                        </p:tav>
                                      </p:tavLst>
                                    </p:anim>
                                  </p:childTnLst>
                                </p:cTn>
                              </p:par>
                            </p:childTnLst>
                          </p:cTn>
                        </p:par>
                        <p:par>
                          <p:cTn id="15" fill="hold">
                            <p:stCondLst>
                              <p:cond delay="250"/>
                            </p:stCondLst>
                            <p:childTnLst>
                              <p:par>
                                <p:cTn id="16" presetID="2" presetClass="entr" presetSubtype="8" fill="hold" grpId="0" nodeType="afterEffect">
                                  <p:stCondLst>
                                    <p:cond delay="0"/>
                                  </p:stCondLst>
                                  <p:childTnLst>
                                    <p:set>
                                      <p:cBhvr>
                                        <p:cTn id="17" dur="1" fill="hold">
                                          <p:stCondLst>
                                            <p:cond delay="0"/>
                                          </p:stCondLst>
                                        </p:cTn>
                                        <p:tgtEl>
                                          <p:spTgt spid="5"/>
                                        </p:tgtEl>
                                        <p:attrNameLst>
                                          <p:attrName>style.visibility</p:attrName>
                                        </p:attrNameLst>
                                      </p:cBhvr>
                                      <p:to>
                                        <p:strVal val="visible"/>
                                      </p:to>
                                    </p:set>
                                    <p:anim calcmode="lin" valueType="num">
                                      <p:cBhvr additive="base">
                                        <p:cTn id="19" dur="550" fill="hold"/>
                                        <p:tgtEl>
                                          <p:spTgt spid="5"/>
                                        </p:tgtEl>
                                        <p:attrNameLst>
                                          <p:attrName>ppt_x</p:attrName>
                                        </p:attrNameLst>
                                      </p:cBhvr>
                                      <p:tavLst>
                                        <p:tav tm="0">
                                          <p:val>
                                            <p:strVal val="0-#ppt_w/2"/>
                                          </p:val>
                                        </p:tav>
                                        <p:tav tm="100000">
                                          <p:val>
                                            <p:strVal val="#ppt_x"/>
                                          </p:val>
                                        </p:tav>
                                      </p:tavLst>
                                    </p:anim>
                                    <p:anim calcmode="lin" valueType="num">
                                      <p:cBhvr additive="base">
                                        <p:cTn id="20" dur="550" fill="hold"/>
                                        <p:tgtEl>
                                          <p:spTgt spid="5"/>
                                        </p:tgtEl>
                                        <p:attrNameLst>
                                          <p:attrName>ppt_y</p:attrName>
                                        </p:attrNameLst>
                                      </p:cBhvr>
                                      <p:tavLst>
                                        <p:tav tm="0">
                                          <p:val>
                                            <p:strVal val="#ppt_y"/>
                                          </p:val>
                                        </p:tav>
                                        <p:tav tm="100000">
                                          <p:val>
                                            <p:strVal val="#ppt_y"/>
                                          </p:val>
                                        </p:tav>
                                      </p:tavLst>
                                    </p:anim>
                                  </p:childTnLst>
                                </p:cTn>
                              </p:par>
                            </p:childTnLst>
                          </p:cTn>
                        </p:par>
                        <p:par>
                          <p:cTn id="21" fill="hold">
                            <p:stCondLst>
                              <p:cond delay="350"/>
                            </p:stCondLst>
                            <p:childTnLst>
                              <p:par>
                                <p:cTn id="22" presetID="22" presetClass="entr" presetSubtype="8" fill="hold" grpId="0" nodeType="afterEffect">
                                  <p:stCondLst>
                                    <p:cond delay="0"/>
                                  </p:stCondLst>
                                  <p:childTnLst>
                                    <p:set>
                                      <p:cBhvr>
                                        <p:cTn id="23" dur="1" fill="hold">
                                          <p:stCondLst>
                                            <p:cond delay="0"/>
                                          </p:stCondLst>
                                        </p:cTn>
                                        <p:tgtEl>
                                          <p:spTgt spid="6"/>
                                        </p:tgtEl>
                                        <p:attrNameLst>
                                          <p:attrName>style.visibility</p:attrName>
                                        </p:attrNameLst>
                                      </p:cBhvr>
                                      <p:to>
                                        <p:strVal val="visible"/>
                                      </p:to>
                                    </p:set>
                                    <p:animEffect transition="in" filter="wipe(left)">
                                      <p:cBhvr>
                                        <p:cTn id="25" dur="8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4" grpId="0" animBg="1"/>
      <p:bldP spid="5" grpId="0" animBg="1"/>
      <p:bldP spid="6" grpId="0" animBg="1"/>
    </p:bldLst>
  </p:timing>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200000"/>
            <a:ext cx="10400000" cy="650000"/>
          </a:xfrm>
          <a:prstGeom prst="rect">
            <a:avLst/>
          </a:prstGeom>
          <a:noFill/>
        </p:spPr>
        <p:txBody>
          <a:bodyPr wrap="square" anchor="ctr" lIns="50800" rIns="50800">
            <a:spAutoFit/>
          </a:bodyPr>
          <a:lstStyle/>
          <a:p>
            <a:pPr algn="l"/>
            <a:r>
              <a:rPr sz="2600" b="1">
                <a:solidFill>
                  <a:srgbClr val="FFFFFF"/>
                </a:solidFill>
                <a:latin typeface="Calibri"/>
              </a:rPr>
              <a:t>Natijalarni tahlil qilish</a:t>
            </a:r>
          </a:p>
        </p:txBody>
      </p:sp>
      <p:sp>
        <p:nvSpPr>
          <p:cNvPr id="6" name="Rectangle 5"/>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A1 · Sun'iy intellektga asoslangan kompyuter tizimlari arxitekturasini tahlil qilish va loyihalash</a:t>
            </a:r>
          </a:p>
        </p:txBody>
      </p:sp>
      <p:sp>
        <p:nvSpPr>
          <p:cNvPr id="8" name="TextBox 7"/>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35</a:t>
            </a:r>
          </a:p>
        </p:txBody>
      </p:sp>
      <p:sp>
        <p:nvSpPr>
          <p:cNvPr id="9" name="Rounded Rectangle 8"/>
          <p:cNvSpPr/>
          <p:nvPr/>
        </p:nvSpPr>
        <p:spPr>
          <a:xfrm>
            <a:off x="550000" y="1620000"/>
            <a:ext cx="11100000" cy="1250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50000" y="1620000"/>
            <a:ext cx="70000" cy="1250000"/>
          </a:xfrm>
          <a:prstGeom prst="rect">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800000" y="2015000"/>
            <a:ext cx="460000" cy="460000"/>
          </a:xfrm>
          <a:prstGeom prst="ellipse">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1</a:t>
            </a:r>
          </a:p>
        </p:txBody>
      </p:sp>
      <p:sp>
        <p:nvSpPr>
          <p:cNvPr id="12" name="TextBox 11"/>
          <p:cNvSpPr txBox="1"/>
          <p:nvPr/>
        </p:nvSpPr>
        <p:spPr>
          <a:xfrm>
            <a:off x="1450000" y="1620000"/>
            <a:ext cx="10050000" cy="1250000"/>
          </a:xfrm>
          <a:prstGeom prst="rect">
            <a:avLst/>
          </a:prstGeom>
          <a:noFill/>
        </p:spPr>
        <p:txBody>
          <a:bodyPr wrap="square" anchor="ctr" lIns="50800" rIns="50800">
            <a:spAutoFit/>
          </a:bodyPr>
          <a:lstStyle/>
          <a:p>
            <a:pPr algn="l"/>
            <a:r>
              <a:rPr sz="1600" b="0">
                <a:solidFill>
                  <a:srgbClr val="1B2430"/>
                </a:solidFill>
                <a:latin typeface="Calibri"/>
              </a:rPr>
              <a:t>Mashg'ulot natijalari ikki darajada talqin qilinadi. Birinchi daraja — miqdoriy: zaxira_koef va energiya ko'rsatkichlari platformalarni aniq tartiblaydi.</a:t>
            </a:r>
          </a:p>
        </p:txBody>
      </p:sp>
      <p:sp>
        <p:nvSpPr>
          <p:cNvPr id="13" name="Rounded Rectangle 12"/>
          <p:cNvSpPr/>
          <p:nvPr/>
        </p:nvSpPr>
        <p:spPr>
          <a:xfrm>
            <a:off x="550000" y="2990000"/>
            <a:ext cx="11100000" cy="1250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550000" y="2990000"/>
            <a:ext cx="70000" cy="1250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00000" y="3385000"/>
            <a:ext cx="460000" cy="46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2</a:t>
            </a:r>
          </a:p>
        </p:txBody>
      </p:sp>
      <p:sp>
        <p:nvSpPr>
          <p:cNvPr id="16" name="TextBox 15"/>
          <p:cNvSpPr txBox="1"/>
          <p:nvPr/>
        </p:nvSpPr>
        <p:spPr>
          <a:xfrm>
            <a:off x="1450000" y="2990000"/>
            <a:ext cx="10050000" cy="1250000"/>
          </a:xfrm>
          <a:prstGeom prst="rect">
            <a:avLst/>
          </a:prstGeom>
          <a:noFill/>
        </p:spPr>
        <p:txBody>
          <a:bodyPr wrap="square" anchor="ctr" lIns="50800" rIns="50800">
            <a:spAutoFit/>
          </a:bodyPr>
          <a:lstStyle/>
          <a:p>
            <a:pPr algn="l"/>
            <a:r>
              <a:rPr sz="1600" b="0">
                <a:solidFill>
                  <a:srgbClr val="1B2430"/>
                </a:solidFill>
                <a:latin typeface="Calibri"/>
              </a:rPr>
              <a:t>Ikkinchi daraja — sifatiy cheklovlar. Nazariy hisob bir qancha soddalashtirishlarga asoslanadi: INT8 TOPS va FP32 FLOP bir-biriga teng deb olindi, samaradorlik koeffitsiyenti 45–50 % deb taxmin qilindi, dekodlash va oldindan ishlov berish yuklamasi batafsil…</a:t>
            </a:r>
          </a:p>
        </p:txBody>
      </p:sp>
      <p:sp>
        <p:nvSpPr>
          <p:cNvPr id="17" name="Rounded Rectangle 16"/>
          <p:cNvSpPr/>
          <p:nvPr/>
        </p:nvSpPr>
        <p:spPr>
          <a:xfrm>
            <a:off x="550000" y="4360000"/>
            <a:ext cx="11100000" cy="1250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550000" y="4360000"/>
            <a:ext cx="70000" cy="1250000"/>
          </a:xfrm>
          <a:prstGeom prst="rect">
            <a:avLst/>
          </a:prstGeom>
          <a:solidFill>
            <a:srgbClr val="6A3F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800000" y="4755000"/>
            <a:ext cx="460000" cy="460000"/>
          </a:xfrm>
          <a:prstGeom prst="ellipse">
            <a:avLst/>
          </a:prstGeom>
          <a:solidFill>
            <a:srgbClr val="6A3FB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3</a:t>
            </a:r>
          </a:p>
        </p:txBody>
      </p:sp>
      <p:sp>
        <p:nvSpPr>
          <p:cNvPr id="20" name="TextBox 19"/>
          <p:cNvSpPr txBox="1"/>
          <p:nvPr/>
        </p:nvSpPr>
        <p:spPr>
          <a:xfrm>
            <a:off x="1450000" y="4360000"/>
            <a:ext cx="10050000" cy="1250000"/>
          </a:xfrm>
          <a:prstGeom prst="rect">
            <a:avLst/>
          </a:prstGeom>
          <a:noFill/>
        </p:spPr>
        <p:txBody>
          <a:bodyPr wrap="square" anchor="ctr" lIns="50800" rIns="50800">
            <a:spAutoFit/>
          </a:bodyPr>
          <a:lstStyle/>
          <a:p>
            <a:pPr algn="l"/>
            <a:r>
              <a:rPr sz="1600" b="0">
                <a:solidFill>
                  <a:srgbClr val="1B2430"/>
                </a:solidFill>
                <a:latin typeface="Calibri"/>
              </a:rPr>
              <a:t>Muqobil yondashuvlar: (1) markazlashgan arxitektura — barcha kameralar oqimini serverdagi bitta GPU'ga yuborish; afzalligi — boshqaruv osonligi, kamchiligi — tarmoq yuklamasi (64 Mbit/s…</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79"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5"/>
                                        </p:tgtEl>
                                        <p:attrNameLst>
                                          <p:attrName>style.visibility</p:attrName>
                                        </p:attrNameLst>
                                      </p:cBhvr>
                                      <p:to>
                                        <p:strVal val="visible"/>
                                      </p:to>
                                    </p:set>
                                    <p:animEffect transition="in" filter="fade">
                                      <p:cBhvr>
                                        <p:cTn id="6" dur="550"/>
                                        <p:tgtEl>
                                          <p:spTgt spid="5"/>
                                        </p:tgtEl>
                                      </p:cBhvr>
                                    </p:animEffect>
                                  </p:childTnLst>
                                </p:cTn>
                              </p:par>
                            </p:childTnLst>
                          </p:cTn>
                        </p:par>
                        <p:par>
                          <p:cTn id="7" fill="hold">
                            <p:stCondLst>
                              <p:cond delay="220"/>
                            </p:stCondLst>
                            <p:childTnLst>
                              <p:par>
                                <p:cTn id="8" presetID="42" presetClass="entr" presetSubtype="0" fill="hold" grpId="0" nodeType="afterEffect">
                                  <p:stCondLst>
                                    <p:cond delay="0"/>
                                  </p:stCondLst>
                                  <p:childTnLst>
                                    <p:set>
                                      <p:cBhvr>
                                        <p:cTn id="9" dur="1" fill="hold">
                                          <p:stCondLst>
                                            <p:cond delay="0"/>
                                          </p:stCondLst>
                                        </p:cTn>
                                        <p:tgtEl>
                                          <p:spTgt spid="9"/>
                                        </p:tgtEl>
                                        <p:attrNameLst>
                                          <p:attrName>style.visibility</p:attrName>
                                        </p:attrNameLst>
                                      </p:cBhvr>
                                      <p:to>
                                        <p:strVal val="visible"/>
                                      </p:to>
                                    </p:set>
                                    <p:animEffect transition="in" filter="fade">
                                      <p:cBhvr>
                                        <p:cTn id="10" dur="550"/>
                                        <p:tgtEl>
                                          <p:spTgt spid="9"/>
                                        </p:tgtEl>
                                      </p:cBhvr>
                                    </p:animEffect>
                                    <p:anim calcmode="lin" valueType="num">
                                      <p:cBhvr additive="base">
                                        <p:cTn id="11" dur="550" fill="hold"/>
                                        <p:tgtEl>
                                          <p:spTgt spid="9"/>
                                        </p:tgtEl>
                                        <p:attrNameLst>
                                          <p:attrName>ppt_x</p:attrName>
                                        </p:attrNameLst>
                                      </p:cBhvr>
                                      <p:tavLst>
                                        <p:tav tm="0">
                                          <p:val>
                                            <p:strVal val="#ppt_x"/>
                                          </p:val>
                                        </p:tav>
                                        <p:tav tm="100000">
                                          <p:val>
                                            <p:strVal val="#ppt_x"/>
                                          </p:val>
                                        </p:tav>
                                      </p:tavLst>
                                    </p:anim>
                                    <p:anim calcmode="lin" valueType="num">
                                      <p:cBhvr additive="base">
                                        <p:cTn id="12" dur="550" fill="hold"/>
                                        <p:tgtEl>
                                          <p:spTgt spid="9"/>
                                        </p:tgtEl>
                                        <p:attrNameLst>
                                          <p:attrName>ppt_y</p:attrName>
                                        </p:attrNameLst>
                                      </p:cBhvr>
                                      <p:tavLst>
                                        <p:tav tm="0">
                                          <p:val>
                                            <p:strVal val="#ppt_y+.08"/>
                                          </p:val>
                                        </p:tav>
                                        <p:tav tm="100000">
                                          <p:val>
                                            <p:strVal val="#ppt_y"/>
                                          </p:val>
                                        </p:tav>
                                      </p:tavLst>
                                    </p:anim>
                                  </p:childTnLst>
                                </p:cTn>
                              </p:par>
                            </p:childTnLst>
                          </p:cTn>
                        </p:par>
                        <p:par>
                          <p:cTn id="13" fill="hold">
                            <p:stCondLst>
                              <p:cond delay="220"/>
                            </p:stCondLst>
                            <p:childTnLst>
                              <p:par>
                                <p:cTn id="14" presetID="42" presetClass="entr" presetSubtype="0" fill="hold" grpId="0" nodeType="afterEffect">
                                  <p:stCondLst>
                                    <p:cond delay="0"/>
                                  </p:stCondLst>
                                  <p:childTnLst>
                                    <p:set>
                                      <p:cBhvr>
                                        <p:cTn id="15" dur="1" fill="hold">
                                          <p:stCondLst>
                                            <p:cond delay="0"/>
                                          </p:stCondLst>
                                        </p:cTn>
                                        <p:tgtEl>
                                          <p:spTgt spid="10"/>
                                        </p:tgtEl>
                                        <p:attrNameLst>
                                          <p:attrName>style.visibility</p:attrName>
                                        </p:attrNameLst>
                                      </p:cBhvr>
                                      <p:to>
                                        <p:strVal val="visible"/>
                                      </p:to>
                                    </p:set>
                                    <p:animEffect transition="in" filter="fade">
                                      <p:cBhvr>
                                        <p:cTn id="16" dur="550"/>
                                        <p:tgtEl>
                                          <p:spTgt spid="10"/>
                                        </p:tgtEl>
                                      </p:cBhvr>
                                    </p:animEffect>
                                    <p:anim calcmode="lin" valueType="num">
                                      <p:cBhvr additive="base">
                                        <p:cTn id="17" dur="550" fill="hold"/>
                                        <p:tgtEl>
                                          <p:spTgt spid="10"/>
                                        </p:tgtEl>
                                        <p:attrNameLst>
                                          <p:attrName>ppt_x</p:attrName>
                                        </p:attrNameLst>
                                      </p:cBhvr>
                                      <p:tavLst>
                                        <p:tav tm="0">
                                          <p:val>
                                            <p:strVal val="#ppt_x"/>
                                          </p:val>
                                        </p:tav>
                                        <p:tav tm="100000">
                                          <p:val>
                                            <p:strVal val="#ppt_x"/>
                                          </p:val>
                                        </p:tav>
                                      </p:tavLst>
                                    </p:anim>
                                    <p:anim calcmode="lin" valueType="num">
                                      <p:cBhvr additive="base">
                                        <p:cTn id="18" dur="550" fill="hold"/>
                                        <p:tgtEl>
                                          <p:spTgt spid="10"/>
                                        </p:tgtEl>
                                        <p:attrNameLst>
                                          <p:attrName>ppt_y</p:attrName>
                                        </p:attrNameLst>
                                      </p:cBhvr>
                                      <p:tavLst>
                                        <p:tav tm="0">
                                          <p:val>
                                            <p:strVal val="#ppt_y+.08"/>
                                          </p:val>
                                        </p:tav>
                                        <p:tav tm="100000">
                                          <p:val>
                                            <p:strVal val="#ppt_y"/>
                                          </p:val>
                                        </p:tav>
                                      </p:tavLst>
                                    </p:anim>
                                  </p:childTnLst>
                                </p:cTn>
                              </p:par>
                            </p:childTnLst>
                          </p:cTn>
                        </p:par>
                        <p:par>
                          <p:cTn id="19" fill="hold">
                            <p:stCondLst>
                              <p:cond delay="220"/>
                            </p:stCondLst>
                            <p:childTnLst>
                              <p:par>
                                <p:cTn id="20" presetID="53" presetClass="entr" presetSubtype="16" fill="hold" grpId="0" nodeType="afterEffect">
                                  <p:stCondLst>
                                    <p:cond delay="0"/>
                                  </p:stCondLst>
                                  <p:childTnLst>
                                    <p:set>
                                      <p:cBhvr>
                                        <p:cTn id="21" dur="1" fill="hold">
                                          <p:stCondLst>
                                            <p:cond delay="0"/>
                                          </p:stCondLst>
                                        </p:cTn>
                                        <p:tgtEl>
                                          <p:spTgt spid="11"/>
                                        </p:tgtEl>
                                        <p:attrNameLst>
                                          <p:attrName>style.visibility</p:attrName>
                                        </p:attrNameLst>
                                      </p:cBhvr>
                                      <p:to>
                                        <p:strVal val="visible"/>
                                      </p:to>
                                    </p:set>
                                    <p:animEffect transition="in" filter="fade">
                                      <p:cBhvr>
                                        <p:cTn id="22" dur="550"/>
                                        <p:tgtEl>
                                          <p:spTgt spid="11"/>
                                        </p:tgtEl>
                                      </p:cBhvr>
                                    </p:animEffect>
                                    <p:anim calcmode="lin" valueType="num">
                                      <p:cBhvr additive="base">
                                        <p:cTn id="23" dur="550" fill="hold"/>
                                        <p:tgtEl>
                                          <p:spTgt spid="11"/>
                                        </p:tgtEl>
                                        <p:attrNameLst>
                                          <p:attrName>ppt_w</p:attrName>
                                        </p:attrNameLst>
                                      </p:cBhvr>
                                      <p:tavLst>
                                        <p:tav tm="0">
                                          <p:val>
                                            <p:strVal val="0"/>
                                          </p:val>
                                        </p:tav>
                                        <p:tav tm="100000">
                                          <p:val>
                                            <p:strVal val="#ppt_w"/>
                                          </p:val>
                                        </p:tav>
                                      </p:tavLst>
                                    </p:anim>
                                    <p:anim calcmode="lin" valueType="num">
                                      <p:cBhvr additive="base">
                                        <p:cTn id="24" dur="550" fill="hold"/>
                                        <p:tgtEl>
                                          <p:spTgt spid="11"/>
                                        </p:tgtEl>
                                        <p:attrNameLst>
                                          <p:attrName>ppt_h</p:attrName>
                                        </p:attrNameLst>
                                      </p:cBhvr>
                                      <p:tavLst>
                                        <p:tav tm="0">
                                          <p:val>
                                            <p:strVal val="0"/>
                                          </p:val>
                                        </p:tav>
                                        <p:tav tm="100000">
                                          <p:val>
                                            <p:strVal val="#ppt_h"/>
                                          </p:val>
                                        </p:tav>
                                      </p:tavLst>
                                    </p:anim>
                                  </p:childTnLst>
                                </p:cTn>
                              </p:par>
                            </p:childTnLst>
                          </p:cTn>
                        </p:par>
                        <p:par>
                          <p:cTn id="25" fill="hold">
                            <p:stCondLst>
                              <p:cond delay="220"/>
                            </p:stCondLst>
                            <p:childTnLst>
                              <p:par>
                                <p:cTn id="26" presetID="42" presetClass="entr" presetSubtype="0" fill="hold" grpId="0" nodeType="afterEffect">
                                  <p:stCondLst>
                                    <p:cond delay="0"/>
                                  </p:stCondLst>
                                  <p:childTnLst>
                                    <p:set>
                                      <p:cBhvr>
                                        <p:cTn id="27" dur="1" fill="hold">
                                          <p:stCondLst>
                                            <p:cond delay="0"/>
                                          </p:stCondLst>
                                        </p:cTn>
                                        <p:tgtEl>
                                          <p:spTgt spid="12"/>
                                        </p:tgtEl>
                                        <p:attrNameLst>
                                          <p:attrName>style.visibility</p:attrName>
                                        </p:attrNameLst>
                                      </p:cBhvr>
                                      <p:to>
                                        <p:strVal val="visible"/>
                                      </p:to>
                                    </p:set>
                                    <p:animEffect transition="in" filter="fade">
                                      <p:cBhvr>
                                        <p:cTn id="28" dur="550"/>
                                        <p:tgtEl>
                                          <p:spTgt spid="12"/>
                                        </p:tgtEl>
                                      </p:cBhvr>
                                    </p:animEffect>
                                    <p:anim calcmode="lin" valueType="num">
                                      <p:cBhvr additive="base">
                                        <p:cTn id="29" dur="550" fill="hold"/>
                                        <p:tgtEl>
                                          <p:spTgt spid="12"/>
                                        </p:tgtEl>
                                        <p:attrNameLst>
                                          <p:attrName>ppt_x</p:attrName>
                                        </p:attrNameLst>
                                      </p:cBhvr>
                                      <p:tavLst>
                                        <p:tav tm="0">
                                          <p:val>
                                            <p:strVal val="#ppt_x"/>
                                          </p:val>
                                        </p:tav>
                                        <p:tav tm="100000">
                                          <p:val>
                                            <p:strVal val="#ppt_x"/>
                                          </p:val>
                                        </p:tav>
                                      </p:tavLst>
                                    </p:anim>
                                    <p:anim calcmode="lin" valueType="num">
                                      <p:cBhvr additive="base">
                                        <p:cTn id="30" dur="550" fill="hold"/>
                                        <p:tgtEl>
                                          <p:spTgt spid="12"/>
                                        </p:tgtEl>
                                        <p:attrNameLst>
                                          <p:attrName>ppt_y</p:attrName>
                                        </p:attrNameLst>
                                      </p:cBhvr>
                                      <p:tavLst>
                                        <p:tav tm="0">
                                          <p:val>
                                            <p:strVal val="#ppt_y+.08"/>
                                          </p:val>
                                        </p:tav>
                                        <p:tav tm="100000">
                                          <p:val>
                                            <p:strVal val="#ppt_y"/>
                                          </p:val>
                                        </p:tav>
                                      </p:tavLst>
                                    </p:anim>
                                  </p:childTnLst>
                                </p:cTn>
                              </p:par>
                            </p:childTnLst>
                          </p:cTn>
                        </p:par>
                        <p:par>
                          <p:cTn id="31" fill="hold">
                            <p:stCondLst>
                              <p:cond delay="440"/>
                            </p:stCondLst>
                            <p:childTnLst>
                              <p:par>
                                <p:cTn id="32" presetID="42" presetClass="entr" presetSubtype="0" fill="hold" grpId="0" nodeType="afterEffect">
                                  <p:stCondLst>
                                    <p:cond delay="0"/>
                                  </p:stCondLst>
                                  <p:childTnLst>
                                    <p:set>
                                      <p:cBhvr>
                                        <p:cTn id="33" dur="1" fill="hold">
                                          <p:stCondLst>
                                            <p:cond delay="0"/>
                                          </p:stCondLst>
                                        </p:cTn>
                                        <p:tgtEl>
                                          <p:spTgt spid="13"/>
                                        </p:tgtEl>
                                        <p:attrNameLst>
                                          <p:attrName>style.visibility</p:attrName>
                                        </p:attrNameLst>
                                      </p:cBhvr>
                                      <p:to>
                                        <p:strVal val="visible"/>
                                      </p:to>
                                    </p:set>
                                    <p:animEffect transition="in" filter="fade">
                                      <p:cBhvr>
                                        <p:cTn id="34" dur="550"/>
                                        <p:tgtEl>
                                          <p:spTgt spid="13"/>
                                        </p:tgtEl>
                                      </p:cBhvr>
                                    </p:animEffect>
                                    <p:anim calcmode="lin" valueType="num">
                                      <p:cBhvr additive="base">
                                        <p:cTn id="35" dur="550" fill="hold"/>
                                        <p:tgtEl>
                                          <p:spTgt spid="13"/>
                                        </p:tgtEl>
                                        <p:attrNameLst>
                                          <p:attrName>ppt_x</p:attrName>
                                        </p:attrNameLst>
                                      </p:cBhvr>
                                      <p:tavLst>
                                        <p:tav tm="0">
                                          <p:val>
                                            <p:strVal val="#ppt_x"/>
                                          </p:val>
                                        </p:tav>
                                        <p:tav tm="100000">
                                          <p:val>
                                            <p:strVal val="#ppt_x"/>
                                          </p:val>
                                        </p:tav>
                                      </p:tavLst>
                                    </p:anim>
                                    <p:anim calcmode="lin" valueType="num">
                                      <p:cBhvr additive="base">
                                        <p:cTn id="36" dur="550" fill="hold"/>
                                        <p:tgtEl>
                                          <p:spTgt spid="13"/>
                                        </p:tgtEl>
                                        <p:attrNameLst>
                                          <p:attrName>ppt_y</p:attrName>
                                        </p:attrNameLst>
                                      </p:cBhvr>
                                      <p:tavLst>
                                        <p:tav tm="0">
                                          <p:val>
                                            <p:strVal val="#ppt_y+.08"/>
                                          </p:val>
                                        </p:tav>
                                        <p:tav tm="100000">
                                          <p:val>
                                            <p:strVal val="#ppt_y"/>
                                          </p:val>
                                        </p:tav>
                                      </p:tavLst>
                                    </p:anim>
                                  </p:childTnLst>
                                </p:cTn>
                              </p:par>
                            </p:childTnLst>
                          </p:cTn>
                        </p:par>
                        <p:par>
                          <p:cTn id="37" fill="hold">
                            <p:stCondLst>
                              <p:cond delay="440"/>
                            </p:stCondLst>
                            <p:childTnLst>
                              <p:par>
                                <p:cTn id="38" presetID="42" presetClass="entr" presetSubtype="0" fill="hold" grpId="0" nodeType="afterEffect">
                                  <p:stCondLst>
                                    <p:cond delay="0"/>
                                  </p:stCondLst>
                                  <p:childTnLst>
                                    <p:set>
                                      <p:cBhvr>
                                        <p:cTn id="39" dur="1" fill="hold">
                                          <p:stCondLst>
                                            <p:cond delay="0"/>
                                          </p:stCondLst>
                                        </p:cTn>
                                        <p:tgtEl>
                                          <p:spTgt spid="14"/>
                                        </p:tgtEl>
                                        <p:attrNameLst>
                                          <p:attrName>style.visibility</p:attrName>
                                        </p:attrNameLst>
                                      </p:cBhvr>
                                      <p:to>
                                        <p:strVal val="visible"/>
                                      </p:to>
                                    </p:set>
                                    <p:animEffect transition="in" filter="fade">
                                      <p:cBhvr>
                                        <p:cTn id="40" dur="550"/>
                                        <p:tgtEl>
                                          <p:spTgt spid="14"/>
                                        </p:tgtEl>
                                      </p:cBhvr>
                                    </p:animEffect>
                                    <p:anim calcmode="lin" valueType="num">
                                      <p:cBhvr additive="base">
                                        <p:cTn id="41" dur="550" fill="hold"/>
                                        <p:tgtEl>
                                          <p:spTgt spid="14"/>
                                        </p:tgtEl>
                                        <p:attrNameLst>
                                          <p:attrName>ppt_x</p:attrName>
                                        </p:attrNameLst>
                                      </p:cBhvr>
                                      <p:tavLst>
                                        <p:tav tm="0">
                                          <p:val>
                                            <p:strVal val="#ppt_x"/>
                                          </p:val>
                                        </p:tav>
                                        <p:tav tm="100000">
                                          <p:val>
                                            <p:strVal val="#ppt_x"/>
                                          </p:val>
                                        </p:tav>
                                      </p:tavLst>
                                    </p:anim>
                                    <p:anim calcmode="lin" valueType="num">
                                      <p:cBhvr additive="base">
                                        <p:cTn id="42" dur="550" fill="hold"/>
                                        <p:tgtEl>
                                          <p:spTgt spid="14"/>
                                        </p:tgtEl>
                                        <p:attrNameLst>
                                          <p:attrName>ppt_y</p:attrName>
                                        </p:attrNameLst>
                                      </p:cBhvr>
                                      <p:tavLst>
                                        <p:tav tm="0">
                                          <p:val>
                                            <p:strVal val="#ppt_y+.08"/>
                                          </p:val>
                                        </p:tav>
                                        <p:tav tm="100000">
                                          <p:val>
                                            <p:strVal val="#ppt_y"/>
                                          </p:val>
                                        </p:tav>
                                      </p:tavLst>
                                    </p:anim>
                                  </p:childTnLst>
                                </p:cTn>
                              </p:par>
                            </p:childTnLst>
                          </p:cTn>
                        </p:par>
                        <p:par>
                          <p:cTn id="43" fill="hold">
                            <p:stCondLst>
                              <p:cond delay="440"/>
                            </p:stCondLst>
                            <p:childTnLst>
                              <p:par>
                                <p:cTn id="44" presetID="53" presetClass="entr" presetSubtype="16" fill="hold" grpId="0" nodeType="afterEffect">
                                  <p:stCondLst>
                                    <p:cond delay="0"/>
                                  </p:stCondLst>
                                  <p:childTnLst>
                                    <p:set>
                                      <p:cBhvr>
                                        <p:cTn id="45" dur="1" fill="hold">
                                          <p:stCondLst>
                                            <p:cond delay="0"/>
                                          </p:stCondLst>
                                        </p:cTn>
                                        <p:tgtEl>
                                          <p:spTgt spid="15"/>
                                        </p:tgtEl>
                                        <p:attrNameLst>
                                          <p:attrName>style.visibility</p:attrName>
                                        </p:attrNameLst>
                                      </p:cBhvr>
                                      <p:to>
                                        <p:strVal val="visible"/>
                                      </p:to>
                                    </p:set>
                                    <p:animEffect transition="in" filter="fade">
                                      <p:cBhvr>
                                        <p:cTn id="46" dur="550"/>
                                        <p:tgtEl>
                                          <p:spTgt spid="15"/>
                                        </p:tgtEl>
                                      </p:cBhvr>
                                    </p:animEffect>
                                    <p:anim calcmode="lin" valueType="num">
                                      <p:cBhvr additive="base">
                                        <p:cTn id="47" dur="550" fill="hold"/>
                                        <p:tgtEl>
                                          <p:spTgt spid="15"/>
                                        </p:tgtEl>
                                        <p:attrNameLst>
                                          <p:attrName>ppt_w</p:attrName>
                                        </p:attrNameLst>
                                      </p:cBhvr>
                                      <p:tavLst>
                                        <p:tav tm="0">
                                          <p:val>
                                            <p:strVal val="0"/>
                                          </p:val>
                                        </p:tav>
                                        <p:tav tm="100000">
                                          <p:val>
                                            <p:strVal val="#ppt_w"/>
                                          </p:val>
                                        </p:tav>
                                      </p:tavLst>
                                    </p:anim>
                                    <p:anim calcmode="lin" valueType="num">
                                      <p:cBhvr additive="base">
                                        <p:cTn id="48" dur="550" fill="hold"/>
                                        <p:tgtEl>
                                          <p:spTgt spid="15"/>
                                        </p:tgtEl>
                                        <p:attrNameLst>
                                          <p:attrName>ppt_h</p:attrName>
                                        </p:attrNameLst>
                                      </p:cBhvr>
                                      <p:tavLst>
                                        <p:tav tm="0">
                                          <p:val>
                                            <p:strVal val="0"/>
                                          </p:val>
                                        </p:tav>
                                        <p:tav tm="100000">
                                          <p:val>
                                            <p:strVal val="#ppt_h"/>
                                          </p:val>
                                        </p:tav>
                                      </p:tavLst>
                                    </p:anim>
                                  </p:childTnLst>
                                </p:cTn>
                              </p:par>
                            </p:childTnLst>
                          </p:cTn>
                        </p:par>
                        <p:par>
                          <p:cTn id="49" fill="hold">
                            <p:stCondLst>
                              <p:cond delay="440"/>
                            </p:stCondLst>
                            <p:childTnLst>
                              <p:par>
                                <p:cTn id="50" presetID="42" presetClass="entr" presetSubtype="0" fill="hold" grpId="0" nodeType="afterEffect">
                                  <p:stCondLst>
                                    <p:cond delay="0"/>
                                  </p:stCondLst>
                                  <p:childTnLst>
                                    <p:set>
                                      <p:cBhvr>
                                        <p:cTn id="51" dur="1" fill="hold">
                                          <p:stCondLst>
                                            <p:cond delay="0"/>
                                          </p:stCondLst>
                                        </p:cTn>
                                        <p:tgtEl>
                                          <p:spTgt spid="16"/>
                                        </p:tgtEl>
                                        <p:attrNameLst>
                                          <p:attrName>style.visibility</p:attrName>
                                        </p:attrNameLst>
                                      </p:cBhvr>
                                      <p:to>
                                        <p:strVal val="visible"/>
                                      </p:to>
                                    </p:set>
                                    <p:animEffect transition="in" filter="fade">
                                      <p:cBhvr>
                                        <p:cTn id="52" dur="550"/>
                                        <p:tgtEl>
                                          <p:spTgt spid="16"/>
                                        </p:tgtEl>
                                      </p:cBhvr>
                                    </p:animEffect>
                                    <p:anim calcmode="lin" valueType="num">
                                      <p:cBhvr additive="base">
                                        <p:cTn id="53" dur="550" fill="hold"/>
                                        <p:tgtEl>
                                          <p:spTgt spid="16"/>
                                        </p:tgtEl>
                                        <p:attrNameLst>
                                          <p:attrName>ppt_x</p:attrName>
                                        </p:attrNameLst>
                                      </p:cBhvr>
                                      <p:tavLst>
                                        <p:tav tm="0">
                                          <p:val>
                                            <p:strVal val="#ppt_x"/>
                                          </p:val>
                                        </p:tav>
                                        <p:tav tm="100000">
                                          <p:val>
                                            <p:strVal val="#ppt_x"/>
                                          </p:val>
                                        </p:tav>
                                      </p:tavLst>
                                    </p:anim>
                                    <p:anim calcmode="lin" valueType="num">
                                      <p:cBhvr additive="base">
                                        <p:cTn id="54" dur="550" fill="hold"/>
                                        <p:tgtEl>
                                          <p:spTgt spid="16"/>
                                        </p:tgtEl>
                                        <p:attrNameLst>
                                          <p:attrName>ppt_y</p:attrName>
                                        </p:attrNameLst>
                                      </p:cBhvr>
                                      <p:tavLst>
                                        <p:tav tm="0">
                                          <p:val>
                                            <p:strVal val="#ppt_y+.08"/>
                                          </p:val>
                                        </p:tav>
                                        <p:tav tm="100000">
                                          <p:val>
                                            <p:strVal val="#ppt_y"/>
                                          </p:val>
                                        </p:tav>
                                      </p:tavLst>
                                    </p:anim>
                                  </p:childTnLst>
                                </p:cTn>
                              </p:par>
                            </p:childTnLst>
                          </p:cTn>
                        </p:par>
                        <p:par>
                          <p:cTn id="55" fill="hold">
                            <p:stCondLst>
                              <p:cond delay="660"/>
                            </p:stCondLst>
                            <p:childTnLst>
                              <p:par>
                                <p:cTn id="56" presetID="42" presetClass="entr" presetSubtype="0" fill="hold" grpId="0" nodeType="afterEffect">
                                  <p:stCondLst>
                                    <p:cond delay="0"/>
                                  </p:stCondLst>
                                  <p:childTnLst>
                                    <p:set>
                                      <p:cBhvr>
                                        <p:cTn id="57" dur="1" fill="hold">
                                          <p:stCondLst>
                                            <p:cond delay="0"/>
                                          </p:stCondLst>
                                        </p:cTn>
                                        <p:tgtEl>
                                          <p:spTgt spid="17"/>
                                        </p:tgtEl>
                                        <p:attrNameLst>
                                          <p:attrName>style.visibility</p:attrName>
                                        </p:attrNameLst>
                                      </p:cBhvr>
                                      <p:to>
                                        <p:strVal val="visible"/>
                                      </p:to>
                                    </p:set>
                                    <p:animEffect transition="in" filter="fade">
                                      <p:cBhvr>
                                        <p:cTn id="58" dur="550"/>
                                        <p:tgtEl>
                                          <p:spTgt spid="17"/>
                                        </p:tgtEl>
                                      </p:cBhvr>
                                    </p:animEffect>
                                    <p:anim calcmode="lin" valueType="num">
                                      <p:cBhvr additive="base">
                                        <p:cTn id="59" dur="550" fill="hold"/>
                                        <p:tgtEl>
                                          <p:spTgt spid="17"/>
                                        </p:tgtEl>
                                        <p:attrNameLst>
                                          <p:attrName>ppt_x</p:attrName>
                                        </p:attrNameLst>
                                      </p:cBhvr>
                                      <p:tavLst>
                                        <p:tav tm="0">
                                          <p:val>
                                            <p:strVal val="#ppt_x"/>
                                          </p:val>
                                        </p:tav>
                                        <p:tav tm="100000">
                                          <p:val>
                                            <p:strVal val="#ppt_x"/>
                                          </p:val>
                                        </p:tav>
                                      </p:tavLst>
                                    </p:anim>
                                    <p:anim calcmode="lin" valueType="num">
                                      <p:cBhvr additive="base">
                                        <p:cTn id="60" dur="550" fill="hold"/>
                                        <p:tgtEl>
                                          <p:spTgt spid="17"/>
                                        </p:tgtEl>
                                        <p:attrNameLst>
                                          <p:attrName>ppt_y</p:attrName>
                                        </p:attrNameLst>
                                      </p:cBhvr>
                                      <p:tavLst>
                                        <p:tav tm="0">
                                          <p:val>
                                            <p:strVal val="#ppt_y+.08"/>
                                          </p:val>
                                        </p:tav>
                                        <p:tav tm="100000">
                                          <p:val>
                                            <p:strVal val="#ppt_y"/>
                                          </p:val>
                                        </p:tav>
                                      </p:tavLst>
                                    </p:anim>
                                  </p:childTnLst>
                                </p:cTn>
                              </p:par>
                            </p:childTnLst>
                          </p:cTn>
                        </p:par>
                        <p:par>
                          <p:cTn id="61" fill="hold">
                            <p:stCondLst>
                              <p:cond delay="660"/>
                            </p:stCondLst>
                            <p:childTnLst>
                              <p:par>
                                <p:cTn id="62" presetID="42" presetClass="entr" presetSubtype="0" fill="hold" grpId="0" nodeType="afterEffect">
                                  <p:stCondLst>
                                    <p:cond delay="0"/>
                                  </p:stCondLst>
                                  <p:childTnLst>
                                    <p:set>
                                      <p:cBhvr>
                                        <p:cTn id="63" dur="1" fill="hold">
                                          <p:stCondLst>
                                            <p:cond delay="0"/>
                                          </p:stCondLst>
                                        </p:cTn>
                                        <p:tgtEl>
                                          <p:spTgt spid="18"/>
                                        </p:tgtEl>
                                        <p:attrNameLst>
                                          <p:attrName>style.visibility</p:attrName>
                                        </p:attrNameLst>
                                      </p:cBhvr>
                                      <p:to>
                                        <p:strVal val="visible"/>
                                      </p:to>
                                    </p:set>
                                    <p:animEffect transition="in" filter="fade">
                                      <p:cBhvr>
                                        <p:cTn id="64" dur="550"/>
                                        <p:tgtEl>
                                          <p:spTgt spid="18"/>
                                        </p:tgtEl>
                                      </p:cBhvr>
                                    </p:animEffect>
                                    <p:anim calcmode="lin" valueType="num">
                                      <p:cBhvr additive="base">
                                        <p:cTn id="65" dur="550" fill="hold"/>
                                        <p:tgtEl>
                                          <p:spTgt spid="18"/>
                                        </p:tgtEl>
                                        <p:attrNameLst>
                                          <p:attrName>ppt_x</p:attrName>
                                        </p:attrNameLst>
                                      </p:cBhvr>
                                      <p:tavLst>
                                        <p:tav tm="0">
                                          <p:val>
                                            <p:strVal val="#ppt_x"/>
                                          </p:val>
                                        </p:tav>
                                        <p:tav tm="100000">
                                          <p:val>
                                            <p:strVal val="#ppt_x"/>
                                          </p:val>
                                        </p:tav>
                                      </p:tavLst>
                                    </p:anim>
                                    <p:anim calcmode="lin" valueType="num">
                                      <p:cBhvr additive="base">
                                        <p:cTn id="66" dur="550" fill="hold"/>
                                        <p:tgtEl>
                                          <p:spTgt spid="18"/>
                                        </p:tgtEl>
                                        <p:attrNameLst>
                                          <p:attrName>ppt_y</p:attrName>
                                        </p:attrNameLst>
                                      </p:cBhvr>
                                      <p:tavLst>
                                        <p:tav tm="0">
                                          <p:val>
                                            <p:strVal val="#ppt_y+.08"/>
                                          </p:val>
                                        </p:tav>
                                        <p:tav tm="100000">
                                          <p:val>
                                            <p:strVal val="#ppt_y"/>
                                          </p:val>
                                        </p:tav>
                                      </p:tavLst>
                                    </p:anim>
                                  </p:childTnLst>
                                </p:cTn>
                              </p:par>
                            </p:childTnLst>
                          </p:cTn>
                        </p:par>
                        <p:par>
                          <p:cTn id="67" fill="hold">
                            <p:stCondLst>
                              <p:cond delay="660"/>
                            </p:stCondLst>
                            <p:childTnLst>
                              <p:par>
                                <p:cTn id="68" presetID="53" presetClass="entr" presetSubtype="16" fill="hold" grpId="0" nodeType="afterEffect">
                                  <p:stCondLst>
                                    <p:cond delay="0"/>
                                  </p:stCondLst>
                                  <p:childTnLst>
                                    <p:set>
                                      <p:cBhvr>
                                        <p:cTn id="69" dur="1" fill="hold">
                                          <p:stCondLst>
                                            <p:cond delay="0"/>
                                          </p:stCondLst>
                                        </p:cTn>
                                        <p:tgtEl>
                                          <p:spTgt spid="19"/>
                                        </p:tgtEl>
                                        <p:attrNameLst>
                                          <p:attrName>style.visibility</p:attrName>
                                        </p:attrNameLst>
                                      </p:cBhvr>
                                      <p:to>
                                        <p:strVal val="visible"/>
                                      </p:to>
                                    </p:set>
                                    <p:animEffect transition="in" filter="fade">
                                      <p:cBhvr>
                                        <p:cTn id="70" dur="550"/>
                                        <p:tgtEl>
                                          <p:spTgt spid="19"/>
                                        </p:tgtEl>
                                      </p:cBhvr>
                                    </p:animEffect>
                                    <p:anim calcmode="lin" valueType="num">
                                      <p:cBhvr additive="base">
                                        <p:cTn id="71" dur="550" fill="hold"/>
                                        <p:tgtEl>
                                          <p:spTgt spid="19"/>
                                        </p:tgtEl>
                                        <p:attrNameLst>
                                          <p:attrName>ppt_w</p:attrName>
                                        </p:attrNameLst>
                                      </p:cBhvr>
                                      <p:tavLst>
                                        <p:tav tm="0">
                                          <p:val>
                                            <p:strVal val="0"/>
                                          </p:val>
                                        </p:tav>
                                        <p:tav tm="100000">
                                          <p:val>
                                            <p:strVal val="#ppt_w"/>
                                          </p:val>
                                        </p:tav>
                                      </p:tavLst>
                                    </p:anim>
                                    <p:anim calcmode="lin" valueType="num">
                                      <p:cBhvr additive="base">
                                        <p:cTn id="72" dur="550" fill="hold"/>
                                        <p:tgtEl>
                                          <p:spTgt spid="19"/>
                                        </p:tgtEl>
                                        <p:attrNameLst>
                                          <p:attrName>ppt_h</p:attrName>
                                        </p:attrNameLst>
                                      </p:cBhvr>
                                      <p:tavLst>
                                        <p:tav tm="0">
                                          <p:val>
                                            <p:strVal val="0"/>
                                          </p:val>
                                        </p:tav>
                                        <p:tav tm="100000">
                                          <p:val>
                                            <p:strVal val="#ppt_h"/>
                                          </p:val>
                                        </p:tav>
                                      </p:tavLst>
                                    </p:anim>
                                  </p:childTnLst>
                                </p:cTn>
                              </p:par>
                            </p:childTnLst>
                          </p:cTn>
                        </p:par>
                        <p:par>
                          <p:cTn id="73" fill="hold">
                            <p:stCondLst>
                              <p:cond delay="660"/>
                            </p:stCondLst>
                            <p:childTnLst>
                              <p:par>
                                <p:cTn id="74" presetID="42" presetClass="entr" presetSubtype="0" fill="hold" grpId="0" nodeType="afterEffect">
                                  <p:stCondLst>
                                    <p:cond delay="0"/>
                                  </p:stCondLst>
                                  <p:childTnLst>
                                    <p:set>
                                      <p:cBhvr>
                                        <p:cTn id="75" dur="1" fill="hold">
                                          <p:stCondLst>
                                            <p:cond delay="0"/>
                                          </p:stCondLst>
                                        </p:cTn>
                                        <p:tgtEl>
                                          <p:spTgt spid="20"/>
                                        </p:tgtEl>
                                        <p:attrNameLst>
                                          <p:attrName>style.visibility</p:attrName>
                                        </p:attrNameLst>
                                      </p:cBhvr>
                                      <p:to>
                                        <p:strVal val="visible"/>
                                      </p:to>
                                    </p:set>
                                    <p:animEffect transition="in" filter="fade">
                                      <p:cBhvr>
                                        <p:cTn id="76" dur="550"/>
                                        <p:tgtEl>
                                          <p:spTgt spid="20"/>
                                        </p:tgtEl>
                                      </p:cBhvr>
                                    </p:animEffect>
                                    <p:anim calcmode="lin" valueType="num">
                                      <p:cBhvr additive="base">
                                        <p:cTn id="77" dur="550" fill="hold"/>
                                        <p:tgtEl>
                                          <p:spTgt spid="20"/>
                                        </p:tgtEl>
                                        <p:attrNameLst>
                                          <p:attrName>ppt_x</p:attrName>
                                        </p:attrNameLst>
                                      </p:cBhvr>
                                      <p:tavLst>
                                        <p:tav tm="0">
                                          <p:val>
                                            <p:strVal val="#ppt_x"/>
                                          </p:val>
                                        </p:tav>
                                        <p:tav tm="100000">
                                          <p:val>
                                            <p:strVal val="#ppt_x"/>
                                          </p:val>
                                        </p:tav>
                                      </p:tavLst>
                                    </p:anim>
                                    <p:anim calcmode="lin" valueType="num">
                                      <p:cBhvr additive="base">
                                        <p:cTn id="78" dur="550" fill="hold"/>
                                        <p:tgtEl>
                                          <p:spTgt spid="20"/>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Lst>
  </p:timing>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162E4D"/>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900000" y="1700000"/>
            <a:ext cx="3000000" cy="3000000"/>
          </a:xfrm>
          <a:prstGeom prst="ellipse">
            <a:avLst/>
          </a:prstGeom>
          <a:noFill/>
          <a:ln w="76200">
            <a:solidFill>
              <a:srgbClr val="7FD6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00000" y="2350000"/>
            <a:ext cx="3000000" cy="1700000"/>
          </a:xfrm>
          <a:prstGeom prst="rect">
            <a:avLst/>
          </a:prstGeom>
          <a:noFill/>
        </p:spPr>
        <p:txBody>
          <a:bodyPr wrap="square" anchor="ctr" lIns="50800" rIns="50800">
            <a:spAutoFit/>
          </a:bodyPr>
          <a:lstStyle/>
          <a:p>
            <a:pPr algn="ctr"/>
            <a:r>
              <a:rPr sz="7200" b="1">
                <a:solidFill>
                  <a:srgbClr val="FFFFFF"/>
                </a:solidFill>
                <a:latin typeface="Calibri"/>
              </a:rPr>
              <a:t>06</a:t>
            </a:r>
          </a:p>
        </p:txBody>
      </p:sp>
      <p:sp>
        <p:nvSpPr>
          <p:cNvPr id="5" name="TextBox 4"/>
          <p:cNvSpPr txBox="1"/>
          <p:nvPr/>
        </p:nvSpPr>
        <p:spPr>
          <a:xfrm>
            <a:off x="4500000" y="2400000"/>
            <a:ext cx="7000000" cy="1600000"/>
          </a:xfrm>
          <a:prstGeom prst="rect">
            <a:avLst/>
          </a:prstGeom>
          <a:noFill/>
        </p:spPr>
        <p:txBody>
          <a:bodyPr wrap="square" anchor="ctr" lIns="50800" rIns="50800">
            <a:spAutoFit/>
          </a:bodyPr>
          <a:lstStyle/>
          <a:p>
            <a:pPr algn="l"/>
            <a:r>
              <a:rPr sz="3600" b="1">
                <a:solidFill>
                  <a:srgbClr val="FFFFFF"/>
                </a:solidFill>
                <a:latin typeface="Calibri"/>
              </a:rPr>
              <a:t>Keng tarqalgan xatolar va amaliy tavsiyalar</a:t>
            </a:r>
          </a:p>
        </p:txBody>
      </p:sp>
      <p:sp>
        <p:nvSpPr>
          <p:cNvPr id="6" name="Rectangle 5"/>
          <p:cNvSpPr/>
          <p:nvPr/>
        </p:nvSpPr>
        <p:spPr>
          <a:xfrm>
            <a:off x="4550000" y="4100000"/>
            <a:ext cx="2200000" cy="60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transition spd="med">
    <p:push dir="u"/>
  </p:transition>
  <p:timing>
    <p:tnLst>
      <p:par>
        <p:cTn id="1" dur="indefinite" restart="never" nodeType="tmRoot">
          <p:childTnLst>
            <p:seq concurrent="1" nextAc="seek">
              <p:cTn id="2" dur="indefinite" nodeType="mainSeq">
                <p:childTnLst>
                  <p:par>
                    <p:cTn id="26" fill="hold">
                      <p:stCondLst>
                        <p:cond delay="indefinite"/>
                        <p:cond evt="onBegin" delay="0">
                          <p:tn val="2"/>
                        </p:cond>
                      </p:stCondLst>
                      <p:childTnLst>
                        <p:par>
                          <p:cTn id="3" fill="hold">
                            <p:stCondLst>
                              <p:cond delay="0"/>
                            </p:stCondLst>
                            <p:childTnLst>
                              <p:par>
                                <p:cTn id="4" presetID="53" presetClass="entr" presetSubtype="16" fill="hold" grpId="0" nodeType="withEffect">
                                  <p:stCondLst>
                                    <p:cond delay="0"/>
                                  </p:stCondLst>
                                  <p:childTnLst>
                                    <p:set>
                                      <p:cBhvr>
                                        <p:cTn id="5" dur="1" fill="hold">
                                          <p:stCondLst>
                                            <p:cond delay="0"/>
                                          </p:stCondLst>
                                        </p:cTn>
                                        <p:tgtEl>
                                          <p:spTgt spid="3"/>
                                        </p:tgtEl>
                                        <p:attrNameLst>
                                          <p:attrName>style.visibility</p:attrName>
                                        </p:attrNameLst>
                                      </p:cBhvr>
                                      <p:to>
                                        <p:strVal val="visible"/>
                                      </p:to>
                                    </p:set>
                                    <p:animEffect transition="in" filter="fade">
                                      <p:cBhvr>
                                        <p:cTn id="6" dur="550"/>
                                        <p:tgtEl>
                                          <p:spTgt spid="3"/>
                                        </p:tgtEl>
                                      </p:cBhvr>
                                    </p:animEffect>
                                    <p:anim calcmode="lin" valueType="num">
                                      <p:cBhvr additive="base">
                                        <p:cTn id="7" dur="550" fill="hold"/>
                                        <p:tgtEl>
                                          <p:spTgt spid="3"/>
                                        </p:tgtEl>
                                        <p:attrNameLst>
                                          <p:attrName>ppt_w</p:attrName>
                                        </p:attrNameLst>
                                      </p:cBhvr>
                                      <p:tavLst>
                                        <p:tav tm="0">
                                          <p:val>
                                            <p:strVal val="0"/>
                                          </p:val>
                                        </p:tav>
                                        <p:tav tm="100000">
                                          <p:val>
                                            <p:strVal val="#ppt_w"/>
                                          </p:val>
                                        </p:tav>
                                      </p:tavLst>
                                    </p:anim>
                                    <p:anim calcmode="lin" valueType="num">
                                      <p:cBhvr additive="base">
                                        <p:cTn id="8" dur="550" fill="hold"/>
                                        <p:tgtEl>
                                          <p:spTgt spid="3"/>
                                        </p:tgtEl>
                                        <p:attrNameLst>
                                          <p:attrName>ppt_h</p:attrName>
                                        </p:attrNameLst>
                                      </p:cBhvr>
                                      <p:tavLst>
                                        <p:tav tm="0">
                                          <p:val>
                                            <p:strVal val="0"/>
                                          </p:val>
                                        </p:tav>
                                        <p:tav tm="100000">
                                          <p:val>
                                            <p:strVal val="#ppt_h"/>
                                          </p:val>
                                        </p:tav>
                                      </p:tavLst>
                                    </p:anim>
                                  </p:childTnLst>
                                </p:cTn>
                              </p:par>
                            </p:childTnLst>
                          </p:cTn>
                        </p:par>
                        <p:par>
                          <p:cTn id="9" fill="hold">
                            <p:stCondLst>
                              <p:cond delay="100"/>
                            </p:stCondLst>
                            <p:childTnLst>
                              <p:par>
                                <p:cTn id="10" presetID="53" presetClass="entr" presetSubtype="16" fill="hold" grpId="0" nodeType="afterEffect">
                                  <p:stCondLst>
                                    <p:cond delay="0"/>
                                  </p:stCondLst>
                                  <p:childTnLst>
                                    <p:set>
                                      <p:cBhvr>
                                        <p:cTn id="11" dur="1" fill="hold">
                                          <p:stCondLst>
                                            <p:cond delay="0"/>
                                          </p:stCondLst>
                                        </p:cTn>
                                        <p:tgtEl>
                                          <p:spTgt spid="4"/>
                                        </p:tgtEl>
                                        <p:attrNameLst>
                                          <p:attrName>style.visibility</p:attrName>
                                        </p:attrNameLst>
                                      </p:cBhvr>
                                      <p:to>
                                        <p:strVal val="visible"/>
                                      </p:to>
                                    </p:set>
                                    <p:animEffect transition="in" filter="fade">
                                      <p:cBhvr>
                                        <p:cTn id="12" dur="550"/>
                                        <p:tgtEl>
                                          <p:spTgt spid="4"/>
                                        </p:tgtEl>
                                      </p:cBhvr>
                                    </p:animEffect>
                                    <p:anim calcmode="lin" valueType="num">
                                      <p:cBhvr additive="base">
                                        <p:cTn id="13" dur="550" fill="hold"/>
                                        <p:tgtEl>
                                          <p:spTgt spid="4"/>
                                        </p:tgtEl>
                                        <p:attrNameLst>
                                          <p:attrName>ppt_w</p:attrName>
                                        </p:attrNameLst>
                                      </p:cBhvr>
                                      <p:tavLst>
                                        <p:tav tm="0">
                                          <p:val>
                                            <p:strVal val="0"/>
                                          </p:val>
                                        </p:tav>
                                        <p:tav tm="100000">
                                          <p:val>
                                            <p:strVal val="#ppt_w"/>
                                          </p:val>
                                        </p:tav>
                                      </p:tavLst>
                                    </p:anim>
                                    <p:anim calcmode="lin" valueType="num">
                                      <p:cBhvr additive="base">
                                        <p:cTn id="14" dur="550" fill="hold"/>
                                        <p:tgtEl>
                                          <p:spTgt spid="4"/>
                                        </p:tgtEl>
                                        <p:attrNameLst>
                                          <p:attrName>ppt_h</p:attrName>
                                        </p:attrNameLst>
                                      </p:cBhvr>
                                      <p:tavLst>
                                        <p:tav tm="0">
                                          <p:val>
                                            <p:strVal val="0"/>
                                          </p:val>
                                        </p:tav>
                                        <p:tav tm="100000">
                                          <p:val>
                                            <p:strVal val="#ppt_h"/>
                                          </p:val>
                                        </p:tav>
                                      </p:tavLst>
                                    </p:anim>
                                  </p:childTnLst>
                                </p:cTn>
                              </p:par>
                            </p:childTnLst>
                          </p:cTn>
                        </p:par>
                        <p:par>
                          <p:cTn id="15" fill="hold">
                            <p:stCondLst>
                              <p:cond delay="250"/>
                            </p:stCondLst>
                            <p:childTnLst>
                              <p:par>
                                <p:cTn id="16" presetID="2" presetClass="entr" presetSubtype="8" fill="hold" grpId="0" nodeType="afterEffect">
                                  <p:stCondLst>
                                    <p:cond delay="0"/>
                                  </p:stCondLst>
                                  <p:childTnLst>
                                    <p:set>
                                      <p:cBhvr>
                                        <p:cTn id="17" dur="1" fill="hold">
                                          <p:stCondLst>
                                            <p:cond delay="0"/>
                                          </p:stCondLst>
                                        </p:cTn>
                                        <p:tgtEl>
                                          <p:spTgt spid="5"/>
                                        </p:tgtEl>
                                        <p:attrNameLst>
                                          <p:attrName>style.visibility</p:attrName>
                                        </p:attrNameLst>
                                      </p:cBhvr>
                                      <p:to>
                                        <p:strVal val="visible"/>
                                      </p:to>
                                    </p:set>
                                    <p:anim calcmode="lin" valueType="num">
                                      <p:cBhvr additive="base">
                                        <p:cTn id="19" dur="550" fill="hold"/>
                                        <p:tgtEl>
                                          <p:spTgt spid="5"/>
                                        </p:tgtEl>
                                        <p:attrNameLst>
                                          <p:attrName>ppt_x</p:attrName>
                                        </p:attrNameLst>
                                      </p:cBhvr>
                                      <p:tavLst>
                                        <p:tav tm="0">
                                          <p:val>
                                            <p:strVal val="0-#ppt_w/2"/>
                                          </p:val>
                                        </p:tav>
                                        <p:tav tm="100000">
                                          <p:val>
                                            <p:strVal val="#ppt_x"/>
                                          </p:val>
                                        </p:tav>
                                      </p:tavLst>
                                    </p:anim>
                                    <p:anim calcmode="lin" valueType="num">
                                      <p:cBhvr additive="base">
                                        <p:cTn id="20" dur="550" fill="hold"/>
                                        <p:tgtEl>
                                          <p:spTgt spid="5"/>
                                        </p:tgtEl>
                                        <p:attrNameLst>
                                          <p:attrName>ppt_y</p:attrName>
                                        </p:attrNameLst>
                                      </p:cBhvr>
                                      <p:tavLst>
                                        <p:tav tm="0">
                                          <p:val>
                                            <p:strVal val="#ppt_y"/>
                                          </p:val>
                                        </p:tav>
                                        <p:tav tm="100000">
                                          <p:val>
                                            <p:strVal val="#ppt_y"/>
                                          </p:val>
                                        </p:tav>
                                      </p:tavLst>
                                    </p:anim>
                                  </p:childTnLst>
                                </p:cTn>
                              </p:par>
                            </p:childTnLst>
                          </p:cTn>
                        </p:par>
                        <p:par>
                          <p:cTn id="21" fill="hold">
                            <p:stCondLst>
                              <p:cond delay="350"/>
                            </p:stCondLst>
                            <p:childTnLst>
                              <p:par>
                                <p:cTn id="22" presetID="22" presetClass="entr" presetSubtype="8" fill="hold" grpId="0" nodeType="afterEffect">
                                  <p:stCondLst>
                                    <p:cond delay="0"/>
                                  </p:stCondLst>
                                  <p:childTnLst>
                                    <p:set>
                                      <p:cBhvr>
                                        <p:cTn id="23" dur="1" fill="hold">
                                          <p:stCondLst>
                                            <p:cond delay="0"/>
                                          </p:stCondLst>
                                        </p:cTn>
                                        <p:tgtEl>
                                          <p:spTgt spid="6"/>
                                        </p:tgtEl>
                                        <p:attrNameLst>
                                          <p:attrName>style.visibility</p:attrName>
                                        </p:attrNameLst>
                                      </p:cBhvr>
                                      <p:to>
                                        <p:strVal val="visible"/>
                                      </p:to>
                                    </p:set>
                                    <p:animEffect transition="in" filter="wipe(left)">
                                      <p:cBhvr>
                                        <p:cTn id="25" dur="8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4" grpId="0" animBg="1"/>
      <p:bldP spid="5" grpId="0" animBg="1"/>
      <p:bldP spid="6" grpId="0" animBg="1"/>
    </p:bldLst>
  </p:timing>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200000"/>
            <a:ext cx="10400000" cy="650000"/>
          </a:xfrm>
          <a:prstGeom prst="rect">
            <a:avLst/>
          </a:prstGeom>
          <a:noFill/>
        </p:spPr>
        <p:txBody>
          <a:bodyPr wrap="square" anchor="ctr" lIns="50800" rIns="50800">
            <a:spAutoFit/>
          </a:bodyPr>
          <a:lstStyle/>
          <a:p>
            <a:pPr algn="l"/>
            <a:r>
              <a:rPr sz="2600" b="1">
                <a:solidFill>
                  <a:srgbClr val="FFFFFF"/>
                </a:solidFill>
                <a:latin typeface="Calibri"/>
              </a:rPr>
              <a:t>Keng tarqalgan xatolar va amaliy tavsiyalar (1)</a:t>
            </a:r>
          </a:p>
        </p:txBody>
      </p:sp>
      <p:sp>
        <p:nvSpPr>
          <p:cNvPr id="6" name="Rectangle 5"/>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A1 · Sun'iy intellektga asoslangan kompyuter tizimlari arxitekturasini tahlil qilish va loyihalash</a:t>
            </a:r>
          </a:p>
        </p:txBody>
      </p:sp>
      <p:sp>
        <p:nvSpPr>
          <p:cNvPr id="8" name="TextBox 7"/>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37</a:t>
            </a:r>
          </a:p>
        </p:txBody>
      </p:sp>
      <p:sp>
        <p:nvSpPr>
          <p:cNvPr id="9" name="Rounded Rectangle 8"/>
          <p:cNvSpPr/>
          <p:nvPr/>
        </p:nvSpPr>
        <p:spPr>
          <a:xfrm>
            <a:off x="550000" y="1300000"/>
            <a:ext cx="11100000" cy="894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50000" y="1300000"/>
            <a:ext cx="70000" cy="894000"/>
          </a:xfrm>
          <a:prstGeom prst="rect">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800000" y="1517000"/>
            <a:ext cx="460000" cy="460000"/>
          </a:xfrm>
          <a:prstGeom prst="ellipse">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1</a:t>
            </a:r>
          </a:p>
        </p:txBody>
      </p:sp>
      <p:sp>
        <p:nvSpPr>
          <p:cNvPr id="12" name="TextBox 11"/>
          <p:cNvSpPr txBox="1"/>
          <p:nvPr/>
        </p:nvSpPr>
        <p:spPr>
          <a:xfrm>
            <a:off x="1450000" y="1300000"/>
            <a:ext cx="10050000" cy="894000"/>
          </a:xfrm>
          <a:prstGeom prst="rect">
            <a:avLst/>
          </a:prstGeom>
          <a:noFill/>
        </p:spPr>
        <p:txBody>
          <a:bodyPr wrap="square" anchor="ctr" lIns="50800" rIns="50800">
            <a:spAutoFit/>
          </a:bodyPr>
          <a:lstStyle/>
          <a:p>
            <a:pPr algn="l"/>
            <a:r>
              <a:rPr sz="1400" b="0">
                <a:solidFill>
                  <a:srgbClr val="1B2430"/>
                </a:solidFill>
                <a:latin typeface="Calibri"/>
              </a:rPr>
              <a:t>Cho'qqi TOPS'ni haqiqiy unumdorlik deb qabul qilish. Ishlab chiqaruvchi ko'rsatadigan TOPS ko'pincha siyraklik (sparsity) hisobga olingan va ideal yuklama uchun. Har doim dense qiymatni…</a:t>
            </a:r>
          </a:p>
        </p:txBody>
      </p:sp>
      <p:sp>
        <p:nvSpPr>
          <p:cNvPr id="13" name="Rounded Rectangle 12"/>
          <p:cNvSpPr/>
          <p:nvPr/>
        </p:nvSpPr>
        <p:spPr>
          <a:xfrm>
            <a:off x="550000" y="2314000"/>
            <a:ext cx="11100000" cy="894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550000" y="2314000"/>
            <a:ext cx="70000" cy="894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00000" y="2531000"/>
            <a:ext cx="460000" cy="46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2</a:t>
            </a:r>
          </a:p>
        </p:txBody>
      </p:sp>
      <p:sp>
        <p:nvSpPr>
          <p:cNvPr id="16" name="TextBox 15"/>
          <p:cNvSpPr txBox="1"/>
          <p:nvPr/>
        </p:nvSpPr>
        <p:spPr>
          <a:xfrm>
            <a:off x="1450000" y="2314000"/>
            <a:ext cx="10050000" cy="894000"/>
          </a:xfrm>
          <a:prstGeom prst="rect">
            <a:avLst/>
          </a:prstGeom>
          <a:noFill/>
        </p:spPr>
        <p:txBody>
          <a:bodyPr wrap="square" anchor="ctr" lIns="50800" rIns="50800">
            <a:spAutoFit/>
          </a:bodyPr>
          <a:lstStyle/>
          <a:p>
            <a:pPr algn="l"/>
            <a:r>
              <a:rPr sz="1400" b="0">
                <a:solidFill>
                  <a:srgbClr val="1B2430"/>
                </a:solidFill>
                <a:latin typeface="Calibri"/>
              </a:rPr>
              <a:t>Faqat inferensni hisoblash. Dekodlash, o'lcham o'zgartirish, NMS, kuzatuv va tarmoq ko'pincha inferens vaqtidan ko'p bo'ladi. Butun quvur liniyasi uchun kechikish byudjeti tuzing.</a:t>
            </a:r>
          </a:p>
        </p:txBody>
      </p:sp>
      <p:sp>
        <p:nvSpPr>
          <p:cNvPr id="17" name="Rounded Rectangle 16"/>
          <p:cNvSpPr/>
          <p:nvPr/>
        </p:nvSpPr>
        <p:spPr>
          <a:xfrm>
            <a:off x="550000" y="3328000"/>
            <a:ext cx="11100000" cy="894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550000" y="3328000"/>
            <a:ext cx="70000" cy="894000"/>
          </a:xfrm>
          <a:prstGeom prst="rect">
            <a:avLst/>
          </a:prstGeom>
          <a:solidFill>
            <a:srgbClr val="6A3F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800000" y="3545000"/>
            <a:ext cx="460000" cy="460000"/>
          </a:xfrm>
          <a:prstGeom prst="ellipse">
            <a:avLst/>
          </a:prstGeom>
          <a:solidFill>
            <a:srgbClr val="6A3FB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3</a:t>
            </a:r>
          </a:p>
        </p:txBody>
      </p:sp>
      <p:sp>
        <p:nvSpPr>
          <p:cNvPr id="20" name="TextBox 19"/>
          <p:cNvSpPr txBox="1"/>
          <p:nvPr/>
        </p:nvSpPr>
        <p:spPr>
          <a:xfrm>
            <a:off x="1450000" y="3328000"/>
            <a:ext cx="10050000" cy="894000"/>
          </a:xfrm>
          <a:prstGeom prst="rect">
            <a:avLst/>
          </a:prstGeom>
          <a:noFill/>
        </p:spPr>
        <p:txBody>
          <a:bodyPr wrap="square" anchor="ctr" lIns="50800" rIns="50800">
            <a:spAutoFit/>
          </a:bodyPr>
          <a:lstStyle/>
          <a:p>
            <a:pPr algn="l"/>
            <a:r>
              <a:rPr sz="1400" b="0">
                <a:solidFill>
                  <a:srgbClr val="1B2430"/>
                </a:solidFill>
                <a:latin typeface="Calibri"/>
              </a:rPr>
              <a:t>Aniqlik formatini e'tiborsiz qoldirish. Edge TPU faqat INT8, ko'pgina NPU'lar FP16 ni qo'llamaydi. Platformani tanlashdan oldin modelni shu formatga kvantlash mumkinligini tekshiring.</a:t>
            </a:r>
          </a:p>
        </p:txBody>
      </p:sp>
      <p:sp>
        <p:nvSpPr>
          <p:cNvPr id="21" name="Rounded Rectangle 20"/>
          <p:cNvSpPr/>
          <p:nvPr/>
        </p:nvSpPr>
        <p:spPr>
          <a:xfrm>
            <a:off x="550000" y="4342000"/>
            <a:ext cx="11100000" cy="894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50000" y="4342000"/>
            <a:ext cx="70000" cy="894000"/>
          </a:xfrm>
          <a:prstGeom prst="rect">
            <a:avLst/>
          </a:prstGeom>
          <a:solidFill>
            <a:srgbClr val="B779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800000" y="4559000"/>
            <a:ext cx="460000" cy="460000"/>
          </a:xfrm>
          <a:prstGeom prst="ellipse">
            <a:avLst/>
          </a:prstGeom>
          <a:solidFill>
            <a:srgbClr val="B7791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4</a:t>
            </a:r>
          </a:p>
        </p:txBody>
      </p:sp>
      <p:sp>
        <p:nvSpPr>
          <p:cNvPr id="24" name="TextBox 23"/>
          <p:cNvSpPr txBox="1"/>
          <p:nvPr/>
        </p:nvSpPr>
        <p:spPr>
          <a:xfrm>
            <a:off x="1450000" y="4342000"/>
            <a:ext cx="10050000" cy="894000"/>
          </a:xfrm>
          <a:prstGeom prst="rect">
            <a:avLst/>
          </a:prstGeom>
          <a:noFill/>
        </p:spPr>
        <p:txBody>
          <a:bodyPr wrap="square" anchor="ctr" lIns="50800" rIns="50800">
            <a:spAutoFit/>
          </a:bodyPr>
          <a:lstStyle/>
          <a:p>
            <a:pPr algn="l"/>
            <a:r>
              <a:rPr sz="1400" b="0">
                <a:solidFill>
                  <a:srgbClr val="1B2430"/>
                </a:solidFill>
                <a:latin typeface="Calibri"/>
              </a:rPr>
              <a:t>Operatorlar qamrovini tekshirmaslik. Model grafigidagi bitta qo'llab-quvvatlanmagan operator butun tezlatkichni foydasiz qilishi mumkin. ONNX eksport va tezlatkich kompilyatorining…</a:t>
            </a:r>
          </a:p>
        </p:txBody>
      </p:sp>
      <p:sp>
        <p:nvSpPr>
          <p:cNvPr id="25" name="Rounded Rectangle 24"/>
          <p:cNvSpPr/>
          <p:nvPr/>
        </p:nvSpPr>
        <p:spPr>
          <a:xfrm>
            <a:off x="550000" y="5356000"/>
            <a:ext cx="11100000" cy="894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550000" y="5356000"/>
            <a:ext cx="70000" cy="894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800000" y="5573000"/>
            <a:ext cx="460000" cy="4600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5</a:t>
            </a:r>
          </a:p>
        </p:txBody>
      </p:sp>
      <p:sp>
        <p:nvSpPr>
          <p:cNvPr id="28" name="TextBox 27"/>
          <p:cNvSpPr txBox="1"/>
          <p:nvPr/>
        </p:nvSpPr>
        <p:spPr>
          <a:xfrm>
            <a:off x="1450000" y="5356000"/>
            <a:ext cx="10050000" cy="894000"/>
          </a:xfrm>
          <a:prstGeom prst="rect">
            <a:avLst/>
          </a:prstGeom>
          <a:noFill/>
        </p:spPr>
        <p:txBody>
          <a:bodyPr wrap="square" anchor="ctr" lIns="50800" rIns="50800">
            <a:spAutoFit/>
          </a:bodyPr>
          <a:lstStyle/>
          <a:p>
            <a:pPr algn="l"/>
            <a:r>
              <a:rPr sz="1400" b="0">
                <a:solidFill>
                  <a:srgbClr val="1B2430"/>
                </a:solidFill>
                <a:latin typeface="Calibri"/>
              </a:rPr>
              <a:t>Termal va mexanik muhitni unutish. 25 Vt chekka modul passiv radiator bilan +40 °C da throttling qiladi. Quvvat rejimini (nvpmodel) va sovutishni loyihaning qismi deb hisoblang.</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127"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5"/>
                                        </p:tgtEl>
                                        <p:attrNameLst>
                                          <p:attrName>style.visibility</p:attrName>
                                        </p:attrNameLst>
                                      </p:cBhvr>
                                      <p:to>
                                        <p:strVal val="visible"/>
                                      </p:to>
                                    </p:set>
                                    <p:animEffect transition="in" filter="fade">
                                      <p:cBhvr>
                                        <p:cTn id="6" dur="550"/>
                                        <p:tgtEl>
                                          <p:spTgt spid="5"/>
                                        </p:tgtEl>
                                      </p:cBhvr>
                                    </p:animEffect>
                                  </p:childTnLst>
                                </p:cTn>
                              </p:par>
                            </p:childTnLst>
                          </p:cTn>
                        </p:par>
                        <p:par>
                          <p:cTn id="7" fill="hold">
                            <p:stCondLst>
                              <p:cond delay="220"/>
                            </p:stCondLst>
                            <p:childTnLst>
                              <p:par>
                                <p:cTn id="8" presetID="42" presetClass="entr" presetSubtype="0" fill="hold" grpId="0" nodeType="afterEffect">
                                  <p:stCondLst>
                                    <p:cond delay="0"/>
                                  </p:stCondLst>
                                  <p:childTnLst>
                                    <p:set>
                                      <p:cBhvr>
                                        <p:cTn id="9" dur="1" fill="hold">
                                          <p:stCondLst>
                                            <p:cond delay="0"/>
                                          </p:stCondLst>
                                        </p:cTn>
                                        <p:tgtEl>
                                          <p:spTgt spid="9"/>
                                        </p:tgtEl>
                                        <p:attrNameLst>
                                          <p:attrName>style.visibility</p:attrName>
                                        </p:attrNameLst>
                                      </p:cBhvr>
                                      <p:to>
                                        <p:strVal val="visible"/>
                                      </p:to>
                                    </p:set>
                                    <p:animEffect transition="in" filter="fade">
                                      <p:cBhvr>
                                        <p:cTn id="10" dur="550"/>
                                        <p:tgtEl>
                                          <p:spTgt spid="9"/>
                                        </p:tgtEl>
                                      </p:cBhvr>
                                    </p:animEffect>
                                    <p:anim calcmode="lin" valueType="num">
                                      <p:cBhvr additive="base">
                                        <p:cTn id="11" dur="550" fill="hold"/>
                                        <p:tgtEl>
                                          <p:spTgt spid="9"/>
                                        </p:tgtEl>
                                        <p:attrNameLst>
                                          <p:attrName>ppt_x</p:attrName>
                                        </p:attrNameLst>
                                      </p:cBhvr>
                                      <p:tavLst>
                                        <p:tav tm="0">
                                          <p:val>
                                            <p:strVal val="#ppt_x"/>
                                          </p:val>
                                        </p:tav>
                                        <p:tav tm="100000">
                                          <p:val>
                                            <p:strVal val="#ppt_x"/>
                                          </p:val>
                                        </p:tav>
                                      </p:tavLst>
                                    </p:anim>
                                    <p:anim calcmode="lin" valueType="num">
                                      <p:cBhvr additive="base">
                                        <p:cTn id="12" dur="550" fill="hold"/>
                                        <p:tgtEl>
                                          <p:spTgt spid="9"/>
                                        </p:tgtEl>
                                        <p:attrNameLst>
                                          <p:attrName>ppt_y</p:attrName>
                                        </p:attrNameLst>
                                      </p:cBhvr>
                                      <p:tavLst>
                                        <p:tav tm="0">
                                          <p:val>
                                            <p:strVal val="#ppt_y+.08"/>
                                          </p:val>
                                        </p:tav>
                                        <p:tav tm="100000">
                                          <p:val>
                                            <p:strVal val="#ppt_y"/>
                                          </p:val>
                                        </p:tav>
                                      </p:tavLst>
                                    </p:anim>
                                  </p:childTnLst>
                                </p:cTn>
                              </p:par>
                            </p:childTnLst>
                          </p:cTn>
                        </p:par>
                        <p:par>
                          <p:cTn id="13" fill="hold">
                            <p:stCondLst>
                              <p:cond delay="220"/>
                            </p:stCondLst>
                            <p:childTnLst>
                              <p:par>
                                <p:cTn id="14" presetID="42" presetClass="entr" presetSubtype="0" fill="hold" grpId="0" nodeType="afterEffect">
                                  <p:stCondLst>
                                    <p:cond delay="0"/>
                                  </p:stCondLst>
                                  <p:childTnLst>
                                    <p:set>
                                      <p:cBhvr>
                                        <p:cTn id="15" dur="1" fill="hold">
                                          <p:stCondLst>
                                            <p:cond delay="0"/>
                                          </p:stCondLst>
                                        </p:cTn>
                                        <p:tgtEl>
                                          <p:spTgt spid="10"/>
                                        </p:tgtEl>
                                        <p:attrNameLst>
                                          <p:attrName>style.visibility</p:attrName>
                                        </p:attrNameLst>
                                      </p:cBhvr>
                                      <p:to>
                                        <p:strVal val="visible"/>
                                      </p:to>
                                    </p:set>
                                    <p:animEffect transition="in" filter="fade">
                                      <p:cBhvr>
                                        <p:cTn id="16" dur="550"/>
                                        <p:tgtEl>
                                          <p:spTgt spid="10"/>
                                        </p:tgtEl>
                                      </p:cBhvr>
                                    </p:animEffect>
                                    <p:anim calcmode="lin" valueType="num">
                                      <p:cBhvr additive="base">
                                        <p:cTn id="17" dur="550" fill="hold"/>
                                        <p:tgtEl>
                                          <p:spTgt spid="10"/>
                                        </p:tgtEl>
                                        <p:attrNameLst>
                                          <p:attrName>ppt_x</p:attrName>
                                        </p:attrNameLst>
                                      </p:cBhvr>
                                      <p:tavLst>
                                        <p:tav tm="0">
                                          <p:val>
                                            <p:strVal val="#ppt_x"/>
                                          </p:val>
                                        </p:tav>
                                        <p:tav tm="100000">
                                          <p:val>
                                            <p:strVal val="#ppt_x"/>
                                          </p:val>
                                        </p:tav>
                                      </p:tavLst>
                                    </p:anim>
                                    <p:anim calcmode="lin" valueType="num">
                                      <p:cBhvr additive="base">
                                        <p:cTn id="18" dur="550" fill="hold"/>
                                        <p:tgtEl>
                                          <p:spTgt spid="10"/>
                                        </p:tgtEl>
                                        <p:attrNameLst>
                                          <p:attrName>ppt_y</p:attrName>
                                        </p:attrNameLst>
                                      </p:cBhvr>
                                      <p:tavLst>
                                        <p:tav tm="0">
                                          <p:val>
                                            <p:strVal val="#ppt_y+.08"/>
                                          </p:val>
                                        </p:tav>
                                        <p:tav tm="100000">
                                          <p:val>
                                            <p:strVal val="#ppt_y"/>
                                          </p:val>
                                        </p:tav>
                                      </p:tavLst>
                                    </p:anim>
                                  </p:childTnLst>
                                </p:cTn>
                              </p:par>
                            </p:childTnLst>
                          </p:cTn>
                        </p:par>
                        <p:par>
                          <p:cTn id="19" fill="hold">
                            <p:stCondLst>
                              <p:cond delay="220"/>
                            </p:stCondLst>
                            <p:childTnLst>
                              <p:par>
                                <p:cTn id="20" presetID="53" presetClass="entr" presetSubtype="16" fill="hold" grpId="0" nodeType="afterEffect">
                                  <p:stCondLst>
                                    <p:cond delay="0"/>
                                  </p:stCondLst>
                                  <p:childTnLst>
                                    <p:set>
                                      <p:cBhvr>
                                        <p:cTn id="21" dur="1" fill="hold">
                                          <p:stCondLst>
                                            <p:cond delay="0"/>
                                          </p:stCondLst>
                                        </p:cTn>
                                        <p:tgtEl>
                                          <p:spTgt spid="11"/>
                                        </p:tgtEl>
                                        <p:attrNameLst>
                                          <p:attrName>style.visibility</p:attrName>
                                        </p:attrNameLst>
                                      </p:cBhvr>
                                      <p:to>
                                        <p:strVal val="visible"/>
                                      </p:to>
                                    </p:set>
                                    <p:animEffect transition="in" filter="fade">
                                      <p:cBhvr>
                                        <p:cTn id="22" dur="550"/>
                                        <p:tgtEl>
                                          <p:spTgt spid="11"/>
                                        </p:tgtEl>
                                      </p:cBhvr>
                                    </p:animEffect>
                                    <p:anim calcmode="lin" valueType="num">
                                      <p:cBhvr additive="base">
                                        <p:cTn id="23" dur="550" fill="hold"/>
                                        <p:tgtEl>
                                          <p:spTgt spid="11"/>
                                        </p:tgtEl>
                                        <p:attrNameLst>
                                          <p:attrName>ppt_w</p:attrName>
                                        </p:attrNameLst>
                                      </p:cBhvr>
                                      <p:tavLst>
                                        <p:tav tm="0">
                                          <p:val>
                                            <p:strVal val="0"/>
                                          </p:val>
                                        </p:tav>
                                        <p:tav tm="100000">
                                          <p:val>
                                            <p:strVal val="#ppt_w"/>
                                          </p:val>
                                        </p:tav>
                                      </p:tavLst>
                                    </p:anim>
                                    <p:anim calcmode="lin" valueType="num">
                                      <p:cBhvr additive="base">
                                        <p:cTn id="24" dur="550" fill="hold"/>
                                        <p:tgtEl>
                                          <p:spTgt spid="11"/>
                                        </p:tgtEl>
                                        <p:attrNameLst>
                                          <p:attrName>ppt_h</p:attrName>
                                        </p:attrNameLst>
                                      </p:cBhvr>
                                      <p:tavLst>
                                        <p:tav tm="0">
                                          <p:val>
                                            <p:strVal val="0"/>
                                          </p:val>
                                        </p:tav>
                                        <p:tav tm="100000">
                                          <p:val>
                                            <p:strVal val="#ppt_h"/>
                                          </p:val>
                                        </p:tav>
                                      </p:tavLst>
                                    </p:anim>
                                  </p:childTnLst>
                                </p:cTn>
                              </p:par>
                            </p:childTnLst>
                          </p:cTn>
                        </p:par>
                        <p:par>
                          <p:cTn id="25" fill="hold">
                            <p:stCondLst>
                              <p:cond delay="220"/>
                            </p:stCondLst>
                            <p:childTnLst>
                              <p:par>
                                <p:cTn id="26" presetID="42" presetClass="entr" presetSubtype="0" fill="hold" grpId="0" nodeType="afterEffect">
                                  <p:stCondLst>
                                    <p:cond delay="0"/>
                                  </p:stCondLst>
                                  <p:childTnLst>
                                    <p:set>
                                      <p:cBhvr>
                                        <p:cTn id="27" dur="1" fill="hold">
                                          <p:stCondLst>
                                            <p:cond delay="0"/>
                                          </p:stCondLst>
                                        </p:cTn>
                                        <p:tgtEl>
                                          <p:spTgt spid="12"/>
                                        </p:tgtEl>
                                        <p:attrNameLst>
                                          <p:attrName>style.visibility</p:attrName>
                                        </p:attrNameLst>
                                      </p:cBhvr>
                                      <p:to>
                                        <p:strVal val="visible"/>
                                      </p:to>
                                    </p:set>
                                    <p:animEffect transition="in" filter="fade">
                                      <p:cBhvr>
                                        <p:cTn id="28" dur="550"/>
                                        <p:tgtEl>
                                          <p:spTgt spid="12"/>
                                        </p:tgtEl>
                                      </p:cBhvr>
                                    </p:animEffect>
                                    <p:anim calcmode="lin" valueType="num">
                                      <p:cBhvr additive="base">
                                        <p:cTn id="29" dur="550" fill="hold"/>
                                        <p:tgtEl>
                                          <p:spTgt spid="12"/>
                                        </p:tgtEl>
                                        <p:attrNameLst>
                                          <p:attrName>ppt_x</p:attrName>
                                        </p:attrNameLst>
                                      </p:cBhvr>
                                      <p:tavLst>
                                        <p:tav tm="0">
                                          <p:val>
                                            <p:strVal val="#ppt_x"/>
                                          </p:val>
                                        </p:tav>
                                        <p:tav tm="100000">
                                          <p:val>
                                            <p:strVal val="#ppt_x"/>
                                          </p:val>
                                        </p:tav>
                                      </p:tavLst>
                                    </p:anim>
                                    <p:anim calcmode="lin" valueType="num">
                                      <p:cBhvr additive="base">
                                        <p:cTn id="30" dur="550" fill="hold"/>
                                        <p:tgtEl>
                                          <p:spTgt spid="12"/>
                                        </p:tgtEl>
                                        <p:attrNameLst>
                                          <p:attrName>ppt_y</p:attrName>
                                        </p:attrNameLst>
                                      </p:cBhvr>
                                      <p:tavLst>
                                        <p:tav tm="0">
                                          <p:val>
                                            <p:strVal val="#ppt_y+.08"/>
                                          </p:val>
                                        </p:tav>
                                        <p:tav tm="100000">
                                          <p:val>
                                            <p:strVal val="#ppt_y"/>
                                          </p:val>
                                        </p:tav>
                                      </p:tavLst>
                                    </p:anim>
                                  </p:childTnLst>
                                </p:cTn>
                              </p:par>
                            </p:childTnLst>
                          </p:cTn>
                        </p:par>
                        <p:par>
                          <p:cTn id="31" fill="hold">
                            <p:stCondLst>
                              <p:cond delay="440"/>
                            </p:stCondLst>
                            <p:childTnLst>
                              <p:par>
                                <p:cTn id="32" presetID="42" presetClass="entr" presetSubtype="0" fill="hold" grpId="0" nodeType="afterEffect">
                                  <p:stCondLst>
                                    <p:cond delay="0"/>
                                  </p:stCondLst>
                                  <p:childTnLst>
                                    <p:set>
                                      <p:cBhvr>
                                        <p:cTn id="33" dur="1" fill="hold">
                                          <p:stCondLst>
                                            <p:cond delay="0"/>
                                          </p:stCondLst>
                                        </p:cTn>
                                        <p:tgtEl>
                                          <p:spTgt spid="13"/>
                                        </p:tgtEl>
                                        <p:attrNameLst>
                                          <p:attrName>style.visibility</p:attrName>
                                        </p:attrNameLst>
                                      </p:cBhvr>
                                      <p:to>
                                        <p:strVal val="visible"/>
                                      </p:to>
                                    </p:set>
                                    <p:animEffect transition="in" filter="fade">
                                      <p:cBhvr>
                                        <p:cTn id="34" dur="550"/>
                                        <p:tgtEl>
                                          <p:spTgt spid="13"/>
                                        </p:tgtEl>
                                      </p:cBhvr>
                                    </p:animEffect>
                                    <p:anim calcmode="lin" valueType="num">
                                      <p:cBhvr additive="base">
                                        <p:cTn id="35" dur="550" fill="hold"/>
                                        <p:tgtEl>
                                          <p:spTgt spid="13"/>
                                        </p:tgtEl>
                                        <p:attrNameLst>
                                          <p:attrName>ppt_x</p:attrName>
                                        </p:attrNameLst>
                                      </p:cBhvr>
                                      <p:tavLst>
                                        <p:tav tm="0">
                                          <p:val>
                                            <p:strVal val="#ppt_x"/>
                                          </p:val>
                                        </p:tav>
                                        <p:tav tm="100000">
                                          <p:val>
                                            <p:strVal val="#ppt_x"/>
                                          </p:val>
                                        </p:tav>
                                      </p:tavLst>
                                    </p:anim>
                                    <p:anim calcmode="lin" valueType="num">
                                      <p:cBhvr additive="base">
                                        <p:cTn id="36" dur="550" fill="hold"/>
                                        <p:tgtEl>
                                          <p:spTgt spid="13"/>
                                        </p:tgtEl>
                                        <p:attrNameLst>
                                          <p:attrName>ppt_y</p:attrName>
                                        </p:attrNameLst>
                                      </p:cBhvr>
                                      <p:tavLst>
                                        <p:tav tm="0">
                                          <p:val>
                                            <p:strVal val="#ppt_y+.08"/>
                                          </p:val>
                                        </p:tav>
                                        <p:tav tm="100000">
                                          <p:val>
                                            <p:strVal val="#ppt_y"/>
                                          </p:val>
                                        </p:tav>
                                      </p:tavLst>
                                    </p:anim>
                                  </p:childTnLst>
                                </p:cTn>
                              </p:par>
                            </p:childTnLst>
                          </p:cTn>
                        </p:par>
                        <p:par>
                          <p:cTn id="37" fill="hold">
                            <p:stCondLst>
                              <p:cond delay="440"/>
                            </p:stCondLst>
                            <p:childTnLst>
                              <p:par>
                                <p:cTn id="38" presetID="42" presetClass="entr" presetSubtype="0" fill="hold" grpId="0" nodeType="afterEffect">
                                  <p:stCondLst>
                                    <p:cond delay="0"/>
                                  </p:stCondLst>
                                  <p:childTnLst>
                                    <p:set>
                                      <p:cBhvr>
                                        <p:cTn id="39" dur="1" fill="hold">
                                          <p:stCondLst>
                                            <p:cond delay="0"/>
                                          </p:stCondLst>
                                        </p:cTn>
                                        <p:tgtEl>
                                          <p:spTgt spid="14"/>
                                        </p:tgtEl>
                                        <p:attrNameLst>
                                          <p:attrName>style.visibility</p:attrName>
                                        </p:attrNameLst>
                                      </p:cBhvr>
                                      <p:to>
                                        <p:strVal val="visible"/>
                                      </p:to>
                                    </p:set>
                                    <p:animEffect transition="in" filter="fade">
                                      <p:cBhvr>
                                        <p:cTn id="40" dur="550"/>
                                        <p:tgtEl>
                                          <p:spTgt spid="14"/>
                                        </p:tgtEl>
                                      </p:cBhvr>
                                    </p:animEffect>
                                    <p:anim calcmode="lin" valueType="num">
                                      <p:cBhvr additive="base">
                                        <p:cTn id="41" dur="550" fill="hold"/>
                                        <p:tgtEl>
                                          <p:spTgt spid="14"/>
                                        </p:tgtEl>
                                        <p:attrNameLst>
                                          <p:attrName>ppt_x</p:attrName>
                                        </p:attrNameLst>
                                      </p:cBhvr>
                                      <p:tavLst>
                                        <p:tav tm="0">
                                          <p:val>
                                            <p:strVal val="#ppt_x"/>
                                          </p:val>
                                        </p:tav>
                                        <p:tav tm="100000">
                                          <p:val>
                                            <p:strVal val="#ppt_x"/>
                                          </p:val>
                                        </p:tav>
                                      </p:tavLst>
                                    </p:anim>
                                    <p:anim calcmode="lin" valueType="num">
                                      <p:cBhvr additive="base">
                                        <p:cTn id="42" dur="550" fill="hold"/>
                                        <p:tgtEl>
                                          <p:spTgt spid="14"/>
                                        </p:tgtEl>
                                        <p:attrNameLst>
                                          <p:attrName>ppt_y</p:attrName>
                                        </p:attrNameLst>
                                      </p:cBhvr>
                                      <p:tavLst>
                                        <p:tav tm="0">
                                          <p:val>
                                            <p:strVal val="#ppt_y+.08"/>
                                          </p:val>
                                        </p:tav>
                                        <p:tav tm="100000">
                                          <p:val>
                                            <p:strVal val="#ppt_y"/>
                                          </p:val>
                                        </p:tav>
                                      </p:tavLst>
                                    </p:anim>
                                  </p:childTnLst>
                                </p:cTn>
                              </p:par>
                            </p:childTnLst>
                          </p:cTn>
                        </p:par>
                        <p:par>
                          <p:cTn id="43" fill="hold">
                            <p:stCondLst>
                              <p:cond delay="440"/>
                            </p:stCondLst>
                            <p:childTnLst>
                              <p:par>
                                <p:cTn id="44" presetID="53" presetClass="entr" presetSubtype="16" fill="hold" grpId="0" nodeType="afterEffect">
                                  <p:stCondLst>
                                    <p:cond delay="0"/>
                                  </p:stCondLst>
                                  <p:childTnLst>
                                    <p:set>
                                      <p:cBhvr>
                                        <p:cTn id="45" dur="1" fill="hold">
                                          <p:stCondLst>
                                            <p:cond delay="0"/>
                                          </p:stCondLst>
                                        </p:cTn>
                                        <p:tgtEl>
                                          <p:spTgt spid="15"/>
                                        </p:tgtEl>
                                        <p:attrNameLst>
                                          <p:attrName>style.visibility</p:attrName>
                                        </p:attrNameLst>
                                      </p:cBhvr>
                                      <p:to>
                                        <p:strVal val="visible"/>
                                      </p:to>
                                    </p:set>
                                    <p:animEffect transition="in" filter="fade">
                                      <p:cBhvr>
                                        <p:cTn id="46" dur="550"/>
                                        <p:tgtEl>
                                          <p:spTgt spid="15"/>
                                        </p:tgtEl>
                                      </p:cBhvr>
                                    </p:animEffect>
                                    <p:anim calcmode="lin" valueType="num">
                                      <p:cBhvr additive="base">
                                        <p:cTn id="47" dur="550" fill="hold"/>
                                        <p:tgtEl>
                                          <p:spTgt spid="15"/>
                                        </p:tgtEl>
                                        <p:attrNameLst>
                                          <p:attrName>ppt_w</p:attrName>
                                        </p:attrNameLst>
                                      </p:cBhvr>
                                      <p:tavLst>
                                        <p:tav tm="0">
                                          <p:val>
                                            <p:strVal val="0"/>
                                          </p:val>
                                        </p:tav>
                                        <p:tav tm="100000">
                                          <p:val>
                                            <p:strVal val="#ppt_w"/>
                                          </p:val>
                                        </p:tav>
                                      </p:tavLst>
                                    </p:anim>
                                    <p:anim calcmode="lin" valueType="num">
                                      <p:cBhvr additive="base">
                                        <p:cTn id="48" dur="550" fill="hold"/>
                                        <p:tgtEl>
                                          <p:spTgt spid="15"/>
                                        </p:tgtEl>
                                        <p:attrNameLst>
                                          <p:attrName>ppt_h</p:attrName>
                                        </p:attrNameLst>
                                      </p:cBhvr>
                                      <p:tavLst>
                                        <p:tav tm="0">
                                          <p:val>
                                            <p:strVal val="0"/>
                                          </p:val>
                                        </p:tav>
                                        <p:tav tm="100000">
                                          <p:val>
                                            <p:strVal val="#ppt_h"/>
                                          </p:val>
                                        </p:tav>
                                      </p:tavLst>
                                    </p:anim>
                                  </p:childTnLst>
                                </p:cTn>
                              </p:par>
                            </p:childTnLst>
                          </p:cTn>
                        </p:par>
                        <p:par>
                          <p:cTn id="49" fill="hold">
                            <p:stCondLst>
                              <p:cond delay="440"/>
                            </p:stCondLst>
                            <p:childTnLst>
                              <p:par>
                                <p:cTn id="50" presetID="42" presetClass="entr" presetSubtype="0" fill="hold" grpId="0" nodeType="afterEffect">
                                  <p:stCondLst>
                                    <p:cond delay="0"/>
                                  </p:stCondLst>
                                  <p:childTnLst>
                                    <p:set>
                                      <p:cBhvr>
                                        <p:cTn id="51" dur="1" fill="hold">
                                          <p:stCondLst>
                                            <p:cond delay="0"/>
                                          </p:stCondLst>
                                        </p:cTn>
                                        <p:tgtEl>
                                          <p:spTgt spid="16"/>
                                        </p:tgtEl>
                                        <p:attrNameLst>
                                          <p:attrName>style.visibility</p:attrName>
                                        </p:attrNameLst>
                                      </p:cBhvr>
                                      <p:to>
                                        <p:strVal val="visible"/>
                                      </p:to>
                                    </p:set>
                                    <p:animEffect transition="in" filter="fade">
                                      <p:cBhvr>
                                        <p:cTn id="52" dur="550"/>
                                        <p:tgtEl>
                                          <p:spTgt spid="16"/>
                                        </p:tgtEl>
                                      </p:cBhvr>
                                    </p:animEffect>
                                    <p:anim calcmode="lin" valueType="num">
                                      <p:cBhvr additive="base">
                                        <p:cTn id="53" dur="550" fill="hold"/>
                                        <p:tgtEl>
                                          <p:spTgt spid="16"/>
                                        </p:tgtEl>
                                        <p:attrNameLst>
                                          <p:attrName>ppt_x</p:attrName>
                                        </p:attrNameLst>
                                      </p:cBhvr>
                                      <p:tavLst>
                                        <p:tav tm="0">
                                          <p:val>
                                            <p:strVal val="#ppt_x"/>
                                          </p:val>
                                        </p:tav>
                                        <p:tav tm="100000">
                                          <p:val>
                                            <p:strVal val="#ppt_x"/>
                                          </p:val>
                                        </p:tav>
                                      </p:tavLst>
                                    </p:anim>
                                    <p:anim calcmode="lin" valueType="num">
                                      <p:cBhvr additive="base">
                                        <p:cTn id="54" dur="550" fill="hold"/>
                                        <p:tgtEl>
                                          <p:spTgt spid="16"/>
                                        </p:tgtEl>
                                        <p:attrNameLst>
                                          <p:attrName>ppt_y</p:attrName>
                                        </p:attrNameLst>
                                      </p:cBhvr>
                                      <p:tavLst>
                                        <p:tav tm="0">
                                          <p:val>
                                            <p:strVal val="#ppt_y+.08"/>
                                          </p:val>
                                        </p:tav>
                                        <p:tav tm="100000">
                                          <p:val>
                                            <p:strVal val="#ppt_y"/>
                                          </p:val>
                                        </p:tav>
                                      </p:tavLst>
                                    </p:anim>
                                  </p:childTnLst>
                                </p:cTn>
                              </p:par>
                            </p:childTnLst>
                          </p:cTn>
                        </p:par>
                        <p:par>
                          <p:cTn id="55" fill="hold">
                            <p:stCondLst>
                              <p:cond delay="660"/>
                            </p:stCondLst>
                            <p:childTnLst>
                              <p:par>
                                <p:cTn id="56" presetID="42" presetClass="entr" presetSubtype="0" fill="hold" grpId="0" nodeType="afterEffect">
                                  <p:stCondLst>
                                    <p:cond delay="0"/>
                                  </p:stCondLst>
                                  <p:childTnLst>
                                    <p:set>
                                      <p:cBhvr>
                                        <p:cTn id="57" dur="1" fill="hold">
                                          <p:stCondLst>
                                            <p:cond delay="0"/>
                                          </p:stCondLst>
                                        </p:cTn>
                                        <p:tgtEl>
                                          <p:spTgt spid="17"/>
                                        </p:tgtEl>
                                        <p:attrNameLst>
                                          <p:attrName>style.visibility</p:attrName>
                                        </p:attrNameLst>
                                      </p:cBhvr>
                                      <p:to>
                                        <p:strVal val="visible"/>
                                      </p:to>
                                    </p:set>
                                    <p:animEffect transition="in" filter="fade">
                                      <p:cBhvr>
                                        <p:cTn id="58" dur="550"/>
                                        <p:tgtEl>
                                          <p:spTgt spid="17"/>
                                        </p:tgtEl>
                                      </p:cBhvr>
                                    </p:animEffect>
                                    <p:anim calcmode="lin" valueType="num">
                                      <p:cBhvr additive="base">
                                        <p:cTn id="59" dur="550" fill="hold"/>
                                        <p:tgtEl>
                                          <p:spTgt spid="17"/>
                                        </p:tgtEl>
                                        <p:attrNameLst>
                                          <p:attrName>ppt_x</p:attrName>
                                        </p:attrNameLst>
                                      </p:cBhvr>
                                      <p:tavLst>
                                        <p:tav tm="0">
                                          <p:val>
                                            <p:strVal val="#ppt_x"/>
                                          </p:val>
                                        </p:tav>
                                        <p:tav tm="100000">
                                          <p:val>
                                            <p:strVal val="#ppt_x"/>
                                          </p:val>
                                        </p:tav>
                                      </p:tavLst>
                                    </p:anim>
                                    <p:anim calcmode="lin" valueType="num">
                                      <p:cBhvr additive="base">
                                        <p:cTn id="60" dur="550" fill="hold"/>
                                        <p:tgtEl>
                                          <p:spTgt spid="17"/>
                                        </p:tgtEl>
                                        <p:attrNameLst>
                                          <p:attrName>ppt_y</p:attrName>
                                        </p:attrNameLst>
                                      </p:cBhvr>
                                      <p:tavLst>
                                        <p:tav tm="0">
                                          <p:val>
                                            <p:strVal val="#ppt_y+.08"/>
                                          </p:val>
                                        </p:tav>
                                        <p:tav tm="100000">
                                          <p:val>
                                            <p:strVal val="#ppt_y"/>
                                          </p:val>
                                        </p:tav>
                                      </p:tavLst>
                                    </p:anim>
                                  </p:childTnLst>
                                </p:cTn>
                              </p:par>
                            </p:childTnLst>
                          </p:cTn>
                        </p:par>
                        <p:par>
                          <p:cTn id="61" fill="hold">
                            <p:stCondLst>
                              <p:cond delay="660"/>
                            </p:stCondLst>
                            <p:childTnLst>
                              <p:par>
                                <p:cTn id="62" presetID="42" presetClass="entr" presetSubtype="0" fill="hold" grpId="0" nodeType="afterEffect">
                                  <p:stCondLst>
                                    <p:cond delay="0"/>
                                  </p:stCondLst>
                                  <p:childTnLst>
                                    <p:set>
                                      <p:cBhvr>
                                        <p:cTn id="63" dur="1" fill="hold">
                                          <p:stCondLst>
                                            <p:cond delay="0"/>
                                          </p:stCondLst>
                                        </p:cTn>
                                        <p:tgtEl>
                                          <p:spTgt spid="18"/>
                                        </p:tgtEl>
                                        <p:attrNameLst>
                                          <p:attrName>style.visibility</p:attrName>
                                        </p:attrNameLst>
                                      </p:cBhvr>
                                      <p:to>
                                        <p:strVal val="visible"/>
                                      </p:to>
                                    </p:set>
                                    <p:animEffect transition="in" filter="fade">
                                      <p:cBhvr>
                                        <p:cTn id="64" dur="550"/>
                                        <p:tgtEl>
                                          <p:spTgt spid="18"/>
                                        </p:tgtEl>
                                      </p:cBhvr>
                                    </p:animEffect>
                                    <p:anim calcmode="lin" valueType="num">
                                      <p:cBhvr additive="base">
                                        <p:cTn id="65" dur="550" fill="hold"/>
                                        <p:tgtEl>
                                          <p:spTgt spid="18"/>
                                        </p:tgtEl>
                                        <p:attrNameLst>
                                          <p:attrName>ppt_x</p:attrName>
                                        </p:attrNameLst>
                                      </p:cBhvr>
                                      <p:tavLst>
                                        <p:tav tm="0">
                                          <p:val>
                                            <p:strVal val="#ppt_x"/>
                                          </p:val>
                                        </p:tav>
                                        <p:tav tm="100000">
                                          <p:val>
                                            <p:strVal val="#ppt_x"/>
                                          </p:val>
                                        </p:tav>
                                      </p:tavLst>
                                    </p:anim>
                                    <p:anim calcmode="lin" valueType="num">
                                      <p:cBhvr additive="base">
                                        <p:cTn id="66" dur="550" fill="hold"/>
                                        <p:tgtEl>
                                          <p:spTgt spid="18"/>
                                        </p:tgtEl>
                                        <p:attrNameLst>
                                          <p:attrName>ppt_y</p:attrName>
                                        </p:attrNameLst>
                                      </p:cBhvr>
                                      <p:tavLst>
                                        <p:tav tm="0">
                                          <p:val>
                                            <p:strVal val="#ppt_y+.08"/>
                                          </p:val>
                                        </p:tav>
                                        <p:tav tm="100000">
                                          <p:val>
                                            <p:strVal val="#ppt_y"/>
                                          </p:val>
                                        </p:tav>
                                      </p:tavLst>
                                    </p:anim>
                                  </p:childTnLst>
                                </p:cTn>
                              </p:par>
                            </p:childTnLst>
                          </p:cTn>
                        </p:par>
                        <p:par>
                          <p:cTn id="67" fill="hold">
                            <p:stCondLst>
                              <p:cond delay="660"/>
                            </p:stCondLst>
                            <p:childTnLst>
                              <p:par>
                                <p:cTn id="68" presetID="53" presetClass="entr" presetSubtype="16" fill="hold" grpId="0" nodeType="afterEffect">
                                  <p:stCondLst>
                                    <p:cond delay="0"/>
                                  </p:stCondLst>
                                  <p:childTnLst>
                                    <p:set>
                                      <p:cBhvr>
                                        <p:cTn id="69" dur="1" fill="hold">
                                          <p:stCondLst>
                                            <p:cond delay="0"/>
                                          </p:stCondLst>
                                        </p:cTn>
                                        <p:tgtEl>
                                          <p:spTgt spid="19"/>
                                        </p:tgtEl>
                                        <p:attrNameLst>
                                          <p:attrName>style.visibility</p:attrName>
                                        </p:attrNameLst>
                                      </p:cBhvr>
                                      <p:to>
                                        <p:strVal val="visible"/>
                                      </p:to>
                                    </p:set>
                                    <p:animEffect transition="in" filter="fade">
                                      <p:cBhvr>
                                        <p:cTn id="70" dur="550"/>
                                        <p:tgtEl>
                                          <p:spTgt spid="19"/>
                                        </p:tgtEl>
                                      </p:cBhvr>
                                    </p:animEffect>
                                    <p:anim calcmode="lin" valueType="num">
                                      <p:cBhvr additive="base">
                                        <p:cTn id="71" dur="550" fill="hold"/>
                                        <p:tgtEl>
                                          <p:spTgt spid="19"/>
                                        </p:tgtEl>
                                        <p:attrNameLst>
                                          <p:attrName>ppt_w</p:attrName>
                                        </p:attrNameLst>
                                      </p:cBhvr>
                                      <p:tavLst>
                                        <p:tav tm="0">
                                          <p:val>
                                            <p:strVal val="0"/>
                                          </p:val>
                                        </p:tav>
                                        <p:tav tm="100000">
                                          <p:val>
                                            <p:strVal val="#ppt_w"/>
                                          </p:val>
                                        </p:tav>
                                      </p:tavLst>
                                    </p:anim>
                                    <p:anim calcmode="lin" valueType="num">
                                      <p:cBhvr additive="base">
                                        <p:cTn id="72" dur="550" fill="hold"/>
                                        <p:tgtEl>
                                          <p:spTgt spid="19"/>
                                        </p:tgtEl>
                                        <p:attrNameLst>
                                          <p:attrName>ppt_h</p:attrName>
                                        </p:attrNameLst>
                                      </p:cBhvr>
                                      <p:tavLst>
                                        <p:tav tm="0">
                                          <p:val>
                                            <p:strVal val="0"/>
                                          </p:val>
                                        </p:tav>
                                        <p:tav tm="100000">
                                          <p:val>
                                            <p:strVal val="#ppt_h"/>
                                          </p:val>
                                        </p:tav>
                                      </p:tavLst>
                                    </p:anim>
                                  </p:childTnLst>
                                </p:cTn>
                              </p:par>
                            </p:childTnLst>
                          </p:cTn>
                        </p:par>
                        <p:par>
                          <p:cTn id="73" fill="hold">
                            <p:stCondLst>
                              <p:cond delay="660"/>
                            </p:stCondLst>
                            <p:childTnLst>
                              <p:par>
                                <p:cTn id="74" presetID="42" presetClass="entr" presetSubtype="0" fill="hold" grpId="0" nodeType="afterEffect">
                                  <p:stCondLst>
                                    <p:cond delay="0"/>
                                  </p:stCondLst>
                                  <p:childTnLst>
                                    <p:set>
                                      <p:cBhvr>
                                        <p:cTn id="75" dur="1" fill="hold">
                                          <p:stCondLst>
                                            <p:cond delay="0"/>
                                          </p:stCondLst>
                                        </p:cTn>
                                        <p:tgtEl>
                                          <p:spTgt spid="20"/>
                                        </p:tgtEl>
                                        <p:attrNameLst>
                                          <p:attrName>style.visibility</p:attrName>
                                        </p:attrNameLst>
                                      </p:cBhvr>
                                      <p:to>
                                        <p:strVal val="visible"/>
                                      </p:to>
                                    </p:set>
                                    <p:animEffect transition="in" filter="fade">
                                      <p:cBhvr>
                                        <p:cTn id="76" dur="550"/>
                                        <p:tgtEl>
                                          <p:spTgt spid="20"/>
                                        </p:tgtEl>
                                      </p:cBhvr>
                                    </p:animEffect>
                                    <p:anim calcmode="lin" valueType="num">
                                      <p:cBhvr additive="base">
                                        <p:cTn id="77" dur="550" fill="hold"/>
                                        <p:tgtEl>
                                          <p:spTgt spid="20"/>
                                        </p:tgtEl>
                                        <p:attrNameLst>
                                          <p:attrName>ppt_x</p:attrName>
                                        </p:attrNameLst>
                                      </p:cBhvr>
                                      <p:tavLst>
                                        <p:tav tm="0">
                                          <p:val>
                                            <p:strVal val="#ppt_x"/>
                                          </p:val>
                                        </p:tav>
                                        <p:tav tm="100000">
                                          <p:val>
                                            <p:strVal val="#ppt_x"/>
                                          </p:val>
                                        </p:tav>
                                      </p:tavLst>
                                    </p:anim>
                                    <p:anim calcmode="lin" valueType="num">
                                      <p:cBhvr additive="base">
                                        <p:cTn id="78" dur="550" fill="hold"/>
                                        <p:tgtEl>
                                          <p:spTgt spid="20"/>
                                        </p:tgtEl>
                                        <p:attrNameLst>
                                          <p:attrName>ppt_y</p:attrName>
                                        </p:attrNameLst>
                                      </p:cBhvr>
                                      <p:tavLst>
                                        <p:tav tm="0">
                                          <p:val>
                                            <p:strVal val="#ppt_y+.08"/>
                                          </p:val>
                                        </p:tav>
                                        <p:tav tm="100000">
                                          <p:val>
                                            <p:strVal val="#ppt_y"/>
                                          </p:val>
                                        </p:tav>
                                      </p:tavLst>
                                    </p:anim>
                                  </p:childTnLst>
                                </p:cTn>
                              </p:par>
                            </p:childTnLst>
                          </p:cTn>
                        </p:par>
                        <p:par>
                          <p:cTn id="79" fill="hold">
                            <p:stCondLst>
                              <p:cond delay="880"/>
                            </p:stCondLst>
                            <p:childTnLst>
                              <p:par>
                                <p:cTn id="80" presetID="42" presetClass="entr" presetSubtype="0" fill="hold" grpId="0" nodeType="afterEffect">
                                  <p:stCondLst>
                                    <p:cond delay="0"/>
                                  </p:stCondLst>
                                  <p:childTnLst>
                                    <p:set>
                                      <p:cBhvr>
                                        <p:cTn id="81" dur="1" fill="hold">
                                          <p:stCondLst>
                                            <p:cond delay="0"/>
                                          </p:stCondLst>
                                        </p:cTn>
                                        <p:tgtEl>
                                          <p:spTgt spid="21"/>
                                        </p:tgtEl>
                                        <p:attrNameLst>
                                          <p:attrName>style.visibility</p:attrName>
                                        </p:attrNameLst>
                                      </p:cBhvr>
                                      <p:to>
                                        <p:strVal val="visible"/>
                                      </p:to>
                                    </p:set>
                                    <p:animEffect transition="in" filter="fade">
                                      <p:cBhvr>
                                        <p:cTn id="82" dur="550"/>
                                        <p:tgtEl>
                                          <p:spTgt spid="21"/>
                                        </p:tgtEl>
                                      </p:cBhvr>
                                    </p:animEffect>
                                    <p:anim calcmode="lin" valueType="num">
                                      <p:cBhvr additive="base">
                                        <p:cTn id="83" dur="550" fill="hold"/>
                                        <p:tgtEl>
                                          <p:spTgt spid="21"/>
                                        </p:tgtEl>
                                        <p:attrNameLst>
                                          <p:attrName>ppt_x</p:attrName>
                                        </p:attrNameLst>
                                      </p:cBhvr>
                                      <p:tavLst>
                                        <p:tav tm="0">
                                          <p:val>
                                            <p:strVal val="#ppt_x"/>
                                          </p:val>
                                        </p:tav>
                                        <p:tav tm="100000">
                                          <p:val>
                                            <p:strVal val="#ppt_x"/>
                                          </p:val>
                                        </p:tav>
                                      </p:tavLst>
                                    </p:anim>
                                    <p:anim calcmode="lin" valueType="num">
                                      <p:cBhvr additive="base">
                                        <p:cTn id="84" dur="550" fill="hold"/>
                                        <p:tgtEl>
                                          <p:spTgt spid="21"/>
                                        </p:tgtEl>
                                        <p:attrNameLst>
                                          <p:attrName>ppt_y</p:attrName>
                                        </p:attrNameLst>
                                      </p:cBhvr>
                                      <p:tavLst>
                                        <p:tav tm="0">
                                          <p:val>
                                            <p:strVal val="#ppt_y+.08"/>
                                          </p:val>
                                        </p:tav>
                                        <p:tav tm="100000">
                                          <p:val>
                                            <p:strVal val="#ppt_y"/>
                                          </p:val>
                                        </p:tav>
                                      </p:tavLst>
                                    </p:anim>
                                  </p:childTnLst>
                                </p:cTn>
                              </p:par>
                            </p:childTnLst>
                          </p:cTn>
                        </p:par>
                        <p:par>
                          <p:cTn id="85" fill="hold">
                            <p:stCondLst>
                              <p:cond delay="880"/>
                            </p:stCondLst>
                            <p:childTnLst>
                              <p:par>
                                <p:cTn id="86" presetID="42" presetClass="entr" presetSubtype="0" fill="hold" grpId="0" nodeType="afterEffect">
                                  <p:stCondLst>
                                    <p:cond delay="0"/>
                                  </p:stCondLst>
                                  <p:childTnLst>
                                    <p:set>
                                      <p:cBhvr>
                                        <p:cTn id="87" dur="1" fill="hold">
                                          <p:stCondLst>
                                            <p:cond delay="0"/>
                                          </p:stCondLst>
                                        </p:cTn>
                                        <p:tgtEl>
                                          <p:spTgt spid="22"/>
                                        </p:tgtEl>
                                        <p:attrNameLst>
                                          <p:attrName>style.visibility</p:attrName>
                                        </p:attrNameLst>
                                      </p:cBhvr>
                                      <p:to>
                                        <p:strVal val="visible"/>
                                      </p:to>
                                    </p:set>
                                    <p:animEffect transition="in" filter="fade">
                                      <p:cBhvr>
                                        <p:cTn id="88" dur="550"/>
                                        <p:tgtEl>
                                          <p:spTgt spid="22"/>
                                        </p:tgtEl>
                                      </p:cBhvr>
                                    </p:animEffect>
                                    <p:anim calcmode="lin" valueType="num">
                                      <p:cBhvr additive="base">
                                        <p:cTn id="89" dur="550" fill="hold"/>
                                        <p:tgtEl>
                                          <p:spTgt spid="22"/>
                                        </p:tgtEl>
                                        <p:attrNameLst>
                                          <p:attrName>ppt_x</p:attrName>
                                        </p:attrNameLst>
                                      </p:cBhvr>
                                      <p:tavLst>
                                        <p:tav tm="0">
                                          <p:val>
                                            <p:strVal val="#ppt_x"/>
                                          </p:val>
                                        </p:tav>
                                        <p:tav tm="100000">
                                          <p:val>
                                            <p:strVal val="#ppt_x"/>
                                          </p:val>
                                        </p:tav>
                                      </p:tavLst>
                                    </p:anim>
                                    <p:anim calcmode="lin" valueType="num">
                                      <p:cBhvr additive="base">
                                        <p:cTn id="90" dur="550" fill="hold"/>
                                        <p:tgtEl>
                                          <p:spTgt spid="22"/>
                                        </p:tgtEl>
                                        <p:attrNameLst>
                                          <p:attrName>ppt_y</p:attrName>
                                        </p:attrNameLst>
                                      </p:cBhvr>
                                      <p:tavLst>
                                        <p:tav tm="0">
                                          <p:val>
                                            <p:strVal val="#ppt_y+.08"/>
                                          </p:val>
                                        </p:tav>
                                        <p:tav tm="100000">
                                          <p:val>
                                            <p:strVal val="#ppt_y"/>
                                          </p:val>
                                        </p:tav>
                                      </p:tavLst>
                                    </p:anim>
                                  </p:childTnLst>
                                </p:cTn>
                              </p:par>
                            </p:childTnLst>
                          </p:cTn>
                        </p:par>
                        <p:par>
                          <p:cTn id="91" fill="hold">
                            <p:stCondLst>
                              <p:cond delay="880"/>
                            </p:stCondLst>
                            <p:childTnLst>
                              <p:par>
                                <p:cTn id="92" presetID="53" presetClass="entr" presetSubtype="16" fill="hold" grpId="0" nodeType="afterEffect">
                                  <p:stCondLst>
                                    <p:cond delay="0"/>
                                  </p:stCondLst>
                                  <p:childTnLst>
                                    <p:set>
                                      <p:cBhvr>
                                        <p:cTn id="93" dur="1" fill="hold">
                                          <p:stCondLst>
                                            <p:cond delay="0"/>
                                          </p:stCondLst>
                                        </p:cTn>
                                        <p:tgtEl>
                                          <p:spTgt spid="23"/>
                                        </p:tgtEl>
                                        <p:attrNameLst>
                                          <p:attrName>style.visibility</p:attrName>
                                        </p:attrNameLst>
                                      </p:cBhvr>
                                      <p:to>
                                        <p:strVal val="visible"/>
                                      </p:to>
                                    </p:set>
                                    <p:animEffect transition="in" filter="fade">
                                      <p:cBhvr>
                                        <p:cTn id="94" dur="550"/>
                                        <p:tgtEl>
                                          <p:spTgt spid="23"/>
                                        </p:tgtEl>
                                      </p:cBhvr>
                                    </p:animEffect>
                                    <p:anim calcmode="lin" valueType="num">
                                      <p:cBhvr additive="base">
                                        <p:cTn id="95" dur="550" fill="hold"/>
                                        <p:tgtEl>
                                          <p:spTgt spid="23"/>
                                        </p:tgtEl>
                                        <p:attrNameLst>
                                          <p:attrName>ppt_w</p:attrName>
                                        </p:attrNameLst>
                                      </p:cBhvr>
                                      <p:tavLst>
                                        <p:tav tm="0">
                                          <p:val>
                                            <p:strVal val="0"/>
                                          </p:val>
                                        </p:tav>
                                        <p:tav tm="100000">
                                          <p:val>
                                            <p:strVal val="#ppt_w"/>
                                          </p:val>
                                        </p:tav>
                                      </p:tavLst>
                                    </p:anim>
                                    <p:anim calcmode="lin" valueType="num">
                                      <p:cBhvr additive="base">
                                        <p:cTn id="96" dur="550" fill="hold"/>
                                        <p:tgtEl>
                                          <p:spTgt spid="23"/>
                                        </p:tgtEl>
                                        <p:attrNameLst>
                                          <p:attrName>ppt_h</p:attrName>
                                        </p:attrNameLst>
                                      </p:cBhvr>
                                      <p:tavLst>
                                        <p:tav tm="0">
                                          <p:val>
                                            <p:strVal val="0"/>
                                          </p:val>
                                        </p:tav>
                                        <p:tav tm="100000">
                                          <p:val>
                                            <p:strVal val="#ppt_h"/>
                                          </p:val>
                                        </p:tav>
                                      </p:tavLst>
                                    </p:anim>
                                  </p:childTnLst>
                                </p:cTn>
                              </p:par>
                            </p:childTnLst>
                          </p:cTn>
                        </p:par>
                        <p:par>
                          <p:cTn id="97" fill="hold">
                            <p:stCondLst>
                              <p:cond delay="880"/>
                            </p:stCondLst>
                            <p:childTnLst>
                              <p:par>
                                <p:cTn id="98" presetID="42" presetClass="entr" presetSubtype="0" fill="hold" grpId="0" nodeType="afterEffect">
                                  <p:stCondLst>
                                    <p:cond delay="0"/>
                                  </p:stCondLst>
                                  <p:childTnLst>
                                    <p:set>
                                      <p:cBhvr>
                                        <p:cTn id="99" dur="1" fill="hold">
                                          <p:stCondLst>
                                            <p:cond delay="0"/>
                                          </p:stCondLst>
                                        </p:cTn>
                                        <p:tgtEl>
                                          <p:spTgt spid="24"/>
                                        </p:tgtEl>
                                        <p:attrNameLst>
                                          <p:attrName>style.visibility</p:attrName>
                                        </p:attrNameLst>
                                      </p:cBhvr>
                                      <p:to>
                                        <p:strVal val="visible"/>
                                      </p:to>
                                    </p:set>
                                    <p:animEffect transition="in" filter="fade">
                                      <p:cBhvr>
                                        <p:cTn id="100" dur="550"/>
                                        <p:tgtEl>
                                          <p:spTgt spid="24"/>
                                        </p:tgtEl>
                                      </p:cBhvr>
                                    </p:animEffect>
                                    <p:anim calcmode="lin" valueType="num">
                                      <p:cBhvr additive="base">
                                        <p:cTn id="101" dur="550" fill="hold"/>
                                        <p:tgtEl>
                                          <p:spTgt spid="24"/>
                                        </p:tgtEl>
                                        <p:attrNameLst>
                                          <p:attrName>ppt_x</p:attrName>
                                        </p:attrNameLst>
                                      </p:cBhvr>
                                      <p:tavLst>
                                        <p:tav tm="0">
                                          <p:val>
                                            <p:strVal val="#ppt_x"/>
                                          </p:val>
                                        </p:tav>
                                        <p:tav tm="100000">
                                          <p:val>
                                            <p:strVal val="#ppt_x"/>
                                          </p:val>
                                        </p:tav>
                                      </p:tavLst>
                                    </p:anim>
                                    <p:anim calcmode="lin" valueType="num">
                                      <p:cBhvr additive="base">
                                        <p:cTn id="102" dur="550" fill="hold"/>
                                        <p:tgtEl>
                                          <p:spTgt spid="24"/>
                                        </p:tgtEl>
                                        <p:attrNameLst>
                                          <p:attrName>ppt_y</p:attrName>
                                        </p:attrNameLst>
                                      </p:cBhvr>
                                      <p:tavLst>
                                        <p:tav tm="0">
                                          <p:val>
                                            <p:strVal val="#ppt_y+.08"/>
                                          </p:val>
                                        </p:tav>
                                        <p:tav tm="100000">
                                          <p:val>
                                            <p:strVal val="#ppt_y"/>
                                          </p:val>
                                        </p:tav>
                                      </p:tavLst>
                                    </p:anim>
                                  </p:childTnLst>
                                </p:cTn>
                              </p:par>
                            </p:childTnLst>
                          </p:cTn>
                        </p:par>
                        <p:par>
                          <p:cTn id="103" fill="hold">
                            <p:stCondLst>
                              <p:cond delay="1100"/>
                            </p:stCondLst>
                            <p:childTnLst>
                              <p:par>
                                <p:cTn id="104" presetID="42" presetClass="entr" presetSubtype="0" fill="hold" grpId="0" nodeType="afterEffect">
                                  <p:stCondLst>
                                    <p:cond delay="0"/>
                                  </p:stCondLst>
                                  <p:childTnLst>
                                    <p:set>
                                      <p:cBhvr>
                                        <p:cTn id="105" dur="1" fill="hold">
                                          <p:stCondLst>
                                            <p:cond delay="0"/>
                                          </p:stCondLst>
                                        </p:cTn>
                                        <p:tgtEl>
                                          <p:spTgt spid="25"/>
                                        </p:tgtEl>
                                        <p:attrNameLst>
                                          <p:attrName>style.visibility</p:attrName>
                                        </p:attrNameLst>
                                      </p:cBhvr>
                                      <p:to>
                                        <p:strVal val="visible"/>
                                      </p:to>
                                    </p:set>
                                    <p:animEffect transition="in" filter="fade">
                                      <p:cBhvr>
                                        <p:cTn id="106" dur="550"/>
                                        <p:tgtEl>
                                          <p:spTgt spid="25"/>
                                        </p:tgtEl>
                                      </p:cBhvr>
                                    </p:animEffect>
                                    <p:anim calcmode="lin" valueType="num">
                                      <p:cBhvr additive="base">
                                        <p:cTn id="107" dur="550" fill="hold"/>
                                        <p:tgtEl>
                                          <p:spTgt spid="25"/>
                                        </p:tgtEl>
                                        <p:attrNameLst>
                                          <p:attrName>ppt_x</p:attrName>
                                        </p:attrNameLst>
                                      </p:cBhvr>
                                      <p:tavLst>
                                        <p:tav tm="0">
                                          <p:val>
                                            <p:strVal val="#ppt_x"/>
                                          </p:val>
                                        </p:tav>
                                        <p:tav tm="100000">
                                          <p:val>
                                            <p:strVal val="#ppt_x"/>
                                          </p:val>
                                        </p:tav>
                                      </p:tavLst>
                                    </p:anim>
                                    <p:anim calcmode="lin" valueType="num">
                                      <p:cBhvr additive="base">
                                        <p:cTn id="108" dur="550" fill="hold"/>
                                        <p:tgtEl>
                                          <p:spTgt spid="25"/>
                                        </p:tgtEl>
                                        <p:attrNameLst>
                                          <p:attrName>ppt_y</p:attrName>
                                        </p:attrNameLst>
                                      </p:cBhvr>
                                      <p:tavLst>
                                        <p:tav tm="0">
                                          <p:val>
                                            <p:strVal val="#ppt_y+.08"/>
                                          </p:val>
                                        </p:tav>
                                        <p:tav tm="100000">
                                          <p:val>
                                            <p:strVal val="#ppt_y"/>
                                          </p:val>
                                        </p:tav>
                                      </p:tavLst>
                                    </p:anim>
                                  </p:childTnLst>
                                </p:cTn>
                              </p:par>
                            </p:childTnLst>
                          </p:cTn>
                        </p:par>
                        <p:par>
                          <p:cTn id="109" fill="hold">
                            <p:stCondLst>
                              <p:cond delay="1100"/>
                            </p:stCondLst>
                            <p:childTnLst>
                              <p:par>
                                <p:cTn id="110" presetID="42" presetClass="entr" presetSubtype="0" fill="hold" grpId="0" nodeType="afterEffect">
                                  <p:stCondLst>
                                    <p:cond delay="0"/>
                                  </p:stCondLst>
                                  <p:childTnLst>
                                    <p:set>
                                      <p:cBhvr>
                                        <p:cTn id="111" dur="1" fill="hold">
                                          <p:stCondLst>
                                            <p:cond delay="0"/>
                                          </p:stCondLst>
                                        </p:cTn>
                                        <p:tgtEl>
                                          <p:spTgt spid="26"/>
                                        </p:tgtEl>
                                        <p:attrNameLst>
                                          <p:attrName>style.visibility</p:attrName>
                                        </p:attrNameLst>
                                      </p:cBhvr>
                                      <p:to>
                                        <p:strVal val="visible"/>
                                      </p:to>
                                    </p:set>
                                    <p:animEffect transition="in" filter="fade">
                                      <p:cBhvr>
                                        <p:cTn id="112" dur="550"/>
                                        <p:tgtEl>
                                          <p:spTgt spid="26"/>
                                        </p:tgtEl>
                                      </p:cBhvr>
                                    </p:animEffect>
                                    <p:anim calcmode="lin" valueType="num">
                                      <p:cBhvr additive="base">
                                        <p:cTn id="113" dur="550" fill="hold"/>
                                        <p:tgtEl>
                                          <p:spTgt spid="26"/>
                                        </p:tgtEl>
                                        <p:attrNameLst>
                                          <p:attrName>ppt_x</p:attrName>
                                        </p:attrNameLst>
                                      </p:cBhvr>
                                      <p:tavLst>
                                        <p:tav tm="0">
                                          <p:val>
                                            <p:strVal val="#ppt_x"/>
                                          </p:val>
                                        </p:tav>
                                        <p:tav tm="100000">
                                          <p:val>
                                            <p:strVal val="#ppt_x"/>
                                          </p:val>
                                        </p:tav>
                                      </p:tavLst>
                                    </p:anim>
                                    <p:anim calcmode="lin" valueType="num">
                                      <p:cBhvr additive="base">
                                        <p:cTn id="114" dur="550" fill="hold"/>
                                        <p:tgtEl>
                                          <p:spTgt spid="26"/>
                                        </p:tgtEl>
                                        <p:attrNameLst>
                                          <p:attrName>ppt_y</p:attrName>
                                        </p:attrNameLst>
                                      </p:cBhvr>
                                      <p:tavLst>
                                        <p:tav tm="0">
                                          <p:val>
                                            <p:strVal val="#ppt_y+.08"/>
                                          </p:val>
                                        </p:tav>
                                        <p:tav tm="100000">
                                          <p:val>
                                            <p:strVal val="#ppt_y"/>
                                          </p:val>
                                        </p:tav>
                                      </p:tavLst>
                                    </p:anim>
                                  </p:childTnLst>
                                </p:cTn>
                              </p:par>
                            </p:childTnLst>
                          </p:cTn>
                        </p:par>
                        <p:par>
                          <p:cTn id="115" fill="hold">
                            <p:stCondLst>
                              <p:cond delay="1100"/>
                            </p:stCondLst>
                            <p:childTnLst>
                              <p:par>
                                <p:cTn id="116" presetID="53" presetClass="entr" presetSubtype="16" fill="hold" grpId="0" nodeType="afterEffect">
                                  <p:stCondLst>
                                    <p:cond delay="0"/>
                                  </p:stCondLst>
                                  <p:childTnLst>
                                    <p:set>
                                      <p:cBhvr>
                                        <p:cTn id="117" dur="1" fill="hold">
                                          <p:stCondLst>
                                            <p:cond delay="0"/>
                                          </p:stCondLst>
                                        </p:cTn>
                                        <p:tgtEl>
                                          <p:spTgt spid="27"/>
                                        </p:tgtEl>
                                        <p:attrNameLst>
                                          <p:attrName>style.visibility</p:attrName>
                                        </p:attrNameLst>
                                      </p:cBhvr>
                                      <p:to>
                                        <p:strVal val="visible"/>
                                      </p:to>
                                    </p:set>
                                    <p:animEffect transition="in" filter="fade">
                                      <p:cBhvr>
                                        <p:cTn id="118" dur="550"/>
                                        <p:tgtEl>
                                          <p:spTgt spid="27"/>
                                        </p:tgtEl>
                                      </p:cBhvr>
                                    </p:animEffect>
                                    <p:anim calcmode="lin" valueType="num">
                                      <p:cBhvr additive="base">
                                        <p:cTn id="119" dur="550" fill="hold"/>
                                        <p:tgtEl>
                                          <p:spTgt spid="27"/>
                                        </p:tgtEl>
                                        <p:attrNameLst>
                                          <p:attrName>ppt_w</p:attrName>
                                        </p:attrNameLst>
                                      </p:cBhvr>
                                      <p:tavLst>
                                        <p:tav tm="0">
                                          <p:val>
                                            <p:strVal val="0"/>
                                          </p:val>
                                        </p:tav>
                                        <p:tav tm="100000">
                                          <p:val>
                                            <p:strVal val="#ppt_w"/>
                                          </p:val>
                                        </p:tav>
                                      </p:tavLst>
                                    </p:anim>
                                    <p:anim calcmode="lin" valueType="num">
                                      <p:cBhvr additive="base">
                                        <p:cTn id="120" dur="550" fill="hold"/>
                                        <p:tgtEl>
                                          <p:spTgt spid="27"/>
                                        </p:tgtEl>
                                        <p:attrNameLst>
                                          <p:attrName>ppt_h</p:attrName>
                                        </p:attrNameLst>
                                      </p:cBhvr>
                                      <p:tavLst>
                                        <p:tav tm="0">
                                          <p:val>
                                            <p:strVal val="0"/>
                                          </p:val>
                                        </p:tav>
                                        <p:tav tm="100000">
                                          <p:val>
                                            <p:strVal val="#ppt_h"/>
                                          </p:val>
                                        </p:tav>
                                      </p:tavLst>
                                    </p:anim>
                                  </p:childTnLst>
                                </p:cTn>
                              </p:par>
                            </p:childTnLst>
                          </p:cTn>
                        </p:par>
                        <p:par>
                          <p:cTn id="121" fill="hold">
                            <p:stCondLst>
                              <p:cond delay="1100"/>
                            </p:stCondLst>
                            <p:childTnLst>
                              <p:par>
                                <p:cTn id="122" presetID="42" presetClass="entr" presetSubtype="0" fill="hold" grpId="0" nodeType="afterEffect">
                                  <p:stCondLst>
                                    <p:cond delay="0"/>
                                  </p:stCondLst>
                                  <p:childTnLst>
                                    <p:set>
                                      <p:cBhvr>
                                        <p:cTn id="123" dur="1" fill="hold">
                                          <p:stCondLst>
                                            <p:cond delay="0"/>
                                          </p:stCondLst>
                                        </p:cTn>
                                        <p:tgtEl>
                                          <p:spTgt spid="28"/>
                                        </p:tgtEl>
                                        <p:attrNameLst>
                                          <p:attrName>style.visibility</p:attrName>
                                        </p:attrNameLst>
                                      </p:cBhvr>
                                      <p:to>
                                        <p:strVal val="visible"/>
                                      </p:to>
                                    </p:set>
                                    <p:animEffect transition="in" filter="fade">
                                      <p:cBhvr>
                                        <p:cTn id="124" dur="550"/>
                                        <p:tgtEl>
                                          <p:spTgt spid="28"/>
                                        </p:tgtEl>
                                      </p:cBhvr>
                                    </p:animEffect>
                                    <p:anim calcmode="lin" valueType="num">
                                      <p:cBhvr additive="base">
                                        <p:cTn id="125" dur="550" fill="hold"/>
                                        <p:tgtEl>
                                          <p:spTgt spid="28"/>
                                        </p:tgtEl>
                                        <p:attrNameLst>
                                          <p:attrName>ppt_x</p:attrName>
                                        </p:attrNameLst>
                                      </p:cBhvr>
                                      <p:tavLst>
                                        <p:tav tm="0">
                                          <p:val>
                                            <p:strVal val="#ppt_x"/>
                                          </p:val>
                                        </p:tav>
                                        <p:tav tm="100000">
                                          <p:val>
                                            <p:strVal val="#ppt_x"/>
                                          </p:val>
                                        </p:tav>
                                      </p:tavLst>
                                    </p:anim>
                                    <p:anim calcmode="lin" valueType="num">
                                      <p:cBhvr additive="base">
                                        <p:cTn id="126" dur="550" fill="hold"/>
                                        <p:tgtEl>
                                          <p:spTgt spid="28"/>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P spid="25" grpId="0" animBg="1"/>
      <p:bldP spid="26" grpId="0" animBg="1"/>
      <p:bldP spid="27" grpId="0" animBg="1"/>
      <p:bldP spid="28" grpId="0" animBg="1"/>
    </p:bldLst>
  </p:timing>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200000"/>
            <a:ext cx="10400000" cy="650000"/>
          </a:xfrm>
          <a:prstGeom prst="rect">
            <a:avLst/>
          </a:prstGeom>
          <a:noFill/>
        </p:spPr>
        <p:txBody>
          <a:bodyPr wrap="square" anchor="ctr" lIns="50800" rIns="50800">
            <a:spAutoFit/>
          </a:bodyPr>
          <a:lstStyle/>
          <a:p>
            <a:pPr algn="l"/>
            <a:r>
              <a:rPr sz="2600" b="1">
                <a:solidFill>
                  <a:srgbClr val="FFFFFF"/>
                </a:solidFill>
                <a:latin typeface="Calibri"/>
              </a:rPr>
              <a:t>Keng tarqalgan xatolar va amaliy tavsiyalar (2)</a:t>
            </a:r>
          </a:p>
        </p:txBody>
      </p:sp>
      <p:sp>
        <p:nvSpPr>
          <p:cNvPr id="6" name="Rectangle 5"/>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A1 · Sun'iy intellektga asoslangan kompyuter tizimlari arxitekturasini tahlil qilish va loyihalash</a:t>
            </a:r>
          </a:p>
        </p:txBody>
      </p:sp>
      <p:sp>
        <p:nvSpPr>
          <p:cNvPr id="8" name="TextBox 7"/>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38</a:t>
            </a:r>
          </a:p>
        </p:txBody>
      </p:sp>
      <p:sp>
        <p:nvSpPr>
          <p:cNvPr id="9" name="Rounded Rectangle 8"/>
          <p:cNvSpPr/>
          <p:nvPr/>
        </p:nvSpPr>
        <p:spPr>
          <a:xfrm>
            <a:off x="550000" y="1620000"/>
            <a:ext cx="11100000" cy="1250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50000" y="1620000"/>
            <a:ext cx="70000" cy="1250000"/>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800000" y="2015000"/>
            <a:ext cx="460000" cy="460000"/>
          </a:xfrm>
          <a:prstGeom prst="ellipse">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6</a:t>
            </a:r>
          </a:p>
        </p:txBody>
      </p:sp>
      <p:sp>
        <p:nvSpPr>
          <p:cNvPr id="12" name="TextBox 11"/>
          <p:cNvSpPr txBox="1"/>
          <p:nvPr/>
        </p:nvSpPr>
        <p:spPr>
          <a:xfrm>
            <a:off x="1450000" y="1620000"/>
            <a:ext cx="10050000" cy="1250000"/>
          </a:xfrm>
          <a:prstGeom prst="rect">
            <a:avLst/>
          </a:prstGeom>
          <a:noFill/>
        </p:spPr>
        <p:txBody>
          <a:bodyPr wrap="square" anchor="ctr" lIns="50800" rIns="50800">
            <a:spAutoFit/>
          </a:bodyPr>
          <a:lstStyle/>
          <a:p>
            <a:pPr algn="l"/>
            <a:r>
              <a:rPr sz="1800" b="0">
                <a:solidFill>
                  <a:srgbClr val="1B2430"/>
                </a:solidFill>
                <a:latin typeface="Calibri"/>
              </a:rPr>
              <a:t>O'rtacha kechikishni hisobot qilish. Foydalanuvchi uchun p95/p99 muhim. Kechikish taqsimotining «dumini» (tail latency) o'lchang va byudjetni shu bo'yicha tuzing.</a:t>
            </a:r>
          </a:p>
        </p:txBody>
      </p:sp>
      <p:sp>
        <p:nvSpPr>
          <p:cNvPr id="13" name="Rounded Rectangle 12"/>
          <p:cNvSpPr/>
          <p:nvPr/>
        </p:nvSpPr>
        <p:spPr>
          <a:xfrm>
            <a:off x="550000" y="2990000"/>
            <a:ext cx="11100000" cy="1250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550000" y="2990000"/>
            <a:ext cx="70000" cy="1250000"/>
          </a:xfrm>
          <a:prstGeom prst="rect">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00000" y="3385000"/>
            <a:ext cx="460000" cy="460000"/>
          </a:xfrm>
          <a:prstGeom prst="ellipse">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7</a:t>
            </a:r>
          </a:p>
        </p:txBody>
      </p:sp>
      <p:sp>
        <p:nvSpPr>
          <p:cNvPr id="16" name="TextBox 15"/>
          <p:cNvSpPr txBox="1"/>
          <p:nvPr/>
        </p:nvSpPr>
        <p:spPr>
          <a:xfrm>
            <a:off x="1450000" y="2990000"/>
            <a:ext cx="10050000" cy="1250000"/>
          </a:xfrm>
          <a:prstGeom prst="rect">
            <a:avLst/>
          </a:prstGeom>
          <a:noFill/>
        </p:spPr>
        <p:txBody>
          <a:bodyPr wrap="square" anchor="ctr" lIns="50800" rIns="50800">
            <a:spAutoFit/>
          </a:bodyPr>
          <a:lstStyle/>
          <a:p>
            <a:pPr algn="l"/>
            <a:r>
              <a:rPr sz="1800" b="0">
                <a:solidFill>
                  <a:srgbClr val="1B2430"/>
                </a:solidFill>
                <a:latin typeface="Calibri"/>
              </a:rPr>
              <a:t>TCO'ni faqat apparat narxi deb bilish. Elektr energiyasi, sovutish, texnik xizmat, dasturiy litsenziyalar va muhandis vaqti 3–5 yil davomida apparat narxidan oshib ketadi.</a:t>
            </a:r>
          </a:p>
        </p:txBody>
      </p:sp>
      <p:sp>
        <p:nvSpPr>
          <p:cNvPr id="17" name="Rounded Rectangle 16"/>
          <p:cNvSpPr/>
          <p:nvPr/>
        </p:nvSpPr>
        <p:spPr>
          <a:xfrm>
            <a:off x="550000" y="4360000"/>
            <a:ext cx="11100000" cy="1250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550000" y="4360000"/>
            <a:ext cx="70000" cy="1250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800000" y="4755000"/>
            <a:ext cx="460000" cy="46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8</a:t>
            </a:r>
          </a:p>
        </p:txBody>
      </p:sp>
      <p:sp>
        <p:nvSpPr>
          <p:cNvPr id="20" name="TextBox 19"/>
          <p:cNvSpPr txBox="1"/>
          <p:nvPr/>
        </p:nvSpPr>
        <p:spPr>
          <a:xfrm>
            <a:off x="1450000" y="4360000"/>
            <a:ext cx="10050000" cy="1250000"/>
          </a:xfrm>
          <a:prstGeom prst="rect">
            <a:avLst/>
          </a:prstGeom>
          <a:noFill/>
        </p:spPr>
        <p:txBody>
          <a:bodyPr wrap="square" anchor="ctr" lIns="50800" rIns="50800">
            <a:spAutoFit/>
          </a:bodyPr>
          <a:lstStyle/>
          <a:p>
            <a:pPr algn="l"/>
            <a:r>
              <a:rPr sz="1800" b="0">
                <a:solidFill>
                  <a:srgbClr val="1B2430"/>
                </a:solidFill>
                <a:latin typeface="Calibri"/>
              </a:rPr>
              <a:t>Hujjatlashtirmaslik. Qaror asoslari (talablar matritsasi, rad etish sabablari) yozilmasa, 6 oydan keyin «nega aynan shu platforma?» savoliga hech kim javob bera olmaydi.</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79"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5"/>
                                        </p:tgtEl>
                                        <p:attrNameLst>
                                          <p:attrName>style.visibility</p:attrName>
                                        </p:attrNameLst>
                                      </p:cBhvr>
                                      <p:to>
                                        <p:strVal val="visible"/>
                                      </p:to>
                                    </p:set>
                                    <p:animEffect transition="in" filter="fade">
                                      <p:cBhvr>
                                        <p:cTn id="6" dur="550"/>
                                        <p:tgtEl>
                                          <p:spTgt spid="5"/>
                                        </p:tgtEl>
                                      </p:cBhvr>
                                    </p:animEffect>
                                  </p:childTnLst>
                                </p:cTn>
                              </p:par>
                            </p:childTnLst>
                          </p:cTn>
                        </p:par>
                        <p:par>
                          <p:cTn id="7" fill="hold">
                            <p:stCondLst>
                              <p:cond delay="220"/>
                            </p:stCondLst>
                            <p:childTnLst>
                              <p:par>
                                <p:cTn id="8" presetID="42" presetClass="entr" presetSubtype="0" fill="hold" grpId="0" nodeType="afterEffect">
                                  <p:stCondLst>
                                    <p:cond delay="0"/>
                                  </p:stCondLst>
                                  <p:childTnLst>
                                    <p:set>
                                      <p:cBhvr>
                                        <p:cTn id="9" dur="1" fill="hold">
                                          <p:stCondLst>
                                            <p:cond delay="0"/>
                                          </p:stCondLst>
                                        </p:cTn>
                                        <p:tgtEl>
                                          <p:spTgt spid="9"/>
                                        </p:tgtEl>
                                        <p:attrNameLst>
                                          <p:attrName>style.visibility</p:attrName>
                                        </p:attrNameLst>
                                      </p:cBhvr>
                                      <p:to>
                                        <p:strVal val="visible"/>
                                      </p:to>
                                    </p:set>
                                    <p:animEffect transition="in" filter="fade">
                                      <p:cBhvr>
                                        <p:cTn id="10" dur="550"/>
                                        <p:tgtEl>
                                          <p:spTgt spid="9"/>
                                        </p:tgtEl>
                                      </p:cBhvr>
                                    </p:animEffect>
                                    <p:anim calcmode="lin" valueType="num">
                                      <p:cBhvr additive="base">
                                        <p:cTn id="11" dur="550" fill="hold"/>
                                        <p:tgtEl>
                                          <p:spTgt spid="9"/>
                                        </p:tgtEl>
                                        <p:attrNameLst>
                                          <p:attrName>ppt_x</p:attrName>
                                        </p:attrNameLst>
                                      </p:cBhvr>
                                      <p:tavLst>
                                        <p:tav tm="0">
                                          <p:val>
                                            <p:strVal val="#ppt_x"/>
                                          </p:val>
                                        </p:tav>
                                        <p:tav tm="100000">
                                          <p:val>
                                            <p:strVal val="#ppt_x"/>
                                          </p:val>
                                        </p:tav>
                                      </p:tavLst>
                                    </p:anim>
                                    <p:anim calcmode="lin" valueType="num">
                                      <p:cBhvr additive="base">
                                        <p:cTn id="12" dur="550" fill="hold"/>
                                        <p:tgtEl>
                                          <p:spTgt spid="9"/>
                                        </p:tgtEl>
                                        <p:attrNameLst>
                                          <p:attrName>ppt_y</p:attrName>
                                        </p:attrNameLst>
                                      </p:cBhvr>
                                      <p:tavLst>
                                        <p:tav tm="0">
                                          <p:val>
                                            <p:strVal val="#ppt_y+.08"/>
                                          </p:val>
                                        </p:tav>
                                        <p:tav tm="100000">
                                          <p:val>
                                            <p:strVal val="#ppt_y"/>
                                          </p:val>
                                        </p:tav>
                                      </p:tavLst>
                                    </p:anim>
                                  </p:childTnLst>
                                </p:cTn>
                              </p:par>
                            </p:childTnLst>
                          </p:cTn>
                        </p:par>
                        <p:par>
                          <p:cTn id="13" fill="hold">
                            <p:stCondLst>
                              <p:cond delay="220"/>
                            </p:stCondLst>
                            <p:childTnLst>
                              <p:par>
                                <p:cTn id="14" presetID="42" presetClass="entr" presetSubtype="0" fill="hold" grpId="0" nodeType="afterEffect">
                                  <p:stCondLst>
                                    <p:cond delay="0"/>
                                  </p:stCondLst>
                                  <p:childTnLst>
                                    <p:set>
                                      <p:cBhvr>
                                        <p:cTn id="15" dur="1" fill="hold">
                                          <p:stCondLst>
                                            <p:cond delay="0"/>
                                          </p:stCondLst>
                                        </p:cTn>
                                        <p:tgtEl>
                                          <p:spTgt spid="10"/>
                                        </p:tgtEl>
                                        <p:attrNameLst>
                                          <p:attrName>style.visibility</p:attrName>
                                        </p:attrNameLst>
                                      </p:cBhvr>
                                      <p:to>
                                        <p:strVal val="visible"/>
                                      </p:to>
                                    </p:set>
                                    <p:animEffect transition="in" filter="fade">
                                      <p:cBhvr>
                                        <p:cTn id="16" dur="550"/>
                                        <p:tgtEl>
                                          <p:spTgt spid="10"/>
                                        </p:tgtEl>
                                      </p:cBhvr>
                                    </p:animEffect>
                                    <p:anim calcmode="lin" valueType="num">
                                      <p:cBhvr additive="base">
                                        <p:cTn id="17" dur="550" fill="hold"/>
                                        <p:tgtEl>
                                          <p:spTgt spid="10"/>
                                        </p:tgtEl>
                                        <p:attrNameLst>
                                          <p:attrName>ppt_x</p:attrName>
                                        </p:attrNameLst>
                                      </p:cBhvr>
                                      <p:tavLst>
                                        <p:tav tm="0">
                                          <p:val>
                                            <p:strVal val="#ppt_x"/>
                                          </p:val>
                                        </p:tav>
                                        <p:tav tm="100000">
                                          <p:val>
                                            <p:strVal val="#ppt_x"/>
                                          </p:val>
                                        </p:tav>
                                      </p:tavLst>
                                    </p:anim>
                                    <p:anim calcmode="lin" valueType="num">
                                      <p:cBhvr additive="base">
                                        <p:cTn id="18" dur="550" fill="hold"/>
                                        <p:tgtEl>
                                          <p:spTgt spid="10"/>
                                        </p:tgtEl>
                                        <p:attrNameLst>
                                          <p:attrName>ppt_y</p:attrName>
                                        </p:attrNameLst>
                                      </p:cBhvr>
                                      <p:tavLst>
                                        <p:tav tm="0">
                                          <p:val>
                                            <p:strVal val="#ppt_y+.08"/>
                                          </p:val>
                                        </p:tav>
                                        <p:tav tm="100000">
                                          <p:val>
                                            <p:strVal val="#ppt_y"/>
                                          </p:val>
                                        </p:tav>
                                      </p:tavLst>
                                    </p:anim>
                                  </p:childTnLst>
                                </p:cTn>
                              </p:par>
                            </p:childTnLst>
                          </p:cTn>
                        </p:par>
                        <p:par>
                          <p:cTn id="19" fill="hold">
                            <p:stCondLst>
                              <p:cond delay="220"/>
                            </p:stCondLst>
                            <p:childTnLst>
                              <p:par>
                                <p:cTn id="20" presetID="53" presetClass="entr" presetSubtype="16" fill="hold" grpId="0" nodeType="afterEffect">
                                  <p:stCondLst>
                                    <p:cond delay="0"/>
                                  </p:stCondLst>
                                  <p:childTnLst>
                                    <p:set>
                                      <p:cBhvr>
                                        <p:cTn id="21" dur="1" fill="hold">
                                          <p:stCondLst>
                                            <p:cond delay="0"/>
                                          </p:stCondLst>
                                        </p:cTn>
                                        <p:tgtEl>
                                          <p:spTgt spid="11"/>
                                        </p:tgtEl>
                                        <p:attrNameLst>
                                          <p:attrName>style.visibility</p:attrName>
                                        </p:attrNameLst>
                                      </p:cBhvr>
                                      <p:to>
                                        <p:strVal val="visible"/>
                                      </p:to>
                                    </p:set>
                                    <p:animEffect transition="in" filter="fade">
                                      <p:cBhvr>
                                        <p:cTn id="22" dur="550"/>
                                        <p:tgtEl>
                                          <p:spTgt spid="11"/>
                                        </p:tgtEl>
                                      </p:cBhvr>
                                    </p:animEffect>
                                    <p:anim calcmode="lin" valueType="num">
                                      <p:cBhvr additive="base">
                                        <p:cTn id="23" dur="550" fill="hold"/>
                                        <p:tgtEl>
                                          <p:spTgt spid="11"/>
                                        </p:tgtEl>
                                        <p:attrNameLst>
                                          <p:attrName>ppt_w</p:attrName>
                                        </p:attrNameLst>
                                      </p:cBhvr>
                                      <p:tavLst>
                                        <p:tav tm="0">
                                          <p:val>
                                            <p:strVal val="0"/>
                                          </p:val>
                                        </p:tav>
                                        <p:tav tm="100000">
                                          <p:val>
                                            <p:strVal val="#ppt_w"/>
                                          </p:val>
                                        </p:tav>
                                      </p:tavLst>
                                    </p:anim>
                                    <p:anim calcmode="lin" valueType="num">
                                      <p:cBhvr additive="base">
                                        <p:cTn id="24" dur="550" fill="hold"/>
                                        <p:tgtEl>
                                          <p:spTgt spid="11"/>
                                        </p:tgtEl>
                                        <p:attrNameLst>
                                          <p:attrName>ppt_h</p:attrName>
                                        </p:attrNameLst>
                                      </p:cBhvr>
                                      <p:tavLst>
                                        <p:tav tm="0">
                                          <p:val>
                                            <p:strVal val="0"/>
                                          </p:val>
                                        </p:tav>
                                        <p:tav tm="100000">
                                          <p:val>
                                            <p:strVal val="#ppt_h"/>
                                          </p:val>
                                        </p:tav>
                                      </p:tavLst>
                                    </p:anim>
                                  </p:childTnLst>
                                </p:cTn>
                              </p:par>
                            </p:childTnLst>
                          </p:cTn>
                        </p:par>
                        <p:par>
                          <p:cTn id="25" fill="hold">
                            <p:stCondLst>
                              <p:cond delay="220"/>
                            </p:stCondLst>
                            <p:childTnLst>
                              <p:par>
                                <p:cTn id="26" presetID="42" presetClass="entr" presetSubtype="0" fill="hold" grpId="0" nodeType="afterEffect">
                                  <p:stCondLst>
                                    <p:cond delay="0"/>
                                  </p:stCondLst>
                                  <p:childTnLst>
                                    <p:set>
                                      <p:cBhvr>
                                        <p:cTn id="27" dur="1" fill="hold">
                                          <p:stCondLst>
                                            <p:cond delay="0"/>
                                          </p:stCondLst>
                                        </p:cTn>
                                        <p:tgtEl>
                                          <p:spTgt spid="12"/>
                                        </p:tgtEl>
                                        <p:attrNameLst>
                                          <p:attrName>style.visibility</p:attrName>
                                        </p:attrNameLst>
                                      </p:cBhvr>
                                      <p:to>
                                        <p:strVal val="visible"/>
                                      </p:to>
                                    </p:set>
                                    <p:animEffect transition="in" filter="fade">
                                      <p:cBhvr>
                                        <p:cTn id="28" dur="550"/>
                                        <p:tgtEl>
                                          <p:spTgt spid="12"/>
                                        </p:tgtEl>
                                      </p:cBhvr>
                                    </p:animEffect>
                                    <p:anim calcmode="lin" valueType="num">
                                      <p:cBhvr additive="base">
                                        <p:cTn id="29" dur="550" fill="hold"/>
                                        <p:tgtEl>
                                          <p:spTgt spid="12"/>
                                        </p:tgtEl>
                                        <p:attrNameLst>
                                          <p:attrName>ppt_x</p:attrName>
                                        </p:attrNameLst>
                                      </p:cBhvr>
                                      <p:tavLst>
                                        <p:tav tm="0">
                                          <p:val>
                                            <p:strVal val="#ppt_x"/>
                                          </p:val>
                                        </p:tav>
                                        <p:tav tm="100000">
                                          <p:val>
                                            <p:strVal val="#ppt_x"/>
                                          </p:val>
                                        </p:tav>
                                      </p:tavLst>
                                    </p:anim>
                                    <p:anim calcmode="lin" valueType="num">
                                      <p:cBhvr additive="base">
                                        <p:cTn id="30" dur="550" fill="hold"/>
                                        <p:tgtEl>
                                          <p:spTgt spid="12"/>
                                        </p:tgtEl>
                                        <p:attrNameLst>
                                          <p:attrName>ppt_y</p:attrName>
                                        </p:attrNameLst>
                                      </p:cBhvr>
                                      <p:tavLst>
                                        <p:tav tm="0">
                                          <p:val>
                                            <p:strVal val="#ppt_y+.08"/>
                                          </p:val>
                                        </p:tav>
                                        <p:tav tm="100000">
                                          <p:val>
                                            <p:strVal val="#ppt_y"/>
                                          </p:val>
                                        </p:tav>
                                      </p:tavLst>
                                    </p:anim>
                                  </p:childTnLst>
                                </p:cTn>
                              </p:par>
                            </p:childTnLst>
                          </p:cTn>
                        </p:par>
                        <p:par>
                          <p:cTn id="31" fill="hold">
                            <p:stCondLst>
                              <p:cond delay="440"/>
                            </p:stCondLst>
                            <p:childTnLst>
                              <p:par>
                                <p:cTn id="32" presetID="42" presetClass="entr" presetSubtype="0" fill="hold" grpId="0" nodeType="afterEffect">
                                  <p:stCondLst>
                                    <p:cond delay="0"/>
                                  </p:stCondLst>
                                  <p:childTnLst>
                                    <p:set>
                                      <p:cBhvr>
                                        <p:cTn id="33" dur="1" fill="hold">
                                          <p:stCondLst>
                                            <p:cond delay="0"/>
                                          </p:stCondLst>
                                        </p:cTn>
                                        <p:tgtEl>
                                          <p:spTgt spid="13"/>
                                        </p:tgtEl>
                                        <p:attrNameLst>
                                          <p:attrName>style.visibility</p:attrName>
                                        </p:attrNameLst>
                                      </p:cBhvr>
                                      <p:to>
                                        <p:strVal val="visible"/>
                                      </p:to>
                                    </p:set>
                                    <p:animEffect transition="in" filter="fade">
                                      <p:cBhvr>
                                        <p:cTn id="34" dur="550"/>
                                        <p:tgtEl>
                                          <p:spTgt spid="13"/>
                                        </p:tgtEl>
                                      </p:cBhvr>
                                    </p:animEffect>
                                    <p:anim calcmode="lin" valueType="num">
                                      <p:cBhvr additive="base">
                                        <p:cTn id="35" dur="550" fill="hold"/>
                                        <p:tgtEl>
                                          <p:spTgt spid="13"/>
                                        </p:tgtEl>
                                        <p:attrNameLst>
                                          <p:attrName>ppt_x</p:attrName>
                                        </p:attrNameLst>
                                      </p:cBhvr>
                                      <p:tavLst>
                                        <p:tav tm="0">
                                          <p:val>
                                            <p:strVal val="#ppt_x"/>
                                          </p:val>
                                        </p:tav>
                                        <p:tav tm="100000">
                                          <p:val>
                                            <p:strVal val="#ppt_x"/>
                                          </p:val>
                                        </p:tav>
                                      </p:tavLst>
                                    </p:anim>
                                    <p:anim calcmode="lin" valueType="num">
                                      <p:cBhvr additive="base">
                                        <p:cTn id="36" dur="550" fill="hold"/>
                                        <p:tgtEl>
                                          <p:spTgt spid="13"/>
                                        </p:tgtEl>
                                        <p:attrNameLst>
                                          <p:attrName>ppt_y</p:attrName>
                                        </p:attrNameLst>
                                      </p:cBhvr>
                                      <p:tavLst>
                                        <p:tav tm="0">
                                          <p:val>
                                            <p:strVal val="#ppt_y+.08"/>
                                          </p:val>
                                        </p:tav>
                                        <p:tav tm="100000">
                                          <p:val>
                                            <p:strVal val="#ppt_y"/>
                                          </p:val>
                                        </p:tav>
                                      </p:tavLst>
                                    </p:anim>
                                  </p:childTnLst>
                                </p:cTn>
                              </p:par>
                            </p:childTnLst>
                          </p:cTn>
                        </p:par>
                        <p:par>
                          <p:cTn id="37" fill="hold">
                            <p:stCondLst>
                              <p:cond delay="440"/>
                            </p:stCondLst>
                            <p:childTnLst>
                              <p:par>
                                <p:cTn id="38" presetID="42" presetClass="entr" presetSubtype="0" fill="hold" grpId="0" nodeType="afterEffect">
                                  <p:stCondLst>
                                    <p:cond delay="0"/>
                                  </p:stCondLst>
                                  <p:childTnLst>
                                    <p:set>
                                      <p:cBhvr>
                                        <p:cTn id="39" dur="1" fill="hold">
                                          <p:stCondLst>
                                            <p:cond delay="0"/>
                                          </p:stCondLst>
                                        </p:cTn>
                                        <p:tgtEl>
                                          <p:spTgt spid="14"/>
                                        </p:tgtEl>
                                        <p:attrNameLst>
                                          <p:attrName>style.visibility</p:attrName>
                                        </p:attrNameLst>
                                      </p:cBhvr>
                                      <p:to>
                                        <p:strVal val="visible"/>
                                      </p:to>
                                    </p:set>
                                    <p:animEffect transition="in" filter="fade">
                                      <p:cBhvr>
                                        <p:cTn id="40" dur="550"/>
                                        <p:tgtEl>
                                          <p:spTgt spid="14"/>
                                        </p:tgtEl>
                                      </p:cBhvr>
                                    </p:animEffect>
                                    <p:anim calcmode="lin" valueType="num">
                                      <p:cBhvr additive="base">
                                        <p:cTn id="41" dur="550" fill="hold"/>
                                        <p:tgtEl>
                                          <p:spTgt spid="14"/>
                                        </p:tgtEl>
                                        <p:attrNameLst>
                                          <p:attrName>ppt_x</p:attrName>
                                        </p:attrNameLst>
                                      </p:cBhvr>
                                      <p:tavLst>
                                        <p:tav tm="0">
                                          <p:val>
                                            <p:strVal val="#ppt_x"/>
                                          </p:val>
                                        </p:tav>
                                        <p:tav tm="100000">
                                          <p:val>
                                            <p:strVal val="#ppt_x"/>
                                          </p:val>
                                        </p:tav>
                                      </p:tavLst>
                                    </p:anim>
                                    <p:anim calcmode="lin" valueType="num">
                                      <p:cBhvr additive="base">
                                        <p:cTn id="42" dur="550" fill="hold"/>
                                        <p:tgtEl>
                                          <p:spTgt spid="14"/>
                                        </p:tgtEl>
                                        <p:attrNameLst>
                                          <p:attrName>ppt_y</p:attrName>
                                        </p:attrNameLst>
                                      </p:cBhvr>
                                      <p:tavLst>
                                        <p:tav tm="0">
                                          <p:val>
                                            <p:strVal val="#ppt_y+.08"/>
                                          </p:val>
                                        </p:tav>
                                        <p:tav tm="100000">
                                          <p:val>
                                            <p:strVal val="#ppt_y"/>
                                          </p:val>
                                        </p:tav>
                                      </p:tavLst>
                                    </p:anim>
                                  </p:childTnLst>
                                </p:cTn>
                              </p:par>
                            </p:childTnLst>
                          </p:cTn>
                        </p:par>
                        <p:par>
                          <p:cTn id="43" fill="hold">
                            <p:stCondLst>
                              <p:cond delay="440"/>
                            </p:stCondLst>
                            <p:childTnLst>
                              <p:par>
                                <p:cTn id="44" presetID="53" presetClass="entr" presetSubtype="16" fill="hold" grpId="0" nodeType="afterEffect">
                                  <p:stCondLst>
                                    <p:cond delay="0"/>
                                  </p:stCondLst>
                                  <p:childTnLst>
                                    <p:set>
                                      <p:cBhvr>
                                        <p:cTn id="45" dur="1" fill="hold">
                                          <p:stCondLst>
                                            <p:cond delay="0"/>
                                          </p:stCondLst>
                                        </p:cTn>
                                        <p:tgtEl>
                                          <p:spTgt spid="15"/>
                                        </p:tgtEl>
                                        <p:attrNameLst>
                                          <p:attrName>style.visibility</p:attrName>
                                        </p:attrNameLst>
                                      </p:cBhvr>
                                      <p:to>
                                        <p:strVal val="visible"/>
                                      </p:to>
                                    </p:set>
                                    <p:animEffect transition="in" filter="fade">
                                      <p:cBhvr>
                                        <p:cTn id="46" dur="550"/>
                                        <p:tgtEl>
                                          <p:spTgt spid="15"/>
                                        </p:tgtEl>
                                      </p:cBhvr>
                                    </p:animEffect>
                                    <p:anim calcmode="lin" valueType="num">
                                      <p:cBhvr additive="base">
                                        <p:cTn id="47" dur="550" fill="hold"/>
                                        <p:tgtEl>
                                          <p:spTgt spid="15"/>
                                        </p:tgtEl>
                                        <p:attrNameLst>
                                          <p:attrName>ppt_w</p:attrName>
                                        </p:attrNameLst>
                                      </p:cBhvr>
                                      <p:tavLst>
                                        <p:tav tm="0">
                                          <p:val>
                                            <p:strVal val="0"/>
                                          </p:val>
                                        </p:tav>
                                        <p:tav tm="100000">
                                          <p:val>
                                            <p:strVal val="#ppt_w"/>
                                          </p:val>
                                        </p:tav>
                                      </p:tavLst>
                                    </p:anim>
                                    <p:anim calcmode="lin" valueType="num">
                                      <p:cBhvr additive="base">
                                        <p:cTn id="48" dur="550" fill="hold"/>
                                        <p:tgtEl>
                                          <p:spTgt spid="15"/>
                                        </p:tgtEl>
                                        <p:attrNameLst>
                                          <p:attrName>ppt_h</p:attrName>
                                        </p:attrNameLst>
                                      </p:cBhvr>
                                      <p:tavLst>
                                        <p:tav tm="0">
                                          <p:val>
                                            <p:strVal val="0"/>
                                          </p:val>
                                        </p:tav>
                                        <p:tav tm="100000">
                                          <p:val>
                                            <p:strVal val="#ppt_h"/>
                                          </p:val>
                                        </p:tav>
                                      </p:tavLst>
                                    </p:anim>
                                  </p:childTnLst>
                                </p:cTn>
                              </p:par>
                            </p:childTnLst>
                          </p:cTn>
                        </p:par>
                        <p:par>
                          <p:cTn id="49" fill="hold">
                            <p:stCondLst>
                              <p:cond delay="440"/>
                            </p:stCondLst>
                            <p:childTnLst>
                              <p:par>
                                <p:cTn id="50" presetID="42" presetClass="entr" presetSubtype="0" fill="hold" grpId="0" nodeType="afterEffect">
                                  <p:stCondLst>
                                    <p:cond delay="0"/>
                                  </p:stCondLst>
                                  <p:childTnLst>
                                    <p:set>
                                      <p:cBhvr>
                                        <p:cTn id="51" dur="1" fill="hold">
                                          <p:stCondLst>
                                            <p:cond delay="0"/>
                                          </p:stCondLst>
                                        </p:cTn>
                                        <p:tgtEl>
                                          <p:spTgt spid="16"/>
                                        </p:tgtEl>
                                        <p:attrNameLst>
                                          <p:attrName>style.visibility</p:attrName>
                                        </p:attrNameLst>
                                      </p:cBhvr>
                                      <p:to>
                                        <p:strVal val="visible"/>
                                      </p:to>
                                    </p:set>
                                    <p:animEffect transition="in" filter="fade">
                                      <p:cBhvr>
                                        <p:cTn id="52" dur="550"/>
                                        <p:tgtEl>
                                          <p:spTgt spid="16"/>
                                        </p:tgtEl>
                                      </p:cBhvr>
                                    </p:animEffect>
                                    <p:anim calcmode="lin" valueType="num">
                                      <p:cBhvr additive="base">
                                        <p:cTn id="53" dur="550" fill="hold"/>
                                        <p:tgtEl>
                                          <p:spTgt spid="16"/>
                                        </p:tgtEl>
                                        <p:attrNameLst>
                                          <p:attrName>ppt_x</p:attrName>
                                        </p:attrNameLst>
                                      </p:cBhvr>
                                      <p:tavLst>
                                        <p:tav tm="0">
                                          <p:val>
                                            <p:strVal val="#ppt_x"/>
                                          </p:val>
                                        </p:tav>
                                        <p:tav tm="100000">
                                          <p:val>
                                            <p:strVal val="#ppt_x"/>
                                          </p:val>
                                        </p:tav>
                                      </p:tavLst>
                                    </p:anim>
                                    <p:anim calcmode="lin" valueType="num">
                                      <p:cBhvr additive="base">
                                        <p:cTn id="54" dur="550" fill="hold"/>
                                        <p:tgtEl>
                                          <p:spTgt spid="16"/>
                                        </p:tgtEl>
                                        <p:attrNameLst>
                                          <p:attrName>ppt_y</p:attrName>
                                        </p:attrNameLst>
                                      </p:cBhvr>
                                      <p:tavLst>
                                        <p:tav tm="0">
                                          <p:val>
                                            <p:strVal val="#ppt_y+.08"/>
                                          </p:val>
                                        </p:tav>
                                        <p:tav tm="100000">
                                          <p:val>
                                            <p:strVal val="#ppt_y"/>
                                          </p:val>
                                        </p:tav>
                                      </p:tavLst>
                                    </p:anim>
                                  </p:childTnLst>
                                </p:cTn>
                              </p:par>
                            </p:childTnLst>
                          </p:cTn>
                        </p:par>
                        <p:par>
                          <p:cTn id="55" fill="hold">
                            <p:stCondLst>
                              <p:cond delay="660"/>
                            </p:stCondLst>
                            <p:childTnLst>
                              <p:par>
                                <p:cTn id="56" presetID="42" presetClass="entr" presetSubtype="0" fill="hold" grpId="0" nodeType="afterEffect">
                                  <p:stCondLst>
                                    <p:cond delay="0"/>
                                  </p:stCondLst>
                                  <p:childTnLst>
                                    <p:set>
                                      <p:cBhvr>
                                        <p:cTn id="57" dur="1" fill="hold">
                                          <p:stCondLst>
                                            <p:cond delay="0"/>
                                          </p:stCondLst>
                                        </p:cTn>
                                        <p:tgtEl>
                                          <p:spTgt spid="17"/>
                                        </p:tgtEl>
                                        <p:attrNameLst>
                                          <p:attrName>style.visibility</p:attrName>
                                        </p:attrNameLst>
                                      </p:cBhvr>
                                      <p:to>
                                        <p:strVal val="visible"/>
                                      </p:to>
                                    </p:set>
                                    <p:animEffect transition="in" filter="fade">
                                      <p:cBhvr>
                                        <p:cTn id="58" dur="550"/>
                                        <p:tgtEl>
                                          <p:spTgt spid="17"/>
                                        </p:tgtEl>
                                      </p:cBhvr>
                                    </p:animEffect>
                                    <p:anim calcmode="lin" valueType="num">
                                      <p:cBhvr additive="base">
                                        <p:cTn id="59" dur="550" fill="hold"/>
                                        <p:tgtEl>
                                          <p:spTgt spid="17"/>
                                        </p:tgtEl>
                                        <p:attrNameLst>
                                          <p:attrName>ppt_x</p:attrName>
                                        </p:attrNameLst>
                                      </p:cBhvr>
                                      <p:tavLst>
                                        <p:tav tm="0">
                                          <p:val>
                                            <p:strVal val="#ppt_x"/>
                                          </p:val>
                                        </p:tav>
                                        <p:tav tm="100000">
                                          <p:val>
                                            <p:strVal val="#ppt_x"/>
                                          </p:val>
                                        </p:tav>
                                      </p:tavLst>
                                    </p:anim>
                                    <p:anim calcmode="lin" valueType="num">
                                      <p:cBhvr additive="base">
                                        <p:cTn id="60" dur="550" fill="hold"/>
                                        <p:tgtEl>
                                          <p:spTgt spid="17"/>
                                        </p:tgtEl>
                                        <p:attrNameLst>
                                          <p:attrName>ppt_y</p:attrName>
                                        </p:attrNameLst>
                                      </p:cBhvr>
                                      <p:tavLst>
                                        <p:tav tm="0">
                                          <p:val>
                                            <p:strVal val="#ppt_y+.08"/>
                                          </p:val>
                                        </p:tav>
                                        <p:tav tm="100000">
                                          <p:val>
                                            <p:strVal val="#ppt_y"/>
                                          </p:val>
                                        </p:tav>
                                      </p:tavLst>
                                    </p:anim>
                                  </p:childTnLst>
                                </p:cTn>
                              </p:par>
                            </p:childTnLst>
                          </p:cTn>
                        </p:par>
                        <p:par>
                          <p:cTn id="61" fill="hold">
                            <p:stCondLst>
                              <p:cond delay="660"/>
                            </p:stCondLst>
                            <p:childTnLst>
                              <p:par>
                                <p:cTn id="62" presetID="42" presetClass="entr" presetSubtype="0" fill="hold" grpId="0" nodeType="afterEffect">
                                  <p:stCondLst>
                                    <p:cond delay="0"/>
                                  </p:stCondLst>
                                  <p:childTnLst>
                                    <p:set>
                                      <p:cBhvr>
                                        <p:cTn id="63" dur="1" fill="hold">
                                          <p:stCondLst>
                                            <p:cond delay="0"/>
                                          </p:stCondLst>
                                        </p:cTn>
                                        <p:tgtEl>
                                          <p:spTgt spid="18"/>
                                        </p:tgtEl>
                                        <p:attrNameLst>
                                          <p:attrName>style.visibility</p:attrName>
                                        </p:attrNameLst>
                                      </p:cBhvr>
                                      <p:to>
                                        <p:strVal val="visible"/>
                                      </p:to>
                                    </p:set>
                                    <p:animEffect transition="in" filter="fade">
                                      <p:cBhvr>
                                        <p:cTn id="64" dur="550"/>
                                        <p:tgtEl>
                                          <p:spTgt spid="18"/>
                                        </p:tgtEl>
                                      </p:cBhvr>
                                    </p:animEffect>
                                    <p:anim calcmode="lin" valueType="num">
                                      <p:cBhvr additive="base">
                                        <p:cTn id="65" dur="550" fill="hold"/>
                                        <p:tgtEl>
                                          <p:spTgt spid="18"/>
                                        </p:tgtEl>
                                        <p:attrNameLst>
                                          <p:attrName>ppt_x</p:attrName>
                                        </p:attrNameLst>
                                      </p:cBhvr>
                                      <p:tavLst>
                                        <p:tav tm="0">
                                          <p:val>
                                            <p:strVal val="#ppt_x"/>
                                          </p:val>
                                        </p:tav>
                                        <p:tav tm="100000">
                                          <p:val>
                                            <p:strVal val="#ppt_x"/>
                                          </p:val>
                                        </p:tav>
                                      </p:tavLst>
                                    </p:anim>
                                    <p:anim calcmode="lin" valueType="num">
                                      <p:cBhvr additive="base">
                                        <p:cTn id="66" dur="550" fill="hold"/>
                                        <p:tgtEl>
                                          <p:spTgt spid="18"/>
                                        </p:tgtEl>
                                        <p:attrNameLst>
                                          <p:attrName>ppt_y</p:attrName>
                                        </p:attrNameLst>
                                      </p:cBhvr>
                                      <p:tavLst>
                                        <p:tav tm="0">
                                          <p:val>
                                            <p:strVal val="#ppt_y+.08"/>
                                          </p:val>
                                        </p:tav>
                                        <p:tav tm="100000">
                                          <p:val>
                                            <p:strVal val="#ppt_y"/>
                                          </p:val>
                                        </p:tav>
                                      </p:tavLst>
                                    </p:anim>
                                  </p:childTnLst>
                                </p:cTn>
                              </p:par>
                            </p:childTnLst>
                          </p:cTn>
                        </p:par>
                        <p:par>
                          <p:cTn id="67" fill="hold">
                            <p:stCondLst>
                              <p:cond delay="660"/>
                            </p:stCondLst>
                            <p:childTnLst>
                              <p:par>
                                <p:cTn id="68" presetID="53" presetClass="entr" presetSubtype="16" fill="hold" grpId="0" nodeType="afterEffect">
                                  <p:stCondLst>
                                    <p:cond delay="0"/>
                                  </p:stCondLst>
                                  <p:childTnLst>
                                    <p:set>
                                      <p:cBhvr>
                                        <p:cTn id="69" dur="1" fill="hold">
                                          <p:stCondLst>
                                            <p:cond delay="0"/>
                                          </p:stCondLst>
                                        </p:cTn>
                                        <p:tgtEl>
                                          <p:spTgt spid="19"/>
                                        </p:tgtEl>
                                        <p:attrNameLst>
                                          <p:attrName>style.visibility</p:attrName>
                                        </p:attrNameLst>
                                      </p:cBhvr>
                                      <p:to>
                                        <p:strVal val="visible"/>
                                      </p:to>
                                    </p:set>
                                    <p:animEffect transition="in" filter="fade">
                                      <p:cBhvr>
                                        <p:cTn id="70" dur="550"/>
                                        <p:tgtEl>
                                          <p:spTgt spid="19"/>
                                        </p:tgtEl>
                                      </p:cBhvr>
                                    </p:animEffect>
                                    <p:anim calcmode="lin" valueType="num">
                                      <p:cBhvr additive="base">
                                        <p:cTn id="71" dur="550" fill="hold"/>
                                        <p:tgtEl>
                                          <p:spTgt spid="19"/>
                                        </p:tgtEl>
                                        <p:attrNameLst>
                                          <p:attrName>ppt_w</p:attrName>
                                        </p:attrNameLst>
                                      </p:cBhvr>
                                      <p:tavLst>
                                        <p:tav tm="0">
                                          <p:val>
                                            <p:strVal val="0"/>
                                          </p:val>
                                        </p:tav>
                                        <p:tav tm="100000">
                                          <p:val>
                                            <p:strVal val="#ppt_w"/>
                                          </p:val>
                                        </p:tav>
                                      </p:tavLst>
                                    </p:anim>
                                    <p:anim calcmode="lin" valueType="num">
                                      <p:cBhvr additive="base">
                                        <p:cTn id="72" dur="550" fill="hold"/>
                                        <p:tgtEl>
                                          <p:spTgt spid="19"/>
                                        </p:tgtEl>
                                        <p:attrNameLst>
                                          <p:attrName>ppt_h</p:attrName>
                                        </p:attrNameLst>
                                      </p:cBhvr>
                                      <p:tavLst>
                                        <p:tav tm="0">
                                          <p:val>
                                            <p:strVal val="0"/>
                                          </p:val>
                                        </p:tav>
                                        <p:tav tm="100000">
                                          <p:val>
                                            <p:strVal val="#ppt_h"/>
                                          </p:val>
                                        </p:tav>
                                      </p:tavLst>
                                    </p:anim>
                                  </p:childTnLst>
                                </p:cTn>
                              </p:par>
                            </p:childTnLst>
                          </p:cTn>
                        </p:par>
                        <p:par>
                          <p:cTn id="73" fill="hold">
                            <p:stCondLst>
                              <p:cond delay="660"/>
                            </p:stCondLst>
                            <p:childTnLst>
                              <p:par>
                                <p:cTn id="74" presetID="42" presetClass="entr" presetSubtype="0" fill="hold" grpId="0" nodeType="afterEffect">
                                  <p:stCondLst>
                                    <p:cond delay="0"/>
                                  </p:stCondLst>
                                  <p:childTnLst>
                                    <p:set>
                                      <p:cBhvr>
                                        <p:cTn id="75" dur="1" fill="hold">
                                          <p:stCondLst>
                                            <p:cond delay="0"/>
                                          </p:stCondLst>
                                        </p:cTn>
                                        <p:tgtEl>
                                          <p:spTgt spid="20"/>
                                        </p:tgtEl>
                                        <p:attrNameLst>
                                          <p:attrName>style.visibility</p:attrName>
                                        </p:attrNameLst>
                                      </p:cBhvr>
                                      <p:to>
                                        <p:strVal val="visible"/>
                                      </p:to>
                                    </p:set>
                                    <p:animEffect transition="in" filter="fade">
                                      <p:cBhvr>
                                        <p:cTn id="76" dur="550"/>
                                        <p:tgtEl>
                                          <p:spTgt spid="20"/>
                                        </p:tgtEl>
                                      </p:cBhvr>
                                    </p:animEffect>
                                    <p:anim calcmode="lin" valueType="num">
                                      <p:cBhvr additive="base">
                                        <p:cTn id="77" dur="550" fill="hold"/>
                                        <p:tgtEl>
                                          <p:spTgt spid="20"/>
                                        </p:tgtEl>
                                        <p:attrNameLst>
                                          <p:attrName>ppt_x</p:attrName>
                                        </p:attrNameLst>
                                      </p:cBhvr>
                                      <p:tavLst>
                                        <p:tav tm="0">
                                          <p:val>
                                            <p:strVal val="#ppt_x"/>
                                          </p:val>
                                        </p:tav>
                                        <p:tav tm="100000">
                                          <p:val>
                                            <p:strVal val="#ppt_x"/>
                                          </p:val>
                                        </p:tav>
                                      </p:tavLst>
                                    </p:anim>
                                    <p:anim calcmode="lin" valueType="num">
                                      <p:cBhvr additive="base">
                                        <p:cTn id="78" dur="550" fill="hold"/>
                                        <p:tgtEl>
                                          <p:spTgt spid="20"/>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Lst>
  </p:timing>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162E4D"/>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900000" y="1700000"/>
            <a:ext cx="3000000" cy="3000000"/>
          </a:xfrm>
          <a:prstGeom prst="ellipse">
            <a:avLst/>
          </a:prstGeom>
          <a:noFill/>
          <a:ln w="76200">
            <a:solidFill>
              <a:srgbClr val="7FD6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00000" y="2350000"/>
            <a:ext cx="3000000" cy="1700000"/>
          </a:xfrm>
          <a:prstGeom prst="rect">
            <a:avLst/>
          </a:prstGeom>
          <a:noFill/>
        </p:spPr>
        <p:txBody>
          <a:bodyPr wrap="square" anchor="ctr" lIns="50800" rIns="50800">
            <a:spAutoFit/>
          </a:bodyPr>
          <a:lstStyle/>
          <a:p>
            <a:pPr algn="ctr"/>
            <a:r>
              <a:rPr sz="7200" b="1">
                <a:solidFill>
                  <a:srgbClr val="FFFFFF"/>
                </a:solidFill>
                <a:latin typeface="Calibri"/>
              </a:rPr>
              <a:t>07</a:t>
            </a:r>
          </a:p>
        </p:txBody>
      </p:sp>
      <p:sp>
        <p:nvSpPr>
          <p:cNvPr id="5" name="TextBox 4"/>
          <p:cNvSpPr txBox="1"/>
          <p:nvPr/>
        </p:nvSpPr>
        <p:spPr>
          <a:xfrm>
            <a:off x="4500000" y="2400000"/>
            <a:ext cx="7000000" cy="1600000"/>
          </a:xfrm>
          <a:prstGeom prst="rect">
            <a:avLst/>
          </a:prstGeom>
          <a:noFill/>
        </p:spPr>
        <p:txBody>
          <a:bodyPr wrap="square" anchor="ctr" lIns="50800" rIns="50800">
            <a:spAutoFit/>
          </a:bodyPr>
          <a:lstStyle/>
          <a:p>
            <a:pPr algn="l"/>
            <a:r>
              <a:rPr sz="3600" b="1">
                <a:solidFill>
                  <a:srgbClr val="FFFFFF"/>
                </a:solidFill>
                <a:latin typeface="Calibri"/>
              </a:rPr>
              <a:t>Nazorat savollari</a:t>
            </a:r>
          </a:p>
        </p:txBody>
      </p:sp>
      <p:sp>
        <p:nvSpPr>
          <p:cNvPr id="6" name="Rectangle 5"/>
          <p:cNvSpPr/>
          <p:nvPr/>
        </p:nvSpPr>
        <p:spPr>
          <a:xfrm>
            <a:off x="4550000" y="4100000"/>
            <a:ext cx="2200000" cy="60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transition spd="med">
    <p:push dir="u"/>
  </p:transition>
  <p:timing>
    <p:tnLst>
      <p:par>
        <p:cTn id="1" dur="indefinite" restart="never" nodeType="tmRoot">
          <p:childTnLst>
            <p:seq concurrent="1" nextAc="seek">
              <p:cTn id="2" dur="indefinite" nodeType="mainSeq">
                <p:childTnLst>
                  <p:par>
                    <p:cTn id="26" fill="hold">
                      <p:stCondLst>
                        <p:cond delay="indefinite"/>
                        <p:cond evt="onBegin" delay="0">
                          <p:tn val="2"/>
                        </p:cond>
                      </p:stCondLst>
                      <p:childTnLst>
                        <p:par>
                          <p:cTn id="3" fill="hold">
                            <p:stCondLst>
                              <p:cond delay="0"/>
                            </p:stCondLst>
                            <p:childTnLst>
                              <p:par>
                                <p:cTn id="4" presetID="53" presetClass="entr" presetSubtype="16" fill="hold" grpId="0" nodeType="withEffect">
                                  <p:stCondLst>
                                    <p:cond delay="0"/>
                                  </p:stCondLst>
                                  <p:childTnLst>
                                    <p:set>
                                      <p:cBhvr>
                                        <p:cTn id="5" dur="1" fill="hold">
                                          <p:stCondLst>
                                            <p:cond delay="0"/>
                                          </p:stCondLst>
                                        </p:cTn>
                                        <p:tgtEl>
                                          <p:spTgt spid="3"/>
                                        </p:tgtEl>
                                        <p:attrNameLst>
                                          <p:attrName>style.visibility</p:attrName>
                                        </p:attrNameLst>
                                      </p:cBhvr>
                                      <p:to>
                                        <p:strVal val="visible"/>
                                      </p:to>
                                    </p:set>
                                    <p:animEffect transition="in" filter="fade">
                                      <p:cBhvr>
                                        <p:cTn id="6" dur="550"/>
                                        <p:tgtEl>
                                          <p:spTgt spid="3"/>
                                        </p:tgtEl>
                                      </p:cBhvr>
                                    </p:animEffect>
                                    <p:anim calcmode="lin" valueType="num">
                                      <p:cBhvr additive="base">
                                        <p:cTn id="7" dur="550" fill="hold"/>
                                        <p:tgtEl>
                                          <p:spTgt spid="3"/>
                                        </p:tgtEl>
                                        <p:attrNameLst>
                                          <p:attrName>ppt_w</p:attrName>
                                        </p:attrNameLst>
                                      </p:cBhvr>
                                      <p:tavLst>
                                        <p:tav tm="0">
                                          <p:val>
                                            <p:strVal val="0"/>
                                          </p:val>
                                        </p:tav>
                                        <p:tav tm="100000">
                                          <p:val>
                                            <p:strVal val="#ppt_w"/>
                                          </p:val>
                                        </p:tav>
                                      </p:tavLst>
                                    </p:anim>
                                    <p:anim calcmode="lin" valueType="num">
                                      <p:cBhvr additive="base">
                                        <p:cTn id="8" dur="550" fill="hold"/>
                                        <p:tgtEl>
                                          <p:spTgt spid="3"/>
                                        </p:tgtEl>
                                        <p:attrNameLst>
                                          <p:attrName>ppt_h</p:attrName>
                                        </p:attrNameLst>
                                      </p:cBhvr>
                                      <p:tavLst>
                                        <p:tav tm="0">
                                          <p:val>
                                            <p:strVal val="0"/>
                                          </p:val>
                                        </p:tav>
                                        <p:tav tm="100000">
                                          <p:val>
                                            <p:strVal val="#ppt_h"/>
                                          </p:val>
                                        </p:tav>
                                      </p:tavLst>
                                    </p:anim>
                                  </p:childTnLst>
                                </p:cTn>
                              </p:par>
                            </p:childTnLst>
                          </p:cTn>
                        </p:par>
                        <p:par>
                          <p:cTn id="9" fill="hold">
                            <p:stCondLst>
                              <p:cond delay="100"/>
                            </p:stCondLst>
                            <p:childTnLst>
                              <p:par>
                                <p:cTn id="10" presetID="53" presetClass="entr" presetSubtype="16" fill="hold" grpId="0" nodeType="afterEffect">
                                  <p:stCondLst>
                                    <p:cond delay="0"/>
                                  </p:stCondLst>
                                  <p:childTnLst>
                                    <p:set>
                                      <p:cBhvr>
                                        <p:cTn id="11" dur="1" fill="hold">
                                          <p:stCondLst>
                                            <p:cond delay="0"/>
                                          </p:stCondLst>
                                        </p:cTn>
                                        <p:tgtEl>
                                          <p:spTgt spid="4"/>
                                        </p:tgtEl>
                                        <p:attrNameLst>
                                          <p:attrName>style.visibility</p:attrName>
                                        </p:attrNameLst>
                                      </p:cBhvr>
                                      <p:to>
                                        <p:strVal val="visible"/>
                                      </p:to>
                                    </p:set>
                                    <p:animEffect transition="in" filter="fade">
                                      <p:cBhvr>
                                        <p:cTn id="12" dur="550"/>
                                        <p:tgtEl>
                                          <p:spTgt spid="4"/>
                                        </p:tgtEl>
                                      </p:cBhvr>
                                    </p:animEffect>
                                    <p:anim calcmode="lin" valueType="num">
                                      <p:cBhvr additive="base">
                                        <p:cTn id="13" dur="550" fill="hold"/>
                                        <p:tgtEl>
                                          <p:spTgt spid="4"/>
                                        </p:tgtEl>
                                        <p:attrNameLst>
                                          <p:attrName>ppt_w</p:attrName>
                                        </p:attrNameLst>
                                      </p:cBhvr>
                                      <p:tavLst>
                                        <p:tav tm="0">
                                          <p:val>
                                            <p:strVal val="0"/>
                                          </p:val>
                                        </p:tav>
                                        <p:tav tm="100000">
                                          <p:val>
                                            <p:strVal val="#ppt_w"/>
                                          </p:val>
                                        </p:tav>
                                      </p:tavLst>
                                    </p:anim>
                                    <p:anim calcmode="lin" valueType="num">
                                      <p:cBhvr additive="base">
                                        <p:cTn id="14" dur="550" fill="hold"/>
                                        <p:tgtEl>
                                          <p:spTgt spid="4"/>
                                        </p:tgtEl>
                                        <p:attrNameLst>
                                          <p:attrName>ppt_h</p:attrName>
                                        </p:attrNameLst>
                                      </p:cBhvr>
                                      <p:tavLst>
                                        <p:tav tm="0">
                                          <p:val>
                                            <p:strVal val="0"/>
                                          </p:val>
                                        </p:tav>
                                        <p:tav tm="100000">
                                          <p:val>
                                            <p:strVal val="#ppt_h"/>
                                          </p:val>
                                        </p:tav>
                                      </p:tavLst>
                                    </p:anim>
                                  </p:childTnLst>
                                </p:cTn>
                              </p:par>
                            </p:childTnLst>
                          </p:cTn>
                        </p:par>
                        <p:par>
                          <p:cTn id="15" fill="hold">
                            <p:stCondLst>
                              <p:cond delay="250"/>
                            </p:stCondLst>
                            <p:childTnLst>
                              <p:par>
                                <p:cTn id="16" presetID="2" presetClass="entr" presetSubtype="8" fill="hold" grpId="0" nodeType="afterEffect">
                                  <p:stCondLst>
                                    <p:cond delay="0"/>
                                  </p:stCondLst>
                                  <p:childTnLst>
                                    <p:set>
                                      <p:cBhvr>
                                        <p:cTn id="17" dur="1" fill="hold">
                                          <p:stCondLst>
                                            <p:cond delay="0"/>
                                          </p:stCondLst>
                                        </p:cTn>
                                        <p:tgtEl>
                                          <p:spTgt spid="5"/>
                                        </p:tgtEl>
                                        <p:attrNameLst>
                                          <p:attrName>style.visibility</p:attrName>
                                        </p:attrNameLst>
                                      </p:cBhvr>
                                      <p:to>
                                        <p:strVal val="visible"/>
                                      </p:to>
                                    </p:set>
                                    <p:anim calcmode="lin" valueType="num">
                                      <p:cBhvr additive="base">
                                        <p:cTn id="19" dur="550" fill="hold"/>
                                        <p:tgtEl>
                                          <p:spTgt spid="5"/>
                                        </p:tgtEl>
                                        <p:attrNameLst>
                                          <p:attrName>ppt_x</p:attrName>
                                        </p:attrNameLst>
                                      </p:cBhvr>
                                      <p:tavLst>
                                        <p:tav tm="0">
                                          <p:val>
                                            <p:strVal val="0-#ppt_w/2"/>
                                          </p:val>
                                        </p:tav>
                                        <p:tav tm="100000">
                                          <p:val>
                                            <p:strVal val="#ppt_x"/>
                                          </p:val>
                                        </p:tav>
                                      </p:tavLst>
                                    </p:anim>
                                    <p:anim calcmode="lin" valueType="num">
                                      <p:cBhvr additive="base">
                                        <p:cTn id="20" dur="550" fill="hold"/>
                                        <p:tgtEl>
                                          <p:spTgt spid="5"/>
                                        </p:tgtEl>
                                        <p:attrNameLst>
                                          <p:attrName>ppt_y</p:attrName>
                                        </p:attrNameLst>
                                      </p:cBhvr>
                                      <p:tavLst>
                                        <p:tav tm="0">
                                          <p:val>
                                            <p:strVal val="#ppt_y"/>
                                          </p:val>
                                        </p:tav>
                                        <p:tav tm="100000">
                                          <p:val>
                                            <p:strVal val="#ppt_y"/>
                                          </p:val>
                                        </p:tav>
                                      </p:tavLst>
                                    </p:anim>
                                  </p:childTnLst>
                                </p:cTn>
                              </p:par>
                            </p:childTnLst>
                          </p:cTn>
                        </p:par>
                        <p:par>
                          <p:cTn id="21" fill="hold">
                            <p:stCondLst>
                              <p:cond delay="350"/>
                            </p:stCondLst>
                            <p:childTnLst>
                              <p:par>
                                <p:cTn id="22" presetID="22" presetClass="entr" presetSubtype="8" fill="hold" grpId="0" nodeType="afterEffect">
                                  <p:stCondLst>
                                    <p:cond delay="0"/>
                                  </p:stCondLst>
                                  <p:childTnLst>
                                    <p:set>
                                      <p:cBhvr>
                                        <p:cTn id="23" dur="1" fill="hold">
                                          <p:stCondLst>
                                            <p:cond delay="0"/>
                                          </p:stCondLst>
                                        </p:cTn>
                                        <p:tgtEl>
                                          <p:spTgt spid="6"/>
                                        </p:tgtEl>
                                        <p:attrNameLst>
                                          <p:attrName>style.visibility</p:attrName>
                                        </p:attrNameLst>
                                      </p:cBhvr>
                                      <p:to>
                                        <p:strVal val="visible"/>
                                      </p:to>
                                    </p:set>
                                    <p:animEffect transition="in" filter="wipe(left)">
                                      <p:cBhvr>
                                        <p:cTn id="25" dur="8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4" grpId="0" animBg="1"/>
      <p:bldP spid="5" grpId="0" animBg="1"/>
      <p:bldP spid="6" grpId="0" animBg="1"/>
    </p:bldLst>
  </p:timing>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200000"/>
            <a:ext cx="10400000" cy="650000"/>
          </a:xfrm>
          <a:prstGeom prst="rect">
            <a:avLst/>
          </a:prstGeom>
          <a:noFill/>
        </p:spPr>
        <p:txBody>
          <a:bodyPr wrap="square" anchor="ctr" lIns="50800" rIns="50800">
            <a:spAutoFit/>
          </a:bodyPr>
          <a:lstStyle/>
          <a:p>
            <a:pPr algn="l"/>
            <a:r>
              <a:rPr sz="2600" b="1">
                <a:solidFill>
                  <a:srgbClr val="FFFFFF"/>
                </a:solidFill>
                <a:latin typeface="Calibri"/>
              </a:rPr>
              <a:t>Nazorat savollari (1)</a:t>
            </a:r>
          </a:p>
        </p:txBody>
      </p:sp>
      <p:sp>
        <p:nvSpPr>
          <p:cNvPr id="6" name="Rectangle 5"/>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A1 · Sun'iy intellektga asoslangan kompyuter tizimlari arxitekturasini tahlil qilish va loyihalash</a:t>
            </a:r>
          </a:p>
        </p:txBody>
      </p:sp>
      <p:sp>
        <p:nvSpPr>
          <p:cNvPr id="8" name="TextBox 7"/>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40</a:t>
            </a:r>
          </a:p>
        </p:txBody>
      </p:sp>
      <p:sp>
        <p:nvSpPr>
          <p:cNvPr id="9" name="Rounded Rectangle 8"/>
          <p:cNvSpPr/>
          <p:nvPr/>
        </p:nvSpPr>
        <p:spPr>
          <a:xfrm>
            <a:off x="550000" y="1300000"/>
            <a:ext cx="11100000" cy="894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50000" y="1300000"/>
            <a:ext cx="70000" cy="894000"/>
          </a:xfrm>
          <a:prstGeom prst="rect">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800000" y="1517000"/>
            <a:ext cx="460000" cy="460000"/>
          </a:xfrm>
          <a:prstGeom prst="ellipse">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1</a:t>
            </a:r>
          </a:p>
        </p:txBody>
      </p:sp>
      <p:sp>
        <p:nvSpPr>
          <p:cNvPr id="12" name="TextBox 11"/>
          <p:cNvSpPr txBox="1"/>
          <p:nvPr/>
        </p:nvSpPr>
        <p:spPr>
          <a:xfrm>
            <a:off x="1450000" y="1300000"/>
            <a:ext cx="10050000" cy="894000"/>
          </a:xfrm>
          <a:prstGeom prst="rect">
            <a:avLst/>
          </a:prstGeom>
          <a:noFill/>
        </p:spPr>
        <p:txBody>
          <a:bodyPr wrap="square" anchor="ctr" lIns="50800" rIns="50800">
            <a:spAutoFit/>
          </a:bodyPr>
          <a:lstStyle/>
          <a:p>
            <a:pPr algn="l"/>
            <a:r>
              <a:rPr sz="1400" b="0">
                <a:solidFill>
                  <a:srgbClr val="1B2430"/>
                </a:solidFill>
                <a:latin typeface="Calibri"/>
              </a:rPr>
              <a:t>Nima uchun bir xil model (masalan, YOLOv8s) A100 da hisoblash bilan, Jetson Orin NX da esa xotira bilan cheklangan rejimda ishlashi mumkin? Roofline modeli orqali tushuntiring.</a:t>
            </a:r>
          </a:p>
        </p:txBody>
      </p:sp>
      <p:sp>
        <p:nvSpPr>
          <p:cNvPr id="13" name="Rounded Rectangle 12"/>
          <p:cNvSpPr/>
          <p:nvPr/>
        </p:nvSpPr>
        <p:spPr>
          <a:xfrm>
            <a:off x="550000" y="2314000"/>
            <a:ext cx="11100000" cy="894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550000" y="2314000"/>
            <a:ext cx="70000" cy="894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00000" y="2531000"/>
            <a:ext cx="460000" cy="46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2</a:t>
            </a:r>
          </a:p>
        </p:txBody>
      </p:sp>
      <p:sp>
        <p:nvSpPr>
          <p:cNvPr id="16" name="TextBox 15"/>
          <p:cNvSpPr txBox="1"/>
          <p:nvPr/>
        </p:nvSpPr>
        <p:spPr>
          <a:xfrm>
            <a:off x="1450000" y="2314000"/>
            <a:ext cx="10050000" cy="894000"/>
          </a:xfrm>
          <a:prstGeom prst="rect">
            <a:avLst/>
          </a:prstGeom>
          <a:noFill/>
        </p:spPr>
        <p:txBody>
          <a:bodyPr wrap="square" anchor="ctr" lIns="50800" rIns="50800">
            <a:spAutoFit/>
          </a:bodyPr>
          <a:lstStyle/>
          <a:p>
            <a:pPr algn="l"/>
            <a:r>
              <a:rPr sz="1400" b="0">
                <a:solidFill>
                  <a:srgbClr val="1B2430"/>
                </a:solidFill>
                <a:latin typeface="Calibri"/>
              </a:rPr>
              <a:t>Agar buyurtmachi kechikish talabini 200 ms dan 50 ms ga tushirsa, strukturaviy sxemaning qaysi bloklari qayta loyihalanadi va nima uchun batching strategiyasi o'zgaradi?</a:t>
            </a:r>
          </a:p>
        </p:txBody>
      </p:sp>
      <p:sp>
        <p:nvSpPr>
          <p:cNvPr id="17" name="Rounded Rectangle 16"/>
          <p:cNvSpPr/>
          <p:nvPr/>
        </p:nvSpPr>
        <p:spPr>
          <a:xfrm>
            <a:off x="550000" y="3328000"/>
            <a:ext cx="11100000" cy="894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550000" y="3328000"/>
            <a:ext cx="70000" cy="894000"/>
          </a:xfrm>
          <a:prstGeom prst="rect">
            <a:avLst/>
          </a:prstGeom>
          <a:solidFill>
            <a:srgbClr val="6A3F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800000" y="3545000"/>
            <a:ext cx="460000" cy="460000"/>
          </a:xfrm>
          <a:prstGeom prst="ellipse">
            <a:avLst/>
          </a:prstGeom>
          <a:solidFill>
            <a:srgbClr val="6A3FB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3</a:t>
            </a:r>
          </a:p>
        </p:txBody>
      </p:sp>
      <p:sp>
        <p:nvSpPr>
          <p:cNvPr id="20" name="TextBox 19"/>
          <p:cNvSpPr txBox="1"/>
          <p:nvPr/>
        </p:nvSpPr>
        <p:spPr>
          <a:xfrm>
            <a:off x="1450000" y="3328000"/>
            <a:ext cx="10050000" cy="894000"/>
          </a:xfrm>
          <a:prstGeom prst="rect">
            <a:avLst/>
          </a:prstGeom>
          <a:noFill/>
        </p:spPr>
        <p:txBody>
          <a:bodyPr wrap="square" anchor="ctr" lIns="50800" rIns="50800">
            <a:spAutoFit/>
          </a:bodyPr>
          <a:lstStyle/>
          <a:p>
            <a:pPr algn="l"/>
            <a:r>
              <a:rPr sz="1400" b="0">
                <a:solidFill>
                  <a:srgbClr val="1B2430"/>
                </a:solidFill>
                <a:latin typeface="Calibri"/>
              </a:rPr>
              <a:t>Hardware–Software Co-design nuqtai nazaridan modelni INT8 ga kvantlash qarori apparat tanlovidan oldin qabul qilinishi kerakmi yoki keyin? Fikringizni asoslang.</a:t>
            </a:r>
          </a:p>
        </p:txBody>
      </p:sp>
      <p:sp>
        <p:nvSpPr>
          <p:cNvPr id="21" name="Rounded Rectangle 20"/>
          <p:cNvSpPr/>
          <p:nvPr/>
        </p:nvSpPr>
        <p:spPr>
          <a:xfrm>
            <a:off x="550000" y="4342000"/>
            <a:ext cx="11100000" cy="894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50000" y="4342000"/>
            <a:ext cx="70000" cy="894000"/>
          </a:xfrm>
          <a:prstGeom prst="rect">
            <a:avLst/>
          </a:prstGeom>
          <a:solidFill>
            <a:srgbClr val="B779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800000" y="4559000"/>
            <a:ext cx="460000" cy="460000"/>
          </a:xfrm>
          <a:prstGeom prst="ellipse">
            <a:avLst/>
          </a:prstGeom>
          <a:solidFill>
            <a:srgbClr val="B7791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4</a:t>
            </a:r>
          </a:p>
        </p:txBody>
      </p:sp>
      <p:sp>
        <p:nvSpPr>
          <p:cNvPr id="24" name="TextBox 23"/>
          <p:cNvSpPr txBox="1"/>
          <p:nvPr/>
        </p:nvSpPr>
        <p:spPr>
          <a:xfrm>
            <a:off x="1450000" y="4342000"/>
            <a:ext cx="10050000" cy="894000"/>
          </a:xfrm>
          <a:prstGeom prst="rect">
            <a:avLst/>
          </a:prstGeom>
          <a:noFill/>
        </p:spPr>
        <p:txBody>
          <a:bodyPr wrap="square" anchor="ctr" lIns="50800" rIns="50800">
            <a:spAutoFit/>
          </a:bodyPr>
          <a:lstStyle/>
          <a:p>
            <a:pPr algn="l"/>
            <a:r>
              <a:rPr sz="1400" b="0">
                <a:solidFill>
                  <a:srgbClr val="1B2430"/>
                </a:solidFill>
                <a:latin typeface="Calibri"/>
              </a:rPr>
              <a:t>Edge TPU'ning 4 TOPS unumdorligi 16 kamera uchun yetmasligi ko'rsatildi. Qanday arxitektura o'zgarishlari (model, kadr tezligi, kamera taqsimoti) bilan Edge TPU asosidagi yechimni yaroqli…</a:t>
            </a:r>
          </a:p>
        </p:txBody>
      </p:sp>
      <p:sp>
        <p:nvSpPr>
          <p:cNvPr id="25" name="Rounded Rectangle 24"/>
          <p:cNvSpPr/>
          <p:nvPr/>
        </p:nvSpPr>
        <p:spPr>
          <a:xfrm>
            <a:off x="550000" y="5356000"/>
            <a:ext cx="11100000" cy="894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550000" y="5356000"/>
            <a:ext cx="70000" cy="894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800000" y="5573000"/>
            <a:ext cx="460000" cy="4600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5</a:t>
            </a:r>
          </a:p>
        </p:txBody>
      </p:sp>
      <p:sp>
        <p:nvSpPr>
          <p:cNvPr id="28" name="TextBox 27"/>
          <p:cNvSpPr txBox="1"/>
          <p:nvPr/>
        </p:nvSpPr>
        <p:spPr>
          <a:xfrm>
            <a:off x="1450000" y="5356000"/>
            <a:ext cx="10050000" cy="894000"/>
          </a:xfrm>
          <a:prstGeom prst="rect">
            <a:avLst/>
          </a:prstGeom>
          <a:noFill/>
        </p:spPr>
        <p:txBody>
          <a:bodyPr wrap="square" anchor="ctr" lIns="50800" rIns="50800">
            <a:spAutoFit/>
          </a:bodyPr>
          <a:lstStyle/>
          <a:p>
            <a:pPr algn="l"/>
            <a:r>
              <a:rPr sz="1400" b="0">
                <a:solidFill>
                  <a:srgbClr val="1B2430"/>
                </a:solidFill>
                <a:latin typeface="Calibri"/>
              </a:rPr>
              <a:t>Samaradorlik koeffitsiyentini 45 % deb olish qanchalik asosli? Uni prototip bosqichida qanday o'lchab aniqlashtirgan bo'lardingiz?</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127"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5"/>
                                        </p:tgtEl>
                                        <p:attrNameLst>
                                          <p:attrName>style.visibility</p:attrName>
                                        </p:attrNameLst>
                                      </p:cBhvr>
                                      <p:to>
                                        <p:strVal val="visible"/>
                                      </p:to>
                                    </p:set>
                                    <p:animEffect transition="in" filter="fade">
                                      <p:cBhvr>
                                        <p:cTn id="6" dur="550"/>
                                        <p:tgtEl>
                                          <p:spTgt spid="5"/>
                                        </p:tgtEl>
                                      </p:cBhvr>
                                    </p:animEffect>
                                  </p:childTnLst>
                                </p:cTn>
                              </p:par>
                            </p:childTnLst>
                          </p:cTn>
                        </p:par>
                        <p:par>
                          <p:cTn id="7" fill="hold">
                            <p:stCondLst>
                              <p:cond delay="220"/>
                            </p:stCondLst>
                            <p:childTnLst>
                              <p:par>
                                <p:cTn id="8" presetID="42" presetClass="entr" presetSubtype="0" fill="hold" grpId="0" nodeType="afterEffect">
                                  <p:stCondLst>
                                    <p:cond delay="0"/>
                                  </p:stCondLst>
                                  <p:childTnLst>
                                    <p:set>
                                      <p:cBhvr>
                                        <p:cTn id="9" dur="1" fill="hold">
                                          <p:stCondLst>
                                            <p:cond delay="0"/>
                                          </p:stCondLst>
                                        </p:cTn>
                                        <p:tgtEl>
                                          <p:spTgt spid="9"/>
                                        </p:tgtEl>
                                        <p:attrNameLst>
                                          <p:attrName>style.visibility</p:attrName>
                                        </p:attrNameLst>
                                      </p:cBhvr>
                                      <p:to>
                                        <p:strVal val="visible"/>
                                      </p:to>
                                    </p:set>
                                    <p:animEffect transition="in" filter="fade">
                                      <p:cBhvr>
                                        <p:cTn id="10" dur="550"/>
                                        <p:tgtEl>
                                          <p:spTgt spid="9"/>
                                        </p:tgtEl>
                                      </p:cBhvr>
                                    </p:animEffect>
                                    <p:anim calcmode="lin" valueType="num">
                                      <p:cBhvr additive="base">
                                        <p:cTn id="11" dur="550" fill="hold"/>
                                        <p:tgtEl>
                                          <p:spTgt spid="9"/>
                                        </p:tgtEl>
                                        <p:attrNameLst>
                                          <p:attrName>ppt_x</p:attrName>
                                        </p:attrNameLst>
                                      </p:cBhvr>
                                      <p:tavLst>
                                        <p:tav tm="0">
                                          <p:val>
                                            <p:strVal val="#ppt_x"/>
                                          </p:val>
                                        </p:tav>
                                        <p:tav tm="100000">
                                          <p:val>
                                            <p:strVal val="#ppt_x"/>
                                          </p:val>
                                        </p:tav>
                                      </p:tavLst>
                                    </p:anim>
                                    <p:anim calcmode="lin" valueType="num">
                                      <p:cBhvr additive="base">
                                        <p:cTn id="12" dur="550" fill="hold"/>
                                        <p:tgtEl>
                                          <p:spTgt spid="9"/>
                                        </p:tgtEl>
                                        <p:attrNameLst>
                                          <p:attrName>ppt_y</p:attrName>
                                        </p:attrNameLst>
                                      </p:cBhvr>
                                      <p:tavLst>
                                        <p:tav tm="0">
                                          <p:val>
                                            <p:strVal val="#ppt_y+.08"/>
                                          </p:val>
                                        </p:tav>
                                        <p:tav tm="100000">
                                          <p:val>
                                            <p:strVal val="#ppt_y"/>
                                          </p:val>
                                        </p:tav>
                                      </p:tavLst>
                                    </p:anim>
                                  </p:childTnLst>
                                </p:cTn>
                              </p:par>
                            </p:childTnLst>
                          </p:cTn>
                        </p:par>
                        <p:par>
                          <p:cTn id="13" fill="hold">
                            <p:stCondLst>
                              <p:cond delay="220"/>
                            </p:stCondLst>
                            <p:childTnLst>
                              <p:par>
                                <p:cTn id="14" presetID="42" presetClass="entr" presetSubtype="0" fill="hold" grpId="0" nodeType="afterEffect">
                                  <p:stCondLst>
                                    <p:cond delay="0"/>
                                  </p:stCondLst>
                                  <p:childTnLst>
                                    <p:set>
                                      <p:cBhvr>
                                        <p:cTn id="15" dur="1" fill="hold">
                                          <p:stCondLst>
                                            <p:cond delay="0"/>
                                          </p:stCondLst>
                                        </p:cTn>
                                        <p:tgtEl>
                                          <p:spTgt spid="10"/>
                                        </p:tgtEl>
                                        <p:attrNameLst>
                                          <p:attrName>style.visibility</p:attrName>
                                        </p:attrNameLst>
                                      </p:cBhvr>
                                      <p:to>
                                        <p:strVal val="visible"/>
                                      </p:to>
                                    </p:set>
                                    <p:animEffect transition="in" filter="fade">
                                      <p:cBhvr>
                                        <p:cTn id="16" dur="550"/>
                                        <p:tgtEl>
                                          <p:spTgt spid="10"/>
                                        </p:tgtEl>
                                      </p:cBhvr>
                                    </p:animEffect>
                                    <p:anim calcmode="lin" valueType="num">
                                      <p:cBhvr additive="base">
                                        <p:cTn id="17" dur="550" fill="hold"/>
                                        <p:tgtEl>
                                          <p:spTgt spid="10"/>
                                        </p:tgtEl>
                                        <p:attrNameLst>
                                          <p:attrName>ppt_x</p:attrName>
                                        </p:attrNameLst>
                                      </p:cBhvr>
                                      <p:tavLst>
                                        <p:tav tm="0">
                                          <p:val>
                                            <p:strVal val="#ppt_x"/>
                                          </p:val>
                                        </p:tav>
                                        <p:tav tm="100000">
                                          <p:val>
                                            <p:strVal val="#ppt_x"/>
                                          </p:val>
                                        </p:tav>
                                      </p:tavLst>
                                    </p:anim>
                                    <p:anim calcmode="lin" valueType="num">
                                      <p:cBhvr additive="base">
                                        <p:cTn id="18" dur="550" fill="hold"/>
                                        <p:tgtEl>
                                          <p:spTgt spid="10"/>
                                        </p:tgtEl>
                                        <p:attrNameLst>
                                          <p:attrName>ppt_y</p:attrName>
                                        </p:attrNameLst>
                                      </p:cBhvr>
                                      <p:tavLst>
                                        <p:tav tm="0">
                                          <p:val>
                                            <p:strVal val="#ppt_y+.08"/>
                                          </p:val>
                                        </p:tav>
                                        <p:tav tm="100000">
                                          <p:val>
                                            <p:strVal val="#ppt_y"/>
                                          </p:val>
                                        </p:tav>
                                      </p:tavLst>
                                    </p:anim>
                                  </p:childTnLst>
                                </p:cTn>
                              </p:par>
                            </p:childTnLst>
                          </p:cTn>
                        </p:par>
                        <p:par>
                          <p:cTn id="19" fill="hold">
                            <p:stCondLst>
                              <p:cond delay="220"/>
                            </p:stCondLst>
                            <p:childTnLst>
                              <p:par>
                                <p:cTn id="20" presetID="53" presetClass="entr" presetSubtype="16" fill="hold" grpId="0" nodeType="afterEffect">
                                  <p:stCondLst>
                                    <p:cond delay="0"/>
                                  </p:stCondLst>
                                  <p:childTnLst>
                                    <p:set>
                                      <p:cBhvr>
                                        <p:cTn id="21" dur="1" fill="hold">
                                          <p:stCondLst>
                                            <p:cond delay="0"/>
                                          </p:stCondLst>
                                        </p:cTn>
                                        <p:tgtEl>
                                          <p:spTgt spid="11"/>
                                        </p:tgtEl>
                                        <p:attrNameLst>
                                          <p:attrName>style.visibility</p:attrName>
                                        </p:attrNameLst>
                                      </p:cBhvr>
                                      <p:to>
                                        <p:strVal val="visible"/>
                                      </p:to>
                                    </p:set>
                                    <p:animEffect transition="in" filter="fade">
                                      <p:cBhvr>
                                        <p:cTn id="22" dur="550"/>
                                        <p:tgtEl>
                                          <p:spTgt spid="11"/>
                                        </p:tgtEl>
                                      </p:cBhvr>
                                    </p:animEffect>
                                    <p:anim calcmode="lin" valueType="num">
                                      <p:cBhvr additive="base">
                                        <p:cTn id="23" dur="550" fill="hold"/>
                                        <p:tgtEl>
                                          <p:spTgt spid="11"/>
                                        </p:tgtEl>
                                        <p:attrNameLst>
                                          <p:attrName>ppt_w</p:attrName>
                                        </p:attrNameLst>
                                      </p:cBhvr>
                                      <p:tavLst>
                                        <p:tav tm="0">
                                          <p:val>
                                            <p:strVal val="0"/>
                                          </p:val>
                                        </p:tav>
                                        <p:tav tm="100000">
                                          <p:val>
                                            <p:strVal val="#ppt_w"/>
                                          </p:val>
                                        </p:tav>
                                      </p:tavLst>
                                    </p:anim>
                                    <p:anim calcmode="lin" valueType="num">
                                      <p:cBhvr additive="base">
                                        <p:cTn id="24" dur="550" fill="hold"/>
                                        <p:tgtEl>
                                          <p:spTgt spid="11"/>
                                        </p:tgtEl>
                                        <p:attrNameLst>
                                          <p:attrName>ppt_h</p:attrName>
                                        </p:attrNameLst>
                                      </p:cBhvr>
                                      <p:tavLst>
                                        <p:tav tm="0">
                                          <p:val>
                                            <p:strVal val="0"/>
                                          </p:val>
                                        </p:tav>
                                        <p:tav tm="100000">
                                          <p:val>
                                            <p:strVal val="#ppt_h"/>
                                          </p:val>
                                        </p:tav>
                                      </p:tavLst>
                                    </p:anim>
                                  </p:childTnLst>
                                </p:cTn>
                              </p:par>
                            </p:childTnLst>
                          </p:cTn>
                        </p:par>
                        <p:par>
                          <p:cTn id="25" fill="hold">
                            <p:stCondLst>
                              <p:cond delay="220"/>
                            </p:stCondLst>
                            <p:childTnLst>
                              <p:par>
                                <p:cTn id="26" presetID="42" presetClass="entr" presetSubtype="0" fill="hold" grpId="0" nodeType="afterEffect">
                                  <p:stCondLst>
                                    <p:cond delay="0"/>
                                  </p:stCondLst>
                                  <p:childTnLst>
                                    <p:set>
                                      <p:cBhvr>
                                        <p:cTn id="27" dur="1" fill="hold">
                                          <p:stCondLst>
                                            <p:cond delay="0"/>
                                          </p:stCondLst>
                                        </p:cTn>
                                        <p:tgtEl>
                                          <p:spTgt spid="12"/>
                                        </p:tgtEl>
                                        <p:attrNameLst>
                                          <p:attrName>style.visibility</p:attrName>
                                        </p:attrNameLst>
                                      </p:cBhvr>
                                      <p:to>
                                        <p:strVal val="visible"/>
                                      </p:to>
                                    </p:set>
                                    <p:animEffect transition="in" filter="fade">
                                      <p:cBhvr>
                                        <p:cTn id="28" dur="550"/>
                                        <p:tgtEl>
                                          <p:spTgt spid="12"/>
                                        </p:tgtEl>
                                      </p:cBhvr>
                                    </p:animEffect>
                                    <p:anim calcmode="lin" valueType="num">
                                      <p:cBhvr additive="base">
                                        <p:cTn id="29" dur="550" fill="hold"/>
                                        <p:tgtEl>
                                          <p:spTgt spid="12"/>
                                        </p:tgtEl>
                                        <p:attrNameLst>
                                          <p:attrName>ppt_x</p:attrName>
                                        </p:attrNameLst>
                                      </p:cBhvr>
                                      <p:tavLst>
                                        <p:tav tm="0">
                                          <p:val>
                                            <p:strVal val="#ppt_x"/>
                                          </p:val>
                                        </p:tav>
                                        <p:tav tm="100000">
                                          <p:val>
                                            <p:strVal val="#ppt_x"/>
                                          </p:val>
                                        </p:tav>
                                      </p:tavLst>
                                    </p:anim>
                                    <p:anim calcmode="lin" valueType="num">
                                      <p:cBhvr additive="base">
                                        <p:cTn id="30" dur="550" fill="hold"/>
                                        <p:tgtEl>
                                          <p:spTgt spid="12"/>
                                        </p:tgtEl>
                                        <p:attrNameLst>
                                          <p:attrName>ppt_y</p:attrName>
                                        </p:attrNameLst>
                                      </p:cBhvr>
                                      <p:tavLst>
                                        <p:tav tm="0">
                                          <p:val>
                                            <p:strVal val="#ppt_y+.08"/>
                                          </p:val>
                                        </p:tav>
                                        <p:tav tm="100000">
                                          <p:val>
                                            <p:strVal val="#ppt_y"/>
                                          </p:val>
                                        </p:tav>
                                      </p:tavLst>
                                    </p:anim>
                                  </p:childTnLst>
                                </p:cTn>
                              </p:par>
                            </p:childTnLst>
                          </p:cTn>
                        </p:par>
                        <p:par>
                          <p:cTn id="31" fill="hold">
                            <p:stCondLst>
                              <p:cond delay="440"/>
                            </p:stCondLst>
                            <p:childTnLst>
                              <p:par>
                                <p:cTn id="32" presetID="42" presetClass="entr" presetSubtype="0" fill="hold" grpId="0" nodeType="afterEffect">
                                  <p:stCondLst>
                                    <p:cond delay="0"/>
                                  </p:stCondLst>
                                  <p:childTnLst>
                                    <p:set>
                                      <p:cBhvr>
                                        <p:cTn id="33" dur="1" fill="hold">
                                          <p:stCondLst>
                                            <p:cond delay="0"/>
                                          </p:stCondLst>
                                        </p:cTn>
                                        <p:tgtEl>
                                          <p:spTgt spid="13"/>
                                        </p:tgtEl>
                                        <p:attrNameLst>
                                          <p:attrName>style.visibility</p:attrName>
                                        </p:attrNameLst>
                                      </p:cBhvr>
                                      <p:to>
                                        <p:strVal val="visible"/>
                                      </p:to>
                                    </p:set>
                                    <p:animEffect transition="in" filter="fade">
                                      <p:cBhvr>
                                        <p:cTn id="34" dur="550"/>
                                        <p:tgtEl>
                                          <p:spTgt spid="13"/>
                                        </p:tgtEl>
                                      </p:cBhvr>
                                    </p:animEffect>
                                    <p:anim calcmode="lin" valueType="num">
                                      <p:cBhvr additive="base">
                                        <p:cTn id="35" dur="550" fill="hold"/>
                                        <p:tgtEl>
                                          <p:spTgt spid="13"/>
                                        </p:tgtEl>
                                        <p:attrNameLst>
                                          <p:attrName>ppt_x</p:attrName>
                                        </p:attrNameLst>
                                      </p:cBhvr>
                                      <p:tavLst>
                                        <p:tav tm="0">
                                          <p:val>
                                            <p:strVal val="#ppt_x"/>
                                          </p:val>
                                        </p:tav>
                                        <p:tav tm="100000">
                                          <p:val>
                                            <p:strVal val="#ppt_x"/>
                                          </p:val>
                                        </p:tav>
                                      </p:tavLst>
                                    </p:anim>
                                    <p:anim calcmode="lin" valueType="num">
                                      <p:cBhvr additive="base">
                                        <p:cTn id="36" dur="550" fill="hold"/>
                                        <p:tgtEl>
                                          <p:spTgt spid="13"/>
                                        </p:tgtEl>
                                        <p:attrNameLst>
                                          <p:attrName>ppt_y</p:attrName>
                                        </p:attrNameLst>
                                      </p:cBhvr>
                                      <p:tavLst>
                                        <p:tav tm="0">
                                          <p:val>
                                            <p:strVal val="#ppt_y+.08"/>
                                          </p:val>
                                        </p:tav>
                                        <p:tav tm="100000">
                                          <p:val>
                                            <p:strVal val="#ppt_y"/>
                                          </p:val>
                                        </p:tav>
                                      </p:tavLst>
                                    </p:anim>
                                  </p:childTnLst>
                                </p:cTn>
                              </p:par>
                            </p:childTnLst>
                          </p:cTn>
                        </p:par>
                        <p:par>
                          <p:cTn id="37" fill="hold">
                            <p:stCondLst>
                              <p:cond delay="440"/>
                            </p:stCondLst>
                            <p:childTnLst>
                              <p:par>
                                <p:cTn id="38" presetID="42" presetClass="entr" presetSubtype="0" fill="hold" grpId="0" nodeType="afterEffect">
                                  <p:stCondLst>
                                    <p:cond delay="0"/>
                                  </p:stCondLst>
                                  <p:childTnLst>
                                    <p:set>
                                      <p:cBhvr>
                                        <p:cTn id="39" dur="1" fill="hold">
                                          <p:stCondLst>
                                            <p:cond delay="0"/>
                                          </p:stCondLst>
                                        </p:cTn>
                                        <p:tgtEl>
                                          <p:spTgt spid="14"/>
                                        </p:tgtEl>
                                        <p:attrNameLst>
                                          <p:attrName>style.visibility</p:attrName>
                                        </p:attrNameLst>
                                      </p:cBhvr>
                                      <p:to>
                                        <p:strVal val="visible"/>
                                      </p:to>
                                    </p:set>
                                    <p:animEffect transition="in" filter="fade">
                                      <p:cBhvr>
                                        <p:cTn id="40" dur="550"/>
                                        <p:tgtEl>
                                          <p:spTgt spid="14"/>
                                        </p:tgtEl>
                                      </p:cBhvr>
                                    </p:animEffect>
                                    <p:anim calcmode="lin" valueType="num">
                                      <p:cBhvr additive="base">
                                        <p:cTn id="41" dur="550" fill="hold"/>
                                        <p:tgtEl>
                                          <p:spTgt spid="14"/>
                                        </p:tgtEl>
                                        <p:attrNameLst>
                                          <p:attrName>ppt_x</p:attrName>
                                        </p:attrNameLst>
                                      </p:cBhvr>
                                      <p:tavLst>
                                        <p:tav tm="0">
                                          <p:val>
                                            <p:strVal val="#ppt_x"/>
                                          </p:val>
                                        </p:tav>
                                        <p:tav tm="100000">
                                          <p:val>
                                            <p:strVal val="#ppt_x"/>
                                          </p:val>
                                        </p:tav>
                                      </p:tavLst>
                                    </p:anim>
                                    <p:anim calcmode="lin" valueType="num">
                                      <p:cBhvr additive="base">
                                        <p:cTn id="42" dur="550" fill="hold"/>
                                        <p:tgtEl>
                                          <p:spTgt spid="14"/>
                                        </p:tgtEl>
                                        <p:attrNameLst>
                                          <p:attrName>ppt_y</p:attrName>
                                        </p:attrNameLst>
                                      </p:cBhvr>
                                      <p:tavLst>
                                        <p:tav tm="0">
                                          <p:val>
                                            <p:strVal val="#ppt_y+.08"/>
                                          </p:val>
                                        </p:tav>
                                        <p:tav tm="100000">
                                          <p:val>
                                            <p:strVal val="#ppt_y"/>
                                          </p:val>
                                        </p:tav>
                                      </p:tavLst>
                                    </p:anim>
                                  </p:childTnLst>
                                </p:cTn>
                              </p:par>
                            </p:childTnLst>
                          </p:cTn>
                        </p:par>
                        <p:par>
                          <p:cTn id="43" fill="hold">
                            <p:stCondLst>
                              <p:cond delay="440"/>
                            </p:stCondLst>
                            <p:childTnLst>
                              <p:par>
                                <p:cTn id="44" presetID="53" presetClass="entr" presetSubtype="16" fill="hold" grpId="0" nodeType="afterEffect">
                                  <p:stCondLst>
                                    <p:cond delay="0"/>
                                  </p:stCondLst>
                                  <p:childTnLst>
                                    <p:set>
                                      <p:cBhvr>
                                        <p:cTn id="45" dur="1" fill="hold">
                                          <p:stCondLst>
                                            <p:cond delay="0"/>
                                          </p:stCondLst>
                                        </p:cTn>
                                        <p:tgtEl>
                                          <p:spTgt spid="15"/>
                                        </p:tgtEl>
                                        <p:attrNameLst>
                                          <p:attrName>style.visibility</p:attrName>
                                        </p:attrNameLst>
                                      </p:cBhvr>
                                      <p:to>
                                        <p:strVal val="visible"/>
                                      </p:to>
                                    </p:set>
                                    <p:animEffect transition="in" filter="fade">
                                      <p:cBhvr>
                                        <p:cTn id="46" dur="550"/>
                                        <p:tgtEl>
                                          <p:spTgt spid="15"/>
                                        </p:tgtEl>
                                      </p:cBhvr>
                                    </p:animEffect>
                                    <p:anim calcmode="lin" valueType="num">
                                      <p:cBhvr additive="base">
                                        <p:cTn id="47" dur="550" fill="hold"/>
                                        <p:tgtEl>
                                          <p:spTgt spid="15"/>
                                        </p:tgtEl>
                                        <p:attrNameLst>
                                          <p:attrName>ppt_w</p:attrName>
                                        </p:attrNameLst>
                                      </p:cBhvr>
                                      <p:tavLst>
                                        <p:tav tm="0">
                                          <p:val>
                                            <p:strVal val="0"/>
                                          </p:val>
                                        </p:tav>
                                        <p:tav tm="100000">
                                          <p:val>
                                            <p:strVal val="#ppt_w"/>
                                          </p:val>
                                        </p:tav>
                                      </p:tavLst>
                                    </p:anim>
                                    <p:anim calcmode="lin" valueType="num">
                                      <p:cBhvr additive="base">
                                        <p:cTn id="48" dur="550" fill="hold"/>
                                        <p:tgtEl>
                                          <p:spTgt spid="15"/>
                                        </p:tgtEl>
                                        <p:attrNameLst>
                                          <p:attrName>ppt_h</p:attrName>
                                        </p:attrNameLst>
                                      </p:cBhvr>
                                      <p:tavLst>
                                        <p:tav tm="0">
                                          <p:val>
                                            <p:strVal val="0"/>
                                          </p:val>
                                        </p:tav>
                                        <p:tav tm="100000">
                                          <p:val>
                                            <p:strVal val="#ppt_h"/>
                                          </p:val>
                                        </p:tav>
                                      </p:tavLst>
                                    </p:anim>
                                  </p:childTnLst>
                                </p:cTn>
                              </p:par>
                            </p:childTnLst>
                          </p:cTn>
                        </p:par>
                        <p:par>
                          <p:cTn id="49" fill="hold">
                            <p:stCondLst>
                              <p:cond delay="440"/>
                            </p:stCondLst>
                            <p:childTnLst>
                              <p:par>
                                <p:cTn id="50" presetID="42" presetClass="entr" presetSubtype="0" fill="hold" grpId="0" nodeType="afterEffect">
                                  <p:stCondLst>
                                    <p:cond delay="0"/>
                                  </p:stCondLst>
                                  <p:childTnLst>
                                    <p:set>
                                      <p:cBhvr>
                                        <p:cTn id="51" dur="1" fill="hold">
                                          <p:stCondLst>
                                            <p:cond delay="0"/>
                                          </p:stCondLst>
                                        </p:cTn>
                                        <p:tgtEl>
                                          <p:spTgt spid="16"/>
                                        </p:tgtEl>
                                        <p:attrNameLst>
                                          <p:attrName>style.visibility</p:attrName>
                                        </p:attrNameLst>
                                      </p:cBhvr>
                                      <p:to>
                                        <p:strVal val="visible"/>
                                      </p:to>
                                    </p:set>
                                    <p:animEffect transition="in" filter="fade">
                                      <p:cBhvr>
                                        <p:cTn id="52" dur="550"/>
                                        <p:tgtEl>
                                          <p:spTgt spid="16"/>
                                        </p:tgtEl>
                                      </p:cBhvr>
                                    </p:animEffect>
                                    <p:anim calcmode="lin" valueType="num">
                                      <p:cBhvr additive="base">
                                        <p:cTn id="53" dur="550" fill="hold"/>
                                        <p:tgtEl>
                                          <p:spTgt spid="16"/>
                                        </p:tgtEl>
                                        <p:attrNameLst>
                                          <p:attrName>ppt_x</p:attrName>
                                        </p:attrNameLst>
                                      </p:cBhvr>
                                      <p:tavLst>
                                        <p:tav tm="0">
                                          <p:val>
                                            <p:strVal val="#ppt_x"/>
                                          </p:val>
                                        </p:tav>
                                        <p:tav tm="100000">
                                          <p:val>
                                            <p:strVal val="#ppt_x"/>
                                          </p:val>
                                        </p:tav>
                                      </p:tavLst>
                                    </p:anim>
                                    <p:anim calcmode="lin" valueType="num">
                                      <p:cBhvr additive="base">
                                        <p:cTn id="54" dur="550" fill="hold"/>
                                        <p:tgtEl>
                                          <p:spTgt spid="16"/>
                                        </p:tgtEl>
                                        <p:attrNameLst>
                                          <p:attrName>ppt_y</p:attrName>
                                        </p:attrNameLst>
                                      </p:cBhvr>
                                      <p:tavLst>
                                        <p:tav tm="0">
                                          <p:val>
                                            <p:strVal val="#ppt_y+.08"/>
                                          </p:val>
                                        </p:tav>
                                        <p:tav tm="100000">
                                          <p:val>
                                            <p:strVal val="#ppt_y"/>
                                          </p:val>
                                        </p:tav>
                                      </p:tavLst>
                                    </p:anim>
                                  </p:childTnLst>
                                </p:cTn>
                              </p:par>
                            </p:childTnLst>
                          </p:cTn>
                        </p:par>
                        <p:par>
                          <p:cTn id="55" fill="hold">
                            <p:stCondLst>
                              <p:cond delay="660"/>
                            </p:stCondLst>
                            <p:childTnLst>
                              <p:par>
                                <p:cTn id="56" presetID="42" presetClass="entr" presetSubtype="0" fill="hold" grpId="0" nodeType="afterEffect">
                                  <p:stCondLst>
                                    <p:cond delay="0"/>
                                  </p:stCondLst>
                                  <p:childTnLst>
                                    <p:set>
                                      <p:cBhvr>
                                        <p:cTn id="57" dur="1" fill="hold">
                                          <p:stCondLst>
                                            <p:cond delay="0"/>
                                          </p:stCondLst>
                                        </p:cTn>
                                        <p:tgtEl>
                                          <p:spTgt spid="17"/>
                                        </p:tgtEl>
                                        <p:attrNameLst>
                                          <p:attrName>style.visibility</p:attrName>
                                        </p:attrNameLst>
                                      </p:cBhvr>
                                      <p:to>
                                        <p:strVal val="visible"/>
                                      </p:to>
                                    </p:set>
                                    <p:animEffect transition="in" filter="fade">
                                      <p:cBhvr>
                                        <p:cTn id="58" dur="550"/>
                                        <p:tgtEl>
                                          <p:spTgt spid="17"/>
                                        </p:tgtEl>
                                      </p:cBhvr>
                                    </p:animEffect>
                                    <p:anim calcmode="lin" valueType="num">
                                      <p:cBhvr additive="base">
                                        <p:cTn id="59" dur="550" fill="hold"/>
                                        <p:tgtEl>
                                          <p:spTgt spid="17"/>
                                        </p:tgtEl>
                                        <p:attrNameLst>
                                          <p:attrName>ppt_x</p:attrName>
                                        </p:attrNameLst>
                                      </p:cBhvr>
                                      <p:tavLst>
                                        <p:tav tm="0">
                                          <p:val>
                                            <p:strVal val="#ppt_x"/>
                                          </p:val>
                                        </p:tav>
                                        <p:tav tm="100000">
                                          <p:val>
                                            <p:strVal val="#ppt_x"/>
                                          </p:val>
                                        </p:tav>
                                      </p:tavLst>
                                    </p:anim>
                                    <p:anim calcmode="lin" valueType="num">
                                      <p:cBhvr additive="base">
                                        <p:cTn id="60" dur="550" fill="hold"/>
                                        <p:tgtEl>
                                          <p:spTgt spid="17"/>
                                        </p:tgtEl>
                                        <p:attrNameLst>
                                          <p:attrName>ppt_y</p:attrName>
                                        </p:attrNameLst>
                                      </p:cBhvr>
                                      <p:tavLst>
                                        <p:tav tm="0">
                                          <p:val>
                                            <p:strVal val="#ppt_y+.08"/>
                                          </p:val>
                                        </p:tav>
                                        <p:tav tm="100000">
                                          <p:val>
                                            <p:strVal val="#ppt_y"/>
                                          </p:val>
                                        </p:tav>
                                      </p:tavLst>
                                    </p:anim>
                                  </p:childTnLst>
                                </p:cTn>
                              </p:par>
                            </p:childTnLst>
                          </p:cTn>
                        </p:par>
                        <p:par>
                          <p:cTn id="61" fill="hold">
                            <p:stCondLst>
                              <p:cond delay="660"/>
                            </p:stCondLst>
                            <p:childTnLst>
                              <p:par>
                                <p:cTn id="62" presetID="42" presetClass="entr" presetSubtype="0" fill="hold" grpId="0" nodeType="afterEffect">
                                  <p:stCondLst>
                                    <p:cond delay="0"/>
                                  </p:stCondLst>
                                  <p:childTnLst>
                                    <p:set>
                                      <p:cBhvr>
                                        <p:cTn id="63" dur="1" fill="hold">
                                          <p:stCondLst>
                                            <p:cond delay="0"/>
                                          </p:stCondLst>
                                        </p:cTn>
                                        <p:tgtEl>
                                          <p:spTgt spid="18"/>
                                        </p:tgtEl>
                                        <p:attrNameLst>
                                          <p:attrName>style.visibility</p:attrName>
                                        </p:attrNameLst>
                                      </p:cBhvr>
                                      <p:to>
                                        <p:strVal val="visible"/>
                                      </p:to>
                                    </p:set>
                                    <p:animEffect transition="in" filter="fade">
                                      <p:cBhvr>
                                        <p:cTn id="64" dur="550"/>
                                        <p:tgtEl>
                                          <p:spTgt spid="18"/>
                                        </p:tgtEl>
                                      </p:cBhvr>
                                    </p:animEffect>
                                    <p:anim calcmode="lin" valueType="num">
                                      <p:cBhvr additive="base">
                                        <p:cTn id="65" dur="550" fill="hold"/>
                                        <p:tgtEl>
                                          <p:spTgt spid="18"/>
                                        </p:tgtEl>
                                        <p:attrNameLst>
                                          <p:attrName>ppt_x</p:attrName>
                                        </p:attrNameLst>
                                      </p:cBhvr>
                                      <p:tavLst>
                                        <p:tav tm="0">
                                          <p:val>
                                            <p:strVal val="#ppt_x"/>
                                          </p:val>
                                        </p:tav>
                                        <p:tav tm="100000">
                                          <p:val>
                                            <p:strVal val="#ppt_x"/>
                                          </p:val>
                                        </p:tav>
                                      </p:tavLst>
                                    </p:anim>
                                    <p:anim calcmode="lin" valueType="num">
                                      <p:cBhvr additive="base">
                                        <p:cTn id="66" dur="550" fill="hold"/>
                                        <p:tgtEl>
                                          <p:spTgt spid="18"/>
                                        </p:tgtEl>
                                        <p:attrNameLst>
                                          <p:attrName>ppt_y</p:attrName>
                                        </p:attrNameLst>
                                      </p:cBhvr>
                                      <p:tavLst>
                                        <p:tav tm="0">
                                          <p:val>
                                            <p:strVal val="#ppt_y+.08"/>
                                          </p:val>
                                        </p:tav>
                                        <p:tav tm="100000">
                                          <p:val>
                                            <p:strVal val="#ppt_y"/>
                                          </p:val>
                                        </p:tav>
                                      </p:tavLst>
                                    </p:anim>
                                  </p:childTnLst>
                                </p:cTn>
                              </p:par>
                            </p:childTnLst>
                          </p:cTn>
                        </p:par>
                        <p:par>
                          <p:cTn id="67" fill="hold">
                            <p:stCondLst>
                              <p:cond delay="660"/>
                            </p:stCondLst>
                            <p:childTnLst>
                              <p:par>
                                <p:cTn id="68" presetID="53" presetClass="entr" presetSubtype="16" fill="hold" grpId="0" nodeType="afterEffect">
                                  <p:stCondLst>
                                    <p:cond delay="0"/>
                                  </p:stCondLst>
                                  <p:childTnLst>
                                    <p:set>
                                      <p:cBhvr>
                                        <p:cTn id="69" dur="1" fill="hold">
                                          <p:stCondLst>
                                            <p:cond delay="0"/>
                                          </p:stCondLst>
                                        </p:cTn>
                                        <p:tgtEl>
                                          <p:spTgt spid="19"/>
                                        </p:tgtEl>
                                        <p:attrNameLst>
                                          <p:attrName>style.visibility</p:attrName>
                                        </p:attrNameLst>
                                      </p:cBhvr>
                                      <p:to>
                                        <p:strVal val="visible"/>
                                      </p:to>
                                    </p:set>
                                    <p:animEffect transition="in" filter="fade">
                                      <p:cBhvr>
                                        <p:cTn id="70" dur="550"/>
                                        <p:tgtEl>
                                          <p:spTgt spid="19"/>
                                        </p:tgtEl>
                                      </p:cBhvr>
                                    </p:animEffect>
                                    <p:anim calcmode="lin" valueType="num">
                                      <p:cBhvr additive="base">
                                        <p:cTn id="71" dur="550" fill="hold"/>
                                        <p:tgtEl>
                                          <p:spTgt spid="19"/>
                                        </p:tgtEl>
                                        <p:attrNameLst>
                                          <p:attrName>ppt_w</p:attrName>
                                        </p:attrNameLst>
                                      </p:cBhvr>
                                      <p:tavLst>
                                        <p:tav tm="0">
                                          <p:val>
                                            <p:strVal val="0"/>
                                          </p:val>
                                        </p:tav>
                                        <p:tav tm="100000">
                                          <p:val>
                                            <p:strVal val="#ppt_w"/>
                                          </p:val>
                                        </p:tav>
                                      </p:tavLst>
                                    </p:anim>
                                    <p:anim calcmode="lin" valueType="num">
                                      <p:cBhvr additive="base">
                                        <p:cTn id="72" dur="550" fill="hold"/>
                                        <p:tgtEl>
                                          <p:spTgt spid="19"/>
                                        </p:tgtEl>
                                        <p:attrNameLst>
                                          <p:attrName>ppt_h</p:attrName>
                                        </p:attrNameLst>
                                      </p:cBhvr>
                                      <p:tavLst>
                                        <p:tav tm="0">
                                          <p:val>
                                            <p:strVal val="0"/>
                                          </p:val>
                                        </p:tav>
                                        <p:tav tm="100000">
                                          <p:val>
                                            <p:strVal val="#ppt_h"/>
                                          </p:val>
                                        </p:tav>
                                      </p:tavLst>
                                    </p:anim>
                                  </p:childTnLst>
                                </p:cTn>
                              </p:par>
                            </p:childTnLst>
                          </p:cTn>
                        </p:par>
                        <p:par>
                          <p:cTn id="73" fill="hold">
                            <p:stCondLst>
                              <p:cond delay="660"/>
                            </p:stCondLst>
                            <p:childTnLst>
                              <p:par>
                                <p:cTn id="74" presetID="42" presetClass="entr" presetSubtype="0" fill="hold" grpId="0" nodeType="afterEffect">
                                  <p:stCondLst>
                                    <p:cond delay="0"/>
                                  </p:stCondLst>
                                  <p:childTnLst>
                                    <p:set>
                                      <p:cBhvr>
                                        <p:cTn id="75" dur="1" fill="hold">
                                          <p:stCondLst>
                                            <p:cond delay="0"/>
                                          </p:stCondLst>
                                        </p:cTn>
                                        <p:tgtEl>
                                          <p:spTgt spid="20"/>
                                        </p:tgtEl>
                                        <p:attrNameLst>
                                          <p:attrName>style.visibility</p:attrName>
                                        </p:attrNameLst>
                                      </p:cBhvr>
                                      <p:to>
                                        <p:strVal val="visible"/>
                                      </p:to>
                                    </p:set>
                                    <p:animEffect transition="in" filter="fade">
                                      <p:cBhvr>
                                        <p:cTn id="76" dur="550"/>
                                        <p:tgtEl>
                                          <p:spTgt spid="20"/>
                                        </p:tgtEl>
                                      </p:cBhvr>
                                    </p:animEffect>
                                    <p:anim calcmode="lin" valueType="num">
                                      <p:cBhvr additive="base">
                                        <p:cTn id="77" dur="550" fill="hold"/>
                                        <p:tgtEl>
                                          <p:spTgt spid="20"/>
                                        </p:tgtEl>
                                        <p:attrNameLst>
                                          <p:attrName>ppt_x</p:attrName>
                                        </p:attrNameLst>
                                      </p:cBhvr>
                                      <p:tavLst>
                                        <p:tav tm="0">
                                          <p:val>
                                            <p:strVal val="#ppt_x"/>
                                          </p:val>
                                        </p:tav>
                                        <p:tav tm="100000">
                                          <p:val>
                                            <p:strVal val="#ppt_x"/>
                                          </p:val>
                                        </p:tav>
                                      </p:tavLst>
                                    </p:anim>
                                    <p:anim calcmode="lin" valueType="num">
                                      <p:cBhvr additive="base">
                                        <p:cTn id="78" dur="550" fill="hold"/>
                                        <p:tgtEl>
                                          <p:spTgt spid="20"/>
                                        </p:tgtEl>
                                        <p:attrNameLst>
                                          <p:attrName>ppt_y</p:attrName>
                                        </p:attrNameLst>
                                      </p:cBhvr>
                                      <p:tavLst>
                                        <p:tav tm="0">
                                          <p:val>
                                            <p:strVal val="#ppt_y+.08"/>
                                          </p:val>
                                        </p:tav>
                                        <p:tav tm="100000">
                                          <p:val>
                                            <p:strVal val="#ppt_y"/>
                                          </p:val>
                                        </p:tav>
                                      </p:tavLst>
                                    </p:anim>
                                  </p:childTnLst>
                                </p:cTn>
                              </p:par>
                            </p:childTnLst>
                          </p:cTn>
                        </p:par>
                        <p:par>
                          <p:cTn id="79" fill="hold">
                            <p:stCondLst>
                              <p:cond delay="880"/>
                            </p:stCondLst>
                            <p:childTnLst>
                              <p:par>
                                <p:cTn id="80" presetID="42" presetClass="entr" presetSubtype="0" fill="hold" grpId="0" nodeType="afterEffect">
                                  <p:stCondLst>
                                    <p:cond delay="0"/>
                                  </p:stCondLst>
                                  <p:childTnLst>
                                    <p:set>
                                      <p:cBhvr>
                                        <p:cTn id="81" dur="1" fill="hold">
                                          <p:stCondLst>
                                            <p:cond delay="0"/>
                                          </p:stCondLst>
                                        </p:cTn>
                                        <p:tgtEl>
                                          <p:spTgt spid="21"/>
                                        </p:tgtEl>
                                        <p:attrNameLst>
                                          <p:attrName>style.visibility</p:attrName>
                                        </p:attrNameLst>
                                      </p:cBhvr>
                                      <p:to>
                                        <p:strVal val="visible"/>
                                      </p:to>
                                    </p:set>
                                    <p:animEffect transition="in" filter="fade">
                                      <p:cBhvr>
                                        <p:cTn id="82" dur="550"/>
                                        <p:tgtEl>
                                          <p:spTgt spid="21"/>
                                        </p:tgtEl>
                                      </p:cBhvr>
                                    </p:animEffect>
                                    <p:anim calcmode="lin" valueType="num">
                                      <p:cBhvr additive="base">
                                        <p:cTn id="83" dur="550" fill="hold"/>
                                        <p:tgtEl>
                                          <p:spTgt spid="21"/>
                                        </p:tgtEl>
                                        <p:attrNameLst>
                                          <p:attrName>ppt_x</p:attrName>
                                        </p:attrNameLst>
                                      </p:cBhvr>
                                      <p:tavLst>
                                        <p:tav tm="0">
                                          <p:val>
                                            <p:strVal val="#ppt_x"/>
                                          </p:val>
                                        </p:tav>
                                        <p:tav tm="100000">
                                          <p:val>
                                            <p:strVal val="#ppt_x"/>
                                          </p:val>
                                        </p:tav>
                                      </p:tavLst>
                                    </p:anim>
                                    <p:anim calcmode="lin" valueType="num">
                                      <p:cBhvr additive="base">
                                        <p:cTn id="84" dur="550" fill="hold"/>
                                        <p:tgtEl>
                                          <p:spTgt spid="21"/>
                                        </p:tgtEl>
                                        <p:attrNameLst>
                                          <p:attrName>ppt_y</p:attrName>
                                        </p:attrNameLst>
                                      </p:cBhvr>
                                      <p:tavLst>
                                        <p:tav tm="0">
                                          <p:val>
                                            <p:strVal val="#ppt_y+.08"/>
                                          </p:val>
                                        </p:tav>
                                        <p:tav tm="100000">
                                          <p:val>
                                            <p:strVal val="#ppt_y"/>
                                          </p:val>
                                        </p:tav>
                                      </p:tavLst>
                                    </p:anim>
                                  </p:childTnLst>
                                </p:cTn>
                              </p:par>
                            </p:childTnLst>
                          </p:cTn>
                        </p:par>
                        <p:par>
                          <p:cTn id="85" fill="hold">
                            <p:stCondLst>
                              <p:cond delay="880"/>
                            </p:stCondLst>
                            <p:childTnLst>
                              <p:par>
                                <p:cTn id="86" presetID="42" presetClass="entr" presetSubtype="0" fill="hold" grpId="0" nodeType="afterEffect">
                                  <p:stCondLst>
                                    <p:cond delay="0"/>
                                  </p:stCondLst>
                                  <p:childTnLst>
                                    <p:set>
                                      <p:cBhvr>
                                        <p:cTn id="87" dur="1" fill="hold">
                                          <p:stCondLst>
                                            <p:cond delay="0"/>
                                          </p:stCondLst>
                                        </p:cTn>
                                        <p:tgtEl>
                                          <p:spTgt spid="22"/>
                                        </p:tgtEl>
                                        <p:attrNameLst>
                                          <p:attrName>style.visibility</p:attrName>
                                        </p:attrNameLst>
                                      </p:cBhvr>
                                      <p:to>
                                        <p:strVal val="visible"/>
                                      </p:to>
                                    </p:set>
                                    <p:animEffect transition="in" filter="fade">
                                      <p:cBhvr>
                                        <p:cTn id="88" dur="550"/>
                                        <p:tgtEl>
                                          <p:spTgt spid="22"/>
                                        </p:tgtEl>
                                      </p:cBhvr>
                                    </p:animEffect>
                                    <p:anim calcmode="lin" valueType="num">
                                      <p:cBhvr additive="base">
                                        <p:cTn id="89" dur="550" fill="hold"/>
                                        <p:tgtEl>
                                          <p:spTgt spid="22"/>
                                        </p:tgtEl>
                                        <p:attrNameLst>
                                          <p:attrName>ppt_x</p:attrName>
                                        </p:attrNameLst>
                                      </p:cBhvr>
                                      <p:tavLst>
                                        <p:tav tm="0">
                                          <p:val>
                                            <p:strVal val="#ppt_x"/>
                                          </p:val>
                                        </p:tav>
                                        <p:tav tm="100000">
                                          <p:val>
                                            <p:strVal val="#ppt_x"/>
                                          </p:val>
                                        </p:tav>
                                      </p:tavLst>
                                    </p:anim>
                                    <p:anim calcmode="lin" valueType="num">
                                      <p:cBhvr additive="base">
                                        <p:cTn id="90" dur="550" fill="hold"/>
                                        <p:tgtEl>
                                          <p:spTgt spid="22"/>
                                        </p:tgtEl>
                                        <p:attrNameLst>
                                          <p:attrName>ppt_y</p:attrName>
                                        </p:attrNameLst>
                                      </p:cBhvr>
                                      <p:tavLst>
                                        <p:tav tm="0">
                                          <p:val>
                                            <p:strVal val="#ppt_y+.08"/>
                                          </p:val>
                                        </p:tav>
                                        <p:tav tm="100000">
                                          <p:val>
                                            <p:strVal val="#ppt_y"/>
                                          </p:val>
                                        </p:tav>
                                      </p:tavLst>
                                    </p:anim>
                                  </p:childTnLst>
                                </p:cTn>
                              </p:par>
                            </p:childTnLst>
                          </p:cTn>
                        </p:par>
                        <p:par>
                          <p:cTn id="91" fill="hold">
                            <p:stCondLst>
                              <p:cond delay="880"/>
                            </p:stCondLst>
                            <p:childTnLst>
                              <p:par>
                                <p:cTn id="92" presetID="53" presetClass="entr" presetSubtype="16" fill="hold" grpId="0" nodeType="afterEffect">
                                  <p:stCondLst>
                                    <p:cond delay="0"/>
                                  </p:stCondLst>
                                  <p:childTnLst>
                                    <p:set>
                                      <p:cBhvr>
                                        <p:cTn id="93" dur="1" fill="hold">
                                          <p:stCondLst>
                                            <p:cond delay="0"/>
                                          </p:stCondLst>
                                        </p:cTn>
                                        <p:tgtEl>
                                          <p:spTgt spid="23"/>
                                        </p:tgtEl>
                                        <p:attrNameLst>
                                          <p:attrName>style.visibility</p:attrName>
                                        </p:attrNameLst>
                                      </p:cBhvr>
                                      <p:to>
                                        <p:strVal val="visible"/>
                                      </p:to>
                                    </p:set>
                                    <p:animEffect transition="in" filter="fade">
                                      <p:cBhvr>
                                        <p:cTn id="94" dur="550"/>
                                        <p:tgtEl>
                                          <p:spTgt spid="23"/>
                                        </p:tgtEl>
                                      </p:cBhvr>
                                    </p:animEffect>
                                    <p:anim calcmode="lin" valueType="num">
                                      <p:cBhvr additive="base">
                                        <p:cTn id="95" dur="550" fill="hold"/>
                                        <p:tgtEl>
                                          <p:spTgt spid="23"/>
                                        </p:tgtEl>
                                        <p:attrNameLst>
                                          <p:attrName>ppt_w</p:attrName>
                                        </p:attrNameLst>
                                      </p:cBhvr>
                                      <p:tavLst>
                                        <p:tav tm="0">
                                          <p:val>
                                            <p:strVal val="0"/>
                                          </p:val>
                                        </p:tav>
                                        <p:tav tm="100000">
                                          <p:val>
                                            <p:strVal val="#ppt_w"/>
                                          </p:val>
                                        </p:tav>
                                      </p:tavLst>
                                    </p:anim>
                                    <p:anim calcmode="lin" valueType="num">
                                      <p:cBhvr additive="base">
                                        <p:cTn id="96" dur="550" fill="hold"/>
                                        <p:tgtEl>
                                          <p:spTgt spid="23"/>
                                        </p:tgtEl>
                                        <p:attrNameLst>
                                          <p:attrName>ppt_h</p:attrName>
                                        </p:attrNameLst>
                                      </p:cBhvr>
                                      <p:tavLst>
                                        <p:tav tm="0">
                                          <p:val>
                                            <p:strVal val="0"/>
                                          </p:val>
                                        </p:tav>
                                        <p:tav tm="100000">
                                          <p:val>
                                            <p:strVal val="#ppt_h"/>
                                          </p:val>
                                        </p:tav>
                                      </p:tavLst>
                                    </p:anim>
                                  </p:childTnLst>
                                </p:cTn>
                              </p:par>
                            </p:childTnLst>
                          </p:cTn>
                        </p:par>
                        <p:par>
                          <p:cTn id="97" fill="hold">
                            <p:stCondLst>
                              <p:cond delay="880"/>
                            </p:stCondLst>
                            <p:childTnLst>
                              <p:par>
                                <p:cTn id="98" presetID="42" presetClass="entr" presetSubtype="0" fill="hold" grpId="0" nodeType="afterEffect">
                                  <p:stCondLst>
                                    <p:cond delay="0"/>
                                  </p:stCondLst>
                                  <p:childTnLst>
                                    <p:set>
                                      <p:cBhvr>
                                        <p:cTn id="99" dur="1" fill="hold">
                                          <p:stCondLst>
                                            <p:cond delay="0"/>
                                          </p:stCondLst>
                                        </p:cTn>
                                        <p:tgtEl>
                                          <p:spTgt spid="24"/>
                                        </p:tgtEl>
                                        <p:attrNameLst>
                                          <p:attrName>style.visibility</p:attrName>
                                        </p:attrNameLst>
                                      </p:cBhvr>
                                      <p:to>
                                        <p:strVal val="visible"/>
                                      </p:to>
                                    </p:set>
                                    <p:animEffect transition="in" filter="fade">
                                      <p:cBhvr>
                                        <p:cTn id="100" dur="550"/>
                                        <p:tgtEl>
                                          <p:spTgt spid="24"/>
                                        </p:tgtEl>
                                      </p:cBhvr>
                                    </p:animEffect>
                                    <p:anim calcmode="lin" valueType="num">
                                      <p:cBhvr additive="base">
                                        <p:cTn id="101" dur="550" fill="hold"/>
                                        <p:tgtEl>
                                          <p:spTgt spid="24"/>
                                        </p:tgtEl>
                                        <p:attrNameLst>
                                          <p:attrName>ppt_x</p:attrName>
                                        </p:attrNameLst>
                                      </p:cBhvr>
                                      <p:tavLst>
                                        <p:tav tm="0">
                                          <p:val>
                                            <p:strVal val="#ppt_x"/>
                                          </p:val>
                                        </p:tav>
                                        <p:tav tm="100000">
                                          <p:val>
                                            <p:strVal val="#ppt_x"/>
                                          </p:val>
                                        </p:tav>
                                      </p:tavLst>
                                    </p:anim>
                                    <p:anim calcmode="lin" valueType="num">
                                      <p:cBhvr additive="base">
                                        <p:cTn id="102" dur="550" fill="hold"/>
                                        <p:tgtEl>
                                          <p:spTgt spid="24"/>
                                        </p:tgtEl>
                                        <p:attrNameLst>
                                          <p:attrName>ppt_y</p:attrName>
                                        </p:attrNameLst>
                                      </p:cBhvr>
                                      <p:tavLst>
                                        <p:tav tm="0">
                                          <p:val>
                                            <p:strVal val="#ppt_y+.08"/>
                                          </p:val>
                                        </p:tav>
                                        <p:tav tm="100000">
                                          <p:val>
                                            <p:strVal val="#ppt_y"/>
                                          </p:val>
                                        </p:tav>
                                      </p:tavLst>
                                    </p:anim>
                                  </p:childTnLst>
                                </p:cTn>
                              </p:par>
                            </p:childTnLst>
                          </p:cTn>
                        </p:par>
                        <p:par>
                          <p:cTn id="103" fill="hold">
                            <p:stCondLst>
                              <p:cond delay="1100"/>
                            </p:stCondLst>
                            <p:childTnLst>
                              <p:par>
                                <p:cTn id="104" presetID="42" presetClass="entr" presetSubtype="0" fill="hold" grpId="0" nodeType="afterEffect">
                                  <p:stCondLst>
                                    <p:cond delay="0"/>
                                  </p:stCondLst>
                                  <p:childTnLst>
                                    <p:set>
                                      <p:cBhvr>
                                        <p:cTn id="105" dur="1" fill="hold">
                                          <p:stCondLst>
                                            <p:cond delay="0"/>
                                          </p:stCondLst>
                                        </p:cTn>
                                        <p:tgtEl>
                                          <p:spTgt spid="25"/>
                                        </p:tgtEl>
                                        <p:attrNameLst>
                                          <p:attrName>style.visibility</p:attrName>
                                        </p:attrNameLst>
                                      </p:cBhvr>
                                      <p:to>
                                        <p:strVal val="visible"/>
                                      </p:to>
                                    </p:set>
                                    <p:animEffect transition="in" filter="fade">
                                      <p:cBhvr>
                                        <p:cTn id="106" dur="550"/>
                                        <p:tgtEl>
                                          <p:spTgt spid="25"/>
                                        </p:tgtEl>
                                      </p:cBhvr>
                                    </p:animEffect>
                                    <p:anim calcmode="lin" valueType="num">
                                      <p:cBhvr additive="base">
                                        <p:cTn id="107" dur="550" fill="hold"/>
                                        <p:tgtEl>
                                          <p:spTgt spid="25"/>
                                        </p:tgtEl>
                                        <p:attrNameLst>
                                          <p:attrName>ppt_x</p:attrName>
                                        </p:attrNameLst>
                                      </p:cBhvr>
                                      <p:tavLst>
                                        <p:tav tm="0">
                                          <p:val>
                                            <p:strVal val="#ppt_x"/>
                                          </p:val>
                                        </p:tav>
                                        <p:tav tm="100000">
                                          <p:val>
                                            <p:strVal val="#ppt_x"/>
                                          </p:val>
                                        </p:tav>
                                      </p:tavLst>
                                    </p:anim>
                                    <p:anim calcmode="lin" valueType="num">
                                      <p:cBhvr additive="base">
                                        <p:cTn id="108" dur="550" fill="hold"/>
                                        <p:tgtEl>
                                          <p:spTgt spid="25"/>
                                        </p:tgtEl>
                                        <p:attrNameLst>
                                          <p:attrName>ppt_y</p:attrName>
                                        </p:attrNameLst>
                                      </p:cBhvr>
                                      <p:tavLst>
                                        <p:tav tm="0">
                                          <p:val>
                                            <p:strVal val="#ppt_y+.08"/>
                                          </p:val>
                                        </p:tav>
                                        <p:tav tm="100000">
                                          <p:val>
                                            <p:strVal val="#ppt_y"/>
                                          </p:val>
                                        </p:tav>
                                      </p:tavLst>
                                    </p:anim>
                                  </p:childTnLst>
                                </p:cTn>
                              </p:par>
                            </p:childTnLst>
                          </p:cTn>
                        </p:par>
                        <p:par>
                          <p:cTn id="109" fill="hold">
                            <p:stCondLst>
                              <p:cond delay="1100"/>
                            </p:stCondLst>
                            <p:childTnLst>
                              <p:par>
                                <p:cTn id="110" presetID="42" presetClass="entr" presetSubtype="0" fill="hold" grpId="0" nodeType="afterEffect">
                                  <p:stCondLst>
                                    <p:cond delay="0"/>
                                  </p:stCondLst>
                                  <p:childTnLst>
                                    <p:set>
                                      <p:cBhvr>
                                        <p:cTn id="111" dur="1" fill="hold">
                                          <p:stCondLst>
                                            <p:cond delay="0"/>
                                          </p:stCondLst>
                                        </p:cTn>
                                        <p:tgtEl>
                                          <p:spTgt spid="26"/>
                                        </p:tgtEl>
                                        <p:attrNameLst>
                                          <p:attrName>style.visibility</p:attrName>
                                        </p:attrNameLst>
                                      </p:cBhvr>
                                      <p:to>
                                        <p:strVal val="visible"/>
                                      </p:to>
                                    </p:set>
                                    <p:animEffect transition="in" filter="fade">
                                      <p:cBhvr>
                                        <p:cTn id="112" dur="550"/>
                                        <p:tgtEl>
                                          <p:spTgt spid="26"/>
                                        </p:tgtEl>
                                      </p:cBhvr>
                                    </p:animEffect>
                                    <p:anim calcmode="lin" valueType="num">
                                      <p:cBhvr additive="base">
                                        <p:cTn id="113" dur="550" fill="hold"/>
                                        <p:tgtEl>
                                          <p:spTgt spid="26"/>
                                        </p:tgtEl>
                                        <p:attrNameLst>
                                          <p:attrName>ppt_x</p:attrName>
                                        </p:attrNameLst>
                                      </p:cBhvr>
                                      <p:tavLst>
                                        <p:tav tm="0">
                                          <p:val>
                                            <p:strVal val="#ppt_x"/>
                                          </p:val>
                                        </p:tav>
                                        <p:tav tm="100000">
                                          <p:val>
                                            <p:strVal val="#ppt_x"/>
                                          </p:val>
                                        </p:tav>
                                      </p:tavLst>
                                    </p:anim>
                                    <p:anim calcmode="lin" valueType="num">
                                      <p:cBhvr additive="base">
                                        <p:cTn id="114" dur="550" fill="hold"/>
                                        <p:tgtEl>
                                          <p:spTgt spid="26"/>
                                        </p:tgtEl>
                                        <p:attrNameLst>
                                          <p:attrName>ppt_y</p:attrName>
                                        </p:attrNameLst>
                                      </p:cBhvr>
                                      <p:tavLst>
                                        <p:tav tm="0">
                                          <p:val>
                                            <p:strVal val="#ppt_y+.08"/>
                                          </p:val>
                                        </p:tav>
                                        <p:tav tm="100000">
                                          <p:val>
                                            <p:strVal val="#ppt_y"/>
                                          </p:val>
                                        </p:tav>
                                      </p:tavLst>
                                    </p:anim>
                                  </p:childTnLst>
                                </p:cTn>
                              </p:par>
                            </p:childTnLst>
                          </p:cTn>
                        </p:par>
                        <p:par>
                          <p:cTn id="115" fill="hold">
                            <p:stCondLst>
                              <p:cond delay="1100"/>
                            </p:stCondLst>
                            <p:childTnLst>
                              <p:par>
                                <p:cTn id="116" presetID="53" presetClass="entr" presetSubtype="16" fill="hold" grpId="0" nodeType="afterEffect">
                                  <p:stCondLst>
                                    <p:cond delay="0"/>
                                  </p:stCondLst>
                                  <p:childTnLst>
                                    <p:set>
                                      <p:cBhvr>
                                        <p:cTn id="117" dur="1" fill="hold">
                                          <p:stCondLst>
                                            <p:cond delay="0"/>
                                          </p:stCondLst>
                                        </p:cTn>
                                        <p:tgtEl>
                                          <p:spTgt spid="27"/>
                                        </p:tgtEl>
                                        <p:attrNameLst>
                                          <p:attrName>style.visibility</p:attrName>
                                        </p:attrNameLst>
                                      </p:cBhvr>
                                      <p:to>
                                        <p:strVal val="visible"/>
                                      </p:to>
                                    </p:set>
                                    <p:animEffect transition="in" filter="fade">
                                      <p:cBhvr>
                                        <p:cTn id="118" dur="550"/>
                                        <p:tgtEl>
                                          <p:spTgt spid="27"/>
                                        </p:tgtEl>
                                      </p:cBhvr>
                                    </p:animEffect>
                                    <p:anim calcmode="lin" valueType="num">
                                      <p:cBhvr additive="base">
                                        <p:cTn id="119" dur="550" fill="hold"/>
                                        <p:tgtEl>
                                          <p:spTgt spid="27"/>
                                        </p:tgtEl>
                                        <p:attrNameLst>
                                          <p:attrName>ppt_w</p:attrName>
                                        </p:attrNameLst>
                                      </p:cBhvr>
                                      <p:tavLst>
                                        <p:tav tm="0">
                                          <p:val>
                                            <p:strVal val="0"/>
                                          </p:val>
                                        </p:tav>
                                        <p:tav tm="100000">
                                          <p:val>
                                            <p:strVal val="#ppt_w"/>
                                          </p:val>
                                        </p:tav>
                                      </p:tavLst>
                                    </p:anim>
                                    <p:anim calcmode="lin" valueType="num">
                                      <p:cBhvr additive="base">
                                        <p:cTn id="120" dur="550" fill="hold"/>
                                        <p:tgtEl>
                                          <p:spTgt spid="27"/>
                                        </p:tgtEl>
                                        <p:attrNameLst>
                                          <p:attrName>ppt_h</p:attrName>
                                        </p:attrNameLst>
                                      </p:cBhvr>
                                      <p:tavLst>
                                        <p:tav tm="0">
                                          <p:val>
                                            <p:strVal val="0"/>
                                          </p:val>
                                        </p:tav>
                                        <p:tav tm="100000">
                                          <p:val>
                                            <p:strVal val="#ppt_h"/>
                                          </p:val>
                                        </p:tav>
                                      </p:tavLst>
                                    </p:anim>
                                  </p:childTnLst>
                                </p:cTn>
                              </p:par>
                            </p:childTnLst>
                          </p:cTn>
                        </p:par>
                        <p:par>
                          <p:cTn id="121" fill="hold">
                            <p:stCondLst>
                              <p:cond delay="1100"/>
                            </p:stCondLst>
                            <p:childTnLst>
                              <p:par>
                                <p:cTn id="122" presetID="42" presetClass="entr" presetSubtype="0" fill="hold" grpId="0" nodeType="afterEffect">
                                  <p:stCondLst>
                                    <p:cond delay="0"/>
                                  </p:stCondLst>
                                  <p:childTnLst>
                                    <p:set>
                                      <p:cBhvr>
                                        <p:cTn id="123" dur="1" fill="hold">
                                          <p:stCondLst>
                                            <p:cond delay="0"/>
                                          </p:stCondLst>
                                        </p:cTn>
                                        <p:tgtEl>
                                          <p:spTgt spid="28"/>
                                        </p:tgtEl>
                                        <p:attrNameLst>
                                          <p:attrName>style.visibility</p:attrName>
                                        </p:attrNameLst>
                                      </p:cBhvr>
                                      <p:to>
                                        <p:strVal val="visible"/>
                                      </p:to>
                                    </p:set>
                                    <p:animEffect transition="in" filter="fade">
                                      <p:cBhvr>
                                        <p:cTn id="124" dur="550"/>
                                        <p:tgtEl>
                                          <p:spTgt spid="28"/>
                                        </p:tgtEl>
                                      </p:cBhvr>
                                    </p:animEffect>
                                    <p:anim calcmode="lin" valueType="num">
                                      <p:cBhvr additive="base">
                                        <p:cTn id="125" dur="550" fill="hold"/>
                                        <p:tgtEl>
                                          <p:spTgt spid="28"/>
                                        </p:tgtEl>
                                        <p:attrNameLst>
                                          <p:attrName>ppt_x</p:attrName>
                                        </p:attrNameLst>
                                      </p:cBhvr>
                                      <p:tavLst>
                                        <p:tav tm="0">
                                          <p:val>
                                            <p:strVal val="#ppt_x"/>
                                          </p:val>
                                        </p:tav>
                                        <p:tav tm="100000">
                                          <p:val>
                                            <p:strVal val="#ppt_x"/>
                                          </p:val>
                                        </p:tav>
                                      </p:tavLst>
                                    </p:anim>
                                    <p:anim calcmode="lin" valueType="num">
                                      <p:cBhvr additive="base">
                                        <p:cTn id="126" dur="550" fill="hold"/>
                                        <p:tgtEl>
                                          <p:spTgt spid="28"/>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P spid="25" grpId="0" animBg="1"/>
      <p:bldP spid="26" grpId="0" animBg="1"/>
      <p:bldP spid="27" grpId="0" animBg="1"/>
      <p:bldP spid="28" grpId="0" animBg="1"/>
    </p:bldLst>
  </p:timing>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200000"/>
            <a:ext cx="10400000" cy="650000"/>
          </a:xfrm>
          <a:prstGeom prst="rect">
            <a:avLst/>
          </a:prstGeom>
          <a:noFill/>
        </p:spPr>
        <p:txBody>
          <a:bodyPr wrap="square" anchor="ctr" lIns="50800" rIns="50800">
            <a:spAutoFit/>
          </a:bodyPr>
          <a:lstStyle/>
          <a:p>
            <a:pPr algn="l"/>
            <a:r>
              <a:rPr sz="2600" b="1">
                <a:solidFill>
                  <a:srgbClr val="FFFFFF"/>
                </a:solidFill>
                <a:latin typeface="Calibri"/>
              </a:rPr>
              <a:t>Nazorat savollari (2)</a:t>
            </a:r>
          </a:p>
        </p:txBody>
      </p:sp>
      <p:sp>
        <p:nvSpPr>
          <p:cNvPr id="6" name="Rectangle 5"/>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A1 · Sun'iy intellektga asoslangan kompyuter tizimlari arxitekturasini tahlil qilish va loyihalash</a:t>
            </a:r>
          </a:p>
        </p:txBody>
      </p:sp>
      <p:sp>
        <p:nvSpPr>
          <p:cNvPr id="8" name="TextBox 7"/>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41</a:t>
            </a:r>
          </a:p>
        </p:txBody>
      </p:sp>
      <p:sp>
        <p:nvSpPr>
          <p:cNvPr id="9" name="Rounded Rectangle 8"/>
          <p:cNvSpPr/>
          <p:nvPr/>
        </p:nvSpPr>
        <p:spPr>
          <a:xfrm>
            <a:off x="550000" y="1620000"/>
            <a:ext cx="11100000" cy="1250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50000" y="1620000"/>
            <a:ext cx="70000" cy="1250000"/>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800000" y="2015000"/>
            <a:ext cx="460000" cy="460000"/>
          </a:xfrm>
          <a:prstGeom prst="ellipse">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6</a:t>
            </a:r>
          </a:p>
        </p:txBody>
      </p:sp>
      <p:sp>
        <p:nvSpPr>
          <p:cNvPr id="12" name="TextBox 11"/>
          <p:cNvSpPr txBox="1"/>
          <p:nvPr/>
        </p:nvSpPr>
        <p:spPr>
          <a:xfrm>
            <a:off x="1450000" y="1620000"/>
            <a:ext cx="10050000" cy="1250000"/>
          </a:xfrm>
          <a:prstGeom prst="rect">
            <a:avLst/>
          </a:prstGeom>
          <a:noFill/>
        </p:spPr>
        <p:txBody>
          <a:bodyPr wrap="square" anchor="ctr" lIns="50800" rIns="50800">
            <a:spAutoFit/>
          </a:bodyPr>
          <a:lstStyle/>
          <a:p>
            <a:pPr algn="l"/>
            <a:r>
              <a:rPr sz="1800" b="0">
                <a:solidFill>
                  <a:srgbClr val="1B2430"/>
                </a:solidFill>
                <a:latin typeface="Calibri"/>
              </a:rPr>
              <a:t>Markazlashgan (bitta server GPU) va chekka (har sexda Jetson) arxitekturalarning 3 yillik TCO'sini solishtirish uchun qaysi xarajat moddalarini hisobga olish kerak?</a:t>
            </a:r>
          </a:p>
        </p:txBody>
      </p:sp>
      <p:sp>
        <p:nvSpPr>
          <p:cNvPr id="13" name="Rounded Rectangle 12"/>
          <p:cNvSpPr/>
          <p:nvPr/>
        </p:nvSpPr>
        <p:spPr>
          <a:xfrm>
            <a:off x="550000" y="2990000"/>
            <a:ext cx="11100000" cy="1250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550000" y="2990000"/>
            <a:ext cx="70000" cy="1250000"/>
          </a:xfrm>
          <a:prstGeom prst="rect">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00000" y="3385000"/>
            <a:ext cx="460000" cy="460000"/>
          </a:xfrm>
          <a:prstGeom prst="ellipse">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7</a:t>
            </a:r>
          </a:p>
        </p:txBody>
      </p:sp>
      <p:sp>
        <p:nvSpPr>
          <p:cNvPr id="16" name="TextBox 15"/>
          <p:cNvSpPr txBox="1"/>
          <p:nvPr/>
        </p:nvSpPr>
        <p:spPr>
          <a:xfrm>
            <a:off x="1450000" y="2990000"/>
            <a:ext cx="10050000" cy="1250000"/>
          </a:xfrm>
          <a:prstGeom prst="rect">
            <a:avLst/>
          </a:prstGeom>
          <a:noFill/>
        </p:spPr>
        <p:txBody>
          <a:bodyPr wrap="square" anchor="ctr" lIns="50800" rIns="50800">
            <a:spAutoFit/>
          </a:bodyPr>
          <a:lstStyle/>
          <a:p>
            <a:pPr algn="l"/>
            <a:r>
              <a:rPr sz="1800" b="0">
                <a:solidFill>
                  <a:srgbClr val="1B2430"/>
                </a:solidFill>
                <a:latin typeface="Calibri"/>
              </a:rPr>
              <a:t>Strukturaviy sxemadagi «nol nusxalash» (zero-copy) interfeysi nima uchun Co-design'ning namunasi hisoblanadi? Bu imkoniyat bo'lmagan platformada (masalan, diskret GPU + CPU dekodlash)…</a:t>
            </a:r>
          </a:p>
        </p:txBody>
      </p:sp>
      <p:sp>
        <p:nvSpPr>
          <p:cNvPr id="17" name="Rounded Rectangle 16"/>
          <p:cNvSpPr/>
          <p:nvPr/>
        </p:nvSpPr>
        <p:spPr>
          <a:xfrm>
            <a:off x="550000" y="4360000"/>
            <a:ext cx="11100000" cy="1250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550000" y="4360000"/>
            <a:ext cx="70000" cy="1250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800000" y="4755000"/>
            <a:ext cx="460000" cy="46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8</a:t>
            </a:r>
          </a:p>
        </p:txBody>
      </p:sp>
      <p:sp>
        <p:nvSpPr>
          <p:cNvPr id="20" name="TextBox 19"/>
          <p:cNvSpPr txBox="1"/>
          <p:nvPr/>
        </p:nvSpPr>
        <p:spPr>
          <a:xfrm>
            <a:off x="1450000" y="4360000"/>
            <a:ext cx="10050000" cy="1250000"/>
          </a:xfrm>
          <a:prstGeom prst="rect">
            <a:avLst/>
          </a:prstGeom>
          <a:noFill/>
        </p:spPr>
        <p:txBody>
          <a:bodyPr wrap="square" anchor="ctr" lIns="50800" rIns="50800">
            <a:spAutoFit/>
          </a:bodyPr>
          <a:lstStyle/>
          <a:p>
            <a:pPr algn="l"/>
            <a:r>
              <a:rPr sz="1800" b="0">
                <a:solidFill>
                  <a:srgbClr val="1B2430"/>
                </a:solidFill>
                <a:latin typeface="Calibri"/>
              </a:rPr>
              <a:t>Talablar matritsasidagi og'irliklarni kim belgilashi kerak — muhandis, buyurtmachi yoki ikkalasi birga? Og'irliklar noto'g'ri belgilansa, qaysi xatoliklar yuzaga keladi?</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79"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5"/>
                                        </p:tgtEl>
                                        <p:attrNameLst>
                                          <p:attrName>style.visibility</p:attrName>
                                        </p:attrNameLst>
                                      </p:cBhvr>
                                      <p:to>
                                        <p:strVal val="visible"/>
                                      </p:to>
                                    </p:set>
                                    <p:animEffect transition="in" filter="fade">
                                      <p:cBhvr>
                                        <p:cTn id="6" dur="550"/>
                                        <p:tgtEl>
                                          <p:spTgt spid="5"/>
                                        </p:tgtEl>
                                      </p:cBhvr>
                                    </p:animEffect>
                                  </p:childTnLst>
                                </p:cTn>
                              </p:par>
                            </p:childTnLst>
                          </p:cTn>
                        </p:par>
                        <p:par>
                          <p:cTn id="7" fill="hold">
                            <p:stCondLst>
                              <p:cond delay="220"/>
                            </p:stCondLst>
                            <p:childTnLst>
                              <p:par>
                                <p:cTn id="8" presetID="42" presetClass="entr" presetSubtype="0" fill="hold" grpId="0" nodeType="afterEffect">
                                  <p:stCondLst>
                                    <p:cond delay="0"/>
                                  </p:stCondLst>
                                  <p:childTnLst>
                                    <p:set>
                                      <p:cBhvr>
                                        <p:cTn id="9" dur="1" fill="hold">
                                          <p:stCondLst>
                                            <p:cond delay="0"/>
                                          </p:stCondLst>
                                        </p:cTn>
                                        <p:tgtEl>
                                          <p:spTgt spid="9"/>
                                        </p:tgtEl>
                                        <p:attrNameLst>
                                          <p:attrName>style.visibility</p:attrName>
                                        </p:attrNameLst>
                                      </p:cBhvr>
                                      <p:to>
                                        <p:strVal val="visible"/>
                                      </p:to>
                                    </p:set>
                                    <p:animEffect transition="in" filter="fade">
                                      <p:cBhvr>
                                        <p:cTn id="10" dur="550"/>
                                        <p:tgtEl>
                                          <p:spTgt spid="9"/>
                                        </p:tgtEl>
                                      </p:cBhvr>
                                    </p:animEffect>
                                    <p:anim calcmode="lin" valueType="num">
                                      <p:cBhvr additive="base">
                                        <p:cTn id="11" dur="550" fill="hold"/>
                                        <p:tgtEl>
                                          <p:spTgt spid="9"/>
                                        </p:tgtEl>
                                        <p:attrNameLst>
                                          <p:attrName>ppt_x</p:attrName>
                                        </p:attrNameLst>
                                      </p:cBhvr>
                                      <p:tavLst>
                                        <p:tav tm="0">
                                          <p:val>
                                            <p:strVal val="#ppt_x"/>
                                          </p:val>
                                        </p:tav>
                                        <p:tav tm="100000">
                                          <p:val>
                                            <p:strVal val="#ppt_x"/>
                                          </p:val>
                                        </p:tav>
                                      </p:tavLst>
                                    </p:anim>
                                    <p:anim calcmode="lin" valueType="num">
                                      <p:cBhvr additive="base">
                                        <p:cTn id="12" dur="550" fill="hold"/>
                                        <p:tgtEl>
                                          <p:spTgt spid="9"/>
                                        </p:tgtEl>
                                        <p:attrNameLst>
                                          <p:attrName>ppt_y</p:attrName>
                                        </p:attrNameLst>
                                      </p:cBhvr>
                                      <p:tavLst>
                                        <p:tav tm="0">
                                          <p:val>
                                            <p:strVal val="#ppt_y+.08"/>
                                          </p:val>
                                        </p:tav>
                                        <p:tav tm="100000">
                                          <p:val>
                                            <p:strVal val="#ppt_y"/>
                                          </p:val>
                                        </p:tav>
                                      </p:tavLst>
                                    </p:anim>
                                  </p:childTnLst>
                                </p:cTn>
                              </p:par>
                            </p:childTnLst>
                          </p:cTn>
                        </p:par>
                        <p:par>
                          <p:cTn id="13" fill="hold">
                            <p:stCondLst>
                              <p:cond delay="220"/>
                            </p:stCondLst>
                            <p:childTnLst>
                              <p:par>
                                <p:cTn id="14" presetID="42" presetClass="entr" presetSubtype="0" fill="hold" grpId="0" nodeType="afterEffect">
                                  <p:stCondLst>
                                    <p:cond delay="0"/>
                                  </p:stCondLst>
                                  <p:childTnLst>
                                    <p:set>
                                      <p:cBhvr>
                                        <p:cTn id="15" dur="1" fill="hold">
                                          <p:stCondLst>
                                            <p:cond delay="0"/>
                                          </p:stCondLst>
                                        </p:cTn>
                                        <p:tgtEl>
                                          <p:spTgt spid="10"/>
                                        </p:tgtEl>
                                        <p:attrNameLst>
                                          <p:attrName>style.visibility</p:attrName>
                                        </p:attrNameLst>
                                      </p:cBhvr>
                                      <p:to>
                                        <p:strVal val="visible"/>
                                      </p:to>
                                    </p:set>
                                    <p:animEffect transition="in" filter="fade">
                                      <p:cBhvr>
                                        <p:cTn id="16" dur="550"/>
                                        <p:tgtEl>
                                          <p:spTgt spid="10"/>
                                        </p:tgtEl>
                                      </p:cBhvr>
                                    </p:animEffect>
                                    <p:anim calcmode="lin" valueType="num">
                                      <p:cBhvr additive="base">
                                        <p:cTn id="17" dur="550" fill="hold"/>
                                        <p:tgtEl>
                                          <p:spTgt spid="10"/>
                                        </p:tgtEl>
                                        <p:attrNameLst>
                                          <p:attrName>ppt_x</p:attrName>
                                        </p:attrNameLst>
                                      </p:cBhvr>
                                      <p:tavLst>
                                        <p:tav tm="0">
                                          <p:val>
                                            <p:strVal val="#ppt_x"/>
                                          </p:val>
                                        </p:tav>
                                        <p:tav tm="100000">
                                          <p:val>
                                            <p:strVal val="#ppt_x"/>
                                          </p:val>
                                        </p:tav>
                                      </p:tavLst>
                                    </p:anim>
                                    <p:anim calcmode="lin" valueType="num">
                                      <p:cBhvr additive="base">
                                        <p:cTn id="18" dur="550" fill="hold"/>
                                        <p:tgtEl>
                                          <p:spTgt spid="10"/>
                                        </p:tgtEl>
                                        <p:attrNameLst>
                                          <p:attrName>ppt_y</p:attrName>
                                        </p:attrNameLst>
                                      </p:cBhvr>
                                      <p:tavLst>
                                        <p:tav tm="0">
                                          <p:val>
                                            <p:strVal val="#ppt_y+.08"/>
                                          </p:val>
                                        </p:tav>
                                        <p:tav tm="100000">
                                          <p:val>
                                            <p:strVal val="#ppt_y"/>
                                          </p:val>
                                        </p:tav>
                                      </p:tavLst>
                                    </p:anim>
                                  </p:childTnLst>
                                </p:cTn>
                              </p:par>
                            </p:childTnLst>
                          </p:cTn>
                        </p:par>
                        <p:par>
                          <p:cTn id="19" fill="hold">
                            <p:stCondLst>
                              <p:cond delay="220"/>
                            </p:stCondLst>
                            <p:childTnLst>
                              <p:par>
                                <p:cTn id="20" presetID="53" presetClass="entr" presetSubtype="16" fill="hold" grpId="0" nodeType="afterEffect">
                                  <p:stCondLst>
                                    <p:cond delay="0"/>
                                  </p:stCondLst>
                                  <p:childTnLst>
                                    <p:set>
                                      <p:cBhvr>
                                        <p:cTn id="21" dur="1" fill="hold">
                                          <p:stCondLst>
                                            <p:cond delay="0"/>
                                          </p:stCondLst>
                                        </p:cTn>
                                        <p:tgtEl>
                                          <p:spTgt spid="11"/>
                                        </p:tgtEl>
                                        <p:attrNameLst>
                                          <p:attrName>style.visibility</p:attrName>
                                        </p:attrNameLst>
                                      </p:cBhvr>
                                      <p:to>
                                        <p:strVal val="visible"/>
                                      </p:to>
                                    </p:set>
                                    <p:animEffect transition="in" filter="fade">
                                      <p:cBhvr>
                                        <p:cTn id="22" dur="550"/>
                                        <p:tgtEl>
                                          <p:spTgt spid="11"/>
                                        </p:tgtEl>
                                      </p:cBhvr>
                                    </p:animEffect>
                                    <p:anim calcmode="lin" valueType="num">
                                      <p:cBhvr additive="base">
                                        <p:cTn id="23" dur="550" fill="hold"/>
                                        <p:tgtEl>
                                          <p:spTgt spid="11"/>
                                        </p:tgtEl>
                                        <p:attrNameLst>
                                          <p:attrName>ppt_w</p:attrName>
                                        </p:attrNameLst>
                                      </p:cBhvr>
                                      <p:tavLst>
                                        <p:tav tm="0">
                                          <p:val>
                                            <p:strVal val="0"/>
                                          </p:val>
                                        </p:tav>
                                        <p:tav tm="100000">
                                          <p:val>
                                            <p:strVal val="#ppt_w"/>
                                          </p:val>
                                        </p:tav>
                                      </p:tavLst>
                                    </p:anim>
                                    <p:anim calcmode="lin" valueType="num">
                                      <p:cBhvr additive="base">
                                        <p:cTn id="24" dur="550" fill="hold"/>
                                        <p:tgtEl>
                                          <p:spTgt spid="11"/>
                                        </p:tgtEl>
                                        <p:attrNameLst>
                                          <p:attrName>ppt_h</p:attrName>
                                        </p:attrNameLst>
                                      </p:cBhvr>
                                      <p:tavLst>
                                        <p:tav tm="0">
                                          <p:val>
                                            <p:strVal val="0"/>
                                          </p:val>
                                        </p:tav>
                                        <p:tav tm="100000">
                                          <p:val>
                                            <p:strVal val="#ppt_h"/>
                                          </p:val>
                                        </p:tav>
                                      </p:tavLst>
                                    </p:anim>
                                  </p:childTnLst>
                                </p:cTn>
                              </p:par>
                            </p:childTnLst>
                          </p:cTn>
                        </p:par>
                        <p:par>
                          <p:cTn id="25" fill="hold">
                            <p:stCondLst>
                              <p:cond delay="220"/>
                            </p:stCondLst>
                            <p:childTnLst>
                              <p:par>
                                <p:cTn id="26" presetID="42" presetClass="entr" presetSubtype="0" fill="hold" grpId="0" nodeType="afterEffect">
                                  <p:stCondLst>
                                    <p:cond delay="0"/>
                                  </p:stCondLst>
                                  <p:childTnLst>
                                    <p:set>
                                      <p:cBhvr>
                                        <p:cTn id="27" dur="1" fill="hold">
                                          <p:stCondLst>
                                            <p:cond delay="0"/>
                                          </p:stCondLst>
                                        </p:cTn>
                                        <p:tgtEl>
                                          <p:spTgt spid="12"/>
                                        </p:tgtEl>
                                        <p:attrNameLst>
                                          <p:attrName>style.visibility</p:attrName>
                                        </p:attrNameLst>
                                      </p:cBhvr>
                                      <p:to>
                                        <p:strVal val="visible"/>
                                      </p:to>
                                    </p:set>
                                    <p:animEffect transition="in" filter="fade">
                                      <p:cBhvr>
                                        <p:cTn id="28" dur="550"/>
                                        <p:tgtEl>
                                          <p:spTgt spid="12"/>
                                        </p:tgtEl>
                                      </p:cBhvr>
                                    </p:animEffect>
                                    <p:anim calcmode="lin" valueType="num">
                                      <p:cBhvr additive="base">
                                        <p:cTn id="29" dur="550" fill="hold"/>
                                        <p:tgtEl>
                                          <p:spTgt spid="12"/>
                                        </p:tgtEl>
                                        <p:attrNameLst>
                                          <p:attrName>ppt_x</p:attrName>
                                        </p:attrNameLst>
                                      </p:cBhvr>
                                      <p:tavLst>
                                        <p:tav tm="0">
                                          <p:val>
                                            <p:strVal val="#ppt_x"/>
                                          </p:val>
                                        </p:tav>
                                        <p:tav tm="100000">
                                          <p:val>
                                            <p:strVal val="#ppt_x"/>
                                          </p:val>
                                        </p:tav>
                                      </p:tavLst>
                                    </p:anim>
                                    <p:anim calcmode="lin" valueType="num">
                                      <p:cBhvr additive="base">
                                        <p:cTn id="30" dur="550" fill="hold"/>
                                        <p:tgtEl>
                                          <p:spTgt spid="12"/>
                                        </p:tgtEl>
                                        <p:attrNameLst>
                                          <p:attrName>ppt_y</p:attrName>
                                        </p:attrNameLst>
                                      </p:cBhvr>
                                      <p:tavLst>
                                        <p:tav tm="0">
                                          <p:val>
                                            <p:strVal val="#ppt_y+.08"/>
                                          </p:val>
                                        </p:tav>
                                        <p:tav tm="100000">
                                          <p:val>
                                            <p:strVal val="#ppt_y"/>
                                          </p:val>
                                        </p:tav>
                                      </p:tavLst>
                                    </p:anim>
                                  </p:childTnLst>
                                </p:cTn>
                              </p:par>
                            </p:childTnLst>
                          </p:cTn>
                        </p:par>
                        <p:par>
                          <p:cTn id="31" fill="hold">
                            <p:stCondLst>
                              <p:cond delay="440"/>
                            </p:stCondLst>
                            <p:childTnLst>
                              <p:par>
                                <p:cTn id="32" presetID="42" presetClass="entr" presetSubtype="0" fill="hold" grpId="0" nodeType="afterEffect">
                                  <p:stCondLst>
                                    <p:cond delay="0"/>
                                  </p:stCondLst>
                                  <p:childTnLst>
                                    <p:set>
                                      <p:cBhvr>
                                        <p:cTn id="33" dur="1" fill="hold">
                                          <p:stCondLst>
                                            <p:cond delay="0"/>
                                          </p:stCondLst>
                                        </p:cTn>
                                        <p:tgtEl>
                                          <p:spTgt spid="13"/>
                                        </p:tgtEl>
                                        <p:attrNameLst>
                                          <p:attrName>style.visibility</p:attrName>
                                        </p:attrNameLst>
                                      </p:cBhvr>
                                      <p:to>
                                        <p:strVal val="visible"/>
                                      </p:to>
                                    </p:set>
                                    <p:animEffect transition="in" filter="fade">
                                      <p:cBhvr>
                                        <p:cTn id="34" dur="550"/>
                                        <p:tgtEl>
                                          <p:spTgt spid="13"/>
                                        </p:tgtEl>
                                      </p:cBhvr>
                                    </p:animEffect>
                                    <p:anim calcmode="lin" valueType="num">
                                      <p:cBhvr additive="base">
                                        <p:cTn id="35" dur="550" fill="hold"/>
                                        <p:tgtEl>
                                          <p:spTgt spid="13"/>
                                        </p:tgtEl>
                                        <p:attrNameLst>
                                          <p:attrName>ppt_x</p:attrName>
                                        </p:attrNameLst>
                                      </p:cBhvr>
                                      <p:tavLst>
                                        <p:tav tm="0">
                                          <p:val>
                                            <p:strVal val="#ppt_x"/>
                                          </p:val>
                                        </p:tav>
                                        <p:tav tm="100000">
                                          <p:val>
                                            <p:strVal val="#ppt_x"/>
                                          </p:val>
                                        </p:tav>
                                      </p:tavLst>
                                    </p:anim>
                                    <p:anim calcmode="lin" valueType="num">
                                      <p:cBhvr additive="base">
                                        <p:cTn id="36" dur="550" fill="hold"/>
                                        <p:tgtEl>
                                          <p:spTgt spid="13"/>
                                        </p:tgtEl>
                                        <p:attrNameLst>
                                          <p:attrName>ppt_y</p:attrName>
                                        </p:attrNameLst>
                                      </p:cBhvr>
                                      <p:tavLst>
                                        <p:tav tm="0">
                                          <p:val>
                                            <p:strVal val="#ppt_y+.08"/>
                                          </p:val>
                                        </p:tav>
                                        <p:tav tm="100000">
                                          <p:val>
                                            <p:strVal val="#ppt_y"/>
                                          </p:val>
                                        </p:tav>
                                      </p:tavLst>
                                    </p:anim>
                                  </p:childTnLst>
                                </p:cTn>
                              </p:par>
                            </p:childTnLst>
                          </p:cTn>
                        </p:par>
                        <p:par>
                          <p:cTn id="37" fill="hold">
                            <p:stCondLst>
                              <p:cond delay="440"/>
                            </p:stCondLst>
                            <p:childTnLst>
                              <p:par>
                                <p:cTn id="38" presetID="42" presetClass="entr" presetSubtype="0" fill="hold" grpId="0" nodeType="afterEffect">
                                  <p:stCondLst>
                                    <p:cond delay="0"/>
                                  </p:stCondLst>
                                  <p:childTnLst>
                                    <p:set>
                                      <p:cBhvr>
                                        <p:cTn id="39" dur="1" fill="hold">
                                          <p:stCondLst>
                                            <p:cond delay="0"/>
                                          </p:stCondLst>
                                        </p:cTn>
                                        <p:tgtEl>
                                          <p:spTgt spid="14"/>
                                        </p:tgtEl>
                                        <p:attrNameLst>
                                          <p:attrName>style.visibility</p:attrName>
                                        </p:attrNameLst>
                                      </p:cBhvr>
                                      <p:to>
                                        <p:strVal val="visible"/>
                                      </p:to>
                                    </p:set>
                                    <p:animEffect transition="in" filter="fade">
                                      <p:cBhvr>
                                        <p:cTn id="40" dur="550"/>
                                        <p:tgtEl>
                                          <p:spTgt spid="14"/>
                                        </p:tgtEl>
                                      </p:cBhvr>
                                    </p:animEffect>
                                    <p:anim calcmode="lin" valueType="num">
                                      <p:cBhvr additive="base">
                                        <p:cTn id="41" dur="550" fill="hold"/>
                                        <p:tgtEl>
                                          <p:spTgt spid="14"/>
                                        </p:tgtEl>
                                        <p:attrNameLst>
                                          <p:attrName>ppt_x</p:attrName>
                                        </p:attrNameLst>
                                      </p:cBhvr>
                                      <p:tavLst>
                                        <p:tav tm="0">
                                          <p:val>
                                            <p:strVal val="#ppt_x"/>
                                          </p:val>
                                        </p:tav>
                                        <p:tav tm="100000">
                                          <p:val>
                                            <p:strVal val="#ppt_x"/>
                                          </p:val>
                                        </p:tav>
                                      </p:tavLst>
                                    </p:anim>
                                    <p:anim calcmode="lin" valueType="num">
                                      <p:cBhvr additive="base">
                                        <p:cTn id="42" dur="550" fill="hold"/>
                                        <p:tgtEl>
                                          <p:spTgt spid="14"/>
                                        </p:tgtEl>
                                        <p:attrNameLst>
                                          <p:attrName>ppt_y</p:attrName>
                                        </p:attrNameLst>
                                      </p:cBhvr>
                                      <p:tavLst>
                                        <p:tav tm="0">
                                          <p:val>
                                            <p:strVal val="#ppt_y+.08"/>
                                          </p:val>
                                        </p:tav>
                                        <p:tav tm="100000">
                                          <p:val>
                                            <p:strVal val="#ppt_y"/>
                                          </p:val>
                                        </p:tav>
                                      </p:tavLst>
                                    </p:anim>
                                  </p:childTnLst>
                                </p:cTn>
                              </p:par>
                            </p:childTnLst>
                          </p:cTn>
                        </p:par>
                        <p:par>
                          <p:cTn id="43" fill="hold">
                            <p:stCondLst>
                              <p:cond delay="440"/>
                            </p:stCondLst>
                            <p:childTnLst>
                              <p:par>
                                <p:cTn id="44" presetID="53" presetClass="entr" presetSubtype="16" fill="hold" grpId="0" nodeType="afterEffect">
                                  <p:stCondLst>
                                    <p:cond delay="0"/>
                                  </p:stCondLst>
                                  <p:childTnLst>
                                    <p:set>
                                      <p:cBhvr>
                                        <p:cTn id="45" dur="1" fill="hold">
                                          <p:stCondLst>
                                            <p:cond delay="0"/>
                                          </p:stCondLst>
                                        </p:cTn>
                                        <p:tgtEl>
                                          <p:spTgt spid="15"/>
                                        </p:tgtEl>
                                        <p:attrNameLst>
                                          <p:attrName>style.visibility</p:attrName>
                                        </p:attrNameLst>
                                      </p:cBhvr>
                                      <p:to>
                                        <p:strVal val="visible"/>
                                      </p:to>
                                    </p:set>
                                    <p:animEffect transition="in" filter="fade">
                                      <p:cBhvr>
                                        <p:cTn id="46" dur="550"/>
                                        <p:tgtEl>
                                          <p:spTgt spid="15"/>
                                        </p:tgtEl>
                                      </p:cBhvr>
                                    </p:animEffect>
                                    <p:anim calcmode="lin" valueType="num">
                                      <p:cBhvr additive="base">
                                        <p:cTn id="47" dur="550" fill="hold"/>
                                        <p:tgtEl>
                                          <p:spTgt spid="15"/>
                                        </p:tgtEl>
                                        <p:attrNameLst>
                                          <p:attrName>ppt_w</p:attrName>
                                        </p:attrNameLst>
                                      </p:cBhvr>
                                      <p:tavLst>
                                        <p:tav tm="0">
                                          <p:val>
                                            <p:strVal val="0"/>
                                          </p:val>
                                        </p:tav>
                                        <p:tav tm="100000">
                                          <p:val>
                                            <p:strVal val="#ppt_w"/>
                                          </p:val>
                                        </p:tav>
                                      </p:tavLst>
                                    </p:anim>
                                    <p:anim calcmode="lin" valueType="num">
                                      <p:cBhvr additive="base">
                                        <p:cTn id="48" dur="550" fill="hold"/>
                                        <p:tgtEl>
                                          <p:spTgt spid="15"/>
                                        </p:tgtEl>
                                        <p:attrNameLst>
                                          <p:attrName>ppt_h</p:attrName>
                                        </p:attrNameLst>
                                      </p:cBhvr>
                                      <p:tavLst>
                                        <p:tav tm="0">
                                          <p:val>
                                            <p:strVal val="0"/>
                                          </p:val>
                                        </p:tav>
                                        <p:tav tm="100000">
                                          <p:val>
                                            <p:strVal val="#ppt_h"/>
                                          </p:val>
                                        </p:tav>
                                      </p:tavLst>
                                    </p:anim>
                                  </p:childTnLst>
                                </p:cTn>
                              </p:par>
                            </p:childTnLst>
                          </p:cTn>
                        </p:par>
                        <p:par>
                          <p:cTn id="49" fill="hold">
                            <p:stCondLst>
                              <p:cond delay="440"/>
                            </p:stCondLst>
                            <p:childTnLst>
                              <p:par>
                                <p:cTn id="50" presetID="42" presetClass="entr" presetSubtype="0" fill="hold" grpId="0" nodeType="afterEffect">
                                  <p:stCondLst>
                                    <p:cond delay="0"/>
                                  </p:stCondLst>
                                  <p:childTnLst>
                                    <p:set>
                                      <p:cBhvr>
                                        <p:cTn id="51" dur="1" fill="hold">
                                          <p:stCondLst>
                                            <p:cond delay="0"/>
                                          </p:stCondLst>
                                        </p:cTn>
                                        <p:tgtEl>
                                          <p:spTgt spid="16"/>
                                        </p:tgtEl>
                                        <p:attrNameLst>
                                          <p:attrName>style.visibility</p:attrName>
                                        </p:attrNameLst>
                                      </p:cBhvr>
                                      <p:to>
                                        <p:strVal val="visible"/>
                                      </p:to>
                                    </p:set>
                                    <p:animEffect transition="in" filter="fade">
                                      <p:cBhvr>
                                        <p:cTn id="52" dur="550"/>
                                        <p:tgtEl>
                                          <p:spTgt spid="16"/>
                                        </p:tgtEl>
                                      </p:cBhvr>
                                    </p:animEffect>
                                    <p:anim calcmode="lin" valueType="num">
                                      <p:cBhvr additive="base">
                                        <p:cTn id="53" dur="550" fill="hold"/>
                                        <p:tgtEl>
                                          <p:spTgt spid="16"/>
                                        </p:tgtEl>
                                        <p:attrNameLst>
                                          <p:attrName>ppt_x</p:attrName>
                                        </p:attrNameLst>
                                      </p:cBhvr>
                                      <p:tavLst>
                                        <p:tav tm="0">
                                          <p:val>
                                            <p:strVal val="#ppt_x"/>
                                          </p:val>
                                        </p:tav>
                                        <p:tav tm="100000">
                                          <p:val>
                                            <p:strVal val="#ppt_x"/>
                                          </p:val>
                                        </p:tav>
                                      </p:tavLst>
                                    </p:anim>
                                    <p:anim calcmode="lin" valueType="num">
                                      <p:cBhvr additive="base">
                                        <p:cTn id="54" dur="550" fill="hold"/>
                                        <p:tgtEl>
                                          <p:spTgt spid="16"/>
                                        </p:tgtEl>
                                        <p:attrNameLst>
                                          <p:attrName>ppt_y</p:attrName>
                                        </p:attrNameLst>
                                      </p:cBhvr>
                                      <p:tavLst>
                                        <p:tav tm="0">
                                          <p:val>
                                            <p:strVal val="#ppt_y+.08"/>
                                          </p:val>
                                        </p:tav>
                                        <p:tav tm="100000">
                                          <p:val>
                                            <p:strVal val="#ppt_y"/>
                                          </p:val>
                                        </p:tav>
                                      </p:tavLst>
                                    </p:anim>
                                  </p:childTnLst>
                                </p:cTn>
                              </p:par>
                            </p:childTnLst>
                          </p:cTn>
                        </p:par>
                        <p:par>
                          <p:cTn id="55" fill="hold">
                            <p:stCondLst>
                              <p:cond delay="660"/>
                            </p:stCondLst>
                            <p:childTnLst>
                              <p:par>
                                <p:cTn id="56" presetID="42" presetClass="entr" presetSubtype="0" fill="hold" grpId="0" nodeType="afterEffect">
                                  <p:stCondLst>
                                    <p:cond delay="0"/>
                                  </p:stCondLst>
                                  <p:childTnLst>
                                    <p:set>
                                      <p:cBhvr>
                                        <p:cTn id="57" dur="1" fill="hold">
                                          <p:stCondLst>
                                            <p:cond delay="0"/>
                                          </p:stCondLst>
                                        </p:cTn>
                                        <p:tgtEl>
                                          <p:spTgt spid="17"/>
                                        </p:tgtEl>
                                        <p:attrNameLst>
                                          <p:attrName>style.visibility</p:attrName>
                                        </p:attrNameLst>
                                      </p:cBhvr>
                                      <p:to>
                                        <p:strVal val="visible"/>
                                      </p:to>
                                    </p:set>
                                    <p:animEffect transition="in" filter="fade">
                                      <p:cBhvr>
                                        <p:cTn id="58" dur="550"/>
                                        <p:tgtEl>
                                          <p:spTgt spid="17"/>
                                        </p:tgtEl>
                                      </p:cBhvr>
                                    </p:animEffect>
                                    <p:anim calcmode="lin" valueType="num">
                                      <p:cBhvr additive="base">
                                        <p:cTn id="59" dur="550" fill="hold"/>
                                        <p:tgtEl>
                                          <p:spTgt spid="17"/>
                                        </p:tgtEl>
                                        <p:attrNameLst>
                                          <p:attrName>ppt_x</p:attrName>
                                        </p:attrNameLst>
                                      </p:cBhvr>
                                      <p:tavLst>
                                        <p:tav tm="0">
                                          <p:val>
                                            <p:strVal val="#ppt_x"/>
                                          </p:val>
                                        </p:tav>
                                        <p:tav tm="100000">
                                          <p:val>
                                            <p:strVal val="#ppt_x"/>
                                          </p:val>
                                        </p:tav>
                                      </p:tavLst>
                                    </p:anim>
                                    <p:anim calcmode="lin" valueType="num">
                                      <p:cBhvr additive="base">
                                        <p:cTn id="60" dur="550" fill="hold"/>
                                        <p:tgtEl>
                                          <p:spTgt spid="17"/>
                                        </p:tgtEl>
                                        <p:attrNameLst>
                                          <p:attrName>ppt_y</p:attrName>
                                        </p:attrNameLst>
                                      </p:cBhvr>
                                      <p:tavLst>
                                        <p:tav tm="0">
                                          <p:val>
                                            <p:strVal val="#ppt_y+.08"/>
                                          </p:val>
                                        </p:tav>
                                        <p:tav tm="100000">
                                          <p:val>
                                            <p:strVal val="#ppt_y"/>
                                          </p:val>
                                        </p:tav>
                                      </p:tavLst>
                                    </p:anim>
                                  </p:childTnLst>
                                </p:cTn>
                              </p:par>
                            </p:childTnLst>
                          </p:cTn>
                        </p:par>
                        <p:par>
                          <p:cTn id="61" fill="hold">
                            <p:stCondLst>
                              <p:cond delay="660"/>
                            </p:stCondLst>
                            <p:childTnLst>
                              <p:par>
                                <p:cTn id="62" presetID="42" presetClass="entr" presetSubtype="0" fill="hold" grpId="0" nodeType="afterEffect">
                                  <p:stCondLst>
                                    <p:cond delay="0"/>
                                  </p:stCondLst>
                                  <p:childTnLst>
                                    <p:set>
                                      <p:cBhvr>
                                        <p:cTn id="63" dur="1" fill="hold">
                                          <p:stCondLst>
                                            <p:cond delay="0"/>
                                          </p:stCondLst>
                                        </p:cTn>
                                        <p:tgtEl>
                                          <p:spTgt spid="18"/>
                                        </p:tgtEl>
                                        <p:attrNameLst>
                                          <p:attrName>style.visibility</p:attrName>
                                        </p:attrNameLst>
                                      </p:cBhvr>
                                      <p:to>
                                        <p:strVal val="visible"/>
                                      </p:to>
                                    </p:set>
                                    <p:animEffect transition="in" filter="fade">
                                      <p:cBhvr>
                                        <p:cTn id="64" dur="550"/>
                                        <p:tgtEl>
                                          <p:spTgt spid="18"/>
                                        </p:tgtEl>
                                      </p:cBhvr>
                                    </p:animEffect>
                                    <p:anim calcmode="lin" valueType="num">
                                      <p:cBhvr additive="base">
                                        <p:cTn id="65" dur="550" fill="hold"/>
                                        <p:tgtEl>
                                          <p:spTgt spid="18"/>
                                        </p:tgtEl>
                                        <p:attrNameLst>
                                          <p:attrName>ppt_x</p:attrName>
                                        </p:attrNameLst>
                                      </p:cBhvr>
                                      <p:tavLst>
                                        <p:tav tm="0">
                                          <p:val>
                                            <p:strVal val="#ppt_x"/>
                                          </p:val>
                                        </p:tav>
                                        <p:tav tm="100000">
                                          <p:val>
                                            <p:strVal val="#ppt_x"/>
                                          </p:val>
                                        </p:tav>
                                      </p:tavLst>
                                    </p:anim>
                                    <p:anim calcmode="lin" valueType="num">
                                      <p:cBhvr additive="base">
                                        <p:cTn id="66" dur="550" fill="hold"/>
                                        <p:tgtEl>
                                          <p:spTgt spid="18"/>
                                        </p:tgtEl>
                                        <p:attrNameLst>
                                          <p:attrName>ppt_y</p:attrName>
                                        </p:attrNameLst>
                                      </p:cBhvr>
                                      <p:tavLst>
                                        <p:tav tm="0">
                                          <p:val>
                                            <p:strVal val="#ppt_y+.08"/>
                                          </p:val>
                                        </p:tav>
                                        <p:tav tm="100000">
                                          <p:val>
                                            <p:strVal val="#ppt_y"/>
                                          </p:val>
                                        </p:tav>
                                      </p:tavLst>
                                    </p:anim>
                                  </p:childTnLst>
                                </p:cTn>
                              </p:par>
                            </p:childTnLst>
                          </p:cTn>
                        </p:par>
                        <p:par>
                          <p:cTn id="67" fill="hold">
                            <p:stCondLst>
                              <p:cond delay="660"/>
                            </p:stCondLst>
                            <p:childTnLst>
                              <p:par>
                                <p:cTn id="68" presetID="53" presetClass="entr" presetSubtype="16" fill="hold" grpId="0" nodeType="afterEffect">
                                  <p:stCondLst>
                                    <p:cond delay="0"/>
                                  </p:stCondLst>
                                  <p:childTnLst>
                                    <p:set>
                                      <p:cBhvr>
                                        <p:cTn id="69" dur="1" fill="hold">
                                          <p:stCondLst>
                                            <p:cond delay="0"/>
                                          </p:stCondLst>
                                        </p:cTn>
                                        <p:tgtEl>
                                          <p:spTgt spid="19"/>
                                        </p:tgtEl>
                                        <p:attrNameLst>
                                          <p:attrName>style.visibility</p:attrName>
                                        </p:attrNameLst>
                                      </p:cBhvr>
                                      <p:to>
                                        <p:strVal val="visible"/>
                                      </p:to>
                                    </p:set>
                                    <p:animEffect transition="in" filter="fade">
                                      <p:cBhvr>
                                        <p:cTn id="70" dur="550"/>
                                        <p:tgtEl>
                                          <p:spTgt spid="19"/>
                                        </p:tgtEl>
                                      </p:cBhvr>
                                    </p:animEffect>
                                    <p:anim calcmode="lin" valueType="num">
                                      <p:cBhvr additive="base">
                                        <p:cTn id="71" dur="550" fill="hold"/>
                                        <p:tgtEl>
                                          <p:spTgt spid="19"/>
                                        </p:tgtEl>
                                        <p:attrNameLst>
                                          <p:attrName>ppt_w</p:attrName>
                                        </p:attrNameLst>
                                      </p:cBhvr>
                                      <p:tavLst>
                                        <p:tav tm="0">
                                          <p:val>
                                            <p:strVal val="0"/>
                                          </p:val>
                                        </p:tav>
                                        <p:tav tm="100000">
                                          <p:val>
                                            <p:strVal val="#ppt_w"/>
                                          </p:val>
                                        </p:tav>
                                      </p:tavLst>
                                    </p:anim>
                                    <p:anim calcmode="lin" valueType="num">
                                      <p:cBhvr additive="base">
                                        <p:cTn id="72" dur="550" fill="hold"/>
                                        <p:tgtEl>
                                          <p:spTgt spid="19"/>
                                        </p:tgtEl>
                                        <p:attrNameLst>
                                          <p:attrName>ppt_h</p:attrName>
                                        </p:attrNameLst>
                                      </p:cBhvr>
                                      <p:tavLst>
                                        <p:tav tm="0">
                                          <p:val>
                                            <p:strVal val="0"/>
                                          </p:val>
                                        </p:tav>
                                        <p:tav tm="100000">
                                          <p:val>
                                            <p:strVal val="#ppt_h"/>
                                          </p:val>
                                        </p:tav>
                                      </p:tavLst>
                                    </p:anim>
                                  </p:childTnLst>
                                </p:cTn>
                              </p:par>
                            </p:childTnLst>
                          </p:cTn>
                        </p:par>
                        <p:par>
                          <p:cTn id="73" fill="hold">
                            <p:stCondLst>
                              <p:cond delay="660"/>
                            </p:stCondLst>
                            <p:childTnLst>
                              <p:par>
                                <p:cTn id="74" presetID="42" presetClass="entr" presetSubtype="0" fill="hold" grpId="0" nodeType="afterEffect">
                                  <p:stCondLst>
                                    <p:cond delay="0"/>
                                  </p:stCondLst>
                                  <p:childTnLst>
                                    <p:set>
                                      <p:cBhvr>
                                        <p:cTn id="75" dur="1" fill="hold">
                                          <p:stCondLst>
                                            <p:cond delay="0"/>
                                          </p:stCondLst>
                                        </p:cTn>
                                        <p:tgtEl>
                                          <p:spTgt spid="20"/>
                                        </p:tgtEl>
                                        <p:attrNameLst>
                                          <p:attrName>style.visibility</p:attrName>
                                        </p:attrNameLst>
                                      </p:cBhvr>
                                      <p:to>
                                        <p:strVal val="visible"/>
                                      </p:to>
                                    </p:set>
                                    <p:animEffect transition="in" filter="fade">
                                      <p:cBhvr>
                                        <p:cTn id="76" dur="550"/>
                                        <p:tgtEl>
                                          <p:spTgt spid="20"/>
                                        </p:tgtEl>
                                      </p:cBhvr>
                                    </p:animEffect>
                                    <p:anim calcmode="lin" valueType="num">
                                      <p:cBhvr additive="base">
                                        <p:cTn id="77" dur="550" fill="hold"/>
                                        <p:tgtEl>
                                          <p:spTgt spid="20"/>
                                        </p:tgtEl>
                                        <p:attrNameLst>
                                          <p:attrName>ppt_x</p:attrName>
                                        </p:attrNameLst>
                                      </p:cBhvr>
                                      <p:tavLst>
                                        <p:tav tm="0">
                                          <p:val>
                                            <p:strVal val="#ppt_x"/>
                                          </p:val>
                                        </p:tav>
                                        <p:tav tm="100000">
                                          <p:val>
                                            <p:strVal val="#ppt_x"/>
                                          </p:val>
                                        </p:tav>
                                      </p:tavLst>
                                    </p:anim>
                                    <p:anim calcmode="lin" valueType="num">
                                      <p:cBhvr additive="base">
                                        <p:cTn id="78" dur="550" fill="hold"/>
                                        <p:tgtEl>
                                          <p:spTgt spid="20"/>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Lst>
  </p:timing>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162E4D"/>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900000" y="1700000"/>
            <a:ext cx="3000000" cy="3000000"/>
          </a:xfrm>
          <a:prstGeom prst="ellipse">
            <a:avLst/>
          </a:prstGeom>
          <a:noFill/>
          <a:ln w="76200">
            <a:solidFill>
              <a:srgbClr val="7FD6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00000" y="2350000"/>
            <a:ext cx="3000000" cy="1700000"/>
          </a:xfrm>
          <a:prstGeom prst="rect">
            <a:avLst/>
          </a:prstGeom>
          <a:noFill/>
        </p:spPr>
        <p:txBody>
          <a:bodyPr wrap="square" anchor="ctr" lIns="50800" rIns="50800">
            <a:spAutoFit/>
          </a:bodyPr>
          <a:lstStyle/>
          <a:p>
            <a:pPr algn="ctr"/>
            <a:r>
              <a:rPr sz="7200" b="1">
                <a:solidFill>
                  <a:srgbClr val="FFFFFF"/>
                </a:solidFill>
                <a:latin typeface="Calibri"/>
              </a:rPr>
              <a:t>08</a:t>
            </a:r>
          </a:p>
        </p:txBody>
      </p:sp>
      <p:sp>
        <p:nvSpPr>
          <p:cNvPr id="5" name="TextBox 4"/>
          <p:cNvSpPr txBox="1"/>
          <p:nvPr/>
        </p:nvSpPr>
        <p:spPr>
          <a:xfrm>
            <a:off x="4500000" y="2400000"/>
            <a:ext cx="7000000" cy="1600000"/>
          </a:xfrm>
          <a:prstGeom prst="rect">
            <a:avLst/>
          </a:prstGeom>
          <a:noFill/>
        </p:spPr>
        <p:txBody>
          <a:bodyPr wrap="square" anchor="ctr" lIns="50800" rIns="50800">
            <a:spAutoFit/>
          </a:bodyPr>
          <a:lstStyle/>
          <a:p>
            <a:pPr algn="l"/>
            <a:r>
              <a:rPr sz="3600" b="1">
                <a:solidFill>
                  <a:srgbClr val="FFFFFF"/>
                </a:solidFill>
                <a:latin typeface="Calibri"/>
              </a:rPr>
              <a:t>Mustaqil ish uchun topshiriq</a:t>
            </a:r>
          </a:p>
        </p:txBody>
      </p:sp>
      <p:sp>
        <p:nvSpPr>
          <p:cNvPr id="6" name="Rectangle 5"/>
          <p:cNvSpPr/>
          <p:nvPr/>
        </p:nvSpPr>
        <p:spPr>
          <a:xfrm>
            <a:off x="4550000" y="4100000"/>
            <a:ext cx="2200000" cy="60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transition spd="med">
    <p:push dir="u"/>
  </p:transition>
  <p:timing>
    <p:tnLst>
      <p:par>
        <p:cTn id="1" dur="indefinite" restart="never" nodeType="tmRoot">
          <p:childTnLst>
            <p:seq concurrent="1" nextAc="seek">
              <p:cTn id="2" dur="indefinite" nodeType="mainSeq">
                <p:childTnLst>
                  <p:par>
                    <p:cTn id="26" fill="hold">
                      <p:stCondLst>
                        <p:cond delay="indefinite"/>
                        <p:cond evt="onBegin" delay="0">
                          <p:tn val="2"/>
                        </p:cond>
                      </p:stCondLst>
                      <p:childTnLst>
                        <p:par>
                          <p:cTn id="3" fill="hold">
                            <p:stCondLst>
                              <p:cond delay="0"/>
                            </p:stCondLst>
                            <p:childTnLst>
                              <p:par>
                                <p:cTn id="4" presetID="53" presetClass="entr" presetSubtype="16" fill="hold" grpId="0" nodeType="withEffect">
                                  <p:stCondLst>
                                    <p:cond delay="0"/>
                                  </p:stCondLst>
                                  <p:childTnLst>
                                    <p:set>
                                      <p:cBhvr>
                                        <p:cTn id="5" dur="1" fill="hold">
                                          <p:stCondLst>
                                            <p:cond delay="0"/>
                                          </p:stCondLst>
                                        </p:cTn>
                                        <p:tgtEl>
                                          <p:spTgt spid="3"/>
                                        </p:tgtEl>
                                        <p:attrNameLst>
                                          <p:attrName>style.visibility</p:attrName>
                                        </p:attrNameLst>
                                      </p:cBhvr>
                                      <p:to>
                                        <p:strVal val="visible"/>
                                      </p:to>
                                    </p:set>
                                    <p:animEffect transition="in" filter="fade">
                                      <p:cBhvr>
                                        <p:cTn id="6" dur="550"/>
                                        <p:tgtEl>
                                          <p:spTgt spid="3"/>
                                        </p:tgtEl>
                                      </p:cBhvr>
                                    </p:animEffect>
                                    <p:anim calcmode="lin" valueType="num">
                                      <p:cBhvr additive="base">
                                        <p:cTn id="7" dur="550" fill="hold"/>
                                        <p:tgtEl>
                                          <p:spTgt spid="3"/>
                                        </p:tgtEl>
                                        <p:attrNameLst>
                                          <p:attrName>ppt_w</p:attrName>
                                        </p:attrNameLst>
                                      </p:cBhvr>
                                      <p:tavLst>
                                        <p:tav tm="0">
                                          <p:val>
                                            <p:strVal val="0"/>
                                          </p:val>
                                        </p:tav>
                                        <p:tav tm="100000">
                                          <p:val>
                                            <p:strVal val="#ppt_w"/>
                                          </p:val>
                                        </p:tav>
                                      </p:tavLst>
                                    </p:anim>
                                    <p:anim calcmode="lin" valueType="num">
                                      <p:cBhvr additive="base">
                                        <p:cTn id="8" dur="550" fill="hold"/>
                                        <p:tgtEl>
                                          <p:spTgt spid="3"/>
                                        </p:tgtEl>
                                        <p:attrNameLst>
                                          <p:attrName>ppt_h</p:attrName>
                                        </p:attrNameLst>
                                      </p:cBhvr>
                                      <p:tavLst>
                                        <p:tav tm="0">
                                          <p:val>
                                            <p:strVal val="0"/>
                                          </p:val>
                                        </p:tav>
                                        <p:tav tm="100000">
                                          <p:val>
                                            <p:strVal val="#ppt_h"/>
                                          </p:val>
                                        </p:tav>
                                      </p:tavLst>
                                    </p:anim>
                                  </p:childTnLst>
                                </p:cTn>
                              </p:par>
                            </p:childTnLst>
                          </p:cTn>
                        </p:par>
                        <p:par>
                          <p:cTn id="9" fill="hold">
                            <p:stCondLst>
                              <p:cond delay="100"/>
                            </p:stCondLst>
                            <p:childTnLst>
                              <p:par>
                                <p:cTn id="10" presetID="53" presetClass="entr" presetSubtype="16" fill="hold" grpId="0" nodeType="afterEffect">
                                  <p:stCondLst>
                                    <p:cond delay="0"/>
                                  </p:stCondLst>
                                  <p:childTnLst>
                                    <p:set>
                                      <p:cBhvr>
                                        <p:cTn id="11" dur="1" fill="hold">
                                          <p:stCondLst>
                                            <p:cond delay="0"/>
                                          </p:stCondLst>
                                        </p:cTn>
                                        <p:tgtEl>
                                          <p:spTgt spid="4"/>
                                        </p:tgtEl>
                                        <p:attrNameLst>
                                          <p:attrName>style.visibility</p:attrName>
                                        </p:attrNameLst>
                                      </p:cBhvr>
                                      <p:to>
                                        <p:strVal val="visible"/>
                                      </p:to>
                                    </p:set>
                                    <p:animEffect transition="in" filter="fade">
                                      <p:cBhvr>
                                        <p:cTn id="12" dur="550"/>
                                        <p:tgtEl>
                                          <p:spTgt spid="4"/>
                                        </p:tgtEl>
                                      </p:cBhvr>
                                    </p:animEffect>
                                    <p:anim calcmode="lin" valueType="num">
                                      <p:cBhvr additive="base">
                                        <p:cTn id="13" dur="550" fill="hold"/>
                                        <p:tgtEl>
                                          <p:spTgt spid="4"/>
                                        </p:tgtEl>
                                        <p:attrNameLst>
                                          <p:attrName>ppt_w</p:attrName>
                                        </p:attrNameLst>
                                      </p:cBhvr>
                                      <p:tavLst>
                                        <p:tav tm="0">
                                          <p:val>
                                            <p:strVal val="0"/>
                                          </p:val>
                                        </p:tav>
                                        <p:tav tm="100000">
                                          <p:val>
                                            <p:strVal val="#ppt_w"/>
                                          </p:val>
                                        </p:tav>
                                      </p:tavLst>
                                    </p:anim>
                                    <p:anim calcmode="lin" valueType="num">
                                      <p:cBhvr additive="base">
                                        <p:cTn id="14" dur="550" fill="hold"/>
                                        <p:tgtEl>
                                          <p:spTgt spid="4"/>
                                        </p:tgtEl>
                                        <p:attrNameLst>
                                          <p:attrName>ppt_h</p:attrName>
                                        </p:attrNameLst>
                                      </p:cBhvr>
                                      <p:tavLst>
                                        <p:tav tm="0">
                                          <p:val>
                                            <p:strVal val="0"/>
                                          </p:val>
                                        </p:tav>
                                        <p:tav tm="100000">
                                          <p:val>
                                            <p:strVal val="#ppt_h"/>
                                          </p:val>
                                        </p:tav>
                                      </p:tavLst>
                                    </p:anim>
                                  </p:childTnLst>
                                </p:cTn>
                              </p:par>
                            </p:childTnLst>
                          </p:cTn>
                        </p:par>
                        <p:par>
                          <p:cTn id="15" fill="hold">
                            <p:stCondLst>
                              <p:cond delay="250"/>
                            </p:stCondLst>
                            <p:childTnLst>
                              <p:par>
                                <p:cTn id="16" presetID="2" presetClass="entr" presetSubtype="8" fill="hold" grpId="0" nodeType="afterEffect">
                                  <p:stCondLst>
                                    <p:cond delay="0"/>
                                  </p:stCondLst>
                                  <p:childTnLst>
                                    <p:set>
                                      <p:cBhvr>
                                        <p:cTn id="17" dur="1" fill="hold">
                                          <p:stCondLst>
                                            <p:cond delay="0"/>
                                          </p:stCondLst>
                                        </p:cTn>
                                        <p:tgtEl>
                                          <p:spTgt spid="5"/>
                                        </p:tgtEl>
                                        <p:attrNameLst>
                                          <p:attrName>style.visibility</p:attrName>
                                        </p:attrNameLst>
                                      </p:cBhvr>
                                      <p:to>
                                        <p:strVal val="visible"/>
                                      </p:to>
                                    </p:set>
                                    <p:anim calcmode="lin" valueType="num">
                                      <p:cBhvr additive="base">
                                        <p:cTn id="19" dur="550" fill="hold"/>
                                        <p:tgtEl>
                                          <p:spTgt spid="5"/>
                                        </p:tgtEl>
                                        <p:attrNameLst>
                                          <p:attrName>ppt_x</p:attrName>
                                        </p:attrNameLst>
                                      </p:cBhvr>
                                      <p:tavLst>
                                        <p:tav tm="0">
                                          <p:val>
                                            <p:strVal val="0-#ppt_w/2"/>
                                          </p:val>
                                        </p:tav>
                                        <p:tav tm="100000">
                                          <p:val>
                                            <p:strVal val="#ppt_x"/>
                                          </p:val>
                                        </p:tav>
                                      </p:tavLst>
                                    </p:anim>
                                    <p:anim calcmode="lin" valueType="num">
                                      <p:cBhvr additive="base">
                                        <p:cTn id="20" dur="550" fill="hold"/>
                                        <p:tgtEl>
                                          <p:spTgt spid="5"/>
                                        </p:tgtEl>
                                        <p:attrNameLst>
                                          <p:attrName>ppt_y</p:attrName>
                                        </p:attrNameLst>
                                      </p:cBhvr>
                                      <p:tavLst>
                                        <p:tav tm="0">
                                          <p:val>
                                            <p:strVal val="#ppt_y"/>
                                          </p:val>
                                        </p:tav>
                                        <p:tav tm="100000">
                                          <p:val>
                                            <p:strVal val="#ppt_y"/>
                                          </p:val>
                                        </p:tav>
                                      </p:tavLst>
                                    </p:anim>
                                  </p:childTnLst>
                                </p:cTn>
                              </p:par>
                            </p:childTnLst>
                          </p:cTn>
                        </p:par>
                        <p:par>
                          <p:cTn id="21" fill="hold">
                            <p:stCondLst>
                              <p:cond delay="350"/>
                            </p:stCondLst>
                            <p:childTnLst>
                              <p:par>
                                <p:cTn id="22" presetID="22" presetClass="entr" presetSubtype="8" fill="hold" grpId="0" nodeType="afterEffect">
                                  <p:stCondLst>
                                    <p:cond delay="0"/>
                                  </p:stCondLst>
                                  <p:childTnLst>
                                    <p:set>
                                      <p:cBhvr>
                                        <p:cTn id="23" dur="1" fill="hold">
                                          <p:stCondLst>
                                            <p:cond delay="0"/>
                                          </p:stCondLst>
                                        </p:cTn>
                                        <p:tgtEl>
                                          <p:spTgt spid="6"/>
                                        </p:tgtEl>
                                        <p:attrNameLst>
                                          <p:attrName>style.visibility</p:attrName>
                                        </p:attrNameLst>
                                      </p:cBhvr>
                                      <p:to>
                                        <p:strVal val="visible"/>
                                      </p:to>
                                    </p:set>
                                    <p:animEffect transition="in" filter="wipe(left)">
                                      <p:cBhvr>
                                        <p:cTn id="25" dur="8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4" grpId="0" animBg="1"/>
      <p:bldP spid="5" grpId="0" animBg="1"/>
      <p:bldP spid="6" grpId="0" animBg="1"/>
    </p:bldLst>
  </p:timing>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200000"/>
            <a:ext cx="10400000" cy="650000"/>
          </a:xfrm>
          <a:prstGeom prst="rect">
            <a:avLst/>
          </a:prstGeom>
          <a:noFill/>
        </p:spPr>
        <p:txBody>
          <a:bodyPr wrap="square" anchor="ctr" lIns="50800" rIns="50800">
            <a:spAutoFit/>
          </a:bodyPr>
          <a:lstStyle/>
          <a:p>
            <a:pPr algn="l"/>
            <a:r>
              <a:rPr sz="2600" b="1">
                <a:solidFill>
                  <a:srgbClr val="FFFFFF"/>
                </a:solidFill>
                <a:latin typeface="Calibri"/>
              </a:rPr>
              <a:t>Mustaqil ish uchun topshiriq</a:t>
            </a:r>
          </a:p>
        </p:txBody>
      </p:sp>
      <p:sp>
        <p:nvSpPr>
          <p:cNvPr id="6" name="Rectangle 5"/>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A1 · Sun'iy intellektga asoslangan kompyuter tizimlari arxitekturasini tahlil qilish va loyihalash</a:t>
            </a:r>
          </a:p>
        </p:txBody>
      </p:sp>
      <p:sp>
        <p:nvSpPr>
          <p:cNvPr id="8" name="TextBox 7"/>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43</a:t>
            </a:r>
          </a:p>
        </p:txBody>
      </p:sp>
      <p:sp>
        <p:nvSpPr>
          <p:cNvPr id="9" name="Rounded Rectangle 8"/>
          <p:cNvSpPr/>
          <p:nvPr/>
        </p:nvSpPr>
        <p:spPr>
          <a:xfrm>
            <a:off x="550000" y="2076666"/>
            <a:ext cx="11100000" cy="1250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50000" y="2076666"/>
            <a:ext cx="70000" cy="1250000"/>
          </a:xfrm>
          <a:prstGeom prst="rect">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800000" y="2471666"/>
            <a:ext cx="460000" cy="460000"/>
          </a:xfrm>
          <a:prstGeom prst="ellipse">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1</a:t>
            </a:r>
          </a:p>
        </p:txBody>
      </p:sp>
      <p:sp>
        <p:nvSpPr>
          <p:cNvPr id="12" name="TextBox 11"/>
          <p:cNvSpPr txBox="1"/>
          <p:nvPr/>
        </p:nvSpPr>
        <p:spPr>
          <a:xfrm>
            <a:off x="1450000" y="2076666"/>
            <a:ext cx="10050000" cy="1250000"/>
          </a:xfrm>
          <a:prstGeom prst="rect">
            <a:avLst/>
          </a:prstGeom>
          <a:noFill/>
        </p:spPr>
        <p:txBody>
          <a:bodyPr wrap="square" anchor="ctr" lIns="50800" rIns="50800">
            <a:spAutoFit/>
          </a:bodyPr>
          <a:lstStyle/>
          <a:p>
            <a:pPr algn="l"/>
            <a:r>
              <a:rPr sz="1600" b="0">
                <a:solidFill>
                  <a:srgbClr val="1B2430"/>
                </a:solidFill>
                <a:latin typeface="Calibri"/>
              </a:rPr>
              <a:t>1-topshiriq (sillabusdagi 3-mustaqil ta'lim topshirig'iga bog'liq). O'zingiz tanlagan amaliy masala (tibbiy tasvir tahlili, nutqni aniqlash, tavsiya tizimi yoki sanoat nazorati) uchun CPU, GPU, TPU, NPU va FPGA sinflaridan kamida to'rtta aniq platformaning…</a:t>
            </a:r>
          </a:p>
        </p:txBody>
      </p:sp>
      <p:sp>
        <p:nvSpPr>
          <p:cNvPr id="13" name="Rounded Rectangle 12"/>
          <p:cNvSpPr/>
          <p:nvPr/>
        </p:nvSpPr>
        <p:spPr>
          <a:xfrm>
            <a:off x="550000" y="3446666"/>
            <a:ext cx="11100000" cy="1250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550000" y="3446666"/>
            <a:ext cx="70000" cy="1250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00000" y="3841666"/>
            <a:ext cx="460000" cy="46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2</a:t>
            </a:r>
          </a:p>
        </p:txBody>
      </p:sp>
      <p:sp>
        <p:nvSpPr>
          <p:cNvPr id="16" name="TextBox 15"/>
          <p:cNvSpPr txBox="1"/>
          <p:nvPr/>
        </p:nvSpPr>
        <p:spPr>
          <a:xfrm>
            <a:off x="1450000" y="3446666"/>
            <a:ext cx="10050000" cy="1250000"/>
          </a:xfrm>
          <a:prstGeom prst="rect">
            <a:avLst/>
          </a:prstGeom>
          <a:noFill/>
        </p:spPr>
        <p:txBody>
          <a:bodyPr wrap="square" anchor="ctr" lIns="50800" rIns="50800">
            <a:spAutoFit/>
          </a:bodyPr>
          <a:lstStyle/>
          <a:p>
            <a:pPr algn="l"/>
            <a:r>
              <a:rPr sz="1600" b="0">
                <a:solidFill>
                  <a:srgbClr val="1B2430"/>
                </a:solidFill>
                <a:latin typeface="Calibri"/>
              </a:rPr>
              <a:t>2-topshiriq (sillabusdagi 1-mustaqil ta'lim topshirig'iga bog'liq). Real dunyo AI mahsuloti (masalan, video-oqim platformasidagi tavsiya tizimi yoki logistika kompaniyasidagi talab prognozi) hayot siklini o'rganib, uning hisoblash arxitekturasini to'rt…</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55"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5"/>
                                        </p:tgtEl>
                                        <p:attrNameLst>
                                          <p:attrName>style.visibility</p:attrName>
                                        </p:attrNameLst>
                                      </p:cBhvr>
                                      <p:to>
                                        <p:strVal val="visible"/>
                                      </p:to>
                                    </p:set>
                                    <p:animEffect transition="in" filter="fade">
                                      <p:cBhvr>
                                        <p:cTn id="6" dur="550"/>
                                        <p:tgtEl>
                                          <p:spTgt spid="5"/>
                                        </p:tgtEl>
                                      </p:cBhvr>
                                    </p:animEffect>
                                  </p:childTnLst>
                                </p:cTn>
                              </p:par>
                            </p:childTnLst>
                          </p:cTn>
                        </p:par>
                        <p:par>
                          <p:cTn id="7" fill="hold">
                            <p:stCondLst>
                              <p:cond delay="220"/>
                            </p:stCondLst>
                            <p:childTnLst>
                              <p:par>
                                <p:cTn id="8" presetID="42" presetClass="entr" presetSubtype="0" fill="hold" grpId="0" nodeType="afterEffect">
                                  <p:stCondLst>
                                    <p:cond delay="0"/>
                                  </p:stCondLst>
                                  <p:childTnLst>
                                    <p:set>
                                      <p:cBhvr>
                                        <p:cTn id="9" dur="1" fill="hold">
                                          <p:stCondLst>
                                            <p:cond delay="0"/>
                                          </p:stCondLst>
                                        </p:cTn>
                                        <p:tgtEl>
                                          <p:spTgt spid="9"/>
                                        </p:tgtEl>
                                        <p:attrNameLst>
                                          <p:attrName>style.visibility</p:attrName>
                                        </p:attrNameLst>
                                      </p:cBhvr>
                                      <p:to>
                                        <p:strVal val="visible"/>
                                      </p:to>
                                    </p:set>
                                    <p:animEffect transition="in" filter="fade">
                                      <p:cBhvr>
                                        <p:cTn id="10" dur="550"/>
                                        <p:tgtEl>
                                          <p:spTgt spid="9"/>
                                        </p:tgtEl>
                                      </p:cBhvr>
                                    </p:animEffect>
                                    <p:anim calcmode="lin" valueType="num">
                                      <p:cBhvr additive="base">
                                        <p:cTn id="11" dur="550" fill="hold"/>
                                        <p:tgtEl>
                                          <p:spTgt spid="9"/>
                                        </p:tgtEl>
                                        <p:attrNameLst>
                                          <p:attrName>ppt_x</p:attrName>
                                        </p:attrNameLst>
                                      </p:cBhvr>
                                      <p:tavLst>
                                        <p:tav tm="0">
                                          <p:val>
                                            <p:strVal val="#ppt_x"/>
                                          </p:val>
                                        </p:tav>
                                        <p:tav tm="100000">
                                          <p:val>
                                            <p:strVal val="#ppt_x"/>
                                          </p:val>
                                        </p:tav>
                                      </p:tavLst>
                                    </p:anim>
                                    <p:anim calcmode="lin" valueType="num">
                                      <p:cBhvr additive="base">
                                        <p:cTn id="12" dur="550" fill="hold"/>
                                        <p:tgtEl>
                                          <p:spTgt spid="9"/>
                                        </p:tgtEl>
                                        <p:attrNameLst>
                                          <p:attrName>ppt_y</p:attrName>
                                        </p:attrNameLst>
                                      </p:cBhvr>
                                      <p:tavLst>
                                        <p:tav tm="0">
                                          <p:val>
                                            <p:strVal val="#ppt_y+.08"/>
                                          </p:val>
                                        </p:tav>
                                        <p:tav tm="100000">
                                          <p:val>
                                            <p:strVal val="#ppt_y"/>
                                          </p:val>
                                        </p:tav>
                                      </p:tavLst>
                                    </p:anim>
                                  </p:childTnLst>
                                </p:cTn>
                              </p:par>
                            </p:childTnLst>
                          </p:cTn>
                        </p:par>
                        <p:par>
                          <p:cTn id="13" fill="hold">
                            <p:stCondLst>
                              <p:cond delay="220"/>
                            </p:stCondLst>
                            <p:childTnLst>
                              <p:par>
                                <p:cTn id="14" presetID="42" presetClass="entr" presetSubtype="0" fill="hold" grpId="0" nodeType="afterEffect">
                                  <p:stCondLst>
                                    <p:cond delay="0"/>
                                  </p:stCondLst>
                                  <p:childTnLst>
                                    <p:set>
                                      <p:cBhvr>
                                        <p:cTn id="15" dur="1" fill="hold">
                                          <p:stCondLst>
                                            <p:cond delay="0"/>
                                          </p:stCondLst>
                                        </p:cTn>
                                        <p:tgtEl>
                                          <p:spTgt spid="10"/>
                                        </p:tgtEl>
                                        <p:attrNameLst>
                                          <p:attrName>style.visibility</p:attrName>
                                        </p:attrNameLst>
                                      </p:cBhvr>
                                      <p:to>
                                        <p:strVal val="visible"/>
                                      </p:to>
                                    </p:set>
                                    <p:animEffect transition="in" filter="fade">
                                      <p:cBhvr>
                                        <p:cTn id="16" dur="550"/>
                                        <p:tgtEl>
                                          <p:spTgt spid="10"/>
                                        </p:tgtEl>
                                      </p:cBhvr>
                                    </p:animEffect>
                                    <p:anim calcmode="lin" valueType="num">
                                      <p:cBhvr additive="base">
                                        <p:cTn id="17" dur="550" fill="hold"/>
                                        <p:tgtEl>
                                          <p:spTgt spid="10"/>
                                        </p:tgtEl>
                                        <p:attrNameLst>
                                          <p:attrName>ppt_x</p:attrName>
                                        </p:attrNameLst>
                                      </p:cBhvr>
                                      <p:tavLst>
                                        <p:tav tm="0">
                                          <p:val>
                                            <p:strVal val="#ppt_x"/>
                                          </p:val>
                                        </p:tav>
                                        <p:tav tm="100000">
                                          <p:val>
                                            <p:strVal val="#ppt_x"/>
                                          </p:val>
                                        </p:tav>
                                      </p:tavLst>
                                    </p:anim>
                                    <p:anim calcmode="lin" valueType="num">
                                      <p:cBhvr additive="base">
                                        <p:cTn id="18" dur="550" fill="hold"/>
                                        <p:tgtEl>
                                          <p:spTgt spid="10"/>
                                        </p:tgtEl>
                                        <p:attrNameLst>
                                          <p:attrName>ppt_y</p:attrName>
                                        </p:attrNameLst>
                                      </p:cBhvr>
                                      <p:tavLst>
                                        <p:tav tm="0">
                                          <p:val>
                                            <p:strVal val="#ppt_y+.08"/>
                                          </p:val>
                                        </p:tav>
                                        <p:tav tm="100000">
                                          <p:val>
                                            <p:strVal val="#ppt_y"/>
                                          </p:val>
                                        </p:tav>
                                      </p:tavLst>
                                    </p:anim>
                                  </p:childTnLst>
                                </p:cTn>
                              </p:par>
                            </p:childTnLst>
                          </p:cTn>
                        </p:par>
                        <p:par>
                          <p:cTn id="19" fill="hold">
                            <p:stCondLst>
                              <p:cond delay="220"/>
                            </p:stCondLst>
                            <p:childTnLst>
                              <p:par>
                                <p:cTn id="20" presetID="53" presetClass="entr" presetSubtype="16" fill="hold" grpId="0" nodeType="afterEffect">
                                  <p:stCondLst>
                                    <p:cond delay="0"/>
                                  </p:stCondLst>
                                  <p:childTnLst>
                                    <p:set>
                                      <p:cBhvr>
                                        <p:cTn id="21" dur="1" fill="hold">
                                          <p:stCondLst>
                                            <p:cond delay="0"/>
                                          </p:stCondLst>
                                        </p:cTn>
                                        <p:tgtEl>
                                          <p:spTgt spid="11"/>
                                        </p:tgtEl>
                                        <p:attrNameLst>
                                          <p:attrName>style.visibility</p:attrName>
                                        </p:attrNameLst>
                                      </p:cBhvr>
                                      <p:to>
                                        <p:strVal val="visible"/>
                                      </p:to>
                                    </p:set>
                                    <p:animEffect transition="in" filter="fade">
                                      <p:cBhvr>
                                        <p:cTn id="22" dur="550"/>
                                        <p:tgtEl>
                                          <p:spTgt spid="11"/>
                                        </p:tgtEl>
                                      </p:cBhvr>
                                    </p:animEffect>
                                    <p:anim calcmode="lin" valueType="num">
                                      <p:cBhvr additive="base">
                                        <p:cTn id="23" dur="550" fill="hold"/>
                                        <p:tgtEl>
                                          <p:spTgt spid="11"/>
                                        </p:tgtEl>
                                        <p:attrNameLst>
                                          <p:attrName>ppt_w</p:attrName>
                                        </p:attrNameLst>
                                      </p:cBhvr>
                                      <p:tavLst>
                                        <p:tav tm="0">
                                          <p:val>
                                            <p:strVal val="0"/>
                                          </p:val>
                                        </p:tav>
                                        <p:tav tm="100000">
                                          <p:val>
                                            <p:strVal val="#ppt_w"/>
                                          </p:val>
                                        </p:tav>
                                      </p:tavLst>
                                    </p:anim>
                                    <p:anim calcmode="lin" valueType="num">
                                      <p:cBhvr additive="base">
                                        <p:cTn id="24" dur="550" fill="hold"/>
                                        <p:tgtEl>
                                          <p:spTgt spid="11"/>
                                        </p:tgtEl>
                                        <p:attrNameLst>
                                          <p:attrName>ppt_h</p:attrName>
                                        </p:attrNameLst>
                                      </p:cBhvr>
                                      <p:tavLst>
                                        <p:tav tm="0">
                                          <p:val>
                                            <p:strVal val="0"/>
                                          </p:val>
                                        </p:tav>
                                        <p:tav tm="100000">
                                          <p:val>
                                            <p:strVal val="#ppt_h"/>
                                          </p:val>
                                        </p:tav>
                                      </p:tavLst>
                                    </p:anim>
                                  </p:childTnLst>
                                </p:cTn>
                              </p:par>
                            </p:childTnLst>
                          </p:cTn>
                        </p:par>
                        <p:par>
                          <p:cTn id="25" fill="hold">
                            <p:stCondLst>
                              <p:cond delay="220"/>
                            </p:stCondLst>
                            <p:childTnLst>
                              <p:par>
                                <p:cTn id="26" presetID="42" presetClass="entr" presetSubtype="0" fill="hold" grpId="0" nodeType="afterEffect">
                                  <p:stCondLst>
                                    <p:cond delay="0"/>
                                  </p:stCondLst>
                                  <p:childTnLst>
                                    <p:set>
                                      <p:cBhvr>
                                        <p:cTn id="27" dur="1" fill="hold">
                                          <p:stCondLst>
                                            <p:cond delay="0"/>
                                          </p:stCondLst>
                                        </p:cTn>
                                        <p:tgtEl>
                                          <p:spTgt spid="12"/>
                                        </p:tgtEl>
                                        <p:attrNameLst>
                                          <p:attrName>style.visibility</p:attrName>
                                        </p:attrNameLst>
                                      </p:cBhvr>
                                      <p:to>
                                        <p:strVal val="visible"/>
                                      </p:to>
                                    </p:set>
                                    <p:animEffect transition="in" filter="fade">
                                      <p:cBhvr>
                                        <p:cTn id="28" dur="550"/>
                                        <p:tgtEl>
                                          <p:spTgt spid="12"/>
                                        </p:tgtEl>
                                      </p:cBhvr>
                                    </p:animEffect>
                                    <p:anim calcmode="lin" valueType="num">
                                      <p:cBhvr additive="base">
                                        <p:cTn id="29" dur="550" fill="hold"/>
                                        <p:tgtEl>
                                          <p:spTgt spid="12"/>
                                        </p:tgtEl>
                                        <p:attrNameLst>
                                          <p:attrName>ppt_x</p:attrName>
                                        </p:attrNameLst>
                                      </p:cBhvr>
                                      <p:tavLst>
                                        <p:tav tm="0">
                                          <p:val>
                                            <p:strVal val="#ppt_x"/>
                                          </p:val>
                                        </p:tav>
                                        <p:tav tm="100000">
                                          <p:val>
                                            <p:strVal val="#ppt_x"/>
                                          </p:val>
                                        </p:tav>
                                      </p:tavLst>
                                    </p:anim>
                                    <p:anim calcmode="lin" valueType="num">
                                      <p:cBhvr additive="base">
                                        <p:cTn id="30" dur="550" fill="hold"/>
                                        <p:tgtEl>
                                          <p:spTgt spid="12"/>
                                        </p:tgtEl>
                                        <p:attrNameLst>
                                          <p:attrName>ppt_y</p:attrName>
                                        </p:attrNameLst>
                                      </p:cBhvr>
                                      <p:tavLst>
                                        <p:tav tm="0">
                                          <p:val>
                                            <p:strVal val="#ppt_y+.08"/>
                                          </p:val>
                                        </p:tav>
                                        <p:tav tm="100000">
                                          <p:val>
                                            <p:strVal val="#ppt_y"/>
                                          </p:val>
                                        </p:tav>
                                      </p:tavLst>
                                    </p:anim>
                                  </p:childTnLst>
                                </p:cTn>
                              </p:par>
                            </p:childTnLst>
                          </p:cTn>
                        </p:par>
                        <p:par>
                          <p:cTn id="31" fill="hold">
                            <p:stCondLst>
                              <p:cond delay="440"/>
                            </p:stCondLst>
                            <p:childTnLst>
                              <p:par>
                                <p:cTn id="32" presetID="42" presetClass="entr" presetSubtype="0" fill="hold" grpId="0" nodeType="afterEffect">
                                  <p:stCondLst>
                                    <p:cond delay="0"/>
                                  </p:stCondLst>
                                  <p:childTnLst>
                                    <p:set>
                                      <p:cBhvr>
                                        <p:cTn id="33" dur="1" fill="hold">
                                          <p:stCondLst>
                                            <p:cond delay="0"/>
                                          </p:stCondLst>
                                        </p:cTn>
                                        <p:tgtEl>
                                          <p:spTgt spid="13"/>
                                        </p:tgtEl>
                                        <p:attrNameLst>
                                          <p:attrName>style.visibility</p:attrName>
                                        </p:attrNameLst>
                                      </p:cBhvr>
                                      <p:to>
                                        <p:strVal val="visible"/>
                                      </p:to>
                                    </p:set>
                                    <p:animEffect transition="in" filter="fade">
                                      <p:cBhvr>
                                        <p:cTn id="34" dur="550"/>
                                        <p:tgtEl>
                                          <p:spTgt spid="13"/>
                                        </p:tgtEl>
                                      </p:cBhvr>
                                    </p:animEffect>
                                    <p:anim calcmode="lin" valueType="num">
                                      <p:cBhvr additive="base">
                                        <p:cTn id="35" dur="550" fill="hold"/>
                                        <p:tgtEl>
                                          <p:spTgt spid="13"/>
                                        </p:tgtEl>
                                        <p:attrNameLst>
                                          <p:attrName>ppt_x</p:attrName>
                                        </p:attrNameLst>
                                      </p:cBhvr>
                                      <p:tavLst>
                                        <p:tav tm="0">
                                          <p:val>
                                            <p:strVal val="#ppt_x"/>
                                          </p:val>
                                        </p:tav>
                                        <p:tav tm="100000">
                                          <p:val>
                                            <p:strVal val="#ppt_x"/>
                                          </p:val>
                                        </p:tav>
                                      </p:tavLst>
                                    </p:anim>
                                    <p:anim calcmode="lin" valueType="num">
                                      <p:cBhvr additive="base">
                                        <p:cTn id="36" dur="550" fill="hold"/>
                                        <p:tgtEl>
                                          <p:spTgt spid="13"/>
                                        </p:tgtEl>
                                        <p:attrNameLst>
                                          <p:attrName>ppt_y</p:attrName>
                                        </p:attrNameLst>
                                      </p:cBhvr>
                                      <p:tavLst>
                                        <p:tav tm="0">
                                          <p:val>
                                            <p:strVal val="#ppt_y+.08"/>
                                          </p:val>
                                        </p:tav>
                                        <p:tav tm="100000">
                                          <p:val>
                                            <p:strVal val="#ppt_y"/>
                                          </p:val>
                                        </p:tav>
                                      </p:tavLst>
                                    </p:anim>
                                  </p:childTnLst>
                                </p:cTn>
                              </p:par>
                            </p:childTnLst>
                          </p:cTn>
                        </p:par>
                        <p:par>
                          <p:cTn id="37" fill="hold">
                            <p:stCondLst>
                              <p:cond delay="440"/>
                            </p:stCondLst>
                            <p:childTnLst>
                              <p:par>
                                <p:cTn id="38" presetID="42" presetClass="entr" presetSubtype="0" fill="hold" grpId="0" nodeType="afterEffect">
                                  <p:stCondLst>
                                    <p:cond delay="0"/>
                                  </p:stCondLst>
                                  <p:childTnLst>
                                    <p:set>
                                      <p:cBhvr>
                                        <p:cTn id="39" dur="1" fill="hold">
                                          <p:stCondLst>
                                            <p:cond delay="0"/>
                                          </p:stCondLst>
                                        </p:cTn>
                                        <p:tgtEl>
                                          <p:spTgt spid="14"/>
                                        </p:tgtEl>
                                        <p:attrNameLst>
                                          <p:attrName>style.visibility</p:attrName>
                                        </p:attrNameLst>
                                      </p:cBhvr>
                                      <p:to>
                                        <p:strVal val="visible"/>
                                      </p:to>
                                    </p:set>
                                    <p:animEffect transition="in" filter="fade">
                                      <p:cBhvr>
                                        <p:cTn id="40" dur="550"/>
                                        <p:tgtEl>
                                          <p:spTgt spid="14"/>
                                        </p:tgtEl>
                                      </p:cBhvr>
                                    </p:animEffect>
                                    <p:anim calcmode="lin" valueType="num">
                                      <p:cBhvr additive="base">
                                        <p:cTn id="41" dur="550" fill="hold"/>
                                        <p:tgtEl>
                                          <p:spTgt spid="14"/>
                                        </p:tgtEl>
                                        <p:attrNameLst>
                                          <p:attrName>ppt_x</p:attrName>
                                        </p:attrNameLst>
                                      </p:cBhvr>
                                      <p:tavLst>
                                        <p:tav tm="0">
                                          <p:val>
                                            <p:strVal val="#ppt_x"/>
                                          </p:val>
                                        </p:tav>
                                        <p:tav tm="100000">
                                          <p:val>
                                            <p:strVal val="#ppt_x"/>
                                          </p:val>
                                        </p:tav>
                                      </p:tavLst>
                                    </p:anim>
                                    <p:anim calcmode="lin" valueType="num">
                                      <p:cBhvr additive="base">
                                        <p:cTn id="42" dur="550" fill="hold"/>
                                        <p:tgtEl>
                                          <p:spTgt spid="14"/>
                                        </p:tgtEl>
                                        <p:attrNameLst>
                                          <p:attrName>ppt_y</p:attrName>
                                        </p:attrNameLst>
                                      </p:cBhvr>
                                      <p:tavLst>
                                        <p:tav tm="0">
                                          <p:val>
                                            <p:strVal val="#ppt_y+.08"/>
                                          </p:val>
                                        </p:tav>
                                        <p:tav tm="100000">
                                          <p:val>
                                            <p:strVal val="#ppt_y"/>
                                          </p:val>
                                        </p:tav>
                                      </p:tavLst>
                                    </p:anim>
                                  </p:childTnLst>
                                </p:cTn>
                              </p:par>
                            </p:childTnLst>
                          </p:cTn>
                        </p:par>
                        <p:par>
                          <p:cTn id="43" fill="hold">
                            <p:stCondLst>
                              <p:cond delay="440"/>
                            </p:stCondLst>
                            <p:childTnLst>
                              <p:par>
                                <p:cTn id="44" presetID="53" presetClass="entr" presetSubtype="16" fill="hold" grpId="0" nodeType="afterEffect">
                                  <p:stCondLst>
                                    <p:cond delay="0"/>
                                  </p:stCondLst>
                                  <p:childTnLst>
                                    <p:set>
                                      <p:cBhvr>
                                        <p:cTn id="45" dur="1" fill="hold">
                                          <p:stCondLst>
                                            <p:cond delay="0"/>
                                          </p:stCondLst>
                                        </p:cTn>
                                        <p:tgtEl>
                                          <p:spTgt spid="15"/>
                                        </p:tgtEl>
                                        <p:attrNameLst>
                                          <p:attrName>style.visibility</p:attrName>
                                        </p:attrNameLst>
                                      </p:cBhvr>
                                      <p:to>
                                        <p:strVal val="visible"/>
                                      </p:to>
                                    </p:set>
                                    <p:animEffect transition="in" filter="fade">
                                      <p:cBhvr>
                                        <p:cTn id="46" dur="550"/>
                                        <p:tgtEl>
                                          <p:spTgt spid="15"/>
                                        </p:tgtEl>
                                      </p:cBhvr>
                                    </p:animEffect>
                                    <p:anim calcmode="lin" valueType="num">
                                      <p:cBhvr additive="base">
                                        <p:cTn id="47" dur="550" fill="hold"/>
                                        <p:tgtEl>
                                          <p:spTgt spid="15"/>
                                        </p:tgtEl>
                                        <p:attrNameLst>
                                          <p:attrName>ppt_w</p:attrName>
                                        </p:attrNameLst>
                                      </p:cBhvr>
                                      <p:tavLst>
                                        <p:tav tm="0">
                                          <p:val>
                                            <p:strVal val="0"/>
                                          </p:val>
                                        </p:tav>
                                        <p:tav tm="100000">
                                          <p:val>
                                            <p:strVal val="#ppt_w"/>
                                          </p:val>
                                        </p:tav>
                                      </p:tavLst>
                                    </p:anim>
                                    <p:anim calcmode="lin" valueType="num">
                                      <p:cBhvr additive="base">
                                        <p:cTn id="48" dur="550" fill="hold"/>
                                        <p:tgtEl>
                                          <p:spTgt spid="15"/>
                                        </p:tgtEl>
                                        <p:attrNameLst>
                                          <p:attrName>ppt_h</p:attrName>
                                        </p:attrNameLst>
                                      </p:cBhvr>
                                      <p:tavLst>
                                        <p:tav tm="0">
                                          <p:val>
                                            <p:strVal val="0"/>
                                          </p:val>
                                        </p:tav>
                                        <p:tav tm="100000">
                                          <p:val>
                                            <p:strVal val="#ppt_h"/>
                                          </p:val>
                                        </p:tav>
                                      </p:tavLst>
                                    </p:anim>
                                  </p:childTnLst>
                                </p:cTn>
                              </p:par>
                            </p:childTnLst>
                          </p:cTn>
                        </p:par>
                        <p:par>
                          <p:cTn id="49" fill="hold">
                            <p:stCondLst>
                              <p:cond delay="440"/>
                            </p:stCondLst>
                            <p:childTnLst>
                              <p:par>
                                <p:cTn id="50" presetID="42" presetClass="entr" presetSubtype="0" fill="hold" grpId="0" nodeType="afterEffect">
                                  <p:stCondLst>
                                    <p:cond delay="0"/>
                                  </p:stCondLst>
                                  <p:childTnLst>
                                    <p:set>
                                      <p:cBhvr>
                                        <p:cTn id="51" dur="1" fill="hold">
                                          <p:stCondLst>
                                            <p:cond delay="0"/>
                                          </p:stCondLst>
                                        </p:cTn>
                                        <p:tgtEl>
                                          <p:spTgt spid="16"/>
                                        </p:tgtEl>
                                        <p:attrNameLst>
                                          <p:attrName>style.visibility</p:attrName>
                                        </p:attrNameLst>
                                      </p:cBhvr>
                                      <p:to>
                                        <p:strVal val="visible"/>
                                      </p:to>
                                    </p:set>
                                    <p:animEffect transition="in" filter="fade">
                                      <p:cBhvr>
                                        <p:cTn id="52" dur="550"/>
                                        <p:tgtEl>
                                          <p:spTgt spid="16"/>
                                        </p:tgtEl>
                                      </p:cBhvr>
                                    </p:animEffect>
                                    <p:anim calcmode="lin" valueType="num">
                                      <p:cBhvr additive="base">
                                        <p:cTn id="53" dur="550" fill="hold"/>
                                        <p:tgtEl>
                                          <p:spTgt spid="16"/>
                                        </p:tgtEl>
                                        <p:attrNameLst>
                                          <p:attrName>ppt_x</p:attrName>
                                        </p:attrNameLst>
                                      </p:cBhvr>
                                      <p:tavLst>
                                        <p:tav tm="0">
                                          <p:val>
                                            <p:strVal val="#ppt_x"/>
                                          </p:val>
                                        </p:tav>
                                        <p:tav tm="100000">
                                          <p:val>
                                            <p:strVal val="#ppt_x"/>
                                          </p:val>
                                        </p:tav>
                                      </p:tavLst>
                                    </p:anim>
                                    <p:anim calcmode="lin" valueType="num">
                                      <p:cBhvr additive="base">
                                        <p:cTn id="54" dur="550" fill="hold"/>
                                        <p:tgtEl>
                                          <p:spTgt spid="16"/>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9" grpId="0" animBg="1"/>
      <p:bldP spid="10" grpId="0" animBg="1"/>
      <p:bldP spid="11" grpId="0" animBg="1"/>
      <p:bldP spid="12" grpId="0" animBg="1"/>
      <p:bldP spid="13" grpId="0" animBg="1"/>
      <p:bldP spid="14" grpId="0" animBg="1"/>
      <p:bldP spid="15" grpId="0" animBg="1"/>
      <p:bldP spid="16" grpId="0" animBg="1"/>
    </p:bldLst>
  </p:timing>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162E4D"/>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900000" y="1700000"/>
            <a:ext cx="3000000" cy="3000000"/>
          </a:xfrm>
          <a:prstGeom prst="ellipse">
            <a:avLst/>
          </a:prstGeom>
          <a:noFill/>
          <a:ln w="76200">
            <a:solidFill>
              <a:srgbClr val="7FD6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00000" y="2350000"/>
            <a:ext cx="3000000" cy="1700000"/>
          </a:xfrm>
          <a:prstGeom prst="rect">
            <a:avLst/>
          </a:prstGeom>
          <a:noFill/>
        </p:spPr>
        <p:txBody>
          <a:bodyPr wrap="square" anchor="ctr" lIns="50800" rIns="50800">
            <a:spAutoFit/>
          </a:bodyPr>
          <a:lstStyle/>
          <a:p>
            <a:pPr algn="ctr"/>
            <a:r>
              <a:rPr sz="7200" b="1">
                <a:solidFill>
                  <a:srgbClr val="FFFFFF"/>
                </a:solidFill>
                <a:latin typeface="Calibri"/>
              </a:rPr>
              <a:t>09</a:t>
            </a:r>
          </a:p>
        </p:txBody>
      </p:sp>
      <p:sp>
        <p:nvSpPr>
          <p:cNvPr id="5" name="TextBox 4"/>
          <p:cNvSpPr txBox="1"/>
          <p:nvPr/>
        </p:nvSpPr>
        <p:spPr>
          <a:xfrm>
            <a:off x="4500000" y="2400000"/>
            <a:ext cx="7000000" cy="1600000"/>
          </a:xfrm>
          <a:prstGeom prst="rect">
            <a:avLst/>
          </a:prstGeom>
          <a:noFill/>
        </p:spPr>
        <p:txBody>
          <a:bodyPr wrap="square" anchor="ctr" lIns="50800" rIns="50800">
            <a:spAutoFit/>
          </a:bodyPr>
          <a:lstStyle/>
          <a:p>
            <a:pPr algn="l"/>
            <a:r>
              <a:rPr sz="3600" b="1">
                <a:solidFill>
                  <a:srgbClr val="FFFFFF"/>
                </a:solidFill>
                <a:latin typeface="Calibri"/>
              </a:rPr>
              <a:t>Qo'shimcha topshiriqlar (10 ta)</a:t>
            </a:r>
          </a:p>
        </p:txBody>
      </p:sp>
      <p:sp>
        <p:nvSpPr>
          <p:cNvPr id="6" name="Rectangle 5"/>
          <p:cNvSpPr/>
          <p:nvPr/>
        </p:nvSpPr>
        <p:spPr>
          <a:xfrm>
            <a:off x="4550000" y="4100000"/>
            <a:ext cx="2200000" cy="60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transition spd="med">
    <p:push dir="u"/>
  </p:transition>
  <p:timing>
    <p:tnLst>
      <p:par>
        <p:cTn id="1" dur="indefinite" restart="never" nodeType="tmRoot">
          <p:childTnLst>
            <p:seq concurrent="1" nextAc="seek">
              <p:cTn id="2" dur="indefinite" nodeType="mainSeq">
                <p:childTnLst>
                  <p:par>
                    <p:cTn id="26" fill="hold">
                      <p:stCondLst>
                        <p:cond delay="indefinite"/>
                        <p:cond evt="onBegin" delay="0">
                          <p:tn val="2"/>
                        </p:cond>
                      </p:stCondLst>
                      <p:childTnLst>
                        <p:par>
                          <p:cTn id="3" fill="hold">
                            <p:stCondLst>
                              <p:cond delay="0"/>
                            </p:stCondLst>
                            <p:childTnLst>
                              <p:par>
                                <p:cTn id="4" presetID="53" presetClass="entr" presetSubtype="16" fill="hold" grpId="0" nodeType="withEffect">
                                  <p:stCondLst>
                                    <p:cond delay="0"/>
                                  </p:stCondLst>
                                  <p:childTnLst>
                                    <p:set>
                                      <p:cBhvr>
                                        <p:cTn id="5" dur="1" fill="hold">
                                          <p:stCondLst>
                                            <p:cond delay="0"/>
                                          </p:stCondLst>
                                        </p:cTn>
                                        <p:tgtEl>
                                          <p:spTgt spid="3"/>
                                        </p:tgtEl>
                                        <p:attrNameLst>
                                          <p:attrName>style.visibility</p:attrName>
                                        </p:attrNameLst>
                                      </p:cBhvr>
                                      <p:to>
                                        <p:strVal val="visible"/>
                                      </p:to>
                                    </p:set>
                                    <p:animEffect transition="in" filter="fade">
                                      <p:cBhvr>
                                        <p:cTn id="6" dur="550"/>
                                        <p:tgtEl>
                                          <p:spTgt spid="3"/>
                                        </p:tgtEl>
                                      </p:cBhvr>
                                    </p:animEffect>
                                    <p:anim calcmode="lin" valueType="num">
                                      <p:cBhvr additive="base">
                                        <p:cTn id="7" dur="550" fill="hold"/>
                                        <p:tgtEl>
                                          <p:spTgt spid="3"/>
                                        </p:tgtEl>
                                        <p:attrNameLst>
                                          <p:attrName>ppt_w</p:attrName>
                                        </p:attrNameLst>
                                      </p:cBhvr>
                                      <p:tavLst>
                                        <p:tav tm="0">
                                          <p:val>
                                            <p:strVal val="0"/>
                                          </p:val>
                                        </p:tav>
                                        <p:tav tm="100000">
                                          <p:val>
                                            <p:strVal val="#ppt_w"/>
                                          </p:val>
                                        </p:tav>
                                      </p:tavLst>
                                    </p:anim>
                                    <p:anim calcmode="lin" valueType="num">
                                      <p:cBhvr additive="base">
                                        <p:cTn id="8" dur="550" fill="hold"/>
                                        <p:tgtEl>
                                          <p:spTgt spid="3"/>
                                        </p:tgtEl>
                                        <p:attrNameLst>
                                          <p:attrName>ppt_h</p:attrName>
                                        </p:attrNameLst>
                                      </p:cBhvr>
                                      <p:tavLst>
                                        <p:tav tm="0">
                                          <p:val>
                                            <p:strVal val="0"/>
                                          </p:val>
                                        </p:tav>
                                        <p:tav tm="100000">
                                          <p:val>
                                            <p:strVal val="#ppt_h"/>
                                          </p:val>
                                        </p:tav>
                                      </p:tavLst>
                                    </p:anim>
                                  </p:childTnLst>
                                </p:cTn>
                              </p:par>
                            </p:childTnLst>
                          </p:cTn>
                        </p:par>
                        <p:par>
                          <p:cTn id="9" fill="hold">
                            <p:stCondLst>
                              <p:cond delay="100"/>
                            </p:stCondLst>
                            <p:childTnLst>
                              <p:par>
                                <p:cTn id="10" presetID="53" presetClass="entr" presetSubtype="16" fill="hold" grpId="0" nodeType="afterEffect">
                                  <p:stCondLst>
                                    <p:cond delay="0"/>
                                  </p:stCondLst>
                                  <p:childTnLst>
                                    <p:set>
                                      <p:cBhvr>
                                        <p:cTn id="11" dur="1" fill="hold">
                                          <p:stCondLst>
                                            <p:cond delay="0"/>
                                          </p:stCondLst>
                                        </p:cTn>
                                        <p:tgtEl>
                                          <p:spTgt spid="4"/>
                                        </p:tgtEl>
                                        <p:attrNameLst>
                                          <p:attrName>style.visibility</p:attrName>
                                        </p:attrNameLst>
                                      </p:cBhvr>
                                      <p:to>
                                        <p:strVal val="visible"/>
                                      </p:to>
                                    </p:set>
                                    <p:animEffect transition="in" filter="fade">
                                      <p:cBhvr>
                                        <p:cTn id="12" dur="550"/>
                                        <p:tgtEl>
                                          <p:spTgt spid="4"/>
                                        </p:tgtEl>
                                      </p:cBhvr>
                                    </p:animEffect>
                                    <p:anim calcmode="lin" valueType="num">
                                      <p:cBhvr additive="base">
                                        <p:cTn id="13" dur="550" fill="hold"/>
                                        <p:tgtEl>
                                          <p:spTgt spid="4"/>
                                        </p:tgtEl>
                                        <p:attrNameLst>
                                          <p:attrName>ppt_w</p:attrName>
                                        </p:attrNameLst>
                                      </p:cBhvr>
                                      <p:tavLst>
                                        <p:tav tm="0">
                                          <p:val>
                                            <p:strVal val="0"/>
                                          </p:val>
                                        </p:tav>
                                        <p:tav tm="100000">
                                          <p:val>
                                            <p:strVal val="#ppt_w"/>
                                          </p:val>
                                        </p:tav>
                                      </p:tavLst>
                                    </p:anim>
                                    <p:anim calcmode="lin" valueType="num">
                                      <p:cBhvr additive="base">
                                        <p:cTn id="14" dur="550" fill="hold"/>
                                        <p:tgtEl>
                                          <p:spTgt spid="4"/>
                                        </p:tgtEl>
                                        <p:attrNameLst>
                                          <p:attrName>ppt_h</p:attrName>
                                        </p:attrNameLst>
                                      </p:cBhvr>
                                      <p:tavLst>
                                        <p:tav tm="0">
                                          <p:val>
                                            <p:strVal val="0"/>
                                          </p:val>
                                        </p:tav>
                                        <p:tav tm="100000">
                                          <p:val>
                                            <p:strVal val="#ppt_h"/>
                                          </p:val>
                                        </p:tav>
                                      </p:tavLst>
                                    </p:anim>
                                  </p:childTnLst>
                                </p:cTn>
                              </p:par>
                            </p:childTnLst>
                          </p:cTn>
                        </p:par>
                        <p:par>
                          <p:cTn id="15" fill="hold">
                            <p:stCondLst>
                              <p:cond delay="250"/>
                            </p:stCondLst>
                            <p:childTnLst>
                              <p:par>
                                <p:cTn id="16" presetID="2" presetClass="entr" presetSubtype="8" fill="hold" grpId="0" nodeType="afterEffect">
                                  <p:stCondLst>
                                    <p:cond delay="0"/>
                                  </p:stCondLst>
                                  <p:childTnLst>
                                    <p:set>
                                      <p:cBhvr>
                                        <p:cTn id="17" dur="1" fill="hold">
                                          <p:stCondLst>
                                            <p:cond delay="0"/>
                                          </p:stCondLst>
                                        </p:cTn>
                                        <p:tgtEl>
                                          <p:spTgt spid="5"/>
                                        </p:tgtEl>
                                        <p:attrNameLst>
                                          <p:attrName>style.visibility</p:attrName>
                                        </p:attrNameLst>
                                      </p:cBhvr>
                                      <p:to>
                                        <p:strVal val="visible"/>
                                      </p:to>
                                    </p:set>
                                    <p:anim calcmode="lin" valueType="num">
                                      <p:cBhvr additive="base">
                                        <p:cTn id="19" dur="550" fill="hold"/>
                                        <p:tgtEl>
                                          <p:spTgt spid="5"/>
                                        </p:tgtEl>
                                        <p:attrNameLst>
                                          <p:attrName>ppt_x</p:attrName>
                                        </p:attrNameLst>
                                      </p:cBhvr>
                                      <p:tavLst>
                                        <p:tav tm="0">
                                          <p:val>
                                            <p:strVal val="0-#ppt_w/2"/>
                                          </p:val>
                                        </p:tav>
                                        <p:tav tm="100000">
                                          <p:val>
                                            <p:strVal val="#ppt_x"/>
                                          </p:val>
                                        </p:tav>
                                      </p:tavLst>
                                    </p:anim>
                                    <p:anim calcmode="lin" valueType="num">
                                      <p:cBhvr additive="base">
                                        <p:cTn id="20" dur="550" fill="hold"/>
                                        <p:tgtEl>
                                          <p:spTgt spid="5"/>
                                        </p:tgtEl>
                                        <p:attrNameLst>
                                          <p:attrName>ppt_y</p:attrName>
                                        </p:attrNameLst>
                                      </p:cBhvr>
                                      <p:tavLst>
                                        <p:tav tm="0">
                                          <p:val>
                                            <p:strVal val="#ppt_y"/>
                                          </p:val>
                                        </p:tav>
                                        <p:tav tm="100000">
                                          <p:val>
                                            <p:strVal val="#ppt_y"/>
                                          </p:val>
                                        </p:tav>
                                      </p:tavLst>
                                    </p:anim>
                                  </p:childTnLst>
                                </p:cTn>
                              </p:par>
                            </p:childTnLst>
                          </p:cTn>
                        </p:par>
                        <p:par>
                          <p:cTn id="21" fill="hold">
                            <p:stCondLst>
                              <p:cond delay="350"/>
                            </p:stCondLst>
                            <p:childTnLst>
                              <p:par>
                                <p:cTn id="22" presetID="22" presetClass="entr" presetSubtype="8" fill="hold" grpId="0" nodeType="afterEffect">
                                  <p:stCondLst>
                                    <p:cond delay="0"/>
                                  </p:stCondLst>
                                  <p:childTnLst>
                                    <p:set>
                                      <p:cBhvr>
                                        <p:cTn id="23" dur="1" fill="hold">
                                          <p:stCondLst>
                                            <p:cond delay="0"/>
                                          </p:stCondLst>
                                        </p:cTn>
                                        <p:tgtEl>
                                          <p:spTgt spid="6"/>
                                        </p:tgtEl>
                                        <p:attrNameLst>
                                          <p:attrName>style.visibility</p:attrName>
                                        </p:attrNameLst>
                                      </p:cBhvr>
                                      <p:to>
                                        <p:strVal val="visible"/>
                                      </p:to>
                                    </p:set>
                                    <p:animEffect transition="in" filter="wipe(left)">
                                      <p:cBhvr>
                                        <p:cTn id="25" dur="8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4" grpId="0" animBg="1"/>
      <p:bldP spid="5" grpId="0" animBg="1"/>
      <p:bldP spid="6" grpId="0" animBg="1"/>
    </p:bldLst>
  </p:timing>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200000"/>
            <a:ext cx="10400000" cy="650000"/>
          </a:xfrm>
          <a:prstGeom prst="rect">
            <a:avLst/>
          </a:prstGeom>
          <a:noFill/>
        </p:spPr>
        <p:txBody>
          <a:bodyPr wrap="square" anchor="ctr" lIns="50800" rIns="50800">
            <a:spAutoFit/>
          </a:bodyPr>
          <a:lstStyle/>
          <a:p>
            <a:pPr algn="l"/>
            <a:r>
              <a:rPr sz="2600" b="1">
                <a:solidFill>
                  <a:srgbClr val="FFFFFF"/>
                </a:solidFill>
                <a:latin typeface="Calibri"/>
              </a:rPr>
              <a:t>Qo'shimcha topshiriqlar (10 ta)</a:t>
            </a:r>
          </a:p>
        </p:txBody>
      </p:sp>
      <p:sp>
        <p:nvSpPr>
          <p:cNvPr id="6" name="Rectangle 5"/>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A1 · Sun'iy intellektga asoslangan kompyuter tizimlari arxitekturasini tahlil qilish va loyihalash</a:t>
            </a:r>
          </a:p>
        </p:txBody>
      </p:sp>
      <p:sp>
        <p:nvSpPr>
          <p:cNvPr id="8" name="TextBox 7"/>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45</a:t>
            </a:r>
          </a:p>
        </p:txBody>
      </p:sp>
      <p:sp>
        <p:nvSpPr>
          <p:cNvPr id="9" name="Rounded Rectangle 8"/>
          <p:cNvSpPr/>
          <p:nvPr/>
        </p:nvSpPr>
        <p:spPr>
          <a:xfrm>
            <a:off x="550000" y="2076666"/>
            <a:ext cx="11100000" cy="1250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50000" y="2076666"/>
            <a:ext cx="70000" cy="1250000"/>
          </a:xfrm>
          <a:prstGeom prst="rect">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800000" y="2471666"/>
            <a:ext cx="460000" cy="460000"/>
          </a:xfrm>
          <a:prstGeom prst="ellipse">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1</a:t>
            </a:r>
          </a:p>
        </p:txBody>
      </p:sp>
      <p:sp>
        <p:nvSpPr>
          <p:cNvPr id="12" name="TextBox 11"/>
          <p:cNvSpPr txBox="1"/>
          <p:nvPr/>
        </p:nvSpPr>
        <p:spPr>
          <a:xfrm>
            <a:off x="1450000" y="2076666"/>
            <a:ext cx="10050000" cy="1250000"/>
          </a:xfrm>
          <a:prstGeom prst="rect">
            <a:avLst/>
          </a:prstGeom>
          <a:noFill/>
        </p:spPr>
        <p:txBody>
          <a:bodyPr wrap="square" anchor="ctr" lIns="50800" rIns="50800">
            <a:spAutoFit/>
          </a:bodyPr>
          <a:lstStyle/>
          <a:p>
            <a:pPr algn="l"/>
            <a:r>
              <a:rPr sz="1600" b="0">
                <a:solidFill>
                  <a:srgbClr val="1B2430"/>
                </a:solidFill>
                <a:latin typeface="Calibri"/>
              </a:rPr>
              <a:t>Quyidagi topshiriqlar virtual laboratoriyada bajariladi (sayt ichidagi CPU-sandbox: Python 3.12, 2 yadro, GPU va tarmoq yo'q). Har bir topshiriq laboratoriya bosqichlari kodini o'zgartirib bajariladi; to'liq matn va baholash shartlari virtual laboratoriya…</a:t>
            </a:r>
          </a:p>
        </p:txBody>
      </p:sp>
      <p:sp>
        <p:nvSpPr>
          <p:cNvPr id="13" name="Rounded Rectangle 12"/>
          <p:cNvSpPr/>
          <p:nvPr/>
        </p:nvSpPr>
        <p:spPr>
          <a:xfrm>
            <a:off x="550000" y="3446666"/>
            <a:ext cx="11100000" cy="1250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550000" y="3446666"/>
            <a:ext cx="70000" cy="1250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00000" y="3841666"/>
            <a:ext cx="460000" cy="46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2</a:t>
            </a:r>
          </a:p>
        </p:txBody>
      </p:sp>
      <p:sp>
        <p:nvSpPr>
          <p:cNvPr id="16" name="TextBox 15"/>
          <p:cNvSpPr txBox="1"/>
          <p:nvPr/>
        </p:nvSpPr>
        <p:spPr>
          <a:xfrm>
            <a:off x="1450000" y="3446666"/>
            <a:ext cx="10050000" cy="1250000"/>
          </a:xfrm>
          <a:prstGeom prst="rect">
            <a:avLst/>
          </a:prstGeom>
          <a:noFill/>
        </p:spPr>
        <p:txBody>
          <a:bodyPr wrap="square" anchor="ctr" lIns="50800" rIns="50800">
            <a:spAutoFit/>
          </a:bodyPr>
          <a:lstStyle/>
          <a:p>
            <a:pPr algn="l"/>
            <a:r>
              <a:rPr sz="1600" b="0">
                <a:solidFill>
                  <a:srgbClr val="1B2430"/>
                </a:solidFill>
                <a:latin typeface="Calibri"/>
              </a:rPr>
              <a:t>Eslatma: topshiriqlar A1 virtual laboratoriyasining 7 bosqichiga tayanadi; natijalar (jadval, grafik, qisqa xulosa) hisobotga ilova qilinadi.</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55"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5"/>
                                        </p:tgtEl>
                                        <p:attrNameLst>
                                          <p:attrName>style.visibility</p:attrName>
                                        </p:attrNameLst>
                                      </p:cBhvr>
                                      <p:to>
                                        <p:strVal val="visible"/>
                                      </p:to>
                                    </p:set>
                                    <p:animEffect transition="in" filter="fade">
                                      <p:cBhvr>
                                        <p:cTn id="6" dur="550"/>
                                        <p:tgtEl>
                                          <p:spTgt spid="5"/>
                                        </p:tgtEl>
                                      </p:cBhvr>
                                    </p:animEffect>
                                  </p:childTnLst>
                                </p:cTn>
                              </p:par>
                            </p:childTnLst>
                          </p:cTn>
                        </p:par>
                        <p:par>
                          <p:cTn id="7" fill="hold">
                            <p:stCondLst>
                              <p:cond delay="220"/>
                            </p:stCondLst>
                            <p:childTnLst>
                              <p:par>
                                <p:cTn id="8" presetID="42" presetClass="entr" presetSubtype="0" fill="hold" grpId="0" nodeType="afterEffect">
                                  <p:stCondLst>
                                    <p:cond delay="0"/>
                                  </p:stCondLst>
                                  <p:childTnLst>
                                    <p:set>
                                      <p:cBhvr>
                                        <p:cTn id="9" dur="1" fill="hold">
                                          <p:stCondLst>
                                            <p:cond delay="0"/>
                                          </p:stCondLst>
                                        </p:cTn>
                                        <p:tgtEl>
                                          <p:spTgt spid="9"/>
                                        </p:tgtEl>
                                        <p:attrNameLst>
                                          <p:attrName>style.visibility</p:attrName>
                                        </p:attrNameLst>
                                      </p:cBhvr>
                                      <p:to>
                                        <p:strVal val="visible"/>
                                      </p:to>
                                    </p:set>
                                    <p:animEffect transition="in" filter="fade">
                                      <p:cBhvr>
                                        <p:cTn id="10" dur="550"/>
                                        <p:tgtEl>
                                          <p:spTgt spid="9"/>
                                        </p:tgtEl>
                                      </p:cBhvr>
                                    </p:animEffect>
                                    <p:anim calcmode="lin" valueType="num">
                                      <p:cBhvr additive="base">
                                        <p:cTn id="11" dur="550" fill="hold"/>
                                        <p:tgtEl>
                                          <p:spTgt spid="9"/>
                                        </p:tgtEl>
                                        <p:attrNameLst>
                                          <p:attrName>ppt_x</p:attrName>
                                        </p:attrNameLst>
                                      </p:cBhvr>
                                      <p:tavLst>
                                        <p:tav tm="0">
                                          <p:val>
                                            <p:strVal val="#ppt_x"/>
                                          </p:val>
                                        </p:tav>
                                        <p:tav tm="100000">
                                          <p:val>
                                            <p:strVal val="#ppt_x"/>
                                          </p:val>
                                        </p:tav>
                                      </p:tavLst>
                                    </p:anim>
                                    <p:anim calcmode="lin" valueType="num">
                                      <p:cBhvr additive="base">
                                        <p:cTn id="12" dur="550" fill="hold"/>
                                        <p:tgtEl>
                                          <p:spTgt spid="9"/>
                                        </p:tgtEl>
                                        <p:attrNameLst>
                                          <p:attrName>ppt_y</p:attrName>
                                        </p:attrNameLst>
                                      </p:cBhvr>
                                      <p:tavLst>
                                        <p:tav tm="0">
                                          <p:val>
                                            <p:strVal val="#ppt_y+.08"/>
                                          </p:val>
                                        </p:tav>
                                        <p:tav tm="100000">
                                          <p:val>
                                            <p:strVal val="#ppt_y"/>
                                          </p:val>
                                        </p:tav>
                                      </p:tavLst>
                                    </p:anim>
                                  </p:childTnLst>
                                </p:cTn>
                              </p:par>
                            </p:childTnLst>
                          </p:cTn>
                        </p:par>
                        <p:par>
                          <p:cTn id="13" fill="hold">
                            <p:stCondLst>
                              <p:cond delay="220"/>
                            </p:stCondLst>
                            <p:childTnLst>
                              <p:par>
                                <p:cTn id="14" presetID="42" presetClass="entr" presetSubtype="0" fill="hold" grpId="0" nodeType="afterEffect">
                                  <p:stCondLst>
                                    <p:cond delay="0"/>
                                  </p:stCondLst>
                                  <p:childTnLst>
                                    <p:set>
                                      <p:cBhvr>
                                        <p:cTn id="15" dur="1" fill="hold">
                                          <p:stCondLst>
                                            <p:cond delay="0"/>
                                          </p:stCondLst>
                                        </p:cTn>
                                        <p:tgtEl>
                                          <p:spTgt spid="10"/>
                                        </p:tgtEl>
                                        <p:attrNameLst>
                                          <p:attrName>style.visibility</p:attrName>
                                        </p:attrNameLst>
                                      </p:cBhvr>
                                      <p:to>
                                        <p:strVal val="visible"/>
                                      </p:to>
                                    </p:set>
                                    <p:animEffect transition="in" filter="fade">
                                      <p:cBhvr>
                                        <p:cTn id="16" dur="550"/>
                                        <p:tgtEl>
                                          <p:spTgt spid="10"/>
                                        </p:tgtEl>
                                      </p:cBhvr>
                                    </p:animEffect>
                                    <p:anim calcmode="lin" valueType="num">
                                      <p:cBhvr additive="base">
                                        <p:cTn id="17" dur="550" fill="hold"/>
                                        <p:tgtEl>
                                          <p:spTgt spid="10"/>
                                        </p:tgtEl>
                                        <p:attrNameLst>
                                          <p:attrName>ppt_x</p:attrName>
                                        </p:attrNameLst>
                                      </p:cBhvr>
                                      <p:tavLst>
                                        <p:tav tm="0">
                                          <p:val>
                                            <p:strVal val="#ppt_x"/>
                                          </p:val>
                                        </p:tav>
                                        <p:tav tm="100000">
                                          <p:val>
                                            <p:strVal val="#ppt_x"/>
                                          </p:val>
                                        </p:tav>
                                      </p:tavLst>
                                    </p:anim>
                                    <p:anim calcmode="lin" valueType="num">
                                      <p:cBhvr additive="base">
                                        <p:cTn id="18" dur="550" fill="hold"/>
                                        <p:tgtEl>
                                          <p:spTgt spid="10"/>
                                        </p:tgtEl>
                                        <p:attrNameLst>
                                          <p:attrName>ppt_y</p:attrName>
                                        </p:attrNameLst>
                                      </p:cBhvr>
                                      <p:tavLst>
                                        <p:tav tm="0">
                                          <p:val>
                                            <p:strVal val="#ppt_y+.08"/>
                                          </p:val>
                                        </p:tav>
                                        <p:tav tm="100000">
                                          <p:val>
                                            <p:strVal val="#ppt_y"/>
                                          </p:val>
                                        </p:tav>
                                      </p:tavLst>
                                    </p:anim>
                                  </p:childTnLst>
                                </p:cTn>
                              </p:par>
                            </p:childTnLst>
                          </p:cTn>
                        </p:par>
                        <p:par>
                          <p:cTn id="19" fill="hold">
                            <p:stCondLst>
                              <p:cond delay="220"/>
                            </p:stCondLst>
                            <p:childTnLst>
                              <p:par>
                                <p:cTn id="20" presetID="53" presetClass="entr" presetSubtype="16" fill="hold" grpId="0" nodeType="afterEffect">
                                  <p:stCondLst>
                                    <p:cond delay="0"/>
                                  </p:stCondLst>
                                  <p:childTnLst>
                                    <p:set>
                                      <p:cBhvr>
                                        <p:cTn id="21" dur="1" fill="hold">
                                          <p:stCondLst>
                                            <p:cond delay="0"/>
                                          </p:stCondLst>
                                        </p:cTn>
                                        <p:tgtEl>
                                          <p:spTgt spid="11"/>
                                        </p:tgtEl>
                                        <p:attrNameLst>
                                          <p:attrName>style.visibility</p:attrName>
                                        </p:attrNameLst>
                                      </p:cBhvr>
                                      <p:to>
                                        <p:strVal val="visible"/>
                                      </p:to>
                                    </p:set>
                                    <p:animEffect transition="in" filter="fade">
                                      <p:cBhvr>
                                        <p:cTn id="22" dur="550"/>
                                        <p:tgtEl>
                                          <p:spTgt spid="11"/>
                                        </p:tgtEl>
                                      </p:cBhvr>
                                    </p:animEffect>
                                    <p:anim calcmode="lin" valueType="num">
                                      <p:cBhvr additive="base">
                                        <p:cTn id="23" dur="550" fill="hold"/>
                                        <p:tgtEl>
                                          <p:spTgt spid="11"/>
                                        </p:tgtEl>
                                        <p:attrNameLst>
                                          <p:attrName>ppt_w</p:attrName>
                                        </p:attrNameLst>
                                      </p:cBhvr>
                                      <p:tavLst>
                                        <p:tav tm="0">
                                          <p:val>
                                            <p:strVal val="0"/>
                                          </p:val>
                                        </p:tav>
                                        <p:tav tm="100000">
                                          <p:val>
                                            <p:strVal val="#ppt_w"/>
                                          </p:val>
                                        </p:tav>
                                      </p:tavLst>
                                    </p:anim>
                                    <p:anim calcmode="lin" valueType="num">
                                      <p:cBhvr additive="base">
                                        <p:cTn id="24" dur="550" fill="hold"/>
                                        <p:tgtEl>
                                          <p:spTgt spid="11"/>
                                        </p:tgtEl>
                                        <p:attrNameLst>
                                          <p:attrName>ppt_h</p:attrName>
                                        </p:attrNameLst>
                                      </p:cBhvr>
                                      <p:tavLst>
                                        <p:tav tm="0">
                                          <p:val>
                                            <p:strVal val="0"/>
                                          </p:val>
                                        </p:tav>
                                        <p:tav tm="100000">
                                          <p:val>
                                            <p:strVal val="#ppt_h"/>
                                          </p:val>
                                        </p:tav>
                                      </p:tavLst>
                                    </p:anim>
                                  </p:childTnLst>
                                </p:cTn>
                              </p:par>
                            </p:childTnLst>
                          </p:cTn>
                        </p:par>
                        <p:par>
                          <p:cTn id="25" fill="hold">
                            <p:stCondLst>
                              <p:cond delay="220"/>
                            </p:stCondLst>
                            <p:childTnLst>
                              <p:par>
                                <p:cTn id="26" presetID="42" presetClass="entr" presetSubtype="0" fill="hold" grpId="0" nodeType="afterEffect">
                                  <p:stCondLst>
                                    <p:cond delay="0"/>
                                  </p:stCondLst>
                                  <p:childTnLst>
                                    <p:set>
                                      <p:cBhvr>
                                        <p:cTn id="27" dur="1" fill="hold">
                                          <p:stCondLst>
                                            <p:cond delay="0"/>
                                          </p:stCondLst>
                                        </p:cTn>
                                        <p:tgtEl>
                                          <p:spTgt spid="12"/>
                                        </p:tgtEl>
                                        <p:attrNameLst>
                                          <p:attrName>style.visibility</p:attrName>
                                        </p:attrNameLst>
                                      </p:cBhvr>
                                      <p:to>
                                        <p:strVal val="visible"/>
                                      </p:to>
                                    </p:set>
                                    <p:animEffect transition="in" filter="fade">
                                      <p:cBhvr>
                                        <p:cTn id="28" dur="550"/>
                                        <p:tgtEl>
                                          <p:spTgt spid="12"/>
                                        </p:tgtEl>
                                      </p:cBhvr>
                                    </p:animEffect>
                                    <p:anim calcmode="lin" valueType="num">
                                      <p:cBhvr additive="base">
                                        <p:cTn id="29" dur="550" fill="hold"/>
                                        <p:tgtEl>
                                          <p:spTgt spid="12"/>
                                        </p:tgtEl>
                                        <p:attrNameLst>
                                          <p:attrName>ppt_x</p:attrName>
                                        </p:attrNameLst>
                                      </p:cBhvr>
                                      <p:tavLst>
                                        <p:tav tm="0">
                                          <p:val>
                                            <p:strVal val="#ppt_x"/>
                                          </p:val>
                                        </p:tav>
                                        <p:tav tm="100000">
                                          <p:val>
                                            <p:strVal val="#ppt_x"/>
                                          </p:val>
                                        </p:tav>
                                      </p:tavLst>
                                    </p:anim>
                                    <p:anim calcmode="lin" valueType="num">
                                      <p:cBhvr additive="base">
                                        <p:cTn id="30" dur="550" fill="hold"/>
                                        <p:tgtEl>
                                          <p:spTgt spid="12"/>
                                        </p:tgtEl>
                                        <p:attrNameLst>
                                          <p:attrName>ppt_y</p:attrName>
                                        </p:attrNameLst>
                                      </p:cBhvr>
                                      <p:tavLst>
                                        <p:tav tm="0">
                                          <p:val>
                                            <p:strVal val="#ppt_y+.08"/>
                                          </p:val>
                                        </p:tav>
                                        <p:tav tm="100000">
                                          <p:val>
                                            <p:strVal val="#ppt_y"/>
                                          </p:val>
                                        </p:tav>
                                      </p:tavLst>
                                    </p:anim>
                                  </p:childTnLst>
                                </p:cTn>
                              </p:par>
                            </p:childTnLst>
                          </p:cTn>
                        </p:par>
                        <p:par>
                          <p:cTn id="31" fill="hold">
                            <p:stCondLst>
                              <p:cond delay="440"/>
                            </p:stCondLst>
                            <p:childTnLst>
                              <p:par>
                                <p:cTn id="32" presetID="42" presetClass="entr" presetSubtype="0" fill="hold" grpId="0" nodeType="afterEffect">
                                  <p:stCondLst>
                                    <p:cond delay="0"/>
                                  </p:stCondLst>
                                  <p:childTnLst>
                                    <p:set>
                                      <p:cBhvr>
                                        <p:cTn id="33" dur="1" fill="hold">
                                          <p:stCondLst>
                                            <p:cond delay="0"/>
                                          </p:stCondLst>
                                        </p:cTn>
                                        <p:tgtEl>
                                          <p:spTgt spid="13"/>
                                        </p:tgtEl>
                                        <p:attrNameLst>
                                          <p:attrName>style.visibility</p:attrName>
                                        </p:attrNameLst>
                                      </p:cBhvr>
                                      <p:to>
                                        <p:strVal val="visible"/>
                                      </p:to>
                                    </p:set>
                                    <p:animEffect transition="in" filter="fade">
                                      <p:cBhvr>
                                        <p:cTn id="34" dur="550"/>
                                        <p:tgtEl>
                                          <p:spTgt spid="13"/>
                                        </p:tgtEl>
                                      </p:cBhvr>
                                    </p:animEffect>
                                    <p:anim calcmode="lin" valueType="num">
                                      <p:cBhvr additive="base">
                                        <p:cTn id="35" dur="550" fill="hold"/>
                                        <p:tgtEl>
                                          <p:spTgt spid="13"/>
                                        </p:tgtEl>
                                        <p:attrNameLst>
                                          <p:attrName>ppt_x</p:attrName>
                                        </p:attrNameLst>
                                      </p:cBhvr>
                                      <p:tavLst>
                                        <p:tav tm="0">
                                          <p:val>
                                            <p:strVal val="#ppt_x"/>
                                          </p:val>
                                        </p:tav>
                                        <p:tav tm="100000">
                                          <p:val>
                                            <p:strVal val="#ppt_x"/>
                                          </p:val>
                                        </p:tav>
                                      </p:tavLst>
                                    </p:anim>
                                    <p:anim calcmode="lin" valueType="num">
                                      <p:cBhvr additive="base">
                                        <p:cTn id="36" dur="550" fill="hold"/>
                                        <p:tgtEl>
                                          <p:spTgt spid="13"/>
                                        </p:tgtEl>
                                        <p:attrNameLst>
                                          <p:attrName>ppt_y</p:attrName>
                                        </p:attrNameLst>
                                      </p:cBhvr>
                                      <p:tavLst>
                                        <p:tav tm="0">
                                          <p:val>
                                            <p:strVal val="#ppt_y+.08"/>
                                          </p:val>
                                        </p:tav>
                                        <p:tav tm="100000">
                                          <p:val>
                                            <p:strVal val="#ppt_y"/>
                                          </p:val>
                                        </p:tav>
                                      </p:tavLst>
                                    </p:anim>
                                  </p:childTnLst>
                                </p:cTn>
                              </p:par>
                            </p:childTnLst>
                          </p:cTn>
                        </p:par>
                        <p:par>
                          <p:cTn id="37" fill="hold">
                            <p:stCondLst>
                              <p:cond delay="440"/>
                            </p:stCondLst>
                            <p:childTnLst>
                              <p:par>
                                <p:cTn id="38" presetID="42" presetClass="entr" presetSubtype="0" fill="hold" grpId="0" nodeType="afterEffect">
                                  <p:stCondLst>
                                    <p:cond delay="0"/>
                                  </p:stCondLst>
                                  <p:childTnLst>
                                    <p:set>
                                      <p:cBhvr>
                                        <p:cTn id="39" dur="1" fill="hold">
                                          <p:stCondLst>
                                            <p:cond delay="0"/>
                                          </p:stCondLst>
                                        </p:cTn>
                                        <p:tgtEl>
                                          <p:spTgt spid="14"/>
                                        </p:tgtEl>
                                        <p:attrNameLst>
                                          <p:attrName>style.visibility</p:attrName>
                                        </p:attrNameLst>
                                      </p:cBhvr>
                                      <p:to>
                                        <p:strVal val="visible"/>
                                      </p:to>
                                    </p:set>
                                    <p:animEffect transition="in" filter="fade">
                                      <p:cBhvr>
                                        <p:cTn id="40" dur="550"/>
                                        <p:tgtEl>
                                          <p:spTgt spid="14"/>
                                        </p:tgtEl>
                                      </p:cBhvr>
                                    </p:animEffect>
                                    <p:anim calcmode="lin" valueType="num">
                                      <p:cBhvr additive="base">
                                        <p:cTn id="41" dur="550" fill="hold"/>
                                        <p:tgtEl>
                                          <p:spTgt spid="14"/>
                                        </p:tgtEl>
                                        <p:attrNameLst>
                                          <p:attrName>ppt_x</p:attrName>
                                        </p:attrNameLst>
                                      </p:cBhvr>
                                      <p:tavLst>
                                        <p:tav tm="0">
                                          <p:val>
                                            <p:strVal val="#ppt_x"/>
                                          </p:val>
                                        </p:tav>
                                        <p:tav tm="100000">
                                          <p:val>
                                            <p:strVal val="#ppt_x"/>
                                          </p:val>
                                        </p:tav>
                                      </p:tavLst>
                                    </p:anim>
                                    <p:anim calcmode="lin" valueType="num">
                                      <p:cBhvr additive="base">
                                        <p:cTn id="42" dur="550" fill="hold"/>
                                        <p:tgtEl>
                                          <p:spTgt spid="14"/>
                                        </p:tgtEl>
                                        <p:attrNameLst>
                                          <p:attrName>ppt_y</p:attrName>
                                        </p:attrNameLst>
                                      </p:cBhvr>
                                      <p:tavLst>
                                        <p:tav tm="0">
                                          <p:val>
                                            <p:strVal val="#ppt_y+.08"/>
                                          </p:val>
                                        </p:tav>
                                        <p:tav tm="100000">
                                          <p:val>
                                            <p:strVal val="#ppt_y"/>
                                          </p:val>
                                        </p:tav>
                                      </p:tavLst>
                                    </p:anim>
                                  </p:childTnLst>
                                </p:cTn>
                              </p:par>
                            </p:childTnLst>
                          </p:cTn>
                        </p:par>
                        <p:par>
                          <p:cTn id="43" fill="hold">
                            <p:stCondLst>
                              <p:cond delay="440"/>
                            </p:stCondLst>
                            <p:childTnLst>
                              <p:par>
                                <p:cTn id="44" presetID="53" presetClass="entr" presetSubtype="16" fill="hold" grpId="0" nodeType="afterEffect">
                                  <p:stCondLst>
                                    <p:cond delay="0"/>
                                  </p:stCondLst>
                                  <p:childTnLst>
                                    <p:set>
                                      <p:cBhvr>
                                        <p:cTn id="45" dur="1" fill="hold">
                                          <p:stCondLst>
                                            <p:cond delay="0"/>
                                          </p:stCondLst>
                                        </p:cTn>
                                        <p:tgtEl>
                                          <p:spTgt spid="15"/>
                                        </p:tgtEl>
                                        <p:attrNameLst>
                                          <p:attrName>style.visibility</p:attrName>
                                        </p:attrNameLst>
                                      </p:cBhvr>
                                      <p:to>
                                        <p:strVal val="visible"/>
                                      </p:to>
                                    </p:set>
                                    <p:animEffect transition="in" filter="fade">
                                      <p:cBhvr>
                                        <p:cTn id="46" dur="550"/>
                                        <p:tgtEl>
                                          <p:spTgt spid="15"/>
                                        </p:tgtEl>
                                      </p:cBhvr>
                                    </p:animEffect>
                                    <p:anim calcmode="lin" valueType="num">
                                      <p:cBhvr additive="base">
                                        <p:cTn id="47" dur="550" fill="hold"/>
                                        <p:tgtEl>
                                          <p:spTgt spid="15"/>
                                        </p:tgtEl>
                                        <p:attrNameLst>
                                          <p:attrName>ppt_w</p:attrName>
                                        </p:attrNameLst>
                                      </p:cBhvr>
                                      <p:tavLst>
                                        <p:tav tm="0">
                                          <p:val>
                                            <p:strVal val="0"/>
                                          </p:val>
                                        </p:tav>
                                        <p:tav tm="100000">
                                          <p:val>
                                            <p:strVal val="#ppt_w"/>
                                          </p:val>
                                        </p:tav>
                                      </p:tavLst>
                                    </p:anim>
                                    <p:anim calcmode="lin" valueType="num">
                                      <p:cBhvr additive="base">
                                        <p:cTn id="48" dur="550" fill="hold"/>
                                        <p:tgtEl>
                                          <p:spTgt spid="15"/>
                                        </p:tgtEl>
                                        <p:attrNameLst>
                                          <p:attrName>ppt_h</p:attrName>
                                        </p:attrNameLst>
                                      </p:cBhvr>
                                      <p:tavLst>
                                        <p:tav tm="0">
                                          <p:val>
                                            <p:strVal val="0"/>
                                          </p:val>
                                        </p:tav>
                                        <p:tav tm="100000">
                                          <p:val>
                                            <p:strVal val="#ppt_h"/>
                                          </p:val>
                                        </p:tav>
                                      </p:tavLst>
                                    </p:anim>
                                  </p:childTnLst>
                                </p:cTn>
                              </p:par>
                            </p:childTnLst>
                          </p:cTn>
                        </p:par>
                        <p:par>
                          <p:cTn id="49" fill="hold">
                            <p:stCondLst>
                              <p:cond delay="440"/>
                            </p:stCondLst>
                            <p:childTnLst>
                              <p:par>
                                <p:cTn id="50" presetID="42" presetClass="entr" presetSubtype="0" fill="hold" grpId="0" nodeType="afterEffect">
                                  <p:stCondLst>
                                    <p:cond delay="0"/>
                                  </p:stCondLst>
                                  <p:childTnLst>
                                    <p:set>
                                      <p:cBhvr>
                                        <p:cTn id="51" dur="1" fill="hold">
                                          <p:stCondLst>
                                            <p:cond delay="0"/>
                                          </p:stCondLst>
                                        </p:cTn>
                                        <p:tgtEl>
                                          <p:spTgt spid="16"/>
                                        </p:tgtEl>
                                        <p:attrNameLst>
                                          <p:attrName>style.visibility</p:attrName>
                                        </p:attrNameLst>
                                      </p:cBhvr>
                                      <p:to>
                                        <p:strVal val="visible"/>
                                      </p:to>
                                    </p:set>
                                    <p:animEffect transition="in" filter="fade">
                                      <p:cBhvr>
                                        <p:cTn id="52" dur="550"/>
                                        <p:tgtEl>
                                          <p:spTgt spid="16"/>
                                        </p:tgtEl>
                                      </p:cBhvr>
                                    </p:animEffect>
                                    <p:anim calcmode="lin" valueType="num">
                                      <p:cBhvr additive="base">
                                        <p:cTn id="53" dur="550" fill="hold"/>
                                        <p:tgtEl>
                                          <p:spTgt spid="16"/>
                                        </p:tgtEl>
                                        <p:attrNameLst>
                                          <p:attrName>ppt_x</p:attrName>
                                        </p:attrNameLst>
                                      </p:cBhvr>
                                      <p:tavLst>
                                        <p:tav tm="0">
                                          <p:val>
                                            <p:strVal val="#ppt_x"/>
                                          </p:val>
                                        </p:tav>
                                        <p:tav tm="100000">
                                          <p:val>
                                            <p:strVal val="#ppt_x"/>
                                          </p:val>
                                        </p:tav>
                                      </p:tavLst>
                                    </p:anim>
                                    <p:anim calcmode="lin" valueType="num">
                                      <p:cBhvr additive="base">
                                        <p:cTn id="54" dur="550" fill="hold"/>
                                        <p:tgtEl>
                                          <p:spTgt spid="16"/>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9" grpId="0" animBg="1"/>
      <p:bldP spid="10" grpId="0" animBg="1"/>
      <p:bldP spid="11" grpId="0" animBg="1"/>
      <p:bldP spid="12" grpId="0" animBg="1"/>
      <p:bldP spid="13" grpId="0" animBg="1"/>
      <p:bldP spid="14" grpId="0" animBg="1"/>
      <p:bldP spid="15" grpId="0" animBg="1"/>
      <p:bldP spid="16" grpId="0" animBg="1"/>
    </p:bldLst>
  </p:timing>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200000"/>
            <a:ext cx="10400000" cy="650000"/>
          </a:xfrm>
          <a:prstGeom prst="rect">
            <a:avLst/>
          </a:prstGeom>
          <a:noFill/>
        </p:spPr>
        <p:txBody>
          <a:bodyPr wrap="square" anchor="ctr" lIns="50800" rIns="50800">
            <a:spAutoFit/>
          </a:bodyPr>
          <a:lstStyle/>
          <a:p>
            <a:pPr algn="l"/>
            <a:r>
              <a:rPr sz="2600" b="1">
                <a:solidFill>
                  <a:srgbClr val="FFFFFF"/>
                </a:solidFill>
                <a:latin typeface="Calibri"/>
              </a:rPr>
              <a:t>Qo'shimcha topshiriqlar (10 ta)</a:t>
            </a:r>
          </a:p>
        </p:txBody>
      </p:sp>
      <p:sp>
        <p:nvSpPr>
          <p:cNvPr id="6" name="Rectangle 5"/>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A1 · Sun'iy intellektga asoslangan kompyuter tizimlari arxitekturasini tahlil qilish va loyihalash</a:t>
            </a:r>
          </a:p>
        </p:txBody>
      </p:sp>
      <p:sp>
        <p:nvSpPr>
          <p:cNvPr id="8" name="TextBox 7"/>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46</a:t>
            </a:r>
          </a:p>
        </p:txBody>
      </p:sp>
      <p:graphicFrame>
        <p:nvGraphicFramePr>
          <p:cNvPr id="9" name="Table 8"/>
          <p:cNvGraphicFramePr>
            <a:graphicFrameLocks noGrp="1"/>
          </p:cNvGraphicFramePr>
          <p:nvPr/>
        </p:nvGraphicFramePr>
        <p:xfrm>
          <a:off x="500000" y="1350000"/>
          <a:ext cx="11200000" cy="4680000"/>
        </p:xfrm>
        <a:graphic>
          <a:graphicData uri="http://schemas.openxmlformats.org/drawingml/2006/table">
            <a:tbl>
              <a:tblPr firstRow="1" bandRow="1">
                <a:tableStyleId>{5C22544A-7EE6-4342-B048-85BDC9FD1C3A}</a:tableStyleId>
              </a:tblPr>
              <a:tblGrid>
                <a:gridCol w="2800000"/>
                <a:gridCol w="2800000"/>
                <a:gridCol w="2800000"/>
                <a:gridCol w="2800000"/>
              </a:tblGrid>
              <a:tr h="520000">
                <a:tc>
                  <a:txBody>
                    <a:bodyPr/>
                    <a:lstStyle/>
                    <a:p>
                      <a:r>
                        <a:rPr sz="1200" b="1">
                          <a:solidFill>
                            <a:srgbClr val="FFFFFF"/>
                          </a:solidFill>
                          <a:latin typeface="Calibri"/>
                        </a:rPr>
                        <a:t>№</a:t>
                      </a:r>
                    </a:p>
                  </a:txBody>
                  <a:tcPr>
                    <a:solidFill>
                      <a:srgbClr val="2D5C8F"/>
                    </a:solidFill>
                  </a:tcPr>
                </a:tc>
                <a:tc>
                  <a:txBody>
                    <a:bodyPr/>
                    <a:lstStyle/>
                    <a:p>
                      <a:r>
                        <a:rPr sz="1200" b="1">
                          <a:solidFill>
                            <a:srgbClr val="FFFFFF"/>
                          </a:solidFill>
                          <a:latin typeface="Calibri"/>
                        </a:rPr>
                        <a:t>Topshiriq</a:t>
                      </a:r>
                    </a:p>
                  </a:txBody>
                  <a:tcPr>
                    <a:solidFill>
                      <a:srgbClr val="2D5C8F"/>
                    </a:solidFill>
                  </a:tcPr>
                </a:tc>
                <a:tc>
                  <a:txBody>
                    <a:bodyPr/>
                    <a:lstStyle/>
                    <a:p>
                      <a:r>
                        <a:rPr sz="1200" b="1">
                          <a:solidFill>
                            <a:srgbClr val="FFFFFF"/>
                          </a:solidFill>
                          <a:latin typeface="Calibri"/>
                        </a:rPr>
                        <a:t>Daraja</a:t>
                      </a:r>
                    </a:p>
                  </a:txBody>
                  <a:tcPr>
                    <a:solidFill>
                      <a:srgbClr val="2D5C8F"/>
                    </a:solidFill>
                  </a:tcPr>
                </a:tc>
                <a:tc>
                  <a:txBody>
                    <a:bodyPr/>
                    <a:lstStyle/>
                    <a:p>
                      <a:r>
                        <a:rPr sz="1200" b="1">
                          <a:solidFill>
                            <a:srgbClr val="FFFFFF"/>
                          </a:solidFill>
                          <a:latin typeface="Calibri"/>
                        </a:rPr>
                        <a:t>Ball</a:t>
                      </a:r>
                    </a:p>
                  </a:txBody>
                  <a:tcPr>
                    <a:solidFill>
                      <a:srgbClr val="2D5C8F"/>
                    </a:solidFill>
                  </a:tcPr>
                </a:tc>
              </a:tr>
              <a:tr h="520000">
                <a:tc>
                  <a:txBody>
                    <a:bodyPr/>
                    <a:lstStyle/>
                    <a:p>
                      <a:r>
                        <a:rPr sz="1200" b="0">
                          <a:solidFill>
                            <a:srgbClr val="1B2430"/>
                          </a:solidFill>
                          <a:latin typeface="Calibri"/>
                        </a:rPr>
                        <a:t>1</a:t>
                      </a:r>
                    </a:p>
                  </a:txBody>
                  <a:tcPr>
                    <a:solidFill>
                      <a:srgbClr val="F1F4F8"/>
                    </a:solidFill>
                  </a:tcPr>
                </a:tc>
                <a:tc>
                  <a:txBody>
                    <a:bodyPr/>
                    <a:lstStyle/>
                    <a:p>
                      <a:r>
                        <a:rPr sz="1200" b="0">
                          <a:solidFill>
                            <a:srgbClr val="1B2430"/>
                          </a:solidFill>
                          <a:latin typeface="Calibri"/>
                        </a:rPr>
                        <a:t>Yuklama hisobini kengaytirish</a:t>
                      </a:r>
                    </a:p>
                  </a:txBody>
                  <a:tcPr>
                    <a:solidFill>
                      <a:srgbClr val="F1F4F8"/>
                    </a:solidFill>
                  </a:tcPr>
                </a:tc>
                <a:tc>
                  <a:txBody>
                    <a:bodyPr/>
                    <a:lstStyle/>
                    <a:p>
                      <a:r>
                        <a:rPr sz="1200" b="0">
                          <a:solidFill>
                            <a:srgbClr val="1B2430"/>
                          </a:solidFill>
                          <a:latin typeface="Calibri"/>
                        </a:rPr>
                        <a:t>oson</a:t>
                      </a:r>
                    </a:p>
                  </a:txBody>
                  <a:tcPr>
                    <a:solidFill>
                      <a:srgbClr val="F1F4F8"/>
                    </a:solidFill>
                  </a:tcPr>
                </a:tc>
                <a:tc>
                  <a:txBody>
                    <a:bodyPr/>
                    <a:lstStyle/>
                    <a:p>
                      <a:r>
                        <a:rPr sz="1200" b="0">
                          <a:solidFill>
                            <a:srgbClr val="1B2430"/>
                          </a:solidFill>
                          <a:latin typeface="Calibri"/>
                        </a:rPr>
                        <a:t>5</a:t>
                      </a:r>
                    </a:p>
                  </a:txBody>
                  <a:tcPr>
                    <a:solidFill>
                      <a:srgbClr val="F1F4F8"/>
                    </a:solidFill>
                  </a:tcPr>
                </a:tc>
              </a:tr>
              <a:tr h="520000">
                <a:tc>
                  <a:txBody>
                    <a:bodyPr/>
                    <a:lstStyle/>
                    <a:p>
                      <a:r>
                        <a:rPr sz="1200" b="0">
                          <a:solidFill>
                            <a:srgbClr val="1B2430"/>
                          </a:solidFill>
                          <a:latin typeface="Calibri"/>
                        </a:rPr>
                        <a:t>2</a:t>
                      </a:r>
                    </a:p>
                  </a:txBody>
                  <a:tcPr>
                    <a:solidFill>
                      <a:srgbClr val="FFFFFF"/>
                    </a:solidFill>
                  </a:tcPr>
                </a:tc>
                <a:tc>
                  <a:txBody>
                    <a:bodyPr/>
                    <a:lstStyle/>
                    <a:p>
                      <a:r>
                        <a:rPr sz="1200" b="0">
                          <a:solidFill>
                            <a:srgbClr val="1B2430"/>
                          </a:solidFill>
                          <a:latin typeface="Calibri"/>
                        </a:rPr>
                        <a:t>Og'irliklar sezgirligi</a:t>
                      </a:r>
                    </a:p>
                  </a:txBody>
                  <a:tcPr>
                    <a:solidFill>
                      <a:srgbClr val="FFFFFF"/>
                    </a:solidFill>
                  </a:tcPr>
                </a:tc>
                <a:tc>
                  <a:txBody>
                    <a:bodyPr/>
                    <a:lstStyle/>
                    <a:p>
                      <a:r>
                        <a:rPr sz="1200" b="0">
                          <a:solidFill>
                            <a:srgbClr val="1B2430"/>
                          </a:solidFill>
                          <a:latin typeface="Calibri"/>
                        </a:rPr>
                        <a:t>oson</a:t>
                      </a:r>
                    </a:p>
                  </a:txBody>
                  <a:tcPr>
                    <a:solidFill>
                      <a:srgbClr val="FFFFFF"/>
                    </a:solidFill>
                  </a:tcPr>
                </a:tc>
                <a:tc>
                  <a:txBody>
                    <a:bodyPr/>
                    <a:lstStyle/>
                    <a:p>
                      <a:r>
                        <a:rPr sz="1200" b="0">
                          <a:solidFill>
                            <a:srgbClr val="1B2430"/>
                          </a:solidFill>
                          <a:latin typeface="Calibri"/>
                        </a:rPr>
                        <a:t>5</a:t>
                      </a:r>
                    </a:p>
                  </a:txBody>
                  <a:tcPr>
                    <a:solidFill>
                      <a:srgbClr val="FFFFFF"/>
                    </a:solidFill>
                  </a:tcPr>
                </a:tc>
              </a:tr>
              <a:tr h="520000">
                <a:tc>
                  <a:txBody>
                    <a:bodyPr/>
                    <a:lstStyle/>
                    <a:p>
                      <a:r>
                        <a:rPr sz="1200" b="0">
                          <a:solidFill>
                            <a:srgbClr val="1B2430"/>
                          </a:solidFill>
                          <a:latin typeface="Calibri"/>
                        </a:rPr>
                        <a:t>3</a:t>
                      </a:r>
                    </a:p>
                  </a:txBody>
                  <a:tcPr>
                    <a:solidFill>
                      <a:srgbClr val="F1F4F8"/>
                    </a:solidFill>
                  </a:tcPr>
                </a:tc>
                <a:tc>
                  <a:txBody>
                    <a:bodyPr/>
                    <a:lstStyle/>
                    <a:p>
                      <a:r>
                        <a:rPr sz="1200" b="0">
                          <a:solidFill>
                            <a:srgbClr val="1B2430"/>
                          </a:solidFill>
                          <a:latin typeface="Calibri"/>
                        </a:rPr>
                        <a:t>Kechikish byudjetini qayta taqsimlash</a:t>
                      </a:r>
                    </a:p>
                  </a:txBody>
                  <a:tcPr>
                    <a:solidFill>
                      <a:srgbClr val="F1F4F8"/>
                    </a:solidFill>
                  </a:tcPr>
                </a:tc>
                <a:tc>
                  <a:txBody>
                    <a:bodyPr/>
                    <a:lstStyle/>
                    <a:p>
                      <a:r>
                        <a:rPr sz="1200" b="0">
                          <a:solidFill>
                            <a:srgbClr val="1B2430"/>
                          </a:solidFill>
                          <a:latin typeface="Calibri"/>
                        </a:rPr>
                        <a:t>oson</a:t>
                      </a:r>
                    </a:p>
                  </a:txBody>
                  <a:tcPr>
                    <a:solidFill>
                      <a:srgbClr val="F1F4F8"/>
                    </a:solidFill>
                  </a:tcPr>
                </a:tc>
                <a:tc>
                  <a:txBody>
                    <a:bodyPr/>
                    <a:lstStyle/>
                    <a:p>
                      <a:r>
                        <a:rPr sz="1200" b="0">
                          <a:solidFill>
                            <a:srgbClr val="1B2430"/>
                          </a:solidFill>
                          <a:latin typeface="Calibri"/>
                        </a:rPr>
                        <a:t>5</a:t>
                      </a:r>
                    </a:p>
                  </a:txBody>
                  <a:tcPr>
                    <a:solidFill>
                      <a:srgbClr val="F1F4F8"/>
                    </a:solidFill>
                  </a:tcPr>
                </a:tc>
              </a:tr>
              <a:tr h="520000">
                <a:tc>
                  <a:txBody>
                    <a:bodyPr/>
                    <a:lstStyle/>
                    <a:p>
                      <a:r>
                        <a:rPr sz="1200" b="0">
                          <a:solidFill>
                            <a:srgbClr val="1B2430"/>
                          </a:solidFill>
                          <a:latin typeface="Calibri"/>
                        </a:rPr>
                        <a:t>4</a:t>
                      </a:r>
                    </a:p>
                  </a:txBody>
                  <a:tcPr>
                    <a:solidFill>
                      <a:srgbClr val="FFFFFF"/>
                    </a:solidFill>
                  </a:tcPr>
                </a:tc>
                <a:tc>
                  <a:txBody>
                    <a:bodyPr/>
                    <a:lstStyle/>
                    <a:p>
                      <a:r>
                        <a:rPr sz="1200" b="0">
                          <a:solidFill>
                            <a:srgbClr val="1B2430"/>
                          </a:solidFill>
                          <a:latin typeface="Calibri"/>
                        </a:rPr>
                        <a:t>Roofline'ga yangi platformalar</a:t>
                      </a:r>
                    </a:p>
                  </a:txBody>
                  <a:tcPr>
                    <a:solidFill>
                      <a:srgbClr val="FFFFFF"/>
                    </a:solidFill>
                  </a:tcPr>
                </a:tc>
                <a:tc>
                  <a:txBody>
                    <a:bodyPr/>
                    <a:lstStyle/>
                    <a:p>
                      <a:r>
                        <a:rPr sz="1200" b="0">
                          <a:solidFill>
                            <a:srgbClr val="1B2430"/>
                          </a:solidFill>
                          <a:latin typeface="Calibri"/>
                        </a:rPr>
                        <a:t>o'rta</a:t>
                      </a:r>
                    </a:p>
                  </a:txBody>
                  <a:tcPr>
                    <a:solidFill>
                      <a:srgbClr val="FFFFFF"/>
                    </a:solidFill>
                  </a:tcPr>
                </a:tc>
                <a:tc>
                  <a:txBody>
                    <a:bodyPr/>
                    <a:lstStyle/>
                    <a:p>
                      <a:r>
                        <a:rPr sz="1200" b="0">
                          <a:solidFill>
                            <a:srgbClr val="1B2430"/>
                          </a:solidFill>
                          <a:latin typeface="Calibri"/>
                        </a:rPr>
                        <a:t>10</a:t>
                      </a:r>
                    </a:p>
                  </a:txBody>
                  <a:tcPr>
                    <a:solidFill>
                      <a:srgbClr val="FFFFFF"/>
                    </a:solidFill>
                  </a:tcPr>
                </a:tc>
              </a:tr>
              <a:tr h="520000">
                <a:tc>
                  <a:txBody>
                    <a:bodyPr/>
                    <a:lstStyle/>
                    <a:p>
                      <a:r>
                        <a:rPr sz="1200" b="0">
                          <a:solidFill>
                            <a:srgbClr val="1B2430"/>
                          </a:solidFill>
                          <a:latin typeface="Calibri"/>
                        </a:rPr>
                        <a:t>5</a:t>
                      </a:r>
                    </a:p>
                  </a:txBody>
                  <a:tcPr>
                    <a:solidFill>
                      <a:srgbClr val="F1F4F8"/>
                    </a:solidFill>
                  </a:tcPr>
                </a:tc>
                <a:tc>
                  <a:txBody>
                    <a:bodyPr/>
                    <a:lstStyle/>
                    <a:p>
                      <a:r>
                        <a:rPr sz="1200" b="0">
                          <a:solidFill>
                            <a:srgbClr val="1B2430"/>
                          </a:solidFill>
                          <a:latin typeface="Calibri"/>
                        </a:rPr>
                        <a:t>Modelni o'lchash: nazariya va amaliyot</a:t>
                      </a:r>
                    </a:p>
                  </a:txBody>
                  <a:tcPr>
                    <a:solidFill>
                      <a:srgbClr val="F1F4F8"/>
                    </a:solidFill>
                  </a:tcPr>
                </a:tc>
                <a:tc>
                  <a:txBody>
                    <a:bodyPr/>
                    <a:lstStyle/>
                    <a:p>
                      <a:r>
                        <a:rPr sz="1200" b="0">
                          <a:solidFill>
                            <a:srgbClr val="1B2430"/>
                          </a:solidFill>
                          <a:latin typeface="Calibri"/>
                        </a:rPr>
                        <a:t>o'rta</a:t>
                      </a:r>
                    </a:p>
                  </a:txBody>
                  <a:tcPr>
                    <a:solidFill>
                      <a:srgbClr val="F1F4F8"/>
                    </a:solidFill>
                  </a:tcPr>
                </a:tc>
                <a:tc>
                  <a:txBody>
                    <a:bodyPr/>
                    <a:lstStyle/>
                    <a:p>
                      <a:r>
                        <a:rPr sz="1200" b="0">
                          <a:solidFill>
                            <a:srgbClr val="1B2430"/>
                          </a:solidFill>
                          <a:latin typeface="Calibri"/>
                        </a:rPr>
                        <a:t>10</a:t>
                      </a:r>
                    </a:p>
                  </a:txBody>
                  <a:tcPr>
                    <a:solidFill>
                      <a:srgbClr val="F1F4F8"/>
                    </a:solidFill>
                  </a:tcPr>
                </a:tc>
              </a:tr>
              <a:tr h="520000">
                <a:tc>
                  <a:txBody>
                    <a:bodyPr/>
                    <a:lstStyle/>
                    <a:p>
                      <a:r>
                        <a:rPr sz="1200" b="0">
                          <a:solidFill>
                            <a:srgbClr val="1B2430"/>
                          </a:solidFill>
                          <a:latin typeface="Calibri"/>
                        </a:rPr>
                        <a:t>6</a:t>
                      </a:r>
                    </a:p>
                  </a:txBody>
                  <a:tcPr>
                    <a:solidFill>
                      <a:srgbClr val="FFFFFF"/>
                    </a:solidFill>
                  </a:tcPr>
                </a:tc>
                <a:tc>
                  <a:txBody>
                    <a:bodyPr/>
                    <a:lstStyle/>
                    <a:p>
                      <a:r>
                        <a:rPr sz="1200" b="0">
                          <a:solidFill>
                            <a:srgbClr val="1B2430"/>
                          </a:solidFill>
                          <a:latin typeface="Calibri"/>
                        </a:rPr>
                        <a:t>Co-design cheklovlar tahlili</a:t>
                      </a:r>
                    </a:p>
                  </a:txBody>
                  <a:tcPr>
                    <a:solidFill>
                      <a:srgbClr val="FFFFFF"/>
                    </a:solidFill>
                  </a:tcPr>
                </a:tc>
                <a:tc>
                  <a:txBody>
                    <a:bodyPr/>
                    <a:lstStyle/>
                    <a:p>
                      <a:r>
                        <a:rPr sz="1200" b="0">
                          <a:solidFill>
                            <a:srgbClr val="1B2430"/>
                          </a:solidFill>
                          <a:latin typeface="Calibri"/>
                        </a:rPr>
                        <a:t>o'rta</a:t>
                      </a:r>
                    </a:p>
                  </a:txBody>
                  <a:tcPr>
                    <a:solidFill>
                      <a:srgbClr val="FFFFFF"/>
                    </a:solidFill>
                  </a:tcPr>
                </a:tc>
                <a:tc>
                  <a:txBody>
                    <a:bodyPr/>
                    <a:lstStyle/>
                    <a:p>
                      <a:r>
                        <a:rPr sz="1200" b="0">
                          <a:solidFill>
                            <a:srgbClr val="1B2430"/>
                          </a:solidFill>
                          <a:latin typeface="Calibri"/>
                        </a:rPr>
                        <a:t>10</a:t>
                      </a:r>
                    </a:p>
                  </a:txBody>
                  <a:tcPr>
                    <a:solidFill>
                      <a:srgbClr val="FFFFFF"/>
                    </a:solidFill>
                  </a:tcPr>
                </a:tc>
              </a:tr>
              <a:tr h="520000">
                <a:tc>
                  <a:txBody>
                    <a:bodyPr/>
                    <a:lstStyle/>
                    <a:p>
                      <a:r>
                        <a:rPr sz="1200" b="0">
                          <a:solidFill>
                            <a:srgbClr val="1B2430"/>
                          </a:solidFill>
                          <a:latin typeface="Calibri"/>
                        </a:rPr>
                        <a:t>7</a:t>
                      </a:r>
                    </a:p>
                  </a:txBody>
                  <a:tcPr>
                    <a:solidFill>
                      <a:srgbClr val="F1F4F8"/>
                    </a:solidFill>
                  </a:tcPr>
                </a:tc>
                <a:tc>
                  <a:txBody>
                    <a:bodyPr/>
                    <a:lstStyle/>
                    <a:p>
                      <a:r>
                        <a:rPr sz="1200" b="0">
                          <a:solidFill>
                            <a:srgbClr val="1B2430"/>
                          </a:solidFill>
                          <a:latin typeface="Calibri"/>
                        </a:rPr>
                        <a:t>TCO sezgirlik tahlili</a:t>
                      </a:r>
                    </a:p>
                  </a:txBody>
                  <a:tcPr>
                    <a:solidFill>
                      <a:srgbClr val="F1F4F8"/>
                    </a:solidFill>
                  </a:tcPr>
                </a:tc>
                <a:tc>
                  <a:txBody>
                    <a:bodyPr/>
                    <a:lstStyle/>
                    <a:p>
                      <a:r>
                        <a:rPr sz="1200" b="0">
                          <a:solidFill>
                            <a:srgbClr val="1B2430"/>
                          </a:solidFill>
                          <a:latin typeface="Calibri"/>
                        </a:rPr>
                        <a:t>o'rta</a:t>
                      </a:r>
                    </a:p>
                  </a:txBody>
                  <a:tcPr>
                    <a:solidFill>
                      <a:srgbClr val="F1F4F8"/>
                    </a:solidFill>
                  </a:tcPr>
                </a:tc>
                <a:tc>
                  <a:txBody>
                    <a:bodyPr/>
                    <a:lstStyle/>
                    <a:p>
                      <a:r>
                        <a:rPr sz="1200" b="0">
                          <a:solidFill>
                            <a:srgbClr val="1B2430"/>
                          </a:solidFill>
                          <a:latin typeface="Calibri"/>
                        </a:rPr>
                        <a:t>10</a:t>
                      </a:r>
                    </a:p>
                  </a:txBody>
                  <a:tcPr>
                    <a:solidFill>
                      <a:srgbClr val="F1F4F8"/>
                    </a:solidFill>
                  </a:tcPr>
                </a:tc>
              </a:tr>
              <a:tr h="520000">
                <a:tc>
                  <a:txBody>
                    <a:bodyPr/>
                    <a:lstStyle/>
                    <a:p>
                      <a:r>
                        <a:rPr sz="1200" b="0">
                          <a:solidFill>
                            <a:srgbClr val="1B2430"/>
                          </a:solidFill>
                          <a:latin typeface="Calibri"/>
                        </a:rPr>
                        <a:t>8</a:t>
                      </a:r>
                    </a:p>
                  </a:txBody>
                  <a:tcPr>
                    <a:solidFill>
                      <a:srgbClr val="FFFFFF"/>
                    </a:solidFill>
                  </a:tcPr>
                </a:tc>
                <a:tc>
                  <a:txBody>
                    <a:bodyPr/>
                    <a:lstStyle/>
                    <a:p>
                      <a:r>
                        <a:rPr sz="1200" b="0">
                          <a:solidFill>
                            <a:srgbClr val="1B2430"/>
                          </a:solidFill>
                          <a:latin typeface="Calibri"/>
                        </a:rPr>
                        <a:t>Ikkinchi ssenariy: 64 kamera, markazlashgan ishlov</a:t>
                      </a:r>
                    </a:p>
                  </a:txBody>
                  <a:tcPr>
                    <a:solidFill>
                      <a:srgbClr val="FFFFFF"/>
                    </a:solidFill>
                  </a:tcPr>
                </a:tc>
                <a:tc>
                  <a:txBody>
                    <a:bodyPr/>
                    <a:lstStyle/>
                    <a:p>
                      <a:r>
                        <a:rPr sz="1200" b="0">
                          <a:solidFill>
                            <a:srgbClr val="1B2430"/>
                          </a:solidFill>
                          <a:latin typeface="Calibri"/>
                        </a:rPr>
                        <a:t>qiyin</a:t>
                      </a:r>
                    </a:p>
                  </a:txBody>
                  <a:tcPr>
                    <a:solidFill>
                      <a:srgbClr val="FFFFFF"/>
                    </a:solidFill>
                  </a:tcPr>
                </a:tc>
                <a:tc>
                  <a:txBody>
                    <a:bodyPr/>
                    <a:lstStyle/>
                    <a:p>
                      <a:r>
                        <a:rPr sz="1200" b="0">
                          <a:solidFill>
                            <a:srgbClr val="1B2430"/>
                          </a:solidFill>
                          <a:latin typeface="Calibri"/>
                        </a:rPr>
                        <a:t>15</a:t>
                      </a:r>
                    </a:p>
                  </a:txBody>
                  <a:tcPr>
                    <a:solidFill>
                      <a:srgbClr val="FFFFFF"/>
                    </a:solidFill>
                  </a:tcPr>
                </a:tc>
              </a:tr>
            </a:tbl>
          </a:graphicData>
        </a:graphic>
      </p:graphicFrame>
    </p:spTree>
  </p:cSld>
  <p:clrMapOvr>
    <a:masterClrMapping/>
  </p:clrMapOvr>
  <p:transition spd="med">
    <p:fade/>
  </p:transition>
  <p:timing>
    <p:tnLst>
      <p:par>
        <p:cTn id="1" dur="indefinite" restart="never" nodeType="tmRoot">
          <p:childTnLst>
            <p:seq concurrent="1" nextAc="seek">
              <p:cTn id="2" dur="indefinite" nodeType="mainSeq">
                <p:childTnLst>
                  <p:par>
                    <p:cTn id="12"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5"/>
                                        </p:tgtEl>
                                        <p:attrNameLst>
                                          <p:attrName>style.visibility</p:attrName>
                                        </p:attrNameLst>
                                      </p:cBhvr>
                                      <p:to>
                                        <p:strVal val="visible"/>
                                      </p:to>
                                    </p:set>
                                    <p:animEffect transition="in" filter="fade">
                                      <p:cBhvr>
                                        <p:cTn id="6" dur="550"/>
                                        <p:tgtEl>
                                          <p:spTgt spid="5"/>
                                        </p:tgtEl>
                                      </p:cBhvr>
                                    </p:animEffect>
                                  </p:childTnLst>
                                </p:cTn>
                              </p:par>
                            </p:childTnLst>
                          </p:cTn>
                        </p:par>
                        <p:par>
                          <p:cTn id="7" fill="hold">
                            <p:stCondLst>
                              <p:cond delay="200"/>
                            </p:stCondLst>
                            <p:childTnLst>
                              <p:par>
                                <p:cTn id="8" presetID="22" presetClass="entr" presetSubtype="8" fill="hold" grpId="0" nodeType="afterEffect">
                                  <p:stCondLst>
                                    <p:cond delay="0"/>
                                  </p:stCondLst>
                                  <p:childTnLst>
                                    <p:set>
                                      <p:cBhvr>
                                        <p:cTn id="9" dur="1" fill="hold">
                                          <p:stCondLst>
                                            <p:cond delay="0"/>
                                          </p:stCondLst>
                                        </p:cTn>
                                        <p:tgtEl>
                                          <p:spTgt spid="9"/>
                                        </p:tgtEl>
                                        <p:attrNameLst>
                                          <p:attrName>style.visibility</p:attrName>
                                        </p:attrNameLst>
                                      </p:cBhvr>
                                      <p:to>
                                        <p:strVal val="visible"/>
                                      </p:to>
                                    </p:set>
                                    <p:animEffect transition="in" filter="wipe(left)">
                                      <p:cBhvr>
                                        <p:cTn id="11" dur="800"/>
                                        <p:tgtEl>
                                          <p:spTgt spid="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Lst>
  </p:timing>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200000"/>
            <a:ext cx="10400000" cy="650000"/>
          </a:xfrm>
          <a:prstGeom prst="rect">
            <a:avLst/>
          </a:prstGeom>
          <a:noFill/>
        </p:spPr>
        <p:txBody>
          <a:bodyPr wrap="square" anchor="ctr" lIns="50800" rIns="50800">
            <a:spAutoFit/>
          </a:bodyPr>
          <a:lstStyle/>
          <a:p>
            <a:pPr algn="l"/>
            <a:r>
              <a:rPr sz="2600" b="1">
                <a:solidFill>
                  <a:srgbClr val="FFFFFF"/>
                </a:solidFill>
                <a:latin typeface="Calibri"/>
              </a:rPr>
              <a:t>Qo'shimcha topshiriqlar (10 ta) (davomi)</a:t>
            </a:r>
          </a:p>
        </p:txBody>
      </p:sp>
      <p:sp>
        <p:nvSpPr>
          <p:cNvPr id="6" name="Rectangle 5"/>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A1 · Sun'iy intellektga asoslangan kompyuter tizimlari arxitekturasini tahlil qilish va loyihalash</a:t>
            </a:r>
          </a:p>
        </p:txBody>
      </p:sp>
      <p:sp>
        <p:nvSpPr>
          <p:cNvPr id="8" name="TextBox 7"/>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47</a:t>
            </a:r>
          </a:p>
        </p:txBody>
      </p:sp>
      <p:graphicFrame>
        <p:nvGraphicFramePr>
          <p:cNvPr id="9" name="Table 8"/>
          <p:cNvGraphicFramePr>
            <a:graphicFrameLocks noGrp="1"/>
          </p:cNvGraphicFramePr>
          <p:nvPr/>
        </p:nvGraphicFramePr>
        <p:xfrm>
          <a:off x="500000" y="1350000"/>
          <a:ext cx="11200000" cy="1560000"/>
        </p:xfrm>
        <a:graphic>
          <a:graphicData uri="http://schemas.openxmlformats.org/drawingml/2006/table">
            <a:tbl>
              <a:tblPr firstRow="1" bandRow="1">
                <a:tableStyleId>{5C22544A-7EE6-4342-B048-85BDC9FD1C3A}</a:tableStyleId>
              </a:tblPr>
              <a:tblGrid>
                <a:gridCol w="2800000"/>
                <a:gridCol w="2800000"/>
                <a:gridCol w="2800000"/>
                <a:gridCol w="2800000"/>
              </a:tblGrid>
              <a:tr h="520000">
                <a:tc>
                  <a:txBody>
                    <a:bodyPr/>
                    <a:lstStyle/>
                    <a:p>
                      <a:r>
                        <a:rPr sz="1200" b="1">
                          <a:solidFill>
                            <a:srgbClr val="FFFFFF"/>
                          </a:solidFill>
                          <a:latin typeface="Calibri"/>
                        </a:rPr>
                        <a:t>№</a:t>
                      </a:r>
                    </a:p>
                  </a:txBody>
                  <a:tcPr>
                    <a:solidFill>
                      <a:srgbClr val="2D5C8F"/>
                    </a:solidFill>
                  </a:tcPr>
                </a:tc>
                <a:tc>
                  <a:txBody>
                    <a:bodyPr/>
                    <a:lstStyle/>
                    <a:p>
                      <a:r>
                        <a:rPr sz="1200" b="1">
                          <a:solidFill>
                            <a:srgbClr val="FFFFFF"/>
                          </a:solidFill>
                          <a:latin typeface="Calibri"/>
                        </a:rPr>
                        <a:t>Topshiriq</a:t>
                      </a:r>
                    </a:p>
                  </a:txBody>
                  <a:tcPr>
                    <a:solidFill>
                      <a:srgbClr val="2D5C8F"/>
                    </a:solidFill>
                  </a:tcPr>
                </a:tc>
                <a:tc>
                  <a:txBody>
                    <a:bodyPr/>
                    <a:lstStyle/>
                    <a:p>
                      <a:r>
                        <a:rPr sz="1200" b="1">
                          <a:solidFill>
                            <a:srgbClr val="FFFFFF"/>
                          </a:solidFill>
                          <a:latin typeface="Calibri"/>
                        </a:rPr>
                        <a:t>Daraja</a:t>
                      </a:r>
                    </a:p>
                  </a:txBody>
                  <a:tcPr>
                    <a:solidFill>
                      <a:srgbClr val="2D5C8F"/>
                    </a:solidFill>
                  </a:tcPr>
                </a:tc>
                <a:tc>
                  <a:txBody>
                    <a:bodyPr/>
                    <a:lstStyle/>
                    <a:p>
                      <a:r>
                        <a:rPr sz="1200" b="1">
                          <a:solidFill>
                            <a:srgbClr val="FFFFFF"/>
                          </a:solidFill>
                          <a:latin typeface="Calibri"/>
                        </a:rPr>
                        <a:t>Ball</a:t>
                      </a:r>
                    </a:p>
                  </a:txBody>
                  <a:tcPr>
                    <a:solidFill>
                      <a:srgbClr val="2D5C8F"/>
                    </a:solidFill>
                  </a:tcPr>
                </a:tc>
              </a:tr>
              <a:tr h="520000">
                <a:tc>
                  <a:txBody>
                    <a:bodyPr/>
                    <a:lstStyle/>
                    <a:p>
                      <a:r>
                        <a:rPr sz="1200" b="0">
                          <a:solidFill>
                            <a:srgbClr val="1B2430"/>
                          </a:solidFill>
                          <a:latin typeface="Calibri"/>
                        </a:rPr>
                        <a:t>9</a:t>
                      </a:r>
                    </a:p>
                  </a:txBody>
                  <a:tcPr>
                    <a:solidFill>
                      <a:srgbClr val="F1F4F8"/>
                    </a:solidFill>
                  </a:tcPr>
                </a:tc>
                <a:tc>
                  <a:txBody>
                    <a:bodyPr/>
                    <a:lstStyle/>
                    <a:p>
                      <a:r>
                        <a:rPr sz="1200" b="0">
                          <a:solidFill>
                            <a:srgbClr val="1B2430"/>
                          </a:solidFill>
                          <a:latin typeface="Calibri"/>
                        </a:rPr>
                        <a:t>Energiya byudjeti va termal cheklov modeli</a:t>
                      </a:r>
                    </a:p>
                  </a:txBody>
                  <a:tcPr>
                    <a:solidFill>
                      <a:srgbClr val="F1F4F8"/>
                    </a:solidFill>
                  </a:tcPr>
                </a:tc>
                <a:tc>
                  <a:txBody>
                    <a:bodyPr/>
                    <a:lstStyle/>
                    <a:p>
                      <a:r>
                        <a:rPr sz="1200" b="0">
                          <a:solidFill>
                            <a:srgbClr val="1B2430"/>
                          </a:solidFill>
                          <a:latin typeface="Calibri"/>
                        </a:rPr>
                        <a:t>qiyin</a:t>
                      </a:r>
                    </a:p>
                  </a:txBody>
                  <a:tcPr>
                    <a:solidFill>
                      <a:srgbClr val="F1F4F8"/>
                    </a:solidFill>
                  </a:tcPr>
                </a:tc>
                <a:tc>
                  <a:txBody>
                    <a:bodyPr/>
                    <a:lstStyle/>
                    <a:p>
                      <a:r>
                        <a:rPr sz="1200" b="0">
                          <a:solidFill>
                            <a:srgbClr val="1B2430"/>
                          </a:solidFill>
                          <a:latin typeface="Calibri"/>
                        </a:rPr>
                        <a:t>15</a:t>
                      </a:r>
                    </a:p>
                  </a:txBody>
                  <a:tcPr>
                    <a:solidFill>
                      <a:srgbClr val="F1F4F8"/>
                    </a:solidFill>
                  </a:tcPr>
                </a:tc>
              </a:tr>
              <a:tr h="520000">
                <a:tc>
                  <a:txBody>
                    <a:bodyPr/>
                    <a:lstStyle/>
                    <a:p>
                      <a:r>
                        <a:rPr sz="1200" b="0">
                          <a:solidFill>
                            <a:srgbClr val="1B2430"/>
                          </a:solidFill>
                          <a:latin typeface="Calibri"/>
                        </a:rPr>
                        <a:t>10</a:t>
                      </a:r>
                    </a:p>
                  </a:txBody>
                  <a:tcPr>
                    <a:solidFill>
                      <a:srgbClr val="FFFFFF"/>
                    </a:solidFill>
                  </a:tcPr>
                </a:tc>
                <a:tc>
                  <a:txBody>
                    <a:bodyPr/>
                    <a:lstStyle/>
                    <a:p>
                      <a:r>
                        <a:rPr sz="1200" b="0">
                          <a:solidFill>
                            <a:srgbClr val="1B2430"/>
                          </a:solidFill>
                          <a:latin typeface="Calibri"/>
                        </a:rPr>
                        <a:t>Strukturaviy sxema va interfeyslar generatori</a:t>
                      </a:r>
                    </a:p>
                  </a:txBody>
                  <a:tcPr>
                    <a:solidFill>
                      <a:srgbClr val="FFFFFF"/>
                    </a:solidFill>
                  </a:tcPr>
                </a:tc>
                <a:tc>
                  <a:txBody>
                    <a:bodyPr/>
                    <a:lstStyle/>
                    <a:p>
                      <a:r>
                        <a:rPr sz="1200" b="0">
                          <a:solidFill>
                            <a:srgbClr val="1B2430"/>
                          </a:solidFill>
                          <a:latin typeface="Calibri"/>
                        </a:rPr>
                        <a:t>qiyin</a:t>
                      </a:r>
                    </a:p>
                  </a:txBody>
                  <a:tcPr>
                    <a:solidFill>
                      <a:srgbClr val="FFFFFF"/>
                    </a:solidFill>
                  </a:tcPr>
                </a:tc>
                <a:tc>
                  <a:txBody>
                    <a:bodyPr/>
                    <a:lstStyle/>
                    <a:p>
                      <a:r>
                        <a:rPr sz="1200" b="0">
                          <a:solidFill>
                            <a:srgbClr val="1B2430"/>
                          </a:solidFill>
                          <a:latin typeface="Calibri"/>
                        </a:rPr>
                        <a:t>15</a:t>
                      </a:r>
                    </a:p>
                  </a:txBody>
                  <a:tcPr>
                    <a:solidFill>
                      <a:srgbClr val="FFFFFF"/>
                    </a:solidFill>
                  </a:tcPr>
                </a:tc>
              </a:tr>
            </a:tbl>
          </a:graphicData>
        </a:graphic>
      </p:graphicFrame>
    </p:spTree>
  </p:cSld>
  <p:clrMapOvr>
    <a:masterClrMapping/>
  </p:clrMapOvr>
  <p:transition spd="med">
    <p:fade/>
  </p:transition>
  <p:timing>
    <p:tnLst>
      <p:par>
        <p:cTn id="1" dur="indefinite" restart="never" nodeType="tmRoot">
          <p:childTnLst>
            <p:seq concurrent="1" nextAc="seek">
              <p:cTn id="2" dur="indefinite" nodeType="mainSeq">
                <p:childTnLst>
                  <p:par>
                    <p:cTn id="12"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5"/>
                                        </p:tgtEl>
                                        <p:attrNameLst>
                                          <p:attrName>style.visibility</p:attrName>
                                        </p:attrNameLst>
                                      </p:cBhvr>
                                      <p:to>
                                        <p:strVal val="visible"/>
                                      </p:to>
                                    </p:set>
                                    <p:animEffect transition="in" filter="fade">
                                      <p:cBhvr>
                                        <p:cTn id="6" dur="550"/>
                                        <p:tgtEl>
                                          <p:spTgt spid="5"/>
                                        </p:tgtEl>
                                      </p:cBhvr>
                                    </p:animEffect>
                                  </p:childTnLst>
                                </p:cTn>
                              </p:par>
                            </p:childTnLst>
                          </p:cTn>
                        </p:par>
                        <p:par>
                          <p:cTn id="7" fill="hold">
                            <p:stCondLst>
                              <p:cond delay="200"/>
                            </p:stCondLst>
                            <p:childTnLst>
                              <p:par>
                                <p:cTn id="8" presetID="22" presetClass="entr" presetSubtype="8" fill="hold" grpId="0" nodeType="afterEffect">
                                  <p:stCondLst>
                                    <p:cond delay="0"/>
                                  </p:stCondLst>
                                  <p:childTnLst>
                                    <p:set>
                                      <p:cBhvr>
                                        <p:cTn id="9" dur="1" fill="hold">
                                          <p:stCondLst>
                                            <p:cond delay="0"/>
                                          </p:stCondLst>
                                        </p:cTn>
                                        <p:tgtEl>
                                          <p:spTgt spid="9"/>
                                        </p:tgtEl>
                                        <p:attrNameLst>
                                          <p:attrName>style.visibility</p:attrName>
                                        </p:attrNameLst>
                                      </p:cBhvr>
                                      <p:to>
                                        <p:strVal val="visible"/>
                                      </p:to>
                                    </p:set>
                                    <p:animEffect transition="in" filter="wipe(left)">
                                      <p:cBhvr>
                                        <p:cTn id="11" dur="800"/>
                                        <p:tgtEl>
                                          <p:spTgt spid="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Lst>
  </p:timing>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162E4D"/>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900000" y="1700000"/>
            <a:ext cx="3000000" cy="3000000"/>
          </a:xfrm>
          <a:prstGeom prst="ellipse">
            <a:avLst/>
          </a:prstGeom>
          <a:noFill/>
          <a:ln w="76200">
            <a:solidFill>
              <a:srgbClr val="7FD6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00000" y="2350000"/>
            <a:ext cx="3000000" cy="1700000"/>
          </a:xfrm>
          <a:prstGeom prst="rect">
            <a:avLst/>
          </a:prstGeom>
          <a:noFill/>
        </p:spPr>
        <p:txBody>
          <a:bodyPr wrap="square" anchor="ctr" lIns="50800" rIns="50800">
            <a:spAutoFit/>
          </a:bodyPr>
          <a:lstStyle/>
          <a:p>
            <a:pPr algn="ctr"/>
            <a:r>
              <a:rPr sz="7200" b="1">
                <a:solidFill>
                  <a:srgbClr val="FFFFFF"/>
                </a:solidFill>
                <a:latin typeface="Calibri"/>
              </a:rPr>
              <a:t>10</a:t>
            </a:r>
          </a:p>
        </p:txBody>
      </p:sp>
      <p:sp>
        <p:nvSpPr>
          <p:cNvPr id="5" name="TextBox 4"/>
          <p:cNvSpPr txBox="1"/>
          <p:nvPr/>
        </p:nvSpPr>
        <p:spPr>
          <a:xfrm>
            <a:off x="4500000" y="2400000"/>
            <a:ext cx="7000000" cy="1600000"/>
          </a:xfrm>
          <a:prstGeom prst="rect">
            <a:avLst/>
          </a:prstGeom>
          <a:noFill/>
        </p:spPr>
        <p:txBody>
          <a:bodyPr wrap="square" anchor="ctr" lIns="50800" rIns="50800">
            <a:spAutoFit/>
          </a:bodyPr>
          <a:lstStyle/>
          <a:p>
            <a:pPr algn="l"/>
            <a:r>
              <a:rPr sz="3600" b="1">
                <a:solidFill>
                  <a:srgbClr val="FFFFFF"/>
                </a:solidFill>
                <a:latin typeface="Calibri"/>
              </a:rPr>
              <a:t>Foydalanilgan manbalar</a:t>
            </a:r>
          </a:p>
        </p:txBody>
      </p:sp>
      <p:sp>
        <p:nvSpPr>
          <p:cNvPr id="6" name="Rectangle 5"/>
          <p:cNvSpPr/>
          <p:nvPr/>
        </p:nvSpPr>
        <p:spPr>
          <a:xfrm>
            <a:off x="4550000" y="4100000"/>
            <a:ext cx="2200000" cy="60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transition spd="med">
    <p:push dir="u"/>
  </p:transition>
  <p:timing>
    <p:tnLst>
      <p:par>
        <p:cTn id="1" dur="indefinite" restart="never" nodeType="tmRoot">
          <p:childTnLst>
            <p:seq concurrent="1" nextAc="seek">
              <p:cTn id="2" dur="indefinite" nodeType="mainSeq">
                <p:childTnLst>
                  <p:par>
                    <p:cTn id="26" fill="hold">
                      <p:stCondLst>
                        <p:cond delay="indefinite"/>
                        <p:cond evt="onBegin" delay="0">
                          <p:tn val="2"/>
                        </p:cond>
                      </p:stCondLst>
                      <p:childTnLst>
                        <p:par>
                          <p:cTn id="3" fill="hold">
                            <p:stCondLst>
                              <p:cond delay="0"/>
                            </p:stCondLst>
                            <p:childTnLst>
                              <p:par>
                                <p:cTn id="4" presetID="53" presetClass="entr" presetSubtype="16" fill="hold" grpId="0" nodeType="withEffect">
                                  <p:stCondLst>
                                    <p:cond delay="0"/>
                                  </p:stCondLst>
                                  <p:childTnLst>
                                    <p:set>
                                      <p:cBhvr>
                                        <p:cTn id="5" dur="1" fill="hold">
                                          <p:stCondLst>
                                            <p:cond delay="0"/>
                                          </p:stCondLst>
                                        </p:cTn>
                                        <p:tgtEl>
                                          <p:spTgt spid="3"/>
                                        </p:tgtEl>
                                        <p:attrNameLst>
                                          <p:attrName>style.visibility</p:attrName>
                                        </p:attrNameLst>
                                      </p:cBhvr>
                                      <p:to>
                                        <p:strVal val="visible"/>
                                      </p:to>
                                    </p:set>
                                    <p:animEffect transition="in" filter="fade">
                                      <p:cBhvr>
                                        <p:cTn id="6" dur="550"/>
                                        <p:tgtEl>
                                          <p:spTgt spid="3"/>
                                        </p:tgtEl>
                                      </p:cBhvr>
                                    </p:animEffect>
                                    <p:anim calcmode="lin" valueType="num">
                                      <p:cBhvr additive="base">
                                        <p:cTn id="7" dur="550" fill="hold"/>
                                        <p:tgtEl>
                                          <p:spTgt spid="3"/>
                                        </p:tgtEl>
                                        <p:attrNameLst>
                                          <p:attrName>ppt_w</p:attrName>
                                        </p:attrNameLst>
                                      </p:cBhvr>
                                      <p:tavLst>
                                        <p:tav tm="0">
                                          <p:val>
                                            <p:strVal val="0"/>
                                          </p:val>
                                        </p:tav>
                                        <p:tav tm="100000">
                                          <p:val>
                                            <p:strVal val="#ppt_w"/>
                                          </p:val>
                                        </p:tav>
                                      </p:tavLst>
                                    </p:anim>
                                    <p:anim calcmode="lin" valueType="num">
                                      <p:cBhvr additive="base">
                                        <p:cTn id="8" dur="550" fill="hold"/>
                                        <p:tgtEl>
                                          <p:spTgt spid="3"/>
                                        </p:tgtEl>
                                        <p:attrNameLst>
                                          <p:attrName>ppt_h</p:attrName>
                                        </p:attrNameLst>
                                      </p:cBhvr>
                                      <p:tavLst>
                                        <p:tav tm="0">
                                          <p:val>
                                            <p:strVal val="0"/>
                                          </p:val>
                                        </p:tav>
                                        <p:tav tm="100000">
                                          <p:val>
                                            <p:strVal val="#ppt_h"/>
                                          </p:val>
                                        </p:tav>
                                      </p:tavLst>
                                    </p:anim>
                                  </p:childTnLst>
                                </p:cTn>
                              </p:par>
                            </p:childTnLst>
                          </p:cTn>
                        </p:par>
                        <p:par>
                          <p:cTn id="9" fill="hold">
                            <p:stCondLst>
                              <p:cond delay="100"/>
                            </p:stCondLst>
                            <p:childTnLst>
                              <p:par>
                                <p:cTn id="10" presetID="53" presetClass="entr" presetSubtype="16" fill="hold" grpId="0" nodeType="afterEffect">
                                  <p:stCondLst>
                                    <p:cond delay="0"/>
                                  </p:stCondLst>
                                  <p:childTnLst>
                                    <p:set>
                                      <p:cBhvr>
                                        <p:cTn id="11" dur="1" fill="hold">
                                          <p:stCondLst>
                                            <p:cond delay="0"/>
                                          </p:stCondLst>
                                        </p:cTn>
                                        <p:tgtEl>
                                          <p:spTgt spid="4"/>
                                        </p:tgtEl>
                                        <p:attrNameLst>
                                          <p:attrName>style.visibility</p:attrName>
                                        </p:attrNameLst>
                                      </p:cBhvr>
                                      <p:to>
                                        <p:strVal val="visible"/>
                                      </p:to>
                                    </p:set>
                                    <p:animEffect transition="in" filter="fade">
                                      <p:cBhvr>
                                        <p:cTn id="12" dur="550"/>
                                        <p:tgtEl>
                                          <p:spTgt spid="4"/>
                                        </p:tgtEl>
                                      </p:cBhvr>
                                    </p:animEffect>
                                    <p:anim calcmode="lin" valueType="num">
                                      <p:cBhvr additive="base">
                                        <p:cTn id="13" dur="550" fill="hold"/>
                                        <p:tgtEl>
                                          <p:spTgt spid="4"/>
                                        </p:tgtEl>
                                        <p:attrNameLst>
                                          <p:attrName>ppt_w</p:attrName>
                                        </p:attrNameLst>
                                      </p:cBhvr>
                                      <p:tavLst>
                                        <p:tav tm="0">
                                          <p:val>
                                            <p:strVal val="0"/>
                                          </p:val>
                                        </p:tav>
                                        <p:tav tm="100000">
                                          <p:val>
                                            <p:strVal val="#ppt_w"/>
                                          </p:val>
                                        </p:tav>
                                      </p:tavLst>
                                    </p:anim>
                                    <p:anim calcmode="lin" valueType="num">
                                      <p:cBhvr additive="base">
                                        <p:cTn id="14" dur="550" fill="hold"/>
                                        <p:tgtEl>
                                          <p:spTgt spid="4"/>
                                        </p:tgtEl>
                                        <p:attrNameLst>
                                          <p:attrName>ppt_h</p:attrName>
                                        </p:attrNameLst>
                                      </p:cBhvr>
                                      <p:tavLst>
                                        <p:tav tm="0">
                                          <p:val>
                                            <p:strVal val="0"/>
                                          </p:val>
                                        </p:tav>
                                        <p:tav tm="100000">
                                          <p:val>
                                            <p:strVal val="#ppt_h"/>
                                          </p:val>
                                        </p:tav>
                                      </p:tavLst>
                                    </p:anim>
                                  </p:childTnLst>
                                </p:cTn>
                              </p:par>
                            </p:childTnLst>
                          </p:cTn>
                        </p:par>
                        <p:par>
                          <p:cTn id="15" fill="hold">
                            <p:stCondLst>
                              <p:cond delay="250"/>
                            </p:stCondLst>
                            <p:childTnLst>
                              <p:par>
                                <p:cTn id="16" presetID="2" presetClass="entr" presetSubtype="8" fill="hold" grpId="0" nodeType="afterEffect">
                                  <p:stCondLst>
                                    <p:cond delay="0"/>
                                  </p:stCondLst>
                                  <p:childTnLst>
                                    <p:set>
                                      <p:cBhvr>
                                        <p:cTn id="17" dur="1" fill="hold">
                                          <p:stCondLst>
                                            <p:cond delay="0"/>
                                          </p:stCondLst>
                                        </p:cTn>
                                        <p:tgtEl>
                                          <p:spTgt spid="5"/>
                                        </p:tgtEl>
                                        <p:attrNameLst>
                                          <p:attrName>style.visibility</p:attrName>
                                        </p:attrNameLst>
                                      </p:cBhvr>
                                      <p:to>
                                        <p:strVal val="visible"/>
                                      </p:to>
                                    </p:set>
                                    <p:anim calcmode="lin" valueType="num">
                                      <p:cBhvr additive="base">
                                        <p:cTn id="19" dur="550" fill="hold"/>
                                        <p:tgtEl>
                                          <p:spTgt spid="5"/>
                                        </p:tgtEl>
                                        <p:attrNameLst>
                                          <p:attrName>ppt_x</p:attrName>
                                        </p:attrNameLst>
                                      </p:cBhvr>
                                      <p:tavLst>
                                        <p:tav tm="0">
                                          <p:val>
                                            <p:strVal val="0-#ppt_w/2"/>
                                          </p:val>
                                        </p:tav>
                                        <p:tav tm="100000">
                                          <p:val>
                                            <p:strVal val="#ppt_x"/>
                                          </p:val>
                                        </p:tav>
                                      </p:tavLst>
                                    </p:anim>
                                    <p:anim calcmode="lin" valueType="num">
                                      <p:cBhvr additive="base">
                                        <p:cTn id="20" dur="550" fill="hold"/>
                                        <p:tgtEl>
                                          <p:spTgt spid="5"/>
                                        </p:tgtEl>
                                        <p:attrNameLst>
                                          <p:attrName>ppt_y</p:attrName>
                                        </p:attrNameLst>
                                      </p:cBhvr>
                                      <p:tavLst>
                                        <p:tav tm="0">
                                          <p:val>
                                            <p:strVal val="#ppt_y"/>
                                          </p:val>
                                        </p:tav>
                                        <p:tav tm="100000">
                                          <p:val>
                                            <p:strVal val="#ppt_y"/>
                                          </p:val>
                                        </p:tav>
                                      </p:tavLst>
                                    </p:anim>
                                  </p:childTnLst>
                                </p:cTn>
                              </p:par>
                            </p:childTnLst>
                          </p:cTn>
                        </p:par>
                        <p:par>
                          <p:cTn id="21" fill="hold">
                            <p:stCondLst>
                              <p:cond delay="350"/>
                            </p:stCondLst>
                            <p:childTnLst>
                              <p:par>
                                <p:cTn id="22" presetID="22" presetClass="entr" presetSubtype="8" fill="hold" grpId="0" nodeType="afterEffect">
                                  <p:stCondLst>
                                    <p:cond delay="0"/>
                                  </p:stCondLst>
                                  <p:childTnLst>
                                    <p:set>
                                      <p:cBhvr>
                                        <p:cTn id="23" dur="1" fill="hold">
                                          <p:stCondLst>
                                            <p:cond delay="0"/>
                                          </p:stCondLst>
                                        </p:cTn>
                                        <p:tgtEl>
                                          <p:spTgt spid="6"/>
                                        </p:tgtEl>
                                        <p:attrNameLst>
                                          <p:attrName>style.visibility</p:attrName>
                                        </p:attrNameLst>
                                      </p:cBhvr>
                                      <p:to>
                                        <p:strVal val="visible"/>
                                      </p:to>
                                    </p:set>
                                    <p:animEffect transition="in" filter="wipe(left)">
                                      <p:cBhvr>
                                        <p:cTn id="25" dur="8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4" grpId="0" animBg="1"/>
      <p:bldP spid="5" grpId="0" animBg="1"/>
      <p:bldP spid="6" grpId="0" animBg="1"/>
    </p:bldLst>
  </p:timing>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200000"/>
            <a:ext cx="10400000" cy="650000"/>
          </a:xfrm>
          <a:prstGeom prst="rect">
            <a:avLst/>
          </a:prstGeom>
          <a:noFill/>
        </p:spPr>
        <p:txBody>
          <a:bodyPr wrap="square" anchor="ctr" lIns="50800" rIns="50800">
            <a:spAutoFit/>
          </a:bodyPr>
          <a:lstStyle/>
          <a:p>
            <a:pPr algn="l"/>
            <a:r>
              <a:rPr sz="2600" b="1">
                <a:solidFill>
                  <a:srgbClr val="FFFFFF"/>
                </a:solidFill>
                <a:latin typeface="Calibri"/>
              </a:rPr>
              <a:t>Foydalanilgan manbalar (1)</a:t>
            </a:r>
          </a:p>
        </p:txBody>
      </p:sp>
      <p:sp>
        <p:nvSpPr>
          <p:cNvPr id="6" name="Rectangle 5"/>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A1 · Sun'iy intellektga asoslangan kompyuter tizimlari arxitekturasini tahlil qilish va loyihalash</a:t>
            </a:r>
          </a:p>
        </p:txBody>
      </p:sp>
      <p:sp>
        <p:nvSpPr>
          <p:cNvPr id="8" name="TextBox 7"/>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49</a:t>
            </a:r>
          </a:p>
        </p:txBody>
      </p:sp>
      <p:sp>
        <p:nvSpPr>
          <p:cNvPr id="9" name="Rounded Rectangle 8"/>
          <p:cNvSpPr/>
          <p:nvPr/>
        </p:nvSpPr>
        <p:spPr>
          <a:xfrm>
            <a:off x="550000" y="1300000"/>
            <a:ext cx="11100000" cy="894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50000" y="1300000"/>
            <a:ext cx="70000" cy="894000"/>
          </a:xfrm>
          <a:prstGeom prst="rect">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800000" y="1517000"/>
            <a:ext cx="460000" cy="460000"/>
          </a:xfrm>
          <a:prstGeom prst="ellipse">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1</a:t>
            </a:r>
          </a:p>
        </p:txBody>
      </p:sp>
      <p:sp>
        <p:nvSpPr>
          <p:cNvPr id="12" name="TextBox 11"/>
          <p:cNvSpPr txBox="1"/>
          <p:nvPr/>
        </p:nvSpPr>
        <p:spPr>
          <a:xfrm>
            <a:off x="1450000" y="1300000"/>
            <a:ext cx="10050000" cy="894000"/>
          </a:xfrm>
          <a:prstGeom prst="rect">
            <a:avLst/>
          </a:prstGeom>
          <a:noFill/>
        </p:spPr>
        <p:txBody>
          <a:bodyPr wrap="square" anchor="ctr" lIns="50800" rIns="50800">
            <a:spAutoFit/>
          </a:bodyPr>
          <a:lstStyle/>
          <a:p>
            <a:pPr algn="l"/>
            <a:r>
              <a:rPr sz="1400" b="0">
                <a:solidFill>
                  <a:srgbClr val="1B2430"/>
                </a:solidFill>
                <a:latin typeface="Calibri"/>
              </a:rPr>
              <a:t>[1] Hennessy, J. L., &amp; Patterson, D. A. Computer Architecture: A Quantitative Approach. 7th Edition. Morgan Kaufmann, 2024. — Roofline modeli, miqdoriy loyihalash tamoyillari, maxsus…</a:t>
            </a:r>
          </a:p>
        </p:txBody>
      </p:sp>
      <p:sp>
        <p:nvSpPr>
          <p:cNvPr id="13" name="Rounded Rectangle 12"/>
          <p:cNvSpPr/>
          <p:nvPr/>
        </p:nvSpPr>
        <p:spPr>
          <a:xfrm>
            <a:off x="550000" y="2314000"/>
            <a:ext cx="11100000" cy="894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550000" y="2314000"/>
            <a:ext cx="70000" cy="894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00000" y="2531000"/>
            <a:ext cx="460000" cy="46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2</a:t>
            </a:r>
          </a:p>
        </p:txBody>
      </p:sp>
      <p:sp>
        <p:nvSpPr>
          <p:cNvPr id="16" name="TextBox 15"/>
          <p:cNvSpPr txBox="1"/>
          <p:nvPr/>
        </p:nvSpPr>
        <p:spPr>
          <a:xfrm>
            <a:off x="1450000" y="2314000"/>
            <a:ext cx="10050000" cy="894000"/>
          </a:xfrm>
          <a:prstGeom prst="rect">
            <a:avLst/>
          </a:prstGeom>
          <a:noFill/>
        </p:spPr>
        <p:txBody>
          <a:bodyPr wrap="square" anchor="ctr" lIns="50800" rIns="50800">
            <a:spAutoFit/>
          </a:bodyPr>
          <a:lstStyle/>
          <a:p>
            <a:pPr algn="l"/>
            <a:r>
              <a:rPr sz="1400" b="0">
                <a:solidFill>
                  <a:srgbClr val="1B2430"/>
                </a:solidFill>
                <a:latin typeface="Calibri"/>
              </a:rPr>
              <a:t>[2] Kneusel, R. T. Artificial Intelligence Engineering: A Practical Guide for AI Applications. No Starch Press, 2023. — AI tizimlarini muhandislik nuqtai nazaridan loyihalash.</a:t>
            </a:r>
          </a:p>
        </p:txBody>
      </p:sp>
      <p:sp>
        <p:nvSpPr>
          <p:cNvPr id="17" name="Rounded Rectangle 16"/>
          <p:cNvSpPr/>
          <p:nvPr/>
        </p:nvSpPr>
        <p:spPr>
          <a:xfrm>
            <a:off x="550000" y="3328000"/>
            <a:ext cx="11100000" cy="894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550000" y="3328000"/>
            <a:ext cx="70000" cy="894000"/>
          </a:xfrm>
          <a:prstGeom prst="rect">
            <a:avLst/>
          </a:prstGeom>
          <a:solidFill>
            <a:srgbClr val="6A3F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800000" y="3545000"/>
            <a:ext cx="460000" cy="460000"/>
          </a:xfrm>
          <a:prstGeom prst="ellipse">
            <a:avLst/>
          </a:prstGeom>
          <a:solidFill>
            <a:srgbClr val="6A3FB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3</a:t>
            </a:r>
          </a:p>
        </p:txBody>
      </p:sp>
      <p:sp>
        <p:nvSpPr>
          <p:cNvPr id="20" name="TextBox 19"/>
          <p:cNvSpPr txBox="1"/>
          <p:nvPr/>
        </p:nvSpPr>
        <p:spPr>
          <a:xfrm>
            <a:off x="1450000" y="3328000"/>
            <a:ext cx="10050000" cy="894000"/>
          </a:xfrm>
          <a:prstGeom prst="rect">
            <a:avLst/>
          </a:prstGeom>
          <a:noFill/>
        </p:spPr>
        <p:txBody>
          <a:bodyPr wrap="square" anchor="ctr" lIns="50800" rIns="50800">
            <a:spAutoFit/>
          </a:bodyPr>
          <a:lstStyle/>
          <a:p>
            <a:pPr algn="l"/>
            <a:r>
              <a:rPr sz="1400" b="0">
                <a:solidFill>
                  <a:srgbClr val="1B2430"/>
                </a:solidFill>
                <a:latin typeface="Calibri"/>
              </a:rPr>
              <a:t>[3] Amershi, S. va boshq. Machine Learning Engineering. MIT Press, 2025. — ML tizimlari hayot sikli va arxitektura qarorlari.</a:t>
            </a:r>
          </a:p>
        </p:txBody>
      </p:sp>
      <p:sp>
        <p:nvSpPr>
          <p:cNvPr id="21" name="Rounded Rectangle 20"/>
          <p:cNvSpPr/>
          <p:nvPr/>
        </p:nvSpPr>
        <p:spPr>
          <a:xfrm>
            <a:off x="550000" y="4342000"/>
            <a:ext cx="11100000" cy="894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50000" y="4342000"/>
            <a:ext cx="70000" cy="894000"/>
          </a:xfrm>
          <a:prstGeom prst="rect">
            <a:avLst/>
          </a:prstGeom>
          <a:solidFill>
            <a:srgbClr val="B779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800000" y="4559000"/>
            <a:ext cx="460000" cy="460000"/>
          </a:xfrm>
          <a:prstGeom prst="ellipse">
            <a:avLst/>
          </a:prstGeom>
          <a:solidFill>
            <a:srgbClr val="B7791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4</a:t>
            </a:r>
          </a:p>
        </p:txBody>
      </p:sp>
      <p:sp>
        <p:nvSpPr>
          <p:cNvPr id="24" name="TextBox 23"/>
          <p:cNvSpPr txBox="1"/>
          <p:nvPr/>
        </p:nvSpPr>
        <p:spPr>
          <a:xfrm>
            <a:off x="1450000" y="4342000"/>
            <a:ext cx="10050000" cy="894000"/>
          </a:xfrm>
          <a:prstGeom prst="rect">
            <a:avLst/>
          </a:prstGeom>
          <a:noFill/>
        </p:spPr>
        <p:txBody>
          <a:bodyPr wrap="square" anchor="ctr" lIns="50800" rIns="50800">
            <a:spAutoFit/>
          </a:bodyPr>
          <a:lstStyle/>
          <a:p>
            <a:pPr algn="l"/>
            <a:r>
              <a:rPr sz="1400" b="0">
                <a:solidFill>
                  <a:srgbClr val="1B2430"/>
                </a:solidFill>
                <a:latin typeface="Calibri"/>
              </a:rPr>
              <a:t>[4] Sze, V., Chen, Y.-H., Yang, T.-J., &amp; Emer, J. S. Efficient Processing of Deep Neural Networks. Morgan &amp; Claypool, 2020. — energiya samaradorligi, xotira iyerarxiyasi va tezlatkichlarni…</a:t>
            </a:r>
          </a:p>
        </p:txBody>
      </p:sp>
      <p:sp>
        <p:nvSpPr>
          <p:cNvPr id="25" name="Rounded Rectangle 24"/>
          <p:cNvSpPr/>
          <p:nvPr/>
        </p:nvSpPr>
        <p:spPr>
          <a:xfrm>
            <a:off x="550000" y="5356000"/>
            <a:ext cx="11100000" cy="894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550000" y="5356000"/>
            <a:ext cx="70000" cy="894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800000" y="5573000"/>
            <a:ext cx="460000" cy="4600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5</a:t>
            </a:r>
          </a:p>
        </p:txBody>
      </p:sp>
      <p:sp>
        <p:nvSpPr>
          <p:cNvPr id="28" name="TextBox 27"/>
          <p:cNvSpPr txBox="1"/>
          <p:nvPr/>
        </p:nvSpPr>
        <p:spPr>
          <a:xfrm>
            <a:off x="1450000" y="5356000"/>
            <a:ext cx="10050000" cy="894000"/>
          </a:xfrm>
          <a:prstGeom prst="rect">
            <a:avLst/>
          </a:prstGeom>
          <a:noFill/>
        </p:spPr>
        <p:txBody>
          <a:bodyPr wrap="square" anchor="ctr" lIns="50800" rIns="50800">
            <a:spAutoFit/>
          </a:bodyPr>
          <a:lstStyle/>
          <a:p>
            <a:pPr algn="l"/>
            <a:r>
              <a:rPr sz="1400" b="0">
                <a:solidFill>
                  <a:srgbClr val="1B2430"/>
                </a:solidFill>
                <a:latin typeface="Calibri"/>
              </a:rPr>
              <a:t>[6] NVIDIA Developer Portal — Jetson Orin modullari va A100 texnik tavsiflari, TensorRT va DeepStream hujjatlari (https://developer.nvidia.com).</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127"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5"/>
                                        </p:tgtEl>
                                        <p:attrNameLst>
                                          <p:attrName>style.visibility</p:attrName>
                                        </p:attrNameLst>
                                      </p:cBhvr>
                                      <p:to>
                                        <p:strVal val="visible"/>
                                      </p:to>
                                    </p:set>
                                    <p:animEffect transition="in" filter="fade">
                                      <p:cBhvr>
                                        <p:cTn id="6" dur="550"/>
                                        <p:tgtEl>
                                          <p:spTgt spid="5"/>
                                        </p:tgtEl>
                                      </p:cBhvr>
                                    </p:animEffect>
                                  </p:childTnLst>
                                </p:cTn>
                              </p:par>
                            </p:childTnLst>
                          </p:cTn>
                        </p:par>
                        <p:par>
                          <p:cTn id="7" fill="hold">
                            <p:stCondLst>
                              <p:cond delay="220"/>
                            </p:stCondLst>
                            <p:childTnLst>
                              <p:par>
                                <p:cTn id="8" presetID="42" presetClass="entr" presetSubtype="0" fill="hold" grpId="0" nodeType="afterEffect">
                                  <p:stCondLst>
                                    <p:cond delay="0"/>
                                  </p:stCondLst>
                                  <p:childTnLst>
                                    <p:set>
                                      <p:cBhvr>
                                        <p:cTn id="9" dur="1" fill="hold">
                                          <p:stCondLst>
                                            <p:cond delay="0"/>
                                          </p:stCondLst>
                                        </p:cTn>
                                        <p:tgtEl>
                                          <p:spTgt spid="9"/>
                                        </p:tgtEl>
                                        <p:attrNameLst>
                                          <p:attrName>style.visibility</p:attrName>
                                        </p:attrNameLst>
                                      </p:cBhvr>
                                      <p:to>
                                        <p:strVal val="visible"/>
                                      </p:to>
                                    </p:set>
                                    <p:animEffect transition="in" filter="fade">
                                      <p:cBhvr>
                                        <p:cTn id="10" dur="550"/>
                                        <p:tgtEl>
                                          <p:spTgt spid="9"/>
                                        </p:tgtEl>
                                      </p:cBhvr>
                                    </p:animEffect>
                                    <p:anim calcmode="lin" valueType="num">
                                      <p:cBhvr additive="base">
                                        <p:cTn id="11" dur="550" fill="hold"/>
                                        <p:tgtEl>
                                          <p:spTgt spid="9"/>
                                        </p:tgtEl>
                                        <p:attrNameLst>
                                          <p:attrName>ppt_x</p:attrName>
                                        </p:attrNameLst>
                                      </p:cBhvr>
                                      <p:tavLst>
                                        <p:tav tm="0">
                                          <p:val>
                                            <p:strVal val="#ppt_x"/>
                                          </p:val>
                                        </p:tav>
                                        <p:tav tm="100000">
                                          <p:val>
                                            <p:strVal val="#ppt_x"/>
                                          </p:val>
                                        </p:tav>
                                      </p:tavLst>
                                    </p:anim>
                                    <p:anim calcmode="lin" valueType="num">
                                      <p:cBhvr additive="base">
                                        <p:cTn id="12" dur="550" fill="hold"/>
                                        <p:tgtEl>
                                          <p:spTgt spid="9"/>
                                        </p:tgtEl>
                                        <p:attrNameLst>
                                          <p:attrName>ppt_y</p:attrName>
                                        </p:attrNameLst>
                                      </p:cBhvr>
                                      <p:tavLst>
                                        <p:tav tm="0">
                                          <p:val>
                                            <p:strVal val="#ppt_y+.08"/>
                                          </p:val>
                                        </p:tav>
                                        <p:tav tm="100000">
                                          <p:val>
                                            <p:strVal val="#ppt_y"/>
                                          </p:val>
                                        </p:tav>
                                      </p:tavLst>
                                    </p:anim>
                                  </p:childTnLst>
                                </p:cTn>
                              </p:par>
                            </p:childTnLst>
                          </p:cTn>
                        </p:par>
                        <p:par>
                          <p:cTn id="13" fill="hold">
                            <p:stCondLst>
                              <p:cond delay="220"/>
                            </p:stCondLst>
                            <p:childTnLst>
                              <p:par>
                                <p:cTn id="14" presetID="42" presetClass="entr" presetSubtype="0" fill="hold" grpId="0" nodeType="afterEffect">
                                  <p:stCondLst>
                                    <p:cond delay="0"/>
                                  </p:stCondLst>
                                  <p:childTnLst>
                                    <p:set>
                                      <p:cBhvr>
                                        <p:cTn id="15" dur="1" fill="hold">
                                          <p:stCondLst>
                                            <p:cond delay="0"/>
                                          </p:stCondLst>
                                        </p:cTn>
                                        <p:tgtEl>
                                          <p:spTgt spid="10"/>
                                        </p:tgtEl>
                                        <p:attrNameLst>
                                          <p:attrName>style.visibility</p:attrName>
                                        </p:attrNameLst>
                                      </p:cBhvr>
                                      <p:to>
                                        <p:strVal val="visible"/>
                                      </p:to>
                                    </p:set>
                                    <p:animEffect transition="in" filter="fade">
                                      <p:cBhvr>
                                        <p:cTn id="16" dur="550"/>
                                        <p:tgtEl>
                                          <p:spTgt spid="10"/>
                                        </p:tgtEl>
                                      </p:cBhvr>
                                    </p:animEffect>
                                    <p:anim calcmode="lin" valueType="num">
                                      <p:cBhvr additive="base">
                                        <p:cTn id="17" dur="550" fill="hold"/>
                                        <p:tgtEl>
                                          <p:spTgt spid="10"/>
                                        </p:tgtEl>
                                        <p:attrNameLst>
                                          <p:attrName>ppt_x</p:attrName>
                                        </p:attrNameLst>
                                      </p:cBhvr>
                                      <p:tavLst>
                                        <p:tav tm="0">
                                          <p:val>
                                            <p:strVal val="#ppt_x"/>
                                          </p:val>
                                        </p:tav>
                                        <p:tav tm="100000">
                                          <p:val>
                                            <p:strVal val="#ppt_x"/>
                                          </p:val>
                                        </p:tav>
                                      </p:tavLst>
                                    </p:anim>
                                    <p:anim calcmode="lin" valueType="num">
                                      <p:cBhvr additive="base">
                                        <p:cTn id="18" dur="550" fill="hold"/>
                                        <p:tgtEl>
                                          <p:spTgt spid="10"/>
                                        </p:tgtEl>
                                        <p:attrNameLst>
                                          <p:attrName>ppt_y</p:attrName>
                                        </p:attrNameLst>
                                      </p:cBhvr>
                                      <p:tavLst>
                                        <p:tav tm="0">
                                          <p:val>
                                            <p:strVal val="#ppt_y+.08"/>
                                          </p:val>
                                        </p:tav>
                                        <p:tav tm="100000">
                                          <p:val>
                                            <p:strVal val="#ppt_y"/>
                                          </p:val>
                                        </p:tav>
                                      </p:tavLst>
                                    </p:anim>
                                  </p:childTnLst>
                                </p:cTn>
                              </p:par>
                            </p:childTnLst>
                          </p:cTn>
                        </p:par>
                        <p:par>
                          <p:cTn id="19" fill="hold">
                            <p:stCondLst>
                              <p:cond delay="220"/>
                            </p:stCondLst>
                            <p:childTnLst>
                              <p:par>
                                <p:cTn id="20" presetID="53" presetClass="entr" presetSubtype="16" fill="hold" grpId="0" nodeType="afterEffect">
                                  <p:stCondLst>
                                    <p:cond delay="0"/>
                                  </p:stCondLst>
                                  <p:childTnLst>
                                    <p:set>
                                      <p:cBhvr>
                                        <p:cTn id="21" dur="1" fill="hold">
                                          <p:stCondLst>
                                            <p:cond delay="0"/>
                                          </p:stCondLst>
                                        </p:cTn>
                                        <p:tgtEl>
                                          <p:spTgt spid="11"/>
                                        </p:tgtEl>
                                        <p:attrNameLst>
                                          <p:attrName>style.visibility</p:attrName>
                                        </p:attrNameLst>
                                      </p:cBhvr>
                                      <p:to>
                                        <p:strVal val="visible"/>
                                      </p:to>
                                    </p:set>
                                    <p:animEffect transition="in" filter="fade">
                                      <p:cBhvr>
                                        <p:cTn id="22" dur="550"/>
                                        <p:tgtEl>
                                          <p:spTgt spid="11"/>
                                        </p:tgtEl>
                                      </p:cBhvr>
                                    </p:animEffect>
                                    <p:anim calcmode="lin" valueType="num">
                                      <p:cBhvr additive="base">
                                        <p:cTn id="23" dur="550" fill="hold"/>
                                        <p:tgtEl>
                                          <p:spTgt spid="11"/>
                                        </p:tgtEl>
                                        <p:attrNameLst>
                                          <p:attrName>ppt_w</p:attrName>
                                        </p:attrNameLst>
                                      </p:cBhvr>
                                      <p:tavLst>
                                        <p:tav tm="0">
                                          <p:val>
                                            <p:strVal val="0"/>
                                          </p:val>
                                        </p:tav>
                                        <p:tav tm="100000">
                                          <p:val>
                                            <p:strVal val="#ppt_w"/>
                                          </p:val>
                                        </p:tav>
                                      </p:tavLst>
                                    </p:anim>
                                    <p:anim calcmode="lin" valueType="num">
                                      <p:cBhvr additive="base">
                                        <p:cTn id="24" dur="550" fill="hold"/>
                                        <p:tgtEl>
                                          <p:spTgt spid="11"/>
                                        </p:tgtEl>
                                        <p:attrNameLst>
                                          <p:attrName>ppt_h</p:attrName>
                                        </p:attrNameLst>
                                      </p:cBhvr>
                                      <p:tavLst>
                                        <p:tav tm="0">
                                          <p:val>
                                            <p:strVal val="0"/>
                                          </p:val>
                                        </p:tav>
                                        <p:tav tm="100000">
                                          <p:val>
                                            <p:strVal val="#ppt_h"/>
                                          </p:val>
                                        </p:tav>
                                      </p:tavLst>
                                    </p:anim>
                                  </p:childTnLst>
                                </p:cTn>
                              </p:par>
                            </p:childTnLst>
                          </p:cTn>
                        </p:par>
                        <p:par>
                          <p:cTn id="25" fill="hold">
                            <p:stCondLst>
                              <p:cond delay="220"/>
                            </p:stCondLst>
                            <p:childTnLst>
                              <p:par>
                                <p:cTn id="26" presetID="42" presetClass="entr" presetSubtype="0" fill="hold" grpId="0" nodeType="afterEffect">
                                  <p:stCondLst>
                                    <p:cond delay="0"/>
                                  </p:stCondLst>
                                  <p:childTnLst>
                                    <p:set>
                                      <p:cBhvr>
                                        <p:cTn id="27" dur="1" fill="hold">
                                          <p:stCondLst>
                                            <p:cond delay="0"/>
                                          </p:stCondLst>
                                        </p:cTn>
                                        <p:tgtEl>
                                          <p:spTgt spid="12"/>
                                        </p:tgtEl>
                                        <p:attrNameLst>
                                          <p:attrName>style.visibility</p:attrName>
                                        </p:attrNameLst>
                                      </p:cBhvr>
                                      <p:to>
                                        <p:strVal val="visible"/>
                                      </p:to>
                                    </p:set>
                                    <p:animEffect transition="in" filter="fade">
                                      <p:cBhvr>
                                        <p:cTn id="28" dur="550"/>
                                        <p:tgtEl>
                                          <p:spTgt spid="12"/>
                                        </p:tgtEl>
                                      </p:cBhvr>
                                    </p:animEffect>
                                    <p:anim calcmode="lin" valueType="num">
                                      <p:cBhvr additive="base">
                                        <p:cTn id="29" dur="550" fill="hold"/>
                                        <p:tgtEl>
                                          <p:spTgt spid="12"/>
                                        </p:tgtEl>
                                        <p:attrNameLst>
                                          <p:attrName>ppt_x</p:attrName>
                                        </p:attrNameLst>
                                      </p:cBhvr>
                                      <p:tavLst>
                                        <p:tav tm="0">
                                          <p:val>
                                            <p:strVal val="#ppt_x"/>
                                          </p:val>
                                        </p:tav>
                                        <p:tav tm="100000">
                                          <p:val>
                                            <p:strVal val="#ppt_x"/>
                                          </p:val>
                                        </p:tav>
                                      </p:tavLst>
                                    </p:anim>
                                    <p:anim calcmode="lin" valueType="num">
                                      <p:cBhvr additive="base">
                                        <p:cTn id="30" dur="550" fill="hold"/>
                                        <p:tgtEl>
                                          <p:spTgt spid="12"/>
                                        </p:tgtEl>
                                        <p:attrNameLst>
                                          <p:attrName>ppt_y</p:attrName>
                                        </p:attrNameLst>
                                      </p:cBhvr>
                                      <p:tavLst>
                                        <p:tav tm="0">
                                          <p:val>
                                            <p:strVal val="#ppt_y+.08"/>
                                          </p:val>
                                        </p:tav>
                                        <p:tav tm="100000">
                                          <p:val>
                                            <p:strVal val="#ppt_y"/>
                                          </p:val>
                                        </p:tav>
                                      </p:tavLst>
                                    </p:anim>
                                  </p:childTnLst>
                                </p:cTn>
                              </p:par>
                            </p:childTnLst>
                          </p:cTn>
                        </p:par>
                        <p:par>
                          <p:cTn id="31" fill="hold">
                            <p:stCondLst>
                              <p:cond delay="440"/>
                            </p:stCondLst>
                            <p:childTnLst>
                              <p:par>
                                <p:cTn id="32" presetID="42" presetClass="entr" presetSubtype="0" fill="hold" grpId="0" nodeType="afterEffect">
                                  <p:stCondLst>
                                    <p:cond delay="0"/>
                                  </p:stCondLst>
                                  <p:childTnLst>
                                    <p:set>
                                      <p:cBhvr>
                                        <p:cTn id="33" dur="1" fill="hold">
                                          <p:stCondLst>
                                            <p:cond delay="0"/>
                                          </p:stCondLst>
                                        </p:cTn>
                                        <p:tgtEl>
                                          <p:spTgt spid="13"/>
                                        </p:tgtEl>
                                        <p:attrNameLst>
                                          <p:attrName>style.visibility</p:attrName>
                                        </p:attrNameLst>
                                      </p:cBhvr>
                                      <p:to>
                                        <p:strVal val="visible"/>
                                      </p:to>
                                    </p:set>
                                    <p:animEffect transition="in" filter="fade">
                                      <p:cBhvr>
                                        <p:cTn id="34" dur="550"/>
                                        <p:tgtEl>
                                          <p:spTgt spid="13"/>
                                        </p:tgtEl>
                                      </p:cBhvr>
                                    </p:animEffect>
                                    <p:anim calcmode="lin" valueType="num">
                                      <p:cBhvr additive="base">
                                        <p:cTn id="35" dur="550" fill="hold"/>
                                        <p:tgtEl>
                                          <p:spTgt spid="13"/>
                                        </p:tgtEl>
                                        <p:attrNameLst>
                                          <p:attrName>ppt_x</p:attrName>
                                        </p:attrNameLst>
                                      </p:cBhvr>
                                      <p:tavLst>
                                        <p:tav tm="0">
                                          <p:val>
                                            <p:strVal val="#ppt_x"/>
                                          </p:val>
                                        </p:tav>
                                        <p:tav tm="100000">
                                          <p:val>
                                            <p:strVal val="#ppt_x"/>
                                          </p:val>
                                        </p:tav>
                                      </p:tavLst>
                                    </p:anim>
                                    <p:anim calcmode="lin" valueType="num">
                                      <p:cBhvr additive="base">
                                        <p:cTn id="36" dur="550" fill="hold"/>
                                        <p:tgtEl>
                                          <p:spTgt spid="13"/>
                                        </p:tgtEl>
                                        <p:attrNameLst>
                                          <p:attrName>ppt_y</p:attrName>
                                        </p:attrNameLst>
                                      </p:cBhvr>
                                      <p:tavLst>
                                        <p:tav tm="0">
                                          <p:val>
                                            <p:strVal val="#ppt_y+.08"/>
                                          </p:val>
                                        </p:tav>
                                        <p:tav tm="100000">
                                          <p:val>
                                            <p:strVal val="#ppt_y"/>
                                          </p:val>
                                        </p:tav>
                                      </p:tavLst>
                                    </p:anim>
                                  </p:childTnLst>
                                </p:cTn>
                              </p:par>
                            </p:childTnLst>
                          </p:cTn>
                        </p:par>
                        <p:par>
                          <p:cTn id="37" fill="hold">
                            <p:stCondLst>
                              <p:cond delay="440"/>
                            </p:stCondLst>
                            <p:childTnLst>
                              <p:par>
                                <p:cTn id="38" presetID="42" presetClass="entr" presetSubtype="0" fill="hold" grpId="0" nodeType="afterEffect">
                                  <p:stCondLst>
                                    <p:cond delay="0"/>
                                  </p:stCondLst>
                                  <p:childTnLst>
                                    <p:set>
                                      <p:cBhvr>
                                        <p:cTn id="39" dur="1" fill="hold">
                                          <p:stCondLst>
                                            <p:cond delay="0"/>
                                          </p:stCondLst>
                                        </p:cTn>
                                        <p:tgtEl>
                                          <p:spTgt spid="14"/>
                                        </p:tgtEl>
                                        <p:attrNameLst>
                                          <p:attrName>style.visibility</p:attrName>
                                        </p:attrNameLst>
                                      </p:cBhvr>
                                      <p:to>
                                        <p:strVal val="visible"/>
                                      </p:to>
                                    </p:set>
                                    <p:animEffect transition="in" filter="fade">
                                      <p:cBhvr>
                                        <p:cTn id="40" dur="550"/>
                                        <p:tgtEl>
                                          <p:spTgt spid="14"/>
                                        </p:tgtEl>
                                      </p:cBhvr>
                                    </p:animEffect>
                                    <p:anim calcmode="lin" valueType="num">
                                      <p:cBhvr additive="base">
                                        <p:cTn id="41" dur="550" fill="hold"/>
                                        <p:tgtEl>
                                          <p:spTgt spid="14"/>
                                        </p:tgtEl>
                                        <p:attrNameLst>
                                          <p:attrName>ppt_x</p:attrName>
                                        </p:attrNameLst>
                                      </p:cBhvr>
                                      <p:tavLst>
                                        <p:tav tm="0">
                                          <p:val>
                                            <p:strVal val="#ppt_x"/>
                                          </p:val>
                                        </p:tav>
                                        <p:tav tm="100000">
                                          <p:val>
                                            <p:strVal val="#ppt_x"/>
                                          </p:val>
                                        </p:tav>
                                      </p:tavLst>
                                    </p:anim>
                                    <p:anim calcmode="lin" valueType="num">
                                      <p:cBhvr additive="base">
                                        <p:cTn id="42" dur="550" fill="hold"/>
                                        <p:tgtEl>
                                          <p:spTgt spid="14"/>
                                        </p:tgtEl>
                                        <p:attrNameLst>
                                          <p:attrName>ppt_y</p:attrName>
                                        </p:attrNameLst>
                                      </p:cBhvr>
                                      <p:tavLst>
                                        <p:tav tm="0">
                                          <p:val>
                                            <p:strVal val="#ppt_y+.08"/>
                                          </p:val>
                                        </p:tav>
                                        <p:tav tm="100000">
                                          <p:val>
                                            <p:strVal val="#ppt_y"/>
                                          </p:val>
                                        </p:tav>
                                      </p:tavLst>
                                    </p:anim>
                                  </p:childTnLst>
                                </p:cTn>
                              </p:par>
                            </p:childTnLst>
                          </p:cTn>
                        </p:par>
                        <p:par>
                          <p:cTn id="43" fill="hold">
                            <p:stCondLst>
                              <p:cond delay="440"/>
                            </p:stCondLst>
                            <p:childTnLst>
                              <p:par>
                                <p:cTn id="44" presetID="53" presetClass="entr" presetSubtype="16" fill="hold" grpId="0" nodeType="afterEffect">
                                  <p:stCondLst>
                                    <p:cond delay="0"/>
                                  </p:stCondLst>
                                  <p:childTnLst>
                                    <p:set>
                                      <p:cBhvr>
                                        <p:cTn id="45" dur="1" fill="hold">
                                          <p:stCondLst>
                                            <p:cond delay="0"/>
                                          </p:stCondLst>
                                        </p:cTn>
                                        <p:tgtEl>
                                          <p:spTgt spid="15"/>
                                        </p:tgtEl>
                                        <p:attrNameLst>
                                          <p:attrName>style.visibility</p:attrName>
                                        </p:attrNameLst>
                                      </p:cBhvr>
                                      <p:to>
                                        <p:strVal val="visible"/>
                                      </p:to>
                                    </p:set>
                                    <p:animEffect transition="in" filter="fade">
                                      <p:cBhvr>
                                        <p:cTn id="46" dur="550"/>
                                        <p:tgtEl>
                                          <p:spTgt spid="15"/>
                                        </p:tgtEl>
                                      </p:cBhvr>
                                    </p:animEffect>
                                    <p:anim calcmode="lin" valueType="num">
                                      <p:cBhvr additive="base">
                                        <p:cTn id="47" dur="550" fill="hold"/>
                                        <p:tgtEl>
                                          <p:spTgt spid="15"/>
                                        </p:tgtEl>
                                        <p:attrNameLst>
                                          <p:attrName>ppt_w</p:attrName>
                                        </p:attrNameLst>
                                      </p:cBhvr>
                                      <p:tavLst>
                                        <p:tav tm="0">
                                          <p:val>
                                            <p:strVal val="0"/>
                                          </p:val>
                                        </p:tav>
                                        <p:tav tm="100000">
                                          <p:val>
                                            <p:strVal val="#ppt_w"/>
                                          </p:val>
                                        </p:tav>
                                      </p:tavLst>
                                    </p:anim>
                                    <p:anim calcmode="lin" valueType="num">
                                      <p:cBhvr additive="base">
                                        <p:cTn id="48" dur="550" fill="hold"/>
                                        <p:tgtEl>
                                          <p:spTgt spid="15"/>
                                        </p:tgtEl>
                                        <p:attrNameLst>
                                          <p:attrName>ppt_h</p:attrName>
                                        </p:attrNameLst>
                                      </p:cBhvr>
                                      <p:tavLst>
                                        <p:tav tm="0">
                                          <p:val>
                                            <p:strVal val="0"/>
                                          </p:val>
                                        </p:tav>
                                        <p:tav tm="100000">
                                          <p:val>
                                            <p:strVal val="#ppt_h"/>
                                          </p:val>
                                        </p:tav>
                                      </p:tavLst>
                                    </p:anim>
                                  </p:childTnLst>
                                </p:cTn>
                              </p:par>
                            </p:childTnLst>
                          </p:cTn>
                        </p:par>
                        <p:par>
                          <p:cTn id="49" fill="hold">
                            <p:stCondLst>
                              <p:cond delay="440"/>
                            </p:stCondLst>
                            <p:childTnLst>
                              <p:par>
                                <p:cTn id="50" presetID="42" presetClass="entr" presetSubtype="0" fill="hold" grpId="0" nodeType="afterEffect">
                                  <p:stCondLst>
                                    <p:cond delay="0"/>
                                  </p:stCondLst>
                                  <p:childTnLst>
                                    <p:set>
                                      <p:cBhvr>
                                        <p:cTn id="51" dur="1" fill="hold">
                                          <p:stCondLst>
                                            <p:cond delay="0"/>
                                          </p:stCondLst>
                                        </p:cTn>
                                        <p:tgtEl>
                                          <p:spTgt spid="16"/>
                                        </p:tgtEl>
                                        <p:attrNameLst>
                                          <p:attrName>style.visibility</p:attrName>
                                        </p:attrNameLst>
                                      </p:cBhvr>
                                      <p:to>
                                        <p:strVal val="visible"/>
                                      </p:to>
                                    </p:set>
                                    <p:animEffect transition="in" filter="fade">
                                      <p:cBhvr>
                                        <p:cTn id="52" dur="550"/>
                                        <p:tgtEl>
                                          <p:spTgt spid="16"/>
                                        </p:tgtEl>
                                      </p:cBhvr>
                                    </p:animEffect>
                                    <p:anim calcmode="lin" valueType="num">
                                      <p:cBhvr additive="base">
                                        <p:cTn id="53" dur="550" fill="hold"/>
                                        <p:tgtEl>
                                          <p:spTgt spid="16"/>
                                        </p:tgtEl>
                                        <p:attrNameLst>
                                          <p:attrName>ppt_x</p:attrName>
                                        </p:attrNameLst>
                                      </p:cBhvr>
                                      <p:tavLst>
                                        <p:tav tm="0">
                                          <p:val>
                                            <p:strVal val="#ppt_x"/>
                                          </p:val>
                                        </p:tav>
                                        <p:tav tm="100000">
                                          <p:val>
                                            <p:strVal val="#ppt_x"/>
                                          </p:val>
                                        </p:tav>
                                      </p:tavLst>
                                    </p:anim>
                                    <p:anim calcmode="lin" valueType="num">
                                      <p:cBhvr additive="base">
                                        <p:cTn id="54" dur="550" fill="hold"/>
                                        <p:tgtEl>
                                          <p:spTgt spid="16"/>
                                        </p:tgtEl>
                                        <p:attrNameLst>
                                          <p:attrName>ppt_y</p:attrName>
                                        </p:attrNameLst>
                                      </p:cBhvr>
                                      <p:tavLst>
                                        <p:tav tm="0">
                                          <p:val>
                                            <p:strVal val="#ppt_y+.08"/>
                                          </p:val>
                                        </p:tav>
                                        <p:tav tm="100000">
                                          <p:val>
                                            <p:strVal val="#ppt_y"/>
                                          </p:val>
                                        </p:tav>
                                      </p:tavLst>
                                    </p:anim>
                                  </p:childTnLst>
                                </p:cTn>
                              </p:par>
                            </p:childTnLst>
                          </p:cTn>
                        </p:par>
                        <p:par>
                          <p:cTn id="55" fill="hold">
                            <p:stCondLst>
                              <p:cond delay="660"/>
                            </p:stCondLst>
                            <p:childTnLst>
                              <p:par>
                                <p:cTn id="56" presetID="42" presetClass="entr" presetSubtype="0" fill="hold" grpId="0" nodeType="afterEffect">
                                  <p:stCondLst>
                                    <p:cond delay="0"/>
                                  </p:stCondLst>
                                  <p:childTnLst>
                                    <p:set>
                                      <p:cBhvr>
                                        <p:cTn id="57" dur="1" fill="hold">
                                          <p:stCondLst>
                                            <p:cond delay="0"/>
                                          </p:stCondLst>
                                        </p:cTn>
                                        <p:tgtEl>
                                          <p:spTgt spid="17"/>
                                        </p:tgtEl>
                                        <p:attrNameLst>
                                          <p:attrName>style.visibility</p:attrName>
                                        </p:attrNameLst>
                                      </p:cBhvr>
                                      <p:to>
                                        <p:strVal val="visible"/>
                                      </p:to>
                                    </p:set>
                                    <p:animEffect transition="in" filter="fade">
                                      <p:cBhvr>
                                        <p:cTn id="58" dur="550"/>
                                        <p:tgtEl>
                                          <p:spTgt spid="17"/>
                                        </p:tgtEl>
                                      </p:cBhvr>
                                    </p:animEffect>
                                    <p:anim calcmode="lin" valueType="num">
                                      <p:cBhvr additive="base">
                                        <p:cTn id="59" dur="550" fill="hold"/>
                                        <p:tgtEl>
                                          <p:spTgt spid="17"/>
                                        </p:tgtEl>
                                        <p:attrNameLst>
                                          <p:attrName>ppt_x</p:attrName>
                                        </p:attrNameLst>
                                      </p:cBhvr>
                                      <p:tavLst>
                                        <p:tav tm="0">
                                          <p:val>
                                            <p:strVal val="#ppt_x"/>
                                          </p:val>
                                        </p:tav>
                                        <p:tav tm="100000">
                                          <p:val>
                                            <p:strVal val="#ppt_x"/>
                                          </p:val>
                                        </p:tav>
                                      </p:tavLst>
                                    </p:anim>
                                    <p:anim calcmode="lin" valueType="num">
                                      <p:cBhvr additive="base">
                                        <p:cTn id="60" dur="550" fill="hold"/>
                                        <p:tgtEl>
                                          <p:spTgt spid="17"/>
                                        </p:tgtEl>
                                        <p:attrNameLst>
                                          <p:attrName>ppt_y</p:attrName>
                                        </p:attrNameLst>
                                      </p:cBhvr>
                                      <p:tavLst>
                                        <p:tav tm="0">
                                          <p:val>
                                            <p:strVal val="#ppt_y+.08"/>
                                          </p:val>
                                        </p:tav>
                                        <p:tav tm="100000">
                                          <p:val>
                                            <p:strVal val="#ppt_y"/>
                                          </p:val>
                                        </p:tav>
                                      </p:tavLst>
                                    </p:anim>
                                  </p:childTnLst>
                                </p:cTn>
                              </p:par>
                            </p:childTnLst>
                          </p:cTn>
                        </p:par>
                        <p:par>
                          <p:cTn id="61" fill="hold">
                            <p:stCondLst>
                              <p:cond delay="660"/>
                            </p:stCondLst>
                            <p:childTnLst>
                              <p:par>
                                <p:cTn id="62" presetID="42" presetClass="entr" presetSubtype="0" fill="hold" grpId="0" nodeType="afterEffect">
                                  <p:stCondLst>
                                    <p:cond delay="0"/>
                                  </p:stCondLst>
                                  <p:childTnLst>
                                    <p:set>
                                      <p:cBhvr>
                                        <p:cTn id="63" dur="1" fill="hold">
                                          <p:stCondLst>
                                            <p:cond delay="0"/>
                                          </p:stCondLst>
                                        </p:cTn>
                                        <p:tgtEl>
                                          <p:spTgt spid="18"/>
                                        </p:tgtEl>
                                        <p:attrNameLst>
                                          <p:attrName>style.visibility</p:attrName>
                                        </p:attrNameLst>
                                      </p:cBhvr>
                                      <p:to>
                                        <p:strVal val="visible"/>
                                      </p:to>
                                    </p:set>
                                    <p:animEffect transition="in" filter="fade">
                                      <p:cBhvr>
                                        <p:cTn id="64" dur="550"/>
                                        <p:tgtEl>
                                          <p:spTgt spid="18"/>
                                        </p:tgtEl>
                                      </p:cBhvr>
                                    </p:animEffect>
                                    <p:anim calcmode="lin" valueType="num">
                                      <p:cBhvr additive="base">
                                        <p:cTn id="65" dur="550" fill="hold"/>
                                        <p:tgtEl>
                                          <p:spTgt spid="18"/>
                                        </p:tgtEl>
                                        <p:attrNameLst>
                                          <p:attrName>ppt_x</p:attrName>
                                        </p:attrNameLst>
                                      </p:cBhvr>
                                      <p:tavLst>
                                        <p:tav tm="0">
                                          <p:val>
                                            <p:strVal val="#ppt_x"/>
                                          </p:val>
                                        </p:tav>
                                        <p:tav tm="100000">
                                          <p:val>
                                            <p:strVal val="#ppt_x"/>
                                          </p:val>
                                        </p:tav>
                                      </p:tavLst>
                                    </p:anim>
                                    <p:anim calcmode="lin" valueType="num">
                                      <p:cBhvr additive="base">
                                        <p:cTn id="66" dur="550" fill="hold"/>
                                        <p:tgtEl>
                                          <p:spTgt spid="18"/>
                                        </p:tgtEl>
                                        <p:attrNameLst>
                                          <p:attrName>ppt_y</p:attrName>
                                        </p:attrNameLst>
                                      </p:cBhvr>
                                      <p:tavLst>
                                        <p:tav tm="0">
                                          <p:val>
                                            <p:strVal val="#ppt_y+.08"/>
                                          </p:val>
                                        </p:tav>
                                        <p:tav tm="100000">
                                          <p:val>
                                            <p:strVal val="#ppt_y"/>
                                          </p:val>
                                        </p:tav>
                                      </p:tavLst>
                                    </p:anim>
                                  </p:childTnLst>
                                </p:cTn>
                              </p:par>
                            </p:childTnLst>
                          </p:cTn>
                        </p:par>
                        <p:par>
                          <p:cTn id="67" fill="hold">
                            <p:stCondLst>
                              <p:cond delay="660"/>
                            </p:stCondLst>
                            <p:childTnLst>
                              <p:par>
                                <p:cTn id="68" presetID="53" presetClass="entr" presetSubtype="16" fill="hold" grpId="0" nodeType="afterEffect">
                                  <p:stCondLst>
                                    <p:cond delay="0"/>
                                  </p:stCondLst>
                                  <p:childTnLst>
                                    <p:set>
                                      <p:cBhvr>
                                        <p:cTn id="69" dur="1" fill="hold">
                                          <p:stCondLst>
                                            <p:cond delay="0"/>
                                          </p:stCondLst>
                                        </p:cTn>
                                        <p:tgtEl>
                                          <p:spTgt spid="19"/>
                                        </p:tgtEl>
                                        <p:attrNameLst>
                                          <p:attrName>style.visibility</p:attrName>
                                        </p:attrNameLst>
                                      </p:cBhvr>
                                      <p:to>
                                        <p:strVal val="visible"/>
                                      </p:to>
                                    </p:set>
                                    <p:animEffect transition="in" filter="fade">
                                      <p:cBhvr>
                                        <p:cTn id="70" dur="550"/>
                                        <p:tgtEl>
                                          <p:spTgt spid="19"/>
                                        </p:tgtEl>
                                      </p:cBhvr>
                                    </p:animEffect>
                                    <p:anim calcmode="lin" valueType="num">
                                      <p:cBhvr additive="base">
                                        <p:cTn id="71" dur="550" fill="hold"/>
                                        <p:tgtEl>
                                          <p:spTgt spid="19"/>
                                        </p:tgtEl>
                                        <p:attrNameLst>
                                          <p:attrName>ppt_w</p:attrName>
                                        </p:attrNameLst>
                                      </p:cBhvr>
                                      <p:tavLst>
                                        <p:tav tm="0">
                                          <p:val>
                                            <p:strVal val="0"/>
                                          </p:val>
                                        </p:tav>
                                        <p:tav tm="100000">
                                          <p:val>
                                            <p:strVal val="#ppt_w"/>
                                          </p:val>
                                        </p:tav>
                                      </p:tavLst>
                                    </p:anim>
                                    <p:anim calcmode="lin" valueType="num">
                                      <p:cBhvr additive="base">
                                        <p:cTn id="72" dur="550" fill="hold"/>
                                        <p:tgtEl>
                                          <p:spTgt spid="19"/>
                                        </p:tgtEl>
                                        <p:attrNameLst>
                                          <p:attrName>ppt_h</p:attrName>
                                        </p:attrNameLst>
                                      </p:cBhvr>
                                      <p:tavLst>
                                        <p:tav tm="0">
                                          <p:val>
                                            <p:strVal val="0"/>
                                          </p:val>
                                        </p:tav>
                                        <p:tav tm="100000">
                                          <p:val>
                                            <p:strVal val="#ppt_h"/>
                                          </p:val>
                                        </p:tav>
                                      </p:tavLst>
                                    </p:anim>
                                  </p:childTnLst>
                                </p:cTn>
                              </p:par>
                            </p:childTnLst>
                          </p:cTn>
                        </p:par>
                        <p:par>
                          <p:cTn id="73" fill="hold">
                            <p:stCondLst>
                              <p:cond delay="660"/>
                            </p:stCondLst>
                            <p:childTnLst>
                              <p:par>
                                <p:cTn id="74" presetID="42" presetClass="entr" presetSubtype="0" fill="hold" grpId="0" nodeType="afterEffect">
                                  <p:stCondLst>
                                    <p:cond delay="0"/>
                                  </p:stCondLst>
                                  <p:childTnLst>
                                    <p:set>
                                      <p:cBhvr>
                                        <p:cTn id="75" dur="1" fill="hold">
                                          <p:stCondLst>
                                            <p:cond delay="0"/>
                                          </p:stCondLst>
                                        </p:cTn>
                                        <p:tgtEl>
                                          <p:spTgt spid="20"/>
                                        </p:tgtEl>
                                        <p:attrNameLst>
                                          <p:attrName>style.visibility</p:attrName>
                                        </p:attrNameLst>
                                      </p:cBhvr>
                                      <p:to>
                                        <p:strVal val="visible"/>
                                      </p:to>
                                    </p:set>
                                    <p:animEffect transition="in" filter="fade">
                                      <p:cBhvr>
                                        <p:cTn id="76" dur="550"/>
                                        <p:tgtEl>
                                          <p:spTgt spid="20"/>
                                        </p:tgtEl>
                                      </p:cBhvr>
                                    </p:animEffect>
                                    <p:anim calcmode="lin" valueType="num">
                                      <p:cBhvr additive="base">
                                        <p:cTn id="77" dur="550" fill="hold"/>
                                        <p:tgtEl>
                                          <p:spTgt spid="20"/>
                                        </p:tgtEl>
                                        <p:attrNameLst>
                                          <p:attrName>ppt_x</p:attrName>
                                        </p:attrNameLst>
                                      </p:cBhvr>
                                      <p:tavLst>
                                        <p:tav tm="0">
                                          <p:val>
                                            <p:strVal val="#ppt_x"/>
                                          </p:val>
                                        </p:tav>
                                        <p:tav tm="100000">
                                          <p:val>
                                            <p:strVal val="#ppt_x"/>
                                          </p:val>
                                        </p:tav>
                                      </p:tavLst>
                                    </p:anim>
                                    <p:anim calcmode="lin" valueType="num">
                                      <p:cBhvr additive="base">
                                        <p:cTn id="78" dur="550" fill="hold"/>
                                        <p:tgtEl>
                                          <p:spTgt spid="20"/>
                                        </p:tgtEl>
                                        <p:attrNameLst>
                                          <p:attrName>ppt_y</p:attrName>
                                        </p:attrNameLst>
                                      </p:cBhvr>
                                      <p:tavLst>
                                        <p:tav tm="0">
                                          <p:val>
                                            <p:strVal val="#ppt_y+.08"/>
                                          </p:val>
                                        </p:tav>
                                        <p:tav tm="100000">
                                          <p:val>
                                            <p:strVal val="#ppt_y"/>
                                          </p:val>
                                        </p:tav>
                                      </p:tavLst>
                                    </p:anim>
                                  </p:childTnLst>
                                </p:cTn>
                              </p:par>
                            </p:childTnLst>
                          </p:cTn>
                        </p:par>
                        <p:par>
                          <p:cTn id="79" fill="hold">
                            <p:stCondLst>
                              <p:cond delay="880"/>
                            </p:stCondLst>
                            <p:childTnLst>
                              <p:par>
                                <p:cTn id="80" presetID="42" presetClass="entr" presetSubtype="0" fill="hold" grpId="0" nodeType="afterEffect">
                                  <p:stCondLst>
                                    <p:cond delay="0"/>
                                  </p:stCondLst>
                                  <p:childTnLst>
                                    <p:set>
                                      <p:cBhvr>
                                        <p:cTn id="81" dur="1" fill="hold">
                                          <p:stCondLst>
                                            <p:cond delay="0"/>
                                          </p:stCondLst>
                                        </p:cTn>
                                        <p:tgtEl>
                                          <p:spTgt spid="21"/>
                                        </p:tgtEl>
                                        <p:attrNameLst>
                                          <p:attrName>style.visibility</p:attrName>
                                        </p:attrNameLst>
                                      </p:cBhvr>
                                      <p:to>
                                        <p:strVal val="visible"/>
                                      </p:to>
                                    </p:set>
                                    <p:animEffect transition="in" filter="fade">
                                      <p:cBhvr>
                                        <p:cTn id="82" dur="550"/>
                                        <p:tgtEl>
                                          <p:spTgt spid="21"/>
                                        </p:tgtEl>
                                      </p:cBhvr>
                                    </p:animEffect>
                                    <p:anim calcmode="lin" valueType="num">
                                      <p:cBhvr additive="base">
                                        <p:cTn id="83" dur="550" fill="hold"/>
                                        <p:tgtEl>
                                          <p:spTgt spid="21"/>
                                        </p:tgtEl>
                                        <p:attrNameLst>
                                          <p:attrName>ppt_x</p:attrName>
                                        </p:attrNameLst>
                                      </p:cBhvr>
                                      <p:tavLst>
                                        <p:tav tm="0">
                                          <p:val>
                                            <p:strVal val="#ppt_x"/>
                                          </p:val>
                                        </p:tav>
                                        <p:tav tm="100000">
                                          <p:val>
                                            <p:strVal val="#ppt_x"/>
                                          </p:val>
                                        </p:tav>
                                      </p:tavLst>
                                    </p:anim>
                                    <p:anim calcmode="lin" valueType="num">
                                      <p:cBhvr additive="base">
                                        <p:cTn id="84" dur="550" fill="hold"/>
                                        <p:tgtEl>
                                          <p:spTgt spid="21"/>
                                        </p:tgtEl>
                                        <p:attrNameLst>
                                          <p:attrName>ppt_y</p:attrName>
                                        </p:attrNameLst>
                                      </p:cBhvr>
                                      <p:tavLst>
                                        <p:tav tm="0">
                                          <p:val>
                                            <p:strVal val="#ppt_y+.08"/>
                                          </p:val>
                                        </p:tav>
                                        <p:tav tm="100000">
                                          <p:val>
                                            <p:strVal val="#ppt_y"/>
                                          </p:val>
                                        </p:tav>
                                      </p:tavLst>
                                    </p:anim>
                                  </p:childTnLst>
                                </p:cTn>
                              </p:par>
                            </p:childTnLst>
                          </p:cTn>
                        </p:par>
                        <p:par>
                          <p:cTn id="85" fill="hold">
                            <p:stCondLst>
                              <p:cond delay="880"/>
                            </p:stCondLst>
                            <p:childTnLst>
                              <p:par>
                                <p:cTn id="86" presetID="42" presetClass="entr" presetSubtype="0" fill="hold" grpId="0" nodeType="afterEffect">
                                  <p:stCondLst>
                                    <p:cond delay="0"/>
                                  </p:stCondLst>
                                  <p:childTnLst>
                                    <p:set>
                                      <p:cBhvr>
                                        <p:cTn id="87" dur="1" fill="hold">
                                          <p:stCondLst>
                                            <p:cond delay="0"/>
                                          </p:stCondLst>
                                        </p:cTn>
                                        <p:tgtEl>
                                          <p:spTgt spid="22"/>
                                        </p:tgtEl>
                                        <p:attrNameLst>
                                          <p:attrName>style.visibility</p:attrName>
                                        </p:attrNameLst>
                                      </p:cBhvr>
                                      <p:to>
                                        <p:strVal val="visible"/>
                                      </p:to>
                                    </p:set>
                                    <p:animEffect transition="in" filter="fade">
                                      <p:cBhvr>
                                        <p:cTn id="88" dur="550"/>
                                        <p:tgtEl>
                                          <p:spTgt spid="22"/>
                                        </p:tgtEl>
                                      </p:cBhvr>
                                    </p:animEffect>
                                    <p:anim calcmode="lin" valueType="num">
                                      <p:cBhvr additive="base">
                                        <p:cTn id="89" dur="550" fill="hold"/>
                                        <p:tgtEl>
                                          <p:spTgt spid="22"/>
                                        </p:tgtEl>
                                        <p:attrNameLst>
                                          <p:attrName>ppt_x</p:attrName>
                                        </p:attrNameLst>
                                      </p:cBhvr>
                                      <p:tavLst>
                                        <p:tav tm="0">
                                          <p:val>
                                            <p:strVal val="#ppt_x"/>
                                          </p:val>
                                        </p:tav>
                                        <p:tav tm="100000">
                                          <p:val>
                                            <p:strVal val="#ppt_x"/>
                                          </p:val>
                                        </p:tav>
                                      </p:tavLst>
                                    </p:anim>
                                    <p:anim calcmode="lin" valueType="num">
                                      <p:cBhvr additive="base">
                                        <p:cTn id="90" dur="550" fill="hold"/>
                                        <p:tgtEl>
                                          <p:spTgt spid="22"/>
                                        </p:tgtEl>
                                        <p:attrNameLst>
                                          <p:attrName>ppt_y</p:attrName>
                                        </p:attrNameLst>
                                      </p:cBhvr>
                                      <p:tavLst>
                                        <p:tav tm="0">
                                          <p:val>
                                            <p:strVal val="#ppt_y+.08"/>
                                          </p:val>
                                        </p:tav>
                                        <p:tav tm="100000">
                                          <p:val>
                                            <p:strVal val="#ppt_y"/>
                                          </p:val>
                                        </p:tav>
                                      </p:tavLst>
                                    </p:anim>
                                  </p:childTnLst>
                                </p:cTn>
                              </p:par>
                            </p:childTnLst>
                          </p:cTn>
                        </p:par>
                        <p:par>
                          <p:cTn id="91" fill="hold">
                            <p:stCondLst>
                              <p:cond delay="880"/>
                            </p:stCondLst>
                            <p:childTnLst>
                              <p:par>
                                <p:cTn id="92" presetID="53" presetClass="entr" presetSubtype="16" fill="hold" grpId="0" nodeType="afterEffect">
                                  <p:stCondLst>
                                    <p:cond delay="0"/>
                                  </p:stCondLst>
                                  <p:childTnLst>
                                    <p:set>
                                      <p:cBhvr>
                                        <p:cTn id="93" dur="1" fill="hold">
                                          <p:stCondLst>
                                            <p:cond delay="0"/>
                                          </p:stCondLst>
                                        </p:cTn>
                                        <p:tgtEl>
                                          <p:spTgt spid="23"/>
                                        </p:tgtEl>
                                        <p:attrNameLst>
                                          <p:attrName>style.visibility</p:attrName>
                                        </p:attrNameLst>
                                      </p:cBhvr>
                                      <p:to>
                                        <p:strVal val="visible"/>
                                      </p:to>
                                    </p:set>
                                    <p:animEffect transition="in" filter="fade">
                                      <p:cBhvr>
                                        <p:cTn id="94" dur="550"/>
                                        <p:tgtEl>
                                          <p:spTgt spid="23"/>
                                        </p:tgtEl>
                                      </p:cBhvr>
                                    </p:animEffect>
                                    <p:anim calcmode="lin" valueType="num">
                                      <p:cBhvr additive="base">
                                        <p:cTn id="95" dur="550" fill="hold"/>
                                        <p:tgtEl>
                                          <p:spTgt spid="23"/>
                                        </p:tgtEl>
                                        <p:attrNameLst>
                                          <p:attrName>ppt_w</p:attrName>
                                        </p:attrNameLst>
                                      </p:cBhvr>
                                      <p:tavLst>
                                        <p:tav tm="0">
                                          <p:val>
                                            <p:strVal val="0"/>
                                          </p:val>
                                        </p:tav>
                                        <p:tav tm="100000">
                                          <p:val>
                                            <p:strVal val="#ppt_w"/>
                                          </p:val>
                                        </p:tav>
                                      </p:tavLst>
                                    </p:anim>
                                    <p:anim calcmode="lin" valueType="num">
                                      <p:cBhvr additive="base">
                                        <p:cTn id="96" dur="550" fill="hold"/>
                                        <p:tgtEl>
                                          <p:spTgt spid="23"/>
                                        </p:tgtEl>
                                        <p:attrNameLst>
                                          <p:attrName>ppt_h</p:attrName>
                                        </p:attrNameLst>
                                      </p:cBhvr>
                                      <p:tavLst>
                                        <p:tav tm="0">
                                          <p:val>
                                            <p:strVal val="0"/>
                                          </p:val>
                                        </p:tav>
                                        <p:tav tm="100000">
                                          <p:val>
                                            <p:strVal val="#ppt_h"/>
                                          </p:val>
                                        </p:tav>
                                      </p:tavLst>
                                    </p:anim>
                                  </p:childTnLst>
                                </p:cTn>
                              </p:par>
                            </p:childTnLst>
                          </p:cTn>
                        </p:par>
                        <p:par>
                          <p:cTn id="97" fill="hold">
                            <p:stCondLst>
                              <p:cond delay="880"/>
                            </p:stCondLst>
                            <p:childTnLst>
                              <p:par>
                                <p:cTn id="98" presetID="42" presetClass="entr" presetSubtype="0" fill="hold" grpId="0" nodeType="afterEffect">
                                  <p:stCondLst>
                                    <p:cond delay="0"/>
                                  </p:stCondLst>
                                  <p:childTnLst>
                                    <p:set>
                                      <p:cBhvr>
                                        <p:cTn id="99" dur="1" fill="hold">
                                          <p:stCondLst>
                                            <p:cond delay="0"/>
                                          </p:stCondLst>
                                        </p:cTn>
                                        <p:tgtEl>
                                          <p:spTgt spid="24"/>
                                        </p:tgtEl>
                                        <p:attrNameLst>
                                          <p:attrName>style.visibility</p:attrName>
                                        </p:attrNameLst>
                                      </p:cBhvr>
                                      <p:to>
                                        <p:strVal val="visible"/>
                                      </p:to>
                                    </p:set>
                                    <p:animEffect transition="in" filter="fade">
                                      <p:cBhvr>
                                        <p:cTn id="100" dur="550"/>
                                        <p:tgtEl>
                                          <p:spTgt spid="24"/>
                                        </p:tgtEl>
                                      </p:cBhvr>
                                    </p:animEffect>
                                    <p:anim calcmode="lin" valueType="num">
                                      <p:cBhvr additive="base">
                                        <p:cTn id="101" dur="550" fill="hold"/>
                                        <p:tgtEl>
                                          <p:spTgt spid="24"/>
                                        </p:tgtEl>
                                        <p:attrNameLst>
                                          <p:attrName>ppt_x</p:attrName>
                                        </p:attrNameLst>
                                      </p:cBhvr>
                                      <p:tavLst>
                                        <p:tav tm="0">
                                          <p:val>
                                            <p:strVal val="#ppt_x"/>
                                          </p:val>
                                        </p:tav>
                                        <p:tav tm="100000">
                                          <p:val>
                                            <p:strVal val="#ppt_x"/>
                                          </p:val>
                                        </p:tav>
                                      </p:tavLst>
                                    </p:anim>
                                    <p:anim calcmode="lin" valueType="num">
                                      <p:cBhvr additive="base">
                                        <p:cTn id="102" dur="550" fill="hold"/>
                                        <p:tgtEl>
                                          <p:spTgt spid="24"/>
                                        </p:tgtEl>
                                        <p:attrNameLst>
                                          <p:attrName>ppt_y</p:attrName>
                                        </p:attrNameLst>
                                      </p:cBhvr>
                                      <p:tavLst>
                                        <p:tav tm="0">
                                          <p:val>
                                            <p:strVal val="#ppt_y+.08"/>
                                          </p:val>
                                        </p:tav>
                                        <p:tav tm="100000">
                                          <p:val>
                                            <p:strVal val="#ppt_y"/>
                                          </p:val>
                                        </p:tav>
                                      </p:tavLst>
                                    </p:anim>
                                  </p:childTnLst>
                                </p:cTn>
                              </p:par>
                            </p:childTnLst>
                          </p:cTn>
                        </p:par>
                        <p:par>
                          <p:cTn id="103" fill="hold">
                            <p:stCondLst>
                              <p:cond delay="1100"/>
                            </p:stCondLst>
                            <p:childTnLst>
                              <p:par>
                                <p:cTn id="104" presetID="42" presetClass="entr" presetSubtype="0" fill="hold" grpId="0" nodeType="afterEffect">
                                  <p:stCondLst>
                                    <p:cond delay="0"/>
                                  </p:stCondLst>
                                  <p:childTnLst>
                                    <p:set>
                                      <p:cBhvr>
                                        <p:cTn id="105" dur="1" fill="hold">
                                          <p:stCondLst>
                                            <p:cond delay="0"/>
                                          </p:stCondLst>
                                        </p:cTn>
                                        <p:tgtEl>
                                          <p:spTgt spid="25"/>
                                        </p:tgtEl>
                                        <p:attrNameLst>
                                          <p:attrName>style.visibility</p:attrName>
                                        </p:attrNameLst>
                                      </p:cBhvr>
                                      <p:to>
                                        <p:strVal val="visible"/>
                                      </p:to>
                                    </p:set>
                                    <p:animEffect transition="in" filter="fade">
                                      <p:cBhvr>
                                        <p:cTn id="106" dur="550"/>
                                        <p:tgtEl>
                                          <p:spTgt spid="25"/>
                                        </p:tgtEl>
                                      </p:cBhvr>
                                    </p:animEffect>
                                    <p:anim calcmode="lin" valueType="num">
                                      <p:cBhvr additive="base">
                                        <p:cTn id="107" dur="550" fill="hold"/>
                                        <p:tgtEl>
                                          <p:spTgt spid="25"/>
                                        </p:tgtEl>
                                        <p:attrNameLst>
                                          <p:attrName>ppt_x</p:attrName>
                                        </p:attrNameLst>
                                      </p:cBhvr>
                                      <p:tavLst>
                                        <p:tav tm="0">
                                          <p:val>
                                            <p:strVal val="#ppt_x"/>
                                          </p:val>
                                        </p:tav>
                                        <p:tav tm="100000">
                                          <p:val>
                                            <p:strVal val="#ppt_x"/>
                                          </p:val>
                                        </p:tav>
                                      </p:tavLst>
                                    </p:anim>
                                    <p:anim calcmode="lin" valueType="num">
                                      <p:cBhvr additive="base">
                                        <p:cTn id="108" dur="550" fill="hold"/>
                                        <p:tgtEl>
                                          <p:spTgt spid="25"/>
                                        </p:tgtEl>
                                        <p:attrNameLst>
                                          <p:attrName>ppt_y</p:attrName>
                                        </p:attrNameLst>
                                      </p:cBhvr>
                                      <p:tavLst>
                                        <p:tav tm="0">
                                          <p:val>
                                            <p:strVal val="#ppt_y+.08"/>
                                          </p:val>
                                        </p:tav>
                                        <p:tav tm="100000">
                                          <p:val>
                                            <p:strVal val="#ppt_y"/>
                                          </p:val>
                                        </p:tav>
                                      </p:tavLst>
                                    </p:anim>
                                  </p:childTnLst>
                                </p:cTn>
                              </p:par>
                            </p:childTnLst>
                          </p:cTn>
                        </p:par>
                        <p:par>
                          <p:cTn id="109" fill="hold">
                            <p:stCondLst>
                              <p:cond delay="1100"/>
                            </p:stCondLst>
                            <p:childTnLst>
                              <p:par>
                                <p:cTn id="110" presetID="42" presetClass="entr" presetSubtype="0" fill="hold" grpId="0" nodeType="afterEffect">
                                  <p:stCondLst>
                                    <p:cond delay="0"/>
                                  </p:stCondLst>
                                  <p:childTnLst>
                                    <p:set>
                                      <p:cBhvr>
                                        <p:cTn id="111" dur="1" fill="hold">
                                          <p:stCondLst>
                                            <p:cond delay="0"/>
                                          </p:stCondLst>
                                        </p:cTn>
                                        <p:tgtEl>
                                          <p:spTgt spid="26"/>
                                        </p:tgtEl>
                                        <p:attrNameLst>
                                          <p:attrName>style.visibility</p:attrName>
                                        </p:attrNameLst>
                                      </p:cBhvr>
                                      <p:to>
                                        <p:strVal val="visible"/>
                                      </p:to>
                                    </p:set>
                                    <p:animEffect transition="in" filter="fade">
                                      <p:cBhvr>
                                        <p:cTn id="112" dur="550"/>
                                        <p:tgtEl>
                                          <p:spTgt spid="26"/>
                                        </p:tgtEl>
                                      </p:cBhvr>
                                    </p:animEffect>
                                    <p:anim calcmode="lin" valueType="num">
                                      <p:cBhvr additive="base">
                                        <p:cTn id="113" dur="550" fill="hold"/>
                                        <p:tgtEl>
                                          <p:spTgt spid="26"/>
                                        </p:tgtEl>
                                        <p:attrNameLst>
                                          <p:attrName>ppt_x</p:attrName>
                                        </p:attrNameLst>
                                      </p:cBhvr>
                                      <p:tavLst>
                                        <p:tav tm="0">
                                          <p:val>
                                            <p:strVal val="#ppt_x"/>
                                          </p:val>
                                        </p:tav>
                                        <p:tav tm="100000">
                                          <p:val>
                                            <p:strVal val="#ppt_x"/>
                                          </p:val>
                                        </p:tav>
                                      </p:tavLst>
                                    </p:anim>
                                    <p:anim calcmode="lin" valueType="num">
                                      <p:cBhvr additive="base">
                                        <p:cTn id="114" dur="550" fill="hold"/>
                                        <p:tgtEl>
                                          <p:spTgt spid="26"/>
                                        </p:tgtEl>
                                        <p:attrNameLst>
                                          <p:attrName>ppt_y</p:attrName>
                                        </p:attrNameLst>
                                      </p:cBhvr>
                                      <p:tavLst>
                                        <p:tav tm="0">
                                          <p:val>
                                            <p:strVal val="#ppt_y+.08"/>
                                          </p:val>
                                        </p:tav>
                                        <p:tav tm="100000">
                                          <p:val>
                                            <p:strVal val="#ppt_y"/>
                                          </p:val>
                                        </p:tav>
                                      </p:tavLst>
                                    </p:anim>
                                  </p:childTnLst>
                                </p:cTn>
                              </p:par>
                            </p:childTnLst>
                          </p:cTn>
                        </p:par>
                        <p:par>
                          <p:cTn id="115" fill="hold">
                            <p:stCondLst>
                              <p:cond delay="1100"/>
                            </p:stCondLst>
                            <p:childTnLst>
                              <p:par>
                                <p:cTn id="116" presetID="53" presetClass="entr" presetSubtype="16" fill="hold" grpId="0" nodeType="afterEffect">
                                  <p:stCondLst>
                                    <p:cond delay="0"/>
                                  </p:stCondLst>
                                  <p:childTnLst>
                                    <p:set>
                                      <p:cBhvr>
                                        <p:cTn id="117" dur="1" fill="hold">
                                          <p:stCondLst>
                                            <p:cond delay="0"/>
                                          </p:stCondLst>
                                        </p:cTn>
                                        <p:tgtEl>
                                          <p:spTgt spid="27"/>
                                        </p:tgtEl>
                                        <p:attrNameLst>
                                          <p:attrName>style.visibility</p:attrName>
                                        </p:attrNameLst>
                                      </p:cBhvr>
                                      <p:to>
                                        <p:strVal val="visible"/>
                                      </p:to>
                                    </p:set>
                                    <p:animEffect transition="in" filter="fade">
                                      <p:cBhvr>
                                        <p:cTn id="118" dur="550"/>
                                        <p:tgtEl>
                                          <p:spTgt spid="27"/>
                                        </p:tgtEl>
                                      </p:cBhvr>
                                    </p:animEffect>
                                    <p:anim calcmode="lin" valueType="num">
                                      <p:cBhvr additive="base">
                                        <p:cTn id="119" dur="550" fill="hold"/>
                                        <p:tgtEl>
                                          <p:spTgt spid="27"/>
                                        </p:tgtEl>
                                        <p:attrNameLst>
                                          <p:attrName>ppt_w</p:attrName>
                                        </p:attrNameLst>
                                      </p:cBhvr>
                                      <p:tavLst>
                                        <p:tav tm="0">
                                          <p:val>
                                            <p:strVal val="0"/>
                                          </p:val>
                                        </p:tav>
                                        <p:tav tm="100000">
                                          <p:val>
                                            <p:strVal val="#ppt_w"/>
                                          </p:val>
                                        </p:tav>
                                      </p:tavLst>
                                    </p:anim>
                                    <p:anim calcmode="lin" valueType="num">
                                      <p:cBhvr additive="base">
                                        <p:cTn id="120" dur="550" fill="hold"/>
                                        <p:tgtEl>
                                          <p:spTgt spid="27"/>
                                        </p:tgtEl>
                                        <p:attrNameLst>
                                          <p:attrName>ppt_h</p:attrName>
                                        </p:attrNameLst>
                                      </p:cBhvr>
                                      <p:tavLst>
                                        <p:tav tm="0">
                                          <p:val>
                                            <p:strVal val="0"/>
                                          </p:val>
                                        </p:tav>
                                        <p:tav tm="100000">
                                          <p:val>
                                            <p:strVal val="#ppt_h"/>
                                          </p:val>
                                        </p:tav>
                                      </p:tavLst>
                                    </p:anim>
                                  </p:childTnLst>
                                </p:cTn>
                              </p:par>
                            </p:childTnLst>
                          </p:cTn>
                        </p:par>
                        <p:par>
                          <p:cTn id="121" fill="hold">
                            <p:stCondLst>
                              <p:cond delay="1100"/>
                            </p:stCondLst>
                            <p:childTnLst>
                              <p:par>
                                <p:cTn id="122" presetID="42" presetClass="entr" presetSubtype="0" fill="hold" grpId="0" nodeType="afterEffect">
                                  <p:stCondLst>
                                    <p:cond delay="0"/>
                                  </p:stCondLst>
                                  <p:childTnLst>
                                    <p:set>
                                      <p:cBhvr>
                                        <p:cTn id="123" dur="1" fill="hold">
                                          <p:stCondLst>
                                            <p:cond delay="0"/>
                                          </p:stCondLst>
                                        </p:cTn>
                                        <p:tgtEl>
                                          <p:spTgt spid="28"/>
                                        </p:tgtEl>
                                        <p:attrNameLst>
                                          <p:attrName>style.visibility</p:attrName>
                                        </p:attrNameLst>
                                      </p:cBhvr>
                                      <p:to>
                                        <p:strVal val="visible"/>
                                      </p:to>
                                    </p:set>
                                    <p:animEffect transition="in" filter="fade">
                                      <p:cBhvr>
                                        <p:cTn id="124" dur="550"/>
                                        <p:tgtEl>
                                          <p:spTgt spid="28"/>
                                        </p:tgtEl>
                                      </p:cBhvr>
                                    </p:animEffect>
                                    <p:anim calcmode="lin" valueType="num">
                                      <p:cBhvr additive="base">
                                        <p:cTn id="125" dur="550" fill="hold"/>
                                        <p:tgtEl>
                                          <p:spTgt spid="28"/>
                                        </p:tgtEl>
                                        <p:attrNameLst>
                                          <p:attrName>ppt_x</p:attrName>
                                        </p:attrNameLst>
                                      </p:cBhvr>
                                      <p:tavLst>
                                        <p:tav tm="0">
                                          <p:val>
                                            <p:strVal val="#ppt_x"/>
                                          </p:val>
                                        </p:tav>
                                        <p:tav tm="100000">
                                          <p:val>
                                            <p:strVal val="#ppt_x"/>
                                          </p:val>
                                        </p:tav>
                                      </p:tavLst>
                                    </p:anim>
                                    <p:anim calcmode="lin" valueType="num">
                                      <p:cBhvr additive="base">
                                        <p:cTn id="126" dur="550" fill="hold"/>
                                        <p:tgtEl>
                                          <p:spTgt spid="28"/>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P spid="25" grpId="0" animBg="1"/>
      <p:bldP spid="26" grpId="0" animBg="1"/>
      <p:bldP spid="27" grpId="0" animBg="1"/>
      <p:bldP spid="28" grpId="0" animBg="1"/>
    </p:bldLst>
  </p:timing>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200000"/>
            <a:ext cx="10400000" cy="650000"/>
          </a:xfrm>
          <a:prstGeom prst="rect">
            <a:avLst/>
          </a:prstGeom>
          <a:noFill/>
        </p:spPr>
        <p:txBody>
          <a:bodyPr wrap="square" anchor="ctr" lIns="50800" rIns="50800">
            <a:spAutoFit/>
          </a:bodyPr>
          <a:lstStyle/>
          <a:p>
            <a:pPr algn="l"/>
            <a:r>
              <a:rPr sz="2600" b="1">
                <a:solidFill>
                  <a:srgbClr val="FFFFFF"/>
                </a:solidFill>
                <a:latin typeface="Calibri"/>
              </a:rPr>
              <a:t>Foydalanilgan manbalar (2)</a:t>
            </a:r>
          </a:p>
        </p:txBody>
      </p:sp>
      <p:sp>
        <p:nvSpPr>
          <p:cNvPr id="6" name="Rectangle 5"/>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A1 · Sun'iy intellektga asoslangan kompyuter tizimlari arxitekturasini tahlil qilish va loyihalash</a:t>
            </a:r>
          </a:p>
        </p:txBody>
      </p:sp>
      <p:sp>
        <p:nvSpPr>
          <p:cNvPr id="8" name="TextBox 7"/>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50</a:t>
            </a:r>
          </a:p>
        </p:txBody>
      </p:sp>
      <p:sp>
        <p:nvSpPr>
          <p:cNvPr id="9" name="Rounded Rectangle 8"/>
          <p:cNvSpPr/>
          <p:nvPr/>
        </p:nvSpPr>
        <p:spPr>
          <a:xfrm>
            <a:off x="550000" y="1300000"/>
            <a:ext cx="11100000" cy="894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50000" y="1300000"/>
            <a:ext cx="70000" cy="894000"/>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800000" y="1517000"/>
            <a:ext cx="460000" cy="460000"/>
          </a:xfrm>
          <a:prstGeom prst="ellipse">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6</a:t>
            </a:r>
          </a:p>
        </p:txBody>
      </p:sp>
      <p:sp>
        <p:nvSpPr>
          <p:cNvPr id="12" name="TextBox 11"/>
          <p:cNvSpPr txBox="1"/>
          <p:nvPr/>
        </p:nvSpPr>
        <p:spPr>
          <a:xfrm>
            <a:off x="1450000" y="1300000"/>
            <a:ext cx="10050000" cy="894000"/>
          </a:xfrm>
          <a:prstGeom prst="rect">
            <a:avLst/>
          </a:prstGeom>
          <a:noFill/>
        </p:spPr>
        <p:txBody>
          <a:bodyPr wrap="square" anchor="ctr" lIns="50800" rIns="50800">
            <a:spAutoFit/>
          </a:bodyPr>
          <a:lstStyle/>
          <a:p>
            <a:pPr algn="l"/>
            <a:r>
              <a:rPr sz="1400" b="0">
                <a:solidFill>
                  <a:srgbClr val="1B2430"/>
                </a:solidFill>
                <a:latin typeface="Calibri"/>
              </a:rPr>
              <a:t>[7] PyTorch rasmiy hujjatlari (https://pytorch.org).</a:t>
            </a:r>
          </a:p>
        </p:txBody>
      </p:sp>
      <p:sp>
        <p:nvSpPr>
          <p:cNvPr id="13" name="Rounded Rectangle 12"/>
          <p:cNvSpPr/>
          <p:nvPr/>
        </p:nvSpPr>
        <p:spPr>
          <a:xfrm>
            <a:off x="550000" y="2314000"/>
            <a:ext cx="11100000" cy="894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550000" y="2314000"/>
            <a:ext cx="70000" cy="894000"/>
          </a:xfrm>
          <a:prstGeom prst="rect">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00000" y="2531000"/>
            <a:ext cx="460000" cy="460000"/>
          </a:xfrm>
          <a:prstGeom prst="ellipse">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7</a:t>
            </a:r>
          </a:p>
        </p:txBody>
      </p:sp>
      <p:sp>
        <p:nvSpPr>
          <p:cNvPr id="16" name="TextBox 15"/>
          <p:cNvSpPr txBox="1"/>
          <p:nvPr/>
        </p:nvSpPr>
        <p:spPr>
          <a:xfrm>
            <a:off x="1450000" y="2314000"/>
            <a:ext cx="10050000" cy="894000"/>
          </a:xfrm>
          <a:prstGeom prst="rect">
            <a:avLst/>
          </a:prstGeom>
          <a:noFill/>
        </p:spPr>
        <p:txBody>
          <a:bodyPr wrap="square" anchor="ctr" lIns="50800" rIns="50800">
            <a:spAutoFit/>
          </a:bodyPr>
          <a:lstStyle/>
          <a:p>
            <a:pPr algn="l"/>
            <a:r>
              <a:rPr sz="1400" b="0">
                <a:solidFill>
                  <a:srgbClr val="1B2430"/>
                </a:solidFill>
                <a:latin typeface="Calibri"/>
              </a:rPr>
              <a:t>Williams, S., Waterman, A., &amp; Patterson, D. Roofline: An Insightful Visual Performance Model for Multicore Architectures. Communications of the ACM, 52(4), 2009. — Roofline modelining asl…</a:t>
            </a:r>
          </a:p>
        </p:txBody>
      </p:sp>
      <p:sp>
        <p:nvSpPr>
          <p:cNvPr id="17" name="Rounded Rectangle 16"/>
          <p:cNvSpPr/>
          <p:nvPr/>
        </p:nvSpPr>
        <p:spPr>
          <a:xfrm>
            <a:off x="550000" y="3328000"/>
            <a:ext cx="11100000" cy="894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550000" y="3328000"/>
            <a:ext cx="70000" cy="894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800000" y="3545000"/>
            <a:ext cx="460000" cy="46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8</a:t>
            </a:r>
          </a:p>
        </p:txBody>
      </p:sp>
      <p:sp>
        <p:nvSpPr>
          <p:cNvPr id="20" name="TextBox 19"/>
          <p:cNvSpPr txBox="1"/>
          <p:nvPr/>
        </p:nvSpPr>
        <p:spPr>
          <a:xfrm>
            <a:off x="1450000" y="3328000"/>
            <a:ext cx="10050000" cy="894000"/>
          </a:xfrm>
          <a:prstGeom prst="rect">
            <a:avLst/>
          </a:prstGeom>
          <a:noFill/>
        </p:spPr>
        <p:txBody>
          <a:bodyPr wrap="square" anchor="ctr" lIns="50800" rIns="50800">
            <a:spAutoFit/>
          </a:bodyPr>
          <a:lstStyle/>
          <a:p>
            <a:pPr algn="l"/>
            <a:r>
              <a:rPr sz="1400" b="0">
                <a:solidFill>
                  <a:srgbClr val="1B2430"/>
                </a:solidFill>
                <a:latin typeface="Calibri"/>
              </a:rPr>
              <a:t>Jouppi, N. P. va boshq. In-Datacenter Performance Analysis of a Tensor Processing Unit. ISCA 2017. — yuklama tahlili asosida tezlatkich loyihalashning klassik misoli.</a:t>
            </a:r>
          </a:p>
        </p:txBody>
      </p:sp>
      <p:sp>
        <p:nvSpPr>
          <p:cNvPr id="21" name="Rounded Rectangle 20"/>
          <p:cNvSpPr/>
          <p:nvPr/>
        </p:nvSpPr>
        <p:spPr>
          <a:xfrm>
            <a:off x="550000" y="4342000"/>
            <a:ext cx="11100000" cy="894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50000" y="4342000"/>
            <a:ext cx="70000" cy="894000"/>
          </a:xfrm>
          <a:prstGeom prst="rect">
            <a:avLst/>
          </a:prstGeom>
          <a:solidFill>
            <a:srgbClr val="6A3F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800000" y="4559000"/>
            <a:ext cx="460000" cy="460000"/>
          </a:xfrm>
          <a:prstGeom prst="ellipse">
            <a:avLst/>
          </a:prstGeom>
          <a:solidFill>
            <a:srgbClr val="6A3FB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9</a:t>
            </a:r>
          </a:p>
        </p:txBody>
      </p:sp>
      <p:sp>
        <p:nvSpPr>
          <p:cNvPr id="24" name="TextBox 23"/>
          <p:cNvSpPr txBox="1"/>
          <p:nvPr/>
        </p:nvSpPr>
        <p:spPr>
          <a:xfrm>
            <a:off x="1450000" y="4342000"/>
            <a:ext cx="10050000" cy="894000"/>
          </a:xfrm>
          <a:prstGeom prst="rect">
            <a:avLst/>
          </a:prstGeom>
          <a:noFill/>
        </p:spPr>
        <p:txBody>
          <a:bodyPr wrap="square" anchor="ctr" lIns="50800" rIns="50800">
            <a:spAutoFit/>
          </a:bodyPr>
          <a:lstStyle/>
          <a:p>
            <a:pPr algn="l"/>
            <a:r>
              <a:rPr sz="1400" b="0">
                <a:solidFill>
                  <a:srgbClr val="1B2430"/>
                </a:solidFill>
                <a:latin typeface="Calibri"/>
              </a:rPr>
              <a:t>Ultralytics YOLOv8 hujjatlari — model variantlari, parametrlar va GFLOP qiymatlari (https://docs.ultralytics.com).</a:t>
            </a:r>
          </a:p>
        </p:txBody>
      </p:sp>
      <p:sp>
        <p:nvSpPr>
          <p:cNvPr id="25" name="Rounded Rectangle 24"/>
          <p:cNvSpPr/>
          <p:nvPr/>
        </p:nvSpPr>
        <p:spPr>
          <a:xfrm>
            <a:off x="550000" y="5356000"/>
            <a:ext cx="11100000" cy="894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550000" y="5356000"/>
            <a:ext cx="70000" cy="894000"/>
          </a:xfrm>
          <a:prstGeom prst="rect">
            <a:avLst/>
          </a:prstGeom>
          <a:solidFill>
            <a:srgbClr val="B779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800000" y="5573000"/>
            <a:ext cx="460000" cy="460000"/>
          </a:xfrm>
          <a:prstGeom prst="ellipse">
            <a:avLst/>
          </a:prstGeom>
          <a:solidFill>
            <a:srgbClr val="B7791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10</a:t>
            </a:r>
          </a:p>
        </p:txBody>
      </p:sp>
      <p:sp>
        <p:nvSpPr>
          <p:cNvPr id="28" name="TextBox 27"/>
          <p:cNvSpPr txBox="1"/>
          <p:nvPr/>
        </p:nvSpPr>
        <p:spPr>
          <a:xfrm>
            <a:off x="1450000" y="5356000"/>
            <a:ext cx="10050000" cy="894000"/>
          </a:xfrm>
          <a:prstGeom prst="rect">
            <a:avLst/>
          </a:prstGeom>
          <a:noFill/>
        </p:spPr>
        <p:txBody>
          <a:bodyPr wrap="square" anchor="ctr" lIns="50800" rIns="50800">
            <a:spAutoFit/>
          </a:bodyPr>
          <a:lstStyle/>
          <a:p>
            <a:pPr algn="l"/>
            <a:r>
              <a:rPr sz="1400" b="0">
                <a:solidFill>
                  <a:srgbClr val="1B2430"/>
                </a:solidFill>
                <a:latin typeface="Calibri"/>
              </a:rPr>
              <a:t>Google Coral hujjatlari — Edge TPU texnik tavsiflari va qo'llab-quvvatlanadigan operatorlar (https://coral.ai/docs).</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127"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5"/>
                                        </p:tgtEl>
                                        <p:attrNameLst>
                                          <p:attrName>style.visibility</p:attrName>
                                        </p:attrNameLst>
                                      </p:cBhvr>
                                      <p:to>
                                        <p:strVal val="visible"/>
                                      </p:to>
                                    </p:set>
                                    <p:animEffect transition="in" filter="fade">
                                      <p:cBhvr>
                                        <p:cTn id="6" dur="550"/>
                                        <p:tgtEl>
                                          <p:spTgt spid="5"/>
                                        </p:tgtEl>
                                      </p:cBhvr>
                                    </p:animEffect>
                                  </p:childTnLst>
                                </p:cTn>
                              </p:par>
                            </p:childTnLst>
                          </p:cTn>
                        </p:par>
                        <p:par>
                          <p:cTn id="7" fill="hold">
                            <p:stCondLst>
                              <p:cond delay="220"/>
                            </p:stCondLst>
                            <p:childTnLst>
                              <p:par>
                                <p:cTn id="8" presetID="42" presetClass="entr" presetSubtype="0" fill="hold" grpId="0" nodeType="afterEffect">
                                  <p:stCondLst>
                                    <p:cond delay="0"/>
                                  </p:stCondLst>
                                  <p:childTnLst>
                                    <p:set>
                                      <p:cBhvr>
                                        <p:cTn id="9" dur="1" fill="hold">
                                          <p:stCondLst>
                                            <p:cond delay="0"/>
                                          </p:stCondLst>
                                        </p:cTn>
                                        <p:tgtEl>
                                          <p:spTgt spid="9"/>
                                        </p:tgtEl>
                                        <p:attrNameLst>
                                          <p:attrName>style.visibility</p:attrName>
                                        </p:attrNameLst>
                                      </p:cBhvr>
                                      <p:to>
                                        <p:strVal val="visible"/>
                                      </p:to>
                                    </p:set>
                                    <p:animEffect transition="in" filter="fade">
                                      <p:cBhvr>
                                        <p:cTn id="10" dur="550"/>
                                        <p:tgtEl>
                                          <p:spTgt spid="9"/>
                                        </p:tgtEl>
                                      </p:cBhvr>
                                    </p:animEffect>
                                    <p:anim calcmode="lin" valueType="num">
                                      <p:cBhvr additive="base">
                                        <p:cTn id="11" dur="550" fill="hold"/>
                                        <p:tgtEl>
                                          <p:spTgt spid="9"/>
                                        </p:tgtEl>
                                        <p:attrNameLst>
                                          <p:attrName>ppt_x</p:attrName>
                                        </p:attrNameLst>
                                      </p:cBhvr>
                                      <p:tavLst>
                                        <p:tav tm="0">
                                          <p:val>
                                            <p:strVal val="#ppt_x"/>
                                          </p:val>
                                        </p:tav>
                                        <p:tav tm="100000">
                                          <p:val>
                                            <p:strVal val="#ppt_x"/>
                                          </p:val>
                                        </p:tav>
                                      </p:tavLst>
                                    </p:anim>
                                    <p:anim calcmode="lin" valueType="num">
                                      <p:cBhvr additive="base">
                                        <p:cTn id="12" dur="550" fill="hold"/>
                                        <p:tgtEl>
                                          <p:spTgt spid="9"/>
                                        </p:tgtEl>
                                        <p:attrNameLst>
                                          <p:attrName>ppt_y</p:attrName>
                                        </p:attrNameLst>
                                      </p:cBhvr>
                                      <p:tavLst>
                                        <p:tav tm="0">
                                          <p:val>
                                            <p:strVal val="#ppt_y+.08"/>
                                          </p:val>
                                        </p:tav>
                                        <p:tav tm="100000">
                                          <p:val>
                                            <p:strVal val="#ppt_y"/>
                                          </p:val>
                                        </p:tav>
                                      </p:tavLst>
                                    </p:anim>
                                  </p:childTnLst>
                                </p:cTn>
                              </p:par>
                            </p:childTnLst>
                          </p:cTn>
                        </p:par>
                        <p:par>
                          <p:cTn id="13" fill="hold">
                            <p:stCondLst>
                              <p:cond delay="220"/>
                            </p:stCondLst>
                            <p:childTnLst>
                              <p:par>
                                <p:cTn id="14" presetID="42" presetClass="entr" presetSubtype="0" fill="hold" grpId="0" nodeType="afterEffect">
                                  <p:stCondLst>
                                    <p:cond delay="0"/>
                                  </p:stCondLst>
                                  <p:childTnLst>
                                    <p:set>
                                      <p:cBhvr>
                                        <p:cTn id="15" dur="1" fill="hold">
                                          <p:stCondLst>
                                            <p:cond delay="0"/>
                                          </p:stCondLst>
                                        </p:cTn>
                                        <p:tgtEl>
                                          <p:spTgt spid="10"/>
                                        </p:tgtEl>
                                        <p:attrNameLst>
                                          <p:attrName>style.visibility</p:attrName>
                                        </p:attrNameLst>
                                      </p:cBhvr>
                                      <p:to>
                                        <p:strVal val="visible"/>
                                      </p:to>
                                    </p:set>
                                    <p:animEffect transition="in" filter="fade">
                                      <p:cBhvr>
                                        <p:cTn id="16" dur="550"/>
                                        <p:tgtEl>
                                          <p:spTgt spid="10"/>
                                        </p:tgtEl>
                                      </p:cBhvr>
                                    </p:animEffect>
                                    <p:anim calcmode="lin" valueType="num">
                                      <p:cBhvr additive="base">
                                        <p:cTn id="17" dur="550" fill="hold"/>
                                        <p:tgtEl>
                                          <p:spTgt spid="10"/>
                                        </p:tgtEl>
                                        <p:attrNameLst>
                                          <p:attrName>ppt_x</p:attrName>
                                        </p:attrNameLst>
                                      </p:cBhvr>
                                      <p:tavLst>
                                        <p:tav tm="0">
                                          <p:val>
                                            <p:strVal val="#ppt_x"/>
                                          </p:val>
                                        </p:tav>
                                        <p:tav tm="100000">
                                          <p:val>
                                            <p:strVal val="#ppt_x"/>
                                          </p:val>
                                        </p:tav>
                                      </p:tavLst>
                                    </p:anim>
                                    <p:anim calcmode="lin" valueType="num">
                                      <p:cBhvr additive="base">
                                        <p:cTn id="18" dur="550" fill="hold"/>
                                        <p:tgtEl>
                                          <p:spTgt spid="10"/>
                                        </p:tgtEl>
                                        <p:attrNameLst>
                                          <p:attrName>ppt_y</p:attrName>
                                        </p:attrNameLst>
                                      </p:cBhvr>
                                      <p:tavLst>
                                        <p:tav tm="0">
                                          <p:val>
                                            <p:strVal val="#ppt_y+.08"/>
                                          </p:val>
                                        </p:tav>
                                        <p:tav tm="100000">
                                          <p:val>
                                            <p:strVal val="#ppt_y"/>
                                          </p:val>
                                        </p:tav>
                                      </p:tavLst>
                                    </p:anim>
                                  </p:childTnLst>
                                </p:cTn>
                              </p:par>
                            </p:childTnLst>
                          </p:cTn>
                        </p:par>
                        <p:par>
                          <p:cTn id="19" fill="hold">
                            <p:stCondLst>
                              <p:cond delay="220"/>
                            </p:stCondLst>
                            <p:childTnLst>
                              <p:par>
                                <p:cTn id="20" presetID="53" presetClass="entr" presetSubtype="16" fill="hold" grpId="0" nodeType="afterEffect">
                                  <p:stCondLst>
                                    <p:cond delay="0"/>
                                  </p:stCondLst>
                                  <p:childTnLst>
                                    <p:set>
                                      <p:cBhvr>
                                        <p:cTn id="21" dur="1" fill="hold">
                                          <p:stCondLst>
                                            <p:cond delay="0"/>
                                          </p:stCondLst>
                                        </p:cTn>
                                        <p:tgtEl>
                                          <p:spTgt spid="11"/>
                                        </p:tgtEl>
                                        <p:attrNameLst>
                                          <p:attrName>style.visibility</p:attrName>
                                        </p:attrNameLst>
                                      </p:cBhvr>
                                      <p:to>
                                        <p:strVal val="visible"/>
                                      </p:to>
                                    </p:set>
                                    <p:animEffect transition="in" filter="fade">
                                      <p:cBhvr>
                                        <p:cTn id="22" dur="550"/>
                                        <p:tgtEl>
                                          <p:spTgt spid="11"/>
                                        </p:tgtEl>
                                      </p:cBhvr>
                                    </p:animEffect>
                                    <p:anim calcmode="lin" valueType="num">
                                      <p:cBhvr additive="base">
                                        <p:cTn id="23" dur="550" fill="hold"/>
                                        <p:tgtEl>
                                          <p:spTgt spid="11"/>
                                        </p:tgtEl>
                                        <p:attrNameLst>
                                          <p:attrName>ppt_w</p:attrName>
                                        </p:attrNameLst>
                                      </p:cBhvr>
                                      <p:tavLst>
                                        <p:tav tm="0">
                                          <p:val>
                                            <p:strVal val="0"/>
                                          </p:val>
                                        </p:tav>
                                        <p:tav tm="100000">
                                          <p:val>
                                            <p:strVal val="#ppt_w"/>
                                          </p:val>
                                        </p:tav>
                                      </p:tavLst>
                                    </p:anim>
                                    <p:anim calcmode="lin" valueType="num">
                                      <p:cBhvr additive="base">
                                        <p:cTn id="24" dur="550" fill="hold"/>
                                        <p:tgtEl>
                                          <p:spTgt spid="11"/>
                                        </p:tgtEl>
                                        <p:attrNameLst>
                                          <p:attrName>ppt_h</p:attrName>
                                        </p:attrNameLst>
                                      </p:cBhvr>
                                      <p:tavLst>
                                        <p:tav tm="0">
                                          <p:val>
                                            <p:strVal val="0"/>
                                          </p:val>
                                        </p:tav>
                                        <p:tav tm="100000">
                                          <p:val>
                                            <p:strVal val="#ppt_h"/>
                                          </p:val>
                                        </p:tav>
                                      </p:tavLst>
                                    </p:anim>
                                  </p:childTnLst>
                                </p:cTn>
                              </p:par>
                            </p:childTnLst>
                          </p:cTn>
                        </p:par>
                        <p:par>
                          <p:cTn id="25" fill="hold">
                            <p:stCondLst>
                              <p:cond delay="220"/>
                            </p:stCondLst>
                            <p:childTnLst>
                              <p:par>
                                <p:cTn id="26" presetID="42" presetClass="entr" presetSubtype="0" fill="hold" grpId="0" nodeType="afterEffect">
                                  <p:stCondLst>
                                    <p:cond delay="0"/>
                                  </p:stCondLst>
                                  <p:childTnLst>
                                    <p:set>
                                      <p:cBhvr>
                                        <p:cTn id="27" dur="1" fill="hold">
                                          <p:stCondLst>
                                            <p:cond delay="0"/>
                                          </p:stCondLst>
                                        </p:cTn>
                                        <p:tgtEl>
                                          <p:spTgt spid="12"/>
                                        </p:tgtEl>
                                        <p:attrNameLst>
                                          <p:attrName>style.visibility</p:attrName>
                                        </p:attrNameLst>
                                      </p:cBhvr>
                                      <p:to>
                                        <p:strVal val="visible"/>
                                      </p:to>
                                    </p:set>
                                    <p:animEffect transition="in" filter="fade">
                                      <p:cBhvr>
                                        <p:cTn id="28" dur="550"/>
                                        <p:tgtEl>
                                          <p:spTgt spid="12"/>
                                        </p:tgtEl>
                                      </p:cBhvr>
                                    </p:animEffect>
                                    <p:anim calcmode="lin" valueType="num">
                                      <p:cBhvr additive="base">
                                        <p:cTn id="29" dur="550" fill="hold"/>
                                        <p:tgtEl>
                                          <p:spTgt spid="12"/>
                                        </p:tgtEl>
                                        <p:attrNameLst>
                                          <p:attrName>ppt_x</p:attrName>
                                        </p:attrNameLst>
                                      </p:cBhvr>
                                      <p:tavLst>
                                        <p:tav tm="0">
                                          <p:val>
                                            <p:strVal val="#ppt_x"/>
                                          </p:val>
                                        </p:tav>
                                        <p:tav tm="100000">
                                          <p:val>
                                            <p:strVal val="#ppt_x"/>
                                          </p:val>
                                        </p:tav>
                                      </p:tavLst>
                                    </p:anim>
                                    <p:anim calcmode="lin" valueType="num">
                                      <p:cBhvr additive="base">
                                        <p:cTn id="30" dur="550" fill="hold"/>
                                        <p:tgtEl>
                                          <p:spTgt spid="12"/>
                                        </p:tgtEl>
                                        <p:attrNameLst>
                                          <p:attrName>ppt_y</p:attrName>
                                        </p:attrNameLst>
                                      </p:cBhvr>
                                      <p:tavLst>
                                        <p:tav tm="0">
                                          <p:val>
                                            <p:strVal val="#ppt_y+.08"/>
                                          </p:val>
                                        </p:tav>
                                        <p:tav tm="100000">
                                          <p:val>
                                            <p:strVal val="#ppt_y"/>
                                          </p:val>
                                        </p:tav>
                                      </p:tavLst>
                                    </p:anim>
                                  </p:childTnLst>
                                </p:cTn>
                              </p:par>
                            </p:childTnLst>
                          </p:cTn>
                        </p:par>
                        <p:par>
                          <p:cTn id="31" fill="hold">
                            <p:stCondLst>
                              <p:cond delay="440"/>
                            </p:stCondLst>
                            <p:childTnLst>
                              <p:par>
                                <p:cTn id="32" presetID="42" presetClass="entr" presetSubtype="0" fill="hold" grpId="0" nodeType="afterEffect">
                                  <p:stCondLst>
                                    <p:cond delay="0"/>
                                  </p:stCondLst>
                                  <p:childTnLst>
                                    <p:set>
                                      <p:cBhvr>
                                        <p:cTn id="33" dur="1" fill="hold">
                                          <p:stCondLst>
                                            <p:cond delay="0"/>
                                          </p:stCondLst>
                                        </p:cTn>
                                        <p:tgtEl>
                                          <p:spTgt spid="13"/>
                                        </p:tgtEl>
                                        <p:attrNameLst>
                                          <p:attrName>style.visibility</p:attrName>
                                        </p:attrNameLst>
                                      </p:cBhvr>
                                      <p:to>
                                        <p:strVal val="visible"/>
                                      </p:to>
                                    </p:set>
                                    <p:animEffect transition="in" filter="fade">
                                      <p:cBhvr>
                                        <p:cTn id="34" dur="550"/>
                                        <p:tgtEl>
                                          <p:spTgt spid="13"/>
                                        </p:tgtEl>
                                      </p:cBhvr>
                                    </p:animEffect>
                                    <p:anim calcmode="lin" valueType="num">
                                      <p:cBhvr additive="base">
                                        <p:cTn id="35" dur="550" fill="hold"/>
                                        <p:tgtEl>
                                          <p:spTgt spid="13"/>
                                        </p:tgtEl>
                                        <p:attrNameLst>
                                          <p:attrName>ppt_x</p:attrName>
                                        </p:attrNameLst>
                                      </p:cBhvr>
                                      <p:tavLst>
                                        <p:tav tm="0">
                                          <p:val>
                                            <p:strVal val="#ppt_x"/>
                                          </p:val>
                                        </p:tav>
                                        <p:tav tm="100000">
                                          <p:val>
                                            <p:strVal val="#ppt_x"/>
                                          </p:val>
                                        </p:tav>
                                      </p:tavLst>
                                    </p:anim>
                                    <p:anim calcmode="lin" valueType="num">
                                      <p:cBhvr additive="base">
                                        <p:cTn id="36" dur="550" fill="hold"/>
                                        <p:tgtEl>
                                          <p:spTgt spid="13"/>
                                        </p:tgtEl>
                                        <p:attrNameLst>
                                          <p:attrName>ppt_y</p:attrName>
                                        </p:attrNameLst>
                                      </p:cBhvr>
                                      <p:tavLst>
                                        <p:tav tm="0">
                                          <p:val>
                                            <p:strVal val="#ppt_y+.08"/>
                                          </p:val>
                                        </p:tav>
                                        <p:tav tm="100000">
                                          <p:val>
                                            <p:strVal val="#ppt_y"/>
                                          </p:val>
                                        </p:tav>
                                      </p:tavLst>
                                    </p:anim>
                                  </p:childTnLst>
                                </p:cTn>
                              </p:par>
                            </p:childTnLst>
                          </p:cTn>
                        </p:par>
                        <p:par>
                          <p:cTn id="37" fill="hold">
                            <p:stCondLst>
                              <p:cond delay="440"/>
                            </p:stCondLst>
                            <p:childTnLst>
                              <p:par>
                                <p:cTn id="38" presetID="42" presetClass="entr" presetSubtype="0" fill="hold" grpId="0" nodeType="afterEffect">
                                  <p:stCondLst>
                                    <p:cond delay="0"/>
                                  </p:stCondLst>
                                  <p:childTnLst>
                                    <p:set>
                                      <p:cBhvr>
                                        <p:cTn id="39" dur="1" fill="hold">
                                          <p:stCondLst>
                                            <p:cond delay="0"/>
                                          </p:stCondLst>
                                        </p:cTn>
                                        <p:tgtEl>
                                          <p:spTgt spid="14"/>
                                        </p:tgtEl>
                                        <p:attrNameLst>
                                          <p:attrName>style.visibility</p:attrName>
                                        </p:attrNameLst>
                                      </p:cBhvr>
                                      <p:to>
                                        <p:strVal val="visible"/>
                                      </p:to>
                                    </p:set>
                                    <p:animEffect transition="in" filter="fade">
                                      <p:cBhvr>
                                        <p:cTn id="40" dur="550"/>
                                        <p:tgtEl>
                                          <p:spTgt spid="14"/>
                                        </p:tgtEl>
                                      </p:cBhvr>
                                    </p:animEffect>
                                    <p:anim calcmode="lin" valueType="num">
                                      <p:cBhvr additive="base">
                                        <p:cTn id="41" dur="550" fill="hold"/>
                                        <p:tgtEl>
                                          <p:spTgt spid="14"/>
                                        </p:tgtEl>
                                        <p:attrNameLst>
                                          <p:attrName>ppt_x</p:attrName>
                                        </p:attrNameLst>
                                      </p:cBhvr>
                                      <p:tavLst>
                                        <p:tav tm="0">
                                          <p:val>
                                            <p:strVal val="#ppt_x"/>
                                          </p:val>
                                        </p:tav>
                                        <p:tav tm="100000">
                                          <p:val>
                                            <p:strVal val="#ppt_x"/>
                                          </p:val>
                                        </p:tav>
                                      </p:tavLst>
                                    </p:anim>
                                    <p:anim calcmode="lin" valueType="num">
                                      <p:cBhvr additive="base">
                                        <p:cTn id="42" dur="550" fill="hold"/>
                                        <p:tgtEl>
                                          <p:spTgt spid="14"/>
                                        </p:tgtEl>
                                        <p:attrNameLst>
                                          <p:attrName>ppt_y</p:attrName>
                                        </p:attrNameLst>
                                      </p:cBhvr>
                                      <p:tavLst>
                                        <p:tav tm="0">
                                          <p:val>
                                            <p:strVal val="#ppt_y+.08"/>
                                          </p:val>
                                        </p:tav>
                                        <p:tav tm="100000">
                                          <p:val>
                                            <p:strVal val="#ppt_y"/>
                                          </p:val>
                                        </p:tav>
                                      </p:tavLst>
                                    </p:anim>
                                  </p:childTnLst>
                                </p:cTn>
                              </p:par>
                            </p:childTnLst>
                          </p:cTn>
                        </p:par>
                        <p:par>
                          <p:cTn id="43" fill="hold">
                            <p:stCondLst>
                              <p:cond delay="440"/>
                            </p:stCondLst>
                            <p:childTnLst>
                              <p:par>
                                <p:cTn id="44" presetID="53" presetClass="entr" presetSubtype="16" fill="hold" grpId="0" nodeType="afterEffect">
                                  <p:stCondLst>
                                    <p:cond delay="0"/>
                                  </p:stCondLst>
                                  <p:childTnLst>
                                    <p:set>
                                      <p:cBhvr>
                                        <p:cTn id="45" dur="1" fill="hold">
                                          <p:stCondLst>
                                            <p:cond delay="0"/>
                                          </p:stCondLst>
                                        </p:cTn>
                                        <p:tgtEl>
                                          <p:spTgt spid="15"/>
                                        </p:tgtEl>
                                        <p:attrNameLst>
                                          <p:attrName>style.visibility</p:attrName>
                                        </p:attrNameLst>
                                      </p:cBhvr>
                                      <p:to>
                                        <p:strVal val="visible"/>
                                      </p:to>
                                    </p:set>
                                    <p:animEffect transition="in" filter="fade">
                                      <p:cBhvr>
                                        <p:cTn id="46" dur="550"/>
                                        <p:tgtEl>
                                          <p:spTgt spid="15"/>
                                        </p:tgtEl>
                                      </p:cBhvr>
                                    </p:animEffect>
                                    <p:anim calcmode="lin" valueType="num">
                                      <p:cBhvr additive="base">
                                        <p:cTn id="47" dur="550" fill="hold"/>
                                        <p:tgtEl>
                                          <p:spTgt spid="15"/>
                                        </p:tgtEl>
                                        <p:attrNameLst>
                                          <p:attrName>ppt_w</p:attrName>
                                        </p:attrNameLst>
                                      </p:cBhvr>
                                      <p:tavLst>
                                        <p:tav tm="0">
                                          <p:val>
                                            <p:strVal val="0"/>
                                          </p:val>
                                        </p:tav>
                                        <p:tav tm="100000">
                                          <p:val>
                                            <p:strVal val="#ppt_w"/>
                                          </p:val>
                                        </p:tav>
                                      </p:tavLst>
                                    </p:anim>
                                    <p:anim calcmode="lin" valueType="num">
                                      <p:cBhvr additive="base">
                                        <p:cTn id="48" dur="550" fill="hold"/>
                                        <p:tgtEl>
                                          <p:spTgt spid="15"/>
                                        </p:tgtEl>
                                        <p:attrNameLst>
                                          <p:attrName>ppt_h</p:attrName>
                                        </p:attrNameLst>
                                      </p:cBhvr>
                                      <p:tavLst>
                                        <p:tav tm="0">
                                          <p:val>
                                            <p:strVal val="0"/>
                                          </p:val>
                                        </p:tav>
                                        <p:tav tm="100000">
                                          <p:val>
                                            <p:strVal val="#ppt_h"/>
                                          </p:val>
                                        </p:tav>
                                      </p:tavLst>
                                    </p:anim>
                                  </p:childTnLst>
                                </p:cTn>
                              </p:par>
                            </p:childTnLst>
                          </p:cTn>
                        </p:par>
                        <p:par>
                          <p:cTn id="49" fill="hold">
                            <p:stCondLst>
                              <p:cond delay="440"/>
                            </p:stCondLst>
                            <p:childTnLst>
                              <p:par>
                                <p:cTn id="50" presetID="42" presetClass="entr" presetSubtype="0" fill="hold" grpId="0" nodeType="afterEffect">
                                  <p:stCondLst>
                                    <p:cond delay="0"/>
                                  </p:stCondLst>
                                  <p:childTnLst>
                                    <p:set>
                                      <p:cBhvr>
                                        <p:cTn id="51" dur="1" fill="hold">
                                          <p:stCondLst>
                                            <p:cond delay="0"/>
                                          </p:stCondLst>
                                        </p:cTn>
                                        <p:tgtEl>
                                          <p:spTgt spid="16"/>
                                        </p:tgtEl>
                                        <p:attrNameLst>
                                          <p:attrName>style.visibility</p:attrName>
                                        </p:attrNameLst>
                                      </p:cBhvr>
                                      <p:to>
                                        <p:strVal val="visible"/>
                                      </p:to>
                                    </p:set>
                                    <p:animEffect transition="in" filter="fade">
                                      <p:cBhvr>
                                        <p:cTn id="52" dur="550"/>
                                        <p:tgtEl>
                                          <p:spTgt spid="16"/>
                                        </p:tgtEl>
                                      </p:cBhvr>
                                    </p:animEffect>
                                    <p:anim calcmode="lin" valueType="num">
                                      <p:cBhvr additive="base">
                                        <p:cTn id="53" dur="550" fill="hold"/>
                                        <p:tgtEl>
                                          <p:spTgt spid="16"/>
                                        </p:tgtEl>
                                        <p:attrNameLst>
                                          <p:attrName>ppt_x</p:attrName>
                                        </p:attrNameLst>
                                      </p:cBhvr>
                                      <p:tavLst>
                                        <p:tav tm="0">
                                          <p:val>
                                            <p:strVal val="#ppt_x"/>
                                          </p:val>
                                        </p:tav>
                                        <p:tav tm="100000">
                                          <p:val>
                                            <p:strVal val="#ppt_x"/>
                                          </p:val>
                                        </p:tav>
                                      </p:tavLst>
                                    </p:anim>
                                    <p:anim calcmode="lin" valueType="num">
                                      <p:cBhvr additive="base">
                                        <p:cTn id="54" dur="550" fill="hold"/>
                                        <p:tgtEl>
                                          <p:spTgt spid="16"/>
                                        </p:tgtEl>
                                        <p:attrNameLst>
                                          <p:attrName>ppt_y</p:attrName>
                                        </p:attrNameLst>
                                      </p:cBhvr>
                                      <p:tavLst>
                                        <p:tav tm="0">
                                          <p:val>
                                            <p:strVal val="#ppt_y+.08"/>
                                          </p:val>
                                        </p:tav>
                                        <p:tav tm="100000">
                                          <p:val>
                                            <p:strVal val="#ppt_y"/>
                                          </p:val>
                                        </p:tav>
                                      </p:tavLst>
                                    </p:anim>
                                  </p:childTnLst>
                                </p:cTn>
                              </p:par>
                            </p:childTnLst>
                          </p:cTn>
                        </p:par>
                        <p:par>
                          <p:cTn id="55" fill="hold">
                            <p:stCondLst>
                              <p:cond delay="660"/>
                            </p:stCondLst>
                            <p:childTnLst>
                              <p:par>
                                <p:cTn id="56" presetID="42" presetClass="entr" presetSubtype="0" fill="hold" grpId="0" nodeType="afterEffect">
                                  <p:stCondLst>
                                    <p:cond delay="0"/>
                                  </p:stCondLst>
                                  <p:childTnLst>
                                    <p:set>
                                      <p:cBhvr>
                                        <p:cTn id="57" dur="1" fill="hold">
                                          <p:stCondLst>
                                            <p:cond delay="0"/>
                                          </p:stCondLst>
                                        </p:cTn>
                                        <p:tgtEl>
                                          <p:spTgt spid="17"/>
                                        </p:tgtEl>
                                        <p:attrNameLst>
                                          <p:attrName>style.visibility</p:attrName>
                                        </p:attrNameLst>
                                      </p:cBhvr>
                                      <p:to>
                                        <p:strVal val="visible"/>
                                      </p:to>
                                    </p:set>
                                    <p:animEffect transition="in" filter="fade">
                                      <p:cBhvr>
                                        <p:cTn id="58" dur="550"/>
                                        <p:tgtEl>
                                          <p:spTgt spid="17"/>
                                        </p:tgtEl>
                                      </p:cBhvr>
                                    </p:animEffect>
                                    <p:anim calcmode="lin" valueType="num">
                                      <p:cBhvr additive="base">
                                        <p:cTn id="59" dur="550" fill="hold"/>
                                        <p:tgtEl>
                                          <p:spTgt spid="17"/>
                                        </p:tgtEl>
                                        <p:attrNameLst>
                                          <p:attrName>ppt_x</p:attrName>
                                        </p:attrNameLst>
                                      </p:cBhvr>
                                      <p:tavLst>
                                        <p:tav tm="0">
                                          <p:val>
                                            <p:strVal val="#ppt_x"/>
                                          </p:val>
                                        </p:tav>
                                        <p:tav tm="100000">
                                          <p:val>
                                            <p:strVal val="#ppt_x"/>
                                          </p:val>
                                        </p:tav>
                                      </p:tavLst>
                                    </p:anim>
                                    <p:anim calcmode="lin" valueType="num">
                                      <p:cBhvr additive="base">
                                        <p:cTn id="60" dur="550" fill="hold"/>
                                        <p:tgtEl>
                                          <p:spTgt spid="17"/>
                                        </p:tgtEl>
                                        <p:attrNameLst>
                                          <p:attrName>ppt_y</p:attrName>
                                        </p:attrNameLst>
                                      </p:cBhvr>
                                      <p:tavLst>
                                        <p:tav tm="0">
                                          <p:val>
                                            <p:strVal val="#ppt_y+.08"/>
                                          </p:val>
                                        </p:tav>
                                        <p:tav tm="100000">
                                          <p:val>
                                            <p:strVal val="#ppt_y"/>
                                          </p:val>
                                        </p:tav>
                                      </p:tavLst>
                                    </p:anim>
                                  </p:childTnLst>
                                </p:cTn>
                              </p:par>
                            </p:childTnLst>
                          </p:cTn>
                        </p:par>
                        <p:par>
                          <p:cTn id="61" fill="hold">
                            <p:stCondLst>
                              <p:cond delay="660"/>
                            </p:stCondLst>
                            <p:childTnLst>
                              <p:par>
                                <p:cTn id="62" presetID="42" presetClass="entr" presetSubtype="0" fill="hold" grpId="0" nodeType="afterEffect">
                                  <p:stCondLst>
                                    <p:cond delay="0"/>
                                  </p:stCondLst>
                                  <p:childTnLst>
                                    <p:set>
                                      <p:cBhvr>
                                        <p:cTn id="63" dur="1" fill="hold">
                                          <p:stCondLst>
                                            <p:cond delay="0"/>
                                          </p:stCondLst>
                                        </p:cTn>
                                        <p:tgtEl>
                                          <p:spTgt spid="18"/>
                                        </p:tgtEl>
                                        <p:attrNameLst>
                                          <p:attrName>style.visibility</p:attrName>
                                        </p:attrNameLst>
                                      </p:cBhvr>
                                      <p:to>
                                        <p:strVal val="visible"/>
                                      </p:to>
                                    </p:set>
                                    <p:animEffect transition="in" filter="fade">
                                      <p:cBhvr>
                                        <p:cTn id="64" dur="550"/>
                                        <p:tgtEl>
                                          <p:spTgt spid="18"/>
                                        </p:tgtEl>
                                      </p:cBhvr>
                                    </p:animEffect>
                                    <p:anim calcmode="lin" valueType="num">
                                      <p:cBhvr additive="base">
                                        <p:cTn id="65" dur="550" fill="hold"/>
                                        <p:tgtEl>
                                          <p:spTgt spid="18"/>
                                        </p:tgtEl>
                                        <p:attrNameLst>
                                          <p:attrName>ppt_x</p:attrName>
                                        </p:attrNameLst>
                                      </p:cBhvr>
                                      <p:tavLst>
                                        <p:tav tm="0">
                                          <p:val>
                                            <p:strVal val="#ppt_x"/>
                                          </p:val>
                                        </p:tav>
                                        <p:tav tm="100000">
                                          <p:val>
                                            <p:strVal val="#ppt_x"/>
                                          </p:val>
                                        </p:tav>
                                      </p:tavLst>
                                    </p:anim>
                                    <p:anim calcmode="lin" valueType="num">
                                      <p:cBhvr additive="base">
                                        <p:cTn id="66" dur="550" fill="hold"/>
                                        <p:tgtEl>
                                          <p:spTgt spid="18"/>
                                        </p:tgtEl>
                                        <p:attrNameLst>
                                          <p:attrName>ppt_y</p:attrName>
                                        </p:attrNameLst>
                                      </p:cBhvr>
                                      <p:tavLst>
                                        <p:tav tm="0">
                                          <p:val>
                                            <p:strVal val="#ppt_y+.08"/>
                                          </p:val>
                                        </p:tav>
                                        <p:tav tm="100000">
                                          <p:val>
                                            <p:strVal val="#ppt_y"/>
                                          </p:val>
                                        </p:tav>
                                      </p:tavLst>
                                    </p:anim>
                                  </p:childTnLst>
                                </p:cTn>
                              </p:par>
                            </p:childTnLst>
                          </p:cTn>
                        </p:par>
                        <p:par>
                          <p:cTn id="67" fill="hold">
                            <p:stCondLst>
                              <p:cond delay="660"/>
                            </p:stCondLst>
                            <p:childTnLst>
                              <p:par>
                                <p:cTn id="68" presetID="53" presetClass="entr" presetSubtype="16" fill="hold" grpId="0" nodeType="afterEffect">
                                  <p:stCondLst>
                                    <p:cond delay="0"/>
                                  </p:stCondLst>
                                  <p:childTnLst>
                                    <p:set>
                                      <p:cBhvr>
                                        <p:cTn id="69" dur="1" fill="hold">
                                          <p:stCondLst>
                                            <p:cond delay="0"/>
                                          </p:stCondLst>
                                        </p:cTn>
                                        <p:tgtEl>
                                          <p:spTgt spid="19"/>
                                        </p:tgtEl>
                                        <p:attrNameLst>
                                          <p:attrName>style.visibility</p:attrName>
                                        </p:attrNameLst>
                                      </p:cBhvr>
                                      <p:to>
                                        <p:strVal val="visible"/>
                                      </p:to>
                                    </p:set>
                                    <p:animEffect transition="in" filter="fade">
                                      <p:cBhvr>
                                        <p:cTn id="70" dur="550"/>
                                        <p:tgtEl>
                                          <p:spTgt spid="19"/>
                                        </p:tgtEl>
                                      </p:cBhvr>
                                    </p:animEffect>
                                    <p:anim calcmode="lin" valueType="num">
                                      <p:cBhvr additive="base">
                                        <p:cTn id="71" dur="550" fill="hold"/>
                                        <p:tgtEl>
                                          <p:spTgt spid="19"/>
                                        </p:tgtEl>
                                        <p:attrNameLst>
                                          <p:attrName>ppt_w</p:attrName>
                                        </p:attrNameLst>
                                      </p:cBhvr>
                                      <p:tavLst>
                                        <p:tav tm="0">
                                          <p:val>
                                            <p:strVal val="0"/>
                                          </p:val>
                                        </p:tav>
                                        <p:tav tm="100000">
                                          <p:val>
                                            <p:strVal val="#ppt_w"/>
                                          </p:val>
                                        </p:tav>
                                      </p:tavLst>
                                    </p:anim>
                                    <p:anim calcmode="lin" valueType="num">
                                      <p:cBhvr additive="base">
                                        <p:cTn id="72" dur="550" fill="hold"/>
                                        <p:tgtEl>
                                          <p:spTgt spid="19"/>
                                        </p:tgtEl>
                                        <p:attrNameLst>
                                          <p:attrName>ppt_h</p:attrName>
                                        </p:attrNameLst>
                                      </p:cBhvr>
                                      <p:tavLst>
                                        <p:tav tm="0">
                                          <p:val>
                                            <p:strVal val="0"/>
                                          </p:val>
                                        </p:tav>
                                        <p:tav tm="100000">
                                          <p:val>
                                            <p:strVal val="#ppt_h"/>
                                          </p:val>
                                        </p:tav>
                                      </p:tavLst>
                                    </p:anim>
                                  </p:childTnLst>
                                </p:cTn>
                              </p:par>
                            </p:childTnLst>
                          </p:cTn>
                        </p:par>
                        <p:par>
                          <p:cTn id="73" fill="hold">
                            <p:stCondLst>
                              <p:cond delay="660"/>
                            </p:stCondLst>
                            <p:childTnLst>
                              <p:par>
                                <p:cTn id="74" presetID="42" presetClass="entr" presetSubtype="0" fill="hold" grpId="0" nodeType="afterEffect">
                                  <p:stCondLst>
                                    <p:cond delay="0"/>
                                  </p:stCondLst>
                                  <p:childTnLst>
                                    <p:set>
                                      <p:cBhvr>
                                        <p:cTn id="75" dur="1" fill="hold">
                                          <p:stCondLst>
                                            <p:cond delay="0"/>
                                          </p:stCondLst>
                                        </p:cTn>
                                        <p:tgtEl>
                                          <p:spTgt spid="20"/>
                                        </p:tgtEl>
                                        <p:attrNameLst>
                                          <p:attrName>style.visibility</p:attrName>
                                        </p:attrNameLst>
                                      </p:cBhvr>
                                      <p:to>
                                        <p:strVal val="visible"/>
                                      </p:to>
                                    </p:set>
                                    <p:animEffect transition="in" filter="fade">
                                      <p:cBhvr>
                                        <p:cTn id="76" dur="550"/>
                                        <p:tgtEl>
                                          <p:spTgt spid="20"/>
                                        </p:tgtEl>
                                      </p:cBhvr>
                                    </p:animEffect>
                                    <p:anim calcmode="lin" valueType="num">
                                      <p:cBhvr additive="base">
                                        <p:cTn id="77" dur="550" fill="hold"/>
                                        <p:tgtEl>
                                          <p:spTgt spid="20"/>
                                        </p:tgtEl>
                                        <p:attrNameLst>
                                          <p:attrName>ppt_x</p:attrName>
                                        </p:attrNameLst>
                                      </p:cBhvr>
                                      <p:tavLst>
                                        <p:tav tm="0">
                                          <p:val>
                                            <p:strVal val="#ppt_x"/>
                                          </p:val>
                                        </p:tav>
                                        <p:tav tm="100000">
                                          <p:val>
                                            <p:strVal val="#ppt_x"/>
                                          </p:val>
                                        </p:tav>
                                      </p:tavLst>
                                    </p:anim>
                                    <p:anim calcmode="lin" valueType="num">
                                      <p:cBhvr additive="base">
                                        <p:cTn id="78" dur="550" fill="hold"/>
                                        <p:tgtEl>
                                          <p:spTgt spid="20"/>
                                        </p:tgtEl>
                                        <p:attrNameLst>
                                          <p:attrName>ppt_y</p:attrName>
                                        </p:attrNameLst>
                                      </p:cBhvr>
                                      <p:tavLst>
                                        <p:tav tm="0">
                                          <p:val>
                                            <p:strVal val="#ppt_y+.08"/>
                                          </p:val>
                                        </p:tav>
                                        <p:tav tm="100000">
                                          <p:val>
                                            <p:strVal val="#ppt_y"/>
                                          </p:val>
                                        </p:tav>
                                      </p:tavLst>
                                    </p:anim>
                                  </p:childTnLst>
                                </p:cTn>
                              </p:par>
                            </p:childTnLst>
                          </p:cTn>
                        </p:par>
                        <p:par>
                          <p:cTn id="79" fill="hold">
                            <p:stCondLst>
                              <p:cond delay="880"/>
                            </p:stCondLst>
                            <p:childTnLst>
                              <p:par>
                                <p:cTn id="80" presetID="42" presetClass="entr" presetSubtype="0" fill="hold" grpId="0" nodeType="afterEffect">
                                  <p:stCondLst>
                                    <p:cond delay="0"/>
                                  </p:stCondLst>
                                  <p:childTnLst>
                                    <p:set>
                                      <p:cBhvr>
                                        <p:cTn id="81" dur="1" fill="hold">
                                          <p:stCondLst>
                                            <p:cond delay="0"/>
                                          </p:stCondLst>
                                        </p:cTn>
                                        <p:tgtEl>
                                          <p:spTgt spid="21"/>
                                        </p:tgtEl>
                                        <p:attrNameLst>
                                          <p:attrName>style.visibility</p:attrName>
                                        </p:attrNameLst>
                                      </p:cBhvr>
                                      <p:to>
                                        <p:strVal val="visible"/>
                                      </p:to>
                                    </p:set>
                                    <p:animEffect transition="in" filter="fade">
                                      <p:cBhvr>
                                        <p:cTn id="82" dur="550"/>
                                        <p:tgtEl>
                                          <p:spTgt spid="21"/>
                                        </p:tgtEl>
                                      </p:cBhvr>
                                    </p:animEffect>
                                    <p:anim calcmode="lin" valueType="num">
                                      <p:cBhvr additive="base">
                                        <p:cTn id="83" dur="550" fill="hold"/>
                                        <p:tgtEl>
                                          <p:spTgt spid="21"/>
                                        </p:tgtEl>
                                        <p:attrNameLst>
                                          <p:attrName>ppt_x</p:attrName>
                                        </p:attrNameLst>
                                      </p:cBhvr>
                                      <p:tavLst>
                                        <p:tav tm="0">
                                          <p:val>
                                            <p:strVal val="#ppt_x"/>
                                          </p:val>
                                        </p:tav>
                                        <p:tav tm="100000">
                                          <p:val>
                                            <p:strVal val="#ppt_x"/>
                                          </p:val>
                                        </p:tav>
                                      </p:tavLst>
                                    </p:anim>
                                    <p:anim calcmode="lin" valueType="num">
                                      <p:cBhvr additive="base">
                                        <p:cTn id="84" dur="550" fill="hold"/>
                                        <p:tgtEl>
                                          <p:spTgt spid="21"/>
                                        </p:tgtEl>
                                        <p:attrNameLst>
                                          <p:attrName>ppt_y</p:attrName>
                                        </p:attrNameLst>
                                      </p:cBhvr>
                                      <p:tavLst>
                                        <p:tav tm="0">
                                          <p:val>
                                            <p:strVal val="#ppt_y+.08"/>
                                          </p:val>
                                        </p:tav>
                                        <p:tav tm="100000">
                                          <p:val>
                                            <p:strVal val="#ppt_y"/>
                                          </p:val>
                                        </p:tav>
                                      </p:tavLst>
                                    </p:anim>
                                  </p:childTnLst>
                                </p:cTn>
                              </p:par>
                            </p:childTnLst>
                          </p:cTn>
                        </p:par>
                        <p:par>
                          <p:cTn id="85" fill="hold">
                            <p:stCondLst>
                              <p:cond delay="880"/>
                            </p:stCondLst>
                            <p:childTnLst>
                              <p:par>
                                <p:cTn id="86" presetID="42" presetClass="entr" presetSubtype="0" fill="hold" grpId="0" nodeType="afterEffect">
                                  <p:stCondLst>
                                    <p:cond delay="0"/>
                                  </p:stCondLst>
                                  <p:childTnLst>
                                    <p:set>
                                      <p:cBhvr>
                                        <p:cTn id="87" dur="1" fill="hold">
                                          <p:stCondLst>
                                            <p:cond delay="0"/>
                                          </p:stCondLst>
                                        </p:cTn>
                                        <p:tgtEl>
                                          <p:spTgt spid="22"/>
                                        </p:tgtEl>
                                        <p:attrNameLst>
                                          <p:attrName>style.visibility</p:attrName>
                                        </p:attrNameLst>
                                      </p:cBhvr>
                                      <p:to>
                                        <p:strVal val="visible"/>
                                      </p:to>
                                    </p:set>
                                    <p:animEffect transition="in" filter="fade">
                                      <p:cBhvr>
                                        <p:cTn id="88" dur="550"/>
                                        <p:tgtEl>
                                          <p:spTgt spid="22"/>
                                        </p:tgtEl>
                                      </p:cBhvr>
                                    </p:animEffect>
                                    <p:anim calcmode="lin" valueType="num">
                                      <p:cBhvr additive="base">
                                        <p:cTn id="89" dur="550" fill="hold"/>
                                        <p:tgtEl>
                                          <p:spTgt spid="22"/>
                                        </p:tgtEl>
                                        <p:attrNameLst>
                                          <p:attrName>ppt_x</p:attrName>
                                        </p:attrNameLst>
                                      </p:cBhvr>
                                      <p:tavLst>
                                        <p:tav tm="0">
                                          <p:val>
                                            <p:strVal val="#ppt_x"/>
                                          </p:val>
                                        </p:tav>
                                        <p:tav tm="100000">
                                          <p:val>
                                            <p:strVal val="#ppt_x"/>
                                          </p:val>
                                        </p:tav>
                                      </p:tavLst>
                                    </p:anim>
                                    <p:anim calcmode="lin" valueType="num">
                                      <p:cBhvr additive="base">
                                        <p:cTn id="90" dur="550" fill="hold"/>
                                        <p:tgtEl>
                                          <p:spTgt spid="22"/>
                                        </p:tgtEl>
                                        <p:attrNameLst>
                                          <p:attrName>ppt_y</p:attrName>
                                        </p:attrNameLst>
                                      </p:cBhvr>
                                      <p:tavLst>
                                        <p:tav tm="0">
                                          <p:val>
                                            <p:strVal val="#ppt_y+.08"/>
                                          </p:val>
                                        </p:tav>
                                        <p:tav tm="100000">
                                          <p:val>
                                            <p:strVal val="#ppt_y"/>
                                          </p:val>
                                        </p:tav>
                                      </p:tavLst>
                                    </p:anim>
                                  </p:childTnLst>
                                </p:cTn>
                              </p:par>
                            </p:childTnLst>
                          </p:cTn>
                        </p:par>
                        <p:par>
                          <p:cTn id="91" fill="hold">
                            <p:stCondLst>
                              <p:cond delay="880"/>
                            </p:stCondLst>
                            <p:childTnLst>
                              <p:par>
                                <p:cTn id="92" presetID="53" presetClass="entr" presetSubtype="16" fill="hold" grpId="0" nodeType="afterEffect">
                                  <p:stCondLst>
                                    <p:cond delay="0"/>
                                  </p:stCondLst>
                                  <p:childTnLst>
                                    <p:set>
                                      <p:cBhvr>
                                        <p:cTn id="93" dur="1" fill="hold">
                                          <p:stCondLst>
                                            <p:cond delay="0"/>
                                          </p:stCondLst>
                                        </p:cTn>
                                        <p:tgtEl>
                                          <p:spTgt spid="23"/>
                                        </p:tgtEl>
                                        <p:attrNameLst>
                                          <p:attrName>style.visibility</p:attrName>
                                        </p:attrNameLst>
                                      </p:cBhvr>
                                      <p:to>
                                        <p:strVal val="visible"/>
                                      </p:to>
                                    </p:set>
                                    <p:animEffect transition="in" filter="fade">
                                      <p:cBhvr>
                                        <p:cTn id="94" dur="550"/>
                                        <p:tgtEl>
                                          <p:spTgt spid="23"/>
                                        </p:tgtEl>
                                      </p:cBhvr>
                                    </p:animEffect>
                                    <p:anim calcmode="lin" valueType="num">
                                      <p:cBhvr additive="base">
                                        <p:cTn id="95" dur="550" fill="hold"/>
                                        <p:tgtEl>
                                          <p:spTgt spid="23"/>
                                        </p:tgtEl>
                                        <p:attrNameLst>
                                          <p:attrName>ppt_w</p:attrName>
                                        </p:attrNameLst>
                                      </p:cBhvr>
                                      <p:tavLst>
                                        <p:tav tm="0">
                                          <p:val>
                                            <p:strVal val="0"/>
                                          </p:val>
                                        </p:tav>
                                        <p:tav tm="100000">
                                          <p:val>
                                            <p:strVal val="#ppt_w"/>
                                          </p:val>
                                        </p:tav>
                                      </p:tavLst>
                                    </p:anim>
                                    <p:anim calcmode="lin" valueType="num">
                                      <p:cBhvr additive="base">
                                        <p:cTn id="96" dur="550" fill="hold"/>
                                        <p:tgtEl>
                                          <p:spTgt spid="23"/>
                                        </p:tgtEl>
                                        <p:attrNameLst>
                                          <p:attrName>ppt_h</p:attrName>
                                        </p:attrNameLst>
                                      </p:cBhvr>
                                      <p:tavLst>
                                        <p:tav tm="0">
                                          <p:val>
                                            <p:strVal val="0"/>
                                          </p:val>
                                        </p:tav>
                                        <p:tav tm="100000">
                                          <p:val>
                                            <p:strVal val="#ppt_h"/>
                                          </p:val>
                                        </p:tav>
                                      </p:tavLst>
                                    </p:anim>
                                  </p:childTnLst>
                                </p:cTn>
                              </p:par>
                            </p:childTnLst>
                          </p:cTn>
                        </p:par>
                        <p:par>
                          <p:cTn id="97" fill="hold">
                            <p:stCondLst>
                              <p:cond delay="880"/>
                            </p:stCondLst>
                            <p:childTnLst>
                              <p:par>
                                <p:cTn id="98" presetID="42" presetClass="entr" presetSubtype="0" fill="hold" grpId="0" nodeType="afterEffect">
                                  <p:stCondLst>
                                    <p:cond delay="0"/>
                                  </p:stCondLst>
                                  <p:childTnLst>
                                    <p:set>
                                      <p:cBhvr>
                                        <p:cTn id="99" dur="1" fill="hold">
                                          <p:stCondLst>
                                            <p:cond delay="0"/>
                                          </p:stCondLst>
                                        </p:cTn>
                                        <p:tgtEl>
                                          <p:spTgt spid="24"/>
                                        </p:tgtEl>
                                        <p:attrNameLst>
                                          <p:attrName>style.visibility</p:attrName>
                                        </p:attrNameLst>
                                      </p:cBhvr>
                                      <p:to>
                                        <p:strVal val="visible"/>
                                      </p:to>
                                    </p:set>
                                    <p:animEffect transition="in" filter="fade">
                                      <p:cBhvr>
                                        <p:cTn id="100" dur="550"/>
                                        <p:tgtEl>
                                          <p:spTgt spid="24"/>
                                        </p:tgtEl>
                                      </p:cBhvr>
                                    </p:animEffect>
                                    <p:anim calcmode="lin" valueType="num">
                                      <p:cBhvr additive="base">
                                        <p:cTn id="101" dur="550" fill="hold"/>
                                        <p:tgtEl>
                                          <p:spTgt spid="24"/>
                                        </p:tgtEl>
                                        <p:attrNameLst>
                                          <p:attrName>ppt_x</p:attrName>
                                        </p:attrNameLst>
                                      </p:cBhvr>
                                      <p:tavLst>
                                        <p:tav tm="0">
                                          <p:val>
                                            <p:strVal val="#ppt_x"/>
                                          </p:val>
                                        </p:tav>
                                        <p:tav tm="100000">
                                          <p:val>
                                            <p:strVal val="#ppt_x"/>
                                          </p:val>
                                        </p:tav>
                                      </p:tavLst>
                                    </p:anim>
                                    <p:anim calcmode="lin" valueType="num">
                                      <p:cBhvr additive="base">
                                        <p:cTn id="102" dur="550" fill="hold"/>
                                        <p:tgtEl>
                                          <p:spTgt spid="24"/>
                                        </p:tgtEl>
                                        <p:attrNameLst>
                                          <p:attrName>ppt_y</p:attrName>
                                        </p:attrNameLst>
                                      </p:cBhvr>
                                      <p:tavLst>
                                        <p:tav tm="0">
                                          <p:val>
                                            <p:strVal val="#ppt_y+.08"/>
                                          </p:val>
                                        </p:tav>
                                        <p:tav tm="100000">
                                          <p:val>
                                            <p:strVal val="#ppt_y"/>
                                          </p:val>
                                        </p:tav>
                                      </p:tavLst>
                                    </p:anim>
                                  </p:childTnLst>
                                </p:cTn>
                              </p:par>
                            </p:childTnLst>
                          </p:cTn>
                        </p:par>
                        <p:par>
                          <p:cTn id="103" fill="hold">
                            <p:stCondLst>
                              <p:cond delay="1100"/>
                            </p:stCondLst>
                            <p:childTnLst>
                              <p:par>
                                <p:cTn id="104" presetID="42" presetClass="entr" presetSubtype="0" fill="hold" grpId="0" nodeType="afterEffect">
                                  <p:stCondLst>
                                    <p:cond delay="0"/>
                                  </p:stCondLst>
                                  <p:childTnLst>
                                    <p:set>
                                      <p:cBhvr>
                                        <p:cTn id="105" dur="1" fill="hold">
                                          <p:stCondLst>
                                            <p:cond delay="0"/>
                                          </p:stCondLst>
                                        </p:cTn>
                                        <p:tgtEl>
                                          <p:spTgt spid="25"/>
                                        </p:tgtEl>
                                        <p:attrNameLst>
                                          <p:attrName>style.visibility</p:attrName>
                                        </p:attrNameLst>
                                      </p:cBhvr>
                                      <p:to>
                                        <p:strVal val="visible"/>
                                      </p:to>
                                    </p:set>
                                    <p:animEffect transition="in" filter="fade">
                                      <p:cBhvr>
                                        <p:cTn id="106" dur="550"/>
                                        <p:tgtEl>
                                          <p:spTgt spid="25"/>
                                        </p:tgtEl>
                                      </p:cBhvr>
                                    </p:animEffect>
                                    <p:anim calcmode="lin" valueType="num">
                                      <p:cBhvr additive="base">
                                        <p:cTn id="107" dur="550" fill="hold"/>
                                        <p:tgtEl>
                                          <p:spTgt spid="25"/>
                                        </p:tgtEl>
                                        <p:attrNameLst>
                                          <p:attrName>ppt_x</p:attrName>
                                        </p:attrNameLst>
                                      </p:cBhvr>
                                      <p:tavLst>
                                        <p:tav tm="0">
                                          <p:val>
                                            <p:strVal val="#ppt_x"/>
                                          </p:val>
                                        </p:tav>
                                        <p:tav tm="100000">
                                          <p:val>
                                            <p:strVal val="#ppt_x"/>
                                          </p:val>
                                        </p:tav>
                                      </p:tavLst>
                                    </p:anim>
                                    <p:anim calcmode="lin" valueType="num">
                                      <p:cBhvr additive="base">
                                        <p:cTn id="108" dur="550" fill="hold"/>
                                        <p:tgtEl>
                                          <p:spTgt spid="25"/>
                                        </p:tgtEl>
                                        <p:attrNameLst>
                                          <p:attrName>ppt_y</p:attrName>
                                        </p:attrNameLst>
                                      </p:cBhvr>
                                      <p:tavLst>
                                        <p:tav tm="0">
                                          <p:val>
                                            <p:strVal val="#ppt_y+.08"/>
                                          </p:val>
                                        </p:tav>
                                        <p:tav tm="100000">
                                          <p:val>
                                            <p:strVal val="#ppt_y"/>
                                          </p:val>
                                        </p:tav>
                                      </p:tavLst>
                                    </p:anim>
                                  </p:childTnLst>
                                </p:cTn>
                              </p:par>
                            </p:childTnLst>
                          </p:cTn>
                        </p:par>
                        <p:par>
                          <p:cTn id="109" fill="hold">
                            <p:stCondLst>
                              <p:cond delay="1100"/>
                            </p:stCondLst>
                            <p:childTnLst>
                              <p:par>
                                <p:cTn id="110" presetID="42" presetClass="entr" presetSubtype="0" fill="hold" grpId="0" nodeType="afterEffect">
                                  <p:stCondLst>
                                    <p:cond delay="0"/>
                                  </p:stCondLst>
                                  <p:childTnLst>
                                    <p:set>
                                      <p:cBhvr>
                                        <p:cTn id="111" dur="1" fill="hold">
                                          <p:stCondLst>
                                            <p:cond delay="0"/>
                                          </p:stCondLst>
                                        </p:cTn>
                                        <p:tgtEl>
                                          <p:spTgt spid="26"/>
                                        </p:tgtEl>
                                        <p:attrNameLst>
                                          <p:attrName>style.visibility</p:attrName>
                                        </p:attrNameLst>
                                      </p:cBhvr>
                                      <p:to>
                                        <p:strVal val="visible"/>
                                      </p:to>
                                    </p:set>
                                    <p:animEffect transition="in" filter="fade">
                                      <p:cBhvr>
                                        <p:cTn id="112" dur="550"/>
                                        <p:tgtEl>
                                          <p:spTgt spid="26"/>
                                        </p:tgtEl>
                                      </p:cBhvr>
                                    </p:animEffect>
                                    <p:anim calcmode="lin" valueType="num">
                                      <p:cBhvr additive="base">
                                        <p:cTn id="113" dur="550" fill="hold"/>
                                        <p:tgtEl>
                                          <p:spTgt spid="26"/>
                                        </p:tgtEl>
                                        <p:attrNameLst>
                                          <p:attrName>ppt_x</p:attrName>
                                        </p:attrNameLst>
                                      </p:cBhvr>
                                      <p:tavLst>
                                        <p:tav tm="0">
                                          <p:val>
                                            <p:strVal val="#ppt_x"/>
                                          </p:val>
                                        </p:tav>
                                        <p:tav tm="100000">
                                          <p:val>
                                            <p:strVal val="#ppt_x"/>
                                          </p:val>
                                        </p:tav>
                                      </p:tavLst>
                                    </p:anim>
                                    <p:anim calcmode="lin" valueType="num">
                                      <p:cBhvr additive="base">
                                        <p:cTn id="114" dur="550" fill="hold"/>
                                        <p:tgtEl>
                                          <p:spTgt spid="26"/>
                                        </p:tgtEl>
                                        <p:attrNameLst>
                                          <p:attrName>ppt_y</p:attrName>
                                        </p:attrNameLst>
                                      </p:cBhvr>
                                      <p:tavLst>
                                        <p:tav tm="0">
                                          <p:val>
                                            <p:strVal val="#ppt_y+.08"/>
                                          </p:val>
                                        </p:tav>
                                        <p:tav tm="100000">
                                          <p:val>
                                            <p:strVal val="#ppt_y"/>
                                          </p:val>
                                        </p:tav>
                                      </p:tavLst>
                                    </p:anim>
                                  </p:childTnLst>
                                </p:cTn>
                              </p:par>
                            </p:childTnLst>
                          </p:cTn>
                        </p:par>
                        <p:par>
                          <p:cTn id="115" fill="hold">
                            <p:stCondLst>
                              <p:cond delay="1100"/>
                            </p:stCondLst>
                            <p:childTnLst>
                              <p:par>
                                <p:cTn id="116" presetID="53" presetClass="entr" presetSubtype="16" fill="hold" grpId="0" nodeType="afterEffect">
                                  <p:stCondLst>
                                    <p:cond delay="0"/>
                                  </p:stCondLst>
                                  <p:childTnLst>
                                    <p:set>
                                      <p:cBhvr>
                                        <p:cTn id="117" dur="1" fill="hold">
                                          <p:stCondLst>
                                            <p:cond delay="0"/>
                                          </p:stCondLst>
                                        </p:cTn>
                                        <p:tgtEl>
                                          <p:spTgt spid="27"/>
                                        </p:tgtEl>
                                        <p:attrNameLst>
                                          <p:attrName>style.visibility</p:attrName>
                                        </p:attrNameLst>
                                      </p:cBhvr>
                                      <p:to>
                                        <p:strVal val="visible"/>
                                      </p:to>
                                    </p:set>
                                    <p:animEffect transition="in" filter="fade">
                                      <p:cBhvr>
                                        <p:cTn id="118" dur="550"/>
                                        <p:tgtEl>
                                          <p:spTgt spid="27"/>
                                        </p:tgtEl>
                                      </p:cBhvr>
                                    </p:animEffect>
                                    <p:anim calcmode="lin" valueType="num">
                                      <p:cBhvr additive="base">
                                        <p:cTn id="119" dur="550" fill="hold"/>
                                        <p:tgtEl>
                                          <p:spTgt spid="27"/>
                                        </p:tgtEl>
                                        <p:attrNameLst>
                                          <p:attrName>ppt_w</p:attrName>
                                        </p:attrNameLst>
                                      </p:cBhvr>
                                      <p:tavLst>
                                        <p:tav tm="0">
                                          <p:val>
                                            <p:strVal val="0"/>
                                          </p:val>
                                        </p:tav>
                                        <p:tav tm="100000">
                                          <p:val>
                                            <p:strVal val="#ppt_w"/>
                                          </p:val>
                                        </p:tav>
                                      </p:tavLst>
                                    </p:anim>
                                    <p:anim calcmode="lin" valueType="num">
                                      <p:cBhvr additive="base">
                                        <p:cTn id="120" dur="550" fill="hold"/>
                                        <p:tgtEl>
                                          <p:spTgt spid="27"/>
                                        </p:tgtEl>
                                        <p:attrNameLst>
                                          <p:attrName>ppt_h</p:attrName>
                                        </p:attrNameLst>
                                      </p:cBhvr>
                                      <p:tavLst>
                                        <p:tav tm="0">
                                          <p:val>
                                            <p:strVal val="0"/>
                                          </p:val>
                                        </p:tav>
                                        <p:tav tm="100000">
                                          <p:val>
                                            <p:strVal val="#ppt_h"/>
                                          </p:val>
                                        </p:tav>
                                      </p:tavLst>
                                    </p:anim>
                                  </p:childTnLst>
                                </p:cTn>
                              </p:par>
                            </p:childTnLst>
                          </p:cTn>
                        </p:par>
                        <p:par>
                          <p:cTn id="121" fill="hold">
                            <p:stCondLst>
                              <p:cond delay="1100"/>
                            </p:stCondLst>
                            <p:childTnLst>
                              <p:par>
                                <p:cTn id="122" presetID="42" presetClass="entr" presetSubtype="0" fill="hold" grpId="0" nodeType="afterEffect">
                                  <p:stCondLst>
                                    <p:cond delay="0"/>
                                  </p:stCondLst>
                                  <p:childTnLst>
                                    <p:set>
                                      <p:cBhvr>
                                        <p:cTn id="123" dur="1" fill="hold">
                                          <p:stCondLst>
                                            <p:cond delay="0"/>
                                          </p:stCondLst>
                                        </p:cTn>
                                        <p:tgtEl>
                                          <p:spTgt spid="28"/>
                                        </p:tgtEl>
                                        <p:attrNameLst>
                                          <p:attrName>style.visibility</p:attrName>
                                        </p:attrNameLst>
                                      </p:cBhvr>
                                      <p:to>
                                        <p:strVal val="visible"/>
                                      </p:to>
                                    </p:set>
                                    <p:animEffect transition="in" filter="fade">
                                      <p:cBhvr>
                                        <p:cTn id="124" dur="550"/>
                                        <p:tgtEl>
                                          <p:spTgt spid="28"/>
                                        </p:tgtEl>
                                      </p:cBhvr>
                                    </p:animEffect>
                                    <p:anim calcmode="lin" valueType="num">
                                      <p:cBhvr additive="base">
                                        <p:cTn id="125" dur="550" fill="hold"/>
                                        <p:tgtEl>
                                          <p:spTgt spid="28"/>
                                        </p:tgtEl>
                                        <p:attrNameLst>
                                          <p:attrName>ppt_x</p:attrName>
                                        </p:attrNameLst>
                                      </p:cBhvr>
                                      <p:tavLst>
                                        <p:tav tm="0">
                                          <p:val>
                                            <p:strVal val="#ppt_x"/>
                                          </p:val>
                                        </p:tav>
                                        <p:tav tm="100000">
                                          <p:val>
                                            <p:strVal val="#ppt_x"/>
                                          </p:val>
                                        </p:tav>
                                      </p:tavLst>
                                    </p:anim>
                                    <p:anim calcmode="lin" valueType="num">
                                      <p:cBhvr additive="base">
                                        <p:cTn id="126" dur="550" fill="hold"/>
                                        <p:tgtEl>
                                          <p:spTgt spid="28"/>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P spid="25" grpId="0" animBg="1"/>
      <p:bldP spid="26" grpId="0" animBg="1"/>
      <p:bldP spid="27" grpId="0" animBg="1"/>
      <p:bldP spid="28" grpId="0" animBg="1"/>
    </p:bldLst>
  </p:timing>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110000"/>
            <a:ext cx="10300000" cy="300000"/>
          </a:xfrm>
          <a:prstGeom prst="rect">
            <a:avLst/>
          </a:prstGeom>
          <a:noFill/>
        </p:spPr>
        <p:txBody>
          <a:bodyPr wrap="square" anchor="t" lIns="50800" rIns="50800">
            <a:spAutoFit/>
          </a:bodyPr>
          <a:lstStyle/>
          <a:p>
            <a:pPr algn="l"/>
            <a:r>
              <a:rPr sz="1200" b="1">
                <a:solidFill>
                  <a:srgbClr val="A9C4E6"/>
                </a:solidFill>
                <a:latin typeface="Calibri"/>
              </a:rPr>
              <a:t>LABORATORIYA</a:t>
            </a:r>
          </a:p>
        </p:txBody>
      </p:sp>
      <p:sp>
        <p:nvSpPr>
          <p:cNvPr id="6" name="TextBox 5"/>
          <p:cNvSpPr txBox="1"/>
          <p:nvPr/>
        </p:nvSpPr>
        <p:spPr>
          <a:xfrm>
            <a:off x="500000" y="330000"/>
            <a:ext cx="10400000" cy="650000"/>
          </a:xfrm>
          <a:prstGeom prst="rect">
            <a:avLst/>
          </a:prstGeom>
          <a:noFill/>
        </p:spPr>
        <p:txBody>
          <a:bodyPr wrap="square" anchor="ctr" lIns="50800" rIns="50800">
            <a:spAutoFit/>
          </a:bodyPr>
          <a:lstStyle/>
          <a:p>
            <a:pPr algn="l"/>
            <a:r>
              <a:rPr sz="2600" b="1">
                <a:solidFill>
                  <a:srgbClr val="FFFFFF"/>
                </a:solidFill>
                <a:latin typeface="Calibri"/>
              </a:rPr>
              <a:t>Virtual laboratoriya va kodlar</a:t>
            </a:r>
          </a:p>
        </p:txBody>
      </p:sp>
      <p:sp>
        <p:nvSpPr>
          <p:cNvPr id="7" name="Rectangle 6"/>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A1 · Sun'iy intellektga asoslangan kompyuter tizimlari arxitekturasini tahlil qilish va loyihalash</a:t>
            </a:r>
          </a:p>
        </p:txBody>
      </p:sp>
      <p:sp>
        <p:nvSpPr>
          <p:cNvPr id="9" name="TextBox 8"/>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51</a:t>
            </a:r>
          </a:p>
        </p:txBody>
      </p:sp>
      <p:pic>
        <p:nvPicPr>
          <p:cNvPr id="10" name="Picture 9" descr="image.png"/>
          <p:cNvPicPr>
            <a:picLocks noChangeAspect="1"/>
          </p:cNvPicPr>
          <p:nvPr/>
        </p:nvPicPr>
        <p:blipFill>
          <a:blip r:embed="rId2"/>
          <a:stretch>
            <a:fillRect/>
          </a:stretch>
        </p:blipFill>
        <p:spPr>
          <a:xfrm>
            <a:off x="8300000" y="1600000"/>
            <a:ext cx="3200000" cy="3200000"/>
          </a:xfrm>
          <a:prstGeom prst="rect">
            <a:avLst/>
          </a:prstGeom>
        </p:spPr>
      </p:pic>
      <p:sp>
        <p:nvSpPr>
          <p:cNvPr id="11" name="TextBox 10"/>
          <p:cNvSpPr txBox="1"/>
          <p:nvPr/>
        </p:nvSpPr>
        <p:spPr>
          <a:xfrm>
            <a:off x="600000" y="1500000"/>
            <a:ext cx="7400000" cy="4600000"/>
          </a:xfrm>
          <a:prstGeom prst="rect">
            <a:avLst/>
          </a:prstGeom>
          <a:noFill/>
        </p:spPr>
        <p:txBody>
          <a:bodyPr wrap="square" anchor="t" lIns="50800" rIns="50800">
            <a:spAutoFit/>
          </a:bodyPr>
          <a:lstStyle/>
          <a:p>
            <a:pPr algn="l"/>
            <a:r>
              <a:rPr sz="1900" b="0">
                <a:solidFill>
                  <a:srgbClr val="1B2430"/>
                </a:solidFill>
                <a:latin typeface="Calibri"/>
              </a:rPr>
              <a:t>Saytda bajarish: https://aiscan.airi.uz/ktm/ → Mavzular → A1 → 🧪 Virtual bajarish (7 bosqich)</a:t>
            </a:r>
          </a:p>
          <a:p>
            <a:pPr algn="l"/>
            <a:r>
              <a:rPr sz="1900" b="0">
                <a:solidFill>
                  <a:srgbClr val="1B2430"/>
                </a:solidFill>
                <a:latin typeface="Calibri"/>
              </a:rPr>
              <a:t>Kodlarni ko‘chirib olish — QR kod yoki:</a:t>
            </a:r>
          </a:p>
          <a:p>
            <a:pPr algn="l"/>
            <a:r>
              <a:rPr sz="1900" b="0">
                <a:solidFill>
                  <a:srgbClr val="1B2430"/>
                </a:solidFill>
                <a:latin typeface="Calibri"/>
              </a:rPr>
              <a:t>git clone https://github.com/sayka7/ktm_labs.git</a:t>
            </a:r>
          </a:p>
          <a:p>
            <a:pPr algn="l"/>
            <a:r>
              <a:rPr sz="1900" b="0">
                <a:solidFill>
                  <a:srgbClr val="1B2430"/>
                </a:solidFill>
                <a:latin typeface="Calibri"/>
              </a:rPr>
              <a:t>Mustaqil topshiriq: 20 variantdan o‘zingizniki (jurnal raqami bo‘yicha)</a:t>
            </a:r>
          </a:p>
          <a:p>
            <a:pPr algn="l"/>
            <a:r>
              <a:rPr sz="1900" b="0">
                <a:solidFill>
                  <a:srgbClr val="1B2430"/>
                </a:solidFill>
                <a:latin typeface="Calibri"/>
              </a:rPr>
              <a:t>Topshirish: saytdagi «📤 Topshirish va baho» — avtomatik tekshiruv</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19"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6"/>
                                        </p:tgtEl>
                                        <p:attrNameLst>
                                          <p:attrName>style.visibility</p:attrName>
                                        </p:attrNameLst>
                                      </p:cBhvr>
                                      <p:to>
                                        <p:strVal val="visible"/>
                                      </p:to>
                                    </p:set>
                                    <p:animEffect transition="in" filter="fade">
                                      <p:cBhvr>
                                        <p:cTn id="6" dur="550"/>
                                        <p:tgtEl>
                                          <p:spTgt spid="6"/>
                                        </p:tgtEl>
                                      </p:cBhvr>
                                    </p:animEffect>
                                  </p:childTnLst>
                                </p:cTn>
                              </p:par>
                            </p:childTnLst>
                          </p:cTn>
                        </p:par>
                        <p:par>
                          <p:cTn id="7" fill="hold">
                            <p:stCondLst>
                              <p:cond delay="200"/>
                            </p:stCondLst>
                            <p:childTnLst>
                              <p:par>
                                <p:cTn id="8" presetID="53" presetClass="entr" presetSubtype="16" fill="hold" grpId="0" nodeType="after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fade">
                                      <p:cBhvr>
                                        <p:cTn id="10" dur="550"/>
                                        <p:tgtEl>
                                          <p:spTgt spid="10"/>
                                        </p:tgtEl>
                                      </p:cBhvr>
                                    </p:animEffect>
                                    <p:anim calcmode="lin" valueType="num">
                                      <p:cBhvr additive="base">
                                        <p:cTn id="11" dur="550" fill="hold"/>
                                        <p:tgtEl>
                                          <p:spTgt spid="10"/>
                                        </p:tgtEl>
                                        <p:attrNameLst>
                                          <p:attrName>ppt_w</p:attrName>
                                        </p:attrNameLst>
                                      </p:cBhvr>
                                      <p:tavLst>
                                        <p:tav tm="0">
                                          <p:val>
                                            <p:strVal val="0"/>
                                          </p:val>
                                        </p:tav>
                                        <p:tav tm="100000">
                                          <p:val>
                                            <p:strVal val="#ppt_w"/>
                                          </p:val>
                                        </p:tav>
                                      </p:tavLst>
                                    </p:anim>
                                    <p:anim calcmode="lin" valueType="num">
                                      <p:cBhvr additive="base">
                                        <p:cTn id="12" dur="550" fill="hold"/>
                                        <p:tgtEl>
                                          <p:spTgt spid="10"/>
                                        </p:tgtEl>
                                        <p:attrNameLst>
                                          <p:attrName>ppt_h</p:attrName>
                                        </p:attrNameLst>
                                      </p:cBhvr>
                                      <p:tavLst>
                                        <p:tav tm="0">
                                          <p:val>
                                            <p:strVal val="0"/>
                                          </p:val>
                                        </p:tav>
                                        <p:tav tm="100000">
                                          <p:val>
                                            <p:strVal val="#ppt_h"/>
                                          </p:val>
                                        </p:tav>
                                      </p:tavLst>
                                    </p:anim>
                                  </p:childTnLst>
                                </p:cTn>
                              </p:par>
                            </p:childTnLst>
                          </p:cTn>
                        </p:par>
                        <p:par>
                          <p:cTn id="13" fill="hold">
                            <p:stCondLst>
                              <p:cond delay="350"/>
                            </p:stCondLst>
                            <p:childTnLst>
                              <p:par>
                                <p:cTn id="14" presetID="42" presetClass="entr" presetSubtype="0" fill="hold" grpId="0" nodeType="afterEffect">
                                  <p:stCondLst>
                                    <p:cond delay="0"/>
                                  </p:stCondLst>
                                  <p:childTnLst>
                                    <p:set>
                                      <p:cBhvr>
                                        <p:cTn id="15" dur="1" fill="hold">
                                          <p:stCondLst>
                                            <p:cond delay="0"/>
                                          </p:stCondLst>
                                        </p:cTn>
                                        <p:tgtEl>
                                          <p:spTgt spid="11"/>
                                        </p:tgtEl>
                                        <p:attrNameLst>
                                          <p:attrName>style.visibility</p:attrName>
                                        </p:attrNameLst>
                                      </p:cBhvr>
                                      <p:to>
                                        <p:strVal val="visible"/>
                                      </p:to>
                                    </p:set>
                                    <p:animEffect transition="in" filter="fade">
                                      <p:cBhvr>
                                        <p:cTn id="16" dur="550"/>
                                        <p:tgtEl>
                                          <p:spTgt spid="11"/>
                                        </p:tgtEl>
                                      </p:cBhvr>
                                    </p:animEffect>
                                    <p:anim calcmode="lin" valueType="num">
                                      <p:cBhvr additive="base">
                                        <p:cTn id="17" dur="550" fill="hold"/>
                                        <p:tgtEl>
                                          <p:spTgt spid="11"/>
                                        </p:tgtEl>
                                        <p:attrNameLst>
                                          <p:attrName>ppt_x</p:attrName>
                                        </p:attrNameLst>
                                      </p:cBhvr>
                                      <p:tavLst>
                                        <p:tav tm="0">
                                          <p:val>
                                            <p:strVal val="#ppt_x"/>
                                          </p:val>
                                        </p:tav>
                                        <p:tav tm="100000">
                                          <p:val>
                                            <p:strVal val="#ppt_x"/>
                                          </p:val>
                                        </p:tav>
                                      </p:tavLst>
                                    </p:anim>
                                    <p:anim calcmode="lin" valueType="num">
                                      <p:cBhvr additive="base">
                                        <p:cTn id="18" dur="550" fill="hold"/>
                                        <p:tgtEl>
                                          <p:spTgt spid="11"/>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11" grpId="0" animBg="1"/>
    </p:bldLst>
  </p:timing>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F6E80"/>
              </a:gs>
              <a:gs pos="100000">
                <a:srgbClr val="142845"/>
              </a:gs>
            </a:gsLst>
            <a:lin scaled="0" ang="135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900000" y="3900000"/>
            <a:ext cx="3600000" cy="3600000"/>
          </a:xfrm>
          <a:prstGeom prst="ellipse">
            <a:avLst/>
          </a:prstGeom>
          <a:solidFill>
            <a:srgbClr val="244C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00000" y="1900000"/>
            <a:ext cx="10800000" cy="1100000"/>
          </a:xfrm>
          <a:prstGeom prst="rect">
            <a:avLst/>
          </a:prstGeom>
          <a:noFill/>
        </p:spPr>
        <p:txBody>
          <a:bodyPr wrap="square" anchor="t" lIns="50800" rIns="50800">
            <a:spAutoFit/>
          </a:bodyPr>
          <a:lstStyle/>
          <a:p>
            <a:pPr algn="ctr"/>
            <a:r>
              <a:rPr sz="4400" b="1">
                <a:solidFill>
                  <a:srgbClr val="FFFFFF"/>
                </a:solidFill>
                <a:latin typeface="Calibri"/>
              </a:rPr>
              <a:t>E’tiboringiz uchun rahmat!</a:t>
            </a:r>
          </a:p>
        </p:txBody>
      </p:sp>
      <p:sp>
        <p:nvSpPr>
          <p:cNvPr id="5" name="TextBox 4"/>
          <p:cNvSpPr txBox="1"/>
          <p:nvPr/>
        </p:nvSpPr>
        <p:spPr>
          <a:xfrm>
            <a:off x="700000" y="3200000"/>
            <a:ext cx="10800000" cy="500000"/>
          </a:xfrm>
          <a:prstGeom prst="rect">
            <a:avLst/>
          </a:prstGeom>
          <a:noFill/>
        </p:spPr>
        <p:txBody>
          <a:bodyPr wrap="square" anchor="t" lIns="50800" rIns="50800">
            <a:spAutoFit/>
          </a:bodyPr>
          <a:lstStyle/>
          <a:p>
            <a:pPr algn="ctr"/>
            <a:r>
              <a:rPr sz="2600" b="1">
                <a:solidFill>
                  <a:srgbClr val="7FD6D7"/>
                </a:solidFill>
                <a:latin typeface="Calibri"/>
              </a:rPr>
              <a:t>Savollar?</a:t>
            </a:r>
          </a:p>
        </p:txBody>
      </p:sp>
      <p:sp>
        <p:nvSpPr>
          <p:cNvPr id="6" name="TextBox 5"/>
          <p:cNvSpPr txBox="1"/>
          <p:nvPr/>
        </p:nvSpPr>
        <p:spPr>
          <a:xfrm>
            <a:off x="1200000" y="4300000"/>
            <a:ext cx="9800000" cy="1200000"/>
          </a:xfrm>
          <a:prstGeom prst="rect">
            <a:avLst/>
          </a:prstGeom>
          <a:noFill/>
        </p:spPr>
        <p:txBody>
          <a:bodyPr wrap="square" anchor="t" lIns="50800" rIns="50800">
            <a:spAutoFit/>
          </a:bodyPr>
          <a:lstStyle/>
          <a:p>
            <a:pPr algn="ctr"/>
            <a:r>
              <a:rPr sz="1600" b="0">
                <a:solidFill>
                  <a:srgbClr val="D7E3F4"/>
                </a:solidFill>
                <a:latin typeface="Calibri"/>
              </a:rPr>
              <a:t>Mavzu matni va materiallar: https://aiscan.airi.uz/ktm/#/c/mis2104/mavzu/A1</a:t>
            </a:r>
          </a:p>
          <a:p>
            <a:pPr algn="ctr"/>
            <a:r>
              <a:rPr sz="1600" b="0">
                <a:solidFill>
                  <a:srgbClr val="D7E3F4"/>
                </a:solidFill>
                <a:latin typeface="Calibri"/>
              </a:rPr>
              <a:t>Nazorat savollari va mustaqil ish — mavzu matnining oxirida</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25" fill="hold">
                      <p:stCondLst>
                        <p:cond delay="indefinite"/>
                        <p:cond evt="onBegin" delay="0">
                          <p:tn val="2"/>
                        </p:cond>
                      </p:stCondLst>
                      <p:childTnLst>
                        <p:par>
                          <p:cTn id="3" fill="hold">
                            <p:stCondLst>
                              <p:cond delay="0"/>
                            </p:stCondLst>
                            <p:childTnLst>
                              <p:par>
                                <p:cTn id="4" presetID="53" presetClass="entr" presetSubtype="16" fill="hold" grpId="0" nodeType="withEffect">
                                  <p:stCondLst>
                                    <p:cond delay="0"/>
                                  </p:stCondLst>
                                  <p:childTnLst>
                                    <p:set>
                                      <p:cBhvr>
                                        <p:cTn id="5" dur="1" fill="hold">
                                          <p:stCondLst>
                                            <p:cond delay="0"/>
                                          </p:stCondLst>
                                        </p:cTn>
                                        <p:tgtEl>
                                          <p:spTgt spid="3"/>
                                        </p:tgtEl>
                                        <p:attrNameLst>
                                          <p:attrName>style.visibility</p:attrName>
                                        </p:attrNameLst>
                                      </p:cBhvr>
                                      <p:to>
                                        <p:strVal val="visible"/>
                                      </p:to>
                                    </p:set>
                                    <p:animEffect transition="in" filter="fade">
                                      <p:cBhvr>
                                        <p:cTn id="6" dur="550"/>
                                        <p:tgtEl>
                                          <p:spTgt spid="3"/>
                                        </p:tgtEl>
                                      </p:cBhvr>
                                    </p:animEffect>
                                    <p:anim calcmode="lin" valueType="num">
                                      <p:cBhvr additive="base">
                                        <p:cTn id="7" dur="550" fill="hold"/>
                                        <p:tgtEl>
                                          <p:spTgt spid="3"/>
                                        </p:tgtEl>
                                        <p:attrNameLst>
                                          <p:attrName>ppt_w</p:attrName>
                                        </p:attrNameLst>
                                      </p:cBhvr>
                                      <p:tavLst>
                                        <p:tav tm="0">
                                          <p:val>
                                            <p:strVal val="0"/>
                                          </p:val>
                                        </p:tav>
                                        <p:tav tm="100000">
                                          <p:val>
                                            <p:strVal val="#ppt_w"/>
                                          </p:val>
                                        </p:tav>
                                      </p:tavLst>
                                    </p:anim>
                                    <p:anim calcmode="lin" valueType="num">
                                      <p:cBhvr additive="base">
                                        <p:cTn id="8" dur="550" fill="hold"/>
                                        <p:tgtEl>
                                          <p:spTgt spid="3"/>
                                        </p:tgtEl>
                                        <p:attrNameLst>
                                          <p:attrName>ppt_h</p:attrName>
                                        </p:attrNameLst>
                                      </p:cBhvr>
                                      <p:tavLst>
                                        <p:tav tm="0">
                                          <p:val>
                                            <p:strVal val="0"/>
                                          </p:val>
                                        </p:tav>
                                        <p:tav tm="100000">
                                          <p:val>
                                            <p:strVal val="#ppt_h"/>
                                          </p:val>
                                        </p:tav>
                                      </p:tavLst>
                                    </p:anim>
                                  </p:childTnLst>
                                </p:cTn>
                              </p:par>
                            </p:childTnLst>
                          </p:cTn>
                        </p:par>
                        <p:par>
                          <p:cTn id="9" fill="hold">
                            <p:stCondLst>
                              <p:cond delay="150"/>
                            </p:stCondLst>
                            <p:childTnLst>
                              <p:par>
                                <p:cTn id="10" presetID="53" presetClass="entr" presetSubtype="16" fill="hold" grpId="0" nodeType="afterEffect">
                                  <p:stCondLst>
                                    <p:cond delay="0"/>
                                  </p:stCondLst>
                                  <p:childTnLst>
                                    <p:set>
                                      <p:cBhvr>
                                        <p:cTn id="11" dur="1" fill="hold">
                                          <p:stCondLst>
                                            <p:cond delay="0"/>
                                          </p:stCondLst>
                                        </p:cTn>
                                        <p:tgtEl>
                                          <p:spTgt spid="4"/>
                                        </p:tgtEl>
                                        <p:attrNameLst>
                                          <p:attrName>style.visibility</p:attrName>
                                        </p:attrNameLst>
                                      </p:cBhvr>
                                      <p:to>
                                        <p:strVal val="visible"/>
                                      </p:to>
                                    </p:set>
                                    <p:animEffect transition="in" filter="fade">
                                      <p:cBhvr>
                                        <p:cTn id="12" dur="550"/>
                                        <p:tgtEl>
                                          <p:spTgt spid="4"/>
                                        </p:tgtEl>
                                      </p:cBhvr>
                                    </p:animEffect>
                                    <p:anim calcmode="lin" valueType="num">
                                      <p:cBhvr additive="base">
                                        <p:cTn id="13" dur="550" fill="hold"/>
                                        <p:tgtEl>
                                          <p:spTgt spid="4"/>
                                        </p:tgtEl>
                                        <p:attrNameLst>
                                          <p:attrName>ppt_w</p:attrName>
                                        </p:attrNameLst>
                                      </p:cBhvr>
                                      <p:tavLst>
                                        <p:tav tm="0">
                                          <p:val>
                                            <p:strVal val="0"/>
                                          </p:val>
                                        </p:tav>
                                        <p:tav tm="100000">
                                          <p:val>
                                            <p:strVal val="#ppt_w"/>
                                          </p:val>
                                        </p:tav>
                                      </p:tavLst>
                                    </p:anim>
                                    <p:anim calcmode="lin" valueType="num">
                                      <p:cBhvr additive="base">
                                        <p:cTn id="14" dur="550" fill="hold"/>
                                        <p:tgtEl>
                                          <p:spTgt spid="4"/>
                                        </p:tgtEl>
                                        <p:attrNameLst>
                                          <p:attrName>ppt_h</p:attrName>
                                        </p:attrNameLst>
                                      </p:cBhvr>
                                      <p:tavLst>
                                        <p:tav tm="0">
                                          <p:val>
                                            <p:strVal val="0"/>
                                          </p:val>
                                        </p:tav>
                                        <p:tav tm="100000">
                                          <p:val>
                                            <p:strVal val="#ppt_h"/>
                                          </p:val>
                                        </p:tav>
                                      </p:tavLst>
                                    </p:anim>
                                  </p:childTnLst>
                                </p:cTn>
                              </p:par>
                            </p:childTnLst>
                          </p:cTn>
                        </p:par>
                        <p:par>
                          <p:cTn id="15" fill="hold">
                            <p:stCondLst>
                              <p:cond delay="350"/>
                            </p:stCondLst>
                            <p:childTnLst>
                              <p:par>
                                <p:cTn id="16" presetID="42" presetClass="entr" presetSubtype="0" fill="hold" grpId="0" nodeType="afterEffect">
                                  <p:stCondLst>
                                    <p:cond delay="0"/>
                                  </p:stCondLst>
                                  <p:childTnLst>
                                    <p:set>
                                      <p:cBhvr>
                                        <p:cTn id="17" dur="1" fill="hold">
                                          <p:stCondLst>
                                            <p:cond delay="0"/>
                                          </p:stCondLst>
                                        </p:cTn>
                                        <p:tgtEl>
                                          <p:spTgt spid="5"/>
                                        </p:tgtEl>
                                        <p:attrNameLst>
                                          <p:attrName>style.visibility</p:attrName>
                                        </p:attrNameLst>
                                      </p:cBhvr>
                                      <p:to>
                                        <p:strVal val="visible"/>
                                      </p:to>
                                    </p:set>
                                    <p:animEffect transition="in" filter="fade">
                                      <p:cBhvr>
                                        <p:cTn id="18" dur="550"/>
                                        <p:tgtEl>
                                          <p:spTgt spid="5"/>
                                        </p:tgtEl>
                                      </p:cBhvr>
                                    </p:animEffect>
                                    <p:anim calcmode="lin" valueType="num">
                                      <p:cBhvr additive="base">
                                        <p:cTn id="19" dur="550" fill="hold"/>
                                        <p:tgtEl>
                                          <p:spTgt spid="5"/>
                                        </p:tgtEl>
                                        <p:attrNameLst>
                                          <p:attrName>ppt_x</p:attrName>
                                        </p:attrNameLst>
                                      </p:cBhvr>
                                      <p:tavLst>
                                        <p:tav tm="0">
                                          <p:val>
                                            <p:strVal val="#ppt_x"/>
                                          </p:val>
                                        </p:tav>
                                        <p:tav tm="100000">
                                          <p:val>
                                            <p:strVal val="#ppt_x"/>
                                          </p:val>
                                        </p:tav>
                                      </p:tavLst>
                                    </p:anim>
                                    <p:anim calcmode="lin" valueType="num">
                                      <p:cBhvr additive="base">
                                        <p:cTn id="20" dur="550" fill="hold"/>
                                        <p:tgtEl>
                                          <p:spTgt spid="5"/>
                                        </p:tgtEl>
                                        <p:attrNameLst>
                                          <p:attrName>ppt_y</p:attrName>
                                        </p:attrNameLst>
                                      </p:cBhvr>
                                      <p:tavLst>
                                        <p:tav tm="0">
                                          <p:val>
                                            <p:strVal val="#ppt_y+.08"/>
                                          </p:val>
                                        </p:tav>
                                        <p:tav tm="100000">
                                          <p:val>
                                            <p:strVal val="#ppt_y"/>
                                          </p:val>
                                        </p:tav>
                                      </p:tavLst>
                                    </p:anim>
                                  </p:childTnLst>
                                </p:cTn>
                              </p:par>
                            </p:childTnLst>
                          </p:cTn>
                        </p:par>
                        <p:par>
                          <p:cTn id="21" fill="hold">
                            <p:stCondLst>
                              <p:cond delay="550"/>
                            </p:stCondLst>
                            <p:childTnLst>
                              <p:par>
                                <p:cTn id="22" presetID="10" presetClass="entr" presetSubtype="0" fill="hold" grpId="0" nodeType="afterEffect">
                                  <p:stCondLst>
                                    <p:cond delay="0"/>
                                  </p:stCondLst>
                                  <p:childTnLst>
                                    <p:set>
                                      <p:cBhvr>
                                        <p:cTn id="23" dur="1" fill="hold">
                                          <p:stCondLst>
                                            <p:cond delay="0"/>
                                          </p:stCondLst>
                                        </p:cTn>
                                        <p:tgtEl>
                                          <p:spTgt spid="6"/>
                                        </p:tgtEl>
                                        <p:attrNameLst>
                                          <p:attrName>style.visibility</p:attrName>
                                        </p:attrNameLst>
                                      </p:cBhvr>
                                      <p:to>
                                        <p:strVal val="visible"/>
                                      </p:to>
                                    </p:set>
                                    <p:animEffect transition="in" filter="fade">
                                      <p:cBhvr>
                                        <p:cTn id="24" dur="55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4" grpId="0" animBg="1"/>
      <p:bldP spid="5" grpId="0" animBg="1"/>
      <p:bldP spid="6" grpId="0" animBg="1"/>
    </p:bldLst>
  </p:timing>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
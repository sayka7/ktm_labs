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sun'iy intellektga asoslangan hisoblash tizimining arxitekturasini muhandislik nuqtai nazaridan tahlil qilish, apparat va dasturiy ta'minotni birgalikda loyihalash (Hardware–Software Co-design) tamoyillari asosida strukturaviy sxema ishlab chiqish hamda bozordagi hisoblash platformalarini texnik tavsiflar bo'yicha asosli taqqoslash ko'nikmasini shakllantirishdir.</a:t>
            </a:r>
          </a:p>
          <a:p/>
          <a:p>
            <a:r>
              <a:t>Mashg'ulot yakunida talaba:</a:t>
            </a:r>
          </a:p>
          <a:p/>
          <a:p>
            <a:r>
              <a:t>AI tizimining to'rt qatlamli arxitekturasini (ma'lumot → model → hisoblash platformasi → xizmat) ajratib, har bir qatlamning resurs talabini aniq ko'rsatkichlar (FLOP, bayt, millisekund, vatt) orqali ifodalay oladi;</a:t>
            </a:r>
          </a:p>
          <a:p/>
          <a:p>
            <a:r>
              <a:t>Berilgan ish yuklamasi (workload) uchun arifmetik intensivlik (arithmetic intensity) va Roofline chegarasini hisoblab, tizim «hisoblash bilan cheklangan» yoki «xotira bilan cheklangan» ekanini asoslaydi;</a:t>
            </a:r>
          </a:p>
          <a:p/>
          <a:p>
            <a:r>
              <a:t>Kamida uchta hisoblash platformasining (ma'lumotlar markazi GPU, chekka (edge) moduli, ixtisoslashgan tezlatkich) texnik pasportini bir jadvalda solishtirib, talablar matritsasi asosida tanlov qiladi;</a:t>
            </a:r>
          </a:p>
          <a:p/>
          <a:p>
            <a:r>
              <a:t>Hardware–Software Co-design tamoyillarini qo'llab, AI tizimining strukturaviy sxemasini matnli tavsif va interfeyslar ro'yxati ko'rinishida hujjatlashtiradi;</a:t>
            </a:r>
          </a:p>
          <a:p/>
          <a:p>
            <a:r>
              <a:t>Python'da yuklama hisobi skriptini yozib, nazariy baholarni real o'lchovlar bilan solishtirish metodikasini qo'llaydi.</a:t>
            </a:r>
          </a:p>
          <a:p/>
          <a:p>
            <a:r>
              <a:t>Mavzu fanning TN1 (AI tizimlari arxitekturasini tahlil qilish va loyihalash), TN2 (hisoblash platformalarini tanlash va baholash) hamda TN7 (muhandislik hujjatlarini tayyorlash va natijalarni himoya qilish) ta'lim natijalariga bevosita xizmat qiladi; shuningdek, M1, M2 va M10 ma'ruzalaridagi nazariy materialni amaliy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tizimi — bu shunchaki o'qitilgan neyron tarmoq emas, balki ma'lumotlar oqimi, model, hisoblash platformasi, tarmoq, saqlash tizimi va ekspluatatsiya jarayonlarini o'z ichiga olgan murakkab muhandislik majmuasidir. Sanoat tajribasi shuni ko'rsatadiki, AI loyihalarining katta qismi model sifati tufayli emas, balki arxitektura noto'g'ri tanlangani — hisoblash resursi yetmagani, xotira o'tkazuvchanligi tiqilib qolgani, kechikish (latency) talabi bajarilmagani yoki ekspluatatsiya narxi byudjetdan oshib ketgani sababli muvaffaqiyatsizlikka uchraydi. Shuning uchun AI muhandisi uchun arxitekturani tahlil qilish va loyihalash ko'nikmasi model o'qitish ko'nikmasi bilan teng darajada muhimdir.</a:t>
            </a:r>
          </a:p>
          <a:p/>
          <a:p>
            <a:r>
              <a:t>Hardware–Software Co-design tushunchasi dastlab o'rnatilgan tizimlar (embedded systems) sohasida paydo bo'lgan: qaysi funksiyalarni apparatda (ASIC, FPGA), qaysilarini dasturda bajarish kerakligini loyihalashning dastlabki bosqichida birgalikda hal qilish. Sun'iy intellekt davrida bu g'oya yangi mazmun kasb etdi. Google'ning TPU loyihasi — modelning matritsa ko'paytirish (matrix multiply) amallariga bo'lgan talabini chuqur tahlil qilib, ayni shu amal uchun sistolik massiv (systolic array) arxitekturasini yaratishning klassik misolidir. NVIDIA Tensor Core'larining paydo bo'lishi, FP8 va FP4 formatlarining Hopper va Blackwell avlodlarida qo'llab-quvvatlanishi, Apple Neural Engine va Qualcomm Hexagon NPU'larining smartfonlarga kirib kelishi — bularning barchasi dasturiy ta'minot (model arxitekturasi, aniqlik formati, operatorlar to'plami) va apparat (hisoblash bloklari, xotira iyerarxiyasi, o'zaro bog'lanish) birgalikda rivojlanayotganining dalilidir.</a:t>
            </a:r>
          </a:p>
          <a:p/>
          <a:p>
            <a:r>
              <a:t>Mashg'ulot davomida biz real sanoat vazifasiga yaqin ssenariy ustida ishlaymiz: korxona video-kuzatuv tizimida shaxsiy himoya vositalari (SHV) ni real vaqtda aniqlash uchun AI tizimi loyihalanmoqda. Talablar: 16 ta kamera, har biri 1080p va 10 kadr/sekund; aniqlash modeli — YOLO oilasidan; bir kadr uchun maksimal uchdan-uchgacha kechikish 200 ms; tizim ishlab chiqarish sexida (changli, +40 °C gacha harorat) joylashadi; byudjet cheklangan. Ushbu talablardan kelib chiqib, talaba platformani tanlashi, strukturaviy sxemani ishlab chiqishi va o'z qarorini raqamlar bilan asoslashi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intellektga asoslangan kompyuter tizimini (AI-enabled computer system) tahlil qilishda to'rt qatlamli model qulay: (1) ma'lumotlar qatlami — sensorlar, oqimlar, saqlash, oldindan ishlov berish; (2) model qatlami — neyron tarmoq arxitekturasi, parametrlar, aniqlik formati, operatorlar grafigi; (3) hisoblash platformasi qatlami — CPU, GPU, NPU, FPGA, xotira iyerarxiyasi, o'zaro bog'lanish (interconnect); (4) xizmat qatlami — API, konteynerlar, orkestratsiya, monitoring. Har bir qatlam o'ziga xos resurs talabiga ega va qatlamlar orasidagi interfeyslar aynan tizimning tiqilib qoladigan joylari (bottleneck) bo'lishi mumkin. Masalan, kameradan kelgan H.264 oqimini dekodlash CPU'da bajarilsa, 16 kamera uchun bu bitta protsessor yadrosini to'liq band qilishi mumkin — model qanchalik tez bo'lmasin, tizim dekodlash bosqichida tiqilib qoladi. Shu sababli arxitektura tahlili har doim butun quvur liniyasini (pipeline) qamrab olishi kerak.</a:t>
            </a:r>
          </a:p>
          <a:p/>
          <a:p>
            <a:r>
              <a:t>Tahlilning asosiy ko'rsatkichlari quyidagilar: o'tkazuvchanlik (throughput) — birlik vaqtda ishlangan so'rovlar yoki kadrlar soni; kechikish (latency) — bitta so'rovning kirishdan natijagacha o'tgan vaqti, odatda o'rtacha emas, balki p95 yoki p99 persentil bilan o'lchanadi; energiya samaradorligi — bitta inferensga sarflangan joul yoki vatt birligiga to'g'ri keladigan operatsiyalar soni (TOPS/W); egallanadigan xotira hajmi; umumiy egalik qiymati (total cost of ownership, TCO).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 qanday loyihalash yuklamani raqamlar bilan ifodalashdan boshlanadi. Chuqur o'rganish modelining bitta inferensi uchun zarur bo'lgan suzuvchi nuqtali amallar soni (FLOP) model arxitekturasidan aniq hisoblanadi: konvolyutsiya qatlami uchun FLOP = 2  K_h  K_w  C_in  C_out  H_out  W_out, to'liq bog'langan qatlam uchun FLOP = 2  N_in  N_out. Masalan, YOLOv8n modeli 640×640 kirishda taxminan 8,7 GFLOP, YOLOv8s — 28,6 GFLOP, YOLOv8m — 78,9 GFLOP talab qiladi (ishlab chiquvchilar hujjatlaridagi taxminiy qiymatlar). 16 kamera va 10 kadr/sekund uchun jami 160 inferens/sekund kerak; YOLOv8s uchun bu 160  28,6 = 4576 GFLOP/s, ya'ni taxminan 4,6 TFLOP/s haqiqiy (erishiladigan) unumdorlik.</a:t>
            </a:r>
          </a:p>
          <a:p/>
          <a:p>
            <a:r>
              <a:t>Xotira trafigi ham shunchalik muhim. Modelning har bir qatlami o'z vaznlarini (weights) va faollashuvlarini (activations) xotiradan o'qiydi va yozadi. Agar vaznlar FP16 formatida bo'lsa, YOLOv8s'ning 11,2 million parametri 22,4 MB joy egallaydi; paketlash (batching) ishlatilmasa, har inferensda vaznlar qayta o'qiladi. Arifmetik intensivlik AI = FLOP / bayt — bitta xotiradan o'qilgan baytga to'g'ri keladigan amallar soni. Roofline modeliga ko'ra, erishiladigan unumdorlik P = min(P_peak, AI  B_mem) formulasi bilan chegaralanadi, bu yerda P_peak — cho'qqi hisoblash unumdorligi, B_mem — xotira o'tkazuvchanligi. «Tizza nuqtasi» (ridge point) AI_ridge = P_peak / B_mem dan past intensivlikdagi yuklamalar xotira bilan, yuqoridagilari hisoblash bilan cheklanadi. Ma'lumotlar markazi GPU'larida (masalan, H100 SXM: ~990 TFLOP/s FP16 dense, ~3,35 TB/s HBM3) tizza nuqtasi taxminan 300 FLOP/bayt; Jetson Orin NX (~50 TOPS INT8 sparse emas, 102 GB/s LPDDR5) uchun esa taxminan 500 FLOP/bayt. Demak, bir xil model turli platformalarda turli rejimda ishlashi mumkin — bu Co-design uchun muhim xulosa.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 apparat va dasturiy qarorlarni ketma-ket emas, balki iterativ va birgalikda qabul qilish metodologiyasi. Uning asosiy tamoyillari:</a:t>
            </a:r>
          </a:p>
          <a:p/>
          <a:p>
            <a:r>
              <a:t>Yuklamadan boshlash (workload-first). Avval model operatorlari profili tuziladi: qaysi operatorlar vaqtning necha foizini oladi. Agar 85 % vaqt konvolyutsiya va matritsa ko'paytirishga ketsa, Tensor Core yoki NPU hal qiluvchi; agar vaqtning katta qismi NMS (non-maximum suppression) kabi tarmoqlanuvchi mantiqqa ketsa, tezkor CPU yadrolari kerak.</a:t>
            </a:r>
          </a:p>
          <a:p/>
          <a:p>
            <a:r>
              <a:t>Aniqlik formatini apparatga moslashtirish. INT8 kvantlash Tensor Core'larda 2 baravar, Edge TPU'da esa yagona qo'llab-quvvatlanadigan format. Model INT8'ga sifatni yo'qotmasdan kvantlanmasa, Edge TPU avtomatik ravishda nomzodlar ro'yxatidan chiqadi.</a:t>
            </a:r>
          </a:p>
          <a:p/>
          <a:p>
            <a:r>
              <a:t>Operatorlar qamrovi (operator coverage). Har bir tezlatkich cheklangan operatorlar to'plamini qo'llab-quvvatlaydi. Qo'llab-quvvatlanmagan operator CPU'ga «tushib» qoladi (fallback) va butun grafikning tezligini pasaytiradi. Loyihalashda model grafigi va tezlatkich operatorlar ro'yxati solishtiriladi.</a:t>
            </a:r>
          </a:p>
          <a:p/>
          <a:p>
            <a:r>
              <a:t>Xotira iyerarxiyasini hisobga olish. On-chip SRAM (masalan, Edge TPU'da 8 MB, Orin'da 4 MB L2 + yadro keshlari) ga sig'adigan model va faollashuvlar tashqi DRAM'ga murojaatni keskin kamaytiradi.</a:t>
            </a:r>
          </a:p>
          <a:p/>
          <a:p>
            <a:r>
              <a:t>Butun tizim narxi va energiya byudjeti. Chekka qurilmada 15–25 Vt, serverda 300–700 Vt bir tezlatkich uchun. Sovutish, korpus, quvvat manbai ham loyihaning bir qismi.</a:t>
            </a:r>
          </a:p>
          <a:p/>
          <a:p>
            <a:r>
              <a:t>Iteratsiya. Birinchi tanlov prototipda o'lchanadi, natija talabga javob bermasa — model (masalan, kirish o'lchamini 640 dan 512 ga tushirish) yoki apparat (Orin NX → Orin AGX) o'zgartiriladi.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jadvalda mashg'ulotda solishtiriladigan uchta platformaning ochiq texnik tavsiflari keltirilgan (qiymatlar ishlab chiqaruvchilarning rasmiy ma'lumotlariga asoslangan, taxminiy; aniq raqam modul konfiguratsiyasi va quvvat rejimiga bog'liq).</a:t>
            </a:r>
          </a:p>
          <a:p/>
          <a:p>
            <a:r>
              <a:t>Jadvaldan ko'rinadiki, «eng kuchli» platforma har doim ham eng mos emas. A100 unumdorlikda ustun, lekin sexda joylashtirish, sovutish va narx bo'yicha talabga mos kelmaydi; Edge TPU juda arzon va tejamkor, lekin 160 inferens/sekund YOLOv8s yuklamasini ko'tara olmaydi (4 TOPS × ~50 % samaradorlik ≈ 2 TOPS haqiqiy, kerak esa 4,6 TOPS) va faqat INT8 model talab qiladi; Jetson Orin NX esa o'rta yo'l — apparat video dekoderi, sanoat harorati diapazoni, TensorRT qo'llab-quvvatlashi bilan talablarga eng yaqin.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Strukturaviy sxema — tizimning asosiy bloklari va ular orasidagi ma'lumot/boshqaruv oqimlarining tavsifi. AI tizimi uchun odatiy bloklar: kirish manbalari (IP-kameralar, RTSP), tarmoq kommutatori, ingest/dekodlash bloki, oldindan ishlov berish (resize, normalizatsiya), inferens dvigateli (TensorRT engine), keyingi ishlov berish (NMS, kuzatuv), biznes-mantiq (qoidalar, ogohlantirish), saqlash (hodisalar bazasi, video klip), monitoring (metrikalar, loglar), tashqi API. Har bir interfeys uchun protokol (RTSP/H.264, shared memory, gRPC, MQTT), o'tkazuvchanlik (Mbit/s yoki kadr/s) va kechikish byudjeti ko'rsatiladi. Kechikish byudjeti — umumiy 200 ms ni bloklar orasida taqsimlash: tarmoq va dekodlash 40 ms, oldindan ishlov 10 ms, inferens 60 ms, keyingi ishlov va mantiq 20 ms, zaxira 70 ms. Bunday taqsimot keyingi mashg'ulotlarda o'lchov natijalarini solishtirish uchun etalon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«SHV aniqlash tizimi uchun hisoblash platformasini tanlash va strukturaviy sxema ishlab chiqish».</a:t>
            </a:r>
          </a:p>
          <a:p/>
          <a:p>
            <a:r>
              <a:t>Talab qilinadigan muhit. Apparat: oddiy noutbuk yoki ish stantsiyasi (GPU shart emas). Dasturiy ta'minot: Python 3.10 yoki undan yuqori; kutubxonalar torch&gt;=2.1, ultralytics&gt;=8.1 (model FLOP hisobi uchun), pandas, tabulate. O'rnatish: pip install torch ultralytics pandas tabulate. Internet ulanishi — modellarning oldindan o'qitilgan vaznlarini yuklab olish uchun (bir marta). Vaqt: 2 akademik soat auditoriyada, hisobot —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ssenariy talablarini o'lchanadigan ko'rsatkichlarga aylantiring va har biriga og'irlik (1–5) bering. Quyidagi matritsa namuna; talaba o'z asoslashi bilan og'irliklarni o'zgartirishi mumkin.</a:t>
            </a:r>
          </a:p>
          <a:p/>
          <a:p>
            <a:r>
              <a:t>Nima bo'ldi va nega. Talablar matritsasi loyihalashni sub'ektiv bahsdan ob'ektiv taqqoslashga o'tkazadi. Og'irliklar buyurtmachi ustuvorliklarini aks ettiradi: kechikish va o'tkazuvchanlik — funksional talab (bajarilmasa tizim ishlamaydi), narx — iqtisodiy cheklov.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skript tanlangan YOLO variantlari uchun FLOP, parametrlar soni, vaznlar hajmi va talab qilinadigan jami unumdorlikni hisoblaydi.</a:t>
            </a:r>
          </a:p>
          <a:p/>
          <a:p>
            <a:r>
              <a:t>Kutilgan natija (taxminiy, ultralytics versiyasiga qarab ±5 %):</a:t>
            </a:r>
          </a:p>
          <a:p/>
          <a:p>
            <a:r>
              <a:t>Nima bo'ldi va nega. Skript modelning statik xususiyatlaridan kelib chiqib «nazariy» talabni beradi. Bu — yuqori chegaradan ancha past baho emas, aksincha, quyi chegara: real platformada dekodlash, xotira ko'chirish va operatorlar samaradorligi (odatda cho'qqining 30–60 %) tufayli haqiqiy talab 2–3 baravar yuqori bo'ladi. Shuning uchun platformani tanlashda «samaradorlik koeffitsiyenti» kiritiladi.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zaxira_koef — platformaning haqiqiy unumdorligi talabdan necha marta oshishi. 1 dan kichik qiymat (Edge TPU, CPU) — platforma yetarli emas; 3–5 oralig'i — sog'lom zaxira (pik yuklama, model yangilanishi, qo'shimcha kuzatuv algoritmi uchun); 50 dan katta (A100) — ortiqcha xarajat. Edge TPU uchun yechim bo'lishi mumkin edi: 16 kamerani 4 ta Coral modulga bo'lish va yolov8n INT8 ishlatish, lekin apparat dekoder yo'qligi CPU'ni band qiladi. Shu tahlil Orin NX ni asosiy nomzod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shaklda strukturaviy sxemani yozadi (rasm shart emas; blok ro'yxati va interfeyslar jadvali yetarli):</a:t>
            </a:r>
          </a:p>
          <a:p/>
          <a:p>
            <a:r>
              <a:t>Interfeyslar jadvali:</a:t>
            </a:r>
          </a:p>
          <a:p/>
          <a:p>
            <a:r>
              <a:t>Nima bo'ldi va nega. Sxema har bir qadamda «ma'lumot qayerda yotadi» savoliga javob beradi. Jetson'da NVDEC chiqishi to'g'ridan-to'g'ri GPU xotirasida qolishi (nol nusxalash, zero-copy) CPU–GPU ko'chirishlarini olib tashlaydi — bu Co-design'ning amaliy ko'rinishi: apparat imkoniyati (umumiy xotira) dasturiy yechimni (DeepStream yoki VPI quvuri)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Hisobotda tanlangan platforma, rad etilgan muqobillar sabablari va xavflar ro'yxati yoziladi. Namuna xavflar: INT8 kvantlashda mAP 1–2 foiz punkt pasayishi (A3 mashg'ulotida tekshiriladi); +40 °C muhitda Orin NX termal cheklov (throttling) tufayli 25 Vt rejimida barqaror ishlamasligi — passiv emas, faol sovutishli sanoat korpusi talab qilinadi; 16 oqimni bitta modulda dekodlash NVDEC chegarasiga yaqin — zaxira sifatida ikki modulga bo'lish rejasi.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(PDF yoki Markdown, 4–6 bet) quyidagilarni o'z ichiga oladi: (1) talablar matritsasi; (2) yuklama.csv jadvali va skript natijasi ekran tasviri; (3) platformalar taqqoslash jadvali va zaxira_koef izohi; (4) strukturaviy sxema matni va interfeyslar jadvali; (5) kechikish byudjeti taqsimoti; (6) xavflar va muqobil variantlar; (7) xulosa — bir xatboshida qaror asosi.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talaba ikkinchi ssenariy (masalan, 64 kamera, markaziy serverda ishlov) uchun ham tahlil o'tkazib, Edge va markazlashgan variantlarning TCO'sini 3 yilga solishtirsa.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ikki darajada talqin qilinadi. Birinchi daraja — miqdoriy: zaxira_koef va energiya ko'rsatkichlari platformalarni aniq tartiblaydi. Ko'rinib turibdiki, Jetson Orin NX talabni taxminan 5 baravar zaxira bilan qoplaydi, bu zaxira pik yuklama (barcha kameralarda bir vaqtda harakat), kuzatuv algoritmi va kelgusida model yangilanishi uchun kerak. AGX Orin 13 baravar zaxira beradi, lekin uch baravar qimmat; agar buyurtmachi kelajakda kameralar sonini 32–48 gacha oshirishni rejalashtirsa, AGX Orin oqilona bo'lishi mumkin — ya'ni qaror texnik emas, balki texnik-iqtisodiy.</a:t>
            </a:r>
          </a:p>
          <a:p/>
          <a:p>
            <a:r>
              <a:t>Ikkinchi daraja — sifatiy cheklovlar. Nazariy hisob bir qancha soddalashtirishlarga asoslanadi: INT8 TOPS va FP32 FLOP bir-biriga teng deb olindi, samaradorlik koeffitsiyenti 45–50 % deb taxmin qilindi, dekodlash va oldindan ishlov berish yuklamasi batafsil modellashtirilmadi. Real tizimda bu bahoni faqat prototip o'lchovlari tasdiqlaydi yoki rad etadi. Shu sababli A1 natijasi — yakuniy qaror emas, balki A2–A4 mashg'ulotlarida o'lchov bilan tekshiriladigan gipoteza. Xususan, A3 da INT8 kvantlash aniqlikka ta'siri va haqiqiy latency, A4 da esa Jetson'da butun quvur liniyasining o'tkazuvchanligi o'lchanadi.</a:t>
            </a:r>
          </a:p>
          <a:p/>
          <a:p>
            <a:r>
              <a:t>Muqobil yondashuvlar: (1) markazlashgan arxitektura — barcha kameralar oqimini serverdagi bitta GPU'ga yuborish; afzalligi — boshqaruv osonligi, kamchiligi — tarmoq yuklamasi (64 Mbit/s uzluksiz), yagona nosozlik nuqtasi, sex va server xonasi orasidagi kechikish; (2) gibrid — chekkada yengil model (yolov8n) birlamchi filtrlash, shubhali kadrlar serverda og'ir model bilan qayta tekshirish; bu Cloud–Edge taqqoslash A4 da chuqurlashtiriladi; (3) FPGA asosidagi yechim (masalan, AMD Kria KV260) — energiya samarador va deterministik kechikish, lekin ishlab chiqish murakkabligi va ekotizim cheklovlari yuqori.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Cho'qqi TOPS'ni haqiqiy unumdorlik deb qabul qilish. Ishlab chiqaruvchi ko'rsatadigan TOPS ko'pincha siyraklik (sparsity) hisobga olingan va ideal yuklama uchun. Har doim dense qiymatni oling va 30–60 % samaradorlik koeffitsiyentini qo'llang.</a:t>
            </a:r>
          </a:p>
          <a:p/>
          <a:p>
            <a:r>
              <a:t>Faqat inferensni hisoblash. Dekodlash, o'lcham o'zgartirish, NMS, kuzatuv va tarmoq ko'pincha inferens vaqtidan ko'p bo'ladi. Butun quvur liniyasi uchun kechikish byudjeti tuzing.</a:t>
            </a:r>
          </a:p>
          <a:p/>
          <a:p>
            <a:r>
              <a:t>Aniqlik formatini e'tiborsiz qoldirish. Edge TPU faqat INT8, ko'pgina NPU'lar FP16 ni qo'llamaydi. Platformani tanlashdan oldin modelni shu formatga kvantlash mumkinligini tekshiring.</a:t>
            </a:r>
          </a:p>
          <a:p/>
          <a:p>
            <a:r>
              <a:t>Operatorlar qamrovini tekshirmaslik. Model grafigidagi bitta qo'llab-quvvatlanmagan operator butun tezlatkichni foydasiz qilishi mumkin. ONNX eksport va tezlatkich kompilyatorining xabarnomalarini o'qing.</a:t>
            </a:r>
          </a:p>
          <a:p/>
          <a:p>
            <a:r>
              <a:t>Termal va mexanik muhitni unutish. 25 Vt chekka modul passiv radiator bilan +40 °C da throttling qiladi. Quvvat rejimini (nvpmodel) va sovutishni loyihaning qismi deb hisoblang.</a:t>
            </a:r>
          </a:p>
          <a:p/>
          <a:p>
            <a:r>
              <a:t>O'rtacha kechikishni hisobot qilish. Foydalanuvchi uchun p95/p99 muhim. Kechikish taqsimotining «dumini» (tail latency) o'lchang va byudjetni shu bo'yicha tuzing.</a:t>
            </a:r>
          </a:p>
          <a:p/>
          <a:p>
            <a:r>
              <a:t>TCO'ni faqat apparat narxi deb bilish. Elektr energiyasi, sovutish, texnik xizmat, dasturiy litsenziyalar va muhandis vaqti 3–5 yil davomida apparat narxidan oshib ketadi.</a:t>
            </a:r>
          </a:p>
          <a:p/>
          <a:p>
            <a:r>
              <a:t>Hujjatlashtirmaslik. Qaror asoslari (talablar matritsasi, rad etish sabablari) yozilmasa, 6 oydan keyin «nega aynan shu platforma?» savoliga hech kim javob bera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A1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intellektga asoslangan kompyuter tizimlari arxitekturasini tahlil qilish va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86a499801d0d5a2a.jpg"/>
          <p:cNvPicPr>
            <a:picLocks noChangeAspect="1"/>
          </p:cNvPicPr>
          <p:nvPr/>
        </p:nvPicPr>
        <p:blipFill>
          <a:blip r:embed="rId2"/>
          <a:srcRect l="18536" r="18536"/>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Courtesy of Science History Institute,  No Known Copyright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5a01db9c3f5ef7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Indrajit Das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amaliy mashg'ulotning maqsadi — magistrantlarda sun'iy intellektga asoslangan hisoblash tizimining arxitekturasini muhandislik nuqtai nazaridan tahlil qilish, apparat va dasturiy…</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Mashg'ulot yakunida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AI tizimining to'rt qatlamli arxitekturasini (ma'lumot → model → hisoblash platformasi → xizmat) ajratib, har bir qatlamning resurs talabini aniq ko'rsatkichlar (FLOP, bayt, millisekund,…</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Berilgan ish yuklamasi (workload) uchun arifmetik intensivlik (arithmetic intensity) va Roofline chegarasini hisoblab, tizim «hisoblash bilan cheklangan» yoki «xotira bilan cheklangan»…</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Kamida uchta hisoblash platformasining (ma'lumotlar markazi GPU, chekka (edge) moduli, ixtisoslashgan tezlatkich) texnik pasportini bir jadvalda solishtirib, talablar matritsasi asosida…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Hardware–Software Co-design tamoyillarini qo'llab, AI tizimining strukturaviy sxemasini matnli tavsif va interfeyslar ro'yxati ko'rinishida hujjatlashtiradi;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Python'da yuklama hisobi skriptini yozib, nazariy baholarni real o'lchovlar bilan solishtirish metodikasini qo'llaydi.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TN1 (AI tizimlari arxitekturasini tahlil qilish va loyihalash), TN2 (hisoblash platformalarini tanlash va baholash) hamda TN7 (muhandislik hujjatlarini tayyorlash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7cc566e19cb64ab.jpg"/>
          <p:cNvPicPr>
            <a:picLocks noChangeAspect="1"/>
          </p:cNvPicPr>
          <p:nvPr/>
        </p:nvPicPr>
        <p:blipFill>
          <a:blip r:embed="rId2"/>
          <a:srcRect t="3442" b="344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Peter Cooper Jr.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sun'iy intellekt tizimi — bu shunchaki o'qitilgan neyron tarmoq emas, balki ma'lumotlar oqimi, model, hisoblash platformasi, tarmoq, saqlash tizimi va ekspluatatsiya jarayonlarini o'z ichiga olgan murakkab muhandislik majmuasidir. Sanoat tajribasi…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Hardware–Software Co-design tushunchasi dastlab o'rnatilgan tizimlar (embedded systems) sohasida paydo bo'lgan: qaysi funksiyalarni apparatda (ASIC, FPGA), qaysilarini dasturda bajarish kerakligini loyihalashning dastlabki bosqichida birgalikda hal qilish.…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davomida biz real sanoat vazifasiga yaqin ssenariy ustida ishlaymiz: korxona video-kuzatuv tizimida shaxsiy himoya vositalari (SHV) ni real vaqtda aniqlash uchun AI tizimi loyihalanmoqda. Talablar: 16 ta kamera, har biri 1080p va 10 kadr/sekund;…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c5fd702c6f21dc6.jpg"/>
          <p:cNvPicPr>
            <a:picLocks noChangeAspect="1"/>
          </p:cNvPicPr>
          <p:nvPr/>
        </p:nvPicPr>
        <p:blipFill>
          <a:blip r:embed="rId2"/>
          <a:srcRect l="17514" r="1751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Auledas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AI tizimining qatlamli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Sun'iy intellektga asoslangan kompyuter tizimini (AI-enabled computer system) tahlil qilishda to'rt qatlamli model qulay: (1) ma'lumotlar qatlami — sensorlar, oqimlar, saqlash, oldindan ishlov berish; (2) model qatlami — neyron tarmoq arxitekturasi,…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Tahlilning asosiy ko'rsatkichlari quyidagilar: o'tkazuvchanlik (throughput) — birlik vaqtda ishlangan so'rovlar yoki kadrlar soni; kechikish (latency) — bitta so'rovning kirishdan…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 yuklamasini xarakterlash: FLOP, bayt va arifmetik intensivlik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Har qanday loyihalash yuklamani raqamlar bilan ifodalashdan boshlanadi. Chuqur o'rganish modelining bitta inferensi uchun zarur bo'lgan suzuvchi nuqtali amallar soni (FLOP) model arxitekturasidan aniq hisoblanadi: konvolyutsiya qatlami uchun FLOP = 2  K_h …</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Xotira trafigi ham shunchalik muhim. Modelning har bir qatlami o'z vaznlarini (weights) va faollashuvlarini (activations) xotiradan o'qiydi va yozadi. Agar vaznlar FP16 formatida bo'lsa, YOLOv8s'ning 11,2 million parametri 22,4 MB joy egallaydi; paketlash…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Co-design — apparat va dasturiy qarorlarni ketma-ket emas, balki iterativ va birgalikda qabul qilish metodologiyasi.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Yuklamadan boshlash (workload-first). Avval model operatorlari profili tuziladi: qaysi operatorlar vaqtning necha foizini oladi. Agar 85 % vaqt konvolyutsiya va matritsa ko'paytirishga…</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Aniqlik formatini apparatga moslashtirish. INT8 kvantlash Tensor Core'larda 2 baravar, Edge TPU'da esa yagona qo'llab-quvvatlanadigan format. Model INT8'ga sifatni yo'qotmasdan…</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Operatorlar qamrovi (operator coverage). Har bir tezlatkich cheklangan operatorlar to'plamini qo'llab-quvvatlaydi. Qo'llab-quvvatlanmagan operator CPU'ga «tushib» qoladi (fallback) va butun…</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Xotira iyerarxiyasini hisobga olish. On-chip SRAM (masalan, Edge TPU'da 8 MB, Orin'da 4 MB L2 + yadro keshlari) ga sig'adigan model va faollashuvlar tashqi DRAM'ga murojaatni keskin…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Hardware–Software Co-design tamoyillari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Butun tizim narxi va energiya byudjeti. Chekka qurilmada 15–25 Vt, serverda 300–700 Vt bir tezlatkich uchun. Sovutish, korpus, quvvat manbai ham loyihaning bir qismi.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Iteratsiya. Birinchi tanlov prototipda o'lchanadi, natija talabga javob bermasa — model (masalan, kirish o'lchamini 640 dan 512 ga tushirish) yoki apparat (Orin NX → Orin AGX)…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jadvalda mashg'ulotda solishtiriladigan uchta platformaning ochiq texnik tavsiflari keltirilgan (qiymatlar ishlab chiqaruvchilarning rasmiy ma'lumotlariga asoslangan,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Jadvaldan ko'rinadiki, «eng kuchli» platforma har doim ham eng mos emas. A100 unumdorlikda ustun, lekin sexda joylashtirish, sovutish va narx bo'yicha talabga mos kelmaydi; Edge TPU juda arzon va tejamkor, lekin 160 inferens/sekund YOLOv8s yuklamasini ko'tara…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Sinf</a:t>
                      </a:r>
                    </a:p>
                  </a:txBody>
                  <a:tcPr>
                    <a:solidFill>
                      <a:srgbClr val="F1F4F8"/>
                    </a:solidFill>
                  </a:tcPr>
                </a:tc>
                <a:tc>
                  <a:txBody>
                    <a:bodyPr/>
                    <a:lstStyle/>
                    <a:p>
                      <a:r>
                        <a:rPr sz="1200" b="0">
                          <a:solidFill>
                            <a:srgbClr val="1B2430"/>
                          </a:solidFill>
                          <a:latin typeface="Calibri"/>
                        </a:rPr>
                        <a:t>Chekka modul (SoM)</a:t>
                      </a:r>
                    </a:p>
                  </a:txBody>
                  <a:tcPr>
                    <a:solidFill>
                      <a:srgbClr val="F1F4F8"/>
                    </a:solidFill>
                  </a:tcPr>
                </a:tc>
                <a:tc>
                  <a:txBody>
                    <a:bodyPr/>
                    <a:lstStyle/>
                    <a:p>
                      <a:r>
                        <a:rPr sz="1200" b="0">
                          <a:solidFill>
                            <a:srgbClr val="1B2430"/>
                          </a:solidFill>
                          <a:latin typeface="Calibri"/>
                        </a:rPr>
                        <a:t>Ma'lumotlar markazi GPU</a:t>
                      </a:r>
                    </a:p>
                  </a:txBody>
                  <a:tcPr>
                    <a:solidFill>
                      <a:srgbClr val="F1F4F8"/>
                    </a:solidFill>
                  </a:tcPr>
                </a:tc>
                <a:tc>
                  <a:txBody>
                    <a:bodyPr/>
                    <a:lstStyle/>
                    <a:p>
                      <a:r>
                        <a:rPr sz="1200" b="0">
                          <a:solidFill>
                            <a:srgbClr val="1B2430"/>
                          </a:solidFill>
                          <a:latin typeface="Calibri"/>
                        </a:rPr>
                        <a:t>Chekka ASIC</a:t>
                      </a:r>
                    </a:p>
                  </a:txBody>
                  <a:tcPr>
                    <a:solidFill>
                      <a:srgbClr val="F1F4F8"/>
                    </a:solidFill>
                  </a:tcPr>
                </a:tc>
              </a:tr>
              <a:tr h="520000">
                <a:tc>
                  <a:txBody>
                    <a:bodyPr/>
                    <a:lstStyle/>
                    <a:p>
                      <a:r>
                        <a:rPr sz="1200" b="0">
                          <a:solidFill>
                            <a:srgbClr val="1B2430"/>
                          </a:solidFill>
                          <a:latin typeface="Calibri"/>
                        </a:rPr>
                        <a:t>Cho'qqi unumdorlik</a:t>
                      </a:r>
                    </a:p>
                  </a:txBody>
                  <a:tcPr>
                    <a:solidFill>
                      <a:srgbClr val="FFFFFF"/>
                    </a:solidFill>
                  </a:tcPr>
                </a:tc>
                <a:tc>
                  <a:txBody>
                    <a:bodyPr/>
                    <a:lstStyle/>
                    <a:p>
                      <a:r>
                        <a:rPr sz="1200" b="0">
                          <a:solidFill>
                            <a:srgbClr val="1B2430"/>
                          </a:solidFill>
                          <a:latin typeface="Calibri"/>
                        </a:rPr>
                        <a:t>~100 TOPS INT8 (sparse), ~50 TOPS dense</a:t>
                      </a:r>
                    </a:p>
                  </a:txBody>
                  <a:tcPr>
                    <a:solidFill>
                      <a:srgbClr val="FFFFFF"/>
                    </a:solidFill>
                  </a:tcPr>
                </a:tc>
                <a:tc>
                  <a:txBody>
                    <a:bodyPr/>
                    <a:lstStyle/>
                    <a:p>
                      <a:r>
                        <a:rPr sz="1200" b="0">
                          <a:solidFill>
                            <a:srgbClr val="1B2430"/>
                          </a:solidFill>
                          <a:latin typeface="Calibri"/>
                        </a:rPr>
                        <a:t>312 TFLOP/s FP16 dense, 624 TOPS INT8 dense</a:t>
                      </a:r>
                    </a:p>
                  </a:txBody>
                  <a:tcPr>
                    <a:solidFill>
                      <a:srgbClr val="FFFFFF"/>
                    </a:solidFill>
                  </a:tcPr>
                </a:tc>
                <a:tc>
                  <a:txBody>
                    <a:bodyPr/>
                    <a:lstStyle/>
                    <a:p>
                      <a:r>
                        <a:rPr sz="1200" b="0">
                          <a:solidFill>
                            <a:srgbClr val="1B2430"/>
                          </a:solidFill>
                          <a:latin typeface="Calibri"/>
                        </a:rPr>
                        <a:t>4 TOPS INT8</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16 GB LPDDR5, 102 GB/s</a:t>
                      </a:r>
                    </a:p>
                  </a:txBody>
                  <a:tcPr>
                    <a:solidFill>
                      <a:srgbClr val="F1F4F8"/>
                    </a:solidFill>
                  </a:tcPr>
                </a:tc>
                <a:tc>
                  <a:txBody>
                    <a:bodyPr/>
                    <a:lstStyle/>
                    <a:p>
                      <a:r>
                        <a:rPr sz="1200" b="0">
                          <a:solidFill>
                            <a:srgbClr val="1B2430"/>
                          </a:solidFill>
                          <a:latin typeface="Calibri"/>
                        </a:rPr>
                        <a:t>80 GB HBM2e, ~1,9 TB/s</a:t>
                      </a:r>
                    </a:p>
                  </a:txBody>
                  <a:tcPr>
                    <a:solidFill>
                      <a:srgbClr val="F1F4F8"/>
                    </a:solidFill>
                  </a:tcPr>
                </a:tc>
                <a:tc>
                  <a:txBody>
                    <a:bodyPr/>
                    <a:lstStyle/>
                    <a:p>
                      <a:r>
                        <a:rPr sz="1200" b="0">
                          <a:solidFill>
                            <a:srgbClr val="1B2430"/>
                          </a:solidFill>
                          <a:latin typeface="Calibri"/>
                        </a:rPr>
                        <a:t>8 MB on-chip SRAM, host DRAM</a:t>
                      </a:r>
                    </a:p>
                  </a:txBody>
                  <a:tcPr>
                    <a:solidFill>
                      <a:srgbClr val="F1F4F8"/>
                    </a:solidFill>
                  </a:tcPr>
                </a:tc>
              </a:tr>
              <a:tr h="520000">
                <a:tc>
                  <a:txBody>
                    <a:bodyPr/>
                    <a:lstStyle/>
                    <a:p>
                      <a:r>
                        <a:rPr sz="1200" b="0">
                          <a:solidFill>
                            <a:srgbClr val="1B2430"/>
                          </a:solidFill>
                          <a:latin typeface="Calibri"/>
                        </a:rPr>
                        <a:t>Quvvat</a:t>
                      </a:r>
                    </a:p>
                  </a:txBody>
                  <a:tcPr>
                    <a:solidFill>
                      <a:srgbClr val="FFFFFF"/>
                    </a:solidFill>
                  </a:tcPr>
                </a:tc>
                <a:tc>
                  <a:txBody>
                    <a:bodyPr/>
                    <a:lstStyle/>
                    <a:p>
                      <a:r>
                        <a:rPr sz="1200" b="0">
                          <a:solidFill>
                            <a:srgbClr val="1B2430"/>
                          </a:solidFill>
                          <a:latin typeface="Calibri"/>
                        </a:rPr>
                        <a:t>10–25 Vt (sozlanadi)</a:t>
                      </a:r>
                    </a:p>
                  </a:txBody>
                  <a:tcPr>
                    <a:solidFill>
                      <a:srgbClr val="FFFFFF"/>
                    </a:solidFill>
                  </a:tcPr>
                </a:tc>
                <a:tc>
                  <a:txBody>
                    <a:bodyPr/>
                    <a:lstStyle/>
                    <a:p>
                      <a:r>
                        <a:rPr sz="1200" b="0">
                          <a:solidFill>
                            <a:srgbClr val="1B2430"/>
                          </a:solidFill>
                          <a:latin typeface="Calibri"/>
                        </a:rPr>
                        <a:t>300 Vt TDP</a:t>
                      </a:r>
                    </a:p>
                  </a:txBody>
                  <a:tcPr>
                    <a:solidFill>
                      <a:srgbClr val="FFFFFF"/>
                    </a:solidFill>
                  </a:tcPr>
                </a:tc>
                <a:tc>
                  <a:txBody>
                    <a:bodyPr/>
                    <a:lstStyle/>
                    <a:p>
                      <a:r>
                        <a:rPr sz="1200" b="0">
                          <a:solidFill>
                            <a:srgbClr val="1B2430"/>
                          </a:solidFill>
                          <a:latin typeface="Calibri"/>
                        </a:rPr>
                        <a:t>~2 Vt</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~4 TOPS/W (INT8 dense)</a:t>
                      </a:r>
                    </a:p>
                  </a:txBody>
                  <a:tcPr>
                    <a:solidFill>
                      <a:srgbClr val="F1F4F8"/>
                    </a:solidFill>
                  </a:tcPr>
                </a:tc>
                <a:tc>
                  <a:txBody>
                    <a:bodyPr/>
                    <a:lstStyle/>
                    <a:p>
                      <a:r>
                        <a:rPr sz="1200" b="0">
                          <a:solidFill>
                            <a:srgbClr val="1B2430"/>
                          </a:solidFill>
                          <a:latin typeface="Calibri"/>
                        </a:rPr>
                        <a:t>~2 TOPS/W (INT8 dense)</a:t>
                      </a:r>
                    </a:p>
                  </a:txBody>
                  <a:tcPr>
                    <a:solidFill>
                      <a:srgbClr val="F1F4F8"/>
                    </a:solidFill>
                  </a:tcPr>
                </a:tc>
                <a:tc>
                  <a:txBody>
                    <a:bodyPr/>
                    <a:lstStyle/>
                    <a:p>
                      <a:r>
                        <a:rPr sz="1200" b="0">
                          <a:solidFill>
                            <a:srgbClr val="1B2430"/>
                          </a:solidFill>
                          <a:latin typeface="Calibri"/>
                        </a:rPr>
                        <a:t>~2 TOPS/W</a:t>
                      </a:r>
                    </a:p>
                  </a:txBody>
                  <a:tcPr>
                    <a:solidFill>
                      <a:srgbClr val="F1F4F8"/>
                    </a:solidFill>
                  </a:tcPr>
                </a:tc>
              </a:tr>
              <a:tr h="520000">
                <a:tc>
                  <a:txBody>
                    <a:bodyPr/>
                    <a:lstStyle/>
                    <a:p>
                      <a:r>
                        <a:rPr sz="1200" b="0">
                          <a:solidFill>
                            <a:srgbClr val="1B2430"/>
                          </a:solidFill>
                          <a:latin typeface="Calibri"/>
                        </a:rPr>
                        <a:t>Qo'llab-quvvatlanadigan formatlar</a:t>
                      </a:r>
                    </a:p>
                  </a:txBody>
                  <a:tcPr>
                    <a:solidFill>
                      <a:srgbClr val="FFFFFF"/>
                    </a:solidFill>
                  </a:tcPr>
                </a:tc>
                <a:tc>
                  <a:txBody>
                    <a:bodyPr/>
                    <a:lstStyle/>
                    <a:p>
                      <a:r>
                        <a:rPr sz="1200" b="0">
                          <a:solidFill>
                            <a:srgbClr val="1B2430"/>
                          </a:solidFill>
                          <a:latin typeface="Calibri"/>
                        </a:rPr>
                        <a:t>FP32, FP16, INT8, (TF32 Ampere)</a:t>
                      </a:r>
                    </a:p>
                  </a:txBody>
                  <a:tcPr>
                    <a:solidFill>
                      <a:srgbClr val="FFFFFF"/>
                    </a:solidFill>
                  </a:tcPr>
                </a:tc>
                <a:tc>
                  <a:txBody>
                    <a:bodyPr/>
                    <a:lstStyle/>
                    <a:p>
                      <a:r>
                        <a:rPr sz="1200" b="0">
                          <a:solidFill>
                            <a:srgbClr val="1B2430"/>
                          </a:solidFill>
                          <a:latin typeface="Calibri"/>
                        </a:rPr>
                        <a:t>FP64, TF32, FP16, BF16, INT8</a:t>
                      </a:r>
                    </a:p>
                  </a:txBody>
                  <a:tcPr>
                    <a:solidFill>
                      <a:srgbClr val="FFFFFF"/>
                    </a:solidFill>
                  </a:tcPr>
                </a:tc>
                <a:tc>
                  <a:txBody>
                    <a:bodyPr/>
                    <a:lstStyle/>
                    <a:p>
                      <a:r>
                        <a:rPr sz="1200" b="0">
                          <a:solidFill>
                            <a:srgbClr val="1B2430"/>
                          </a:solidFill>
                          <a:latin typeface="Calibri"/>
                        </a:rPr>
                        <a:t>faqat INT8 (to'liq kvantlangan TFLite)</a:t>
                      </a:r>
                    </a:p>
                  </a:txBody>
                  <a:tcPr>
                    <a:solidFill>
                      <a:srgbClr val="FFFFFF"/>
                    </a:solidFill>
                  </a:tcPr>
                </a:tc>
              </a:tr>
              <a:tr h="520000">
                <a:tc>
                  <a:txBody>
                    <a:bodyPr/>
                    <a:lstStyle/>
                    <a:p>
                      <a:r>
                        <a:rPr sz="1200" b="0">
                          <a:solidFill>
                            <a:srgbClr val="1B2430"/>
                          </a:solidFill>
                          <a:latin typeface="Calibri"/>
                        </a:rPr>
                        <a:t>Dasturiy stek</a:t>
                      </a:r>
                    </a:p>
                  </a:txBody>
                  <a:tcPr>
                    <a:solidFill>
                      <a:srgbClr val="F1F4F8"/>
                    </a:solidFill>
                  </a:tcPr>
                </a:tc>
                <a:tc>
                  <a:txBody>
                    <a:bodyPr/>
                    <a:lstStyle/>
                    <a:p>
                      <a:r>
                        <a:rPr sz="1200" b="0">
                          <a:solidFill>
                            <a:srgbClr val="1B2430"/>
                          </a:solidFill>
                          <a:latin typeface="Calibri"/>
                        </a:rPr>
                        <a:t>JetPack, CUDA, TensorRT, DeepStream</a:t>
                      </a:r>
                    </a:p>
                  </a:txBody>
                  <a:tcPr>
                    <a:solidFill>
                      <a:srgbClr val="F1F4F8"/>
                    </a:solidFill>
                  </a:tcPr>
                </a:tc>
                <a:tc>
                  <a:txBody>
                    <a:bodyPr/>
                    <a:lstStyle/>
                    <a:p>
                      <a:r>
                        <a:rPr sz="1200" b="0">
                          <a:solidFill>
                            <a:srgbClr val="1B2430"/>
                          </a:solidFill>
                          <a:latin typeface="Calibri"/>
                        </a:rPr>
                        <a:t>CUDA, TensorRT, Triton</a:t>
                      </a:r>
                    </a:p>
                  </a:txBody>
                  <a:tcPr>
                    <a:solidFill>
                      <a:srgbClr val="F1F4F8"/>
                    </a:solidFill>
                  </a:tcPr>
                </a:tc>
                <a:tc>
                  <a:txBody>
                    <a:bodyPr/>
                    <a:lstStyle/>
                    <a:p>
                      <a:r>
                        <a:rPr sz="1200" b="0">
                          <a:solidFill>
                            <a:srgbClr val="1B2430"/>
                          </a:solidFill>
                          <a:latin typeface="Calibri"/>
                        </a:rPr>
                        <a:t>TFLite, libedgetpu, PyCoral</a:t>
                      </a:r>
                    </a:p>
                  </a:txBody>
                  <a:tcPr>
                    <a:solidFill>
                      <a:srgbClr val="F1F4F8"/>
                    </a:solidFill>
                  </a:tcPr>
                </a:tc>
              </a:tr>
              <a:tr h="520000">
                <a:tc>
                  <a:txBody>
                    <a:bodyPr/>
                    <a:lstStyle/>
                    <a:p>
                      <a:r>
                        <a:rPr sz="1200" b="0">
                          <a:solidFill>
                            <a:srgbClr val="1B2430"/>
                          </a:solidFill>
                          <a:latin typeface="Calibri"/>
                        </a:rPr>
                        <a:t>Video dekodlash</a:t>
                      </a:r>
                    </a:p>
                  </a:txBody>
                  <a:tcPr>
                    <a:solidFill>
                      <a:srgbClr val="FFFFFF"/>
                    </a:solidFill>
                  </a:tcPr>
                </a:tc>
                <a:tc>
                  <a:txBody>
                    <a:bodyPr/>
                    <a:lstStyle/>
                    <a:p>
                      <a:r>
                        <a:rPr sz="1200" b="0">
                          <a:solidFill>
                            <a:srgbClr val="1B2430"/>
                          </a:solidFill>
                          <a:latin typeface="Calibri"/>
                        </a:rPr>
                        <a:t>Apparat NVDEC (bir nechta 1080p30 oqim)</a:t>
                      </a:r>
                    </a:p>
                  </a:txBody>
                  <a:tcPr>
                    <a:solidFill>
                      <a:srgbClr val="FFFFFF"/>
                    </a:solidFill>
                  </a:tcPr>
                </a:tc>
                <a:tc>
                  <a:txBody>
                    <a:bodyPr/>
                    <a:lstStyle/>
                    <a:p>
                      <a:r>
                        <a:rPr sz="1200" b="0">
                          <a:solidFill>
                            <a:srgbClr val="1B2430"/>
                          </a:solidFill>
                          <a:latin typeface="Calibri"/>
                        </a:rPr>
                        <a:t>NVDEC (5 ta)</a:t>
                      </a:r>
                    </a:p>
                  </a:txBody>
                  <a:tcPr>
                    <a:solidFill>
                      <a:srgbClr val="FFFFFF"/>
                    </a:solidFill>
                  </a:tcPr>
                </a:tc>
                <a:tc>
                  <a:txBody>
                    <a:bodyPr/>
                    <a:lstStyle/>
                    <a:p>
                      <a:r>
                        <a:rPr sz="1200" b="0">
                          <a:solidFill>
                            <a:srgbClr val="1B2430"/>
                          </a:solidFill>
                          <a:latin typeface="Calibri"/>
                        </a:rPr>
                        <a:t>Yo'q (host CPU)</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Hisoblash platformalarining texnik tavsiflari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NVIDIA Jetson Orin NX 16 GB</a:t>
                      </a:r>
                    </a:p>
                  </a:txBody>
                  <a:tcPr>
                    <a:solidFill>
                      <a:srgbClr val="2D5C8F"/>
                    </a:solidFill>
                  </a:tcPr>
                </a:tc>
                <a:tc>
                  <a:txBody>
                    <a:bodyPr/>
                    <a:lstStyle/>
                    <a:p>
                      <a:r>
                        <a:rPr sz="1200" b="1">
                          <a:solidFill>
                            <a:srgbClr val="FFFFFF"/>
                          </a:solidFill>
                          <a:latin typeface="Calibri"/>
                        </a:rPr>
                        <a:t>NVIDIA A100 PCIe 80 GB</a:t>
                      </a:r>
                    </a:p>
                  </a:txBody>
                  <a:tcPr>
                    <a:solidFill>
                      <a:srgbClr val="2D5C8F"/>
                    </a:solidFill>
                  </a:tcPr>
                </a:tc>
                <a:tc>
                  <a:txBody>
                    <a:bodyPr/>
                    <a:lstStyle/>
                    <a:p>
                      <a:r>
                        <a:rPr sz="1200" b="1">
                          <a:solidFill>
                            <a:srgbClr val="FFFFFF"/>
                          </a:solidFill>
                          <a:latin typeface="Calibri"/>
                        </a:rPr>
                        <a:t>Google Coral Edge TPU (USB/M.2)</a:t>
                      </a:r>
                    </a:p>
                  </a:txBody>
                  <a:tcPr>
                    <a:solidFill>
                      <a:srgbClr val="2D5C8F"/>
                    </a:solidFill>
                  </a:tcPr>
                </a:tc>
              </a:tr>
              <a:tr h="520000">
                <a:tc>
                  <a:txBody>
                    <a:bodyPr/>
                    <a:lstStyle/>
                    <a:p>
                      <a:r>
                        <a:rPr sz="1200" b="0">
                          <a:solidFill>
                            <a:srgbClr val="1B2430"/>
                          </a:solidFill>
                          <a:latin typeface="Calibri"/>
                        </a:rPr>
                        <a:t>Taxminiy narx</a:t>
                      </a:r>
                    </a:p>
                  </a:txBody>
                  <a:tcPr>
                    <a:solidFill>
                      <a:srgbClr val="F1F4F8"/>
                    </a:solidFill>
                  </a:tcPr>
                </a:tc>
                <a:tc>
                  <a:txBody>
                    <a:bodyPr/>
                    <a:lstStyle/>
                    <a:p>
                      <a:r>
                        <a:rPr sz="1200" b="0">
                          <a:solidFill>
                            <a:srgbClr val="1B2430"/>
                          </a:solidFill>
                          <a:latin typeface="Calibri"/>
                        </a:rPr>
                        <a:t>500–700 AQSh dollari (modul + plata)</a:t>
                      </a:r>
                    </a:p>
                  </a:txBody>
                  <a:tcPr>
                    <a:solidFill>
                      <a:srgbClr val="F1F4F8"/>
                    </a:solidFill>
                  </a:tcPr>
                </a:tc>
                <a:tc>
                  <a:txBody>
                    <a:bodyPr/>
                    <a:lstStyle/>
                    <a:p>
                      <a:r>
                        <a:rPr sz="1200" b="0">
                          <a:solidFill>
                            <a:srgbClr val="1B2430"/>
                          </a:solidFill>
                          <a:latin typeface="Calibri"/>
                        </a:rPr>
                        <a:t>10 000+ AQSh dollari</a:t>
                      </a:r>
                    </a:p>
                  </a:txBody>
                  <a:tcPr>
                    <a:solidFill>
                      <a:srgbClr val="F1F4F8"/>
                    </a:solidFill>
                  </a:tcPr>
                </a:tc>
                <a:tc>
                  <a:txBody>
                    <a:bodyPr/>
                    <a:lstStyle/>
                    <a:p>
                      <a:r>
                        <a:rPr sz="1200" b="0">
                          <a:solidFill>
                            <a:srgbClr val="1B2430"/>
                          </a:solidFill>
                          <a:latin typeface="Calibri"/>
                        </a:rPr>
                        <a:t>60–100 AQSh dollari</a:t>
                      </a:r>
                    </a:p>
                  </a:txBody>
                  <a:tcPr>
                    <a:solidFill>
                      <a:srgbClr val="F1F4F8"/>
                    </a:solidFill>
                  </a:tcPr>
                </a:tc>
              </a:tr>
              <a:tr h="520000">
                <a:tc>
                  <a:txBody>
                    <a:bodyPr/>
                    <a:lstStyle/>
                    <a:p>
                      <a:r>
                        <a:rPr sz="1200" b="0">
                          <a:solidFill>
                            <a:srgbClr val="1B2430"/>
                          </a:solidFill>
                          <a:latin typeface="Calibri"/>
                        </a:rPr>
                        <a:t>Ish harorati</a:t>
                      </a:r>
                    </a:p>
                  </a:txBody>
                  <a:tcPr>
                    <a:solidFill>
                      <a:srgbClr val="FFFFFF"/>
                    </a:solidFill>
                  </a:tcPr>
                </a:tc>
                <a:tc>
                  <a:txBody>
                    <a:bodyPr/>
                    <a:lstStyle/>
                    <a:p>
                      <a:r>
                        <a:rPr sz="1200" b="0">
                          <a:solidFill>
                            <a:srgbClr val="1B2430"/>
                          </a:solidFill>
                          <a:latin typeface="Calibri"/>
                        </a:rPr>
                        <a:t>−25…+80 °C (sanoat variantlari)</a:t>
                      </a:r>
                    </a:p>
                  </a:txBody>
                  <a:tcPr>
                    <a:solidFill>
                      <a:srgbClr val="FFFFFF"/>
                    </a:solidFill>
                  </a:tcPr>
                </a:tc>
                <a:tc>
                  <a:txBody>
                    <a:bodyPr/>
                    <a:lstStyle/>
                    <a:p>
                      <a:r>
                        <a:rPr sz="1200" b="0">
                          <a:solidFill>
                            <a:srgbClr val="1B2430"/>
                          </a:solidFill>
                          <a:latin typeface="Calibri"/>
                        </a:rPr>
                        <a:t>Ma'lumotlar markazi muhiti</a:t>
                      </a:r>
                    </a:p>
                  </a:txBody>
                  <a:tcPr>
                    <a:solidFill>
                      <a:srgbClr val="FFFFFF"/>
                    </a:solidFill>
                  </a:tcPr>
                </a:tc>
                <a:tc>
                  <a:txBody>
                    <a:bodyPr/>
                    <a:lstStyle/>
                    <a:p>
                      <a:r>
                        <a:rPr sz="1200" b="0">
                          <a:solidFill>
                            <a:srgbClr val="1B2430"/>
                          </a:solidFill>
                          <a:latin typeface="Calibri"/>
                        </a:rPr>
                        <a:t>0…+70 °C (sanoat: kengroq)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Strukturaviy sxema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Strukturaviy sxema — tizimning asosiy bloklari va ular orasidagi ma'lumot/boshqaruv oqimlarining tavsifi. AI tizimi uchun odatiy bloklar: kirish manbalari (IP-kameralar, RTSP), tarmoq kommutatori, ingest/dekodlash bloki, oldindan ishlov berish (resize,…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d278e4f1eeea9c6.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Daniel Schwen · Wikimedia Commons · CC BY-SA 2.5</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Laboratoriya topshirig'i: «SHV aniqlash tizimi uchun hisoblash platformasini tanlash va strukturaviy sxema ishlab chiqish».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Talab qilinadigan muhit. Apparat: oddiy noutbuk yoki ish stantsiyasi (GPU shart emas). Dasturiy ta'minot: Python 3.10 yoki undan yuqori; kutubxonalar torch&gt;=2.1, ultralytics&gt;=8.1 (model FLOP hisobi uchun), pandas, tabulate.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Avval ssenariy talablarini o'lchanadigan ko'rsatkichlarga aylantiring va har biriga og'irlik (1–5) bering. Quyidagi matritsa namuna; talaba o'z asoslashi bilan og'irliklarni o'zgartirishi mumkin.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Talablar matritsasi loyihalashni sub'ektiv bahsdan ob'ektiv taqqoslashga o'tkazadi. Og'irliklar buyurtmachi ustuvorliklarini aks ettiradi: kechikish va o'tkazuvchanlik — funksional talab (bajarilmasa tizim ishlamaydi), narx — iqtisodiy…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Talablar matritsasini tuzish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Talab</a:t>
                      </a:r>
                    </a:p>
                  </a:txBody>
                  <a:tcPr>
                    <a:solidFill>
                      <a:srgbClr val="2D5C8F"/>
                    </a:solidFill>
                  </a:tcPr>
                </a:tc>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Chegaraviy qiymat</a:t>
                      </a:r>
                    </a:p>
                  </a:txBody>
                  <a:tcPr>
                    <a:solidFill>
                      <a:srgbClr val="2D5C8F"/>
                    </a:solidFill>
                  </a:tcPr>
                </a:tc>
                <a:tc>
                  <a:txBody>
                    <a:bodyPr/>
                    <a:lstStyle/>
                    <a:p>
                      <a:r>
                        <a:rPr sz="1400" b="1">
                          <a:solidFill>
                            <a:srgbClr val="FFFFFF"/>
                          </a:solidFill>
                          <a:latin typeface="Calibri"/>
                        </a:rPr>
                        <a:t>Og'irlik</a:t>
                      </a:r>
                    </a:p>
                  </a:txBody>
                  <a:tcPr>
                    <a:solidFill>
                      <a:srgbClr val="2D5C8F"/>
                    </a:solidFill>
                  </a:tcPr>
                </a:tc>
              </a:tr>
              <a:tr h="520000">
                <a:tc>
                  <a:txBody>
                    <a:bodyPr/>
                    <a:lstStyle/>
                    <a:p>
                      <a:r>
                        <a:rPr sz="1400" b="0">
                          <a:solidFill>
                            <a:srgbClr val="1B2430"/>
                          </a:solidFill>
                          <a:latin typeface="Calibri"/>
                        </a:rPr>
                        <a:t>O'tkazuvchanlik</a:t>
                      </a:r>
                    </a:p>
                  </a:txBody>
                  <a:tcPr>
                    <a:solidFill>
                      <a:srgbClr val="F1F4F8"/>
                    </a:solidFill>
                  </a:tcPr>
                </a:tc>
                <a:tc>
                  <a:txBody>
                    <a:bodyPr/>
                    <a:lstStyle/>
                    <a:p>
                      <a:r>
                        <a:rPr sz="1400" b="0">
                          <a:solidFill>
                            <a:srgbClr val="1B2430"/>
                          </a:solidFill>
                          <a:latin typeface="Calibri"/>
                        </a:rPr>
                        <a:t>inferens/s</a:t>
                      </a:r>
                    </a:p>
                  </a:txBody>
                  <a:tcPr>
                    <a:solidFill>
                      <a:srgbClr val="F1F4F8"/>
                    </a:solidFill>
                  </a:tcPr>
                </a:tc>
                <a:tc>
                  <a:txBody>
                    <a:bodyPr/>
                    <a:lstStyle/>
                    <a:p>
                      <a:r>
                        <a:rPr sz="1400" b="0">
                          <a:solidFill>
                            <a:srgbClr val="1B2430"/>
                          </a:solidFill>
                          <a:latin typeface="Calibri"/>
                        </a:rPr>
                        <a:t>≥ 160 (YOLOv8s, 640)</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Uchdan-uchga kechikish</a:t>
                      </a:r>
                    </a:p>
                  </a:txBody>
                  <a:tcPr>
                    <a:solidFill>
                      <a:srgbClr val="FFFFFF"/>
                    </a:solidFill>
                  </a:tcPr>
                </a:tc>
                <a:tc>
                  <a:txBody>
                    <a:bodyPr/>
                    <a:lstStyle/>
                    <a:p>
                      <a:r>
                        <a:rPr sz="1400" b="0">
                          <a:solidFill>
                            <a:srgbClr val="1B2430"/>
                          </a:solidFill>
                          <a:latin typeface="Calibri"/>
                        </a:rPr>
                        <a:t>ms (p95)</a:t>
                      </a:r>
                    </a:p>
                  </a:txBody>
                  <a:tcPr>
                    <a:solidFill>
                      <a:srgbClr val="FFFFFF"/>
                    </a:solidFill>
                  </a:tcPr>
                </a:tc>
                <a:tc>
                  <a:txBody>
                    <a:bodyPr/>
                    <a:lstStyle/>
                    <a:p>
                      <a:r>
                        <a:rPr sz="1400" b="0">
                          <a:solidFill>
                            <a:srgbClr val="1B2430"/>
                          </a:solidFill>
                          <a:latin typeface="Calibri"/>
                        </a:rPr>
                        <a:t>≤ 200</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Ish harorati</a:t>
                      </a:r>
                    </a:p>
                  </a:txBody>
                  <a:tcPr>
                    <a:solidFill>
                      <a:srgbClr val="F1F4F8"/>
                    </a:solidFill>
                  </a:tcPr>
                </a:tc>
                <a:tc>
                  <a:txBody>
                    <a:bodyPr/>
                    <a:lstStyle/>
                    <a:p>
                      <a:r>
                        <a:rPr sz="1400" b="0">
                          <a:solidFill>
                            <a:srgbClr val="1B2430"/>
                          </a:solidFill>
                          <a:latin typeface="Calibri"/>
                        </a:rPr>
                        <a:t>°C</a:t>
                      </a:r>
                    </a:p>
                  </a:txBody>
                  <a:tcPr>
                    <a:solidFill>
                      <a:srgbClr val="F1F4F8"/>
                    </a:solidFill>
                  </a:tcPr>
                </a:tc>
                <a:tc>
                  <a:txBody>
                    <a:bodyPr/>
                    <a:lstStyle/>
                    <a:p>
                      <a:r>
                        <a:rPr sz="1400" b="0">
                          <a:solidFill>
                            <a:srgbClr val="1B2430"/>
                          </a:solidFill>
                          <a:latin typeface="Calibri"/>
                        </a:rPr>
                        <a:t>+40 muhitda barqaror</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Vt</a:t>
                      </a:r>
                    </a:p>
                  </a:txBody>
                  <a:tcPr>
                    <a:solidFill>
                      <a:srgbClr val="FFFFFF"/>
                    </a:solidFill>
                  </a:tcPr>
                </a:tc>
                <a:tc>
                  <a:txBody>
                    <a:bodyPr/>
                    <a:lstStyle/>
                    <a:p>
                      <a:r>
                        <a:rPr sz="1400" b="0">
                          <a:solidFill>
                            <a:srgbClr val="1B2430"/>
                          </a:solidFill>
                          <a:latin typeface="Calibri"/>
                        </a:rPr>
                        <a:t>≤ 60 (butun quti)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oqimlar soni</a:t>
                      </a:r>
                    </a:p>
                  </a:txBody>
                  <a:tcPr>
                    <a:solidFill>
                      <a:srgbClr val="F1F4F8"/>
                    </a:solidFill>
                  </a:tcPr>
                </a:tc>
                <a:tc>
                  <a:txBody>
                    <a:bodyPr/>
                    <a:lstStyle/>
                    <a:p>
                      <a:r>
                        <a:rPr sz="1400" b="0">
                          <a:solidFill>
                            <a:srgbClr val="1B2430"/>
                          </a:solidFill>
                          <a:latin typeface="Calibri"/>
                        </a:rPr>
                        <a:t>16 × 1080p10</a:t>
                      </a:r>
                    </a:p>
                  </a:txBody>
                  <a:tcPr>
                    <a:solidFill>
                      <a:srgbClr val="F1F4F8"/>
                    </a:solidFill>
                  </a:tcPr>
                </a:tc>
                <a:tc>
                  <a:txBody>
                    <a:bodyPr/>
                    <a:lstStyle/>
                    <a:p>
                      <a:r>
                        <a:rPr sz="1400" b="0">
                          <a:solidFill>
                            <a:srgbClr val="1B2430"/>
                          </a:solidFill>
                          <a:latin typeface="Calibri"/>
                        </a:rPr>
                        <a:t>4</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AQSh dollari</a:t>
                      </a:r>
                    </a:p>
                  </a:txBody>
                  <a:tcPr>
                    <a:solidFill>
                      <a:srgbClr val="FFFFFF"/>
                    </a:solidFill>
                  </a:tcPr>
                </a:tc>
                <a:tc>
                  <a:txBody>
                    <a:bodyPr/>
                    <a:lstStyle/>
                    <a:p>
                      <a:r>
                        <a:rPr sz="1400" b="0">
                          <a:solidFill>
                            <a:srgbClr val="1B2430"/>
                          </a:solidFill>
                          <a:latin typeface="Calibri"/>
                        </a:rPr>
                        <a:t>≤ 2000 (hisoblash qismi)</a:t>
                      </a:r>
                    </a:p>
                  </a:txBody>
                  <a:tcPr>
                    <a:solidFill>
                      <a:srgbClr val="FFFFFF"/>
                    </a:solidFill>
                  </a:tcPr>
                </a:tc>
                <a:tc>
                  <a:txBody>
                    <a:bodyPr/>
                    <a:lstStyle/>
                    <a:p>
                      <a:r>
                        <a:rPr sz="1400" b="0">
                          <a:solidFill>
                            <a:srgbClr val="1B2430"/>
                          </a:solidFill>
                          <a:latin typeface="Calibri"/>
                        </a:rPr>
                        <a:t>3</a:t>
                      </a:r>
                    </a:p>
                  </a:txBody>
                  <a:tcPr>
                    <a:solidFill>
                      <a:srgbClr val="FFFFFF"/>
                    </a:solidFill>
                  </a:tcPr>
                </a:tc>
              </a:tr>
              <a:tr h="520000">
                <a:tc>
                  <a:txBody>
                    <a:bodyPr/>
                    <a:lstStyle/>
                    <a:p>
                      <a:r>
                        <a:rPr sz="1400" b="0">
                          <a:solidFill>
                            <a:srgbClr val="1B2430"/>
                          </a:solidFill>
                          <a:latin typeface="Calibri"/>
                        </a:rPr>
                        <a:t>Dasturiy ekotizim</a:t>
                      </a:r>
                    </a:p>
                  </a:txBody>
                  <a:tcPr>
                    <a:solidFill>
                      <a:srgbClr val="F1F4F8"/>
                    </a:solidFill>
                  </a:tcPr>
                </a:tc>
                <a:tc>
                  <a:txBody>
                    <a:bodyPr/>
                    <a:lstStyle/>
                    <a:p>
                      <a:r>
                        <a:rPr sz="1400" b="0">
                          <a:solidFill>
                            <a:srgbClr val="1B2430"/>
                          </a:solidFill>
                          <a:latin typeface="Calibri"/>
                        </a:rPr>
                        <a:t>sifat bahosi</a:t>
                      </a:r>
                    </a:p>
                  </a:txBody>
                  <a:tcPr>
                    <a:solidFill>
                      <a:srgbClr val="F1F4F8"/>
                    </a:solidFill>
                  </a:tcPr>
                </a:tc>
                <a:tc>
                  <a:txBody>
                    <a:bodyPr/>
                    <a:lstStyle/>
                    <a:p>
                      <a:r>
                        <a:rPr sz="1400" b="0">
                          <a:solidFill>
                            <a:srgbClr val="1B2430"/>
                          </a:solidFill>
                          <a:latin typeface="Calibri"/>
                        </a:rPr>
                        <a:t>TensorRT/ONNX qo'llab-quvvatlash</a:t>
                      </a:r>
                    </a:p>
                  </a:txBody>
                  <a:tcPr>
                    <a:solidFill>
                      <a:srgbClr val="F1F4F8"/>
                    </a:solidFill>
                  </a:tcPr>
                </a:tc>
                <a:tc>
                  <a:txBody>
                    <a:bodyPr/>
                    <a:lstStyle/>
                    <a:p>
                      <a:r>
                        <a:rPr sz="1400" b="0">
                          <a:solidFill>
                            <a:srgbClr val="1B2430"/>
                          </a:solidFill>
                          <a:latin typeface="Calibri"/>
                        </a:rPr>
                        <a:t>3</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skript tanlangan YOLO variantlari uchun FLOP, parametrlar soni, vaznlar hajmi va talab qilinadigan jami unumdorlikni hisoblaydi.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 ultralytics versiyasiga qarab ±5 %):</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Skript modelning statik xususiyatlaridan kelib chiqib «nazariy» talabni beradi. Bu — yuqori chegaradan ancha past baho emas, aksincha, quyi chegara: real platformada dekodlash, xotira ko'chirish va operatorlar samaradorligi (odatda…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imgsz</a:t>
                      </a:r>
                    </a:p>
                  </a:txBody>
                  <a:tcPr>
                    <a:solidFill>
                      <a:srgbClr val="2D5C8F"/>
                    </a:solidFill>
                  </a:tcPr>
                </a:tc>
                <a:tc>
                  <a:txBody>
                    <a:bodyPr/>
                    <a:lstStyle/>
                    <a:p>
                      <a:r>
                        <a:rPr sz="1400" b="1">
                          <a:solidFill>
                            <a:srgbClr val="FFFFFF"/>
                          </a:solidFill>
                          <a:latin typeface="Calibri"/>
                        </a:rPr>
                        <a:t>params_M</a:t>
                      </a:r>
                    </a:p>
                  </a:txBody>
                  <a:tcPr>
                    <a:solidFill>
                      <a:srgbClr val="2D5C8F"/>
                    </a:solidFill>
                  </a:tcPr>
                </a:tc>
                <a:tc>
                  <a:txBody>
                    <a:bodyPr/>
                    <a:lstStyle/>
                    <a:p>
                      <a:r>
                        <a:rPr sz="1400" b="1">
                          <a:solidFill>
                            <a:srgbClr val="FFFFFF"/>
                          </a:solidFill>
                          <a:latin typeface="Calibri"/>
                        </a:rPr>
                        <a:t>vazn_FP16_MB</a:t>
                      </a:r>
                    </a:p>
                  </a:txBody>
                  <a:tcPr>
                    <a:solidFill>
                      <a:srgbClr val="2D5C8F"/>
                    </a:solidFill>
                  </a:tcPr>
                </a:tc>
                <a:tc>
                  <a:txBody>
                    <a:bodyPr/>
                    <a:lstStyle/>
                    <a:p>
                      <a:r>
                        <a:rPr sz="1400" b="1">
                          <a:solidFill>
                            <a:srgbClr val="FFFFFF"/>
                          </a:solidFill>
                          <a:latin typeface="Calibri"/>
                        </a:rPr>
                        <a:t>GFLOP_inferens</a:t>
                      </a:r>
                    </a:p>
                  </a:txBody>
                  <a:tcPr>
                    <a:solidFill>
                      <a:srgbClr val="2D5C8F"/>
                    </a:solidFill>
                  </a:tcPr>
                </a:tc>
                <a:tc>
                  <a:txBody>
                    <a:bodyPr/>
                    <a:lstStyle/>
                    <a:p>
                      <a:r>
                        <a:rPr sz="1400" b="1">
                          <a:solidFill>
                            <a:srgbClr val="FFFFFF"/>
                          </a:solidFill>
                          <a:latin typeface="Calibri"/>
                        </a:rPr>
                        <a:t>TFLOP_s_talab</a:t>
                      </a:r>
                    </a:p>
                  </a:txBody>
                  <a:tcPr>
                    <a:solidFill>
                      <a:srgbClr val="2D5C8F"/>
                    </a:solidFill>
                  </a:tcPr>
                </a:tc>
              </a:tr>
              <a:tr h="520000">
                <a:tc>
                  <a:txBody>
                    <a:bodyPr/>
                    <a:lstStyle/>
                    <a:p>
                      <a:r>
                        <a:rPr sz="1400" b="0">
                          <a:solidFill>
                            <a:srgbClr val="1B2430"/>
                          </a:solidFill>
                          <a:latin typeface="Calibri"/>
                        </a:rPr>
                        <a:t>yolov8n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3,15</a:t>
                      </a:r>
                    </a:p>
                  </a:txBody>
                  <a:tcPr>
                    <a:solidFill>
                      <a:srgbClr val="F1F4F8"/>
                    </a:solidFill>
                  </a:tcPr>
                </a:tc>
                <a:tc>
                  <a:txBody>
                    <a:bodyPr/>
                    <a:lstStyle/>
                    <a:p>
                      <a:r>
                        <a:rPr sz="1400" b="0">
                          <a:solidFill>
                            <a:srgbClr val="1B2430"/>
                          </a:solidFill>
                          <a:latin typeface="Calibri"/>
                        </a:rPr>
                        <a:t>6,3</a:t>
                      </a:r>
                    </a:p>
                  </a:txBody>
                  <a:tcPr>
                    <a:solidFill>
                      <a:srgbClr val="F1F4F8"/>
                    </a:solidFill>
                  </a:tcPr>
                </a:tc>
                <a:tc>
                  <a:txBody>
                    <a:bodyPr/>
                    <a:lstStyle/>
                    <a:p>
                      <a:r>
                        <a:rPr sz="1400" b="0">
                          <a:solidFill>
                            <a:srgbClr val="1B2430"/>
                          </a:solidFill>
                          <a:latin typeface="Calibri"/>
                        </a:rPr>
                        <a:t>5,6</a:t>
                      </a:r>
                    </a:p>
                  </a:txBody>
                  <a:tcPr>
                    <a:solidFill>
                      <a:srgbClr val="F1F4F8"/>
                    </a:solidFill>
                  </a:tcPr>
                </a:tc>
                <a:tc>
                  <a:txBody>
                    <a:bodyPr/>
                    <a:lstStyle/>
                    <a:p>
                      <a:r>
                        <a:rPr sz="1400" b="0">
                          <a:solidFill>
                            <a:srgbClr val="1B2430"/>
                          </a:solidFill>
                          <a:latin typeface="Calibri"/>
                        </a:rPr>
                        <a:t>0,89</a:t>
                      </a:r>
                    </a:p>
                  </a:txBody>
                  <a:tcPr>
                    <a:solidFill>
                      <a:srgbClr val="F1F4F8"/>
                    </a:solidFill>
                  </a:tcPr>
                </a:tc>
              </a:tr>
              <a:tr h="520000">
                <a:tc>
                  <a:txBody>
                    <a:bodyPr/>
                    <a:lstStyle/>
                    <a:p>
                      <a:r>
                        <a:rPr sz="1400" b="0">
                          <a:solidFill>
                            <a:srgbClr val="1B2430"/>
                          </a:solidFill>
                          <a:latin typeface="Calibri"/>
                        </a:rPr>
                        <a:t>yolov8n</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3,15</a:t>
                      </a:r>
                    </a:p>
                  </a:txBody>
                  <a:tcPr>
                    <a:solidFill>
                      <a:srgbClr val="FFFFFF"/>
                    </a:solidFill>
                  </a:tcPr>
                </a:tc>
                <a:tc>
                  <a:txBody>
                    <a:bodyPr/>
                    <a:lstStyle/>
                    <a:p>
                      <a:r>
                        <a:rPr sz="1400" b="0">
                          <a:solidFill>
                            <a:srgbClr val="1B2430"/>
                          </a:solidFill>
                          <a:latin typeface="Calibri"/>
                        </a:rPr>
                        <a:t>6,3</a:t>
                      </a:r>
                    </a:p>
                  </a:txBody>
                  <a:tcPr>
                    <a:solidFill>
                      <a:srgbClr val="FFFFFF"/>
                    </a:solidFill>
                  </a:tcPr>
                </a:tc>
                <a:tc>
                  <a:txBody>
                    <a:bodyPr/>
                    <a:lstStyle/>
                    <a:p>
                      <a:r>
                        <a:rPr sz="1400" b="0">
                          <a:solidFill>
                            <a:srgbClr val="1B2430"/>
                          </a:solidFill>
                          <a:latin typeface="Calibri"/>
                        </a:rPr>
                        <a:t>8,7</a:t>
                      </a:r>
                    </a:p>
                  </a:txBody>
                  <a:tcPr>
                    <a:solidFill>
                      <a:srgbClr val="FFFFFF"/>
                    </a:solidFill>
                  </a:tcPr>
                </a:tc>
                <a:tc>
                  <a:txBody>
                    <a:bodyPr/>
                    <a:lstStyle/>
                    <a:p>
                      <a:r>
                        <a:rPr sz="1400" b="0">
                          <a:solidFill>
                            <a:srgbClr val="1B2430"/>
                          </a:solidFill>
                          <a:latin typeface="Calibri"/>
                        </a:rPr>
                        <a:t>1,39</a:t>
                      </a:r>
                    </a:p>
                  </a:txBody>
                  <a:tcPr>
                    <a:solidFill>
                      <a:srgbClr val="FFFFFF"/>
                    </a:solidFill>
                  </a:tcPr>
                </a:tc>
              </a:tr>
              <a:tr h="520000">
                <a:tc>
                  <a:txBody>
                    <a:bodyPr/>
                    <a:lstStyle/>
                    <a:p>
                      <a:r>
                        <a:rPr sz="1400" b="0">
                          <a:solidFill>
                            <a:srgbClr val="1B2430"/>
                          </a:solidFill>
                          <a:latin typeface="Calibri"/>
                        </a:rPr>
                        <a:t>yolov8s</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11,17</a:t>
                      </a:r>
                    </a:p>
                  </a:txBody>
                  <a:tcPr>
                    <a:solidFill>
                      <a:srgbClr val="F1F4F8"/>
                    </a:solidFill>
                  </a:tcPr>
                </a:tc>
                <a:tc>
                  <a:txBody>
                    <a:bodyPr/>
                    <a:lstStyle/>
                    <a:p>
                      <a:r>
                        <a:rPr sz="1400" b="0">
                          <a:solidFill>
                            <a:srgbClr val="1B2430"/>
                          </a:solidFill>
                          <a:latin typeface="Calibri"/>
                        </a:rPr>
                        <a:t>22,3</a:t>
                      </a:r>
                    </a:p>
                  </a:txBody>
                  <a:tcPr>
                    <a:solidFill>
                      <a:srgbClr val="F1F4F8"/>
                    </a:solidFill>
                  </a:tcPr>
                </a:tc>
                <a:tc>
                  <a:txBody>
                    <a:bodyPr/>
                    <a:lstStyle/>
                    <a:p>
                      <a:r>
                        <a:rPr sz="1400" b="0">
                          <a:solidFill>
                            <a:srgbClr val="1B2430"/>
                          </a:solidFill>
                          <a:latin typeface="Calibri"/>
                        </a:rPr>
                        <a:t>18,3</a:t>
                      </a:r>
                    </a:p>
                  </a:txBody>
                  <a:tcPr>
                    <a:solidFill>
                      <a:srgbClr val="F1F4F8"/>
                    </a:solidFill>
                  </a:tcPr>
                </a:tc>
                <a:tc>
                  <a:txBody>
                    <a:bodyPr/>
                    <a:lstStyle/>
                    <a:p>
                      <a:r>
                        <a:rPr sz="1400" b="0">
                          <a:solidFill>
                            <a:srgbClr val="1B2430"/>
                          </a:solidFill>
                          <a:latin typeface="Calibri"/>
                        </a:rPr>
                        <a:t>2,93</a:t>
                      </a:r>
                    </a:p>
                  </a:txBody>
                  <a:tcPr>
                    <a:solidFill>
                      <a:srgbClr val="F1F4F8"/>
                    </a:solidFill>
                  </a:tcPr>
                </a:tc>
              </a:tr>
              <a:tr h="520000">
                <a:tc>
                  <a:txBody>
                    <a:bodyPr/>
                    <a:lstStyle/>
                    <a:p>
                      <a:r>
                        <a:rPr sz="1400" b="0">
                          <a:solidFill>
                            <a:srgbClr val="1B2430"/>
                          </a:solidFill>
                          <a:latin typeface="Calibri"/>
                        </a:rPr>
                        <a:t>yolov8s</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11,17</a:t>
                      </a:r>
                    </a:p>
                  </a:txBody>
                  <a:tcPr>
                    <a:solidFill>
                      <a:srgbClr val="FFFFFF"/>
                    </a:solidFill>
                  </a:tcPr>
                </a:tc>
                <a:tc>
                  <a:txBody>
                    <a:bodyPr/>
                    <a:lstStyle/>
                    <a:p>
                      <a:r>
                        <a:rPr sz="1400" b="0">
                          <a:solidFill>
                            <a:srgbClr val="1B2430"/>
                          </a:solidFill>
                          <a:latin typeface="Calibri"/>
                        </a:rPr>
                        <a:t>22,3</a:t>
                      </a:r>
                    </a:p>
                  </a:txBody>
                  <a:tcPr>
                    <a:solidFill>
                      <a:srgbClr val="FFFFFF"/>
                    </a:solidFill>
                  </a:tcPr>
                </a:tc>
                <a:tc>
                  <a:txBody>
                    <a:bodyPr/>
                    <a:lstStyle/>
                    <a:p>
                      <a:r>
                        <a:rPr sz="1400" b="0">
                          <a:solidFill>
                            <a:srgbClr val="1B2430"/>
                          </a:solidFill>
                          <a:latin typeface="Calibri"/>
                        </a:rPr>
                        <a:t>28,6</a:t>
                      </a:r>
                    </a:p>
                  </a:txBody>
                  <a:tcPr>
                    <a:solidFill>
                      <a:srgbClr val="FFFFFF"/>
                    </a:solidFill>
                  </a:tcPr>
                </a:tc>
                <a:tc>
                  <a:txBody>
                    <a:bodyPr/>
                    <a:lstStyle/>
                    <a:p>
                      <a:r>
                        <a:rPr sz="1400" b="0">
                          <a:solidFill>
                            <a:srgbClr val="1B2430"/>
                          </a:solidFill>
                          <a:latin typeface="Calibri"/>
                        </a:rPr>
                        <a:t>4,58</a:t>
                      </a:r>
                    </a:p>
                  </a:txBody>
                  <a:tcPr>
                    <a:solidFill>
                      <a:srgbClr val="FFFFFF"/>
                    </a:solidFill>
                  </a:tcPr>
                </a:tc>
              </a:tr>
              <a:tr h="520000">
                <a:tc>
                  <a:txBody>
                    <a:bodyPr/>
                    <a:lstStyle/>
                    <a:p>
                      <a:r>
                        <a:rPr sz="1400" b="0">
                          <a:solidFill>
                            <a:srgbClr val="1B2430"/>
                          </a:solidFill>
                          <a:latin typeface="Calibri"/>
                        </a:rPr>
                        <a:t>yolov8m</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25,9</a:t>
                      </a:r>
                    </a:p>
                  </a:txBody>
                  <a:tcPr>
                    <a:solidFill>
                      <a:srgbClr val="F1F4F8"/>
                    </a:solidFill>
                  </a:tcPr>
                </a:tc>
                <a:tc>
                  <a:txBody>
                    <a:bodyPr/>
                    <a:lstStyle/>
                    <a:p>
                      <a:r>
                        <a:rPr sz="1400" b="0">
                          <a:solidFill>
                            <a:srgbClr val="1B2430"/>
                          </a:solidFill>
                          <a:latin typeface="Calibri"/>
                        </a:rPr>
                        <a:t>51,8</a:t>
                      </a:r>
                    </a:p>
                  </a:txBody>
                  <a:tcPr>
                    <a:solidFill>
                      <a:srgbClr val="F1F4F8"/>
                    </a:solidFill>
                  </a:tcPr>
                </a:tc>
                <a:tc>
                  <a:txBody>
                    <a:bodyPr/>
                    <a:lstStyle/>
                    <a:p>
                      <a:r>
                        <a:rPr sz="1400" b="0">
                          <a:solidFill>
                            <a:srgbClr val="1B2430"/>
                          </a:solidFill>
                          <a:latin typeface="Calibri"/>
                        </a:rPr>
                        <a:t>50,5</a:t>
                      </a:r>
                    </a:p>
                  </a:txBody>
                  <a:tcPr>
                    <a:solidFill>
                      <a:srgbClr val="F1F4F8"/>
                    </a:solidFill>
                  </a:tcPr>
                </a:tc>
                <a:tc>
                  <a:txBody>
                    <a:bodyPr/>
                    <a:lstStyle/>
                    <a:p>
                      <a:r>
                        <a:rPr sz="1400" b="0">
                          <a:solidFill>
                            <a:srgbClr val="1B2430"/>
                          </a:solidFill>
                          <a:latin typeface="Calibri"/>
                        </a:rPr>
                        <a:t>8,08</a:t>
                      </a:r>
                    </a:p>
                  </a:txBody>
                  <a:tcPr>
                    <a:solidFill>
                      <a:srgbClr val="F1F4F8"/>
                    </a:solidFill>
                  </a:tcPr>
                </a:tc>
              </a:tr>
              <a:tr h="520000">
                <a:tc>
                  <a:txBody>
                    <a:bodyPr/>
                    <a:lstStyle/>
                    <a:p>
                      <a:r>
                        <a:rPr sz="1400" b="0">
                          <a:solidFill>
                            <a:srgbClr val="1B2430"/>
                          </a:solidFill>
                          <a:latin typeface="Calibri"/>
                        </a:rPr>
                        <a:t>yolov8m</a:t>
                      </a:r>
                    </a:p>
                  </a:txBody>
                  <a:tcPr>
                    <a:solidFill>
                      <a:srgbClr val="FFFFFF"/>
                    </a:solidFill>
                  </a:tcPr>
                </a:tc>
                <a:tc>
                  <a:txBody>
                    <a:bodyPr/>
                    <a:lstStyle/>
                    <a:p>
                      <a:r>
                        <a:rPr sz="1400" b="0">
                          <a:solidFill>
                            <a:srgbClr val="1B2430"/>
                          </a:solidFill>
                          <a:latin typeface="Calibri"/>
                        </a:rPr>
                        <a:t>640</a:t>
                      </a:r>
                    </a:p>
                  </a:txBody>
                  <a:tcPr>
                    <a:solidFill>
                      <a:srgbClr val="FFFFFF"/>
                    </a:solidFill>
                  </a:tcPr>
                </a:tc>
                <a:tc>
                  <a:txBody>
                    <a:bodyPr/>
                    <a:lstStyle/>
                    <a:p>
                      <a:r>
                        <a:rPr sz="1400" b="0">
                          <a:solidFill>
                            <a:srgbClr val="1B2430"/>
                          </a:solidFill>
                          <a:latin typeface="Calibri"/>
                        </a:rPr>
                        <a:t>25,9</a:t>
                      </a:r>
                    </a:p>
                  </a:txBody>
                  <a:tcPr>
                    <a:solidFill>
                      <a:srgbClr val="FFFFFF"/>
                    </a:solidFill>
                  </a:tcPr>
                </a:tc>
                <a:tc>
                  <a:txBody>
                    <a:bodyPr/>
                    <a:lstStyle/>
                    <a:p>
                      <a:r>
                        <a:rPr sz="1400" b="0">
                          <a:solidFill>
                            <a:srgbClr val="1B2430"/>
                          </a:solidFill>
                          <a:latin typeface="Calibri"/>
                        </a:rPr>
                        <a:t>51,8</a:t>
                      </a:r>
                    </a:p>
                  </a:txBody>
                  <a:tcPr>
                    <a:solidFill>
                      <a:srgbClr val="FFFFFF"/>
                    </a:solidFill>
                  </a:tcPr>
                </a:tc>
                <a:tc>
                  <a:txBody>
                    <a:bodyPr/>
                    <a:lstStyle/>
                    <a:p>
                      <a:r>
                        <a:rPr sz="1400" b="0">
                          <a:solidFill>
                            <a:srgbClr val="1B2430"/>
                          </a:solidFill>
                          <a:latin typeface="Calibri"/>
                        </a:rPr>
                        <a:t>78,9</a:t>
                      </a:r>
                    </a:p>
                  </a:txBody>
                  <a:tcPr>
                    <a:solidFill>
                      <a:srgbClr val="FFFFFF"/>
                    </a:solidFill>
                  </a:tcPr>
                </a:tc>
                <a:tc>
                  <a:txBody>
                    <a:bodyPr/>
                    <a:lstStyle/>
                    <a:p>
                      <a:r>
                        <a:rPr sz="1400" b="0">
                          <a:solidFill>
                            <a:srgbClr val="1B2430"/>
                          </a:solidFill>
                          <a:latin typeface="Calibri"/>
                        </a:rPr>
                        <a:t>12,6</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yuklamasini Python'da hisoblash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yuklama_hisobi.py</a:t>
            </a:r>
          </a:p>
          <a:p>
            <a:r>
              <a:rPr sz="1200">
                <a:solidFill>
                  <a:srgbClr val="7FD6D7"/>
                </a:solidFill>
                <a:latin typeface="Consolas"/>
              </a:rPr>
              <a:t># Maqsad: model varianti va kamera konfiguratsiyasi uchun hisoblash talabini baholash</a:t>
            </a:r>
          </a:p>
          <a:p>
            <a:r>
              <a:rPr sz="1200">
                <a:solidFill>
                  <a:srgbClr val="E2E8F0"/>
                </a:solidFill>
                <a:latin typeface="Consolas"/>
              </a:rPr>
              <a:t>from ultralytics import YOLO</a:t>
            </a:r>
          </a:p>
          <a:p>
            <a:r>
              <a:rPr sz="1200">
                <a:solidFill>
                  <a:srgbClr val="E2E8F0"/>
                </a:solidFill>
                <a:latin typeface="Consolas"/>
              </a:rPr>
              <a:t>import pandas as pd</a:t>
            </a:r>
          </a:p>
          <a:p>
            <a:r>
              <a:rPr sz="1200">
                <a:solidFill>
                  <a:srgbClr val="E2E8F0"/>
                </a:solidFill>
                <a:latin typeface="Consolas"/>
              </a:rPr>
              <a:t> </a:t>
            </a:r>
          </a:p>
          <a:p>
            <a:r>
              <a:rPr sz="1200">
                <a:solidFill>
                  <a:srgbClr val="E2E8F0"/>
                </a:solidFill>
                <a:latin typeface="Consolas"/>
              </a:rPr>
              <a:t>KAMERALAR = 16</a:t>
            </a:r>
          </a:p>
          <a:p>
            <a:r>
              <a:rPr sz="1200">
                <a:solidFill>
                  <a:srgbClr val="E2E8F0"/>
                </a:solidFill>
                <a:latin typeface="Consolas"/>
              </a:rPr>
              <a:t>FPS = 10</a:t>
            </a:r>
          </a:p>
          <a:p>
            <a:r>
              <a:rPr sz="1200">
                <a:solidFill>
                  <a:srgbClr val="E2E8F0"/>
                </a:solidFill>
                <a:latin typeface="Consolas"/>
              </a:rPr>
              <a:t>INFERENS_S = KAMERALAR * FPS          # 160 inferens/sekund</a:t>
            </a:r>
          </a:p>
          <a:p>
            <a:r>
              <a:rPr sz="1200">
                <a:solidFill>
                  <a:srgbClr val="E2E8F0"/>
                </a:solidFill>
                <a:latin typeface="Consolas"/>
              </a:rPr>
              <a:t> </a:t>
            </a:r>
          </a:p>
          <a:p>
            <a:r>
              <a:rPr sz="1200">
                <a:solidFill>
                  <a:srgbClr val="E2E8F0"/>
                </a:solidFill>
                <a:latin typeface="Consolas"/>
              </a:rPr>
              <a:t>def model_profili(nomi, imgsz=640):</a:t>
            </a:r>
          </a:p>
          <a:p>
            <a:r>
              <a:rPr sz="1200">
                <a:solidFill>
                  <a:srgbClr val="E2E8F0"/>
                </a:solidFill>
                <a:latin typeface="Consolas"/>
              </a:rPr>
              <a:t>    m = YOLO(nomi)                     # vaznlar birinchi marta yuklab olinadi</a:t>
            </a:r>
          </a:p>
          <a:p>
            <a:r>
              <a:rPr sz="1200">
                <a:solidFill>
                  <a:srgbClr val="7FD6D7"/>
                </a:solidFill>
                <a:latin typeface="Consolas"/>
              </a:rPr>
              <a:t>    # ultralytics 'info' usuli (qatlamlar, parametrlar, gradientlar, GFLOP) qaytaradi</a:t>
            </a:r>
          </a:p>
          <a:p>
            <a:r>
              <a:rPr sz="1200">
                <a:solidFill>
                  <a:srgbClr val="E2E8F0"/>
                </a:solidFill>
                <a:latin typeface="Consolas"/>
              </a:rPr>
              <a:t>    qatlam, params, grad, gflops = m.info(verbose=False, imgsz=imgsz)</a:t>
            </a:r>
          </a:p>
          <a:p>
            <a:r>
              <a:rPr sz="1200">
                <a:solidFill>
                  <a:srgbClr val="E2E8F0"/>
                </a:solidFill>
                <a:latin typeface="Consolas"/>
              </a:rPr>
              <a:t>    return {</a:t>
            </a:r>
          </a:p>
          <a:p>
            <a:r>
              <a:rPr sz="1200">
                <a:solidFill>
                  <a:srgbClr val="E2E8F0"/>
                </a:solidFill>
                <a:latin typeface="Consolas"/>
              </a:rPr>
              <a:t>        "model": nomi,</a:t>
            </a:r>
          </a:p>
          <a:p>
            <a:r>
              <a:rPr sz="1200">
                <a:solidFill>
                  <a:srgbClr val="E2E8F0"/>
                </a:solidFill>
                <a:latin typeface="Consolas"/>
              </a:rPr>
              <a:t>        "imgsz": imgsz,</a:t>
            </a:r>
          </a:p>
          <a:p>
            <a:r>
              <a:rPr sz="1200">
                <a:solidFill>
                  <a:srgbClr val="E2E8F0"/>
                </a:solidFill>
                <a:latin typeface="Consolas"/>
              </a:rPr>
              <a:t>        "params_M": round(params / 1e6, 2),</a:t>
            </a:r>
          </a:p>
          <a:p>
            <a:r>
              <a:rPr sz="1200">
                <a:solidFill>
                  <a:srgbClr val="E2E8F0"/>
                </a:solidFill>
                <a:latin typeface="Consolas"/>
              </a:rPr>
              <a:t>        "vazn_FP16_MB": round(params * 2 / 1e6, 1),</a:t>
            </a:r>
          </a:p>
          <a:p>
            <a:r>
              <a:rPr sz="1200">
                <a:solidFill>
                  <a:srgbClr val="E2E8F0"/>
                </a:solidFill>
                <a:latin typeface="Consolas"/>
              </a:rPr>
              <a:t>        "vazn_INT8_MB": round(params * 1 / 1e6, 1),</a:t>
            </a:r>
          </a:p>
          <a:p>
            <a:r>
              <a:rPr sz="1200">
                <a:solidFill>
                  <a:srgbClr val="E2E8F0"/>
                </a:solidFill>
                <a:latin typeface="Consolas"/>
              </a:rPr>
              <a:t>        "GFLOP_inferens": round(gflops, 1),</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Kutilgan natija (taxminiy):</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zaxira_koef — platformaning haqiqiy unumdorligi talabdan necha marta oshishi. 1 dan kichik qiymat (Edge TPU, CPU) — platforma yetarli emas; 3–5 oralig'i — sog'lom zaxira (pik yuklama, model yangilanishi, qo'shimcha kuzatuv algoritmi…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Platformalarni samaradorlik koeffitsiyenti bilan baholash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nom</a:t>
                      </a:r>
                    </a:p>
                  </a:txBody>
                  <a:tcPr>
                    <a:solidFill>
                      <a:srgbClr val="2D5C8F"/>
                    </a:solidFill>
                  </a:tcPr>
                </a:tc>
                <a:tc>
                  <a:txBody>
                    <a:bodyPr/>
                    <a:lstStyle/>
                    <a:p>
                      <a:r>
                        <a:rPr sz="1400" b="1">
                          <a:solidFill>
                            <a:srgbClr val="FFFFFF"/>
                          </a:solidFill>
                          <a:latin typeface="Calibri"/>
                        </a:rPr>
                        <a:t>tops_real</a:t>
                      </a:r>
                    </a:p>
                  </a:txBody>
                  <a:tcPr>
                    <a:solidFill>
                      <a:srgbClr val="2D5C8F"/>
                    </a:solidFill>
                  </a:tcPr>
                </a:tc>
                <a:tc>
                  <a:txBody>
                    <a:bodyPr/>
                    <a:lstStyle/>
                    <a:p>
                      <a:r>
                        <a:rPr sz="1400" b="1">
                          <a:solidFill>
                            <a:srgbClr val="FFFFFF"/>
                          </a:solidFill>
                          <a:latin typeface="Calibri"/>
                        </a:rPr>
                        <a:t>zaxira_koef</a:t>
                      </a:r>
                    </a:p>
                  </a:txBody>
                  <a:tcPr>
                    <a:solidFill>
                      <a:srgbClr val="2D5C8F"/>
                    </a:solidFill>
                  </a:tcPr>
                </a:tc>
                <a:tc>
                  <a:txBody>
                    <a:bodyPr/>
                    <a:lstStyle/>
                    <a:p>
                      <a:r>
                        <a:rPr sz="1400" b="1">
                          <a:solidFill>
                            <a:srgbClr val="FFFFFF"/>
                          </a:solidFill>
                          <a:latin typeface="Calibri"/>
                        </a:rPr>
                        <a:t>dekod_yetarli</a:t>
                      </a:r>
                    </a:p>
                  </a:txBody>
                  <a:tcPr>
                    <a:solidFill>
                      <a:srgbClr val="2D5C8F"/>
                    </a:solidFill>
                  </a:tcPr>
                </a:tc>
                <a:tc>
                  <a:txBody>
                    <a:bodyPr/>
                    <a:lstStyle/>
                    <a:p>
                      <a:r>
                        <a:rPr sz="1400" b="1">
                          <a:solidFill>
                            <a:srgbClr val="FFFFFF"/>
                          </a:solidFill>
                          <a:latin typeface="Calibri"/>
                        </a:rPr>
                        <a:t>inferens_Vt</a:t>
                      </a:r>
                    </a:p>
                  </a:txBody>
                  <a:tcPr>
                    <a:solidFill>
                      <a:srgbClr val="2D5C8F"/>
                    </a:solidFill>
                  </a:tcPr>
                </a:tc>
              </a:tr>
              <a:tr h="520000">
                <a:tc>
                  <a:txBody>
                    <a:bodyPr/>
                    <a:lstStyle/>
                    <a:p>
                      <a:r>
                        <a:rPr sz="1400" b="0">
                          <a:solidFill>
                            <a:srgbClr val="1B2430"/>
                          </a:solidFill>
                          <a:latin typeface="Calibri"/>
                        </a:rPr>
                        <a:t>Jetson Orin NX 16GB</a:t>
                      </a:r>
                    </a:p>
                  </a:txBody>
                  <a:tcPr>
                    <a:solidFill>
                      <a:srgbClr val="F1F4F8"/>
                    </a:solidFill>
                  </a:tcPr>
                </a:tc>
                <a:tc>
                  <a:txBody>
                    <a:bodyPr/>
                    <a:lstStyle/>
                    <a:p>
                      <a:r>
                        <a:rPr sz="1400" b="0">
                          <a:solidFill>
                            <a:srgbClr val="1B2430"/>
                          </a:solidFill>
                          <a:latin typeface="Calibri"/>
                        </a:rPr>
                        <a:t>22,5</a:t>
                      </a:r>
                    </a:p>
                  </a:txBody>
                  <a:tcPr>
                    <a:solidFill>
                      <a:srgbClr val="F1F4F8"/>
                    </a:solidFill>
                  </a:tcPr>
                </a:tc>
                <a:tc>
                  <a:txBody>
                    <a:bodyPr/>
                    <a:lstStyle/>
                    <a:p>
                      <a:r>
                        <a:rPr sz="1400" b="0">
                          <a:solidFill>
                            <a:srgbClr val="1B2430"/>
                          </a:solidFill>
                          <a:latin typeface="Calibri"/>
                        </a:rPr>
                        <a:t>4,9</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0,032</a:t>
                      </a:r>
                    </a:p>
                  </a:txBody>
                  <a:tcPr>
                    <a:solidFill>
                      <a:srgbClr val="F1F4F8"/>
                    </a:solidFill>
                  </a:tcPr>
                </a:tc>
              </a:tr>
              <a:tr h="520000">
                <a:tc>
                  <a:txBody>
                    <a:bodyPr/>
                    <a:lstStyle/>
                    <a:p>
                      <a:r>
                        <a:rPr sz="1400" b="0">
                          <a:solidFill>
                            <a:srgbClr val="1B2430"/>
                          </a:solidFill>
                          <a:latin typeface="Calibri"/>
                        </a:rPr>
                        <a:t>Jetson AGX Orin 64GB</a:t>
                      </a:r>
                    </a:p>
                  </a:txBody>
                  <a:tcPr>
                    <a:solidFill>
                      <a:srgbClr val="FFFFFF"/>
                    </a:solidFill>
                  </a:tcPr>
                </a:tc>
                <a:tc>
                  <a:txBody>
                    <a:bodyPr/>
                    <a:lstStyle/>
                    <a:p>
                      <a:r>
                        <a:rPr sz="1400" b="0">
                          <a:solidFill>
                            <a:srgbClr val="1B2430"/>
                          </a:solidFill>
                          <a:latin typeface="Calibri"/>
                        </a:rPr>
                        <a:t>62,1</a:t>
                      </a:r>
                    </a:p>
                  </a:txBody>
                  <a:tcPr>
                    <a:solidFill>
                      <a:srgbClr val="FFFFFF"/>
                    </a:solidFill>
                  </a:tcPr>
                </a:tc>
                <a:tc>
                  <a:txBody>
                    <a:bodyPr/>
                    <a:lstStyle/>
                    <a:p>
                      <a:r>
                        <a:rPr sz="1400" b="0">
                          <a:solidFill>
                            <a:srgbClr val="1B2430"/>
                          </a:solidFill>
                          <a:latin typeface="Calibri"/>
                        </a:rPr>
                        <a:t>13,6</a:t>
                      </a:r>
                    </a:p>
                  </a:txBody>
                  <a:tcPr>
                    <a:solidFill>
                      <a:srgbClr val="FFFFFF"/>
                    </a:solidFill>
                  </a:tcPr>
                </a:tc>
                <a:tc>
                  <a:txBody>
                    <a:bodyPr/>
                    <a:lstStyle/>
                    <a:p>
                      <a:r>
                        <a:rPr sz="1400" b="0">
                          <a:solidFill>
                            <a:srgbClr val="1B2430"/>
                          </a:solidFill>
                          <a:latin typeface="Calibri"/>
                        </a:rPr>
                        <a:t>True</a:t>
                      </a:r>
                    </a:p>
                  </a:txBody>
                  <a:tcPr>
                    <a:solidFill>
                      <a:srgbClr val="FFFFFF"/>
                    </a:solidFill>
                  </a:tcPr>
                </a:tc>
                <a:tc>
                  <a:txBody>
                    <a:bodyPr/>
                    <a:lstStyle/>
                    <a:p>
                      <a:r>
                        <a:rPr sz="1400" b="0">
                          <a:solidFill>
                            <a:srgbClr val="1B2430"/>
                          </a:solidFill>
                          <a:latin typeface="Calibri"/>
                        </a:rPr>
                        <a:t>0,028</a:t>
                      </a:r>
                    </a:p>
                  </a:txBody>
                  <a:tcPr>
                    <a:solidFill>
                      <a:srgbClr val="FFFFFF"/>
                    </a:solidFill>
                  </a:tcPr>
                </a:tc>
              </a:tr>
              <a:tr h="520000">
                <a:tc>
                  <a:txBody>
                    <a:bodyPr/>
                    <a:lstStyle/>
                    <a:p>
                      <a:r>
                        <a:rPr sz="1400" b="0">
                          <a:solidFill>
                            <a:srgbClr val="1B2430"/>
                          </a:solidFill>
                          <a:latin typeface="Calibri"/>
                        </a:rPr>
                        <a:t>A100 PCIe 80GB</a:t>
                      </a:r>
                    </a:p>
                  </a:txBody>
                  <a:tcPr>
                    <a:solidFill>
                      <a:srgbClr val="F1F4F8"/>
                    </a:solidFill>
                  </a:tcPr>
                </a:tc>
                <a:tc>
                  <a:txBody>
                    <a:bodyPr/>
                    <a:lstStyle/>
                    <a:p>
                      <a:r>
                        <a:rPr sz="1400" b="0">
                          <a:solidFill>
                            <a:srgbClr val="1B2430"/>
                          </a:solidFill>
                          <a:latin typeface="Calibri"/>
                        </a:rPr>
                        <a:t>312</a:t>
                      </a:r>
                    </a:p>
                  </a:txBody>
                  <a:tcPr>
                    <a:solidFill>
                      <a:srgbClr val="F1F4F8"/>
                    </a:solidFill>
                  </a:tcPr>
                </a:tc>
                <a:tc>
                  <a:txBody>
                    <a:bodyPr/>
                    <a:lstStyle/>
                    <a:p>
                      <a:r>
                        <a:rPr sz="1400" b="0">
                          <a:solidFill>
                            <a:srgbClr val="1B2430"/>
                          </a:solidFill>
                          <a:latin typeface="Calibri"/>
                        </a:rPr>
                        <a:t>68</a:t>
                      </a:r>
                    </a:p>
                  </a:txBody>
                  <a:tcPr>
                    <a:solidFill>
                      <a:srgbClr val="F1F4F8"/>
                    </a:solidFill>
                  </a:tcPr>
                </a:tc>
                <a:tc>
                  <a:txBody>
                    <a:bodyPr/>
                    <a:lstStyle/>
                    <a:p>
                      <a:r>
                        <a:rPr sz="1400" b="0">
                          <a:solidFill>
                            <a:srgbClr val="1B2430"/>
                          </a:solidFill>
                          <a:latin typeface="Calibri"/>
                        </a:rPr>
                        <a:t>True</a:t>
                      </a:r>
                    </a:p>
                  </a:txBody>
                  <a:tcPr>
                    <a:solidFill>
                      <a:srgbClr val="F1F4F8"/>
                    </a:solidFill>
                  </a:tcPr>
                </a:tc>
                <a:tc>
                  <a:txBody>
                    <a:bodyPr/>
                    <a:lstStyle/>
                    <a:p>
                      <a:r>
                        <a:rPr sz="1400" b="0">
                          <a:solidFill>
                            <a:srgbClr val="1B2430"/>
                          </a:solidFill>
                          <a:latin typeface="Calibri"/>
                        </a:rPr>
                        <a:t>0,027</a:t>
                      </a:r>
                    </a:p>
                  </a:txBody>
                  <a:tcPr>
                    <a:solidFill>
                      <a:srgbClr val="F1F4F8"/>
                    </a:solidFill>
                  </a:tcPr>
                </a:tc>
              </a:tr>
              <a:tr h="520000">
                <a:tc>
                  <a:txBody>
                    <a:bodyPr/>
                    <a:lstStyle/>
                    <a:p>
                      <a:r>
                        <a:rPr sz="1400" b="0">
                          <a:solidFill>
                            <a:srgbClr val="1B2430"/>
                          </a:solidFill>
                          <a:latin typeface="Calibri"/>
                        </a:rPr>
                        <a:t>Coral Edge TPU M.2</a:t>
                      </a:r>
                    </a:p>
                  </a:txBody>
                  <a:tcPr>
                    <a:solidFill>
                      <a:srgbClr val="FFFFFF"/>
                    </a:solidFill>
                  </a:tcPr>
                </a:tc>
                <a:tc>
                  <a:txBody>
                    <a:bodyPr/>
                    <a:lstStyle/>
                    <a:p>
                      <a:r>
                        <a:rPr sz="1400" b="0">
                          <a:solidFill>
                            <a:srgbClr val="1B2430"/>
                          </a:solidFill>
                          <a:latin typeface="Calibri"/>
                        </a:rPr>
                        <a:t>2,0</a:t>
                      </a:r>
                    </a:p>
                  </a:txBody>
                  <a:tcPr>
                    <a:solidFill>
                      <a:srgbClr val="FFFFFF"/>
                    </a:solidFill>
                  </a:tcPr>
                </a:tc>
                <a:tc>
                  <a:txBody>
                    <a:bodyPr/>
                    <a:lstStyle/>
                    <a:p>
                      <a:r>
                        <a:rPr sz="1400" b="0">
                          <a:solidFill>
                            <a:srgbClr val="1B2430"/>
                          </a:solidFill>
                          <a:latin typeface="Calibri"/>
                        </a:rPr>
                        <a:t>0,44</a:t>
                      </a:r>
                    </a:p>
                  </a:txBody>
                  <a:tcPr>
                    <a:solidFill>
                      <a:srgbClr val="FFFFFF"/>
                    </a:solidFill>
                  </a:tcPr>
                </a:tc>
                <a:tc>
                  <a:txBody>
                    <a:bodyPr/>
                    <a:lstStyle/>
                    <a:p>
                      <a:r>
                        <a:rPr sz="1400" b="0">
                          <a:solidFill>
                            <a:srgbClr val="1B2430"/>
                          </a:solidFill>
                          <a:latin typeface="Calibri"/>
                        </a:rPr>
                        <a:t>False</a:t>
                      </a:r>
                    </a:p>
                  </a:txBody>
                  <a:tcPr>
                    <a:solidFill>
                      <a:srgbClr val="FFFFFF"/>
                    </a:solidFill>
                  </a:tcPr>
                </a:tc>
                <a:tc>
                  <a:txBody>
                    <a:bodyPr/>
                    <a:lstStyle/>
                    <a:p>
                      <a:r>
                        <a:rPr sz="1400" b="0">
                          <a:solidFill>
                            <a:srgbClr val="1B2430"/>
                          </a:solidFill>
                          <a:latin typeface="Calibri"/>
                        </a:rPr>
                        <a:t>0,029</a:t>
                      </a:r>
                    </a:p>
                  </a:txBody>
                  <a:tcPr>
                    <a:solidFill>
                      <a:srgbClr val="FFFFFF"/>
                    </a:solidFill>
                  </a:tcPr>
                </a:tc>
              </a:tr>
              <a:tr h="520000">
                <a:tc>
                  <a:txBody>
                    <a:bodyPr/>
                    <a:lstStyle/>
                    <a:p>
                      <a:r>
                        <a:rPr sz="1400" b="0">
                          <a:solidFill>
                            <a:srgbClr val="1B2430"/>
                          </a:solidFill>
                          <a:latin typeface="Calibri"/>
                        </a:rPr>
                        <a:t>x86 CPU 8 yadro</a:t>
                      </a:r>
                    </a:p>
                  </a:txBody>
                  <a:tcPr>
                    <a:solidFill>
                      <a:srgbClr val="F1F4F8"/>
                    </a:solidFill>
                  </a:tcPr>
                </a:tc>
                <a:tc>
                  <a:txBody>
                    <a:bodyPr/>
                    <a:lstStyle/>
                    <a:p>
                      <a:r>
                        <a:rPr sz="1400" b="0">
                          <a:solidFill>
                            <a:srgbClr val="1B2430"/>
                          </a:solidFill>
                          <a:latin typeface="Calibri"/>
                        </a:rPr>
                        <a:t>1,5</a:t>
                      </a:r>
                    </a:p>
                  </a:txBody>
                  <a:tcPr>
                    <a:solidFill>
                      <a:srgbClr val="F1F4F8"/>
                    </a:solidFill>
                  </a:tcPr>
                </a:tc>
                <a:tc>
                  <a:txBody>
                    <a:bodyPr/>
                    <a:lstStyle/>
                    <a:p>
                      <a:r>
                        <a:rPr sz="1400" b="0">
                          <a:solidFill>
                            <a:srgbClr val="1B2430"/>
                          </a:solidFill>
                          <a:latin typeface="Calibri"/>
                        </a:rPr>
                        <a:t>0,33</a:t>
                      </a:r>
                    </a:p>
                  </a:txBody>
                  <a:tcPr>
                    <a:solidFill>
                      <a:srgbClr val="F1F4F8"/>
                    </a:solidFill>
                  </a:tcPr>
                </a:tc>
                <a:tc>
                  <a:txBody>
                    <a:bodyPr/>
                    <a:lstStyle/>
                    <a:p>
                      <a:r>
                        <a:rPr sz="1400" b="0">
                          <a:solidFill>
                            <a:srgbClr val="1B2430"/>
                          </a:solidFill>
                          <a:latin typeface="Calibri"/>
                        </a:rPr>
                        <a:t>False</a:t>
                      </a:r>
                    </a:p>
                  </a:txBody>
                  <a:tcPr>
                    <a:solidFill>
                      <a:srgbClr val="F1F4F8"/>
                    </a:solidFill>
                  </a:tcPr>
                </a:tc>
                <a:tc>
                  <a:txBody>
                    <a:bodyPr/>
                    <a:lstStyle/>
                    <a:p>
                      <a:r>
                        <a:rPr sz="1400" b="0">
                          <a:solidFill>
                            <a:srgbClr val="1B2430"/>
                          </a:solidFill>
                          <a:latin typeface="Calibri"/>
                        </a:rPr>
                        <a:t>1,24</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3-qadam. Platformalarni samaradorlik koeffitsiyenti bilan baholash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platforma_tanlash.py</a:t>
            </a:r>
          </a:p>
          <a:p>
            <a:r>
              <a:rPr sz="1000">
                <a:solidFill>
                  <a:srgbClr val="E2E8F0"/>
                </a:solidFill>
                <a:latin typeface="Consolas"/>
              </a:rPr>
              <a:t>import pandas as pd</a:t>
            </a:r>
          </a:p>
          <a:p>
            <a:r>
              <a:rPr sz="1000">
                <a:solidFill>
                  <a:srgbClr val="E2E8F0"/>
                </a:solidFill>
                <a:latin typeface="Consolas"/>
              </a:rPr>
              <a:t> </a:t>
            </a:r>
          </a:p>
          <a:p>
            <a:r>
              <a:rPr sz="1000">
                <a:solidFill>
                  <a:srgbClr val="E2E8F0"/>
                </a:solidFill>
                <a:latin typeface="Consolas"/>
              </a:rPr>
              <a:t>platformalar = pd.DataFrame([</a:t>
            </a:r>
          </a:p>
          <a:p>
            <a:r>
              <a:rPr sz="1000">
                <a:solidFill>
                  <a:srgbClr val="7FD6D7"/>
                </a:solidFill>
                <a:latin typeface="Consolas"/>
              </a:rPr>
              <a:t>    # nom, cho'qqi INT8 dense TOPS, taxminiy samaradorlik, quvvat Vt, narx $, NVDEC oqim 1080p30</a:t>
            </a:r>
          </a:p>
          <a:p>
            <a:r>
              <a:rPr sz="1000">
                <a:solidFill>
                  <a:srgbClr val="E2E8F0"/>
                </a:solidFill>
                <a:latin typeface="Consolas"/>
              </a:rPr>
              <a:t>    ("Jetson Orin NX 16GB", 50,  0.45, 25,  650,  7),</a:t>
            </a:r>
          </a:p>
          <a:p>
            <a:r>
              <a:rPr sz="1000">
                <a:solidFill>
                  <a:srgbClr val="E2E8F0"/>
                </a:solidFill>
                <a:latin typeface="Consolas"/>
              </a:rPr>
              <a:t>    ("Jetson AGX Orin 64GB", 138, 0.45, 60,  2000, 14),</a:t>
            </a:r>
          </a:p>
          <a:p>
            <a:r>
              <a:rPr sz="1000">
                <a:solidFill>
                  <a:srgbClr val="E2E8F0"/>
                </a:solidFill>
                <a:latin typeface="Consolas"/>
              </a:rPr>
              <a:t>    ("A100 PCIe 80GB",      624, 0.50, 300, 10000, 10),</a:t>
            </a:r>
          </a:p>
          <a:p>
            <a:r>
              <a:rPr sz="1000">
                <a:solidFill>
                  <a:srgbClr val="E2E8F0"/>
                </a:solidFill>
                <a:latin typeface="Consolas"/>
              </a:rPr>
              <a:t>    ("Coral Edge TPU M.2",  4,   0.50, 2,   80,   0),</a:t>
            </a:r>
          </a:p>
          <a:p>
            <a:r>
              <a:rPr sz="1000">
                <a:solidFill>
                  <a:srgbClr val="E2E8F0"/>
                </a:solidFill>
                <a:latin typeface="Consolas"/>
              </a:rPr>
              <a:t>    ("x86 CPU 8 yadro (AVX-512)", 2.5, 0.60, 65, 400, 0),</a:t>
            </a:r>
          </a:p>
          <a:p>
            <a:r>
              <a:rPr sz="1000">
                <a:solidFill>
                  <a:srgbClr val="E2E8F0"/>
                </a:solidFill>
                <a:latin typeface="Consolas"/>
              </a:rPr>
              <a:t>], columns=["nom", "tops_peak", "eff", "vt", "narx", "nvdec_1080p30"])</a:t>
            </a:r>
          </a:p>
          <a:p>
            <a:r>
              <a:rPr sz="1000">
                <a:solidFill>
                  <a:srgbClr val="E2E8F0"/>
                </a:solidFill>
                <a:latin typeface="Consolas"/>
              </a:rPr>
              <a:t> </a:t>
            </a:r>
          </a:p>
          <a:p>
            <a:r>
              <a:rPr sz="1000">
                <a:solidFill>
                  <a:srgbClr val="E2E8F0"/>
                </a:solidFill>
                <a:latin typeface="Consolas"/>
              </a:rPr>
              <a:t>platformalar["tops_real"] = platformalar.tops_peak * platformalar.eff</a:t>
            </a:r>
          </a:p>
          <a:p>
            <a:r>
              <a:rPr sz="1000">
                <a:solidFill>
                  <a:srgbClr val="E2E8F0"/>
                </a:solidFill>
                <a:latin typeface="Consolas"/>
              </a:rPr>
              <a:t> </a:t>
            </a:r>
          </a:p>
          <a:p>
            <a:r>
              <a:rPr sz="1000">
                <a:solidFill>
                  <a:srgbClr val="E2E8F0"/>
                </a:solidFill>
                <a:latin typeface="Consolas"/>
              </a:rPr>
              <a:t>yuklama = pd.read_csv("yuklama.csv")</a:t>
            </a:r>
          </a:p>
          <a:p>
            <a:r>
              <a:rPr sz="1000">
                <a:solidFill>
                  <a:srgbClr val="E2E8F0"/>
                </a:solidFill>
                <a:latin typeface="Consolas"/>
              </a:rPr>
              <a:t>talab = yuklama[(yuklama.model == "yolov8s.pt") &amp; (yuklama.imgsz == 640)].TFLOP_s_talab.iloc[0]</a:t>
            </a:r>
          </a:p>
          <a:p>
            <a:r>
              <a:rPr sz="1000">
                <a:solidFill>
                  <a:srgbClr val="7FD6D7"/>
                </a:solidFill>
                <a:latin typeface="Consolas"/>
              </a:rPr>
              <a:t># INT8 TOPS ≈ FLOP/s ekvivalenti sifatida qabul qilamiz (soddalashtirish)</a:t>
            </a:r>
          </a:p>
          <a:p>
            <a:r>
              <a:rPr sz="1000">
                <a:solidFill>
                  <a:srgbClr val="E2E8F0"/>
                </a:solidFill>
                <a:latin typeface="Consolas"/>
              </a:rPr>
              <a:t>platformalar["zaxira_koef"] = (platformalar.tops_real / talab).round(2)</a:t>
            </a:r>
          </a:p>
          <a:p>
            <a:r>
              <a:rPr sz="1000">
                <a:solidFill>
                  <a:srgbClr val="E2E8F0"/>
                </a:solidFill>
                <a:latin typeface="Consolas"/>
              </a:rPr>
              <a:t>platformalar["dekod_yetarli"] = platformalar.nvdec_1080p30 * 3 &gt;= 16  # 1080p10 =&gt; 3 oqim 1080p30 o'rniga</a:t>
            </a:r>
          </a:p>
          <a:p>
            <a:r>
              <a:rPr sz="1000">
                <a:solidFill>
                  <a:srgbClr val="E2E8F0"/>
                </a:solidFill>
                <a:latin typeface="Consolas"/>
              </a:rPr>
              <a:t>platformalar["inferens_Vt"] = (platformalar.vt / (platformalar.tops_real * 1e3 / 28.6)).round(3)</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Talaba quyidagi shaklda strukturaviy sxemani yozadi (rasm shart emas; blok ro'yxati va interfeyslar jadvali yetarli):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Interfeyslar jadvali: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Sxema har bir qadamda «ma'lumot qayerda yotadi» savoliga javob beradi. Jetson'da NVDEC chiqishi to'g'ridan-to'g'ri GPU xotirasida qolishi (nol nusxalash, zero-copy) CPU–GPU ko'chirishlarini olib tashlaydi — bu Co-design'ning amaliy…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Interfeys</a:t>
                      </a:r>
                    </a:p>
                  </a:txBody>
                  <a:tcPr>
                    <a:solidFill>
                      <a:srgbClr val="2D5C8F"/>
                    </a:solidFill>
                  </a:tcPr>
                </a:tc>
                <a:tc>
                  <a:txBody>
                    <a:bodyPr/>
                    <a:lstStyle/>
                    <a:p>
                      <a:r>
                        <a:rPr sz="1400" b="1">
                          <a:solidFill>
                            <a:srgbClr val="FFFFFF"/>
                          </a:solidFill>
                          <a:latin typeface="Calibri"/>
                        </a:rPr>
                        <a:t>Protokol/vosita</a:t>
                      </a:r>
                    </a:p>
                  </a:txBody>
                  <a:tcPr>
                    <a:solidFill>
                      <a:srgbClr val="2D5C8F"/>
                    </a:solidFill>
                  </a:tcPr>
                </a:tc>
                <a:tc>
                  <a:txBody>
                    <a:bodyPr/>
                    <a:lstStyle/>
                    <a:p>
                      <a:r>
                        <a:rPr sz="1400" b="1">
                          <a:solidFill>
                            <a:srgbClr val="FFFFFF"/>
                          </a:solidFill>
                          <a:latin typeface="Calibri"/>
                        </a:rPr>
                        <a:t>O'tkazuvchanlik</a:t>
                      </a:r>
                    </a:p>
                  </a:txBody>
                  <a:tcPr>
                    <a:solidFill>
                      <a:srgbClr val="2D5C8F"/>
                    </a:solidFill>
                  </a:tcPr>
                </a:tc>
                <a:tc>
                  <a:txBody>
                    <a:bodyPr/>
                    <a:lstStyle/>
                    <a:p>
                      <a:r>
                        <a:rPr sz="1400" b="1">
                          <a:solidFill>
                            <a:srgbClr val="FFFFFF"/>
                          </a:solidFill>
                          <a:latin typeface="Calibri"/>
                        </a:rPr>
                        <a:t>Kechikish byudjeti</a:t>
                      </a:r>
                    </a:p>
                  </a:txBody>
                  <a:tcPr>
                    <a:solidFill>
                      <a:srgbClr val="2D5C8F"/>
                    </a:solidFill>
                  </a:tcPr>
                </a:tc>
              </a:tr>
              <a:tr h="520000">
                <a:tc>
                  <a:txBody>
                    <a:bodyPr/>
                    <a:lstStyle/>
                    <a:p>
                      <a:r>
                        <a:rPr sz="1400" b="0">
                          <a:solidFill>
                            <a:srgbClr val="1B2430"/>
                          </a:solidFill>
                          <a:latin typeface="Calibri"/>
                        </a:rPr>
                        <a:t>Kamera → Jetson</a:t>
                      </a:r>
                    </a:p>
                  </a:txBody>
                  <a:tcPr>
                    <a:solidFill>
                      <a:srgbClr val="F1F4F8"/>
                    </a:solidFill>
                  </a:tcPr>
                </a:tc>
                <a:tc>
                  <a:txBody>
                    <a:bodyPr/>
                    <a:lstStyle/>
                    <a:p>
                      <a:r>
                        <a:rPr sz="1400" b="0">
                          <a:solidFill>
                            <a:srgbClr val="1B2430"/>
                          </a:solidFill>
                          <a:latin typeface="Calibri"/>
                        </a:rPr>
                        <a:t>RTSP/H.264</a:t>
                      </a:r>
                    </a:p>
                  </a:txBody>
                  <a:tcPr>
                    <a:solidFill>
                      <a:srgbClr val="F1F4F8"/>
                    </a:solidFill>
                  </a:tcPr>
                </a:tc>
                <a:tc>
                  <a:txBody>
                    <a:bodyPr/>
                    <a:lstStyle/>
                    <a:p>
                      <a:r>
                        <a:rPr sz="1400" b="0">
                          <a:solidFill>
                            <a:srgbClr val="1B2430"/>
                          </a:solidFill>
                          <a:latin typeface="Calibri"/>
                        </a:rPr>
                        <a:t>16 × ~4 Mbit/s = 64 Mbit/s</a:t>
                      </a:r>
                    </a:p>
                  </a:txBody>
                  <a:tcPr>
                    <a:solidFill>
                      <a:srgbClr val="F1F4F8"/>
                    </a:solidFill>
                  </a:tcPr>
                </a:tc>
                <a:tc>
                  <a:txBody>
                    <a:bodyPr/>
                    <a:lstStyle/>
                    <a:p>
                      <a:r>
                        <a:rPr sz="1400" b="0">
                          <a:solidFill>
                            <a:srgbClr val="1B2430"/>
                          </a:solidFill>
                          <a:latin typeface="Calibri"/>
                        </a:rPr>
                        <a:t>30 ms</a:t>
                      </a:r>
                    </a:p>
                  </a:txBody>
                  <a:tcPr>
                    <a:solidFill>
                      <a:srgbClr val="F1F4F8"/>
                    </a:solidFill>
                  </a:tcPr>
                </a:tc>
              </a:tr>
              <a:tr h="520000">
                <a:tc>
                  <a:txBody>
                    <a:bodyPr/>
                    <a:lstStyle/>
                    <a:p>
                      <a:r>
                        <a:rPr sz="1400" b="0">
                          <a:solidFill>
                            <a:srgbClr val="1B2430"/>
                          </a:solidFill>
                          <a:latin typeface="Calibri"/>
                        </a:rPr>
                        <a:t>Dekoder → oldindan ishlov</a:t>
                      </a:r>
                    </a:p>
                  </a:txBody>
                  <a:tcPr>
                    <a:solidFill>
                      <a:srgbClr val="FFFFFF"/>
                    </a:solidFill>
                  </a:tcPr>
                </a:tc>
                <a:tc>
                  <a:txBody>
                    <a:bodyPr/>
                    <a:lstStyle/>
                    <a:p>
                      <a:r>
                        <a:rPr sz="1400" b="0">
                          <a:solidFill>
                            <a:srgbClr val="1B2430"/>
                          </a:solidFill>
                          <a:latin typeface="Calibri"/>
                        </a:rPr>
                        <a:t>NVMM (GPU xotira)</a:t>
                      </a:r>
                    </a:p>
                  </a:txBody>
                  <a:tcPr>
                    <a:solidFill>
                      <a:srgbClr val="FFFFFF"/>
                    </a:solidFill>
                  </a:tcPr>
                </a:tc>
                <a:tc>
                  <a:txBody>
                    <a:bodyPr/>
                    <a:lstStyle/>
                    <a:p>
                      <a:r>
                        <a:rPr sz="1400" b="0">
                          <a:solidFill>
                            <a:srgbClr val="1B2430"/>
                          </a:solidFill>
                          <a:latin typeface="Calibri"/>
                        </a:rPr>
                        <a:t>16 × 10 kadr × 6 MB</a:t>
                      </a:r>
                    </a:p>
                  </a:txBody>
                  <a:tcPr>
                    <a:solidFill>
                      <a:srgbClr val="FFFFFF"/>
                    </a:solidFill>
                  </a:tcPr>
                </a:tc>
                <a:tc>
                  <a:txBody>
                    <a:bodyPr/>
                    <a:lstStyle/>
                    <a:p>
                      <a:r>
                        <a:rPr sz="1400" b="0">
                          <a:solidFill>
                            <a:srgbClr val="1B2430"/>
                          </a:solidFill>
                          <a:latin typeface="Calibri"/>
                        </a:rPr>
                        <a:t>5 ms</a:t>
                      </a:r>
                    </a:p>
                  </a:txBody>
                  <a:tcPr>
                    <a:solidFill>
                      <a:srgbClr val="FFFFFF"/>
                    </a:solidFill>
                  </a:tcPr>
                </a:tc>
              </a:tr>
              <a:tr h="520000">
                <a:tc>
                  <a:txBody>
                    <a:bodyPr/>
                    <a:lstStyle/>
                    <a:p>
                      <a:r>
                        <a:rPr sz="1400" b="0">
                          <a:solidFill>
                            <a:srgbClr val="1B2430"/>
                          </a:solidFill>
                          <a:latin typeface="Calibri"/>
                        </a:rPr>
                        <a:t>Oldindan ishlov → TensorRT</a:t>
                      </a:r>
                    </a:p>
                  </a:txBody>
                  <a:tcPr>
                    <a:solidFill>
                      <a:srgbClr val="F1F4F8"/>
                    </a:solidFill>
                  </a:tcPr>
                </a:tc>
                <a:tc>
                  <a:txBody>
                    <a:bodyPr/>
                    <a:lstStyle/>
                    <a:p>
                      <a:r>
                        <a:rPr sz="1400" b="0">
                          <a:solidFill>
                            <a:srgbClr val="1B2430"/>
                          </a:solidFill>
                          <a:latin typeface="Calibri"/>
                        </a:rPr>
                        <a:t>CUDA tensor</a:t>
                      </a:r>
                    </a:p>
                  </a:txBody>
                  <a:tcPr>
                    <a:solidFill>
                      <a:srgbClr val="F1F4F8"/>
                    </a:solidFill>
                  </a:tcPr>
                </a:tc>
                <a:tc>
                  <a:txBody>
                    <a:bodyPr/>
                    <a:lstStyle/>
                    <a:p>
                      <a:r>
                        <a:rPr sz="1400" b="0">
                          <a:solidFill>
                            <a:srgbClr val="1B2430"/>
                          </a:solidFill>
                          <a:latin typeface="Calibri"/>
                        </a:rPr>
                        <a:t>160 × 2,4 MB/s</a:t>
                      </a:r>
                    </a:p>
                  </a:txBody>
                  <a:tcPr>
                    <a:solidFill>
                      <a:srgbClr val="F1F4F8"/>
                    </a:solidFill>
                  </a:tcPr>
                </a:tc>
                <a:tc>
                  <a:txBody>
                    <a:bodyPr/>
                    <a:lstStyle/>
                    <a:p>
                      <a:r>
                        <a:rPr sz="1400" b="0">
                          <a:solidFill>
                            <a:srgbClr val="1B2430"/>
                          </a:solidFill>
                          <a:latin typeface="Calibri"/>
                        </a:rPr>
                        <a:t>5 ms</a:t>
                      </a:r>
                    </a:p>
                  </a:txBody>
                  <a:tcPr>
                    <a:solidFill>
                      <a:srgbClr val="F1F4F8"/>
                    </a:solidFill>
                  </a:tcPr>
                </a:tc>
              </a:tr>
              <a:tr h="520000">
                <a:tc>
                  <a:txBody>
                    <a:bodyPr/>
                    <a:lstStyle/>
                    <a:p>
                      <a:r>
                        <a:rPr sz="1400" b="0">
                          <a:solidFill>
                            <a:srgbClr val="1B2430"/>
                          </a:solidFill>
                          <a:latin typeface="Calibri"/>
                        </a:rPr>
                        <a:t>TensorRT inferens</a:t>
                      </a:r>
                    </a:p>
                  </a:txBody>
                  <a:tcPr>
                    <a:solidFill>
                      <a:srgbClr val="FFFFFF"/>
                    </a:solidFill>
                  </a:tcPr>
                </a:tc>
                <a:tc>
                  <a:txBody>
                    <a:bodyPr/>
                    <a:lstStyle/>
                    <a:p>
                      <a:r>
                        <a:rPr sz="1400" b="0">
                          <a:solidFill>
                            <a:srgbClr val="1B2430"/>
                          </a:solidFill>
                          <a:latin typeface="Calibri"/>
                        </a:rPr>
                        <a:t>batch 4, INT8</a:t>
                      </a:r>
                    </a:p>
                  </a:txBody>
                  <a:tcPr>
                    <a:solidFill>
                      <a:srgbClr val="FFFFFF"/>
                    </a:solidFill>
                  </a:tcPr>
                </a:tc>
                <a:tc>
                  <a:txBody>
                    <a:bodyPr/>
                    <a:lstStyle/>
                    <a:p>
                      <a:r>
                        <a:rPr sz="1400" b="0">
                          <a:solidFill>
                            <a:srgbClr val="1B2430"/>
                          </a:solidFill>
                          <a:latin typeface="Calibri"/>
                        </a:rPr>
                        <a:t>160 inferens/s</a:t>
                      </a:r>
                    </a:p>
                  </a:txBody>
                  <a:tcPr>
                    <a:solidFill>
                      <a:srgbClr val="FFFFFF"/>
                    </a:solidFill>
                  </a:tcPr>
                </a:tc>
                <a:tc>
                  <a:txBody>
                    <a:bodyPr/>
                    <a:lstStyle/>
                    <a:p>
                      <a:r>
                        <a:rPr sz="1400" b="0">
                          <a:solidFill>
                            <a:srgbClr val="1B2430"/>
                          </a:solidFill>
                          <a:latin typeface="Calibri"/>
                        </a:rPr>
                        <a:t>60 ms (p95)</a:t>
                      </a:r>
                    </a:p>
                  </a:txBody>
                  <a:tcPr>
                    <a:solidFill>
                      <a:srgbClr val="FFFFFF"/>
                    </a:solidFill>
                  </a:tcPr>
                </a:tc>
              </a:tr>
              <a:tr h="520000">
                <a:tc>
                  <a:txBody>
                    <a:bodyPr/>
                    <a:lstStyle/>
                    <a:p>
                      <a:r>
                        <a:rPr sz="1400" b="0">
                          <a:solidFill>
                            <a:srgbClr val="1B2430"/>
                          </a:solidFill>
                          <a:latin typeface="Calibri"/>
                        </a:rPr>
                        <a:t>Keyingi ishlov</a:t>
                      </a:r>
                    </a:p>
                  </a:txBody>
                  <a:tcPr>
                    <a:solidFill>
                      <a:srgbClr val="F1F4F8"/>
                    </a:solidFill>
                  </a:tcPr>
                </a:tc>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20 ms</a:t>
                      </a:r>
                    </a:p>
                  </a:txBody>
                  <a:tcPr>
                    <a:solidFill>
                      <a:srgbClr val="F1F4F8"/>
                    </a:solidFill>
                  </a:tcPr>
                </a:tc>
              </a:tr>
              <a:tr h="520000">
                <a:tc>
                  <a:txBody>
                    <a:bodyPr/>
                    <a:lstStyle/>
                    <a:p>
                      <a:r>
                        <a:rPr sz="1400" b="0">
                          <a:solidFill>
                            <a:srgbClr val="1B2430"/>
                          </a:solidFill>
                          <a:latin typeface="Calibri"/>
                        </a:rPr>
                        <a:t>Jetson → server</a:t>
                      </a:r>
                    </a:p>
                  </a:txBody>
                  <a:tcPr>
                    <a:solidFill>
                      <a:srgbClr val="FFFFFF"/>
                    </a:solidFill>
                  </a:tcPr>
                </a:tc>
                <a:tc>
                  <a:txBody>
                    <a:bodyPr/>
                    <a:lstStyle/>
                    <a:p>
                      <a:r>
                        <a:rPr sz="1400" b="0">
                          <a:solidFill>
                            <a:srgbClr val="1B2430"/>
                          </a:solidFill>
                          <a:latin typeface="Calibri"/>
                        </a:rPr>
                        <a:t>MQTT/TLS</a:t>
                      </a:r>
                    </a:p>
                  </a:txBody>
                  <a:tcPr>
                    <a:solidFill>
                      <a:srgbClr val="FFFFFF"/>
                    </a:solidFill>
                  </a:tcPr>
                </a:tc>
                <a:tc>
                  <a:txBody>
                    <a:bodyPr/>
                    <a:lstStyle/>
                    <a:p>
                      <a:r>
                        <a:rPr sz="1400" b="0">
                          <a:solidFill>
                            <a:srgbClr val="1B2430"/>
                          </a:solidFill>
                          <a:latin typeface="Calibri"/>
                        </a:rPr>
                        <a:t>hodisa boshiga ~2 KB</a:t>
                      </a:r>
                    </a:p>
                  </a:txBody>
                  <a:tcPr>
                    <a:solidFill>
                      <a:srgbClr val="FFFFFF"/>
                    </a:solidFill>
                  </a:tcPr>
                </a:tc>
                <a:tc>
                  <a:txBody>
                    <a:bodyPr/>
                    <a:lstStyle/>
                    <a:p>
                      <a:r>
                        <a:rPr sz="1400" b="0">
                          <a:solidFill>
                            <a:srgbClr val="1B2430"/>
                          </a:solidFill>
                          <a:latin typeface="Calibri"/>
                        </a:rPr>
                        <a:t>50 ms (tanqidiy emas)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Strukturaviy sxemani matnda tavsiflash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[16 × IP-kamera, RTSP/H.264 1080p10] --(Ethernet 1 Gbit/s, PoE kommutator)--&gt;</a:t>
            </a:r>
          </a:p>
          <a:p>
            <a:r>
              <a:rPr sz="1000">
                <a:solidFill>
                  <a:srgbClr val="E2E8F0"/>
                </a:solidFill>
                <a:latin typeface="Consolas"/>
              </a:rPr>
              <a:t>[Jetson Orin NX: NVDEC dekoder 16 oqim] --(NVMM xotira, nol nusxalash)--&gt;</a:t>
            </a:r>
          </a:p>
          <a:p>
            <a:r>
              <a:rPr sz="1000">
                <a:solidFill>
                  <a:srgbClr val="E2E8F0"/>
                </a:solidFill>
                <a:latin typeface="Consolas"/>
              </a:rPr>
              <a:t>[Oldindan ishlov: resize 640x640, FP16 normalizatsiya, VPI/CUDA] --&gt;</a:t>
            </a:r>
          </a:p>
          <a:p>
            <a:r>
              <a:rPr sz="1000">
                <a:solidFill>
                  <a:srgbClr val="E2E8F0"/>
                </a:solidFill>
                <a:latin typeface="Consolas"/>
              </a:rPr>
              <a:t>[TensorRT engine: YOLOv8s INT8, batch 4, 2 ta CUDA stream] --&gt;</a:t>
            </a:r>
          </a:p>
          <a:p>
            <a:r>
              <a:rPr sz="1000">
                <a:solidFill>
                  <a:srgbClr val="E2E8F0"/>
                </a:solidFill>
                <a:latin typeface="Consolas"/>
              </a:rPr>
              <a:t>[Keyingi ishlov: NMS (GPU), ByteTrack kuzatuv (CPU, 2 yadro)] --&gt;</a:t>
            </a:r>
          </a:p>
          <a:p>
            <a:r>
              <a:rPr sz="1000">
                <a:solidFill>
                  <a:srgbClr val="E2E8F0"/>
                </a:solidFill>
                <a:latin typeface="Consolas"/>
              </a:rPr>
              <a:t>[Biznes-mantiq: SHV qoidalari, hodisa generatori] --(MQTT/TLS)--&gt; [Markaziy server]</a:t>
            </a:r>
          </a:p>
          <a:p>
            <a:r>
              <a:rPr sz="1000">
                <a:solidFill>
                  <a:srgbClr val="E2E8F0"/>
                </a:solidFill>
                <a:latin typeface="Consolas"/>
              </a:rPr>
              <a:t>                                              \--(SQLite + klip)--&gt; [Mahalliy saqlash 256 GB NVMe]</a:t>
            </a:r>
          </a:p>
          <a:p>
            <a:r>
              <a:rPr sz="1000">
                <a:solidFill>
                  <a:srgbClr val="E2E8F0"/>
                </a:solidFill>
                <a:latin typeface="Consolas"/>
              </a:rPr>
              <a:t>[Monitoring: Prometheus eksporter (FPS, p95 latency, harorat,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Qarorni hujjatlashtirish va xavflarni ko'rsatish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Hisobotda tanlangan platforma, rad etilgan muqobillar sabablari va xavflar ro'yxati yoziladi. Namuna xavflar: INT8 kvantlashda mAP 1–2 foiz punkt pasayishi (A3 mashg'ulotida tekshiriladi); +40 °C muhitda Orin NX termal cheklov (throttling) tufayli 25 Vt…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Hisobot (PDF yoki Markdown, 4–6 bet) quyidagilarni o'z ichiga oladi: (1) talablar matritsasi; (2) yuklama.csv jadvali va skript natijasi ekran tasviri; (3) platformalar taqqoslash jadvali…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Qo'shimcha 10 ball: talaba ikkinchi ssenariy (masalan, 64 kamera, markaziy serverda ishlov) uchun ham tahlil o'tkazib, Edge va markazlashgan variantlarning TCO'sini 3 yilga solishtirsa.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Talablar matritsasi to'liq va og'irliklar asoslangan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Yuklama hisobi skripti ishlaydi, natijalar to'g'ri talqin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Kamida 3 platforma rasmiy tavsiflar bilan solishtirilgan, manbalar ko'rsatilgan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Strukturaviy sxema barcha bloklar va interfeyslarni qamrab olgan, kechikish byudjeti taqsimlangan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Co-design tamoyillari (format, operator qamrovi, xotira, energiya) qarorda aks etgan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rasmiylashtirilishi va himoya paytidagi javoblar</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784f250cc8e5ea5.jpg"/>
          <p:cNvPicPr>
            <a:picLocks noChangeAspect="1"/>
          </p:cNvPicPr>
          <p:nvPr/>
        </p:nvPicPr>
        <p:blipFill>
          <a:blip r:embed="rId2"/>
          <a:srcRect l="2762" r="27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File:Tektronix TPS 2014B cropped.jpg: * File:Tektronix TPS 2014B.jpg: Marcin Łuk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Mashg'ulot natijalari ikki darajada talqin qilinadi. Birinchi daraja — miqdoriy: zaxira_koef va energiya ko'rsatkichlari platformalarni aniq tartiblaydi.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Ikkinchi daraja — sifatiy cheklovlar. Nazariy hisob bir qancha soddalashtirishlarga asoslanadi: INT8 TOPS va FP32 FLOP bir-biriga teng deb olindi, samaradorlik koeffitsiyenti 45–50 % deb taxmin qilindi, dekodlash va oldindan ishlov berish yuklamasi batafsil…</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Muqobil yondashuvlar: (1) markazlashgan arxitektura — barcha kameralar oqimini serverdagi bitta GPU'ga yuborish; afzalligi — boshqaruv osonligi, kamchiligi — tarmoq yuklamasi (64 Mbit/s…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4cd127ff92307cd.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Christopher Bowns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Cho'qqi TOPS'ni haqiqiy unumdorlik deb qabul qilish. Ishlab chiqaruvchi ko'rsatadigan TOPS ko'pincha siyraklik (sparsity) hisobga olingan va ideal yuklama uchun. Har doim dense qiymatni…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inferensni hisoblash. Dekodlash, o'lcham o'zgartirish, NMS, kuzatuv va tarmoq ko'pincha inferens vaqtidan ko'p bo'ladi. Butun quvur liniyasi uchun kechikish byudjeti tuzing.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Aniqlik formatini e'tiborsiz qoldirish. Edge TPU faqat INT8, ko'pgina NPU'lar FP16 ni qo'llamaydi. Platformani tanlashdan oldin modelni shu formatga kvantlash mumkinligini tekshiring.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Operatorlar qamrovini tekshirmaslik. Model grafigidagi bitta qo'llab-quvvatlanmagan operator butun tezlatkichni foydasiz qilishi mumkin. ONNX eksport va tezlatkich kompilyatorining…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Termal va mexanik muhitni unutish. 25 Vt chekka modul passiv radiator bilan +40 °C da throttling qiladi. Quvvat rejimini (nvpmodel) va sovutishni loyihaning qismi deb hisoblang.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O'rtacha kechikishni hisobot qilish. Foydalanuvchi uchun p95/p99 muhim. Kechikish taqsimotining «dumini» (tail latency) o'lchang va byudjetni shu bo'yicha tuzing.</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TCO'ni faqat apparat narxi deb bilish. Elektr energiyasi, sovutish, texnik xizmat, dasturiy litsenziyalar va muhandis vaqti 3–5 yil davomida apparat narxidan oshib ketadi.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Hujjatlashtirmaslik. Qaror asoslari (talablar matritsasi, rad etish sabablari) yozilmasa, 6 oydan keyin «nega aynan shu platforma?» savoliga hech kim javob bera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A1 · Sun'iy intellektga asoslangan kompyuter tizimlari arxitekturasini tahlil qilish va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A1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